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1.xml" ContentType="application/vnd.openxmlformats-officedocument.drawingml.chart+xml"/>
  <Override PartName="/ppt/theme/themeOverride1.xml" ContentType="application/vnd.openxmlformats-officedocument.themeOverride+xml"/>
  <Override PartName="/ppt/notesSlides/notesSlide7.xml" ContentType="application/vnd.openxmlformats-officedocument.presentationml.notesSlide+xml"/>
  <Override PartName="/ppt/charts/chart2.xml" ContentType="application/vnd.openxmlformats-officedocument.drawingml.chart+xml"/>
  <Override PartName="/ppt/theme/themeOverride2.xml" ContentType="application/vnd.openxmlformats-officedocument.themeOverride+xml"/>
  <Override PartName="/ppt/charts/chart3.xml" ContentType="application/vnd.openxmlformats-officedocument.drawingml.chart+xml"/>
  <Override PartName="/ppt/theme/themeOverride3.xml" ContentType="application/vnd.openxmlformats-officedocument.themeOverride+xml"/>
  <Override PartName="/ppt/charts/chart4.xml" ContentType="application/vnd.openxmlformats-officedocument.drawingml.chart+xml"/>
  <Override PartName="/ppt/theme/themeOverride4.xml" ContentType="application/vnd.openxmlformats-officedocument.themeOverride+xml"/>
  <Override PartName="/ppt/charts/chart5.xml" ContentType="application/vnd.openxmlformats-officedocument.drawingml.chart+xml"/>
  <Override PartName="/ppt/notesSlides/notesSlide8.xml" ContentType="application/vnd.openxmlformats-officedocument.presentationml.notesSlide+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notesSlides/notesSlide11.xml" ContentType="application/vnd.openxmlformats-officedocument.presentationml.notesSlide+xml"/>
  <Override PartName="/ppt/ink/ink5.xml" ContentType="application/inkml+xml"/>
  <Override PartName="/ppt/ink/ink6.xml" ContentType="application/inkml+xml"/>
  <Override PartName="/ppt/ink/ink7.xml" ContentType="application/inkml+xml"/>
  <Override PartName="/ppt/ink/ink8.xml" ContentType="application/inkml+xml"/>
  <Override PartName="/ppt/notesSlides/notesSlide12.xml" ContentType="application/vnd.openxmlformats-officedocument.presentationml.notesSlide+xml"/>
  <Override PartName="/ppt/ink/ink9.xml" ContentType="application/inkml+xml"/>
  <Override PartName="/ppt/ink/ink10.xml" ContentType="application/inkml+xml"/>
  <Override PartName="/ppt/ink/ink11.xml" ContentType="application/inkml+xml"/>
  <Override PartName="/ppt/ink/ink12.xml" ContentType="application/inkml+xml"/>
  <Override PartName="/ppt/charts/chart14.xml" ContentType="application/vnd.openxmlformats-officedocument.drawingml.chart+xml"/>
  <Override PartName="/ppt/theme/themeOverride5.xml" ContentType="application/vnd.openxmlformats-officedocument.themeOverride+xml"/>
  <Override PartName="/ppt/notesSlides/notesSlide13.xml" ContentType="application/vnd.openxmlformats-officedocument.presentationml.notesSlide+xml"/>
  <Override PartName="/ppt/charts/chart15.xml" ContentType="application/vnd.openxmlformats-officedocument.drawingml.chart+xml"/>
  <Override PartName="/ppt/notesSlides/notesSlide14.xml" ContentType="application/vnd.openxmlformats-officedocument.presentationml.notesSlide+xml"/>
  <Override PartName="/ppt/ink/ink13.xml" ContentType="application/inkml+xml"/>
  <Override PartName="/ppt/ink/ink14.xml" ContentType="application/inkml+xml"/>
  <Override PartName="/ppt/ink/ink15.xml" ContentType="application/inkml+xml"/>
  <Override PartName="/ppt/charts/chart16.xml" ContentType="application/vnd.openxmlformats-officedocument.drawingml.chart+xml"/>
  <Override PartName="/ppt/theme/themeOverride6.xml" ContentType="application/vnd.openxmlformats-officedocument.themeOverride+xml"/>
  <Override PartName="/ppt/charts/chart17.xml" ContentType="application/vnd.openxmlformats-officedocument.drawingml.chart+xml"/>
  <Override PartName="/ppt/theme/themeOverride7.xml" ContentType="application/vnd.openxmlformats-officedocument.themeOverride+xml"/>
  <Override PartName="/ppt/charts/chart18.xml" ContentType="application/vnd.openxmlformats-officedocument.drawingml.chart+xml"/>
  <Override PartName="/ppt/theme/themeOverride8.xml" ContentType="application/vnd.openxmlformats-officedocument.themeOverride+xml"/>
  <Override PartName="/ppt/charts/chart19.xml" ContentType="application/vnd.openxmlformats-officedocument.drawingml.chart+xml"/>
  <Override PartName="/ppt/theme/themeOverride9.xml" ContentType="application/vnd.openxmlformats-officedocument.themeOverride+xml"/>
  <Override PartName="/ppt/notesSlides/notesSlide15.xml" ContentType="application/vnd.openxmlformats-officedocument.presentationml.notesSlide+xml"/>
  <Override PartName="/ppt/charts/chart20.xml" ContentType="application/vnd.openxmlformats-officedocument.drawingml.chart+xml"/>
  <Override PartName="/ppt/theme/themeOverride10.xml" ContentType="application/vnd.openxmlformats-officedocument.themeOverride+xml"/>
  <Override PartName="/ppt/charts/chart21.xml" ContentType="application/vnd.openxmlformats-officedocument.drawingml.chart+xml"/>
  <Override PartName="/ppt/theme/themeOverride11.xml" ContentType="application/vnd.openxmlformats-officedocument.themeOverride+xml"/>
  <Override PartName="/ppt/notesSlides/notesSlide16.xml" ContentType="application/vnd.openxmlformats-officedocument.presentationml.notesSlide+xml"/>
  <Override PartName="/ppt/charts/chart22.xml" ContentType="application/vnd.openxmlformats-officedocument.drawingml.chart+xml"/>
  <Override PartName="/ppt/theme/themeOverride12.xml" ContentType="application/vnd.openxmlformats-officedocument.themeOverride+xml"/>
  <Override PartName="/ppt/drawings/drawing1.xml" ContentType="application/vnd.openxmlformats-officedocument.drawingml.chartshapes+xml"/>
  <Override PartName="/ppt/notesSlides/notesSlide17.xml" ContentType="application/vnd.openxmlformats-officedocument.presentationml.notesSlide+xml"/>
  <Override PartName="/ppt/charts/chart23.xml" ContentType="application/vnd.openxmlformats-officedocument.drawingml.chart+xml"/>
  <Override PartName="/ppt/drawings/drawing2.xml" ContentType="application/vnd.openxmlformats-officedocument.drawingml.chartshapes+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320" r:id="rId2"/>
    <p:sldId id="270" r:id="rId3"/>
    <p:sldId id="318" r:id="rId4"/>
    <p:sldId id="319" r:id="rId5"/>
    <p:sldId id="291" r:id="rId6"/>
    <p:sldId id="321" r:id="rId7"/>
    <p:sldId id="322" r:id="rId8"/>
    <p:sldId id="323" r:id="rId9"/>
    <p:sldId id="326" r:id="rId10"/>
    <p:sldId id="325" r:id="rId11"/>
    <p:sldId id="307" r:id="rId12"/>
    <p:sldId id="312" r:id="rId13"/>
    <p:sldId id="327" r:id="rId14"/>
    <p:sldId id="328" r:id="rId15"/>
    <p:sldId id="324" r:id="rId16"/>
    <p:sldId id="330" r:id="rId17"/>
    <p:sldId id="329" r:id="rId18"/>
    <p:sldId id="298" r:id="rId19"/>
  </p:sldIdLst>
  <p:sldSz cx="9144000" cy="6858000" type="screen4x3"/>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Paul Lee - Bernstein" initials="PLB"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2BE50"/>
    <a:srgbClr val="6EBE46"/>
    <a:srgbClr val="92B350"/>
    <a:srgbClr val="92E850"/>
    <a:srgbClr val="43EA36"/>
    <a:srgbClr val="6DD94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317" autoAdjust="0"/>
    <p:restoredTop sz="87375" autoAdjust="0"/>
  </p:normalViewPr>
  <p:slideViewPr>
    <p:cSldViewPr>
      <p:cViewPr varScale="1">
        <p:scale>
          <a:sx n="92" d="100"/>
          <a:sy n="92" d="100"/>
        </p:scale>
        <p:origin x="-942" y="-10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2" Type="http://schemas.openxmlformats.org/officeDocument/2006/relationships/oleObject" Target="file:///\\pmfsfin0101\Corporate_Strategy$\1.NEW%20FOLDERS\INVESTOR%20RELATIONS\Investor%20Pack\2018\Q2\Q218%20Financials.xlsx" TargetMode="External"/><Relationship Id="rId1" Type="http://schemas.openxmlformats.org/officeDocument/2006/relationships/themeOverride" Target="../theme/themeOverride1.xml"/></Relationships>
</file>

<file path=ppt/charts/_rels/chart2.xml.rels><?xml version="1.0" encoding="UTF-8" standalone="yes"?>
<Relationships xmlns="http://schemas.openxmlformats.org/package/2006/relationships"><Relationship Id="rId2" Type="http://schemas.openxmlformats.org/officeDocument/2006/relationships/oleObject" Target="file:///\\pmfsfin0101\Corporate_Strategy$\1.NEW%20FOLDERS\INVESTOR%20RELATIONS\Investor%20Pack\2018\Q2\Q218%20Financials.xlsx" TargetMode="External"/><Relationship Id="rId1" Type="http://schemas.openxmlformats.org/officeDocument/2006/relationships/themeOverride" Target="../theme/themeOverride2.xml"/></Relationships>
</file>

<file path=ppt/charts/_rels/chart3.xml.rels><?xml version="1.0" encoding="UTF-8" standalone="yes"?>
<Relationships xmlns="http://schemas.openxmlformats.org/package/2006/relationships"><Relationship Id="rId2" Type="http://schemas.openxmlformats.org/officeDocument/2006/relationships/oleObject" Target="file:///\\pmfsfin0101\Corporate_Strategy$\1.NEW%20FOLDERS\INVESTOR%20RELATIONS\Investor%20Pack\2018\Q2\Q218%20Financials.xlsx" TargetMode="External"/><Relationship Id="rId1" Type="http://schemas.openxmlformats.org/officeDocument/2006/relationships/themeOverride" Target="../theme/themeOverride3.xml"/></Relationships>
</file>

<file path=ppt/charts/_rels/chart4.xml.rels><?xml version="1.0" encoding="UTF-8" standalone="yes"?>
<Relationships xmlns="http://schemas.openxmlformats.org/package/2006/relationships"><Relationship Id="rId2" Type="http://schemas.openxmlformats.org/officeDocument/2006/relationships/oleObject" Target="file:///\\pmfsfin0101\Corporate_Strategy$\1.NEW%20FOLDERS\INVESTOR%20RELATIONS\Investor%20Pack\2018\Q2\Q218%20Financials.xlsx" TargetMode="External"/><Relationship Id="rId1" Type="http://schemas.openxmlformats.org/officeDocument/2006/relationships/themeOverride" Target="../theme/themeOverride4.xml"/></Relationships>
</file>

<file path=ppt/charts/_rels/chart5.xml.rels><?xml version="1.0" encoding="UTF-8" standalone="yes"?>
<Relationships xmlns="http://schemas.openxmlformats.org/package/2006/relationships"><Relationship Id="rId1" Type="http://schemas.openxmlformats.org/officeDocument/2006/relationships/oleObject" Target="file:///\\pmfsfin0101\Corporate_Strategy$\1.NEW%20FOLDERS\INVESTOR%20RELATIONS\Investor%20Pack\2018\Q2\Q218%20Financials.xlsx" TargetMode="External"/></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8.xml.rels><?xml version="1.0" encoding="UTF-8" standalone="yes"?>
<Relationships xmlns="http://schemas.openxmlformats.org/package/2006/relationships"><Relationship Id="rId1" Type="http://schemas.openxmlformats.org/officeDocument/2006/relationships/oleObject" Target="file:///\\pmfsfin0101\Corporate_Strategy$\1.NEW%20FOLDERS\INVESTOR%20RELATIONS\Investor%20Pack\2018\Q2\Q218%20Financials.xlsx" TargetMode="External"/></Relationships>
</file>

<file path=ppt/charts/_rels/chart9.xml.rels><?xml version="1.0" encoding="UTF-8" standalone="yes"?>
<Relationships xmlns="http://schemas.openxmlformats.org/package/2006/relationships"><Relationship Id="rId1" Type="http://schemas.openxmlformats.org/officeDocument/2006/relationships/oleObject" Target="file:///\\pmfsfin0101\Corporate_Strategy$\1.NEW%20FOLDERS\INVESTOR%20RELATIONS\Investor%20Pack\2018\Q2\Q218%20Financials.xlsx" TargetMode="External"/></Relationships>
</file>

<file path=ppt/charts/_rels/chart10.xml.rels><?xml version="1.0" encoding="UTF-8" standalone="yes"?>
<Relationships xmlns="http://schemas.openxmlformats.org/package/2006/relationships"><Relationship Id="rId1" Type="http://schemas.openxmlformats.org/officeDocument/2006/relationships/oleObject" Target="file:///\\pmfsfin0101\Corporate_Strategy$\1.NEW%20FOLDERS\INVESTOR%20RELATIONS\Investor%20Pack\2017\Q4\Investor%20Pack%20worksheet_Q417a.xlsx" TargetMode="External"/></Relationships>
</file>

<file path=ppt/charts/_rels/chart11.xml.rels><?xml version="1.0" encoding="UTF-8" standalone="yes"?>
<Relationships xmlns="http://schemas.openxmlformats.org/package/2006/relationships"><Relationship Id="rId1" Type="http://schemas.openxmlformats.org/officeDocument/2006/relationships/oleObject" Target="file:///\\pmfsfin0101\Corporate_Strategy$\1.NEW%20FOLDERS\INVESTOR%20RELATIONS\Investor%20Pack\2017\Q4\Investor%20Pack%20worksheet_Q417a.xlsx" TargetMode="External"/></Relationships>
</file>

<file path=ppt/charts/_rels/chart12.xml.rels><?xml version="1.0" encoding="UTF-8" standalone="yes"?>
<Relationships xmlns="http://schemas.openxmlformats.org/package/2006/relationships"><Relationship Id="rId1" Type="http://schemas.openxmlformats.org/officeDocument/2006/relationships/oleObject" Target="file:///\\pmfsfin0101\Corporate_Strategy$\1.NEW%20FOLDERS\INVESTOR%20RELATIONS\Investor%20Pack\2017\Q4\Investor%20Pack%20worksheet_Q417a.xlsx" TargetMode="External"/></Relationships>
</file>

<file path=ppt/charts/_rels/chart13.xml.rels><?xml version="1.0" encoding="UTF-8" standalone="yes"?>
<Relationships xmlns="http://schemas.openxmlformats.org/package/2006/relationships"><Relationship Id="rId1" Type="http://schemas.openxmlformats.org/officeDocument/2006/relationships/oleObject" Target="file:///\\pmfsfin0101\Corporate_Strategy$\1.NEW%20FOLDERS\INVESTOR%20RELATIONS\Investor%20Pack\2017\Q4\Investor%20Pack%20worksheet_Q417a.xlsx" TargetMode="External"/></Relationships>
</file>

<file path=ppt/charts/_rels/chart14.xml.rels><?xml version="1.0" encoding="UTF-8" standalone="yes"?>
<Relationships xmlns="http://schemas.openxmlformats.org/package/2006/relationships"><Relationship Id="rId2" Type="http://schemas.openxmlformats.org/officeDocument/2006/relationships/oleObject" Target="file:///\\pmfsfin0101\Corporate_Strategy$\1.NEW%20FOLDERS\INVESTOR%20RELATIONS\Investor%20Pack\2018\Q2\Investor%20Pack%20worksheet_Q2'18.xlsx" TargetMode="External"/><Relationship Id="rId1" Type="http://schemas.openxmlformats.org/officeDocument/2006/relationships/themeOverride" Target="../theme/themeOverride5.xml"/></Relationships>
</file>

<file path=ppt/charts/_rels/chart15.xml.rels><?xml version="1.0" encoding="UTF-8" standalone="yes"?>
<Relationships xmlns="http://schemas.openxmlformats.org/package/2006/relationships"><Relationship Id="rId1" Type="http://schemas.openxmlformats.org/officeDocument/2006/relationships/oleObject" Target="file:///\\pmfsfin0101\Corporate_Strategy$\1.NEW%20FOLDERS\INVESTOR%20RELATIONS\Investor%20Pack\2018\Q2\Investor%20Pack%20worksheet_Q2'18.xlsx" TargetMode="External"/></Relationships>
</file>

<file path=ppt/charts/_rels/chart16.xml.rels><?xml version="1.0" encoding="UTF-8" standalone="yes"?>
<Relationships xmlns="http://schemas.openxmlformats.org/package/2006/relationships"><Relationship Id="rId2" Type="http://schemas.openxmlformats.org/officeDocument/2006/relationships/oleObject" Target="file:///\\pmfsfin0101\Corporate_Strategy$\1.NEW%20FOLDERS\INVESTOR%20RELATIONS\Investor%20Pack\2018\Q2\Investor%20Pack%20worksheet_Q2'18.xlsx" TargetMode="External"/><Relationship Id="rId1" Type="http://schemas.openxmlformats.org/officeDocument/2006/relationships/themeOverride" Target="../theme/themeOverride6.xml"/></Relationships>
</file>

<file path=ppt/charts/_rels/chart17.xml.rels><?xml version="1.0" encoding="UTF-8" standalone="yes"?>
<Relationships xmlns="http://schemas.openxmlformats.org/package/2006/relationships"><Relationship Id="rId2" Type="http://schemas.openxmlformats.org/officeDocument/2006/relationships/oleObject" Target="file:///\\pmfsfin0101\Corporate_Strategy$\1.NEW%20FOLDERS\INVESTOR%20RELATIONS\Investor%20Pack\2018\Q2\Investor%20Pack%20worksheet_Q2'18.xlsx" TargetMode="External"/><Relationship Id="rId1" Type="http://schemas.openxmlformats.org/officeDocument/2006/relationships/themeOverride" Target="../theme/themeOverride7.xml"/></Relationships>
</file>

<file path=ppt/charts/_rels/chart18.xml.rels><?xml version="1.0" encoding="UTF-8" standalone="yes"?>
<Relationships xmlns="http://schemas.openxmlformats.org/package/2006/relationships"><Relationship Id="rId2" Type="http://schemas.openxmlformats.org/officeDocument/2006/relationships/oleObject" Target="file:///\\pmfsfin0101\Corporate_Strategy$\1.NEW%20FOLDERS\INVESTOR%20RELATIONS\Investor%20Pack\2018\Q2\Investor%20Pack%20worksheet_Q2'18.xlsx" TargetMode="External"/><Relationship Id="rId1" Type="http://schemas.openxmlformats.org/officeDocument/2006/relationships/themeOverride" Target="../theme/themeOverride8.xml"/></Relationships>
</file>

<file path=ppt/charts/_rels/chart19.xml.rels><?xml version="1.0" encoding="UTF-8" standalone="yes"?>
<Relationships xmlns="http://schemas.openxmlformats.org/package/2006/relationships"><Relationship Id="rId2" Type="http://schemas.openxmlformats.org/officeDocument/2006/relationships/oleObject" Target="file:///\\pmfsfin0101\Corporate_Strategy$\1.NEW%20FOLDERS\INVESTOR%20RELATIONS\Investor%20Pack\2018\Q2\Investor%20Pack%20worksheet_Q2'18.xlsx" TargetMode="External"/><Relationship Id="rId1" Type="http://schemas.openxmlformats.org/officeDocument/2006/relationships/themeOverride" Target="../theme/themeOverride9.xml"/></Relationships>
</file>

<file path=ppt/charts/_rels/chart20.xml.rels><?xml version="1.0" encoding="UTF-8" standalone="yes"?>
<Relationships xmlns="http://schemas.openxmlformats.org/package/2006/relationships"><Relationship Id="rId2" Type="http://schemas.openxmlformats.org/officeDocument/2006/relationships/oleObject" Target="file:///\\pmfsfin0101\Corporate_Strategy$\1.NEW%20FOLDERS\INVESTOR%20RELATIONS\Investor%20Pack\2018\Q2\Investor%20Pack%20worksheet_Q2'18.xlsx" TargetMode="External"/><Relationship Id="rId1" Type="http://schemas.openxmlformats.org/officeDocument/2006/relationships/themeOverride" Target="../theme/themeOverride10.xml"/></Relationships>
</file>

<file path=ppt/charts/_rels/chart21.xml.rels><?xml version="1.0" encoding="UTF-8" standalone="yes"?>
<Relationships xmlns="http://schemas.openxmlformats.org/package/2006/relationships"><Relationship Id="rId2" Type="http://schemas.openxmlformats.org/officeDocument/2006/relationships/oleObject" Target="file:///\\pmfsfin0101\Corporate_Strategy$\1.NEW%20FOLDERS\INVESTOR%20RELATIONS\Investor%20Pack\2018\Q2\Investor%20Pack%20worksheet_Q2'18.xlsx" TargetMode="External"/><Relationship Id="rId1" Type="http://schemas.openxmlformats.org/officeDocument/2006/relationships/themeOverride" Target="../theme/themeOverride11.xml"/></Relationships>
</file>

<file path=ppt/charts/_rels/chart22.xml.rels><?xml version="1.0" encoding="UTF-8" standalone="yes"?>
<Relationships xmlns="http://schemas.openxmlformats.org/package/2006/relationships"><Relationship Id="rId3" Type="http://schemas.openxmlformats.org/officeDocument/2006/relationships/chartUserShapes" Target="../drawings/drawing1.xml"/><Relationship Id="rId2" Type="http://schemas.openxmlformats.org/officeDocument/2006/relationships/oleObject" Target="file:///\\pmfsfin0101\Corporate_Strategy$\1.NEW%20FOLDERS\INVESTOR%20RELATIONS\Investor%20Pack\2018\Q2\EChannels%20report_%20group.xlsx" TargetMode="External"/><Relationship Id="rId1" Type="http://schemas.openxmlformats.org/officeDocument/2006/relationships/themeOverride" Target="../theme/themeOverride12.xml"/></Relationships>
</file>

<file path=ppt/charts/_rels/chart23.xml.rels><?xml version="1.0" encoding="UTF-8" standalone="yes"?>
<Relationships xmlns="http://schemas.openxmlformats.org/package/2006/relationships"><Relationship Id="rId2" Type="http://schemas.openxmlformats.org/officeDocument/2006/relationships/chartUserShapes" Target="../drawings/drawing2.xml"/><Relationship Id="rId1" Type="http://schemas.openxmlformats.org/officeDocument/2006/relationships/oleObject" Target="../embeddings/oleObject1.bin"/></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AU"/>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spPr>
            <a:solidFill>
              <a:schemeClr val="accent3">
                <a:lumMod val="60000"/>
                <a:lumOff val="40000"/>
              </a:schemeClr>
            </a:solidFill>
          </c:spPr>
          <c:invertIfNegative val="0"/>
          <c:dPt>
            <c:idx val="2"/>
            <c:invertIfNegative val="0"/>
            <c:bubble3D val="0"/>
            <c:spPr>
              <a:solidFill>
                <a:schemeClr val="accent3">
                  <a:lumMod val="75000"/>
                </a:schemeClr>
              </a:solidFill>
            </c:spPr>
          </c:dPt>
          <c:dPt>
            <c:idx val="3"/>
            <c:invertIfNegative val="0"/>
            <c:bubble3D val="0"/>
            <c:spPr>
              <a:solidFill>
                <a:schemeClr val="accent3">
                  <a:lumMod val="50000"/>
                </a:schemeClr>
              </a:solidFill>
            </c:spPr>
          </c:dPt>
          <c:dLbls>
            <c:dLbl>
              <c:idx val="3"/>
              <c:spPr/>
              <c:txPr>
                <a:bodyPr/>
                <a:lstStyle/>
                <a:p>
                  <a:pPr>
                    <a:defRPr sz="1600" b="1">
                      <a:solidFill>
                        <a:schemeClr val="accent3">
                          <a:lumMod val="50000"/>
                        </a:schemeClr>
                      </a:solidFill>
                      <a:effectLst/>
                    </a:defRPr>
                  </a:pPr>
                  <a:endParaRPr lang="en-US"/>
                </a:p>
              </c:txPr>
              <c:showLegendKey val="0"/>
              <c:showVal val="1"/>
              <c:showCatName val="0"/>
              <c:showSerName val="0"/>
              <c:showPercent val="0"/>
              <c:showBubbleSize val="0"/>
            </c:dLbl>
            <c:txPr>
              <a:bodyPr/>
              <a:lstStyle/>
              <a:p>
                <a:pPr>
                  <a:defRPr sz="1600" b="1">
                    <a:solidFill>
                      <a:schemeClr val="accent3">
                        <a:lumMod val="50000"/>
                      </a:schemeClr>
                    </a:solidFill>
                  </a:defRPr>
                </a:pPr>
                <a:endParaRPr lang="en-US"/>
              </a:p>
            </c:txPr>
            <c:showLegendKey val="0"/>
            <c:showVal val="1"/>
            <c:showCatName val="0"/>
            <c:showSerName val="0"/>
            <c:showPercent val="0"/>
            <c:showBubbleSize val="0"/>
            <c:showLeaderLines val="0"/>
          </c:dLbls>
          <c:cat>
            <c:strRef>
              <c:f>'Ratios yearly'!$AC$30:$AF$30</c:f>
              <c:strCache>
                <c:ptCount val="4"/>
                <c:pt idx="0">
                  <c:v>2016</c:v>
                </c:pt>
                <c:pt idx="1">
                  <c:v>2017</c:v>
                </c:pt>
                <c:pt idx="2">
                  <c:v>YTD Jun17</c:v>
                </c:pt>
                <c:pt idx="3">
                  <c:v>YTD Jun18</c:v>
                </c:pt>
              </c:strCache>
            </c:strRef>
          </c:cat>
          <c:val>
            <c:numRef>
              <c:f>'Ratios yearly'!$AC$31:$AF$31</c:f>
              <c:numCache>
                <c:formatCode>_-* #,##0.0_-;\-* #,##0.0_-;_-* "-"??_-;_-@_-</c:formatCode>
                <c:ptCount val="4"/>
                <c:pt idx="0">
                  <c:v>643.45100000000002</c:v>
                </c:pt>
                <c:pt idx="1">
                  <c:v>757.00300000000004</c:v>
                </c:pt>
                <c:pt idx="2" formatCode="General">
                  <c:v>370.9</c:v>
                </c:pt>
                <c:pt idx="3" formatCode="0.0">
                  <c:v>418.28860179999987</c:v>
                </c:pt>
              </c:numCache>
            </c:numRef>
          </c:val>
        </c:ser>
        <c:dLbls>
          <c:showLegendKey val="0"/>
          <c:showVal val="1"/>
          <c:showCatName val="0"/>
          <c:showSerName val="0"/>
          <c:showPercent val="0"/>
          <c:showBubbleSize val="0"/>
        </c:dLbls>
        <c:gapWidth val="150"/>
        <c:overlap val="-25"/>
        <c:axId val="182461568"/>
        <c:axId val="182463104"/>
      </c:barChart>
      <c:catAx>
        <c:axId val="182461568"/>
        <c:scaling>
          <c:orientation val="minMax"/>
        </c:scaling>
        <c:delete val="0"/>
        <c:axPos val="b"/>
        <c:majorTickMark val="none"/>
        <c:minorTickMark val="none"/>
        <c:tickLblPos val="nextTo"/>
        <c:txPr>
          <a:bodyPr/>
          <a:lstStyle/>
          <a:p>
            <a:pPr>
              <a:defRPr sz="1400" b="1"/>
            </a:pPr>
            <a:endParaRPr lang="en-US"/>
          </a:p>
        </c:txPr>
        <c:crossAx val="182463104"/>
        <c:crosses val="autoZero"/>
        <c:auto val="1"/>
        <c:lblAlgn val="ctr"/>
        <c:lblOffset val="100"/>
        <c:noMultiLvlLbl val="0"/>
      </c:catAx>
      <c:valAx>
        <c:axId val="182463104"/>
        <c:scaling>
          <c:orientation val="minMax"/>
        </c:scaling>
        <c:delete val="1"/>
        <c:axPos val="l"/>
        <c:numFmt formatCode="_-* #,##0.0_-;\-* #,##0.0_-;_-* &quot;-&quot;??_-;_-@_-" sourceLinked="1"/>
        <c:majorTickMark val="none"/>
        <c:minorTickMark val="none"/>
        <c:tickLblPos val="nextTo"/>
        <c:crossAx val="182461568"/>
        <c:crosses val="autoZero"/>
        <c:crossBetween val="between"/>
      </c:valAx>
      <c:spPr>
        <a:noFill/>
        <a:ln>
          <a:noFill/>
        </a:ln>
      </c:spPr>
    </c:plotArea>
    <c:plotVisOnly val="1"/>
    <c:dispBlanksAs val="gap"/>
    <c:showDLblsOverMax val="0"/>
  </c:chart>
  <c:spPr>
    <a:noFill/>
    <a:ln>
      <a:noFill/>
    </a:ln>
  </c:spPr>
  <c:externalData r:id="rId2">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AU"/>
  <c:roundedCorners val="0"/>
  <mc:AlternateContent xmlns:mc="http://schemas.openxmlformats.org/markup-compatibility/2006">
    <mc:Choice xmlns:c14="http://schemas.microsoft.com/office/drawing/2007/8/2/chart" Requires="c14">
      <c14:style val="121"/>
    </mc:Choice>
    <mc:Fallback>
      <c:style val="21"/>
    </mc:Fallback>
  </mc:AlternateContent>
  <c:clrMapOvr bg1="lt1" tx1="dk1" bg2="lt2" tx2="dk2" accent1="accent1" accent2="accent2" accent3="accent3" accent4="accent4" accent5="accent5" accent6="accent6" hlink="hlink" folHlink="folHlink"/>
  <c:chart>
    <c:autoTitleDeleted val="1"/>
    <c:plotArea>
      <c:layout/>
      <c:lineChart>
        <c:grouping val="standard"/>
        <c:varyColors val="0"/>
        <c:ser>
          <c:idx val="2"/>
          <c:order val="0"/>
          <c:tx>
            <c:strRef>
              <c:f>'Ratios yearly'!$C$7</c:f>
              <c:strCache>
                <c:ptCount val="1"/>
                <c:pt idx="0">
                  <c:v>Cost to Income </c:v>
                </c:pt>
              </c:strCache>
            </c:strRef>
          </c:tx>
          <c:spPr>
            <a:ln>
              <a:solidFill>
                <a:schemeClr val="accent3"/>
              </a:solidFill>
            </a:ln>
          </c:spPr>
          <c:marker>
            <c:symbol val="none"/>
          </c:marker>
          <c:dLbls>
            <c:dLbl>
              <c:idx val="0"/>
              <c:layout>
                <c:manualLayout>
                  <c:x val="-3.5092200372192843E-2"/>
                  <c:y val="-7.9972321553864092E-2"/>
                </c:manualLayout>
              </c:layout>
              <c:showLegendKey val="0"/>
              <c:showVal val="1"/>
              <c:showCatName val="0"/>
              <c:showSerName val="0"/>
              <c:showPercent val="0"/>
              <c:showBubbleSize val="0"/>
            </c:dLbl>
            <c:dLbl>
              <c:idx val="1"/>
              <c:layout>
                <c:manualLayout>
                  <c:x val="-2.1505376344086023E-2"/>
                  <c:y val="-3.7037037037037035E-2"/>
                </c:manualLayout>
              </c:layout>
              <c:showLegendKey val="0"/>
              <c:showVal val="1"/>
              <c:showCatName val="0"/>
              <c:showSerName val="0"/>
              <c:showPercent val="0"/>
              <c:showBubbleSize val="0"/>
            </c:dLbl>
            <c:dLbl>
              <c:idx val="2"/>
              <c:layout>
                <c:manualLayout>
                  <c:x val="-2.1505376344086023E-2"/>
                  <c:y val="-3.7037037037037035E-2"/>
                </c:manualLayout>
              </c:layout>
              <c:spPr/>
              <c:txPr>
                <a:bodyPr/>
                <a:lstStyle/>
                <a:p>
                  <a:pPr>
                    <a:defRPr sz="1600" b="1">
                      <a:solidFill>
                        <a:schemeClr val="accent3">
                          <a:lumMod val="50000"/>
                        </a:schemeClr>
                      </a:solidFill>
                    </a:defRPr>
                  </a:pPr>
                  <a:endParaRPr lang="en-US"/>
                </a:p>
              </c:txPr>
              <c:showLegendKey val="0"/>
              <c:showVal val="1"/>
              <c:showCatName val="0"/>
              <c:showSerName val="0"/>
              <c:showPercent val="0"/>
              <c:showBubbleSize val="0"/>
            </c:dLbl>
            <c:dLbl>
              <c:idx val="3"/>
              <c:layout>
                <c:manualLayout>
                  <c:x val="-2.6881720430107527E-2"/>
                  <c:y val="-4.1666666666666706E-2"/>
                </c:manualLayout>
              </c:layout>
              <c:showLegendKey val="0"/>
              <c:showVal val="1"/>
              <c:showCatName val="0"/>
              <c:showSerName val="0"/>
              <c:showPercent val="0"/>
              <c:showBubbleSize val="0"/>
            </c:dLbl>
            <c:dLbl>
              <c:idx val="4"/>
              <c:layout>
                <c:manualLayout>
                  <c:x val="-4.0322500346422145E-2"/>
                  <c:y val="-5.5555555555555552E-2"/>
                </c:manualLayout>
              </c:layout>
              <c:spPr/>
              <c:txPr>
                <a:bodyPr/>
                <a:lstStyle/>
                <a:p>
                  <a:pPr>
                    <a:defRPr sz="1800" b="1">
                      <a:solidFill>
                        <a:schemeClr val="accent3">
                          <a:lumMod val="50000"/>
                        </a:schemeClr>
                      </a:solidFill>
                    </a:defRPr>
                  </a:pPr>
                  <a:endParaRPr lang="en-US"/>
                </a:p>
              </c:txPr>
              <c:showLegendKey val="0"/>
              <c:showVal val="1"/>
              <c:showCatName val="0"/>
              <c:showSerName val="0"/>
              <c:showPercent val="0"/>
              <c:showBubbleSize val="0"/>
            </c:dLbl>
            <c:txPr>
              <a:bodyPr/>
              <a:lstStyle/>
              <a:p>
                <a:pPr>
                  <a:defRPr sz="1600">
                    <a:solidFill>
                      <a:schemeClr val="accent3">
                        <a:lumMod val="50000"/>
                      </a:schemeClr>
                    </a:solidFill>
                  </a:defRPr>
                </a:pPr>
                <a:endParaRPr lang="en-US"/>
              </a:p>
            </c:txPr>
            <c:showLegendKey val="0"/>
            <c:showVal val="1"/>
            <c:showCatName val="0"/>
            <c:showSerName val="0"/>
            <c:showPercent val="0"/>
            <c:showBubbleSize val="0"/>
            <c:showLeaderLines val="0"/>
          </c:dLbls>
          <c:cat>
            <c:strRef>
              <c:f>'Ratios yearly'!$I$6:$K$6</c:f>
              <c:strCache>
                <c:ptCount val="3"/>
                <c:pt idx="0">
                  <c:v>2016</c:v>
                </c:pt>
                <c:pt idx="1">
                  <c:v>2017</c:v>
                </c:pt>
                <c:pt idx="2">
                  <c:v>YTD Jun18</c:v>
                </c:pt>
              </c:strCache>
            </c:strRef>
          </c:cat>
          <c:val>
            <c:numRef>
              <c:f>'Ratios yearly'!$I$7:$K$7</c:f>
              <c:numCache>
                <c:formatCode>0.0%</c:formatCode>
                <c:ptCount val="3"/>
                <c:pt idx="0">
                  <c:v>0.42947350447000293</c:v>
                </c:pt>
                <c:pt idx="1">
                  <c:v>0.42599999999999999</c:v>
                </c:pt>
                <c:pt idx="2">
                  <c:v>0.41079138742870641</c:v>
                </c:pt>
              </c:numCache>
            </c:numRef>
          </c:val>
          <c:smooth val="1"/>
        </c:ser>
        <c:dLbls>
          <c:showLegendKey val="0"/>
          <c:showVal val="1"/>
          <c:showCatName val="0"/>
          <c:showSerName val="0"/>
          <c:showPercent val="0"/>
          <c:showBubbleSize val="0"/>
        </c:dLbls>
        <c:marker val="1"/>
        <c:smooth val="0"/>
        <c:axId val="182475392"/>
        <c:axId val="182583680"/>
      </c:lineChart>
      <c:catAx>
        <c:axId val="182475392"/>
        <c:scaling>
          <c:orientation val="minMax"/>
        </c:scaling>
        <c:delete val="0"/>
        <c:axPos val="b"/>
        <c:numFmt formatCode="General" sourceLinked="1"/>
        <c:majorTickMark val="none"/>
        <c:minorTickMark val="none"/>
        <c:tickLblPos val="nextTo"/>
        <c:txPr>
          <a:bodyPr/>
          <a:lstStyle/>
          <a:p>
            <a:pPr>
              <a:defRPr sz="1400" b="1"/>
            </a:pPr>
            <a:endParaRPr lang="en-US"/>
          </a:p>
        </c:txPr>
        <c:crossAx val="182583680"/>
        <c:crosses val="autoZero"/>
        <c:auto val="1"/>
        <c:lblAlgn val="ctr"/>
        <c:lblOffset val="100"/>
        <c:noMultiLvlLbl val="0"/>
      </c:catAx>
      <c:valAx>
        <c:axId val="182583680"/>
        <c:scaling>
          <c:orientation val="minMax"/>
        </c:scaling>
        <c:delete val="1"/>
        <c:axPos val="l"/>
        <c:numFmt formatCode="0.0%" sourceLinked="1"/>
        <c:majorTickMark val="out"/>
        <c:minorTickMark val="none"/>
        <c:tickLblPos val="nextTo"/>
        <c:crossAx val="182475392"/>
        <c:crosses val="autoZero"/>
        <c:crossBetween val="between"/>
      </c:valAx>
      <c:spPr>
        <a:noFill/>
      </c:spPr>
    </c:plotArea>
    <c:legend>
      <c:legendPos val="b"/>
      <c:layout>
        <c:manualLayout>
          <c:xMode val="edge"/>
          <c:yMode val="edge"/>
          <c:x val="0.32503887484146499"/>
          <c:y val="0.83555680291365653"/>
          <c:w val="0.35671538480877646"/>
          <c:h val="0.12347393532340716"/>
        </c:manualLayout>
      </c:layout>
      <c:overlay val="0"/>
    </c:legend>
    <c:plotVisOnly val="1"/>
    <c:dispBlanksAs val="gap"/>
    <c:showDLblsOverMax val="0"/>
  </c:chart>
  <c:spPr>
    <a:noFill/>
    <a:ln>
      <a:noFill/>
    </a:ln>
  </c:spPr>
  <c:externalData r:id="rId2">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AU"/>
  <c:roundedCorners val="0"/>
  <mc:AlternateContent xmlns:mc="http://schemas.openxmlformats.org/markup-compatibility/2006">
    <mc:Choice xmlns:c14="http://schemas.microsoft.com/office/drawing/2007/8/2/chart" Requires="c14">
      <c14:style val="121"/>
    </mc:Choice>
    <mc:Fallback>
      <c:style val="21"/>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4549402823018459"/>
          <c:y val="0.19952488283013234"/>
          <c:w val="0.75678610206297503"/>
          <c:h val="0.48884331763083688"/>
        </c:manualLayout>
      </c:layout>
      <c:lineChart>
        <c:grouping val="standard"/>
        <c:varyColors val="0"/>
        <c:ser>
          <c:idx val="0"/>
          <c:order val="0"/>
          <c:tx>
            <c:strRef>
              <c:f>'Ratios yearly'!$C$8</c:f>
              <c:strCache>
                <c:ptCount val="1"/>
                <c:pt idx="0">
                  <c:v>ROE</c:v>
                </c:pt>
              </c:strCache>
            </c:strRef>
          </c:tx>
          <c:spPr>
            <a:ln>
              <a:solidFill>
                <a:schemeClr val="accent3"/>
              </a:solidFill>
            </a:ln>
          </c:spPr>
          <c:marker>
            <c:symbol val="none"/>
          </c:marker>
          <c:dLbls>
            <c:dLbl>
              <c:idx val="0"/>
              <c:layout>
                <c:manualLayout>
                  <c:x val="-1.0377715949297695E-2"/>
                  <c:y val="-8.2099091331166676E-2"/>
                </c:manualLayout>
              </c:layout>
              <c:showLegendKey val="0"/>
              <c:showVal val="1"/>
              <c:showCatName val="0"/>
              <c:showSerName val="0"/>
              <c:showPercent val="0"/>
              <c:showBubbleSize val="0"/>
            </c:dLbl>
            <c:dLbl>
              <c:idx val="1"/>
              <c:layout>
                <c:manualLayout>
                  <c:x val="-3.3912584097982597E-2"/>
                  <c:y val="-0.10653366054254826"/>
                </c:manualLayout>
              </c:layout>
              <c:showLegendKey val="0"/>
              <c:showVal val="1"/>
              <c:showCatName val="0"/>
              <c:showSerName val="0"/>
              <c:showPercent val="0"/>
              <c:showBubbleSize val="0"/>
            </c:dLbl>
            <c:dLbl>
              <c:idx val="2"/>
              <c:layout>
                <c:manualLayout>
                  <c:x val="-4.9109853435495825E-3"/>
                  <c:y val="-5.0925925925925923E-2"/>
                </c:manualLayout>
              </c:layout>
              <c:spPr/>
              <c:txPr>
                <a:bodyPr/>
                <a:lstStyle/>
                <a:p>
                  <a:pPr>
                    <a:defRPr sz="1600" b="1">
                      <a:solidFill>
                        <a:schemeClr val="accent3">
                          <a:lumMod val="50000"/>
                        </a:schemeClr>
                      </a:solidFill>
                    </a:defRPr>
                  </a:pPr>
                  <a:endParaRPr lang="en-US"/>
                </a:p>
              </c:txPr>
              <c:showLegendKey val="0"/>
              <c:showVal val="1"/>
              <c:showCatName val="0"/>
              <c:showSerName val="0"/>
              <c:showPercent val="0"/>
              <c:showBubbleSize val="0"/>
            </c:dLbl>
            <c:dLbl>
              <c:idx val="3"/>
              <c:layout>
                <c:manualLayout>
                  <c:x val="-2.4554941682012606E-3"/>
                  <c:y val="-4.1666666666666664E-2"/>
                </c:manualLayout>
              </c:layout>
              <c:showLegendKey val="0"/>
              <c:showVal val="1"/>
              <c:showCatName val="0"/>
              <c:showSerName val="0"/>
              <c:showPercent val="0"/>
              <c:showBubbleSize val="0"/>
            </c:dLbl>
            <c:dLbl>
              <c:idx val="4"/>
              <c:layout>
                <c:manualLayout>
                  <c:x val="-2.9465930018416207E-2"/>
                  <c:y val="-8.7963327500729077E-2"/>
                </c:manualLayout>
              </c:layout>
              <c:spPr>
                <a:noFill/>
                <a:ln>
                  <a:noFill/>
                </a:ln>
              </c:spPr>
              <c:txPr>
                <a:bodyPr/>
                <a:lstStyle/>
                <a:p>
                  <a:pPr>
                    <a:defRPr sz="1800" b="1">
                      <a:solidFill>
                        <a:schemeClr val="accent3">
                          <a:lumMod val="50000"/>
                        </a:schemeClr>
                      </a:solidFill>
                    </a:defRPr>
                  </a:pPr>
                  <a:endParaRPr lang="en-US"/>
                </a:p>
              </c:txPr>
              <c:showLegendKey val="0"/>
              <c:showVal val="1"/>
              <c:showCatName val="0"/>
              <c:showSerName val="0"/>
              <c:showPercent val="0"/>
              <c:showBubbleSize val="0"/>
            </c:dLbl>
            <c:txPr>
              <a:bodyPr/>
              <a:lstStyle/>
              <a:p>
                <a:pPr>
                  <a:defRPr sz="1400">
                    <a:solidFill>
                      <a:schemeClr val="accent3">
                        <a:lumMod val="50000"/>
                      </a:schemeClr>
                    </a:solidFill>
                  </a:defRPr>
                </a:pPr>
                <a:endParaRPr lang="en-US"/>
              </a:p>
            </c:txPr>
            <c:showLegendKey val="0"/>
            <c:showVal val="1"/>
            <c:showCatName val="0"/>
            <c:showSerName val="0"/>
            <c:showPercent val="0"/>
            <c:showBubbleSize val="0"/>
            <c:showLeaderLines val="0"/>
          </c:dLbls>
          <c:cat>
            <c:strRef>
              <c:f>'Ratios yearly'!$I$6:$K$6</c:f>
              <c:strCache>
                <c:ptCount val="3"/>
                <c:pt idx="0">
                  <c:v>2016</c:v>
                </c:pt>
                <c:pt idx="1">
                  <c:v>2017</c:v>
                </c:pt>
                <c:pt idx="2">
                  <c:v>YTD Jun18</c:v>
                </c:pt>
              </c:strCache>
            </c:strRef>
          </c:cat>
          <c:val>
            <c:numRef>
              <c:f>'Ratios yearly'!$I$8:$K$8</c:f>
              <c:numCache>
                <c:formatCode>0.0%</c:formatCode>
                <c:ptCount val="3"/>
                <c:pt idx="0">
                  <c:v>0.29628137408590693</c:v>
                </c:pt>
                <c:pt idx="1">
                  <c:v>0.30599999999999999</c:v>
                </c:pt>
                <c:pt idx="2">
                  <c:v>0.307</c:v>
                </c:pt>
              </c:numCache>
            </c:numRef>
          </c:val>
          <c:smooth val="1"/>
        </c:ser>
        <c:ser>
          <c:idx val="1"/>
          <c:order val="1"/>
          <c:tx>
            <c:strRef>
              <c:f>'Ratios yearly'!$C$9</c:f>
              <c:strCache>
                <c:ptCount val="1"/>
                <c:pt idx="0">
                  <c:v>ROA</c:v>
                </c:pt>
              </c:strCache>
            </c:strRef>
          </c:tx>
          <c:marker>
            <c:symbol val="none"/>
          </c:marker>
          <c:dLbls>
            <c:dLbl>
              <c:idx val="0"/>
              <c:layout>
                <c:manualLayout>
                  <c:x val="-7.3664825046040518E-3"/>
                  <c:y val="-3.7037037037037035E-2"/>
                </c:manualLayout>
              </c:layout>
              <c:showLegendKey val="0"/>
              <c:showVal val="1"/>
              <c:showCatName val="0"/>
              <c:showSerName val="0"/>
              <c:showPercent val="0"/>
              <c:showBubbleSize val="0"/>
            </c:dLbl>
            <c:dLbl>
              <c:idx val="1"/>
              <c:layout>
                <c:manualLayout>
                  <c:x val="-1.2277470841006752E-2"/>
                  <c:y val="-4.6296296296296384E-2"/>
                </c:manualLayout>
              </c:layout>
              <c:showLegendKey val="0"/>
              <c:showVal val="1"/>
              <c:showCatName val="0"/>
              <c:showSerName val="0"/>
              <c:showPercent val="0"/>
              <c:showBubbleSize val="0"/>
            </c:dLbl>
            <c:dLbl>
              <c:idx val="2"/>
              <c:layout>
                <c:manualLayout>
                  <c:x val="-1.2277470841006752E-2"/>
                  <c:y val="-5.0925925925925923E-2"/>
                </c:manualLayout>
              </c:layout>
              <c:spPr/>
              <c:txPr>
                <a:bodyPr/>
                <a:lstStyle/>
                <a:p>
                  <a:pPr>
                    <a:defRPr sz="1600" b="1">
                      <a:solidFill>
                        <a:schemeClr val="accent3">
                          <a:lumMod val="50000"/>
                        </a:schemeClr>
                      </a:solidFill>
                    </a:defRPr>
                  </a:pPr>
                  <a:endParaRPr lang="en-US"/>
                </a:p>
              </c:txPr>
              <c:showLegendKey val="0"/>
              <c:showVal val="1"/>
              <c:showCatName val="0"/>
              <c:showSerName val="0"/>
              <c:showPercent val="0"/>
              <c:showBubbleSize val="0"/>
            </c:dLbl>
            <c:dLbl>
              <c:idx val="3"/>
              <c:layout>
                <c:manualLayout>
                  <c:x val="-3.1921424186617468E-2"/>
                  <c:y val="-5.5555555555555643E-2"/>
                </c:manualLayout>
              </c:layout>
              <c:showLegendKey val="0"/>
              <c:showVal val="1"/>
              <c:showCatName val="0"/>
              <c:showSerName val="0"/>
              <c:showPercent val="0"/>
              <c:showBubbleSize val="0"/>
            </c:dLbl>
            <c:dLbl>
              <c:idx val="4"/>
              <c:layout>
                <c:manualLayout>
                  <c:x val="-2.7010435850214856E-2"/>
                  <c:y val="-8.7962962962963048E-2"/>
                </c:manualLayout>
              </c:layout>
              <c:spPr>
                <a:noFill/>
                <a:ln>
                  <a:noFill/>
                </a:ln>
              </c:spPr>
              <c:txPr>
                <a:bodyPr/>
                <a:lstStyle/>
                <a:p>
                  <a:pPr>
                    <a:defRPr sz="1400" b="1">
                      <a:solidFill>
                        <a:schemeClr val="accent3">
                          <a:lumMod val="50000"/>
                        </a:schemeClr>
                      </a:solidFill>
                    </a:defRPr>
                  </a:pPr>
                  <a:endParaRPr lang="en-US"/>
                </a:p>
              </c:txPr>
              <c:showLegendKey val="0"/>
              <c:showVal val="1"/>
              <c:showCatName val="0"/>
              <c:showSerName val="0"/>
              <c:showPercent val="0"/>
              <c:showBubbleSize val="0"/>
            </c:dLbl>
            <c:txPr>
              <a:bodyPr/>
              <a:lstStyle/>
              <a:p>
                <a:pPr>
                  <a:defRPr sz="1400">
                    <a:solidFill>
                      <a:schemeClr val="accent3">
                        <a:lumMod val="50000"/>
                      </a:schemeClr>
                    </a:solidFill>
                  </a:defRPr>
                </a:pPr>
                <a:endParaRPr lang="en-US"/>
              </a:p>
            </c:txPr>
            <c:showLegendKey val="0"/>
            <c:showVal val="1"/>
            <c:showCatName val="0"/>
            <c:showSerName val="0"/>
            <c:showPercent val="0"/>
            <c:showBubbleSize val="0"/>
            <c:showLeaderLines val="0"/>
          </c:dLbls>
          <c:cat>
            <c:strRef>
              <c:f>'Ratios yearly'!$I$6:$K$6</c:f>
              <c:strCache>
                <c:ptCount val="3"/>
                <c:pt idx="0">
                  <c:v>2016</c:v>
                </c:pt>
                <c:pt idx="1">
                  <c:v>2017</c:v>
                </c:pt>
                <c:pt idx="2">
                  <c:v>YTD Jun18</c:v>
                </c:pt>
              </c:strCache>
            </c:strRef>
          </c:cat>
          <c:val>
            <c:numRef>
              <c:f>'Ratios yearly'!$I$9:$K$9</c:f>
              <c:numCache>
                <c:formatCode>0.0%</c:formatCode>
                <c:ptCount val="3"/>
                <c:pt idx="0">
                  <c:v>3.2973724115641173E-2</c:v>
                </c:pt>
                <c:pt idx="1">
                  <c:v>3.5000000000000003E-2</c:v>
                </c:pt>
                <c:pt idx="2">
                  <c:v>3.6999999999999998E-2</c:v>
                </c:pt>
              </c:numCache>
            </c:numRef>
          </c:val>
          <c:smooth val="1"/>
        </c:ser>
        <c:dLbls>
          <c:showLegendKey val="0"/>
          <c:showVal val="1"/>
          <c:showCatName val="0"/>
          <c:showSerName val="0"/>
          <c:showPercent val="0"/>
          <c:showBubbleSize val="0"/>
        </c:dLbls>
        <c:marker val="1"/>
        <c:smooth val="0"/>
        <c:axId val="182619136"/>
        <c:axId val="182620928"/>
      </c:lineChart>
      <c:catAx>
        <c:axId val="182619136"/>
        <c:scaling>
          <c:orientation val="minMax"/>
        </c:scaling>
        <c:delete val="0"/>
        <c:axPos val="b"/>
        <c:numFmt formatCode="General" sourceLinked="1"/>
        <c:majorTickMark val="none"/>
        <c:minorTickMark val="none"/>
        <c:tickLblPos val="nextTo"/>
        <c:txPr>
          <a:bodyPr/>
          <a:lstStyle/>
          <a:p>
            <a:pPr>
              <a:defRPr sz="1400" b="1"/>
            </a:pPr>
            <a:endParaRPr lang="en-US"/>
          </a:p>
        </c:txPr>
        <c:crossAx val="182620928"/>
        <c:crosses val="autoZero"/>
        <c:auto val="1"/>
        <c:lblAlgn val="ctr"/>
        <c:lblOffset val="100"/>
        <c:noMultiLvlLbl val="0"/>
      </c:catAx>
      <c:valAx>
        <c:axId val="182620928"/>
        <c:scaling>
          <c:orientation val="minMax"/>
        </c:scaling>
        <c:delete val="1"/>
        <c:axPos val="l"/>
        <c:numFmt formatCode="0.0%" sourceLinked="1"/>
        <c:majorTickMark val="out"/>
        <c:minorTickMark val="none"/>
        <c:tickLblPos val="nextTo"/>
        <c:crossAx val="182619136"/>
        <c:crosses val="autoZero"/>
        <c:crossBetween val="between"/>
      </c:valAx>
      <c:spPr>
        <a:noFill/>
      </c:spPr>
    </c:plotArea>
    <c:legend>
      <c:legendPos val="b"/>
      <c:layout/>
      <c:overlay val="0"/>
    </c:legend>
    <c:plotVisOnly val="1"/>
    <c:dispBlanksAs val="gap"/>
    <c:showDLblsOverMax val="0"/>
  </c:chart>
  <c:spPr>
    <a:noFill/>
    <a:ln>
      <a:noFill/>
    </a:ln>
  </c:spPr>
  <c:externalData r:id="rId2">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AU"/>
  <c:roundedCorners val="0"/>
  <mc:AlternateContent xmlns:mc="http://schemas.openxmlformats.org/markup-compatibility/2006">
    <mc:Choice xmlns:c14="http://schemas.microsoft.com/office/drawing/2007/8/2/chart" Requires="c14">
      <c14:style val="121"/>
    </mc:Choice>
    <mc:Fallback>
      <c:style val="21"/>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8.3660130718954243E-2"/>
          <c:y val="0.12037037037037036"/>
          <c:w val="0.86155732955741771"/>
          <c:h val="0.53966343696234476"/>
        </c:manualLayout>
      </c:layout>
      <c:lineChart>
        <c:grouping val="standard"/>
        <c:varyColors val="0"/>
        <c:ser>
          <c:idx val="0"/>
          <c:order val="0"/>
          <c:tx>
            <c:strRef>
              <c:f>'Capital Adequacy'!$L$8</c:f>
              <c:strCache>
                <c:ptCount val="1"/>
                <c:pt idx="0">
                  <c:v>Provision to Loans</c:v>
                </c:pt>
              </c:strCache>
            </c:strRef>
          </c:tx>
          <c:marker>
            <c:symbol val="none"/>
          </c:marker>
          <c:dLbls>
            <c:dLbl>
              <c:idx val="0"/>
              <c:layout>
                <c:manualLayout>
                  <c:x val="-4.1341168212760182E-2"/>
                  <c:y val="-4.1674348881041025E-2"/>
                </c:manualLayout>
              </c:layout>
              <c:showLegendKey val="0"/>
              <c:showVal val="1"/>
              <c:showCatName val="0"/>
              <c:showSerName val="0"/>
              <c:showPercent val="0"/>
              <c:showBubbleSize val="0"/>
            </c:dLbl>
            <c:dLbl>
              <c:idx val="1"/>
              <c:layout>
                <c:manualLayout>
                  <c:x val="-3.0790808358818322E-2"/>
                  <c:y val="-8.5674425475225885E-2"/>
                </c:manualLayout>
              </c:layout>
              <c:showLegendKey val="0"/>
              <c:showVal val="1"/>
              <c:showCatName val="0"/>
              <c:showSerName val="0"/>
              <c:showPercent val="0"/>
              <c:showBubbleSize val="0"/>
            </c:dLbl>
            <c:dLbl>
              <c:idx val="2"/>
              <c:layout>
                <c:manualLayout>
                  <c:x val="-7.5901328273244783E-3"/>
                  <c:y val="-5.555555555555558E-2"/>
                </c:manualLayout>
              </c:layout>
              <c:spPr/>
              <c:txPr>
                <a:bodyPr/>
                <a:lstStyle/>
                <a:p>
                  <a:pPr>
                    <a:defRPr sz="1600" b="1">
                      <a:solidFill>
                        <a:schemeClr val="accent3">
                          <a:lumMod val="50000"/>
                        </a:schemeClr>
                      </a:solidFill>
                    </a:defRPr>
                  </a:pPr>
                  <a:endParaRPr lang="en-US"/>
                </a:p>
              </c:txPr>
              <c:showLegendKey val="0"/>
              <c:showVal val="1"/>
              <c:showCatName val="0"/>
              <c:showSerName val="0"/>
              <c:showPercent val="0"/>
              <c:showBubbleSize val="0"/>
            </c:dLbl>
            <c:dLbl>
              <c:idx val="3"/>
              <c:layout>
                <c:manualLayout>
                  <c:x val="-7.5901328273245711E-3"/>
                  <c:y val="-4.1666666666666664E-2"/>
                </c:manualLayout>
              </c:layout>
              <c:showLegendKey val="0"/>
              <c:showVal val="1"/>
              <c:showCatName val="0"/>
              <c:showSerName val="0"/>
              <c:showPercent val="0"/>
              <c:showBubbleSize val="0"/>
            </c:dLbl>
            <c:dLbl>
              <c:idx val="4"/>
              <c:layout>
                <c:manualLayout>
                  <c:x val="-1.7710309930423784E-2"/>
                  <c:y val="-4.1666666666666664E-2"/>
                </c:manualLayout>
              </c:layout>
              <c:spPr/>
              <c:txPr>
                <a:bodyPr/>
                <a:lstStyle/>
                <a:p>
                  <a:pPr>
                    <a:defRPr sz="1400" b="1">
                      <a:solidFill>
                        <a:schemeClr val="accent3">
                          <a:lumMod val="50000"/>
                        </a:schemeClr>
                      </a:solidFill>
                    </a:defRPr>
                  </a:pPr>
                  <a:endParaRPr lang="en-US"/>
                </a:p>
              </c:txPr>
              <c:showLegendKey val="0"/>
              <c:showVal val="1"/>
              <c:showCatName val="0"/>
              <c:showSerName val="0"/>
              <c:showPercent val="0"/>
              <c:showBubbleSize val="0"/>
            </c:dLbl>
            <c:txPr>
              <a:bodyPr/>
              <a:lstStyle/>
              <a:p>
                <a:pPr>
                  <a:defRPr sz="1400">
                    <a:solidFill>
                      <a:schemeClr val="accent3">
                        <a:lumMod val="50000"/>
                      </a:schemeClr>
                    </a:solidFill>
                  </a:defRPr>
                </a:pPr>
                <a:endParaRPr lang="en-US"/>
              </a:p>
            </c:txPr>
            <c:showLegendKey val="0"/>
            <c:showVal val="1"/>
            <c:showCatName val="0"/>
            <c:showSerName val="0"/>
            <c:showPercent val="0"/>
            <c:showBubbleSize val="0"/>
            <c:showLeaderLines val="0"/>
          </c:dLbls>
          <c:cat>
            <c:strRef>
              <c:f>'Capital Adequacy'!$R$3:$T$3</c:f>
              <c:strCache>
                <c:ptCount val="3"/>
                <c:pt idx="0">
                  <c:v>2016</c:v>
                </c:pt>
                <c:pt idx="1">
                  <c:v>2017</c:v>
                </c:pt>
                <c:pt idx="2">
                  <c:v>YTD Jun18</c:v>
                </c:pt>
              </c:strCache>
            </c:strRef>
          </c:cat>
          <c:val>
            <c:numRef>
              <c:f>'Capital Adequacy'!$R$8:$T$8</c:f>
              <c:numCache>
                <c:formatCode>0.0%</c:formatCode>
                <c:ptCount val="3"/>
                <c:pt idx="0">
                  <c:v>4.9000000000000002E-2</c:v>
                </c:pt>
                <c:pt idx="1">
                  <c:v>4.8969382733088922E-2</c:v>
                </c:pt>
                <c:pt idx="2">
                  <c:v>4.7E-2</c:v>
                </c:pt>
              </c:numCache>
            </c:numRef>
          </c:val>
          <c:smooth val="1"/>
        </c:ser>
        <c:ser>
          <c:idx val="1"/>
          <c:order val="1"/>
          <c:tx>
            <c:strRef>
              <c:f>'Capital Adequacy'!$L$12</c:f>
              <c:strCache>
                <c:ptCount val="1"/>
                <c:pt idx="0">
                  <c:v>NPL</c:v>
                </c:pt>
              </c:strCache>
            </c:strRef>
          </c:tx>
          <c:marker>
            <c:symbol val="none"/>
          </c:marker>
          <c:dLbls>
            <c:dLbl>
              <c:idx val="0"/>
              <c:layout>
                <c:manualLayout>
                  <c:x val="-1.7710309930423759E-2"/>
                  <c:y val="-5.0925925925925923E-2"/>
                </c:manualLayout>
              </c:layout>
              <c:showLegendKey val="0"/>
              <c:showVal val="1"/>
              <c:showCatName val="0"/>
              <c:showSerName val="0"/>
              <c:showPercent val="0"/>
              <c:showBubbleSize val="0"/>
            </c:dLbl>
            <c:dLbl>
              <c:idx val="1"/>
              <c:layout>
                <c:manualLayout>
                  <c:x val="-3.1840591565840355E-2"/>
                  <c:y val="-5.5540631847314961E-2"/>
                </c:manualLayout>
              </c:layout>
              <c:showLegendKey val="0"/>
              <c:showVal val="1"/>
              <c:showCatName val="0"/>
              <c:showSerName val="0"/>
              <c:showPercent val="0"/>
              <c:showBubbleSize val="0"/>
            </c:dLbl>
            <c:dLbl>
              <c:idx val="2"/>
              <c:layout>
                <c:manualLayout>
                  <c:x val="-7.5901328273244783E-3"/>
                  <c:y val="-5.0925925925925923E-2"/>
                </c:manualLayout>
              </c:layout>
              <c:spPr/>
              <c:txPr>
                <a:bodyPr/>
                <a:lstStyle/>
                <a:p>
                  <a:pPr>
                    <a:defRPr sz="1600" b="1">
                      <a:solidFill>
                        <a:schemeClr val="accent3">
                          <a:lumMod val="50000"/>
                        </a:schemeClr>
                      </a:solidFill>
                    </a:defRPr>
                  </a:pPr>
                  <a:endParaRPr lang="en-US"/>
                </a:p>
              </c:txPr>
              <c:showLegendKey val="0"/>
              <c:showVal val="1"/>
              <c:showCatName val="0"/>
              <c:showSerName val="0"/>
              <c:showPercent val="0"/>
              <c:showBubbleSize val="0"/>
            </c:dLbl>
            <c:dLbl>
              <c:idx val="3"/>
              <c:layout>
                <c:manualLayout>
                  <c:x val="-7.5901328273245711E-3"/>
                  <c:y val="-4.6296296296296294E-2"/>
                </c:manualLayout>
              </c:layout>
              <c:showLegendKey val="0"/>
              <c:showVal val="1"/>
              <c:showCatName val="0"/>
              <c:showSerName val="0"/>
              <c:showPercent val="0"/>
              <c:showBubbleSize val="0"/>
            </c:dLbl>
            <c:dLbl>
              <c:idx val="4"/>
              <c:layout>
                <c:manualLayout>
                  <c:x val="-2.0240354206198609E-2"/>
                  <c:y val="-6.4814814814814811E-2"/>
                </c:manualLayout>
              </c:layout>
              <c:spPr/>
              <c:txPr>
                <a:bodyPr/>
                <a:lstStyle/>
                <a:p>
                  <a:pPr>
                    <a:defRPr sz="1400" b="1">
                      <a:solidFill>
                        <a:schemeClr val="accent3">
                          <a:lumMod val="50000"/>
                        </a:schemeClr>
                      </a:solidFill>
                    </a:defRPr>
                  </a:pPr>
                  <a:endParaRPr lang="en-US"/>
                </a:p>
              </c:txPr>
              <c:showLegendKey val="0"/>
              <c:showVal val="1"/>
              <c:showCatName val="0"/>
              <c:showSerName val="0"/>
              <c:showPercent val="0"/>
              <c:showBubbleSize val="0"/>
            </c:dLbl>
            <c:txPr>
              <a:bodyPr/>
              <a:lstStyle/>
              <a:p>
                <a:pPr>
                  <a:defRPr sz="1400">
                    <a:solidFill>
                      <a:schemeClr val="accent3">
                        <a:lumMod val="50000"/>
                      </a:schemeClr>
                    </a:solidFill>
                  </a:defRPr>
                </a:pPr>
                <a:endParaRPr lang="en-US"/>
              </a:p>
            </c:txPr>
            <c:showLegendKey val="0"/>
            <c:showVal val="1"/>
            <c:showCatName val="0"/>
            <c:showSerName val="0"/>
            <c:showPercent val="0"/>
            <c:showBubbleSize val="0"/>
            <c:showLeaderLines val="0"/>
          </c:dLbls>
          <c:cat>
            <c:strRef>
              <c:f>'Capital Adequacy'!$R$3:$T$3</c:f>
              <c:strCache>
                <c:ptCount val="3"/>
                <c:pt idx="0">
                  <c:v>2016</c:v>
                </c:pt>
                <c:pt idx="1">
                  <c:v>2017</c:v>
                </c:pt>
                <c:pt idx="2">
                  <c:v>YTD Jun18</c:v>
                </c:pt>
              </c:strCache>
            </c:strRef>
          </c:cat>
          <c:val>
            <c:numRef>
              <c:f>'Capital Adequacy'!$R$12:$T$12</c:f>
              <c:numCache>
                <c:formatCode>0.0%</c:formatCode>
                <c:ptCount val="3"/>
                <c:pt idx="0">
                  <c:v>1.3822538312798237E-2</c:v>
                </c:pt>
                <c:pt idx="1">
                  <c:v>1.3028187557935635E-2</c:v>
                </c:pt>
                <c:pt idx="2">
                  <c:v>1.4E-2</c:v>
                </c:pt>
              </c:numCache>
            </c:numRef>
          </c:val>
          <c:smooth val="1"/>
        </c:ser>
        <c:dLbls>
          <c:showLegendKey val="0"/>
          <c:showVal val="1"/>
          <c:showCatName val="0"/>
          <c:showSerName val="0"/>
          <c:showPercent val="0"/>
          <c:showBubbleSize val="0"/>
        </c:dLbls>
        <c:marker val="1"/>
        <c:smooth val="0"/>
        <c:axId val="180235648"/>
        <c:axId val="180253824"/>
      </c:lineChart>
      <c:catAx>
        <c:axId val="180235648"/>
        <c:scaling>
          <c:orientation val="minMax"/>
        </c:scaling>
        <c:delete val="0"/>
        <c:axPos val="b"/>
        <c:majorTickMark val="none"/>
        <c:minorTickMark val="none"/>
        <c:tickLblPos val="nextTo"/>
        <c:txPr>
          <a:bodyPr/>
          <a:lstStyle/>
          <a:p>
            <a:pPr>
              <a:defRPr sz="1400" b="1"/>
            </a:pPr>
            <a:endParaRPr lang="en-US"/>
          </a:p>
        </c:txPr>
        <c:crossAx val="180253824"/>
        <c:crosses val="autoZero"/>
        <c:auto val="1"/>
        <c:lblAlgn val="ctr"/>
        <c:lblOffset val="100"/>
        <c:noMultiLvlLbl val="0"/>
      </c:catAx>
      <c:valAx>
        <c:axId val="180253824"/>
        <c:scaling>
          <c:orientation val="minMax"/>
        </c:scaling>
        <c:delete val="1"/>
        <c:axPos val="l"/>
        <c:numFmt formatCode="0.0%" sourceLinked="1"/>
        <c:majorTickMark val="out"/>
        <c:minorTickMark val="none"/>
        <c:tickLblPos val="nextTo"/>
        <c:crossAx val="180235648"/>
        <c:crosses val="autoZero"/>
        <c:crossBetween val="between"/>
      </c:valAx>
      <c:spPr>
        <a:noFill/>
        <a:ln>
          <a:noFill/>
        </a:ln>
      </c:spPr>
    </c:plotArea>
    <c:legend>
      <c:legendPos val="b"/>
      <c:layout>
        <c:manualLayout>
          <c:xMode val="edge"/>
          <c:yMode val="edge"/>
          <c:x val="0.22214694411586763"/>
          <c:y val="0.86131745062700271"/>
          <c:w val="0.55570585562347941"/>
          <c:h val="0.13868254937299726"/>
        </c:manualLayout>
      </c:layout>
      <c:overlay val="0"/>
      <c:txPr>
        <a:bodyPr/>
        <a:lstStyle/>
        <a:p>
          <a:pPr>
            <a:defRPr sz="1050" b="0"/>
          </a:pPr>
          <a:endParaRPr lang="en-US"/>
        </a:p>
      </c:txPr>
    </c:legend>
    <c:plotVisOnly val="1"/>
    <c:dispBlanksAs val="gap"/>
    <c:showDLblsOverMax val="0"/>
  </c:chart>
  <c:spPr>
    <a:noFill/>
    <a:ln>
      <a:noFill/>
    </a:ln>
  </c:spPr>
  <c:externalData r:id="rId2">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n-AU"/>
  <c:roundedCorners val="0"/>
  <mc:AlternateContent xmlns:mc="http://schemas.openxmlformats.org/markup-compatibility/2006">
    <mc:Choice xmlns:c14="http://schemas.microsoft.com/office/drawing/2007/8/2/chart" Requires="c14">
      <c14:style val="105"/>
    </mc:Choice>
    <mc:Fallback>
      <c:style val="5"/>
    </mc:Fallback>
  </mc:AlternateContent>
  <c:chart>
    <c:autoTitleDeleted val="0"/>
    <c:plotArea>
      <c:layout>
        <c:manualLayout>
          <c:layoutTarget val="inner"/>
          <c:xMode val="edge"/>
          <c:yMode val="edge"/>
          <c:x val="3.9254080701272842E-2"/>
          <c:y val="0.13127466899769197"/>
          <c:w val="0.90055609050673324"/>
          <c:h val="0.5826809891303576"/>
        </c:manualLayout>
      </c:layout>
      <c:barChart>
        <c:barDir val="col"/>
        <c:grouping val="clustered"/>
        <c:varyColors val="0"/>
        <c:ser>
          <c:idx val="0"/>
          <c:order val="0"/>
          <c:tx>
            <c:strRef>
              <c:f>'Ratios yearly'!$C$30</c:f>
              <c:strCache>
                <c:ptCount val="1"/>
                <c:pt idx="0">
                  <c:v>Capital Adequacy</c:v>
                </c:pt>
              </c:strCache>
            </c:strRef>
          </c:tx>
          <c:invertIfNegative val="0"/>
          <c:dPt>
            <c:idx val="4"/>
            <c:invertIfNegative val="0"/>
            <c:bubble3D val="0"/>
          </c:dPt>
          <c:dLbls>
            <c:dLbl>
              <c:idx val="0"/>
              <c:layout>
                <c:manualLayout>
                  <c:x val="5.4949662960152171E-3"/>
                  <c:y val="-1.3676154233906753E-2"/>
                </c:manualLayout>
              </c:layout>
              <c:showLegendKey val="0"/>
              <c:showVal val="1"/>
              <c:showCatName val="0"/>
              <c:showSerName val="0"/>
              <c:showPercent val="0"/>
              <c:showBubbleSize val="0"/>
            </c:dLbl>
            <c:dLbl>
              <c:idx val="1"/>
              <c:layout>
                <c:manualLayout>
                  <c:x val="3.338768473931622E-3"/>
                  <c:y val="-1.5499712462105346E-2"/>
                </c:manualLayout>
              </c:layout>
              <c:showLegendKey val="0"/>
              <c:showVal val="1"/>
              <c:showCatName val="0"/>
              <c:showSerName val="0"/>
              <c:showPercent val="0"/>
              <c:showBubbleSize val="0"/>
            </c:dLbl>
            <c:dLbl>
              <c:idx val="2"/>
              <c:layout>
                <c:manualLayout>
                  <c:x val="1.6954506575023725E-3"/>
                  <c:y val="-3.3270898868674958E-2"/>
                </c:manualLayout>
              </c:layout>
              <c:spPr/>
              <c:txPr>
                <a:bodyPr/>
                <a:lstStyle/>
                <a:p>
                  <a:pPr>
                    <a:defRPr sz="1400" b="1">
                      <a:solidFill>
                        <a:schemeClr val="accent3">
                          <a:lumMod val="50000"/>
                        </a:schemeClr>
                      </a:solidFill>
                    </a:defRPr>
                  </a:pPr>
                  <a:endParaRPr lang="en-US"/>
                </a:p>
              </c:txPr>
              <c:showLegendKey val="0"/>
              <c:showVal val="1"/>
              <c:showCatName val="0"/>
              <c:showSerName val="0"/>
              <c:showPercent val="0"/>
              <c:showBubbleSize val="0"/>
            </c:dLbl>
            <c:dLbl>
              <c:idx val="3"/>
              <c:layout>
                <c:manualLayout>
                  <c:x val="-6.5727699530516437E-2"/>
                  <c:y val="-6.5040622648732407E-2"/>
                </c:manualLayout>
              </c:layout>
              <c:showLegendKey val="0"/>
              <c:showVal val="1"/>
              <c:showCatName val="0"/>
              <c:showSerName val="0"/>
              <c:showPercent val="0"/>
              <c:showBubbleSize val="0"/>
            </c:dLbl>
            <c:dLbl>
              <c:idx val="4"/>
              <c:layout>
                <c:manualLayout>
                  <c:x val="-6.2597809076682318E-2"/>
                  <c:y val="-7.5880726423521144E-2"/>
                </c:manualLayout>
              </c:layout>
              <c:showLegendKey val="0"/>
              <c:showVal val="1"/>
              <c:showCatName val="0"/>
              <c:showSerName val="0"/>
              <c:showPercent val="0"/>
              <c:showBubbleSize val="0"/>
            </c:dLbl>
            <c:txPr>
              <a:bodyPr/>
              <a:lstStyle/>
              <a:p>
                <a:pPr>
                  <a:defRPr sz="1200">
                    <a:solidFill>
                      <a:schemeClr val="accent3">
                        <a:lumMod val="50000"/>
                      </a:schemeClr>
                    </a:solidFill>
                  </a:defRPr>
                </a:pPr>
                <a:endParaRPr lang="en-US"/>
              </a:p>
            </c:txPr>
            <c:showLegendKey val="0"/>
            <c:showVal val="1"/>
            <c:showCatName val="0"/>
            <c:showSerName val="0"/>
            <c:showPercent val="0"/>
            <c:showBubbleSize val="0"/>
            <c:showLeaderLines val="0"/>
          </c:dLbls>
          <c:cat>
            <c:strRef>
              <c:f>'Ratios yearly'!$I$6:$K$6</c:f>
              <c:strCache>
                <c:ptCount val="3"/>
                <c:pt idx="0">
                  <c:v>2016</c:v>
                </c:pt>
                <c:pt idx="1">
                  <c:v>2017</c:v>
                </c:pt>
                <c:pt idx="2">
                  <c:v>YTD Jun18</c:v>
                </c:pt>
              </c:strCache>
            </c:strRef>
          </c:cat>
          <c:val>
            <c:numRef>
              <c:f>'Ratios yearly'!$I$30:$K$30</c:f>
              <c:numCache>
                <c:formatCode>0.0%</c:formatCode>
                <c:ptCount val="3"/>
                <c:pt idx="0">
                  <c:v>0.23100000000000001</c:v>
                </c:pt>
                <c:pt idx="1">
                  <c:v>0.247</c:v>
                </c:pt>
                <c:pt idx="2">
                  <c:v>0.22700000000000001</c:v>
                </c:pt>
              </c:numCache>
            </c:numRef>
          </c:val>
        </c:ser>
        <c:dLbls>
          <c:showLegendKey val="0"/>
          <c:showVal val="1"/>
          <c:showCatName val="0"/>
          <c:showSerName val="0"/>
          <c:showPercent val="0"/>
          <c:showBubbleSize val="0"/>
        </c:dLbls>
        <c:gapWidth val="150"/>
        <c:axId val="180272128"/>
        <c:axId val="180273920"/>
      </c:barChart>
      <c:lineChart>
        <c:grouping val="standard"/>
        <c:varyColors val="0"/>
        <c:ser>
          <c:idx val="1"/>
          <c:order val="1"/>
          <c:tx>
            <c:strRef>
              <c:f>'Ratios yearly'!$C$31</c:f>
              <c:strCache>
                <c:ptCount val="1"/>
                <c:pt idx="0">
                  <c:v>BPNG Requirement</c:v>
                </c:pt>
              </c:strCache>
            </c:strRef>
          </c:tx>
          <c:spPr>
            <a:ln>
              <a:solidFill>
                <a:schemeClr val="accent6">
                  <a:lumMod val="75000"/>
                </a:schemeClr>
              </a:solidFill>
            </a:ln>
          </c:spPr>
          <c:marker>
            <c:symbol val="none"/>
          </c:marker>
          <c:dLbls>
            <c:dLbl>
              <c:idx val="0"/>
              <c:delete val="1"/>
            </c:dLbl>
            <c:dLbl>
              <c:idx val="1"/>
              <c:delete val="1"/>
            </c:dLbl>
            <c:dLbl>
              <c:idx val="2"/>
              <c:layout>
                <c:manualLayout>
                  <c:x val="6.8040569653287752E-2"/>
                  <c:y val="7.2804624002936072E-17"/>
                </c:manualLayout>
              </c:layout>
              <c:showLegendKey val="0"/>
              <c:showVal val="1"/>
              <c:showCatName val="0"/>
              <c:showSerName val="0"/>
              <c:showPercent val="0"/>
              <c:showBubbleSize val="0"/>
            </c:dLbl>
            <c:txPr>
              <a:bodyPr/>
              <a:lstStyle/>
              <a:p>
                <a:pPr>
                  <a:defRPr sz="1200">
                    <a:solidFill>
                      <a:schemeClr val="tx1">
                        <a:lumMod val="75000"/>
                        <a:lumOff val="25000"/>
                      </a:schemeClr>
                    </a:solidFill>
                  </a:defRPr>
                </a:pPr>
                <a:endParaRPr lang="en-US"/>
              </a:p>
            </c:txPr>
            <c:showLegendKey val="0"/>
            <c:showVal val="1"/>
            <c:showCatName val="0"/>
            <c:showSerName val="0"/>
            <c:showPercent val="0"/>
            <c:showBubbleSize val="0"/>
            <c:showLeaderLines val="0"/>
          </c:dLbls>
          <c:val>
            <c:numRef>
              <c:f>'Ratios yearly'!$H$31:$J$31</c:f>
              <c:numCache>
                <c:formatCode>0.0%</c:formatCode>
                <c:ptCount val="3"/>
                <c:pt idx="0">
                  <c:v>0.12</c:v>
                </c:pt>
                <c:pt idx="1">
                  <c:v>0.12</c:v>
                </c:pt>
                <c:pt idx="2">
                  <c:v>0.12</c:v>
                </c:pt>
              </c:numCache>
            </c:numRef>
          </c:val>
          <c:smooth val="0"/>
        </c:ser>
        <c:dLbls>
          <c:showLegendKey val="0"/>
          <c:showVal val="0"/>
          <c:showCatName val="0"/>
          <c:showSerName val="0"/>
          <c:showPercent val="0"/>
          <c:showBubbleSize val="0"/>
        </c:dLbls>
        <c:marker val="1"/>
        <c:smooth val="0"/>
        <c:axId val="180272128"/>
        <c:axId val="180273920"/>
      </c:lineChart>
      <c:catAx>
        <c:axId val="180272128"/>
        <c:scaling>
          <c:orientation val="minMax"/>
        </c:scaling>
        <c:delete val="0"/>
        <c:axPos val="b"/>
        <c:numFmt formatCode="General" sourceLinked="1"/>
        <c:majorTickMark val="none"/>
        <c:minorTickMark val="none"/>
        <c:tickLblPos val="nextTo"/>
        <c:txPr>
          <a:bodyPr/>
          <a:lstStyle/>
          <a:p>
            <a:pPr>
              <a:defRPr sz="1400" b="1"/>
            </a:pPr>
            <a:endParaRPr lang="en-US"/>
          </a:p>
        </c:txPr>
        <c:crossAx val="180273920"/>
        <c:crosses val="autoZero"/>
        <c:auto val="1"/>
        <c:lblAlgn val="ctr"/>
        <c:lblOffset val="100"/>
        <c:noMultiLvlLbl val="0"/>
      </c:catAx>
      <c:valAx>
        <c:axId val="180273920"/>
        <c:scaling>
          <c:orientation val="minMax"/>
        </c:scaling>
        <c:delete val="1"/>
        <c:axPos val="l"/>
        <c:numFmt formatCode="0.0%" sourceLinked="1"/>
        <c:majorTickMark val="none"/>
        <c:minorTickMark val="none"/>
        <c:tickLblPos val="nextTo"/>
        <c:crossAx val="180272128"/>
        <c:crosses val="autoZero"/>
        <c:crossBetween val="between"/>
      </c:valAx>
    </c:plotArea>
    <c:legend>
      <c:legendPos val="b"/>
      <c:layout>
        <c:manualLayout>
          <c:xMode val="edge"/>
          <c:yMode val="edge"/>
          <c:x val="9.4061988755062068E-2"/>
          <c:y val="0.89715798816515047"/>
          <c:w val="0.8187921930243045"/>
          <c:h val="0.10284201183484948"/>
        </c:manualLayout>
      </c:layout>
      <c:overlay val="0"/>
      <c:txPr>
        <a:bodyPr/>
        <a:lstStyle/>
        <a:p>
          <a:pPr>
            <a:defRPr sz="1050"/>
          </a:pPr>
          <a:endParaRPr lang="en-US"/>
        </a:p>
      </c:txPr>
    </c:legend>
    <c:plotVisOnly val="1"/>
    <c:dispBlanksAs val="gap"/>
    <c:showDLblsOverMax val="0"/>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en-AU"/>
  <c:roundedCorners val="0"/>
  <mc:AlternateContent xmlns:mc="http://schemas.openxmlformats.org/markup-compatibility/2006">
    <mc:Choice xmlns:c14="http://schemas.microsoft.com/office/drawing/2007/8/2/chart" Requires="c14">
      <c14:style val="105"/>
    </mc:Choice>
    <mc:Fallback>
      <c:style val="5"/>
    </mc:Fallback>
  </mc:AlternateContent>
  <c:chart>
    <c:autoTitleDeleted val="1"/>
    <c:plotArea>
      <c:layout/>
      <c:barChart>
        <c:barDir val="col"/>
        <c:grouping val="stacked"/>
        <c:varyColors val="0"/>
        <c:ser>
          <c:idx val="0"/>
          <c:order val="0"/>
          <c:tx>
            <c:strRef>
              <c:f>'Ratios yearly'!$C$102</c:f>
              <c:strCache>
                <c:ptCount val="1"/>
                <c:pt idx="0">
                  <c:v>Demand Deposits </c:v>
                </c:pt>
              </c:strCache>
            </c:strRef>
          </c:tx>
          <c:spPr>
            <a:solidFill>
              <a:schemeClr val="accent3">
                <a:lumMod val="75000"/>
              </a:schemeClr>
            </a:solidFill>
          </c:spPr>
          <c:invertIfNegative val="0"/>
          <c:dLbls>
            <c:dLbl>
              <c:idx val="2"/>
              <c:spPr/>
              <c:txPr>
                <a:bodyPr/>
                <a:lstStyle/>
                <a:p>
                  <a:pPr>
                    <a:defRPr sz="1400" b="1">
                      <a:solidFill>
                        <a:schemeClr val="bg1"/>
                      </a:solidFill>
                    </a:defRPr>
                  </a:pPr>
                  <a:endParaRPr lang="en-US"/>
                </a:p>
              </c:txPr>
              <c:showLegendKey val="0"/>
              <c:showVal val="1"/>
              <c:showCatName val="0"/>
              <c:showSerName val="0"/>
              <c:showPercent val="0"/>
              <c:showBubbleSize val="0"/>
            </c:dLbl>
            <c:txPr>
              <a:bodyPr/>
              <a:lstStyle/>
              <a:p>
                <a:pPr>
                  <a:defRPr sz="1400">
                    <a:solidFill>
                      <a:schemeClr val="bg1"/>
                    </a:solidFill>
                  </a:defRPr>
                </a:pPr>
                <a:endParaRPr lang="en-US"/>
              </a:p>
            </c:txPr>
            <c:showLegendKey val="0"/>
            <c:showVal val="1"/>
            <c:showCatName val="0"/>
            <c:showSerName val="0"/>
            <c:showPercent val="0"/>
            <c:showBubbleSize val="0"/>
            <c:showLeaderLines val="0"/>
          </c:dLbls>
          <c:cat>
            <c:strRef>
              <c:f>'Ratios yearly'!$I$6:$K$6</c:f>
              <c:strCache>
                <c:ptCount val="3"/>
                <c:pt idx="0">
                  <c:v>2016</c:v>
                </c:pt>
                <c:pt idx="1">
                  <c:v>2017</c:v>
                </c:pt>
                <c:pt idx="2">
                  <c:v>YTD Jun18</c:v>
                </c:pt>
              </c:strCache>
            </c:strRef>
          </c:cat>
          <c:val>
            <c:numRef>
              <c:f>'Ratios yearly'!$I$102:$K$102</c:f>
              <c:numCache>
                <c:formatCode>_(* #,##0.00_);_(* \(#,##0.00\);_(* "-"??_);_(@_)</c:formatCode>
                <c:ptCount val="3"/>
                <c:pt idx="0">
                  <c:v>12.832770399999999</c:v>
                </c:pt>
                <c:pt idx="1">
                  <c:v>13.4384488</c:v>
                </c:pt>
                <c:pt idx="2">
                  <c:v>14.334959100000001</c:v>
                </c:pt>
              </c:numCache>
            </c:numRef>
          </c:val>
        </c:ser>
        <c:ser>
          <c:idx val="1"/>
          <c:order val="1"/>
          <c:tx>
            <c:strRef>
              <c:f>'Ratios yearly'!$C$103</c:f>
              <c:strCache>
                <c:ptCount val="1"/>
                <c:pt idx="0">
                  <c:v>Term Deposits</c:v>
                </c:pt>
              </c:strCache>
            </c:strRef>
          </c:tx>
          <c:spPr>
            <a:solidFill>
              <a:srgbClr val="92D050"/>
            </a:solidFill>
          </c:spPr>
          <c:invertIfNegative val="0"/>
          <c:dLbls>
            <c:dLbl>
              <c:idx val="2"/>
              <c:spPr/>
              <c:txPr>
                <a:bodyPr/>
                <a:lstStyle/>
                <a:p>
                  <a:pPr>
                    <a:defRPr sz="1400" b="1">
                      <a:solidFill>
                        <a:schemeClr val="accent3">
                          <a:lumMod val="50000"/>
                        </a:schemeClr>
                      </a:solidFill>
                    </a:defRPr>
                  </a:pPr>
                  <a:endParaRPr lang="en-US"/>
                </a:p>
              </c:txPr>
              <c:showLegendKey val="0"/>
              <c:showVal val="1"/>
              <c:showCatName val="0"/>
              <c:showSerName val="0"/>
              <c:showPercent val="0"/>
              <c:showBubbleSize val="0"/>
            </c:dLbl>
            <c:dLbl>
              <c:idx val="4"/>
              <c:layout>
                <c:manualLayout>
                  <c:x val="0"/>
                  <c:y val="-0.13888888888888892"/>
                </c:manualLayout>
              </c:layout>
              <c:showLegendKey val="0"/>
              <c:showVal val="1"/>
              <c:showCatName val="0"/>
              <c:showSerName val="0"/>
              <c:showPercent val="0"/>
              <c:showBubbleSize val="0"/>
            </c:dLbl>
            <c:txPr>
              <a:bodyPr/>
              <a:lstStyle/>
              <a:p>
                <a:pPr>
                  <a:defRPr sz="1400">
                    <a:solidFill>
                      <a:schemeClr val="accent3">
                        <a:lumMod val="50000"/>
                      </a:schemeClr>
                    </a:solidFill>
                  </a:defRPr>
                </a:pPr>
                <a:endParaRPr lang="en-US"/>
              </a:p>
            </c:txPr>
            <c:showLegendKey val="0"/>
            <c:showVal val="1"/>
            <c:showCatName val="0"/>
            <c:showSerName val="0"/>
            <c:showPercent val="0"/>
            <c:showBubbleSize val="0"/>
            <c:showLeaderLines val="0"/>
          </c:dLbls>
          <c:cat>
            <c:strRef>
              <c:f>'Ratios yearly'!$I$6:$K$6</c:f>
              <c:strCache>
                <c:ptCount val="3"/>
                <c:pt idx="0">
                  <c:v>2016</c:v>
                </c:pt>
                <c:pt idx="1">
                  <c:v>2017</c:v>
                </c:pt>
                <c:pt idx="2">
                  <c:v>YTD Jun18</c:v>
                </c:pt>
              </c:strCache>
            </c:strRef>
          </c:cat>
          <c:val>
            <c:numRef>
              <c:f>'Ratios yearly'!$I$103:$K$103</c:f>
              <c:numCache>
                <c:formatCode>_(* #,##0.00_);_(* \(#,##0.00\);_(* "-"??_);_(@_)</c:formatCode>
                <c:ptCount val="3"/>
                <c:pt idx="0">
                  <c:v>4.0795782000000003</c:v>
                </c:pt>
                <c:pt idx="1">
                  <c:v>4.4632434999999999</c:v>
                </c:pt>
                <c:pt idx="2">
                  <c:v>4.1099044999999998</c:v>
                </c:pt>
              </c:numCache>
            </c:numRef>
          </c:val>
        </c:ser>
        <c:dLbls>
          <c:showLegendKey val="0"/>
          <c:showVal val="1"/>
          <c:showCatName val="0"/>
          <c:showSerName val="0"/>
          <c:showPercent val="0"/>
          <c:showBubbleSize val="0"/>
        </c:dLbls>
        <c:gapWidth val="150"/>
        <c:overlap val="100"/>
        <c:axId val="180605312"/>
        <c:axId val="180606848"/>
      </c:barChart>
      <c:catAx>
        <c:axId val="180605312"/>
        <c:scaling>
          <c:orientation val="minMax"/>
        </c:scaling>
        <c:delete val="0"/>
        <c:axPos val="b"/>
        <c:numFmt formatCode="General" sourceLinked="1"/>
        <c:majorTickMark val="none"/>
        <c:minorTickMark val="none"/>
        <c:tickLblPos val="nextTo"/>
        <c:txPr>
          <a:bodyPr/>
          <a:lstStyle/>
          <a:p>
            <a:pPr>
              <a:defRPr sz="1400" b="1"/>
            </a:pPr>
            <a:endParaRPr lang="en-US"/>
          </a:p>
        </c:txPr>
        <c:crossAx val="180606848"/>
        <c:crosses val="autoZero"/>
        <c:auto val="1"/>
        <c:lblAlgn val="ctr"/>
        <c:lblOffset val="100"/>
        <c:noMultiLvlLbl val="0"/>
      </c:catAx>
      <c:valAx>
        <c:axId val="180606848"/>
        <c:scaling>
          <c:orientation val="minMax"/>
        </c:scaling>
        <c:delete val="1"/>
        <c:axPos val="l"/>
        <c:numFmt formatCode="_(* #,##0.00_);_(* \(#,##0.00\);_(* &quot;-&quot;??_);_(@_)" sourceLinked="1"/>
        <c:majorTickMark val="out"/>
        <c:minorTickMark val="none"/>
        <c:tickLblPos val="nextTo"/>
        <c:crossAx val="180605312"/>
        <c:crosses val="autoZero"/>
        <c:crossBetween val="between"/>
      </c:valAx>
    </c:plotArea>
    <c:legend>
      <c:legendPos val="b"/>
      <c:layout>
        <c:manualLayout>
          <c:xMode val="edge"/>
          <c:yMode val="edge"/>
          <c:x val="0.19890961189497464"/>
          <c:y val="0.820334810590162"/>
          <c:w val="0.65509133244454321"/>
          <c:h val="0.13393812392497675"/>
        </c:manualLayout>
      </c:layout>
      <c:overlay val="0"/>
      <c:txPr>
        <a:bodyPr/>
        <a:lstStyle/>
        <a:p>
          <a:pPr>
            <a:defRPr sz="1200"/>
          </a:pPr>
          <a:endParaRPr lang="en-US"/>
        </a:p>
      </c:txPr>
    </c:legend>
    <c:plotVisOnly val="1"/>
    <c:dispBlanksAs val="gap"/>
    <c:showDLblsOverMax val="0"/>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en-AU"/>
  <c:roundedCorners val="0"/>
  <mc:AlternateContent xmlns:mc="http://schemas.openxmlformats.org/markup-compatibility/2006">
    <mc:Choice xmlns:c14="http://schemas.microsoft.com/office/drawing/2007/8/2/chart" Requires="c14">
      <c14:style val="105"/>
    </mc:Choice>
    <mc:Fallback>
      <c:style val="5"/>
    </mc:Fallback>
  </mc:AlternateContent>
  <c:chart>
    <c:autoTitleDeleted val="1"/>
    <c:plotArea>
      <c:layout/>
      <c:barChart>
        <c:barDir val="col"/>
        <c:grouping val="clustered"/>
        <c:varyColors val="0"/>
        <c:ser>
          <c:idx val="0"/>
          <c:order val="0"/>
          <c:tx>
            <c:strRef>
              <c:f>'Ratios yearly'!$C$98</c:f>
              <c:strCache>
                <c:ptCount val="1"/>
                <c:pt idx="0">
                  <c:v>Total Deposits</c:v>
                </c:pt>
              </c:strCache>
            </c:strRef>
          </c:tx>
          <c:spPr>
            <a:solidFill>
              <a:srgbClr val="92D050"/>
            </a:solidFill>
          </c:spPr>
          <c:invertIfNegative val="0"/>
          <c:dPt>
            <c:idx val="2"/>
            <c:invertIfNegative val="0"/>
            <c:bubble3D val="0"/>
            <c:spPr>
              <a:solidFill>
                <a:schemeClr val="accent3">
                  <a:lumMod val="75000"/>
                </a:schemeClr>
              </a:solidFill>
            </c:spPr>
          </c:dPt>
          <c:dPt>
            <c:idx val="4"/>
            <c:invertIfNegative val="0"/>
            <c:bubble3D val="0"/>
          </c:dPt>
          <c:dLbls>
            <c:dLbl>
              <c:idx val="2"/>
              <c:spPr/>
              <c:txPr>
                <a:bodyPr/>
                <a:lstStyle/>
                <a:p>
                  <a:pPr>
                    <a:defRPr sz="1600" b="1">
                      <a:solidFill>
                        <a:schemeClr val="accent3">
                          <a:lumMod val="50000"/>
                        </a:schemeClr>
                      </a:solidFill>
                    </a:defRPr>
                  </a:pPr>
                  <a:endParaRPr lang="en-US"/>
                </a:p>
              </c:txPr>
              <c:showLegendKey val="0"/>
              <c:showVal val="1"/>
              <c:showCatName val="0"/>
              <c:showSerName val="0"/>
              <c:showPercent val="0"/>
              <c:showBubbleSize val="0"/>
            </c:dLbl>
            <c:txPr>
              <a:bodyPr/>
              <a:lstStyle/>
              <a:p>
                <a:pPr>
                  <a:defRPr sz="1400">
                    <a:solidFill>
                      <a:schemeClr val="accent3">
                        <a:lumMod val="50000"/>
                      </a:schemeClr>
                    </a:solidFill>
                  </a:defRPr>
                </a:pPr>
                <a:endParaRPr lang="en-US"/>
              </a:p>
            </c:txPr>
            <c:showLegendKey val="0"/>
            <c:showVal val="1"/>
            <c:showCatName val="0"/>
            <c:showSerName val="0"/>
            <c:showPercent val="0"/>
            <c:showBubbleSize val="0"/>
            <c:showLeaderLines val="0"/>
          </c:dLbls>
          <c:cat>
            <c:strRef>
              <c:f>'Ratios yearly'!$I$6:$K$6</c:f>
              <c:strCache>
                <c:ptCount val="3"/>
                <c:pt idx="0">
                  <c:v>2016</c:v>
                </c:pt>
                <c:pt idx="1">
                  <c:v>2017</c:v>
                </c:pt>
                <c:pt idx="2">
                  <c:v>YTD Jun18</c:v>
                </c:pt>
              </c:strCache>
            </c:strRef>
          </c:cat>
          <c:val>
            <c:numRef>
              <c:f>'Ratios yearly'!$I$98:$K$98</c:f>
              <c:numCache>
                <c:formatCode>_(* #,##0.00_);_(* \(#,##0.00\);_(* "-"??_);_(@_)</c:formatCode>
                <c:ptCount val="3"/>
                <c:pt idx="0">
                  <c:v>16.911999999999999</c:v>
                </c:pt>
                <c:pt idx="1">
                  <c:v>17.901692300000001</c:v>
                </c:pt>
                <c:pt idx="2">
                  <c:v>18.444863600000001</c:v>
                </c:pt>
              </c:numCache>
            </c:numRef>
          </c:val>
        </c:ser>
        <c:dLbls>
          <c:showLegendKey val="0"/>
          <c:showVal val="1"/>
          <c:showCatName val="0"/>
          <c:showSerName val="0"/>
          <c:showPercent val="0"/>
          <c:showBubbleSize val="0"/>
        </c:dLbls>
        <c:gapWidth val="150"/>
        <c:overlap val="-25"/>
        <c:axId val="180578944"/>
        <c:axId val="180789632"/>
      </c:barChart>
      <c:catAx>
        <c:axId val="180578944"/>
        <c:scaling>
          <c:orientation val="minMax"/>
        </c:scaling>
        <c:delete val="0"/>
        <c:axPos val="b"/>
        <c:numFmt formatCode="General" sourceLinked="1"/>
        <c:majorTickMark val="none"/>
        <c:minorTickMark val="none"/>
        <c:tickLblPos val="nextTo"/>
        <c:txPr>
          <a:bodyPr/>
          <a:lstStyle/>
          <a:p>
            <a:pPr>
              <a:defRPr sz="1400" b="1"/>
            </a:pPr>
            <a:endParaRPr lang="en-US"/>
          </a:p>
        </c:txPr>
        <c:crossAx val="180789632"/>
        <c:crosses val="autoZero"/>
        <c:auto val="1"/>
        <c:lblAlgn val="ctr"/>
        <c:lblOffset val="100"/>
        <c:noMultiLvlLbl val="0"/>
      </c:catAx>
      <c:valAx>
        <c:axId val="180789632"/>
        <c:scaling>
          <c:orientation val="minMax"/>
        </c:scaling>
        <c:delete val="1"/>
        <c:axPos val="l"/>
        <c:numFmt formatCode="_(* #,##0.00_);_(* \(#,##0.00\);_(* &quot;-&quot;??_);_(@_)" sourceLinked="1"/>
        <c:majorTickMark val="none"/>
        <c:minorTickMark val="none"/>
        <c:tickLblPos val="nextTo"/>
        <c:crossAx val="180578944"/>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lang val="en-AU"/>
  <c:roundedCorners val="0"/>
  <mc:AlternateContent xmlns:mc="http://schemas.openxmlformats.org/markup-compatibility/2006">
    <mc:Choice xmlns:c14="http://schemas.microsoft.com/office/drawing/2007/8/2/chart" Requires="c14">
      <c14:style val="105"/>
    </mc:Choice>
    <mc:Fallback>
      <c:style val="5"/>
    </mc:Fallback>
  </mc:AlternateContent>
  <c:chart>
    <c:autoTitleDeleted val="1"/>
    <c:plotArea>
      <c:layout/>
      <c:barChart>
        <c:barDir val="col"/>
        <c:grouping val="clustered"/>
        <c:varyColors val="0"/>
        <c:ser>
          <c:idx val="0"/>
          <c:order val="0"/>
          <c:tx>
            <c:strRef>
              <c:f>'Ratios yearly'!$C$97</c:f>
              <c:strCache>
                <c:ptCount val="1"/>
                <c:pt idx="0">
                  <c:v>Net Loans</c:v>
                </c:pt>
              </c:strCache>
            </c:strRef>
          </c:tx>
          <c:spPr>
            <a:solidFill>
              <a:srgbClr val="92D050"/>
            </a:solidFill>
          </c:spPr>
          <c:invertIfNegative val="0"/>
          <c:dPt>
            <c:idx val="2"/>
            <c:invertIfNegative val="0"/>
            <c:bubble3D val="0"/>
            <c:spPr>
              <a:solidFill>
                <a:schemeClr val="accent3">
                  <a:lumMod val="75000"/>
                </a:schemeClr>
              </a:solidFill>
            </c:spPr>
          </c:dPt>
          <c:dPt>
            <c:idx val="4"/>
            <c:invertIfNegative val="0"/>
            <c:bubble3D val="0"/>
          </c:dPt>
          <c:dLbls>
            <c:dLbl>
              <c:idx val="2"/>
              <c:numFmt formatCode="#,##0.00" sourceLinked="0"/>
              <c:spPr/>
              <c:txPr>
                <a:bodyPr/>
                <a:lstStyle/>
                <a:p>
                  <a:pPr>
                    <a:defRPr sz="1600" b="1">
                      <a:solidFill>
                        <a:schemeClr val="accent3">
                          <a:lumMod val="50000"/>
                        </a:schemeClr>
                      </a:solidFill>
                    </a:defRPr>
                  </a:pPr>
                  <a:endParaRPr lang="en-US"/>
                </a:p>
              </c:txPr>
              <c:showLegendKey val="0"/>
              <c:showVal val="1"/>
              <c:showCatName val="0"/>
              <c:showSerName val="0"/>
              <c:showPercent val="0"/>
              <c:showBubbleSize val="0"/>
            </c:dLbl>
            <c:dLbl>
              <c:idx val="4"/>
              <c:layout>
                <c:manualLayout>
                  <c:x val="9.6596036787073446E-17"/>
                  <c:y val="1.8518518518518517E-2"/>
                </c:manualLayout>
              </c:layout>
              <c:showLegendKey val="0"/>
              <c:showVal val="1"/>
              <c:showCatName val="0"/>
              <c:showSerName val="0"/>
              <c:showPercent val="0"/>
              <c:showBubbleSize val="0"/>
            </c:dLbl>
            <c:numFmt formatCode="#,##0.00" sourceLinked="0"/>
            <c:txPr>
              <a:bodyPr/>
              <a:lstStyle/>
              <a:p>
                <a:pPr>
                  <a:defRPr sz="1400">
                    <a:solidFill>
                      <a:schemeClr val="accent3">
                        <a:lumMod val="50000"/>
                      </a:schemeClr>
                    </a:solidFill>
                  </a:defRPr>
                </a:pPr>
                <a:endParaRPr lang="en-US"/>
              </a:p>
            </c:txPr>
            <c:showLegendKey val="0"/>
            <c:showVal val="1"/>
            <c:showCatName val="0"/>
            <c:showSerName val="0"/>
            <c:showPercent val="0"/>
            <c:showBubbleSize val="0"/>
            <c:showLeaderLines val="0"/>
          </c:dLbls>
          <c:cat>
            <c:strRef>
              <c:f>'Ratios yearly'!$I$6:$K$6</c:f>
              <c:strCache>
                <c:ptCount val="3"/>
                <c:pt idx="0">
                  <c:v>2016</c:v>
                </c:pt>
                <c:pt idx="1">
                  <c:v>2017</c:v>
                </c:pt>
                <c:pt idx="2">
                  <c:v>YTD Jun18</c:v>
                </c:pt>
              </c:strCache>
            </c:strRef>
          </c:cat>
          <c:val>
            <c:numRef>
              <c:f>'Ratios yearly'!$I$97:$K$97</c:f>
              <c:numCache>
                <c:formatCode>_(* #,##0.00_);_(* \(#,##0.00\);_(* "-"??_);_(@_)</c:formatCode>
                <c:ptCount val="3"/>
                <c:pt idx="0">
                  <c:v>10.102909</c:v>
                </c:pt>
                <c:pt idx="1">
                  <c:v>11.2094928</c:v>
                </c:pt>
                <c:pt idx="2">
                  <c:v>12.071957599999999</c:v>
                </c:pt>
              </c:numCache>
            </c:numRef>
          </c:val>
        </c:ser>
        <c:dLbls>
          <c:showLegendKey val="0"/>
          <c:showVal val="1"/>
          <c:showCatName val="0"/>
          <c:showSerName val="0"/>
          <c:showPercent val="0"/>
          <c:showBubbleSize val="0"/>
        </c:dLbls>
        <c:gapWidth val="150"/>
        <c:overlap val="-25"/>
        <c:axId val="181166848"/>
        <c:axId val="181168384"/>
      </c:barChart>
      <c:catAx>
        <c:axId val="181166848"/>
        <c:scaling>
          <c:orientation val="minMax"/>
        </c:scaling>
        <c:delete val="0"/>
        <c:axPos val="b"/>
        <c:numFmt formatCode="General" sourceLinked="1"/>
        <c:majorTickMark val="none"/>
        <c:minorTickMark val="none"/>
        <c:tickLblPos val="nextTo"/>
        <c:txPr>
          <a:bodyPr/>
          <a:lstStyle/>
          <a:p>
            <a:pPr>
              <a:defRPr sz="1400" b="1"/>
            </a:pPr>
            <a:endParaRPr lang="en-US"/>
          </a:p>
        </c:txPr>
        <c:crossAx val="181168384"/>
        <c:crosses val="autoZero"/>
        <c:auto val="1"/>
        <c:lblAlgn val="ctr"/>
        <c:lblOffset val="100"/>
        <c:noMultiLvlLbl val="0"/>
      </c:catAx>
      <c:valAx>
        <c:axId val="181168384"/>
        <c:scaling>
          <c:orientation val="minMax"/>
        </c:scaling>
        <c:delete val="1"/>
        <c:axPos val="l"/>
        <c:numFmt formatCode="_(* #,##0.00_);_(* \(#,##0.00\);_(* &quot;-&quot;??_);_(@_)" sourceLinked="1"/>
        <c:majorTickMark val="none"/>
        <c:minorTickMark val="none"/>
        <c:tickLblPos val="nextTo"/>
        <c:crossAx val="181166848"/>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lang val="en-AU"/>
  <c:roundedCorners val="0"/>
  <mc:AlternateContent xmlns:mc="http://schemas.openxmlformats.org/markup-compatibility/2006">
    <mc:Choice xmlns:c14="http://schemas.microsoft.com/office/drawing/2007/8/2/chart" Requires="c14">
      <c14:style val="105"/>
    </mc:Choice>
    <mc:Fallback>
      <c:style val="5"/>
    </mc:Fallback>
  </mc:AlternateContent>
  <c:chart>
    <c:autoTitleDeleted val="1"/>
    <c:plotArea>
      <c:layout/>
      <c:barChart>
        <c:barDir val="col"/>
        <c:grouping val="clustered"/>
        <c:varyColors val="0"/>
        <c:ser>
          <c:idx val="0"/>
          <c:order val="0"/>
          <c:tx>
            <c:strRef>
              <c:f>'Ratios yearly'!$C$99</c:f>
              <c:strCache>
                <c:ptCount val="1"/>
                <c:pt idx="0">
                  <c:v>Total Assets</c:v>
                </c:pt>
              </c:strCache>
            </c:strRef>
          </c:tx>
          <c:spPr>
            <a:solidFill>
              <a:schemeClr val="accent3">
                <a:lumMod val="75000"/>
              </a:schemeClr>
            </a:solidFill>
          </c:spPr>
          <c:invertIfNegative val="0"/>
          <c:dPt>
            <c:idx val="0"/>
            <c:invertIfNegative val="0"/>
            <c:bubble3D val="0"/>
            <c:spPr>
              <a:solidFill>
                <a:srgbClr val="92D050"/>
              </a:solidFill>
            </c:spPr>
          </c:dPt>
          <c:dPt>
            <c:idx val="1"/>
            <c:invertIfNegative val="0"/>
            <c:bubble3D val="0"/>
            <c:spPr>
              <a:solidFill>
                <a:srgbClr val="92D050"/>
              </a:solidFill>
            </c:spPr>
          </c:dPt>
          <c:dPt>
            <c:idx val="2"/>
            <c:invertIfNegative val="0"/>
            <c:bubble3D val="0"/>
          </c:dPt>
          <c:dPt>
            <c:idx val="4"/>
            <c:invertIfNegative val="0"/>
            <c:bubble3D val="0"/>
          </c:dPt>
          <c:dLbls>
            <c:dLbl>
              <c:idx val="2"/>
              <c:spPr/>
              <c:txPr>
                <a:bodyPr/>
                <a:lstStyle/>
                <a:p>
                  <a:pPr>
                    <a:defRPr sz="1600" b="1">
                      <a:solidFill>
                        <a:schemeClr val="accent3">
                          <a:lumMod val="50000"/>
                        </a:schemeClr>
                      </a:solidFill>
                    </a:defRPr>
                  </a:pPr>
                  <a:endParaRPr lang="en-US"/>
                </a:p>
              </c:txPr>
              <c:showLegendKey val="0"/>
              <c:showVal val="1"/>
              <c:showCatName val="0"/>
              <c:showSerName val="0"/>
              <c:showPercent val="0"/>
              <c:showBubbleSize val="0"/>
            </c:dLbl>
            <c:txPr>
              <a:bodyPr/>
              <a:lstStyle/>
              <a:p>
                <a:pPr>
                  <a:defRPr sz="1400" b="0">
                    <a:solidFill>
                      <a:schemeClr val="accent3">
                        <a:lumMod val="50000"/>
                      </a:schemeClr>
                    </a:solidFill>
                  </a:defRPr>
                </a:pPr>
                <a:endParaRPr lang="en-US"/>
              </a:p>
            </c:txPr>
            <c:showLegendKey val="0"/>
            <c:showVal val="1"/>
            <c:showCatName val="0"/>
            <c:showSerName val="0"/>
            <c:showPercent val="0"/>
            <c:showBubbleSize val="0"/>
            <c:showLeaderLines val="0"/>
          </c:dLbls>
          <c:cat>
            <c:strRef>
              <c:f>'Ratios yearly'!$I$6:$K$6</c:f>
              <c:strCache>
                <c:ptCount val="3"/>
                <c:pt idx="0">
                  <c:v>2016</c:v>
                </c:pt>
                <c:pt idx="1">
                  <c:v>2017</c:v>
                </c:pt>
                <c:pt idx="2">
                  <c:v>YTD Jun18</c:v>
                </c:pt>
              </c:strCache>
            </c:strRef>
          </c:cat>
          <c:val>
            <c:numRef>
              <c:f>'Ratios yearly'!$I$99:$K$99</c:f>
              <c:numCache>
                <c:formatCode>_(* #,##0.00_);_(* \(#,##0.00\);_(* "-"??_);_(@_)</c:formatCode>
                <c:ptCount val="3"/>
                <c:pt idx="0">
                  <c:v>20.831226999999998</c:v>
                </c:pt>
                <c:pt idx="1">
                  <c:v>22.311961000000007</c:v>
                </c:pt>
                <c:pt idx="2">
                  <c:v>22.956322499999999</c:v>
                </c:pt>
              </c:numCache>
            </c:numRef>
          </c:val>
        </c:ser>
        <c:dLbls>
          <c:showLegendKey val="0"/>
          <c:showVal val="1"/>
          <c:showCatName val="0"/>
          <c:showSerName val="0"/>
          <c:showPercent val="0"/>
          <c:showBubbleSize val="0"/>
        </c:dLbls>
        <c:gapWidth val="150"/>
        <c:overlap val="-25"/>
        <c:axId val="181193728"/>
        <c:axId val="181199616"/>
      </c:barChart>
      <c:catAx>
        <c:axId val="181193728"/>
        <c:scaling>
          <c:orientation val="minMax"/>
        </c:scaling>
        <c:delete val="0"/>
        <c:axPos val="b"/>
        <c:numFmt formatCode="General" sourceLinked="1"/>
        <c:majorTickMark val="none"/>
        <c:minorTickMark val="none"/>
        <c:tickLblPos val="nextTo"/>
        <c:txPr>
          <a:bodyPr/>
          <a:lstStyle/>
          <a:p>
            <a:pPr>
              <a:defRPr sz="1400" b="1"/>
            </a:pPr>
            <a:endParaRPr lang="en-US"/>
          </a:p>
        </c:txPr>
        <c:crossAx val="181199616"/>
        <c:crosses val="autoZero"/>
        <c:auto val="1"/>
        <c:lblAlgn val="ctr"/>
        <c:lblOffset val="100"/>
        <c:noMultiLvlLbl val="0"/>
      </c:catAx>
      <c:valAx>
        <c:axId val="181199616"/>
        <c:scaling>
          <c:orientation val="minMax"/>
        </c:scaling>
        <c:delete val="1"/>
        <c:axPos val="l"/>
        <c:numFmt formatCode="_(* #,##0.00_);_(* \(#,##0.00\);_(* &quot;-&quot;??_);_(@_)" sourceLinked="1"/>
        <c:majorTickMark val="none"/>
        <c:minorTickMark val="none"/>
        <c:tickLblPos val="nextTo"/>
        <c:crossAx val="181193728"/>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lang val="en-AU"/>
  <c:roundedCorners val="0"/>
  <mc:AlternateContent xmlns:mc="http://schemas.openxmlformats.org/markup-compatibility/2006">
    <mc:Choice xmlns:c14="http://schemas.microsoft.com/office/drawing/2007/8/2/chart" Requires="c14">
      <c14:style val="105"/>
    </mc:Choice>
    <mc:Fallback>
      <c:style val="5"/>
    </mc:Fallback>
  </mc:AlternateContent>
  <c:chart>
    <c:autoTitleDeleted val="1"/>
    <c:plotArea>
      <c:layout>
        <c:manualLayout>
          <c:layoutTarget val="inner"/>
          <c:xMode val="edge"/>
          <c:yMode val="edge"/>
          <c:x val="0.33215742610255916"/>
          <c:y val="8.6517926284821758E-2"/>
          <c:w val="0.48836394905137986"/>
          <c:h val="0.83482570599805372"/>
        </c:manualLayout>
      </c:layout>
      <c:barChart>
        <c:barDir val="bar"/>
        <c:grouping val="clustered"/>
        <c:varyColors val="0"/>
        <c:ser>
          <c:idx val="0"/>
          <c:order val="0"/>
          <c:invertIfNegative val="0"/>
          <c:cat>
            <c:strRef>
              <c:f>'Summary mkt share '!$D$31:$D$37</c:f>
              <c:strCache>
                <c:ptCount val="7"/>
                <c:pt idx="0">
                  <c:v>PNG </c:v>
                </c:pt>
                <c:pt idx="1">
                  <c:v>Solomon Islands </c:v>
                </c:pt>
                <c:pt idx="2">
                  <c:v>Tonga </c:v>
                </c:pt>
                <c:pt idx="3">
                  <c:v>Cook  Islands </c:v>
                </c:pt>
                <c:pt idx="4">
                  <c:v>Samoa </c:v>
                </c:pt>
                <c:pt idx="5">
                  <c:v>Fiji </c:v>
                </c:pt>
                <c:pt idx="6">
                  <c:v>Vanuatu</c:v>
                </c:pt>
              </c:strCache>
            </c:strRef>
          </c:cat>
          <c:val>
            <c:numRef>
              <c:f>'Summary mkt share '!$E$31:$E$37</c:f>
            </c:numRef>
          </c:val>
        </c:ser>
        <c:ser>
          <c:idx val="1"/>
          <c:order val="1"/>
          <c:invertIfNegative val="0"/>
          <c:cat>
            <c:strRef>
              <c:f>'Summary mkt share '!$D$31:$D$37</c:f>
              <c:strCache>
                <c:ptCount val="7"/>
                <c:pt idx="0">
                  <c:v>PNG </c:v>
                </c:pt>
                <c:pt idx="1">
                  <c:v>Solomon Islands </c:v>
                </c:pt>
                <c:pt idx="2">
                  <c:v>Tonga </c:v>
                </c:pt>
                <c:pt idx="3">
                  <c:v>Cook  Islands </c:v>
                </c:pt>
                <c:pt idx="4">
                  <c:v>Samoa </c:v>
                </c:pt>
                <c:pt idx="5">
                  <c:v>Fiji </c:v>
                </c:pt>
                <c:pt idx="6">
                  <c:v>Vanuatu</c:v>
                </c:pt>
              </c:strCache>
            </c:strRef>
          </c:cat>
          <c:val>
            <c:numRef>
              <c:f>'Summary mkt share '!$F$31:$F$37</c:f>
            </c:numRef>
          </c:val>
        </c:ser>
        <c:ser>
          <c:idx val="2"/>
          <c:order val="2"/>
          <c:invertIfNegative val="0"/>
          <c:cat>
            <c:strRef>
              <c:f>'Summary mkt share '!$D$31:$D$37</c:f>
              <c:strCache>
                <c:ptCount val="7"/>
                <c:pt idx="0">
                  <c:v>PNG </c:v>
                </c:pt>
                <c:pt idx="1">
                  <c:v>Solomon Islands </c:v>
                </c:pt>
                <c:pt idx="2">
                  <c:v>Tonga </c:v>
                </c:pt>
                <c:pt idx="3">
                  <c:v>Cook  Islands </c:v>
                </c:pt>
                <c:pt idx="4">
                  <c:v>Samoa </c:v>
                </c:pt>
                <c:pt idx="5">
                  <c:v>Fiji </c:v>
                </c:pt>
                <c:pt idx="6">
                  <c:v>Vanuatu</c:v>
                </c:pt>
              </c:strCache>
            </c:strRef>
          </c:cat>
          <c:val>
            <c:numRef>
              <c:f>'Summary mkt share '!$G$31:$G$37</c:f>
            </c:numRef>
          </c:val>
        </c:ser>
        <c:ser>
          <c:idx val="3"/>
          <c:order val="3"/>
          <c:invertIfNegative val="0"/>
          <c:cat>
            <c:strRef>
              <c:f>'Summary mkt share '!$D$31:$D$37</c:f>
              <c:strCache>
                <c:ptCount val="7"/>
                <c:pt idx="0">
                  <c:v>PNG </c:v>
                </c:pt>
                <c:pt idx="1">
                  <c:v>Solomon Islands </c:v>
                </c:pt>
                <c:pt idx="2">
                  <c:v>Tonga </c:v>
                </c:pt>
                <c:pt idx="3">
                  <c:v>Cook  Islands </c:v>
                </c:pt>
                <c:pt idx="4">
                  <c:v>Samoa </c:v>
                </c:pt>
                <c:pt idx="5">
                  <c:v>Fiji </c:v>
                </c:pt>
                <c:pt idx="6">
                  <c:v>Vanuatu</c:v>
                </c:pt>
              </c:strCache>
            </c:strRef>
          </c:cat>
          <c:val>
            <c:numRef>
              <c:f>'Summary mkt share '!$H$31:$H$37</c:f>
            </c:numRef>
          </c:val>
        </c:ser>
        <c:ser>
          <c:idx val="4"/>
          <c:order val="4"/>
          <c:spPr>
            <a:solidFill>
              <a:srgbClr val="92D050"/>
            </a:solidFill>
          </c:spPr>
          <c:invertIfNegative val="0"/>
          <c:dLbls>
            <c:dLbl>
              <c:idx val="0"/>
              <c:layout/>
              <c:tx>
                <c:rich>
                  <a:bodyPr/>
                  <a:lstStyle/>
                  <a:p>
                    <a:r>
                      <a:rPr lang="en-US" smtClean="0"/>
                      <a:t>60%</a:t>
                    </a:r>
                    <a:endParaRPr lang="en-US"/>
                  </a:p>
                </c:rich>
              </c:tx>
              <c:showLegendKey val="0"/>
              <c:showVal val="1"/>
              <c:showCatName val="0"/>
              <c:showSerName val="0"/>
              <c:showPercent val="0"/>
              <c:showBubbleSize val="0"/>
            </c:dLbl>
            <c:dLbl>
              <c:idx val="1"/>
              <c:layout/>
              <c:tx>
                <c:rich>
                  <a:bodyPr/>
                  <a:lstStyle/>
                  <a:p>
                    <a:r>
                      <a:rPr lang="en-US" smtClean="0"/>
                      <a:t>54%</a:t>
                    </a:r>
                    <a:endParaRPr lang="en-US"/>
                  </a:p>
                </c:rich>
              </c:tx>
              <c:showLegendKey val="0"/>
              <c:showVal val="1"/>
              <c:showCatName val="0"/>
              <c:showSerName val="0"/>
              <c:showPercent val="0"/>
              <c:showBubbleSize val="0"/>
            </c:dLbl>
            <c:dLbl>
              <c:idx val="3"/>
              <c:layout/>
              <c:tx>
                <c:rich>
                  <a:bodyPr/>
                  <a:lstStyle/>
                  <a:p>
                    <a:r>
                      <a:rPr lang="en-US" smtClean="0"/>
                      <a:t>39%</a:t>
                    </a:r>
                    <a:endParaRPr lang="en-US"/>
                  </a:p>
                </c:rich>
              </c:tx>
              <c:showLegendKey val="0"/>
              <c:showVal val="1"/>
              <c:showCatName val="0"/>
              <c:showSerName val="0"/>
              <c:showPercent val="0"/>
              <c:showBubbleSize val="0"/>
            </c:dLbl>
            <c:dLbl>
              <c:idx val="4"/>
              <c:layout/>
              <c:tx>
                <c:rich>
                  <a:bodyPr/>
                  <a:lstStyle/>
                  <a:p>
                    <a:pPr>
                      <a:defRPr sz="1400" b="0">
                        <a:solidFill>
                          <a:srgbClr val="78AB33"/>
                        </a:solidFill>
                      </a:defRPr>
                    </a:pPr>
                    <a:r>
                      <a:rPr lang="en-US" dirty="0" smtClean="0"/>
                      <a:t>26</a:t>
                    </a:r>
                    <a:r>
                      <a:rPr lang="en-US" dirty="0"/>
                      <a:t>%</a:t>
                    </a:r>
                  </a:p>
                </c:rich>
              </c:tx>
              <c:spPr/>
              <c:showLegendKey val="0"/>
              <c:showVal val="1"/>
              <c:showCatName val="0"/>
              <c:showSerName val="0"/>
              <c:showPercent val="0"/>
              <c:showBubbleSize val="0"/>
            </c:dLbl>
            <c:dLbl>
              <c:idx val="5"/>
              <c:layout/>
              <c:tx>
                <c:rich>
                  <a:bodyPr/>
                  <a:lstStyle/>
                  <a:p>
                    <a:pPr>
                      <a:defRPr sz="1400" b="0">
                        <a:solidFill>
                          <a:srgbClr val="78AB33"/>
                        </a:solidFill>
                      </a:defRPr>
                    </a:pPr>
                    <a:r>
                      <a:rPr lang="en-US" dirty="0" smtClean="0"/>
                      <a:t>25%</a:t>
                    </a:r>
                    <a:endParaRPr lang="en-US" dirty="0"/>
                  </a:p>
                </c:rich>
              </c:tx>
              <c:spPr/>
              <c:showLegendKey val="0"/>
              <c:showVal val="1"/>
              <c:showCatName val="0"/>
              <c:showSerName val="0"/>
              <c:showPercent val="0"/>
              <c:showBubbleSize val="0"/>
            </c:dLbl>
            <c:dLbl>
              <c:idx val="6"/>
              <c:layout/>
              <c:tx>
                <c:rich>
                  <a:bodyPr/>
                  <a:lstStyle/>
                  <a:p>
                    <a:pPr>
                      <a:defRPr sz="1400" b="0">
                        <a:solidFill>
                          <a:srgbClr val="78AB33"/>
                        </a:solidFill>
                      </a:defRPr>
                    </a:pPr>
                    <a:r>
                      <a:rPr lang="en-US" dirty="0" smtClean="0"/>
                      <a:t>15%</a:t>
                    </a:r>
                    <a:endParaRPr lang="en-US" dirty="0"/>
                  </a:p>
                </c:rich>
              </c:tx>
              <c:spPr/>
              <c:showLegendKey val="0"/>
              <c:showVal val="1"/>
              <c:showCatName val="0"/>
              <c:showSerName val="0"/>
              <c:showPercent val="0"/>
              <c:showBubbleSize val="0"/>
            </c:dLbl>
            <c:txPr>
              <a:bodyPr/>
              <a:lstStyle/>
              <a:p>
                <a:pPr>
                  <a:defRPr sz="1400" b="1">
                    <a:solidFill>
                      <a:srgbClr val="78AB33"/>
                    </a:solidFill>
                  </a:defRPr>
                </a:pPr>
                <a:endParaRPr lang="en-US"/>
              </a:p>
            </c:txPr>
            <c:showLegendKey val="0"/>
            <c:showVal val="1"/>
            <c:showCatName val="0"/>
            <c:showSerName val="0"/>
            <c:showPercent val="0"/>
            <c:showBubbleSize val="0"/>
            <c:showLeaderLines val="0"/>
          </c:dLbls>
          <c:cat>
            <c:strRef>
              <c:f>' mkt share rank'!$D$7:$D$13</c:f>
              <c:strCache>
                <c:ptCount val="7"/>
                <c:pt idx="0">
                  <c:v>PNG </c:v>
                </c:pt>
                <c:pt idx="1">
                  <c:v>Solomon Islands </c:v>
                </c:pt>
                <c:pt idx="2">
                  <c:v>Tonga </c:v>
                </c:pt>
                <c:pt idx="3">
                  <c:v>Cook  Islands </c:v>
                </c:pt>
                <c:pt idx="4">
                  <c:v>Samoa </c:v>
                </c:pt>
                <c:pt idx="5">
                  <c:v>Fiji </c:v>
                </c:pt>
                <c:pt idx="6">
                  <c:v>Vanuatu</c:v>
                </c:pt>
              </c:strCache>
            </c:strRef>
          </c:cat>
          <c:val>
            <c:numRef>
              <c:f>' mkt share rank'!$E$7:$E$13</c:f>
              <c:numCache>
                <c:formatCode>0%</c:formatCode>
                <c:ptCount val="7"/>
                <c:pt idx="0">
                  <c:v>0.59</c:v>
                </c:pt>
                <c:pt idx="1">
                  <c:v>0.51900000000000002</c:v>
                </c:pt>
                <c:pt idx="2">
                  <c:v>0.42</c:v>
                </c:pt>
                <c:pt idx="3">
                  <c:v>0.38</c:v>
                </c:pt>
                <c:pt idx="4">
                  <c:v>0.26200000000000001</c:v>
                </c:pt>
                <c:pt idx="5">
                  <c:v>0.23699999999999999</c:v>
                </c:pt>
                <c:pt idx="6">
                  <c:v>0.14000000000000001</c:v>
                </c:pt>
              </c:numCache>
            </c:numRef>
          </c:val>
        </c:ser>
        <c:dLbls>
          <c:showLegendKey val="0"/>
          <c:showVal val="1"/>
          <c:showCatName val="0"/>
          <c:showSerName val="0"/>
          <c:showPercent val="0"/>
          <c:showBubbleSize val="0"/>
        </c:dLbls>
        <c:gapWidth val="100"/>
        <c:overlap val="-25"/>
        <c:axId val="27927296"/>
        <c:axId val="27928832"/>
      </c:barChart>
      <c:catAx>
        <c:axId val="27927296"/>
        <c:scaling>
          <c:orientation val="maxMin"/>
        </c:scaling>
        <c:delete val="0"/>
        <c:axPos val="l"/>
        <c:majorTickMark val="none"/>
        <c:minorTickMark val="none"/>
        <c:tickLblPos val="nextTo"/>
        <c:txPr>
          <a:bodyPr/>
          <a:lstStyle/>
          <a:p>
            <a:pPr>
              <a:defRPr sz="1200"/>
            </a:pPr>
            <a:endParaRPr lang="en-US"/>
          </a:p>
        </c:txPr>
        <c:crossAx val="27928832"/>
        <c:crosses val="autoZero"/>
        <c:auto val="1"/>
        <c:lblAlgn val="ctr"/>
        <c:lblOffset val="100"/>
        <c:noMultiLvlLbl val="0"/>
      </c:catAx>
      <c:valAx>
        <c:axId val="27928832"/>
        <c:scaling>
          <c:orientation val="minMax"/>
        </c:scaling>
        <c:delete val="1"/>
        <c:axPos val="t"/>
        <c:numFmt formatCode="0%" sourceLinked="1"/>
        <c:majorTickMark val="out"/>
        <c:minorTickMark val="none"/>
        <c:tickLblPos val="nextTo"/>
        <c:crossAx val="27927296"/>
        <c:crosses val="autoZero"/>
        <c:crossBetween val="between"/>
      </c:valAx>
      <c:spPr>
        <a:noFill/>
      </c:spPr>
    </c:plotArea>
    <c:plotVisOnly val="1"/>
    <c:dispBlanksAs val="gap"/>
    <c:showDLblsOverMax val="0"/>
  </c:chart>
  <c:spPr>
    <a:noFill/>
    <a:ln>
      <a:noFill/>
    </a:ln>
  </c:spPr>
  <c:txPr>
    <a:bodyPr/>
    <a:lstStyle/>
    <a:p>
      <a:pPr>
        <a:defRPr sz="1400"/>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lang val="en-AU"/>
  <c:roundedCorners val="0"/>
  <mc:AlternateContent xmlns:mc="http://schemas.openxmlformats.org/markup-compatibility/2006">
    <mc:Choice xmlns:c14="http://schemas.microsoft.com/office/drawing/2007/8/2/chart" Requires="c14">
      <c14:style val="105"/>
    </mc:Choice>
    <mc:Fallback>
      <c:style val="5"/>
    </mc:Fallback>
  </mc:AlternateContent>
  <c:chart>
    <c:autoTitleDeleted val="1"/>
    <c:plotArea>
      <c:layout>
        <c:manualLayout>
          <c:layoutTarget val="inner"/>
          <c:xMode val="edge"/>
          <c:yMode val="edge"/>
          <c:x val="0.34197900418069815"/>
          <c:y val="6.8290784801414109E-2"/>
          <c:w val="0.51744954194817405"/>
          <c:h val="0.86341843039717181"/>
        </c:manualLayout>
      </c:layout>
      <c:barChart>
        <c:barDir val="bar"/>
        <c:grouping val="clustered"/>
        <c:varyColors val="0"/>
        <c:ser>
          <c:idx val="0"/>
          <c:order val="0"/>
          <c:invertIfNegative val="0"/>
          <c:cat>
            <c:strRef>
              <c:f>'Summary mkt share '!$D$41:$D$47</c:f>
              <c:strCache>
                <c:ptCount val="7"/>
                <c:pt idx="0">
                  <c:v>Cook  Islands </c:v>
                </c:pt>
                <c:pt idx="1">
                  <c:v>PNG </c:v>
                </c:pt>
                <c:pt idx="2">
                  <c:v>Solomon Islands </c:v>
                </c:pt>
                <c:pt idx="3">
                  <c:v>Tonga </c:v>
                </c:pt>
                <c:pt idx="4">
                  <c:v>Samoa </c:v>
                </c:pt>
                <c:pt idx="5">
                  <c:v>Fiji </c:v>
                </c:pt>
                <c:pt idx="6">
                  <c:v>Vanuatu</c:v>
                </c:pt>
              </c:strCache>
            </c:strRef>
          </c:cat>
          <c:val>
            <c:numRef>
              <c:f>'Summary mkt share '!$E$41:$E$47</c:f>
            </c:numRef>
          </c:val>
        </c:ser>
        <c:ser>
          <c:idx val="1"/>
          <c:order val="1"/>
          <c:invertIfNegative val="0"/>
          <c:cat>
            <c:strRef>
              <c:f>'Summary mkt share '!$D$41:$D$47</c:f>
              <c:strCache>
                <c:ptCount val="7"/>
                <c:pt idx="0">
                  <c:v>Cook  Islands </c:v>
                </c:pt>
                <c:pt idx="1">
                  <c:v>PNG </c:v>
                </c:pt>
                <c:pt idx="2">
                  <c:v>Solomon Islands </c:v>
                </c:pt>
                <c:pt idx="3">
                  <c:v>Tonga </c:v>
                </c:pt>
                <c:pt idx="4">
                  <c:v>Samoa </c:v>
                </c:pt>
                <c:pt idx="5">
                  <c:v>Fiji </c:v>
                </c:pt>
                <c:pt idx="6">
                  <c:v>Vanuatu</c:v>
                </c:pt>
              </c:strCache>
            </c:strRef>
          </c:cat>
          <c:val>
            <c:numRef>
              <c:f>'Summary mkt share '!$F$41:$F$47</c:f>
            </c:numRef>
          </c:val>
        </c:ser>
        <c:ser>
          <c:idx val="2"/>
          <c:order val="2"/>
          <c:invertIfNegative val="0"/>
          <c:cat>
            <c:strRef>
              <c:f>'Summary mkt share '!$D$41:$D$47</c:f>
              <c:strCache>
                <c:ptCount val="7"/>
                <c:pt idx="0">
                  <c:v>Cook  Islands </c:v>
                </c:pt>
                <c:pt idx="1">
                  <c:v>PNG </c:v>
                </c:pt>
                <c:pt idx="2">
                  <c:v>Solomon Islands </c:v>
                </c:pt>
                <c:pt idx="3">
                  <c:v>Tonga </c:v>
                </c:pt>
                <c:pt idx="4">
                  <c:v>Samoa </c:v>
                </c:pt>
                <c:pt idx="5">
                  <c:v>Fiji </c:v>
                </c:pt>
                <c:pt idx="6">
                  <c:v>Vanuatu</c:v>
                </c:pt>
              </c:strCache>
            </c:strRef>
          </c:cat>
          <c:val>
            <c:numRef>
              <c:f>'Summary mkt share '!$G$41:$G$47</c:f>
            </c:numRef>
          </c:val>
        </c:ser>
        <c:ser>
          <c:idx val="3"/>
          <c:order val="3"/>
          <c:invertIfNegative val="0"/>
          <c:cat>
            <c:strRef>
              <c:f>'Summary mkt share '!$D$41:$D$47</c:f>
              <c:strCache>
                <c:ptCount val="7"/>
                <c:pt idx="0">
                  <c:v>Cook  Islands </c:v>
                </c:pt>
                <c:pt idx="1">
                  <c:v>PNG </c:v>
                </c:pt>
                <c:pt idx="2">
                  <c:v>Solomon Islands </c:v>
                </c:pt>
                <c:pt idx="3">
                  <c:v>Tonga </c:v>
                </c:pt>
                <c:pt idx="4">
                  <c:v>Samoa </c:v>
                </c:pt>
                <c:pt idx="5">
                  <c:v>Fiji </c:v>
                </c:pt>
                <c:pt idx="6">
                  <c:v>Vanuatu</c:v>
                </c:pt>
              </c:strCache>
            </c:strRef>
          </c:cat>
          <c:val>
            <c:numRef>
              <c:f>'Summary mkt share '!$H$41:$H$47</c:f>
            </c:numRef>
          </c:val>
        </c:ser>
        <c:ser>
          <c:idx val="4"/>
          <c:order val="4"/>
          <c:spPr>
            <a:solidFill>
              <a:srgbClr val="92D050"/>
            </a:solidFill>
          </c:spPr>
          <c:invertIfNegative val="0"/>
          <c:dLbls>
            <c:dLbl>
              <c:idx val="0"/>
              <c:layout/>
              <c:tx>
                <c:rich>
                  <a:bodyPr/>
                  <a:lstStyle/>
                  <a:p>
                    <a:r>
                      <a:rPr lang="en-US" smtClean="0"/>
                      <a:t>75%</a:t>
                    </a:r>
                    <a:endParaRPr lang="en-US"/>
                  </a:p>
                </c:rich>
              </c:tx>
              <c:showLegendKey val="0"/>
              <c:showVal val="1"/>
              <c:showCatName val="0"/>
              <c:showSerName val="0"/>
              <c:showPercent val="0"/>
              <c:showBubbleSize val="0"/>
            </c:dLbl>
            <c:dLbl>
              <c:idx val="1"/>
              <c:layout/>
              <c:tx>
                <c:rich>
                  <a:bodyPr/>
                  <a:lstStyle/>
                  <a:p>
                    <a:r>
                      <a:rPr lang="en-US" smtClean="0"/>
                      <a:t>61%</a:t>
                    </a:r>
                    <a:endParaRPr lang="en-US"/>
                  </a:p>
                </c:rich>
              </c:tx>
              <c:showLegendKey val="0"/>
              <c:showVal val="1"/>
              <c:showCatName val="0"/>
              <c:showSerName val="0"/>
              <c:showPercent val="0"/>
              <c:showBubbleSize val="0"/>
            </c:dLbl>
            <c:dLbl>
              <c:idx val="4"/>
              <c:layout/>
              <c:tx>
                <c:rich>
                  <a:bodyPr/>
                  <a:lstStyle/>
                  <a:p>
                    <a:pPr>
                      <a:defRPr b="0">
                        <a:solidFill>
                          <a:srgbClr val="78AB33"/>
                        </a:solidFill>
                      </a:defRPr>
                    </a:pPr>
                    <a:r>
                      <a:rPr lang="en-US" dirty="0" smtClean="0"/>
                      <a:t>32%</a:t>
                    </a:r>
                    <a:endParaRPr lang="en-US" dirty="0"/>
                  </a:p>
                </c:rich>
              </c:tx>
              <c:spPr/>
              <c:showLegendKey val="0"/>
              <c:showVal val="1"/>
              <c:showCatName val="0"/>
              <c:showSerName val="0"/>
              <c:showPercent val="0"/>
              <c:showBubbleSize val="0"/>
            </c:dLbl>
            <c:dLbl>
              <c:idx val="5"/>
              <c:spPr/>
              <c:txPr>
                <a:bodyPr/>
                <a:lstStyle/>
                <a:p>
                  <a:pPr>
                    <a:defRPr b="0">
                      <a:solidFill>
                        <a:srgbClr val="78AB33"/>
                      </a:solidFill>
                    </a:defRPr>
                  </a:pPr>
                  <a:endParaRPr lang="en-US"/>
                </a:p>
              </c:txPr>
              <c:showLegendKey val="0"/>
              <c:showVal val="1"/>
              <c:showCatName val="0"/>
              <c:showSerName val="0"/>
              <c:showPercent val="0"/>
              <c:showBubbleSize val="0"/>
            </c:dLbl>
            <c:dLbl>
              <c:idx val="6"/>
              <c:layout/>
              <c:tx>
                <c:rich>
                  <a:bodyPr/>
                  <a:lstStyle/>
                  <a:p>
                    <a:pPr>
                      <a:defRPr b="0">
                        <a:solidFill>
                          <a:srgbClr val="78AB33"/>
                        </a:solidFill>
                      </a:defRPr>
                    </a:pPr>
                    <a:r>
                      <a:rPr lang="en-US" dirty="0" smtClean="0"/>
                      <a:t>14%</a:t>
                    </a:r>
                    <a:endParaRPr lang="en-US" dirty="0"/>
                  </a:p>
                </c:rich>
              </c:tx>
              <c:spPr/>
              <c:showLegendKey val="0"/>
              <c:showVal val="1"/>
              <c:showCatName val="0"/>
              <c:showSerName val="0"/>
              <c:showPercent val="0"/>
              <c:showBubbleSize val="0"/>
            </c:dLbl>
            <c:txPr>
              <a:bodyPr/>
              <a:lstStyle/>
              <a:p>
                <a:pPr>
                  <a:defRPr b="1">
                    <a:solidFill>
                      <a:srgbClr val="78AB33"/>
                    </a:solidFill>
                  </a:defRPr>
                </a:pPr>
                <a:endParaRPr lang="en-US"/>
              </a:p>
            </c:txPr>
            <c:showLegendKey val="0"/>
            <c:showVal val="1"/>
            <c:showCatName val="0"/>
            <c:showSerName val="0"/>
            <c:showPercent val="0"/>
            <c:showBubbleSize val="0"/>
            <c:showLeaderLines val="0"/>
          </c:dLbls>
          <c:cat>
            <c:strRef>
              <c:f>' mkt share rank'!$D$20:$D$26</c:f>
              <c:strCache>
                <c:ptCount val="7"/>
                <c:pt idx="0">
                  <c:v>Cook  Islands </c:v>
                </c:pt>
                <c:pt idx="1">
                  <c:v>PNG </c:v>
                </c:pt>
                <c:pt idx="2">
                  <c:v>Solomon Islands </c:v>
                </c:pt>
                <c:pt idx="3">
                  <c:v>Tonga </c:v>
                </c:pt>
                <c:pt idx="4">
                  <c:v>Samoa </c:v>
                </c:pt>
                <c:pt idx="5">
                  <c:v>Fiji </c:v>
                </c:pt>
                <c:pt idx="6">
                  <c:v>Vanuatu</c:v>
                </c:pt>
              </c:strCache>
            </c:strRef>
          </c:cat>
          <c:val>
            <c:numRef>
              <c:f>' mkt share rank'!$E$20:$E$26</c:f>
              <c:numCache>
                <c:formatCode>0%</c:formatCode>
                <c:ptCount val="7"/>
                <c:pt idx="0">
                  <c:v>0.68</c:v>
                </c:pt>
                <c:pt idx="1">
                  <c:v>0.6</c:v>
                </c:pt>
                <c:pt idx="2">
                  <c:v>0.53900000000000003</c:v>
                </c:pt>
                <c:pt idx="3">
                  <c:v>0.378</c:v>
                </c:pt>
                <c:pt idx="4">
                  <c:v>0.28999999999999998</c:v>
                </c:pt>
                <c:pt idx="5">
                  <c:v>0.23499999999999999</c:v>
                </c:pt>
                <c:pt idx="6">
                  <c:v>0.13</c:v>
                </c:pt>
              </c:numCache>
            </c:numRef>
          </c:val>
        </c:ser>
        <c:dLbls>
          <c:showLegendKey val="0"/>
          <c:showVal val="1"/>
          <c:showCatName val="0"/>
          <c:showSerName val="0"/>
          <c:showPercent val="0"/>
          <c:showBubbleSize val="0"/>
        </c:dLbls>
        <c:gapWidth val="100"/>
        <c:overlap val="-25"/>
        <c:axId val="28012544"/>
        <c:axId val="28014080"/>
      </c:barChart>
      <c:catAx>
        <c:axId val="28012544"/>
        <c:scaling>
          <c:orientation val="maxMin"/>
        </c:scaling>
        <c:delete val="0"/>
        <c:axPos val="l"/>
        <c:majorTickMark val="none"/>
        <c:minorTickMark val="none"/>
        <c:tickLblPos val="nextTo"/>
        <c:txPr>
          <a:bodyPr/>
          <a:lstStyle/>
          <a:p>
            <a:pPr>
              <a:defRPr sz="1200"/>
            </a:pPr>
            <a:endParaRPr lang="en-US"/>
          </a:p>
        </c:txPr>
        <c:crossAx val="28014080"/>
        <c:crosses val="autoZero"/>
        <c:auto val="1"/>
        <c:lblAlgn val="ctr"/>
        <c:lblOffset val="100"/>
        <c:noMultiLvlLbl val="0"/>
      </c:catAx>
      <c:valAx>
        <c:axId val="28014080"/>
        <c:scaling>
          <c:orientation val="minMax"/>
        </c:scaling>
        <c:delete val="1"/>
        <c:axPos val="t"/>
        <c:numFmt formatCode="0%" sourceLinked="1"/>
        <c:majorTickMark val="out"/>
        <c:minorTickMark val="none"/>
        <c:tickLblPos val="nextTo"/>
        <c:crossAx val="28012544"/>
        <c:crosses val="autoZero"/>
        <c:crossBetween val="between"/>
      </c:valAx>
      <c:spPr>
        <a:noFill/>
        <a:ln>
          <a:noFill/>
        </a:ln>
      </c:spPr>
    </c:plotArea>
    <c:plotVisOnly val="1"/>
    <c:dispBlanksAs val="gap"/>
    <c:showDLblsOverMax val="0"/>
  </c:chart>
  <c:spPr>
    <a:noFill/>
    <a:ln>
      <a:noFill/>
    </a:ln>
  </c:spPr>
  <c:txPr>
    <a:bodyPr/>
    <a:lstStyle/>
    <a:p>
      <a:pPr>
        <a:defRPr sz="1400"/>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lang val="en-AU"/>
  <c:roundedCorners val="0"/>
  <mc:AlternateContent xmlns:mc="http://schemas.openxmlformats.org/markup-compatibility/2006">
    <mc:Choice xmlns:c14="http://schemas.microsoft.com/office/drawing/2007/8/2/chart" Requires="c14">
      <c14:style val="105"/>
    </mc:Choice>
    <mc:Fallback>
      <c:style val="5"/>
    </mc:Fallback>
  </mc:AlternateContent>
  <c:chart>
    <c:autoTitleDeleted val="1"/>
    <c:plotArea>
      <c:layout>
        <c:manualLayout>
          <c:layoutTarget val="inner"/>
          <c:xMode val="edge"/>
          <c:yMode val="edge"/>
          <c:x val="0.3337130868762278"/>
          <c:y val="0.11138991699522627"/>
          <c:w val="0.58850906992764074"/>
          <c:h val="0.83957577291515229"/>
        </c:manualLayout>
      </c:layout>
      <c:barChart>
        <c:barDir val="bar"/>
        <c:grouping val="clustered"/>
        <c:varyColors val="0"/>
        <c:ser>
          <c:idx val="0"/>
          <c:order val="0"/>
          <c:tx>
            <c:strRef>
              <c:f>'Summary mkt share '!$AK$5</c:f>
              <c:strCache>
                <c:ptCount val="1"/>
                <c:pt idx="0">
                  <c:v>Dec-17</c:v>
                </c:pt>
              </c:strCache>
            </c:strRef>
          </c:tx>
          <c:spPr>
            <a:solidFill>
              <a:srgbClr val="92D050"/>
            </a:solidFill>
          </c:spPr>
          <c:invertIfNegative val="0"/>
          <c:dLbls>
            <c:dLbl>
              <c:idx val="0"/>
              <c:layout>
                <c:manualLayout>
                  <c:x val="1.388888888888899E-2"/>
                  <c:y val="-1.0634134458955022E-2"/>
                </c:manualLayout>
              </c:layout>
              <c:tx>
                <c:rich>
                  <a:bodyPr/>
                  <a:lstStyle/>
                  <a:p>
                    <a:pPr>
                      <a:defRPr b="1">
                        <a:solidFill>
                          <a:srgbClr val="557A24"/>
                        </a:solidFill>
                      </a:defRPr>
                    </a:pPr>
                    <a:r>
                      <a:rPr lang="en-US" dirty="0" smtClean="0"/>
                      <a:t>65.3%</a:t>
                    </a:r>
                    <a:endParaRPr lang="en-US" dirty="0"/>
                  </a:p>
                </c:rich>
              </c:tx>
              <c:spPr/>
              <c:showLegendKey val="0"/>
              <c:showVal val="1"/>
              <c:showCatName val="0"/>
              <c:showSerName val="0"/>
              <c:showPercent val="0"/>
              <c:showBubbleSize val="0"/>
            </c:dLbl>
            <c:dLbl>
              <c:idx val="1"/>
              <c:layout/>
              <c:tx>
                <c:rich>
                  <a:bodyPr/>
                  <a:lstStyle/>
                  <a:p>
                    <a:r>
                      <a:rPr lang="en-US" smtClean="0"/>
                      <a:t>21.5%</a:t>
                    </a:r>
                    <a:endParaRPr lang="en-US"/>
                  </a:p>
                </c:rich>
              </c:tx>
              <c:showLegendKey val="0"/>
              <c:showVal val="1"/>
              <c:showCatName val="0"/>
              <c:showSerName val="0"/>
              <c:showPercent val="0"/>
              <c:showBubbleSize val="0"/>
            </c:dLbl>
            <c:dLbl>
              <c:idx val="3"/>
              <c:layout/>
              <c:tx>
                <c:rich>
                  <a:bodyPr/>
                  <a:lstStyle/>
                  <a:p>
                    <a:r>
                      <a:rPr lang="en-US" smtClean="0"/>
                      <a:t>2.1</a:t>
                    </a:r>
                    <a:r>
                      <a:rPr lang="en-US"/>
                      <a:t>%</a:t>
                    </a:r>
                  </a:p>
                </c:rich>
              </c:tx>
              <c:showLegendKey val="0"/>
              <c:showVal val="1"/>
              <c:showCatName val="0"/>
              <c:showSerName val="0"/>
              <c:showPercent val="0"/>
              <c:showBubbleSize val="0"/>
            </c:dLbl>
            <c:dLbl>
              <c:idx val="4"/>
              <c:layout/>
              <c:tx>
                <c:rich>
                  <a:bodyPr/>
                  <a:lstStyle/>
                  <a:p>
                    <a:r>
                      <a:rPr lang="en-US" smtClean="0"/>
                      <a:t>1.7%</a:t>
                    </a:r>
                    <a:endParaRPr lang="en-US"/>
                  </a:p>
                </c:rich>
              </c:tx>
              <c:showLegendKey val="0"/>
              <c:showVal val="1"/>
              <c:showCatName val="0"/>
              <c:showSerName val="0"/>
              <c:showPercent val="0"/>
              <c:showBubbleSize val="0"/>
            </c:dLbl>
            <c:dLbl>
              <c:idx val="6"/>
              <c:layout/>
              <c:tx>
                <c:rich>
                  <a:bodyPr/>
                  <a:lstStyle/>
                  <a:p>
                    <a:r>
                      <a:rPr lang="en-US" smtClean="0"/>
                      <a:t>3.0%</a:t>
                    </a:r>
                    <a:endParaRPr lang="en-US"/>
                  </a:p>
                </c:rich>
              </c:tx>
              <c:showLegendKey val="0"/>
              <c:showVal val="1"/>
              <c:showCatName val="0"/>
              <c:showSerName val="0"/>
              <c:showPercent val="0"/>
              <c:showBubbleSize val="0"/>
            </c:dLbl>
            <c:txPr>
              <a:bodyPr/>
              <a:lstStyle/>
              <a:p>
                <a:pPr>
                  <a:defRPr>
                    <a:solidFill>
                      <a:srgbClr val="78AB33"/>
                    </a:solidFill>
                  </a:defRPr>
                </a:pPr>
                <a:endParaRPr lang="en-US"/>
              </a:p>
            </c:txPr>
            <c:showLegendKey val="0"/>
            <c:showVal val="1"/>
            <c:showCatName val="0"/>
            <c:showSerName val="0"/>
            <c:showPercent val="0"/>
            <c:showBubbleSize val="0"/>
            <c:showLeaderLines val="0"/>
          </c:dLbls>
          <c:cat>
            <c:strRef>
              <c:f>'Summary mkt share '!$AG$6:$AG$12</c:f>
              <c:strCache>
                <c:ptCount val="7"/>
                <c:pt idx="0">
                  <c:v>PNG </c:v>
                </c:pt>
                <c:pt idx="1">
                  <c:v>Fiji </c:v>
                </c:pt>
                <c:pt idx="2">
                  <c:v>Solomon Islands </c:v>
                </c:pt>
                <c:pt idx="3">
                  <c:v>Tonga </c:v>
                </c:pt>
                <c:pt idx="4">
                  <c:v>Cook  Islands </c:v>
                </c:pt>
                <c:pt idx="5">
                  <c:v>Vanuatu</c:v>
                </c:pt>
                <c:pt idx="6">
                  <c:v>Samoa</c:v>
                </c:pt>
              </c:strCache>
            </c:strRef>
          </c:cat>
          <c:val>
            <c:numRef>
              <c:f>'Summary mkt share '!$AK$6:$AK$12</c:f>
              <c:numCache>
                <c:formatCode>0.0%</c:formatCode>
                <c:ptCount val="7"/>
                <c:pt idx="0">
                  <c:v>0.64388012555356311</c:v>
                </c:pt>
                <c:pt idx="1">
                  <c:v>0.22220519452055756</c:v>
                </c:pt>
                <c:pt idx="2">
                  <c:v>4.0070432843596931E-2</c:v>
                </c:pt>
                <c:pt idx="3">
                  <c:v>3.1200735369838521E-2</c:v>
                </c:pt>
                <c:pt idx="4">
                  <c:v>2.285750308399152E-2</c:v>
                </c:pt>
                <c:pt idx="5">
                  <c:v>2.2591155554998132E-2</c:v>
                </c:pt>
                <c:pt idx="6">
                  <c:v>1.7194853073454256E-2</c:v>
                </c:pt>
              </c:numCache>
            </c:numRef>
          </c:val>
        </c:ser>
        <c:dLbls>
          <c:showLegendKey val="0"/>
          <c:showVal val="1"/>
          <c:showCatName val="0"/>
          <c:showSerName val="0"/>
          <c:showPercent val="0"/>
          <c:showBubbleSize val="0"/>
        </c:dLbls>
        <c:gapWidth val="100"/>
        <c:overlap val="-25"/>
        <c:axId val="28063616"/>
        <c:axId val="28065152"/>
      </c:barChart>
      <c:catAx>
        <c:axId val="28063616"/>
        <c:scaling>
          <c:orientation val="maxMin"/>
        </c:scaling>
        <c:delete val="0"/>
        <c:axPos val="l"/>
        <c:numFmt formatCode="mmm\-yy" sourceLinked="1"/>
        <c:majorTickMark val="none"/>
        <c:minorTickMark val="none"/>
        <c:tickLblPos val="nextTo"/>
        <c:txPr>
          <a:bodyPr/>
          <a:lstStyle/>
          <a:p>
            <a:pPr>
              <a:defRPr sz="1200"/>
            </a:pPr>
            <a:endParaRPr lang="en-US"/>
          </a:p>
        </c:txPr>
        <c:crossAx val="28065152"/>
        <c:crosses val="autoZero"/>
        <c:auto val="1"/>
        <c:lblAlgn val="ctr"/>
        <c:lblOffset val="100"/>
        <c:noMultiLvlLbl val="0"/>
      </c:catAx>
      <c:valAx>
        <c:axId val="28065152"/>
        <c:scaling>
          <c:orientation val="minMax"/>
        </c:scaling>
        <c:delete val="1"/>
        <c:axPos val="t"/>
        <c:numFmt formatCode="0.0%" sourceLinked="1"/>
        <c:majorTickMark val="none"/>
        <c:minorTickMark val="none"/>
        <c:tickLblPos val="nextTo"/>
        <c:crossAx val="28063616"/>
        <c:crosses val="autoZero"/>
        <c:crossBetween val="between"/>
      </c:valAx>
      <c:spPr>
        <a:noFill/>
        <a:ln>
          <a:noFill/>
        </a:ln>
      </c:spPr>
    </c:plotArea>
    <c:plotVisOnly val="1"/>
    <c:dispBlanksAs val="gap"/>
    <c:showDLblsOverMax val="0"/>
  </c:chart>
  <c:spPr>
    <a:noFill/>
    <a:ln>
      <a:noFill/>
    </a:ln>
  </c:spPr>
  <c:txPr>
    <a:bodyPr/>
    <a:lstStyle/>
    <a:p>
      <a:pPr>
        <a:defRPr sz="1400"/>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lang val="en-AU"/>
  <c:roundedCorners val="0"/>
  <mc:AlternateContent xmlns:mc="http://schemas.openxmlformats.org/markup-compatibility/2006">
    <mc:Choice xmlns:c14="http://schemas.microsoft.com/office/drawing/2007/8/2/chart" Requires="c14">
      <c14:style val="105"/>
    </mc:Choice>
    <mc:Fallback>
      <c:style val="5"/>
    </mc:Fallback>
  </mc:AlternateContent>
  <c:chart>
    <c:autoTitleDeleted val="1"/>
    <c:plotArea>
      <c:layout>
        <c:manualLayout>
          <c:layoutTarget val="inner"/>
          <c:xMode val="edge"/>
          <c:yMode val="edge"/>
          <c:x val="0.3582099048560568"/>
          <c:y val="0.10119047619047619"/>
          <c:w val="0.53764245717165215"/>
          <c:h val="0.83333333333333337"/>
        </c:manualLayout>
      </c:layout>
      <c:barChart>
        <c:barDir val="bar"/>
        <c:grouping val="clustered"/>
        <c:varyColors val="0"/>
        <c:ser>
          <c:idx val="0"/>
          <c:order val="0"/>
          <c:tx>
            <c:strRef>
              <c:f>'Summary mkt share '!$AK$5</c:f>
              <c:strCache>
                <c:ptCount val="1"/>
                <c:pt idx="0">
                  <c:v>Dec-17</c:v>
                </c:pt>
              </c:strCache>
            </c:strRef>
          </c:tx>
          <c:spPr>
            <a:solidFill>
              <a:srgbClr val="92D050"/>
            </a:solidFill>
          </c:spPr>
          <c:invertIfNegative val="0"/>
          <c:dLbls>
            <c:dLbl>
              <c:idx val="0"/>
              <c:spPr/>
              <c:txPr>
                <a:bodyPr/>
                <a:lstStyle/>
                <a:p>
                  <a:pPr>
                    <a:defRPr b="1">
                      <a:solidFill>
                        <a:srgbClr val="557A24"/>
                      </a:solidFill>
                    </a:defRPr>
                  </a:pPr>
                  <a:endParaRPr lang="en-US"/>
                </a:p>
              </c:txPr>
              <c:showLegendKey val="0"/>
              <c:showVal val="1"/>
              <c:showCatName val="0"/>
              <c:showSerName val="0"/>
              <c:showPercent val="0"/>
              <c:showBubbleSize val="0"/>
            </c:dLbl>
            <c:dLbl>
              <c:idx val="1"/>
              <c:layout/>
              <c:tx>
                <c:rich>
                  <a:bodyPr/>
                  <a:lstStyle/>
                  <a:p>
                    <a:r>
                      <a:rPr lang="en-US" smtClean="0"/>
                      <a:t>15.8%</a:t>
                    </a:r>
                    <a:endParaRPr lang="en-US"/>
                  </a:p>
                </c:rich>
              </c:tx>
              <c:showLegendKey val="0"/>
              <c:showVal val="1"/>
              <c:showCatName val="0"/>
              <c:showSerName val="0"/>
              <c:showPercent val="0"/>
              <c:showBubbleSize val="0"/>
            </c:dLbl>
            <c:dLbl>
              <c:idx val="2"/>
              <c:layout/>
              <c:tx>
                <c:rich>
                  <a:bodyPr/>
                  <a:lstStyle/>
                  <a:p>
                    <a:r>
                      <a:rPr lang="en-US" smtClean="0"/>
                      <a:t>5.5%</a:t>
                    </a:r>
                    <a:endParaRPr lang="en-US"/>
                  </a:p>
                </c:rich>
              </c:tx>
              <c:showLegendKey val="0"/>
              <c:showVal val="1"/>
              <c:showCatName val="0"/>
              <c:showSerName val="0"/>
              <c:showPercent val="0"/>
              <c:showBubbleSize val="0"/>
            </c:dLbl>
            <c:dLbl>
              <c:idx val="3"/>
              <c:layout/>
              <c:tx>
                <c:rich>
                  <a:bodyPr/>
                  <a:lstStyle/>
                  <a:p>
                    <a:r>
                      <a:rPr lang="en-US" smtClean="0"/>
                      <a:t>2.0%</a:t>
                    </a:r>
                    <a:endParaRPr lang="en-US"/>
                  </a:p>
                </c:rich>
              </c:tx>
              <c:showLegendKey val="0"/>
              <c:showVal val="1"/>
              <c:showCatName val="0"/>
              <c:showSerName val="0"/>
              <c:showPercent val="0"/>
              <c:showBubbleSize val="0"/>
            </c:dLbl>
            <c:dLbl>
              <c:idx val="4"/>
              <c:layout/>
              <c:tx>
                <c:rich>
                  <a:bodyPr/>
                  <a:lstStyle/>
                  <a:p>
                    <a:r>
                      <a:rPr lang="en-US" smtClean="0"/>
                      <a:t>1.8%</a:t>
                    </a:r>
                    <a:endParaRPr lang="en-US"/>
                  </a:p>
                </c:rich>
              </c:tx>
              <c:showLegendKey val="0"/>
              <c:showVal val="1"/>
              <c:showCatName val="0"/>
              <c:showSerName val="0"/>
              <c:showPercent val="0"/>
              <c:showBubbleSize val="0"/>
            </c:dLbl>
            <c:dLbl>
              <c:idx val="5"/>
              <c:layout/>
              <c:tx>
                <c:rich>
                  <a:bodyPr/>
                  <a:lstStyle/>
                  <a:p>
                    <a:r>
                      <a:rPr lang="en-US" smtClean="0"/>
                      <a:t>2.7%</a:t>
                    </a:r>
                    <a:endParaRPr lang="en-US"/>
                  </a:p>
                </c:rich>
              </c:tx>
              <c:showLegendKey val="0"/>
              <c:showVal val="1"/>
              <c:showCatName val="0"/>
              <c:showSerName val="0"/>
              <c:showPercent val="0"/>
              <c:showBubbleSize val="0"/>
            </c:dLbl>
            <c:dLbl>
              <c:idx val="6"/>
              <c:layout/>
              <c:tx>
                <c:rich>
                  <a:bodyPr/>
                  <a:lstStyle/>
                  <a:p>
                    <a:r>
                      <a:rPr lang="en-US" smtClean="0"/>
                      <a:t>2.1%</a:t>
                    </a:r>
                    <a:endParaRPr lang="en-US"/>
                  </a:p>
                </c:rich>
              </c:tx>
              <c:showLegendKey val="0"/>
              <c:showVal val="1"/>
              <c:showCatName val="0"/>
              <c:showSerName val="0"/>
              <c:showPercent val="0"/>
              <c:showBubbleSize val="0"/>
            </c:dLbl>
            <c:txPr>
              <a:bodyPr/>
              <a:lstStyle/>
              <a:p>
                <a:pPr>
                  <a:defRPr>
                    <a:solidFill>
                      <a:srgbClr val="78AB33"/>
                    </a:solidFill>
                  </a:defRPr>
                </a:pPr>
                <a:endParaRPr lang="en-US"/>
              </a:p>
            </c:txPr>
            <c:showLegendKey val="0"/>
            <c:showVal val="1"/>
            <c:showCatName val="0"/>
            <c:showSerName val="0"/>
            <c:showPercent val="0"/>
            <c:showBubbleSize val="0"/>
            <c:showLeaderLines val="0"/>
          </c:dLbls>
          <c:cat>
            <c:strRef>
              <c:f>'Summary mkt share '!$AG$16:$AG$22</c:f>
              <c:strCache>
                <c:ptCount val="7"/>
                <c:pt idx="0">
                  <c:v>PNG </c:v>
                </c:pt>
                <c:pt idx="1">
                  <c:v>Fiji </c:v>
                </c:pt>
                <c:pt idx="2">
                  <c:v>Solomon Islands </c:v>
                </c:pt>
                <c:pt idx="3">
                  <c:v>Cook  Islands </c:v>
                </c:pt>
                <c:pt idx="4">
                  <c:v>Tonga </c:v>
                </c:pt>
                <c:pt idx="5">
                  <c:v>Samoa</c:v>
                </c:pt>
                <c:pt idx="6">
                  <c:v>Vanuatu</c:v>
                </c:pt>
              </c:strCache>
            </c:strRef>
          </c:cat>
          <c:val>
            <c:numRef>
              <c:f>'Summary mkt share '!$AK$16:$AK$22</c:f>
              <c:numCache>
                <c:formatCode>0.0%</c:formatCode>
                <c:ptCount val="7"/>
                <c:pt idx="0">
                  <c:v>0.7010248760954807</c:v>
                </c:pt>
                <c:pt idx="1">
                  <c:v>0.1644029153165702</c:v>
                </c:pt>
                <c:pt idx="2">
                  <c:v>5.2076678213522874E-2</c:v>
                </c:pt>
                <c:pt idx="3">
                  <c:v>2.5593934032452699E-2</c:v>
                </c:pt>
                <c:pt idx="4">
                  <c:v>1.9966484723911194E-2</c:v>
                </c:pt>
                <c:pt idx="5">
                  <c:v>1.9057332425034931E-2</c:v>
                </c:pt>
                <c:pt idx="6">
                  <c:v>1.7877779193027403E-2</c:v>
                </c:pt>
              </c:numCache>
            </c:numRef>
          </c:val>
        </c:ser>
        <c:dLbls>
          <c:showLegendKey val="0"/>
          <c:showVal val="1"/>
          <c:showCatName val="0"/>
          <c:showSerName val="0"/>
          <c:showPercent val="0"/>
          <c:showBubbleSize val="0"/>
        </c:dLbls>
        <c:gapWidth val="100"/>
        <c:overlap val="-25"/>
        <c:axId val="28110208"/>
        <c:axId val="28779648"/>
      </c:barChart>
      <c:catAx>
        <c:axId val="28110208"/>
        <c:scaling>
          <c:orientation val="maxMin"/>
        </c:scaling>
        <c:delete val="0"/>
        <c:axPos val="l"/>
        <c:majorTickMark val="none"/>
        <c:minorTickMark val="none"/>
        <c:tickLblPos val="nextTo"/>
        <c:txPr>
          <a:bodyPr/>
          <a:lstStyle/>
          <a:p>
            <a:pPr>
              <a:defRPr sz="1200"/>
            </a:pPr>
            <a:endParaRPr lang="en-US"/>
          </a:p>
        </c:txPr>
        <c:crossAx val="28779648"/>
        <c:crosses val="autoZero"/>
        <c:auto val="1"/>
        <c:lblAlgn val="ctr"/>
        <c:lblOffset val="100"/>
        <c:noMultiLvlLbl val="0"/>
      </c:catAx>
      <c:valAx>
        <c:axId val="28779648"/>
        <c:scaling>
          <c:orientation val="minMax"/>
        </c:scaling>
        <c:delete val="1"/>
        <c:axPos val="t"/>
        <c:numFmt formatCode="0.0%" sourceLinked="1"/>
        <c:majorTickMark val="none"/>
        <c:minorTickMark val="none"/>
        <c:tickLblPos val="nextTo"/>
        <c:crossAx val="28110208"/>
        <c:crosses val="autoZero"/>
        <c:crossBetween val="between"/>
      </c:valAx>
      <c:spPr>
        <a:noFill/>
        <a:ln>
          <a:noFill/>
        </a:ln>
      </c:spPr>
    </c:plotArea>
    <c:plotVisOnly val="1"/>
    <c:dispBlanksAs val="gap"/>
    <c:showDLblsOverMax val="0"/>
  </c:chart>
  <c:spPr>
    <a:noFill/>
    <a:ln>
      <a:noFill/>
    </a:ln>
  </c:spPr>
  <c:txPr>
    <a:bodyPr/>
    <a:lstStyle/>
    <a:p>
      <a:pPr>
        <a:defRPr sz="1400"/>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lang val="en-AU"/>
  <c:roundedCorners val="0"/>
  <mc:AlternateContent xmlns:mc="http://schemas.openxmlformats.org/markup-compatibility/2006">
    <mc:Choice xmlns:c14="http://schemas.microsoft.com/office/drawing/2007/8/2/chart" Requires="c14">
      <c14:style val="105"/>
    </mc:Choice>
    <mc:Fallback>
      <c:style val="5"/>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tx>
            <c:strRef>
              <c:f>'PL Quarterly'!$AS$8</c:f>
              <c:strCache>
                <c:ptCount val="1"/>
                <c:pt idx="0">
                  <c:v>Q2-17</c:v>
                </c:pt>
              </c:strCache>
            </c:strRef>
          </c:tx>
          <c:spPr>
            <a:solidFill>
              <a:schemeClr val="accent3">
                <a:lumMod val="40000"/>
                <a:lumOff val="60000"/>
              </a:schemeClr>
            </a:solidFill>
          </c:spPr>
          <c:invertIfNegative val="0"/>
          <c:dLbls>
            <c:dLbl>
              <c:idx val="3"/>
              <c:layout>
                <c:manualLayout>
                  <c:x val="-1.320365531835513E-2"/>
                  <c:y val="1.1379805951907327E-2"/>
                </c:manualLayout>
              </c:layout>
              <c:showLegendKey val="0"/>
              <c:showVal val="1"/>
              <c:showCatName val="0"/>
              <c:showSerName val="0"/>
              <c:showPercent val="0"/>
              <c:showBubbleSize val="0"/>
            </c:dLbl>
            <c:numFmt formatCode="#,##0" sourceLinked="0"/>
            <c:txPr>
              <a:bodyPr/>
              <a:lstStyle/>
              <a:p>
                <a:pPr>
                  <a:defRPr sz="1100">
                    <a:solidFill>
                      <a:schemeClr val="accent3">
                        <a:lumMod val="50000"/>
                      </a:schemeClr>
                    </a:solidFill>
                  </a:defRPr>
                </a:pPr>
                <a:endParaRPr lang="en-US"/>
              </a:p>
            </c:txPr>
            <c:showLegendKey val="0"/>
            <c:showVal val="1"/>
            <c:showCatName val="0"/>
            <c:showSerName val="0"/>
            <c:showPercent val="0"/>
            <c:showBubbleSize val="0"/>
            <c:showLeaderLines val="0"/>
          </c:dLbls>
          <c:cat>
            <c:strRef>
              <c:f>'PL Quarterly'!$AI$14:$AI$17</c:f>
              <c:strCache>
                <c:ptCount val="4"/>
                <c:pt idx="0">
                  <c:v>Total Income </c:v>
                </c:pt>
                <c:pt idx="1">
                  <c:v>Operating expense</c:v>
                </c:pt>
                <c:pt idx="2">
                  <c:v>Impairment costs</c:v>
                </c:pt>
                <c:pt idx="3">
                  <c:v>NPAT</c:v>
                </c:pt>
              </c:strCache>
            </c:strRef>
          </c:cat>
          <c:val>
            <c:numRef>
              <c:f>'PL Quarterly'!$AS$14:$AS$17</c:f>
              <c:numCache>
                <c:formatCode>#,##0.0_ ;[Red]\-#,##0.0\ </c:formatCode>
                <c:ptCount val="4"/>
                <c:pt idx="0" formatCode="0.0">
                  <c:v>499.79936779999991</c:v>
                </c:pt>
                <c:pt idx="1">
                  <c:v>191.7871135</c:v>
                </c:pt>
                <c:pt idx="2" formatCode="0.0">
                  <c:v>24.187378799999998</c:v>
                </c:pt>
                <c:pt idx="3" formatCode="0.0">
                  <c:v>200.65121949999994</c:v>
                </c:pt>
              </c:numCache>
            </c:numRef>
          </c:val>
        </c:ser>
        <c:ser>
          <c:idx val="1"/>
          <c:order val="1"/>
          <c:tx>
            <c:strRef>
              <c:f>'PL Quarterly'!$AT$8</c:f>
              <c:strCache>
                <c:ptCount val="1"/>
                <c:pt idx="0">
                  <c:v>Q3-17</c:v>
                </c:pt>
              </c:strCache>
            </c:strRef>
          </c:tx>
          <c:spPr>
            <a:solidFill>
              <a:schemeClr val="accent3">
                <a:lumMod val="60000"/>
                <a:lumOff val="40000"/>
              </a:schemeClr>
            </a:solidFill>
          </c:spPr>
          <c:invertIfNegative val="0"/>
          <c:dLbls>
            <c:numFmt formatCode="#,##0" sourceLinked="0"/>
            <c:txPr>
              <a:bodyPr/>
              <a:lstStyle/>
              <a:p>
                <a:pPr>
                  <a:defRPr sz="1100">
                    <a:solidFill>
                      <a:schemeClr val="accent3">
                        <a:lumMod val="50000"/>
                      </a:schemeClr>
                    </a:solidFill>
                  </a:defRPr>
                </a:pPr>
                <a:endParaRPr lang="en-US"/>
              </a:p>
            </c:txPr>
            <c:showLegendKey val="0"/>
            <c:showVal val="1"/>
            <c:showCatName val="0"/>
            <c:showSerName val="0"/>
            <c:showPercent val="0"/>
            <c:showBubbleSize val="0"/>
            <c:showLeaderLines val="0"/>
          </c:dLbls>
          <c:cat>
            <c:strRef>
              <c:f>'PL Quarterly'!$AI$14:$AI$17</c:f>
              <c:strCache>
                <c:ptCount val="4"/>
                <c:pt idx="0">
                  <c:v>Total Income </c:v>
                </c:pt>
                <c:pt idx="1">
                  <c:v>Operating expense</c:v>
                </c:pt>
                <c:pt idx="2">
                  <c:v>Impairment costs</c:v>
                </c:pt>
                <c:pt idx="3">
                  <c:v>NPAT</c:v>
                </c:pt>
              </c:strCache>
            </c:strRef>
          </c:cat>
          <c:val>
            <c:numRef>
              <c:f>'PL Quarterly'!$AT$14:$AT$17</c:f>
              <c:numCache>
                <c:formatCode>#,##0.0_ ;[Red]\-#,##0.0\ </c:formatCode>
                <c:ptCount val="4"/>
                <c:pt idx="0" formatCode="0.0">
                  <c:v>492.9302394</c:v>
                </c:pt>
                <c:pt idx="1">
                  <c:v>205.95690400000001</c:v>
                </c:pt>
                <c:pt idx="2" formatCode="0.0">
                  <c:v>27.427532899999999</c:v>
                </c:pt>
                <c:pt idx="3" formatCode="0.0">
                  <c:v>185.02226330000002</c:v>
                </c:pt>
              </c:numCache>
            </c:numRef>
          </c:val>
        </c:ser>
        <c:ser>
          <c:idx val="2"/>
          <c:order val="2"/>
          <c:tx>
            <c:strRef>
              <c:f>'PL Quarterly'!$AU$8</c:f>
              <c:strCache>
                <c:ptCount val="1"/>
                <c:pt idx="0">
                  <c:v>Q4-17</c:v>
                </c:pt>
              </c:strCache>
            </c:strRef>
          </c:tx>
          <c:spPr>
            <a:solidFill>
              <a:schemeClr val="accent3"/>
            </a:solidFill>
          </c:spPr>
          <c:invertIfNegative val="0"/>
          <c:dLbls>
            <c:dLbl>
              <c:idx val="1"/>
              <c:layout>
                <c:manualLayout>
                  <c:x val="0"/>
                  <c:y val="2.2759611903814654E-2"/>
                </c:manualLayout>
              </c:layout>
              <c:showLegendKey val="0"/>
              <c:showVal val="1"/>
              <c:showCatName val="0"/>
              <c:showSerName val="0"/>
              <c:showPercent val="0"/>
              <c:showBubbleSize val="0"/>
            </c:dLbl>
            <c:numFmt formatCode="#,##0" sourceLinked="0"/>
            <c:txPr>
              <a:bodyPr/>
              <a:lstStyle/>
              <a:p>
                <a:pPr>
                  <a:defRPr sz="1100">
                    <a:solidFill>
                      <a:schemeClr val="accent3">
                        <a:lumMod val="50000"/>
                      </a:schemeClr>
                    </a:solidFill>
                  </a:defRPr>
                </a:pPr>
                <a:endParaRPr lang="en-US"/>
              </a:p>
            </c:txPr>
            <c:showLegendKey val="0"/>
            <c:showVal val="1"/>
            <c:showCatName val="0"/>
            <c:showSerName val="0"/>
            <c:showPercent val="0"/>
            <c:showBubbleSize val="0"/>
            <c:showLeaderLines val="0"/>
          </c:dLbls>
          <c:cat>
            <c:strRef>
              <c:f>'PL Quarterly'!$AI$14:$AI$17</c:f>
              <c:strCache>
                <c:ptCount val="4"/>
                <c:pt idx="0">
                  <c:v>Total Income </c:v>
                </c:pt>
                <c:pt idx="1">
                  <c:v>Operating expense</c:v>
                </c:pt>
                <c:pt idx="2">
                  <c:v>Impairment costs</c:v>
                </c:pt>
                <c:pt idx="3">
                  <c:v>NPAT</c:v>
                </c:pt>
              </c:strCache>
            </c:strRef>
          </c:cat>
          <c:val>
            <c:numRef>
              <c:f>'PL Quarterly'!$AU$14:$AU$17</c:f>
              <c:numCache>
                <c:formatCode>#,##0.0_ ;[Red]\-#,##0.0\ </c:formatCode>
                <c:ptCount val="4"/>
                <c:pt idx="0" formatCode="0.0">
                  <c:v>524.51934669999991</c:v>
                </c:pt>
                <c:pt idx="1">
                  <c:v>221.1518576</c:v>
                </c:pt>
                <c:pt idx="2" formatCode="0.0">
                  <c:v>18.630288100000001</c:v>
                </c:pt>
                <c:pt idx="3" formatCode="0.0">
                  <c:v>201.096396</c:v>
                </c:pt>
              </c:numCache>
            </c:numRef>
          </c:val>
        </c:ser>
        <c:ser>
          <c:idx val="3"/>
          <c:order val="3"/>
          <c:tx>
            <c:strRef>
              <c:f>'PL Quarterly'!$AV$8</c:f>
              <c:strCache>
                <c:ptCount val="1"/>
                <c:pt idx="0">
                  <c:v>Q1-18</c:v>
                </c:pt>
              </c:strCache>
            </c:strRef>
          </c:tx>
          <c:spPr>
            <a:solidFill>
              <a:schemeClr val="accent3">
                <a:lumMod val="75000"/>
              </a:schemeClr>
            </a:solidFill>
          </c:spPr>
          <c:invertIfNegative val="0"/>
          <c:dLbls>
            <c:dLbl>
              <c:idx val="3"/>
              <c:layout>
                <c:manualLayout>
                  <c:x val="0"/>
                  <c:y val="3.0346149205086204E-2"/>
                </c:manualLayout>
              </c:layout>
              <c:showLegendKey val="0"/>
              <c:showVal val="1"/>
              <c:showCatName val="0"/>
              <c:showSerName val="0"/>
              <c:showPercent val="0"/>
              <c:showBubbleSize val="0"/>
            </c:dLbl>
            <c:numFmt formatCode="#,##0" sourceLinked="0"/>
            <c:txPr>
              <a:bodyPr/>
              <a:lstStyle/>
              <a:p>
                <a:pPr>
                  <a:defRPr sz="1200">
                    <a:solidFill>
                      <a:schemeClr val="accent3">
                        <a:lumMod val="50000"/>
                      </a:schemeClr>
                    </a:solidFill>
                  </a:defRPr>
                </a:pPr>
                <a:endParaRPr lang="en-US"/>
              </a:p>
            </c:txPr>
            <c:showLegendKey val="0"/>
            <c:showVal val="1"/>
            <c:showCatName val="0"/>
            <c:showSerName val="0"/>
            <c:showPercent val="0"/>
            <c:showBubbleSize val="0"/>
            <c:showLeaderLines val="0"/>
          </c:dLbls>
          <c:cat>
            <c:strRef>
              <c:f>'PL Quarterly'!$AI$14:$AI$17</c:f>
              <c:strCache>
                <c:ptCount val="4"/>
                <c:pt idx="0">
                  <c:v>Total Income </c:v>
                </c:pt>
                <c:pt idx="1">
                  <c:v>Operating expense</c:v>
                </c:pt>
                <c:pt idx="2">
                  <c:v>Impairment costs</c:v>
                </c:pt>
                <c:pt idx="3">
                  <c:v>NPAT</c:v>
                </c:pt>
              </c:strCache>
            </c:strRef>
          </c:cat>
          <c:val>
            <c:numRef>
              <c:f>'PL Quarterly'!$AV$14:$AV$17</c:f>
              <c:numCache>
                <c:formatCode>#,##0.0_ ;[Red]\-#,##0.0\ </c:formatCode>
                <c:ptCount val="4"/>
                <c:pt idx="0" formatCode="0.0">
                  <c:v>504.46118389999987</c:v>
                </c:pt>
                <c:pt idx="1">
                  <c:v>209.6824384</c:v>
                </c:pt>
                <c:pt idx="2" formatCode="0.0">
                  <c:v>17.776751300000001</c:v>
                </c:pt>
                <c:pt idx="3" formatCode="0.0">
                  <c:v>196.95113499999997</c:v>
                </c:pt>
              </c:numCache>
            </c:numRef>
          </c:val>
        </c:ser>
        <c:ser>
          <c:idx val="4"/>
          <c:order val="4"/>
          <c:tx>
            <c:strRef>
              <c:f>'PL Quarterly'!$AW$8</c:f>
              <c:strCache>
                <c:ptCount val="1"/>
                <c:pt idx="0">
                  <c:v>Q2-18</c:v>
                </c:pt>
              </c:strCache>
            </c:strRef>
          </c:tx>
          <c:spPr>
            <a:solidFill>
              <a:schemeClr val="accent3">
                <a:lumMod val="50000"/>
              </a:schemeClr>
            </a:solidFill>
          </c:spPr>
          <c:invertIfNegative val="0"/>
          <c:dLbls>
            <c:dLbl>
              <c:idx val="1"/>
              <c:layout>
                <c:manualLayout>
                  <c:x val="0"/>
                  <c:y val="-1.7569416487859809E-2"/>
                </c:manualLayout>
              </c:layout>
              <c:showLegendKey val="0"/>
              <c:showVal val="1"/>
              <c:showCatName val="0"/>
              <c:showSerName val="0"/>
              <c:showPercent val="0"/>
              <c:showBubbleSize val="0"/>
            </c:dLbl>
            <c:numFmt formatCode="#,##0" sourceLinked="0"/>
            <c:txPr>
              <a:bodyPr/>
              <a:lstStyle/>
              <a:p>
                <a:pPr>
                  <a:defRPr sz="1400" b="1">
                    <a:solidFill>
                      <a:schemeClr val="accent3">
                        <a:lumMod val="50000"/>
                      </a:schemeClr>
                    </a:solidFill>
                  </a:defRPr>
                </a:pPr>
                <a:endParaRPr lang="en-US"/>
              </a:p>
            </c:txPr>
            <c:showLegendKey val="0"/>
            <c:showVal val="1"/>
            <c:showCatName val="0"/>
            <c:showSerName val="0"/>
            <c:showPercent val="0"/>
            <c:showBubbleSize val="0"/>
            <c:showLeaderLines val="0"/>
          </c:dLbls>
          <c:cat>
            <c:strRef>
              <c:f>'PL Quarterly'!$AI$14:$AI$17</c:f>
              <c:strCache>
                <c:ptCount val="4"/>
                <c:pt idx="0">
                  <c:v>Total Income </c:v>
                </c:pt>
                <c:pt idx="1">
                  <c:v>Operating expense</c:v>
                </c:pt>
                <c:pt idx="2">
                  <c:v>Impairment costs</c:v>
                </c:pt>
                <c:pt idx="3">
                  <c:v>NPAT</c:v>
                </c:pt>
              </c:strCache>
            </c:strRef>
          </c:cat>
          <c:val>
            <c:numRef>
              <c:f>'PL Quarterly'!$AW$14:$AW$17</c:f>
              <c:numCache>
                <c:formatCode>#,##0.0_ ;[Red]\-#,##0.0\ </c:formatCode>
                <c:ptCount val="4"/>
                <c:pt idx="0" formatCode="0.0">
                  <c:v>554.86728490000007</c:v>
                </c:pt>
                <c:pt idx="1">
                  <c:v>225.4805728</c:v>
                </c:pt>
                <c:pt idx="2" formatCode="0.0">
                  <c:v>11.094189700000001</c:v>
                </c:pt>
                <c:pt idx="3" formatCode="0.0">
                  <c:v>221.3374671</c:v>
                </c:pt>
              </c:numCache>
            </c:numRef>
          </c:val>
        </c:ser>
        <c:dLbls>
          <c:showLegendKey val="0"/>
          <c:showVal val="1"/>
          <c:showCatName val="0"/>
          <c:showSerName val="0"/>
          <c:showPercent val="0"/>
          <c:showBubbleSize val="0"/>
        </c:dLbls>
        <c:gapWidth val="150"/>
        <c:overlap val="-25"/>
        <c:axId val="30509312"/>
        <c:axId val="30527488"/>
      </c:barChart>
      <c:catAx>
        <c:axId val="30509312"/>
        <c:scaling>
          <c:orientation val="minMax"/>
        </c:scaling>
        <c:delete val="0"/>
        <c:axPos val="b"/>
        <c:majorTickMark val="none"/>
        <c:minorTickMark val="none"/>
        <c:tickLblPos val="nextTo"/>
        <c:txPr>
          <a:bodyPr/>
          <a:lstStyle/>
          <a:p>
            <a:pPr>
              <a:defRPr sz="1200" b="1"/>
            </a:pPr>
            <a:endParaRPr lang="en-US"/>
          </a:p>
        </c:txPr>
        <c:crossAx val="30527488"/>
        <c:crosses val="autoZero"/>
        <c:auto val="1"/>
        <c:lblAlgn val="ctr"/>
        <c:lblOffset val="100"/>
        <c:noMultiLvlLbl val="0"/>
      </c:catAx>
      <c:valAx>
        <c:axId val="30527488"/>
        <c:scaling>
          <c:orientation val="minMax"/>
        </c:scaling>
        <c:delete val="1"/>
        <c:axPos val="l"/>
        <c:numFmt formatCode="0.0" sourceLinked="1"/>
        <c:majorTickMark val="out"/>
        <c:minorTickMark val="none"/>
        <c:tickLblPos val="nextTo"/>
        <c:crossAx val="30509312"/>
        <c:crosses val="autoZero"/>
        <c:crossBetween val="between"/>
      </c:valAx>
    </c:plotArea>
    <c:legend>
      <c:legendPos val="b"/>
      <c:layout/>
      <c:overlay val="0"/>
      <c:txPr>
        <a:bodyPr/>
        <a:lstStyle/>
        <a:p>
          <a:pPr>
            <a:defRPr sz="1200" b="1"/>
          </a:pPr>
          <a:endParaRPr lang="en-US"/>
        </a:p>
      </c:txPr>
    </c:legend>
    <c:plotVisOnly val="1"/>
    <c:dispBlanksAs val="gap"/>
    <c:showDLblsOverMax val="0"/>
  </c:chart>
  <c:spPr>
    <a:noFill/>
    <a:ln>
      <a:noFill/>
    </a:ln>
  </c:spPr>
  <c:externalData r:id="rId2">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lang val="en-AU"/>
  <c:roundedCorners val="0"/>
  <mc:AlternateContent xmlns:mc="http://schemas.openxmlformats.org/markup-compatibility/2006">
    <mc:Choice xmlns:c14="http://schemas.microsoft.com/office/drawing/2007/8/2/chart" Requires="c14">
      <c14:style val="105"/>
    </mc:Choice>
    <mc:Fallback>
      <c:style val="5"/>
    </mc:Fallback>
  </mc:AlternateContent>
  <c:chart>
    <c:autoTitleDeleted val="1"/>
    <c:plotArea>
      <c:layout>
        <c:manualLayout>
          <c:layoutTarget val="inner"/>
          <c:xMode val="edge"/>
          <c:yMode val="edge"/>
          <c:x val="3.4285136473477126E-2"/>
          <c:y val="7.7653730173280297E-2"/>
          <c:w val="0.90392100738759318"/>
          <c:h val="0.65687263070176982"/>
        </c:manualLayout>
      </c:layout>
      <c:barChart>
        <c:barDir val="col"/>
        <c:grouping val="clustered"/>
        <c:varyColors val="0"/>
        <c:ser>
          <c:idx val="0"/>
          <c:order val="0"/>
          <c:tx>
            <c:strRef>
              <c:f>'BS quarterly'!$AE$12</c:f>
              <c:strCache>
                <c:ptCount val="1"/>
                <c:pt idx="0">
                  <c:v>Q2'17</c:v>
                </c:pt>
              </c:strCache>
            </c:strRef>
          </c:tx>
          <c:spPr>
            <a:solidFill>
              <a:schemeClr val="accent3">
                <a:lumMod val="40000"/>
                <a:lumOff val="60000"/>
              </a:schemeClr>
            </a:solidFill>
          </c:spPr>
          <c:invertIfNegative val="0"/>
          <c:dLbls>
            <c:dLbl>
              <c:idx val="0"/>
              <c:layout>
                <c:manualLayout>
                  <c:x val="-1.2797912996308886E-2"/>
                  <c:y val="1.0054019711346984E-2"/>
                </c:manualLayout>
              </c:layout>
              <c:showLegendKey val="0"/>
              <c:showVal val="1"/>
              <c:showCatName val="0"/>
              <c:showSerName val="0"/>
              <c:showPercent val="0"/>
              <c:showBubbleSize val="0"/>
            </c:dLbl>
            <c:dLbl>
              <c:idx val="1"/>
              <c:layout>
                <c:manualLayout>
                  <c:x val="0"/>
                  <c:y val="1.5293564179181164E-2"/>
                </c:manualLayout>
              </c:layout>
              <c:showLegendKey val="0"/>
              <c:showVal val="1"/>
              <c:showCatName val="0"/>
              <c:showSerName val="0"/>
              <c:showPercent val="0"/>
              <c:showBubbleSize val="0"/>
            </c:dLbl>
            <c:dLbl>
              <c:idx val="2"/>
              <c:layout>
                <c:manualLayout>
                  <c:x val="-8.5697622884804408E-3"/>
                  <c:y val="2.0791188054342123E-2"/>
                </c:manualLayout>
              </c:layout>
              <c:showLegendKey val="0"/>
              <c:showVal val="1"/>
              <c:showCatName val="0"/>
              <c:showSerName val="0"/>
              <c:showPercent val="0"/>
              <c:showBubbleSize val="0"/>
            </c:dLbl>
            <c:dLbl>
              <c:idx val="3"/>
              <c:layout>
                <c:manualLayout>
                  <c:x val="-4.7095562293316476E-3"/>
                  <c:y val="3.1066865592383506E-2"/>
                </c:manualLayout>
              </c:layout>
              <c:showLegendKey val="0"/>
              <c:showVal val="1"/>
              <c:showCatName val="0"/>
              <c:showSerName val="0"/>
              <c:showPercent val="0"/>
              <c:showBubbleSize val="0"/>
            </c:dLbl>
            <c:dLbl>
              <c:idx val="4"/>
              <c:layout>
                <c:manualLayout>
                  <c:x val="0"/>
                  <c:y val="2.5489273631968606E-2"/>
                </c:manualLayout>
              </c:layout>
              <c:showLegendKey val="0"/>
              <c:showVal val="1"/>
              <c:showCatName val="0"/>
              <c:showSerName val="0"/>
              <c:showPercent val="0"/>
              <c:showBubbleSize val="0"/>
            </c:dLbl>
            <c:numFmt formatCode="#,##0.0" sourceLinked="0"/>
            <c:txPr>
              <a:bodyPr/>
              <a:lstStyle/>
              <a:p>
                <a:pPr>
                  <a:defRPr sz="1000">
                    <a:solidFill>
                      <a:schemeClr val="accent3">
                        <a:lumMod val="50000"/>
                      </a:schemeClr>
                    </a:solidFill>
                  </a:defRPr>
                </a:pPr>
                <a:endParaRPr lang="en-US"/>
              </a:p>
            </c:txPr>
            <c:showLegendKey val="0"/>
            <c:showVal val="1"/>
            <c:showCatName val="0"/>
            <c:showSerName val="0"/>
            <c:showPercent val="0"/>
            <c:showBubbleSize val="0"/>
            <c:showLeaderLines val="0"/>
          </c:dLbls>
          <c:cat>
            <c:strRef>
              <c:f>'BS quarterly'!$Y$13:$Y$17</c:f>
              <c:strCache>
                <c:ptCount val="5"/>
                <c:pt idx="0">
                  <c:v>Loans and Advances</c:v>
                </c:pt>
                <c:pt idx="1">
                  <c:v>Deposits </c:v>
                </c:pt>
                <c:pt idx="2">
                  <c:v>Total Assets </c:v>
                </c:pt>
                <c:pt idx="3">
                  <c:v>Total Liabilities </c:v>
                </c:pt>
                <c:pt idx="4">
                  <c:v>Net Assets/ S.H Equity</c:v>
                </c:pt>
              </c:strCache>
            </c:strRef>
          </c:cat>
          <c:val>
            <c:numRef>
              <c:f>'BS quarterly'!$AE$13:$AE$17</c:f>
              <c:numCache>
                <c:formatCode>_-* #,##0.0_-;\-* #,##0.0_-;_-* "-"??_-;_-@_-</c:formatCode>
                <c:ptCount val="5"/>
                <c:pt idx="0" formatCode="0.0">
                  <c:v>10.7529503</c:v>
                </c:pt>
                <c:pt idx="1">
                  <c:v>17.708959100000001</c:v>
                </c:pt>
                <c:pt idx="2">
                  <c:v>21.7327905</c:v>
                </c:pt>
                <c:pt idx="3">
                  <c:v>19.3896783</c:v>
                </c:pt>
                <c:pt idx="4">
                  <c:v>2.3431121999999998</c:v>
                </c:pt>
              </c:numCache>
            </c:numRef>
          </c:val>
        </c:ser>
        <c:ser>
          <c:idx val="1"/>
          <c:order val="1"/>
          <c:tx>
            <c:strRef>
              <c:f>'BS quarterly'!$AF$12</c:f>
              <c:strCache>
                <c:ptCount val="1"/>
                <c:pt idx="0">
                  <c:v>Q3'17</c:v>
                </c:pt>
              </c:strCache>
            </c:strRef>
          </c:tx>
          <c:spPr>
            <a:solidFill>
              <a:schemeClr val="accent3">
                <a:lumMod val="60000"/>
                <a:lumOff val="40000"/>
              </a:schemeClr>
            </a:solidFill>
          </c:spPr>
          <c:invertIfNegative val="0"/>
          <c:dLbls>
            <c:dLbl>
              <c:idx val="0"/>
              <c:layout>
                <c:manualLayout>
                  <c:x val="-3.0608254790124405E-3"/>
                  <c:y val="3.5873643850221015E-2"/>
                </c:manualLayout>
              </c:layout>
              <c:showLegendKey val="0"/>
              <c:showVal val="1"/>
              <c:showCatName val="0"/>
              <c:showSerName val="0"/>
              <c:showPercent val="0"/>
              <c:showBubbleSize val="0"/>
            </c:dLbl>
            <c:dLbl>
              <c:idx val="1"/>
              <c:layout>
                <c:manualLayout>
                  <c:x val="4.294942130727555E-3"/>
                  <c:y val="7.8852499952586554E-3"/>
                </c:manualLayout>
              </c:layout>
              <c:showLegendKey val="0"/>
              <c:showVal val="1"/>
              <c:showCatName val="0"/>
              <c:showSerName val="0"/>
              <c:showPercent val="0"/>
              <c:showBubbleSize val="0"/>
            </c:dLbl>
            <c:dLbl>
              <c:idx val="2"/>
              <c:layout>
                <c:manualLayout>
                  <c:x val="-2.3089541257907387E-3"/>
                  <c:y val="1.1636048121479552E-3"/>
                </c:manualLayout>
              </c:layout>
              <c:showLegendKey val="0"/>
              <c:showVal val="1"/>
              <c:showCatName val="0"/>
              <c:showSerName val="0"/>
              <c:showPercent val="0"/>
              <c:showBubbleSize val="0"/>
            </c:dLbl>
            <c:numFmt formatCode="#,##0" sourceLinked="0"/>
            <c:txPr>
              <a:bodyPr/>
              <a:lstStyle/>
              <a:p>
                <a:pPr>
                  <a:defRPr sz="1000">
                    <a:solidFill>
                      <a:schemeClr val="accent3">
                        <a:lumMod val="50000"/>
                      </a:schemeClr>
                    </a:solidFill>
                  </a:defRPr>
                </a:pPr>
                <a:endParaRPr lang="en-US"/>
              </a:p>
            </c:txPr>
            <c:showLegendKey val="0"/>
            <c:showVal val="1"/>
            <c:showCatName val="0"/>
            <c:showSerName val="0"/>
            <c:showPercent val="0"/>
            <c:showBubbleSize val="0"/>
            <c:showLeaderLines val="0"/>
          </c:dLbls>
          <c:cat>
            <c:strRef>
              <c:f>'BS quarterly'!$Y$13:$Y$17</c:f>
              <c:strCache>
                <c:ptCount val="5"/>
                <c:pt idx="0">
                  <c:v>Loans and Advances</c:v>
                </c:pt>
                <c:pt idx="1">
                  <c:v>Deposits </c:v>
                </c:pt>
                <c:pt idx="2">
                  <c:v>Total Assets </c:v>
                </c:pt>
                <c:pt idx="3">
                  <c:v>Total Liabilities </c:v>
                </c:pt>
                <c:pt idx="4">
                  <c:v>Net Assets/ S.H Equity</c:v>
                </c:pt>
              </c:strCache>
            </c:strRef>
          </c:cat>
          <c:val>
            <c:numRef>
              <c:f>'BS quarterly'!$AF$13:$AF$17</c:f>
              <c:numCache>
                <c:formatCode>_-* #,##0.0_-;\-* #,##0.0_-;_-* "-"??_-;_-@_-</c:formatCode>
                <c:ptCount val="5"/>
                <c:pt idx="0" formatCode="0.0">
                  <c:v>10.9710193</c:v>
                </c:pt>
                <c:pt idx="1">
                  <c:v>17.963936399999998</c:v>
                </c:pt>
                <c:pt idx="2">
                  <c:v>22.166725600000007</c:v>
                </c:pt>
                <c:pt idx="3">
                  <c:v>19.616932499999997</c:v>
                </c:pt>
                <c:pt idx="4">
                  <c:v>2.5497931000000063</c:v>
                </c:pt>
              </c:numCache>
            </c:numRef>
          </c:val>
        </c:ser>
        <c:ser>
          <c:idx val="2"/>
          <c:order val="2"/>
          <c:tx>
            <c:strRef>
              <c:f>'BS quarterly'!$AG$12</c:f>
              <c:strCache>
                <c:ptCount val="1"/>
                <c:pt idx="0">
                  <c:v>Q4'17</c:v>
                </c:pt>
              </c:strCache>
            </c:strRef>
          </c:tx>
          <c:spPr>
            <a:solidFill>
              <a:srgbClr val="92B350"/>
            </a:solidFill>
          </c:spPr>
          <c:invertIfNegative val="0"/>
          <c:dLbls>
            <c:dLbl>
              <c:idx val="0"/>
              <c:layout>
                <c:manualLayout>
                  <c:x val="0"/>
                  <c:y val="1.0195709452787442E-2"/>
                </c:manualLayout>
              </c:layout>
              <c:showLegendKey val="0"/>
              <c:showVal val="1"/>
              <c:showCatName val="0"/>
              <c:showSerName val="0"/>
              <c:showPercent val="0"/>
              <c:showBubbleSize val="0"/>
            </c:dLbl>
            <c:dLbl>
              <c:idx val="1"/>
              <c:layout>
                <c:manualLayout>
                  <c:x val="0"/>
                  <c:y val="2.2175266653928719E-2"/>
                </c:manualLayout>
              </c:layout>
              <c:showLegendKey val="0"/>
              <c:showVal val="1"/>
              <c:showCatName val="0"/>
              <c:showSerName val="0"/>
              <c:showPercent val="0"/>
              <c:showBubbleSize val="0"/>
            </c:dLbl>
            <c:dLbl>
              <c:idx val="2"/>
              <c:layout>
                <c:manualLayout>
                  <c:x val="-4.294942130727555E-3"/>
                  <c:y val="1.1074989094909062E-2"/>
                </c:manualLayout>
              </c:layout>
              <c:showLegendKey val="0"/>
              <c:showVal val="1"/>
              <c:showCatName val="0"/>
              <c:showSerName val="0"/>
              <c:showPercent val="0"/>
              <c:showBubbleSize val="0"/>
            </c:dLbl>
            <c:dLbl>
              <c:idx val="3"/>
              <c:layout>
                <c:manualLayout>
                  <c:x val="6.4420750116715901E-3"/>
                  <c:y val="6.9804435369161038E-3"/>
                </c:manualLayout>
              </c:layout>
              <c:showLegendKey val="0"/>
              <c:showVal val="1"/>
              <c:showCatName val="0"/>
              <c:showSerName val="0"/>
              <c:showPercent val="0"/>
              <c:showBubbleSize val="0"/>
            </c:dLbl>
            <c:dLbl>
              <c:idx val="4"/>
              <c:layout>
                <c:manualLayout>
                  <c:x val="0"/>
                  <c:y val="2.0391418905574884E-2"/>
                </c:manualLayout>
              </c:layout>
              <c:showLegendKey val="0"/>
              <c:showVal val="1"/>
              <c:showCatName val="0"/>
              <c:showSerName val="0"/>
              <c:showPercent val="0"/>
              <c:showBubbleSize val="0"/>
            </c:dLbl>
            <c:numFmt formatCode="#,##0" sourceLinked="0"/>
            <c:txPr>
              <a:bodyPr/>
              <a:lstStyle/>
              <a:p>
                <a:pPr>
                  <a:defRPr sz="1000">
                    <a:solidFill>
                      <a:schemeClr val="accent3">
                        <a:lumMod val="50000"/>
                      </a:schemeClr>
                    </a:solidFill>
                  </a:defRPr>
                </a:pPr>
                <a:endParaRPr lang="en-US"/>
              </a:p>
            </c:txPr>
            <c:showLegendKey val="0"/>
            <c:showVal val="1"/>
            <c:showCatName val="0"/>
            <c:showSerName val="0"/>
            <c:showPercent val="0"/>
            <c:showBubbleSize val="0"/>
            <c:showLeaderLines val="0"/>
          </c:dLbls>
          <c:cat>
            <c:strRef>
              <c:f>'BS quarterly'!$Y$13:$Y$17</c:f>
              <c:strCache>
                <c:ptCount val="5"/>
                <c:pt idx="0">
                  <c:v>Loans and Advances</c:v>
                </c:pt>
                <c:pt idx="1">
                  <c:v>Deposits </c:v>
                </c:pt>
                <c:pt idx="2">
                  <c:v>Total Assets </c:v>
                </c:pt>
                <c:pt idx="3">
                  <c:v>Total Liabilities </c:v>
                </c:pt>
                <c:pt idx="4">
                  <c:v>Net Assets/ S.H Equity</c:v>
                </c:pt>
              </c:strCache>
            </c:strRef>
          </c:cat>
          <c:val>
            <c:numRef>
              <c:f>'BS quarterly'!$AG$13:$AG$17</c:f>
              <c:numCache>
                <c:formatCode>_-* #,##0.0_-;\-* #,##0.0_-;_-* "-"??_-;_-@_-</c:formatCode>
                <c:ptCount val="5"/>
                <c:pt idx="0" formatCode="0.0">
                  <c:v>11.2094928</c:v>
                </c:pt>
                <c:pt idx="1">
                  <c:v>17.901692300000001</c:v>
                </c:pt>
                <c:pt idx="2">
                  <c:v>22.311961000000007</c:v>
                </c:pt>
                <c:pt idx="3">
                  <c:v>19.681180000000001</c:v>
                </c:pt>
                <c:pt idx="4">
                  <c:v>2.6307810000000065</c:v>
                </c:pt>
              </c:numCache>
            </c:numRef>
          </c:val>
        </c:ser>
        <c:ser>
          <c:idx val="3"/>
          <c:order val="3"/>
          <c:tx>
            <c:strRef>
              <c:f>'BS quarterly'!$AH$12</c:f>
              <c:strCache>
                <c:ptCount val="1"/>
                <c:pt idx="0">
                  <c:v>Q1-18</c:v>
                </c:pt>
              </c:strCache>
            </c:strRef>
          </c:tx>
          <c:spPr>
            <a:solidFill>
              <a:schemeClr val="accent3">
                <a:lumMod val="75000"/>
              </a:schemeClr>
            </a:solidFill>
          </c:spPr>
          <c:invertIfNegative val="0"/>
          <c:dLbls>
            <c:dLbl>
              <c:idx val="2"/>
              <c:layout>
                <c:manualLayout>
                  <c:x val="-4.335355168886763E-3"/>
                  <c:y val="2.083781126922615E-2"/>
                </c:manualLayout>
              </c:layout>
              <c:showLegendKey val="0"/>
              <c:showVal val="1"/>
              <c:showCatName val="0"/>
              <c:showSerName val="0"/>
              <c:showPercent val="0"/>
              <c:showBubbleSize val="0"/>
            </c:dLbl>
            <c:dLbl>
              <c:idx val="3"/>
              <c:layout>
                <c:manualLayout>
                  <c:x val="4.294942130727555E-3"/>
                  <c:y val="-8.7454087986698955E-3"/>
                </c:manualLayout>
              </c:layout>
              <c:showLegendKey val="0"/>
              <c:showVal val="1"/>
              <c:showCatName val="0"/>
              <c:showSerName val="0"/>
              <c:showPercent val="0"/>
              <c:showBubbleSize val="0"/>
            </c:dLbl>
            <c:numFmt formatCode="#,##0" sourceLinked="0"/>
            <c:txPr>
              <a:bodyPr/>
              <a:lstStyle/>
              <a:p>
                <a:pPr>
                  <a:defRPr sz="1000">
                    <a:solidFill>
                      <a:schemeClr val="accent3">
                        <a:lumMod val="50000"/>
                      </a:schemeClr>
                    </a:solidFill>
                  </a:defRPr>
                </a:pPr>
                <a:endParaRPr lang="en-US"/>
              </a:p>
            </c:txPr>
            <c:showLegendKey val="0"/>
            <c:showVal val="1"/>
            <c:showCatName val="0"/>
            <c:showSerName val="0"/>
            <c:showPercent val="0"/>
            <c:showBubbleSize val="0"/>
            <c:showLeaderLines val="0"/>
          </c:dLbls>
          <c:cat>
            <c:strRef>
              <c:f>'BS quarterly'!$Y$13:$Y$17</c:f>
              <c:strCache>
                <c:ptCount val="5"/>
                <c:pt idx="0">
                  <c:v>Loans and Advances</c:v>
                </c:pt>
                <c:pt idx="1">
                  <c:v>Deposits </c:v>
                </c:pt>
                <c:pt idx="2">
                  <c:v>Total Assets </c:v>
                </c:pt>
                <c:pt idx="3">
                  <c:v>Total Liabilities </c:v>
                </c:pt>
                <c:pt idx="4">
                  <c:v>Net Assets/ S.H Equity</c:v>
                </c:pt>
              </c:strCache>
            </c:strRef>
          </c:cat>
          <c:val>
            <c:numRef>
              <c:f>'BS quarterly'!$AH$13:$AH$17</c:f>
              <c:numCache>
                <c:formatCode>_-* #,##0.0_-;\-* #,##0.0_-;_-* "-"??_-;_-@_-</c:formatCode>
                <c:ptCount val="5"/>
                <c:pt idx="0" formatCode="0.0">
                  <c:v>11.7141372</c:v>
                </c:pt>
                <c:pt idx="1">
                  <c:v>18.331659399999999</c:v>
                </c:pt>
                <c:pt idx="2">
                  <c:v>22.9719002</c:v>
                </c:pt>
                <c:pt idx="3">
                  <c:v>20.136147700000002</c:v>
                </c:pt>
                <c:pt idx="4">
                  <c:v>2.8357524999999986</c:v>
                </c:pt>
              </c:numCache>
            </c:numRef>
          </c:val>
        </c:ser>
        <c:ser>
          <c:idx val="4"/>
          <c:order val="4"/>
          <c:tx>
            <c:strRef>
              <c:f>'BS quarterly'!$AI$12</c:f>
              <c:strCache>
                <c:ptCount val="1"/>
                <c:pt idx="0">
                  <c:v>Q2-18</c:v>
                </c:pt>
              </c:strCache>
            </c:strRef>
          </c:tx>
          <c:spPr>
            <a:solidFill>
              <a:schemeClr val="accent3">
                <a:lumMod val="50000"/>
              </a:schemeClr>
            </a:solidFill>
          </c:spPr>
          <c:invertIfNegative val="0"/>
          <c:dLbls>
            <c:dLbl>
              <c:idx val="0"/>
              <c:layout>
                <c:manualLayout>
                  <c:x val="1.8770588033378124E-2"/>
                  <c:y val="3.0983496962379061E-2"/>
                </c:manualLayout>
              </c:layout>
              <c:showLegendKey val="0"/>
              <c:showVal val="1"/>
              <c:showCatName val="0"/>
              <c:showSerName val="0"/>
              <c:showPercent val="0"/>
              <c:showBubbleSize val="0"/>
            </c:dLbl>
            <c:dLbl>
              <c:idx val="1"/>
              <c:layout>
                <c:manualLayout>
                  <c:x val="2.1454588680663106E-2"/>
                  <c:y val="1.3634129457653478E-2"/>
                </c:manualLayout>
              </c:layout>
              <c:showLegendKey val="0"/>
              <c:showVal val="1"/>
              <c:showCatName val="0"/>
              <c:showSerName val="0"/>
              <c:showPercent val="0"/>
              <c:showBubbleSize val="0"/>
            </c:dLbl>
            <c:dLbl>
              <c:idx val="2"/>
              <c:layout>
                <c:manualLayout>
                  <c:x val="9.9733967226209707E-3"/>
                  <c:y val="1.0035844559782025E-2"/>
                </c:manualLayout>
              </c:layout>
              <c:showLegendKey val="0"/>
              <c:showVal val="1"/>
              <c:showCatName val="0"/>
              <c:showSerName val="0"/>
              <c:showPercent val="0"/>
              <c:showBubbleSize val="0"/>
            </c:dLbl>
            <c:dLbl>
              <c:idx val="3"/>
              <c:layout>
                <c:manualLayout>
                  <c:x val="3.4834517063348537E-2"/>
                  <c:y val="-1.8064520207607643E-2"/>
                </c:manualLayout>
              </c:layout>
              <c:showLegendKey val="0"/>
              <c:showVal val="1"/>
              <c:showCatName val="0"/>
              <c:showSerName val="0"/>
              <c:showPercent val="0"/>
              <c:showBubbleSize val="0"/>
            </c:dLbl>
            <c:dLbl>
              <c:idx val="4"/>
              <c:layout>
                <c:manualLayout>
                  <c:x val="6.5029526989557893E-3"/>
                  <c:y val="-1.5293564179181164E-2"/>
                </c:manualLayout>
              </c:layout>
              <c:showLegendKey val="0"/>
              <c:showVal val="1"/>
              <c:showCatName val="0"/>
              <c:showSerName val="0"/>
              <c:showPercent val="0"/>
              <c:showBubbleSize val="0"/>
            </c:dLbl>
            <c:numFmt formatCode="#,##0.0" sourceLinked="0"/>
            <c:txPr>
              <a:bodyPr/>
              <a:lstStyle/>
              <a:p>
                <a:pPr>
                  <a:defRPr sz="1400" b="1">
                    <a:solidFill>
                      <a:schemeClr val="accent3">
                        <a:lumMod val="50000"/>
                      </a:schemeClr>
                    </a:solidFill>
                  </a:defRPr>
                </a:pPr>
                <a:endParaRPr lang="en-US"/>
              </a:p>
            </c:txPr>
            <c:showLegendKey val="0"/>
            <c:showVal val="1"/>
            <c:showCatName val="0"/>
            <c:showSerName val="0"/>
            <c:showPercent val="0"/>
            <c:showBubbleSize val="0"/>
            <c:showLeaderLines val="0"/>
          </c:dLbls>
          <c:cat>
            <c:strRef>
              <c:f>'BS quarterly'!$Y$13:$Y$17</c:f>
              <c:strCache>
                <c:ptCount val="5"/>
                <c:pt idx="0">
                  <c:v>Loans and Advances</c:v>
                </c:pt>
                <c:pt idx="1">
                  <c:v>Deposits </c:v>
                </c:pt>
                <c:pt idx="2">
                  <c:v>Total Assets </c:v>
                </c:pt>
                <c:pt idx="3">
                  <c:v>Total Liabilities </c:v>
                </c:pt>
                <c:pt idx="4">
                  <c:v>Net Assets/ S.H Equity</c:v>
                </c:pt>
              </c:strCache>
            </c:strRef>
          </c:cat>
          <c:val>
            <c:numRef>
              <c:f>'BS quarterly'!$AI$13:$AI$17</c:f>
              <c:numCache>
                <c:formatCode>0.0</c:formatCode>
                <c:ptCount val="5"/>
                <c:pt idx="0">
                  <c:v>12.071957599999999</c:v>
                </c:pt>
                <c:pt idx="1">
                  <c:v>18.444863600000001</c:v>
                </c:pt>
                <c:pt idx="2" formatCode="_-* #,##0.0_-;\-* #,##0.0_-;_-* &quot;-&quot;??_-;_-@_-">
                  <c:v>22.956322499999999</c:v>
                </c:pt>
                <c:pt idx="3">
                  <c:v>20.343047100000003</c:v>
                </c:pt>
                <c:pt idx="4">
                  <c:v>2.6132753999999951</c:v>
                </c:pt>
              </c:numCache>
            </c:numRef>
          </c:val>
        </c:ser>
        <c:dLbls>
          <c:showLegendKey val="0"/>
          <c:showVal val="1"/>
          <c:showCatName val="0"/>
          <c:showSerName val="0"/>
          <c:showPercent val="0"/>
          <c:showBubbleSize val="0"/>
        </c:dLbls>
        <c:gapWidth val="150"/>
        <c:overlap val="-25"/>
        <c:axId val="30314496"/>
        <c:axId val="30316032"/>
      </c:barChart>
      <c:catAx>
        <c:axId val="30314496"/>
        <c:scaling>
          <c:orientation val="minMax"/>
        </c:scaling>
        <c:delete val="0"/>
        <c:axPos val="b"/>
        <c:numFmt formatCode="General" sourceLinked="1"/>
        <c:majorTickMark val="none"/>
        <c:minorTickMark val="none"/>
        <c:tickLblPos val="nextTo"/>
        <c:txPr>
          <a:bodyPr/>
          <a:lstStyle/>
          <a:p>
            <a:pPr>
              <a:defRPr sz="1200" b="1"/>
            </a:pPr>
            <a:endParaRPr lang="en-US"/>
          </a:p>
        </c:txPr>
        <c:crossAx val="30316032"/>
        <c:crosses val="autoZero"/>
        <c:auto val="1"/>
        <c:lblAlgn val="ctr"/>
        <c:lblOffset val="100"/>
        <c:noMultiLvlLbl val="0"/>
      </c:catAx>
      <c:valAx>
        <c:axId val="30316032"/>
        <c:scaling>
          <c:orientation val="minMax"/>
        </c:scaling>
        <c:delete val="1"/>
        <c:axPos val="l"/>
        <c:numFmt formatCode="0.0" sourceLinked="1"/>
        <c:majorTickMark val="out"/>
        <c:minorTickMark val="none"/>
        <c:tickLblPos val="nextTo"/>
        <c:crossAx val="30314496"/>
        <c:crosses val="autoZero"/>
        <c:crossBetween val="between"/>
      </c:valAx>
    </c:plotArea>
    <c:legend>
      <c:legendPos val="b"/>
      <c:layout>
        <c:manualLayout>
          <c:xMode val="edge"/>
          <c:yMode val="edge"/>
          <c:x val="0.23748305349301585"/>
          <c:y val="0.92515619755428702"/>
          <c:w val="0.50848618259096412"/>
          <c:h val="7.0549797761491034E-2"/>
        </c:manualLayout>
      </c:layout>
      <c:overlay val="0"/>
      <c:txPr>
        <a:bodyPr/>
        <a:lstStyle/>
        <a:p>
          <a:pPr>
            <a:defRPr sz="1200" b="1"/>
          </a:pPr>
          <a:endParaRPr lang="en-US"/>
        </a:p>
      </c:txPr>
    </c:legend>
    <c:plotVisOnly val="1"/>
    <c:dispBlanksAs val="gap"/>
    <c:showDLblsOverMax val="0"/>
  </c:chart>
  <c:txPr>
    <a:bodyPr/>
    <a:lstStyle/>
    <a:p>
      <a:pPr>
        <a:defRPr sz="1800"/>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lang val="en-AU"/>
  <c:roundedCorners val="0"/>
  <mc:AlternateContent xmlns:mc="http://schemas.openxmlformats.org/markup-compatibility/2006">
    <mc:Choice xmlns:c14="http://schemas.microsoft.com/office/drawing/2007/8/2/chart" Requires="c14">
      <c14:style val="129"/>
    </mc:Choice>
    <mc:Fallback>
      <c:style val="29"/>
    </mc:Fallback>
  </mc:AlternateContent>
  <c:clrMapOvr bg1="lt1" tx1="dk1" bg2="lt2" tx2="dk2" accent1="accent1" accent2="accent2" accent3="accent3" accent4="accent4" accent5="accent5" accent6="accent6" hlink="hlink" folHlink="folHlink"/>
  <c:chart>
    <c:autoTitleDeleted val="1"/>
    <c:plotArea>
      <c:layout/>
      <c:lineChart>
        <c:grouping val="standard"/>
        <c:varyColors val="0"/>
        <c:ser>
          <c:idx val="0"/>
          <c:order val="0"/>
          <c:tx>
            <c:strRef>
              <c:f>Ratios!$D$27</c:f>
              <c:strCache>
                <c:ptCount val="1"/>
                <c:pt idx="0">
                  <c:v>Cost to income Ratio</c:v>
                </c:pt>
              </c:strCache>
            </c:strRef>
          </c:tx>
          <c:spPr>
            <a:ln>
              <a:solidFill>
                <a:srgbClr val="9BBB59">
                  <a:lumMod val="75000"/>
                </a:srgbClr>
              </a:solidFill>
            </a:ln>
          </c:spPr>
          <c:marker>
            <c:symbol val="none"/>
          </c:marker>
          <c:dLbls>
            <c:dLbl>
              <c:idx val="0"/>
              <c:layout>
                <c:manualLayout>
                  <c:x val="-7.4253430185633587E-2"/>
                  <c:y val="-7.6600852259875937E-2"/>
                </c:manualLayout>
              </c:layout>
              <c:showLegendKey val="0"/>
              <c:showVal val="1"/>
              <c:showCatName val="0"/>
              <c:showSerName val="0"/>
              <c:showPercent val="0"/>
              <c:showBubbleSize val="0"/>
            </c:dLbl>
            <c:dLbl>
              <c:idx val="1"/>
              <c:layout>
                <c:manualLayout>
                  <c:x val="-1.9370460048426151E-2"/>
                  <c:y val="-5.7450639194906901E-2"/>
                </c:manualLayout>
              </c:layout>
              <c:showLegendKey val="0"/>
              <c:showVal val="1"/>
              <c:showCatName val="0"/>
              <c:showSerName val="0"/>
              <c:showPercent val="0"/>
              <c:showBubbleSize val="0"/>
            </c:dLbl>
            <c:dLbl>
              <c:idx val="2"/>
              <c:layout>
                <c:manualLayout>
                  <c:x val="-3.2284100080709659E-3"/>
                  <c:y val="-4.3087979396180212E-2"/>
                </c:manualLayout>
              </c:layout>
              <c:showLegendKey val="0"/>
              <c:showVal val="1"/>
              <c:showCatName val="0"/>
              <c:showSerName val="0"/>
              <c:showPercent val="0"/>
              <c:showBubbleSize val="0"/>
            </c:dLbl>
            <c:dLbl>
              <c:idx val="3"/>
              <c:layout>
                <c:manualLayout>
                  <c:x val="-1.9370460048426151E-2"/>
                  <c:y val="-4.3087979396180254E-2"/>
                </c:manualLayout>
              </c:layout>
              <c:showLegendKey val="0"/>
              <c:showVal val="1"/>
              <c:showCatName val="0"/>
              <c:showSerName val="0"/>
              <c:showPercent val="0"/>
              <c:showBubbleSize val="0"/>
            </c:dLbl>
            <c:dLbl>
              <c:idx val="4"/>
              <c:layout>
                <c:manualLayout>
                  <c:x val="-1.9370534939880769E-2"/>
                  <c:y val="-7.3816542849510863E-2"/>
                </c:manualLayout>
              </c:layout>
              <c:spPr/>
              <c:txPr>
                <a:bodyPr/>
                <a:lstStyle/>
                <a:p>
                  <a:pPr>
                    <a:defRPr sz="1600" b="1">
                      <a:solidFill>
                        <a:schemeClr val="accent3">
                          <a:lumMod val="50000"/>
                        </a:schemeClr>
                      </a:solidFill>
                    </a:defRPr>
                  </a:pPr>
                  <a:endParaRPr lang="en-US"/>
                </a:p>
              </c:txPr>
              <c:showLegendKey val="0"/>
              <c:showVal val="1"/>
              <c:showCatName val="0"/>
              <c:showSerName val="0"/>
              <c:showPercent val="0"/>
              <c:showBubbleSize val="0"/>
            </c:dLbl>
            <c:txPr>
              <a:bodyPr/>
              <a:lstStyle/>
              <a:p>
                <a:pPr>
                  <a:defRPr sz="1200">
                    <a:solidFill>
                      <a:schemeClr val="accent3">
                        <a:lumMod val="50000"/>
                      </a:schemeClr>
                    </a:solidFill>
                  </a:defRPr>
                </a:pPr>
                <a:endParaRPr lang="en-US"/>
              </a:p>
            </c:txPr>
            <c:showLegendKey val="0"/>
            <c:showVal val="1"/>
            <c:showCatName val="0"/>
            <c:showSerName val="0"/>
            <c:showPercent val="0"/>
            <c:showBubbleSize val="0"/>
            <c:showLeaderLines val="0"/>
          </c:dLbls>
          <c:cat>
            <c:strRef>
              <c:f>Ratios!$N$4:$R$4</c:f>
              <c:strCache>
                <c:ptCount val="5"/>
                <c:pt idx="0">
                  <c:v>Q2-17</c:v>
                </c:pt>
                <c:pt idx="1">
                  <c:v>Q3-17</c:v>
                </c:pt>
                <c:pt idx="2">
                  <c:v>Q4-17</c:v>
                </c:pt>
                <c:pt idx="3">
                  <c:v>Q1-18</c:v>
                </c:pt>
                <c:pt idx="4">
                  <c:v>Q2-18</c:v>
                </c:pt>
              </c:strCache>
            </c:strRef>
          </c:cat>
          <c:val>
            <c:numRef>
              <c:f>Ratios!$N$27:$R$27</c:f>
              <c:numCache>
                <c:formatCode>0.0%</c:formatCode>
                <c:ptCount val="5"/>
                <c:pt idx="0">
                  <c:v>0.38372820346732744</c:v>
                </c:pt>
                <c:pt idx="1">
                  <c:v>0.41782160544805075</c:v>
                </c:pt>
                <c:pt idx="2">
                  <c:v>0.42162764632300259</c:v>
                </c:pt>
                <c:pt idx="3">
                  <c:v>0.41565623895765513</c:v>
                </c:pt>
                <c:pt idx="4">
                  <c:v>0.40636847573494417</c:v>
                </c:pt>
              </c:numCache>
            </c:numRef>
          </c:val>
          <c:smooth val="1"/>
        </c:ser>
        <c:dLbls>
          <c:showLegendKey val="0"/>
          <c:showVal val="1"/>
          <c:showCatName val="0"/>
          <c:showSerName val="0"/>
          <c:showPercent val="0"/>
          <c:showBubbleSize val="0"/>
        </c:dLbls>
        <c:marker val="1"/>
        <c:smooth val="0"/>
        <c:axId val="30407296"/>
        <c:axId val="30425472"/>
      </c:lineChart>
      <c:catAx>
        <c:axId val="30407296"/>
        <c:scaling>
          <c:orientation val="minMax"/>
        </c:scaling>
        <c:delete val="0"/>
        <c:axPos val="b"/>
        <c:majorTickMark val="none"/>
        <c:minorTickMark val="none"/>
        <c:tickLblPos val="nextTo"/>
        <c:txPr>
          <a:bodyPr/>
          <a:lstStyle/>
          <a:p>
            <a:pPr>
              <a:defRPr sz="1400" b="1"/>
            </a:pPr>
            <a:endParaRPr lang="en-US"/>
          </a:p>
        </c:txPr>
        <c:crossAx val="30425472"/>
        <c:crosses val="autoZero"/>
        <c:auto val="1"/>
        <c:lblAlgn val="ctr"/>
        <c:lblOffset val="100"/>
        <c:noMultiLvlLbl val="0"/>
      </c:catAx>
      <c:valAx>
        <c:axId val="30425472"/>
        <c:scaling>
          <c:orientation val="minMax"/>
          <c:min val="0.30000000000000004"/>
        </c:scaling>
        <c:delete val="1"/>
        <c:axPos val="l"/>
        <c:numFmt formatCode="0.0%" sourceLinked="1"/>
        <c:majorTickMark val="none"/>
        <c:minorTickMark val="none"/>
        <c:tickLblPos val="nextTo"/>
        <c:crossAx val="30407296"/>
        <c:crosses val="autoZero"/>
        <c:crossBetween val="between"/>
      </c:valAx>
      <c:spPr>
        <a:noFill/>
      </c:spPr>
    </c:plotArea>
    <c:legend>
      <c:legendPos val="b"/>
      <c:layout/>
      <c:overlay val="0"/>
      <c:txPr>
        <a:bodyPr/>
        <a:lstStyle/>
        <a:p>
          <a:pPr>
            <a:defRPr sz="1200"/>
          </a:pPr>
          <a:endParaRPr lang="en-US"/>
        </a:p>
      </c:txPr>
    </c:legend>
    <c:plotVisOnly val="1"/>
    <c:dispBlanksAs val="gap"/>
    <c:showDLblsOverMax val="0"/>
  </c:chart>
  <c:spPr>
    <a:noFill/>
    <a:ln>
      <a:noFill/>
    </a:ln>
  </c:spPr>
  <c:externalData r:id="rId2">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lang val="en-AU"/>
  <c:roundedCorners val="0"/>
  <mc:AlternateContent xmlns:mc="http://schemas.openxmlformats.org/markup-compatibility/2006">
    <mc:Choice xmlns:c14="http://schemas.microsoft.com/office/drawing/2007/8/2/chart" Requires="c14">
      <c14:style val="129"/>
    </mc:Choice>
    <mc:Fallback>
      <c:style val="29"/>
    </mc:Fallback>
  </mc:AlternateContent>
  <c:clrMapOvr bg1="lt1" tx1="dk1" bg2="lt2" tx2="dk2" accent1="accent1" accent2="accent2" accent3="accent3" accent4="accent4" accent5="accent5" accent6="accent6" hlink="hlink" folHlink="folHlink"/>
  <c:chart>
    <c:autoTitleDeleted val="1"/>
    <c:plotArea>
      <c:layout/>
      <c:lineChart>
        <c:grouping val="standard"/>
        <c:varyColors val="0"/>
        <c:ser>
          <c:idx val="1"/>
          <c:order val="0"/>
          <c:tx>
            <c:strRef>
              <c:f>Ratios!$D$29</c:f>
              <c:strCache>
                <c:ptCount val="1"/>
                <c:pt idx="0">
                  <c:v>ROE</c:v>
                </c:pt>
              </c:strCache>
            </c:strRef>
          </c:tx>
          <c:marker>
            <c:symbol val="none"/>
          </c:marker>
          <c:dPt>
            <c:idx val="3"/>
            <c:bubble3D val="0"/>
          </c:dPt>
          <c:dLbls>
            <c:dLbl>
              <c:idx val="0"/>
              <c:layout>
                <c:manualLayout>
                  <c:x val="-1.1569052783803326E-2"/>
                  <c:y val="-5.7450617537592667E-2"/>
                </c:manualLayout>
              </c:layout>
              <c:spPr/>
              <c:txPr>
                <a:bodyPr/>
                <a:lstStyle/>
                <a:p>
                  <a:pPr>
                    <a:defRPr sz="1100">
                      <a:solidFill>
                        <a:schemeClr val="accent3">
                          <a:lumMod val="50000"/>
                        </a:schemeClr>
                      </a:solidFill>
                    </a:defRPr>
                  </a:pPr>
                  <a:endParaRPr lang="en-US"/>
                </a:p>
              </c:txPr>
              <c:showLegendKey val="0"/>
              <c:showVal val="1"/>
              <c:showCatName val="0"/>
              <c:showSerName val="0"/>
              <c:showPercent val="0"/>
              <c:showBubbleSize val="0"/>
            </c:dLbl>
            <c:dLbl>
              <c:idx val="1"/>
              <c:layout>
                <c:manualLayout>
                  <c:x val="-5.7845263919016629E-3"/>
                  <c:y val="-6.22381689990587E-2"/>
                </c:manualLayout>
              </c:layout>
              <c:spPr/>
              <c:txPr>
                <a:bodyPr/>
                <a:lstStyle/>
                <a:p>
                  <a:pPr>
                    <a:defRPr sz="1100">
                      <a:solidFill>
                        <a:schemeClr val="accent3">
                          <a:lumMod val="50000"/>
                        </a:schemeClr>
                      </a:solidFill>
                    </a:defRPr>
                  </a:pPr>
                  <a:endParaRPr lang="en-US"/>
                </a:p>
              </c:txPr>
              <c:showLegendKey val="0"/>
              <c:showVal val="1"/>
              <c:showCatName val="0"/>
              <c:showSerName val="0"/>
              <c:showPercent val="0"/>
              <c:showBubbleSize val="0"/>
            </c:dLbl>
            <c:dLbl>
              <c:idx val="2"/>
              <c:layout>
                <c:manualLayout>
                  <c:x val="-8.6767895878524948E-3"/>
                  <c:y val="-3.8300411691728452E-2"/>
                </c:manualLayout>
              </c:layout>
              <c:spPr/>
              <c:txPr>
                <a:bodyPr/>
                <a:lstStyle/>
                <a:p>
                  <a:pPr>
                    <a:defRPr sz="1100">
                      <a:solidFill>
                        <a:schemeClr val="accent3">
                          <a:lumMod val="50000"/>
                        </a:schemeClr>
                      </a:solidFill>
                    </a:defRPr>
                  </a:pPr>
                  <a:endParaRPr lang="en-US"/>
                </a:p>
              </c:txPr>
              <c:showLegendKey val="0"/>
              <c:showVal val="1"/>
              <c:showCatName val="0"/>
              <c:showSerName val="0"/>
              <c:showPercent val="0"/>
              <c:showBubbleSize val="0"/>
            </c:dLbl>
            <c:dLbl>
              <c:idx val="3"/>
              <c:layout>
                <c:manualLayout>
                  <c:x val="-8.6767283549248272E-3"/>
                  <c:y val="-0.12900609311212352"/>
                </c:manualLayout>
              </c:layout>
              <c:spPr/>
              <c:txPr>
                <a:bodyPr/>
                <a:lstStyle/>
                <a:p>
                  <a:pPr>
                    <a:defRPr sz="1100">
                      <a:solidFill>
                        <a:schemeClr val="accent3">
                          <a:lumMod val="50000"/>
                        </a:schemeClr>
                      </a:solidFill>
                    </a:defRPr>
                  </a:pPr>
                  <a:endParaRPr lang="en-US"/>
                </a:p>
              </c:txPr>
              <c:showLegendKey val="0"/>
              <c:showVal val="1"/>
              <c:showCatName val="0"/>
              <c:showSerName val="0"/>
              <c:showPercent val="0"/>
              <c:showBubbleSize val="0"/>
            </c:dLbl>
            <c:dLbl>
              <c:idx val="4"/>
              <c:layout>
                <c:manualLayout>
                  <c:x val="-3.1451722835914701E-3"/>
                  <c:y val="-1.1541530525344857E-2"/>
                </c:manualLayout>
              </c:layout>
              <c:spPr/>
              <c:txPr>
                <a:bodyPr/>
                <a:lstStyle/>
                <a:p>
                  <a:pPr>
                    <a:defRPr sz="1400" b="1">
                      <a:solidFill>
                        <a:schemeClr val="accent3">
                          <a:lumMod val="50000"/>
                        </a:schemeClr>
                      </a:solidFill>
                    </a:defRPr>
                  </a:pPr>
                  <a:endParaRPr lang="en-US"/>
                </a:p>
              </c:txPr>
              <c:showLegendKey val="0"/>
              <c:showVal val="1"/>
              <c:showCatName val="0"/>
              <c:showSerName val="0"/>
              <c:showPercent val="0"/>
              <c:showBubbleSize val="0"/>
            </c:dLbl>
            <c:txPr>
              <a:bodyPr/>
              <a:lstStyle/>
              <a:p>
                <a:pPr>
                  <a:defRPr sz="1200">
                    <a:solidFill>
                      <a:schemeClr val="accent3">
                        <a:lumMod val="50000"/>
                      </a:schemeClr>
                    </a:solidFill>
                  </a:defRPr>
                </a:pPr>
                <a:endParaRPr lang="en-US"/>
              </a:p>
            </c:txPr>
            <c:showLegendKey val="0"/>
            <c:showVal val="1"/>
            <c:showCatName val="0"/>
            <c:showSerName val="0"/>
            <c:showPercent val="0"/>
            <c:showBubbleSize val="0"/>
            <c:showLeaderLines val="0"/>
          </c:dLbls>
          <c:cat>
            <c:strRef>
              <c:f>Ratios!$N$4:$R$4</c:f>
              <c:strCache>
                <c:ptCount val="5"/>
                <c:pt idx="0">
                  <c:v>Q2-17</c:v>
                </c:pt>
                <c:pt idx="1">
                  <c:v>Q3-17</c:v>
                </c:pt>
                <c:pt idx="2">
                  <c:v>Q4-17</c:v>
                </c:pt>
                <c:pt idx="3">
                  <c:v>Q1-18</c:v>
                </c:pt>
                <c:pt idx="4">
                  <c:v>Q2-18</c:v>
                </c:pt>
              </c:strCache>
            </c:strRef>
          </c:cat>
          <c:val>
            <c:numRef>
              <c:f>Ratios!$N$29:$R$29</c:f>
              <c:numCache>
                <c:formatCode>0.0%</c:formatCode>
                <c:ptCount val="5"/>
                <c:pt idx="0">
                  <c:v>0.33110669409013166</c:v>
                </c:pt>
                <c:pt idx="1">
                  <c:v>0.302515175676913</c:v>
                </c:pt>
                <c:pt idx="2">
                  <c:v>0.310539167464084</c:v>
                </c:pt>
                <c:pt idx="3">
                  <c:v>0.28822819433924596</c:v>
                </c:pt>
                <c:pt idx="4">
                  <c:v>0.32495699587076859</c:v>
                </c:pt>
              </c:numCache>
            </c:numRef>
          </c:val>
          <c:smooth val="1"/>
        </c:ser>
        <c:dLbls>
          <c:showLegendKey val="0"/>
          <c:showVal val="1"/>
          <c:showCatName val="0"/>
          <c:showSerName val="0"/>
          <c:showPercent val="0"/>
          <c:showBubbleSize val="0"/>
        </c:dLbls>
        <c:marker val="1"/>
        <c:smooth val="0"/>
        <c:axId val="30472448"/>
        <c:axId val="30547968"/>
      </c:lineChart>
      <c:catAx>
        <c:axId val="30472448"/>
        <c:scaling>
          <c:orientation val="minMax"/>
        </c:scaling>
        <c:delete val="0"/>
        <c:axPos val="b"/>
        <c:majorTickMark val="none"/>
        <c:minorTickMark val="none"/>
        <c:tickLblPos val="nextTo"/>
        <c:txPr>
          <a:bodyPr/>
          <a:lstStyle/>
          <a:p>
            <a:pPr>
              <a:defRPr sz="1400" b="1"/>
            </a:pPr>
            <a:endParaRPr lang="en-US"/>
          </a:p>
        </c:txPr>
        <c:crossAx val="30547968"/>
        <c:crosses val="autoZero"/>
        <c:auto val="1"/>
        <c:lblAlgn val="ctr"/>
        <c:lblOffset val="100"/>
        <c:noMultiLvlLbl val="0"/>
      </c:catAx>
      <c:valAx>
        <c:axId val="30547968"/>
        <c:scaling>
          <c:orientation val="minMax"/>
        </c:scaling>
        <c:delete val="1"/>
        <c:axPos val="l"/>
        <c:numFmt formatCode="0.0%" sourceLinked="1"/>
        <c:majorTickMark val="none"/>
        <c:minorTickMark val="none"/>
        <c:tickLblPos val="nextTo"/>
        <c:crossAx val="30472448"/>
        <c:crosses val="autoZero"/>
        <c:crossBetween val="between"/>
      </c:valAx>
    </c:plotArea>
    <c:legend>
      <c:legendPos val="b"/>
      <c:layout/>
      <c:overlay val="0"/>
      <c:txPr>
        <a:bodyPr/>
        <a:lstStyle/>
        <a:p>
          <a:pPr>
            <a:defRPr sz="1100"/>
          </a:pPr>
          <a:endParaRPr lang="en-US"/>
        </a:p>
      </c:txPr>
    </c:legend>
    <c:plotVisOnly val="1"/>
    <c:dispBlanksAs val="gap"/>
    <c:showDLblsOverMax val="0"/>
  </c:chart>
  <c:spPr>
    <a:ln>
      <a:noFill/>
    </a:ln>
  </c:spPr>
  <c:externalData r:id="rId2">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lang val="en-AU"/>
  <c:roundedCorners val="0"/>
  <mc:AlternateContent xmlns:mc="http://schemas.openxmlformats.org/markup-compatibility/2006">
    <mc:Choice xmlns:c14="http://schemas.microsoft.com/office/drawing/2007/8/2/chart" Requires="c14">
      <c14:style val="129"/>
    </mc:Choice>
    <mc:Fallback>
      <c:style val="29"/>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3.5792594596727373E-2"/>
          <c:y val="0.17434124405911128"/>
          <c:w val="0.91539932186228079"/>
          <c:h val="0.45842039772944554"/>
        </c:manualLayout>
      </c:layout>
      <c:lineChart>
        <c:grouping val="standard"/>
        <c:varyColors val="0"/>
        <c:ser>
          <c:idx val="1"/>
          <c:order val="0"/>
          <c:tx>
            <c:strRef>
              <c:f>Ratios!$D$32</c:f>
              <c:strCache>
                <c:ptCount val="1"/>
                <c:pt idx="0">
                  <c:v>Loan to deposits</c:v>
                </c:pt>
              </c:strCache>
            </c:strRef>
          </c:tx>
          <c:spPr>
            <a:ln>
              <a:solidFill>
                <a:srgbClr val="9BBB59">
                  <a:lumMod val="75000"/>
                </a:srgbClr>
              </a:solidFill>
            </a:ln>
          </c:spPr>
          <c:marker>
            <c:symbol val="none"/>
          </c:marker>
          <c:dLbls>
            <c:dLbl>
              <c:idx val="0"/>
              <c:layout>
                <c:manualLayout>
                  <c:x val="-4.013074929759914E-2"/>
                  <c:y val="-8.0447011734205098E-2"/>
                </c:manualLayout>
              </c:layout>
              <c:showLegendKey val="0"/>
              <c:showVal val="1"/>
              <c:showCatName val="0"/>
              <c:showSerName val="0"/>
              <c:showPercent val="0"/>
              <c:showBubbleSize val="0"/>
            </c:dLbl>
            <c:dLbl>
              <c:idx val="1"/>
              <c:layout>
                <c:manualLayout>
                  <c:x val="-2.2776593231638297E-2"/>
                  <c:y val="-7.9008059115213303E-2"/>
                </c:manualLayout>
              </c:layout>
              <c:showLegendKey val="0"/>
              <c:showVal val="1"/>
              <c:showCatName val="0"/>
              <c:showSerName val="0"/>
              <c:showPercent val="0"/>
              <c:showBubbleSize val="0"/>
            </c:dLbl>
            <c:dLbl>
              <c:idx val="2"/>
              <c:layout>
                <c:manualLayout>
                  <c:x val="1.0846411593828669E-2"/>
                  <c:y val="-7.2781586113102162E-2"/>
                </c:manualLayout>
              </c:layout>
              <c:showLegendKey val="0"/>
              <c:showVal val="1"/>
              <c:showCatName val="0"/>
              <c:showSerName val="0"/>
              <c:showPercent val="0"/>
              <c:showBubbleSize val="0"/>
            </c:dLbl>
            <c:dLbl>
              <c:idx val="3"/>
              <c:layout>
                <c:manualLayout>
                  <c:x val="-2.4222901009007845E-2"/>
                  <c:y val="-9.361036398882569E-2"/>
                </c:manualLayout>
              </c:layout>
              <c:showLegendKey val="0"/>
              <c:showVal val="1"/>
              <c:showCatName val="0"/>
              <c:showSerName val="0"/>
              <c:showPercent val="0"/>
              <c:showBubbleSize val="0"/>
            </c:dLbl>
            <c:dLbl>
              <c:idx val="4"/>
              <c:layout>
                <c:manualLayout>
                  <c:x val="-3.2533598152415474E-3"/>
                  <c:y val="-7.4220538732093985E-2"/>
                </c:manualLayout>
              </c:layout>
              <c:spPr/>
              <c:txPr>
                <a:bodyPr/>
                <a:lstStyle/>
                <a:p>
                  <a:pPr>
                    <a:defRPr sz="1400" b="1">
                      <a:solidFill>
                        <a:schemeClr val="accent3">
                          <a:lumMod val="50000"/>
                        </a:schemeClr>
                      </a:solidFill>
                    </a:defRPr>
                  </a:pPr>
                  <a:endParaRPr lang="en-US"/>
                </a:p>
              </c:txPr>
              <c:showLegendKey val="0"/>
              <c:showVal val="1"/>
              <c:showCatName val="0"/>
              <c:showSerName val="0"/>
              <c:showPercent val="0"/>
              <c:showBubbleSize val="0"/>
            </c:dLbl>
            <c:txPr>
              <a:bodyPr/>
              <a:lstStyle/>
              <a:p>
                <a:pPr>
                  <a:defRPr sz="1200">
                    <a:solidFill>
                      <a:schemeClr val="accent3">
                        <a:lumMod val="50000"/>
                      </a:schemeClr>
                    </a:solidFill>
                  </a:defRPr>
                </a:pPr>
                <a:endParaRPr lang="en-US"/>
              </a:p>
            </c:txPr>
            <c:showLegendKey val="0"/>
            <c:showVal val="1"/>
            <c:showCatName val="0"/>
            <c:showSerName val="0"/>
            <c:showPercent val="0"/>
            <c:showBubbleSize val="0"/>
            <c:showLeaderLines val="0"/>
          </c:dLbls>
          <c:cat>
            <c:strRef>
              <c:f>Ratios!$N$4:$R$4</c:f>
              <c:strCache>
                <c:ptCount val="5"/>
                <c:pt idx="0">
                  <c:v>Q2-17</c:v>
                </c:pt>
                <c:pt idx="1">
                  <c:v>Q3-17</c:v>
                </c:pt>
                <c:pt idx="2">
                  <c:v>Q4-17</c:v>
                </c:pt>
                <c:pt idx="3">
                  <c:v>Q1-18</c:v>
                </c:pt>
                <c:pt idx="4">
                  <c:v>Q2-18</c:v>
                </c:pt>
              </c:strCache>
            </c:strRef>
          </c:cat>
          <c:val>
            <c:numRef>
              <c:f>Ratios!$N$32:$R$32</c:f>
              <c:numCache>
                <c:formatCode>0.0%</c:formatCode>
                <c:ptCount val="5"/>
                <c:pt idx="0">
                  <c:v>0.60720397168910956</c:v>
                </c:pt>
                <c:pt idx="1">
                  <c:v>0.61072467947503983</c:v>
                </c:pt>
                <c:pt idx="2">
                  <c:v>0.62616944879563163</c:v>
                </c:pt>
                <c:pt idx="3">
                  <c:v>0.63901128339750835</c:v>
                </c:pt>
                <c:pt idx="4">
                  <c:v>0.65448885184491135</c:v>
                </c:pt>
              </c:numCache>
            </c:numRef>
          </c:val>
          <c:smooth val="0"/>
        </c:ser>
        <c:dLbls>
          <c:showLegendKey val="0"/>
          <c:showVal val="1"/>
          <c:showCatName val="0"/>
          <c:showSerName val="0"/>
          <c:showPercent val="0"/>
          <c:showBubbleSize val="0"/>
        </c:dLbls>
        <c:marker val="1"/>
        <c:smooth val="0"/>
        <c:axId val="30585216"/>
        <c:axId val="30586752"/>
      </c:lineChart>
      <c:catAx>
        <c:axId val="30585216"/>
        <c:scaling>
          <c:orientation val="minMax"/>
        </c:scaling>
        <c:delete val="0"/>
        <c:axPos val="b"/>
        <c:majorTickMark val="none"/>
        <c:minorTickMark val="none"/>
        <c:tickLblPos val="nextTo"/>
        <c:txPr>
          <a:bodyPr/>
          <a:lstStyle/>
          <a:p>
            <a:pPr>
              <a:defRPr sz="1400" b="1"/>
            </a:pPr>
            <a:endParaRPr lang="en-US"/>
          </a:p>
        </c:txPr>
        <c:crossAx val="30586752"/>
        <c:crosses val="autoZero"/>
        <c:auto val="1"/>
        <c:lblAlgn val="ctr"/>
        <c:lblOffset val="100"/>
        <c:noMultiLvlLbl val="0"/>
      </c:catAx>
      <c:valAx>
        <c:axId val="30586752"/>
        <c:scaling>
          <c:orientation val="minMax"/>
          <c:min val="0.1"/>
        </c:scaling>
        <c:delete val="1"/>
        <c:axPos val="l"/>
        <c:numFmt formatCode="0.0%" sourceLinked="1"/>
        <c:majorTickMark val="none"/>
        <c:minorTickMark val="none"/>
        <c:tickLblPos val="nextTo"/>
        <c:crossAx val="30585216"/>
        <c:crosses val="autoZero"/>
        <c:crossBetween val="between"/>
        <c:majorUnit val="0.2"/>
        <c:minorUnit val="5.000000000000001E-2"/>
      </c:valAx>
    </c:plotArea>
    <c:legend>
      <c:legendPos val="b"/>
      <c:layout/>
      <c:overlay val="0"/>
      <c:txPr>
        <a:bodyPr/>
        <a:lstStyle/>
        <a:p>
          <a:pPr>
            <a:defRPr sz="1200"/>
          </a:pPr>
          <a:endParaRPr lang="en-US"/>
        </a:p>
      </c:txPr>
    </c:legend>
    <c:plotVisOnly val="1"/>
    <c:dispBlanksAs val="gap"/>
    <c:showDLblsOverMax val="0"/>
  </c:chart>
  <c:spPr>
    <a:noFill/>
    <a:ln>
      <a:noFill/>
    </a:ln>
  </c:spPr>
  <c:externalData r:id="rId2">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lang val="en-AU"/>
  <c:roundedCorners val="0"/>
  <mc:AlternateContent xmlns:mc="http://schemas.openxmlformats.org/markup-compatibility/2006">
    <mc:Choice xmlns:c14="http://schemas.microsoft.com/office/drawing/2007/8/2/chart" Requires="c14">
      <c14:style val="129"/>
    </mc:Choice>
    <mc:Fallback>
      <c:style val="29"/>
    </mc:Fallback>
  </mc:AlternateContent>
  <c:clrMapOvr bg1="lt1" tx1="dk1" bg2="lt2" tx2="dk2" accent1="accent1" accent2="accent2" accent3="accent3" accent4="accent4" accent5="accent5" accent6="accent6" hlink="hlink" folHlink="folHlink"/>
  <c:chart>
    <c:autoTitleDeleted val="1"/>
    <c:plotArea>
      <c:layout/>
      <c:lineChart>
        <c:grouping val="standard"/>
        <c:varyColors val="0"/>
        <c:ser>
          <c:idx val="0"/>
          <c:order val="0"/>
          <c:tx>
            <c:strRef>
              <c:f>Ratios!$D$28</c:f>
              <c:strCache>
                <c:ptCount val="1"/>
                <c:pt idx="0">
                  <c:v>ROA</c:v>
                </c:pt>
              </c:strCache>
            </c:strRef>
          </c:tx>
          <c:marker>
            <c:symbol val="none"/>
          </c:marker>
          <c:dLbls>
            <c:dLbl>
              <c:idx val="1"/>
              <c:layout>
                <c:manualLayout>
                  <c:x val="-2.6030368763557483E-2"/>
                  <c:y val="-7.1813271921990801E-2"/>
                </c:manualLayout>
              </c:layout>
              <c:showLegendKey val="0"/>
              <c:showVal val="1"/>
              <c:showCatName val="0"/>
              <c:showSerName val="0"/>
              <c:showPercent val="0"/>
              <c:showBubbleSize val="0"/>
            </c:dLbl>
            <c:dLbl>
              <c:idx val="2"/>
              <c:layout>
                <c:manualLayout>
                  <c:x val="-2.3138105567606652E-2"/>
                  <c:y val="-5.2663066076126593E-2"/>
                </c:manualLayout>
              </c:layout>
              <c:showLegendKey val="0"/>
              <c:showVal val="1"/>
              <c:showCatName val="0"/>
              <c:showSerName val="0"/>
              <c:showPercent val="0"/>
              <c:showBubbleSize val="0"/>
            </c:dLbl>
            <c:dLbl>
              <c:idx val="3"/>
              <c:layout>
                <c:manualLayout>
                  <c:x val="-2.3138105567606652E-2"/>
                  <c:y val="-8.1388374844922909E-2"/>
                </c:manualLayout>
              </c:layout>
              <c:showLegendKey val="0"/>
              <c:showVal val="1"/>
              <c:showCatName val="0"/>
              <c:showSerName val="0"/>
              <c:showPercent val="0"/>
              <c:showBubbleSize val="0"/>
            </c:dLbl>
            <c:dLbl>
              <c:idx val="4"/>
              <c:spPr/>
              <c:txPr>
                <a:bodyPr/>
                <a:lstStyle/>
                <a:p>
                  <a:pPr>
                    <a:defRPr sz="1200" b="1">
                      <a:solidFill>
                        <a:schemeClr val="accent3">
                          <a:lumMod val="50000"/>
                        </a:schemeClr>
                      </a:solidFill>
                    </a:defRPr>
                  </a:pPr>
                  <a:endParaRPr lang="en-US"/>
                </a:p>
              </c:txPr>
              <c:showLegendKey val="0"/>
              <c:showVal val="1"/>
              <c:showCatName val="0"/>
              <c:showSerName val="0"/>
              <c:showPercent val="0"/>
              <c:showBubbleSize val="0"/>
            </c:dLbl>
            <c:txPr>
              <a:bodyPr/>
              <a:lstStyle/>
              <a:p>
                <a:pPr>
                  <a:defRPr sz="1100" b="1">
                    <a:solidFill>
                      <a:schemeClr val="accent3">
                        <a:lumMod val="50000"/>
                      </a:schemeClr>
                    </a:solidFill>
                  </a:defRPr>
                </a:pPr>
                <a:endParaRPr lang="en-US"/>
              </a:p>
            </c:txPr>
            <c:showLegendKey val="0"/>
            <c:showVal val="1"/>
            <c:showCatName val="0"/>
            <c:showSerName val="0"/>
            <c:showPercent val="0"/>
            <c:showBubbleSize val="0"/>
            <c:showLeaderLines val="0"/>
          </c:dLbls>
          <c:cat>
            <c:strRef>
              <c:f>Ratios!$N$4:$R$4</c:f>
              <c:strCache>
                <c:ptCount val="5"/>
                <c:pt idx="0">
                  <c:v>Q2-17</c:v>
                </c:pt>
                <c:pt idx="1">
                  <c:v>Q3-17</c:v>
                </c:pt>
                <c:pt idx="2">
                  <c:v>Q4-17</c:v>
                </c:pt>
                <c:pt idx="3">
                  <c:v>Q1-18</c:v>
                </c:pt>
                <c:pt idx="4">
                  <c:v>Q2-18</c:v>
                </c:pt>
              </c:strCache>
            </c:strRef>
          </c:cat>
          <c:val>
            <c:numRef>
              <c:f>Ratios!$N$28:$R$28</c:f>
              <c:numCache>
                <c:formatCode>0.0%</c:formatCode>
                <c:ptCount val="5"/>
                <c:pt idx="0">
                  <c:v>3.7404737508641824E-2</c:v>
                </c:pt>
                <c:pt idx="1">
                  <c:v>3.371741280765507E-2</c:v>
                </c:pt>
                <c:pt idx="2">
                  <c:v>3.6169484554878915E-2</c:v>
                </c:pt>
                <c:pt idx="3">
                  <c:v>3.4794053295084289E-2</c:v>
                </c:pt>
                <c:pt idx="4">
                  <c:v>3.8553630702544035E-2</c:v>
                </c:pt>
              </c:numCache>
            </c:numRef>
          </c:val>
          <c:smooth val="1"/>
        </c:ser>
        <c:dLbls>
          <c:showLegendKey val="0"/>
          <c:showVal val="0"/>
          <c:showCatName val="0"/>
          <c:showSerName val="0"/>
          <c:showPercent val="0"/>
          <c:showBubbleSize val="0"/>
        </c:dLbls>
        <c:marker val="1"/>
        <c:smooth val="0"/>
        <c:axId val="30615808"/>
        <c:axId val="30621696"/>
      </c:lineChart>
      <c:catAx>
        <c:axId val="30615808"/>
        <c:scaling>
          <c:orientation val="minMax"/>
        </c:scaling>
        <c:delete val="0"/>
        <c:axPos val="b"/>
        <c:majorTickMark val="none"/>
        <c:minorTickMark val="none"/>
        <c:tickLblPos val="nextTo"/>
        <c:txPr>
          <a:bodyPr/>
          <a:lstStyle/>
          <a:p>
            <a:pPr>
              <a:defRPr sz="1400" b="1"/>
            </a:pPr>
            <a:endParaRPr lang="en-US"/>
          </a:p>
        </c:txPr>
        <c:crossAx val="30621696"/>
        <c:crosses val="autoZero"/>
        <c:auto val="1"/>
        <c:lblAlgn val="ctr"/>
        <c:lblOffset val="100"/>
        <c:noMultiLvlLbl val="0"/>
      </c:catAx>
      <c:valAx>
        <c:axId val="30621696"/>
        <c:scaling>
          <c:orientation val="minMax"/>
          <c:max val="3.9000000000000007E-2"/>
          <c:min val="2.5000000000000005E-2"/>
        </c:scaling>
        <c:delete val="1"/>
        <c:axPos val="l"/>
        <c:numFmt formatCode="0.0%" sourceLinked="1"/>
        <c:majorTickMark val="none"/>
        <c:minorTickMark val="none"/>
        <c:tickLblPos val="nextTo"/>
        <c:crossAx val="30615808"/>
        <c:crosses val="autoZero"/>
        <c:crossBetween val="between"/>
      </c:valAx>
    </c:plotArea>
    <c:legend>
      <c:legendPos val="b"/>
      <c:layout/>
      <c:overlay val="0"/>
    </c:legend>
    <c:plotVisOnly val="1"/>
    <c:dispBlanksAs val="gap"/>
    <c:showDLblsOverMax val="0"/>
  </c:chart>
  <c:spPr>
    <a:ln>
      <a:noFill/>
    </a:ln>
  </c:spPr>
  <c:externalData r:id="rId2">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lang val="en-AU"/>
  <c:roundedCorners val="0"/>
  <mc:AlternateContent xmlns:mc="http://schemas.openxmlformats.org/markup-compatibility/2006">
    <mc:Choice xmlns:c14="http://schemas.microsoft.com/office/drawing/2007/8/2/chart" Requires="c14">
      <c14:style val="105"/>
    </mc:Choice>
    <mc:Fallback>
      <c:style val="5"/>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8.1882274528631213E-3"/>
          <c:y val="3.8683538496311107E-2"/>
          <c:w val="0.95670278816080223"/>
          <c:h val="0.68962374766086254"/>
        </c:manualLayout>
      </c:layout>
      <c:barChart>
        <c:barDir val="col"/>
        <c:grouping val="stacked"/>
        <c:varyColors val="0"/>
        <c:ser>
          <c:idx val="0"/>
          <c:order val="0"/>
          <c:tx>
            <c:strRef>
              <c:f>'Qrt Sum'!$A$18</c:f>
              <c:strCache>
                <c:ptCount val="1"/>
                <c:pt idx="0">
                  <c:v>Tier 1</c:v>
                </c:pt>
              </c:strCache>
            </c:strRef>
          </c:tx>
          <c:invertIfNegative val="0"/>
          <c:dLbls>
            <c:dLbl>
              <c:idx val="1"/>
              <c:layout>
                <c:manualLayout>
                  <c:x val="5.4588859918108116E-3"/>
                  <c:y val="1.6850976991782163E-2"/>
                </c:manualLayout>
              </c:layout>
              <c:showLegendKey val="0"/>
              <c:showVal val="1"/>
              <c:showCatName val="0"/>
              <c:showSerName val="0"/>
              <c:showPercent val="0"/>
              <c:showBubbleSize val="0"/>
            </c:dLbl>
            <c:dLbl>
              <c:idx val="2"/>
              <c:layout>
                <c:manualLayout>
                  <c:x val="0"/>
                  <c:y val="4.2127442479455483E-2"/>
                </c:manualLayout>
              </c:layout>
              <c:showLegendKey val="0"/>
              <c:showVal val="1"/>
              <c:showCatName val="0"/>
              <c:showSerName val="0"/>
              <c:showPercent val="0"/>
              <c:showBubbleSize val="0"/>
            </c:dLbl>
            <c:dLbl>
              <c:idx val="3"/>
              <c:layout>
                <c:manualLayout>
                  <c:x val="0"/>
                  <c:y val="3.791469823150987E-2"/>
                </c:manualLayout>
              </c:layout>
              <c:showLegendKey val="0"/>
              <c:showVal val="1"/>
              <c:showCatName val="0"/>
              <c:showSerName val="0"/>
              <c:showPercent val="0"/>
              <c:showBubbleSize val="0"/>
            </c:dLbl>
            <c:dLbl>
              <c:idx val="4"/>
              <c:spPr/>
              <c:txPr>
                <a:bodyPr/>
                <a:lstStyle/>
                <a:p>
                  <a:pPr>
                    <a:defRPr sz="1400">
                      <a:solidFill>
                        <a:schemeClr val="tx1"/>
                      </a:solidFill>
                    </a:defRPr>
                  </a:pPr>
                  <a:endParaRPr lang="en-US"/>
                </a:p>
              </c:txPr>
              <c:showLegendKey val="0"/>
              <c:showVal val="1"/>
              <c:showCatName val="0"/>
              <c:showSerName val="0"/>
              <c:showPercent val="0"/>
              <c:showBubbleSize val="0"/>
            </c:dLbl>
            <c:txPr>
              <a:bodyPr/>
              <a:lstStyle/>
              <a:p>
                <a:pPr>
                  <a:defRPr sz="1200">
                    <a:solidFill>
                      <a:schemeClr val="tx1"/>
                    </a:solidFill>
                  </a:defRPr>
                </a:pPr>
                <a:endParaRPr lang="en-US"/>
              </a:p>
            </c:txPr>
            <c:showLegendKey val="0"/>
            <c:showVal val="1"/>
            <c:showCatName val="0"/>
            <c:showSerName val="0"/>
            <c:showPercent val="0"/>
            <c:showBubbleSize val="0"/>
            <c:showLeaderLines val="0"/>
          </c:dLbls>
          <c:cat>
            <c:strRef>
              <c:f>'Qrt Sum'!$K$2:$O$2</c:f>
              <c:strCache>
                <c:ptCount val="5"/>
                <c:pt idx="0">
                  <c:v>Q2-17</c:v>
                </c:pt>
                <c:pt idx="1">
                  <c:v>Q3-17</c:v>
                </c:pt>
                <c:pt idx="2">
                  <c:v>Q4-17</c:v>
                </c:pt>
                <c:pt idx="3">
                  <c:v>Q1-18</c:v>
                </c:pt>
                <c:pt idx="4">
                  <c:v>Q2-18</c:v>
                </c:pt>
              </c:strCache>
            </c:strRef>
          </c:cat>
          <c:val>
            <c:numRef>
              <c:f>'Qrt Sum'!$K$18:$O$18</c:f>
              <c:numCache>
                <c:formatCode>0.0%</c:formatCode>
                <c:ptCount val="5"/>
                <c:pt idx="0">
                  <c:v>0.161</c:v>
                </c:pt>
                <c:pt idx="1">
                  <c:v>0.157</c:v>
                </c:pt>
                <c:pt idx="2">
                  <c:v>0.21299999999999999</c:v>
                </c:pt>
                <c:pt idx="3">
                  <c:v>0.20300000000000001</c:v>
                </c:pt>
                <c:pt idx="4">
                  <c:v>0.1575</c:v>
                </c:pt>
              </c:numCache>
            </c:numRef>
          </c:val>
        </c:ser>
        <c:ser>
          <c:idx val="1"/>
          <c:order val="1"/>
          <c:tx>
            <c:strRef>
              <c:f>'Qrt Sum'!$A$19</c:f>
              <c:strCache>
                <c:ptCount val="1"/>
                <c:pt idx="0">
                  <c:v>Tier 2</c:v>
                </c:pt>
              </c:strCache>
            </c:strRef>
          </c:tx>
          <c:spPr>
            <a:solidFill>
              <a:srgbClr val="92D050"/>
            </a:solidFill>
          </c:spPr>
          <c:invertIfNegative val="0"/>
          <c:dLbls>
            <c:dLbl>
              <c:idx val="4"/>
              <c:spPr/>
              <c:txPr>
                <a:bodyPr/>
                <a:lstStyle/>
                <a:p>
                  <a:pPr>
                    <a:defRPr sz="1400" b="1">
                      <a:solidFill>
                        <a:schemeClr val="accent3">
                          <a:lumMod val="75000"/>
                        </a:schemeClr>
                      </a:solidFill>
                    </a:defRPr>
                  </a:pPr>
                  <a:endParaRPr lang="en-US"/>
                </a:p>
              </c:txPr>
              <c:showLegendKey val="0"/>
              <c:showVal val="1"/>
              <c:showCatName val="0"/>
              <c:showSerName val="0"/>
              <c:showPercent val="0"/>
              <c:showBubbleSize val="0"/>
            </c:dLbl>
            <c:txPr>
              <a:bodyPr/>
              <a:lstStyle/>
              <a:p>
                <a:pPr>
                  <a:defRPr sz="1200" b="1">
                    <a:solidFill>
                      <a:schemeClr val="accent3">
                        <a:lumMod val="75000"/>
                      </a:schemeClr>
                    </a:solidFill>
                  </a:defRPr>
                </a:pPr>
                <a:endParaRPr lang="en-US"/>
              </a:p>
            </c:txPr>
            <c:showLegendKey val="0"/>
            <c:showVal val="1"/>
            <c:showCatName val="0"/>
            <c:showSerName val="0"/>
            <c:showPercent val="0"/>
            <c:showBubbleSize val="0"/>
            <c:showLeaderLines val="0"/>
          </c:dLbls>
          <c:cat>
            <c:strRef>
              <c:f>'Qrt Sum'!$K$2:$O$2</c:f>
              <c:strCache>
                <c:ptCount val="5"/>
                <c:pt idx="0">
                  <c:v>Q2-17</c:v>
                </c:pt>
                <c:pt idx="1">
                  <c:v>Q3-17</c:v>
                </c:pt>
                <c:pt idx="2">
                  <c:v>Q4-17</c:v>
                </c:pt>
                <c:pt idx="3">
                  <c:v>Q1-18</c:v>
                </c:pt>
                <c:pt idx="4">
                  <c:v>Q2-18</c:v>
                </c:pt>
              </c:strCache>
            </c:strRef>
          </c:cat>
          <c:val>
            <c:numRef>
              <c:f>'Qrt Sum'!$K$19:$O$19</c:f>
              <c:numCache>
                <c:formatCode>0.0%</c:formatCode>
                <c:ptCount val="5"/>
                <c:pt idx="0">
                  <c:v>6.7000000000000004E-2</c:v>
                </c:pt>
                <c:pt idx="1">
                  <c:v>7.0999999999999994E-2</c:v>
                </c:pt>
                <c:pt idx="2">
                  <c:v>3.2000000000000001E-2</c:v>
                </c:pt>
                <c:pt idx="3">
                  <c:v>4.9000000000000002E-2</c:v>
                </c:pt>
                <c:pt idx="4">
                  <c:v>6.9000000000000006E-2</c:v>
                </c:pt>
              </c:numCache>
            </c:numRef>
          </c:val>
        </c:ser>
        <c:dLbls>
          <c:showLegendKey val="0"/>
          <c:showVal val="1"/>
          <c:showCatName val="0"/>
          <c:showSerName val="0"/>
          <c:showPercent val="0"/>
          <c:showBubbleSize val="0"/>
        </c:dLbls>
        <c:gapWidth val="150"/>
        <c:overlap val="100"/>
        <c:axId val="30802304"/>
        <c:axId val="30803840"/>
      </c:barChart>
      <c:lineChart>
        <c:grouping val="standard"/>
        <c:varyColors val="0"/>
        <c:ser>
          <c:idx val="2"/>
          <c:order val="2"/>
          <c:tx>
            <c:strRef>
              <c:f>'Qrt Sum'!$A$20</c:f>
              <c:strCache>
                <c:ptCount val="1"/>
                <c:pt idx="0">
                  <c:v>BPNG requirement</c:v>
                </c:pt>
              </c:strCache>
            </c:strRef>
          </c:tx>
          <c:spPr>
            <a:ln>
              <a:solidFill>
                <a:schemeClr val="accent6">
                  <a:lumMod val="75000"/>
                </a:schemeClr>
              </a:solidFill>
              <a:prstDash val="sysDash"/>
            </a:ln>
          </c:spPr>
          <c:marker>
            <c:symbol val="none"/>
          </c:marker>
          <c:cat>
            <c:strRef>
              <c:f>'Qrt Sum'!$K$2:$O$2</c:f>
              <c:strCache>
                <c:ptCount val="5"/>
                <c:pt idx="0">
                  <c:v>Q2-17</c:v>
                </c:pt>
                <c:pt idx="1">
                  <c:v>Q3-17</c:v>
                </c:pt>
                <c:pt idx="2">
                  <c:v>Q4-17</c:v>
                </c:pt>
                <c:pt idx="3">
                  <c:v>Q1-18</c:v>
                </c:pt>
                <c:pt idx="4">
                  <c:v>Q2-18</c:v>
                </c:pt>
              </c:strCache>
            </c:strRef>
          </c:cat>
          <c:val>
            <c:numRef>
              <c:f>'Qrt Sum'!$K$20:$O$20</c:f>
              <c:numCache>
                <c:formatCode>0.0%</c:formatCode>
                <c:ptCount val="5"/>
                <c:pt idx="0">
                  <c:v>0.12</c:v>
                </c:pt>
                <c:pt idx="1">
                  <c:v>0.12</c:v>
                </c:pt>
                <c:pt idx="2">
                  <c:v>0.12</c:v>
                </c:pt>
                <c:pt idx="3">
                  <c:v>0.12</c:v>
                </c:pt>
                <c:pt idx="4">
                  <c:v>0.12</c:v>
                </c:pt>
              </c:numCache>
            </c:numRef>
          </c:val>
          <c:smooth val="0"/>
        </c:ser>
        <c:dLbls>
          <c:showLegendKey val="0"/>
          <c:showVal val="0"/>
          <c:showCatName val="0"/>
          <c:showSerName val="0"/>
          <c:showPercent val="0"/>
          <c:showBubbleSize val="0"/>
        </c:dLbls>
        <c:marker val="1"/>
        <c:smooth val="0"/>
        <c:axId val="30802304"/>
        <c:axId val="30803840"/>
      </c:lineChart>
      <c:catAx>
        <c:axId val="30802304"/>
        <c:scaling>
          <c:orientation val="minMax"/>
        </c:scaling>
        <c:delete val="0"/>
        <c:axPos val="b"/>
        <c:majorTickMark val="none"/>
        <c:minorTickMark val="none"/>
        <c:tickLblPos val="nextTo"/>
        <c:txPr>
          <a:bodyPr/>
          <a:lstStyle/>
          <a:p>
            <a:pPr>
              <a:defRPr sz="1200" b="1"/>
            </a:pPr>
            <a:endParaRPr lang="en-US"/>
          </a:p>
        </c:txPr>
        <c:crossAx val="30803840"/>
        <c:crosses val="autoZero"/>
        <c:auto val="1"/>
        <c:lblAlgn val="ctr"/>
        <c:lblOffset val="100"/>
        <c:noMultiLvlLbl val="0"/>
      </c:catAx>
      <c:valAx>
        <c:axId val="30803840"/>
        <c:scaling>
          <c:orientation val="minMax"/>
        </c:scaling>
        <c:delete val="1"/>
        <c:axPos val="l"/>
        <c:numFmt formatCode="0.0%" sourceLinked="1"/>
        <c:majorTickMark val="out"/>
        <c:minorTickMark val="none"/>
        <c:tickLblPos val="nextTo"/>
        <c:crossAx val="30802304"/>
        <c:crosses val="autoZero"/>
        <c:crossBetween val="between"/>
      </c:valAx>
    </c:plotArea>
    <c:legend>
      <c:legendPos val="b"/>
      <c:layout>
        <c:manualLayout>
          <c:xMode val="edge"/>
          <c:yMode val="edge"/>
          <c:x val="0.11710270972756762"/>
          <c:y val="0.87450946185019207"/>
          <c:w val="0.81046283522074292"/>
          <c:h val="0.12549053814980793"/>
        </c:manualLayout>
      </c:layout>
      <c:overlay val="0"/>
      <c:txPr>
        <a:bodyPr/>
        <a:lstStyle/>
        <a:p>
          <a:pPr>
            <a:defRPr sz="1100"/>
          </a:pPr>
          <a:endParaRPr lang="en-US"/>
        </a:p>
      </c:txPr>
    </c:legend>
    <c:plotVisOnly val="1"/>
    <c:dispBlanksAs val="gap"/>
    <c:showDLblsOverMax val="0"/>
  </c:chart>
  <c:spPr>
    <a:noFill/>
    <a:ln>
      <a:noFill/>
    </a:ln>
  </c:spPr>
  <c:externalData r:id="rId2">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lang val="en-AU"/>
  <c:roundedCorners val="0"/>
  <mc:AlternateContent xmlns:mc="http://schemas.openxmlformats.org/markup-compatibility/2006">
    <mc:Choice xmlns:c14="http://schemas.microsoft.com/office/drawing/2007/8/2/chart" Requires="c14">
      <c14:style val="105"/>
    </mc:Choice>
    <mc:Fallback>
      <c:style val="5"/>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6.9723135235742528E-2"/>
          <c:y val="0.23171163840311107"/>
          <c:w val="0.88027662060863632"/>
          <c:h val="0.62548995025393439"/>
        </c:manualLayout>
      </c:layout>
      <c:barChart>
        <c:barDir val="col"/>
        <c:grouping val="clustered"/>
        <c:varyColors val="0"/>
        <c:ser>
          <c:idx val="0"/>
          <c:order val="0"/>
          <c:tx>
            <c:strRef>
              <c:f>'Qrt Sum'!$A$24</c:f>
              <c:strCache>
                <c:ptCount val="1"/>
                <c:pt idx="0">
                  <c:v>    Provisions to loans</c:v>
                </c:pt>
              </c:strCache>
            </c:strRef>
          </c:tx>
          <c:spPr>
            <a:solidFill>
              <a:srgbClr val="92D050"/>
            </a:solidFill>
          </c:spPr>
          <c:invertIfNegative val="0"/>
          <c:dPt>
            <c:idx val="4"/>
            <c:invertIfNegative val="0"/>
            <c:bubble3D val="0"/>
            <c:spPr>
              <a:solidFill>
                <a:schemeClr val="accent3">
                  <a:lumMod val="75000"/>
                </a:schemeClr>
              </a:solidFill>
            </c:spPr>
          </c:dPt>
          <c:dLbls>
            <c:txPr>
              <a:bodyPr/>
              <a:lstStyle/>
              <a:p>
                <a:pPr>
                  <a:defRPr sz="1400" b="1">
                    <a:solidFill>
                      <a:schemeClr val="accent3">
                        <a:lumMod val="50000"/>
                      </a:schemeClr>
                    </a:solidFill>
                  </a:defRPr>
                </a:pPr>
                <a:endParaRPr lang="en-US"/>
              </a:p>
            </c:txPr>
            <c:showLegendKey val="0"/>
            <c:showVal val="1"/>
            <c:showCatName val="0"/>
            <c:showSerName val="0"/>
            <c:showPercent val="0"/>
            <c:showBubbleSize val="0"/>
            <c:showLeaderLines val="0"/>
          </c:dLbls>
          <c:cat>
            <c:strRef>
              <c:f>'Qrt Sum'!$K$2:$O$2</c:f>
              <c:strCache>
                <c:ptCount val="5"/>
                <c:pt idx="0">
                  <c:v>Q2-17</c:v>
                </c:pt>
                <c:pt idx="1">
                  <c:v>Q3-17</c:v>
                </c:pt>
                <c:pt idx="2">
                  <c:v>Q4-17</c:v>
                </c:pt>
                <c:pt idx="3">
                  <c:v>Q1-18</c:v>
                </c:pt>
                <c:pt idx="4">
                  <c:v>Q2-18</c:v>
                </c:pt>
              </c:strCache>
            </c:strRef>
          </c:cat>
          <c:val>
            <c:numRef>
              <c:f>'Qrt Sum'!$K$24:$O$24</c:f>
              <c:numCache>
                <c:formatCode>0.0%</c:formatCode>
                <c:ptCount val="5"/>
                <c:pt idx="0">
                  <c:v>4.8516140671285964E-2</c:v>
                </c:pt>
                <c:pt idx="1">
                  <c:v>4.9122970234064839E-2</c:v>
                </c:pt>
                <c:pt idx="2">
                  <c:v>4.8969382733088922E-2</c:v>
                </c:pt>
                <c:pt idx="3">
                  <c:v>4.7920979699781971E-2</c:v>
                </c:pt>
                <c:pt idx="4">
                  <c:v>4.6880182784896432E-2</c:v>
                </c:pt>
              </c:numCache>
            </c:numRef>
          </c:val>
        </c:ser>
        <c:dLbls>
          <c:showLegendKey val="0"/>
          <c:showVal val="1"/>
          <c:showCatName val="0"/>
          <c:showSerName val="0"/>
          <c:showPercent val="0"/>
          <c:showBubbleSize val="0"/>
        </c:dLbls>
        <c:gapWidth val="150"/>
        <c:overlap val="-25"/>
        <c:axId val="30839552"/>
        <c:axId val="30851072"/>
      </c:barChart>
      <c:catAx>
        <c:axId val="30839552"/>
        <c:scaling>
          <c:orientation val="minMax"/>
        </c:scaling>
        <c:delete val="0"/>
        <c:axPos val="b"/>
        <c:majorTickMark val="none"/>
        <c:minorTickMark val="none"/>
        <c:tickLblPos val="nextTo"/>
        <c:txPr>
          <a:bodyPr/>
          <a:lstStyle/>
          <a:p>
            <a:pPr>
              <a:defRPr sz="1200" b="1"/>
            </a:pPr>
            <a:endParaRPr lang="en-US"/>
          </a:p>
        </c:txPr>
        <c:crossAx val="30851072"/>
        <c:crosses val="autoZero"/>
        <c:auto val="1"/>
        <c:lblAlgn val="ctr"/>
        <c:lblOffset val="100"/>
        <c:noMultiLvlLbl val="0"/>
      </c:catAx>
      <c:valAx>
        <c:axId val="30851072"/>
        <c:scaling>
          <c:orientation val="minMax"/>
          <c:max val="4.9500000000000009E-2"/>
          <c:min val="2.0000000000000004E-2"/>
        </c:scaling>
        <c:delete val="1"/>
        <c:axPos val="l"/>
        <c:numFmt formatCode="0.0%" sourceLinked="1"/>
        <c:majorTickMark val="none"/>
        <c:minorTickMark val="none"/>
        <c:tickLblPos val="nextTo"/>
        <c:crossAx val="30839552"/>
        <c:crosses val="autoZero"/>
        <c:crossBetween val="between"/>
        <c:majorUnit val="5.000000000000001E-3"/>
        <c:minorUnit val="5.0000000000000012E-4"/>
      </c:valAx>
    </c:plotArea>
    <c:plotVisOnly val="1"/>
    <c:dispBlanksAs val="gap"/>
    <c:showDLblsOverMax val="0"/>
  </c:chart>
  <c:spPr>
    <a:noFill/>
    <a:ln>
      <a:noFill/>
    </a:ln>
  </c:spPr>
  <c:externalData r:id="rId2">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lang val="en-AU"/>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3.9800605394025836E-2"/>
          <c:y val="4.701183417817676E-2"/>
          <c:w val="0.70200522811660382"/>
          <c:h val="0.7096436824207728"/>
        </c:manualLayout>
      </c:layout>
      <c:barChart>
        <c:barDir val="col"/>
        <c:grouping val="percentStacked"/>
        <c:varyColors val="0"/>
        <c:ser>
          <c:idx val="0"/>
          <c:order val="0"/>
          <c:tx>
            <c:strRef>
              <c:f>'trans %'!$T$16</c:f>
              <c:strCache>
                <c:ptCount val="1"/>
                <c:pt idx="0">
                  <c:v>ATM </c:v>
                </c:pt>
              </c:strCache>
            </c:strRef>
          </c:tx>
          <c:spPr>
            <a:solidFill>
              <a:schemeClr val="accent3">
                <a:lumMod val="50000"/>
              </a:schemeClr>
            </a:solidFill>
          </c:spPr>
          <c:invertIfNegative val="0"/>
          <c:dLbls>
            <c:txPr>
              <a:bodyPr/>
              <a:lstStyle/>
              <a:p>
                <a:pPr>
                  <a:defRPr sz="1400" b="1">
                    <a:solidFill>
                      <a:schemeClr val="bg1"/>
                    </a:solidFill>
                  </a:defRPr>
                </a:pPr>
                <a:endParaRPr lang="en-US"/>
              </a:p>
            </c:txPr>
            <c:showLegendKey val="0"/>
            <c:showVal val="1"/>
            <c:showCatName val="0"/>
            <c:showSerName val="0"/>
            <c:showPercent val="0"/>
            <c:showBubbleSize val="0"/>
            <c:showLeaderLines val="0"/>
          </c:dLbls>
          <c:cat>
            <c:strRef>
              <c:f>'trans %'!$Z$15:$AD$15</c:f>
              <c:strCache>
                <c:ptCount val="5"/>
                <c:pt idx="0">
                  <c:v>Q2-17</c:v>
                </c:pt>
                <c:pt idx="1">
                  <c:v>Q3-17</c:v>
                </c:pt>
                <c:pt idx="2">
                  <c:v>Q4-17</c:v>
                </c:pt>
                <c:pt idx="3">
                  <c:v>Q1-18</c:v>
                </c:pt>
                <c:pt idx="4">
                  <c:v>Q2-18</c:v>
                </c:pt>
              </c:strCache>
            </c:strRef>
          </c:cat>
          <c:val>
            <c:numRef>
              <c:f>'trans %'!$Z$16:$AD$16</c:f>
              <c:numCache>
                <c:formatCode>0%</c:formatCode>
                <c:ptCount val="5"/>
                <c:pt idx="0">
                  <c:v>0.3024625249798476</c:v>
                </c:pt>
                <c:pt idx="1">
                  <c:v>0.28159159903181968</c:v>
                </c:pt>
                <c:pt idx="2">
                  <c:v>0.25069143704473867</c:v>
                </c:pt>
                <c:pt idx="3">
                  <c:v>0.26715692338836655</c:v>
                </c:pt>
                <c:pt idx="4">
                  <c:v>0.26123935552576455</c:v>
                </c:pt>
              </c:numCache>
            </c:numRef>
          </c:val>
        </c:ser>
        <c:ser>
          <c:idx val="1"/>
          <c:order val="1"/>
          <c:tx>
            <c:strRef>
              <c:f>'trans %'!$T$17</c:f>
              <c:strCache>
                <c:ptCount val="1"/>
                <c:pt idx="0">
                  <c:v>EftPOS </c:v>
                </c:pt>
              </c:strCache>
            </c:strRef>
          </c:tx>
          <c:spPr>
            <a:solidFill>
              <a:schemeClr val="accent3">
                <a:lumMod val="75000"/>
              </a:schemeClr>
            </a:solidFill>
          </c:spPr>
          <c:invertIfNegative val="0"/>
          <c:dLbls>
            <c:txPr>
              <a:bodyPr/>
              <a:lstStyle/>
              <a:p>
                <a:pPr>
                  <a:defRPr sz="1600" b="1">
                    <a:solidFill>
                      <a:schemeClr val="bg1"/>
                    </a:solidFill>
                  </a:defRPr>
                </a:pPr>
                <a:endParaRPr lang="en-US"/>
              </a:p>
            </c:txPr>
            <c:showLegendKey val="0"/>
            <c:showVal val="1"/>
            <c:showCatName val="0"/>
            <c:showSerName val="0"/>
            <c:showPercent val="0"/>
            <c:showBubbleSize val="0"/>
            <c:showLeaderLines val="0"/>
          </c:dLbls>
          <c:cat>
            <c:strRef>
              <c:f>'trans %'!$Z$15:$AD$15</c:f>
              <c:strCache>
                <c:ptCount val="5"/>
                <c:pt idx="0">
                  <c:v>Q2-17</c:v>
                </c:pt>
                <c:pt idx="1">
                  <c:v>Q3-17</c:v>
                </c:pt>
                <c:pt idx="2">
                  <c:v>Q4-17</c:v>
                </c:pt>
                <c:pt idx="3">
                  <c:v>Q1-18</c:v>
                </c:pt>
                <c:pt idx="4">
                  <c:v>Q2-18</c:v>
                </c:pt>
              </c:strCache>
            </c:strRef>
          </c:cat>
          <c:val>
            <c:numRef>
              <c:f>'trans %'!$Z$17:$AD$17</c:f>
              <c:numCache>
                <c:formatCode>0%</c:formatCode>
                <c:ptCount val="5"/>
                <c:pt idx="0">
                  <c:v>0.18496795914981362</c:v>
                </c:pt>
                <c:pt idx="1">
                  <c:v>0.18157607980911944</c:v>
                </c:pt>
                <c:pt idx="2">
                  <c:v>0.19854562694045164</c:v>
                </c:pt>
                <c:pt idx="3">
                  <c:v>0.19777411639449968</c:v>
                </c:pt>
                <c:pt idx="4">
                  <c:v>0.18564937281658062</c:v>
                </c:pt>
              </c:numCache>
            </c:numRef>
          </c:val>
        </c:ser>
        <c:ser>
          <c:idx val="2"/>
          <c:order val="2"/>
          <c:tx>
            <c:strRef>
              <c:f>'trans %'!$T$18</c:f>
              <c:strCache>
                <c:ptCount val="1"/>
                <c:pt idx="0">
                  <c:v>Mobile </c:v>
                </c:pt>
              </c:strCache>
            </c:strRef>
          </c:tx>
          <c:spPr>
            <a:solidFill>
              <a:schemeClr val="accent3"/>
            </a:solidFill>
          </c:spPr>
          <c:invertIfNegative val="0"/>
          <c:dLbls>
            <c:txPr>
              <a:bodyPr/>
              <a:lstStyle/>
              <a:p>
                <a:pPr>
                  <a:defRPr sz="1400" b="1">
                    <a:solidFill>
                      <a:schemeClr val="bg1"/>
                    </a:solidFill>
                  </a:defRPr>
                </a:pPr>
                <a:endParaRPr lang="en-US"/>
              </a:p>
            </c:txPr>
            <c:showLegendKey val="0"/>
            <c:showVal val="1"/>
            <c:showCatName val="0"/>
            <c:showSerName val="0"/>
            <c:showPercent val="0"/>
            <c:showBubbleSize val="0"/>
            <c:showLeaderLines val="0"/>
          </c:dLbls>
          <c:cat>
            <c:strRef>
              <c:f>'trans %'!$Z$15:$AD$15</c:f>
              <c:strCache>
                <c:ptCount val="5"/>
                <c:pt idx="0">
                  <c:v>Q2-17</c:v>
                </c:pt>
                <c:pt idx="1">
                  <c:v>Q3-17</c:v>
                </c:pt>
                <c:pt idx="2">
                  <c:v>Q4-17</c:v>
                </c:pt>
                <c:pt idx="3">
                  <c:v>Q1-18</c:v>
                </c:pt>
                <c:pt idx="4">
                  <c:v>Q2-18</c:v>
                </c:pt>
              </c:strCache>
            </c:strRef>
          </c:cat>
          <c:val>
            <c:numRef>
              <c:f>'trans %'!$Z$18:$AD$18</c:f>
              <c:numCache>
                <c:formatCode>0%</c:formatCode>
                <c:ptCount val="5"/>
                <c:pt idx="0">
                  <c:v>0.26625467929703173</c:v>
                </c:pt>
                <c:pt idx="1">
                  <c:v>0.3112893832077705</c:v>
                </c:pt>
                <c:pt idx="2">
                  <c:v>0.33787119100703067</c:v>
                </c:pt>
                <c:pt idx="3">
                  <c:v>0.31156634726408444</c:v>
                </c:pt>
                <c:pt idx="4">
                  <c:v>0.3347255739341673</c:v>
                </c:pt>
              </c:numCache>
            </c:numRef>
          </c:val>
        </c:ser>
        <c:ser>
          <c:idx val="3"/>
          <c:order val="3"/>
          <c:tx>
            <c:strRef>
              <c:f>'trans %'!$T$19</c:f>
              <c:strCache>
                <c:ptCount val="1"/>
                <c:pt idx="0">
                  <c:v>Kundupei</c:v>
                </c:pt>
              </c:strCache>
            </c:strRef>
          </c:tx>
          <c:spPr>
            <a:solidFill>
              <a:schemeClr val="accent3">
                <a:lumMod val="60000"/>
                <a:lumOff val="40000"/>
              </a:schemeClr>
            </a:solidFill>
          </c:spPr>
          <c:invertIfNegative val="0"/>
          <c:dLbls>
            <c:txPr>
              <a:bodyPr/>
              <a:lstStyle/>
              <a:p>
                <a:pPr>
                  <a:defRPr sz="1400">
                    <a:solidFill>
                      <a:schemeClr val="accent3">
                        <a:lumMod val="50000"/>
                      </a:schemeClr>
                    </a:solidFill>
                  </a:defRPr>
                </a:pPr>
                <a:endParaRPr lang="en-US"/>
              </a:p>
            </c:txPr>
            <c:showLegendKey val="0"/>
            <c:showVal val="1"/>
            <c:showCatName val="0"/>
            <c:showSerName val="0"/>
            <c:showPercent val="0"/>
            <c:showBubbleSize val="0"/>
            <c:showLeaderLines val="0"/>
          </c:dLbls>
          <c:cat>
            <c:strRef>
              <c:f>'trans %'!$Z$15:$AD$15</c:f>
              <c:strCache>
                <c:ptCount val="5"/>
                <c:pt idx="0">
                  <c:v>Q2-17</c:v>
                </c:pt>
                <c:pt idx="1">
                  <c:v>Q3-17</c:v>
                </c:pt>
                <c:pt idx="2">
                  <c:v>Q4-17</c:v>
                </c:pt>
                <c:pt idx="3">
                  <c:v>Q1-18</c:v>
                </c:pt>
                <c:pt idx="4">
                  <c:v>Q2-18</c:v>
                </c:pt>
              </c:strCache>
            </c:strRef>
          </c:cat>
          <c:val>
            <c:numRef>
              <c:f>'trans %'!$Z$19:$AD$19</c:f>
              <c:numCache>
                <c:formatCode>0%</c:formatCode>
                <c:ptCount val="5"/>
                <c:pt idx="0">
                  <c:v>9.0246896340401853E-2</c:v>
                </c:pt>
                <c:pt idx="1">
                  <c:v>7.9485916452176522E-2</c:v>
                </c:pt>
                <c:pt idx="2">
                  <c:v>7.9836748154413884E-2</c:v>
                </c:pt>
                <c:pt idx="3">
                  <c:v>8.6391181939508455E-2</c:v>
                </c:pt>
                <c:pt idx="4">
                  <c:v>7.0753015190452531E-2</c:v>
                </c:pt>
              </c:numCache>
            </c:numRef>
          </c:val>
        </c:ser>
        <c:ser>
          <c:idx val="4"/>
          <c:order val="4"/>
          <c:tx>
            <c:strRef>
              <c:f>'trans %'!$T$20</c:f>
              <c:strCache>
                <c:ptCount val="1"/>
                <c:pt idx="0">
                  <c:v>Internet Banking </c:v>
                </c:pt>
              </c:strCache>
            </c:strRef>
          </c:tx>
          <c:spPr>
            <a:solidFill>
              <a:srgbClr val="9BBB59">
                <a:lumMod val="75000"/>
              </a:srgbClr>
            </a:solidFill>
          </c:spPr>
          <c:invertIfNegative val="0"/>
          <c:dLbls>
            <c:delete val="1"/>
          </c:dLbls>
          <c:cat>
            <c:strRef>
              <c:f>'trans %'!$Z$15:$AD$15</c:f>
              <c:strCache>
                <c:ptCount val="5"/>
                <c:pt idx="0">
                  <c:v>Q2-17</c:v>
                </c:pt>
                <c:pt idx="1">
                  <c:v>Q3-17</c:v>
                </c:pt>
                <c:pt idx="2">
                  <c:v>Q4-17</c:v>
                </c:pt>
                <c:pt idx="3">
                  <c:v>Q1-18</c:v>
                </c:pt>
                <c:pt idx="4">
                  <c:v>Q2-18</c:v>
                </c:pt>
              </c:strCache>
            </c:strRef>
          </c:cat>
          <c:val>
            <c:numRef>
              <c:f>'trans %'!$Z$20:$AD$20</c:f>
              <c:numCache>
                <c:formatCode>0%</c:formatCode>
                <c:ptCount val="5"/>
                <c:pt idx="0">
                  <c:v>9.4965679861524349E-3</c:v>
                </c:pt>
                <c:pt idx="1">
                  <c:v>9.6560681922082149E-3</c:v>
                </c:pt>
                <c:pt idx="2">
                  <c:v>9.744135894183362E-3</c:v>
                </c:pt>
                <c:pt idx="3">
                  <c:v>9.7669898181054777E-3</c:v>
                </c:pt>
                <c:pt idx="4">
                  <c:v>1.0411897905867825E-2</c:v>
                </c:pt>
              </c:numCache>
            </c:numRef>
          </c:val>
        </c:ser>
        <c:ser>
          <c:idx val="5"/>
          <c:order val="5"/>
          <c:tx>
            <c:strRef>
              <c:f>'trans %'!$T$21</c:f>
              <c:strCache>
                <c:ptCount val="1"/>
                <c:pt idx="0">
                  <c:v>Tablet </c:v>
                </c:pt>
              </c:strCache>
            </c:strRef>
          </c:tx>
          <c:spPr>
            <a:solidFill>
              <a:schemeClr val="accent3">
                <a:lumMod val="60000"/>
                <a:lumOff val="40000"/>
              </a:schemeClr>
            </a:solidFill>
          </c:spPr>
          <c:invertIfNegative val="0"/>
          <c:dLbls>
            <c:delete val="1"/>
          </c:dLbls>
          <c:cat>
            <c:strRef>
              <c:f>'trans %'!$Z$15:$AD$15</c:f>
              <c:strCache>
                <c:ptCount val="5"/>
                <c:pt idx="0">
                  <c:v>Q2-17</c:v>
                </c:pt>
                <c:pt idx="1">
                  <c:v>Q3-17</c:v>
                </c:pt>
                <c:pt idx="2">
                  <c:v>Q4-17</c:v>
                </c:pt>
                <c:pt idx="3">
                  <c:v>Q1-18</c:v>
                </c:pt>
                <c:pt idx="4">
                  <c:v>Q2-18</c:v>
                </c:pt>
              </c:strCache>
            </c:strRef>
          </c:cat>
          <c:val>
            <c:numRef>
              <c:f>'trans %'!$Z$21:$AD$21</c:f>
              <c:numCache>
                <c:formatCode>0%</c:formatCode>
                <c:ptCount val="5"/>
                <c:pt idx="0">
                  <c:v>1.5070757527976729E-2</c:v>
                </c:pt>
                <c:pt idx="1">
                  <c:v>1.463611434672879E-2</c:v>
                </c:pt>
                <c:pt idx="2">
                  <c:v>1.2572476692521432E-2</c:v>
                </c:pt>
                <c:pt idx="3">
                  <c:v>1.4343125346769235E-2</c:v>
                </c:pt>
                <c:pt idx="4">
                  <c:v>1.61865723765235E-2</c:v>
                </c:pt>
              </c:numCache>
            </c:numRef>
          </c:val>
        </c:ser>
        <c:ser>
          <c:idx val="6"/>
          <c:order val="6"/>
          <c:tx>
            <c:strRef>
              <c:f>'trans %'!$T$22</c:f>
              <c:strCache>
                <c:ptCount val="1"/>
                <c:pt idx="0">
                  <c:v>Rural Branch </c:v>
                </c:pt>
              </c:strCache>
            </c:strRef>
          </c:tx>
          <c:spPr>
            <a:solidFill>
              <a:srgbClr val="92D050"/>
            </a:solidFill>
          </c:spPr>
          <c:invertIfNegative val="0"/>
          <c:dLbls>
            <c:txPr>
              <a:bodyPr/>
              <a:lstStyle/>
              <a:p>
                <a:pPr>
                  <a:defRPr sz="1200" b="1">
                    <a:solidFill>
                      <a:schemeClr val="accent3">
                        <a:lumMod val="50000"/>
                      </a:schemeClr>
                    </a:solidFill>
                  </a:defRPr>
                </a:pPr>
                <a:endParaRPr lang="en-US"/>
              </a:p>
            </c:txPr>
            <c:showLegendKey val="0"/>
            <c:showVal val="1"/>
            <c:showCatName val="0"/>
            <c:showSerName val="0"/>
            <c:showPercent val="0"/>
            <c:showBubbleSize val="0"/>
            <c:showLeaderLines val="0"/>
          </c:dLbls>
          <c:cat>
            <c:strRef>
              <c:f>'trans %'!$Z$15:$AD$15</c:f>
              <c:strCache>
                <c:ptCount val="5"/>
                <c:pt idx="0">
                  <c:v>Q2-17</c:v>
                </c:pt>
                <c:pt idx="1">
                  <c:v>Q3-17</c:v>
                </c:pt>
                <c:pt idx="2">
                  <c:v>Q4-17</c:v>
                </c:pt>
                <c:pt idx="3">
                  <c:v>Q1-18</c:v>
                </c:pt>
                <c:pt idx="4">
                  <c:v>Q2-18</c:v>
                </c:pt>
              </c:strCache>
            </c:strRef>
          </c:cat>
          <c:val>
            <c:numRef>
              <c:f>'trans %'!$Z$22:$AD$22</c:f>
              <c:numCache>
                <c:formatCode>0%</c:formatCode>
                <c:ptCount val="5"/>
                <c:pt idx="0">
                  <c:v>4.0909510316928736E-2</c:v>
                </c:pt>
                <c:pt idx="1">
                  <c:v>3.9896046649256958E-2</c:v>
                </c:pt>
                <c:pt idx="2">
                  <c:v>3.6265483516036076E-2</c:v>
                </c:pt>
                <c:pt idx="3">
                  <c:v>3.6999996251143398E-2</c:v>
                </c:pt>
                <c:pt idx="4">
                  <c:v>3.5945933267472134E-2</c:v>
                </c:pt>
              </c:numCache>
            </c:numRef>
          </c:val>
        </c:ser>
        <c:ser>
          <c:idx val="7"/>
          <c:order val="7"/>
          <c:tx>
            <c:strRef>
              <c:f>'trans %'!$T$23</c:f>
              <c:strCache>
                <c:ptCount val="1"/>
                <c:pt idx="0">
                  <c:v>Network Branch </c:v>
                </c:pt>
              </c:strCache>
            </c:strRef>
          </c:tx>
          <c:spPr>
            <a:solidFill>
              <a:srgbClr val="92B350"/>
            </a:solidFill>
          </c:spPr>
          <c:invertIfNegative val="0"/>
          <c:dLbls>
            <c:txPr>
              <a:bodyPr/>
              <a:lstStyle/>
              <a:p>
                <a:pPr>
                  <a:defRPr sz="1200" b="1">
                    <a:solidFill>
                      <a:schemeClr val="accent3">
                        <a:lumMod val="50000"/>
                      </a:schemeClr>
                    </a:solidFill>
                  </a:defRPr>
                </a:pPr>
                <a:endParaRPr lang="en-US"/>
              </a:p>
            </c:txPr>
            <c:showLegendKey val="0"/>
            <c:showVal val="1"/>
            <c:showCatName val="0"/>
            <c:showSerName val="0"/>
            <c:showPercent val="0"/>
            <c:showBubbleSize val="0"/>
            <c:showLeaderLines val="0"/>
          </c:dLbls>
          <c:cat>
            <c:strRef>
              <c:f>'trans %'!$Z$15:$AD$15</c:f>
              <c:strCache>
                <c:ptCount val="5"/>
                <c:pt idx="0">
                  <c:v>Q2-17</c:v>
                </c:pt>
                <c:pt idx="1">
                  <c:v>Q3-17</c:v>
                </c:pt>
                <c:pt idx="2">
                  <c:v>Q4-17</c:v>
                </c:pt>
                <c:pt idx="3">
                  <c:v>Q1-18</c:v>
                </c:pt>
                <c:pt idx="4">
                  <c:v>Q2-18</c:v>
                </c:pt>
              </c:strCache>
            </c:strRef>
          </c:cat>
          <c:val>
            <c:numRef>
              <c:f>'trans %'!$Z$23:$AD$23</c:f>
              <c:numCache>
                <c:formatCode>0%</c:formatCode>
                <c:ptCount val="5"/>
                <c:pt idx="0">
                  <c:v>9.0591104401847242E-2</c:v>
                </c:pt>
                <c:pt idx="1">
                  <c:v>8.1868792310919897E-2</c:v>
                </c:pt>
                <c:pt idx="2">
                  <c:v>7.4472900750624293E-2</c:v>
                </c:pt>
                <c:pt idx="3">
                  <c:v>7.6001319597522751E-2</c:v>
                </c:pt>
                <c:pt idx="4">
                  <c:v>8.5088278983171589E-2</c:v>
                </c:pt>
              </c:numCache>
            </c:numRef>
          </c:val>
        </c:ser>
        <c:dLbls>
          <c:showLegendKey val="0"/>
          <c:showVal val="1"/>
          <c:showCatName val="0"/>
          <c:showSerName val="0"/>
          <c:showPercent val="0"/>
          <c:showBubbleSize val="0"/>
        </c:dLbls>
        <c:gapWidth val="75"/>
        <c:overlap val="100"/>
        <c:axId val="30873472"/>
        <c:axId val="30875008"/>
      </c:barChart>
      <c:catAx>
        <c:axId val="30873472"/>
        <c:scaling>
          <c:orientation val="minMax"/>
        </c:scaling>
        <c:delete val="0"/>
        <c:axPos val="b"/>
        <c:majorTickMark val="none"/>
        <c:minorTickMark val="none"/>
        <c:tickLblPos val="nextTo"/>
        <c:txPr>
          <a:bodyPr/>
          <a:lstStyle/>
          <a:p>
            <a:pPr>
              <a:defRPr sz="1400" b="1"/>
            </a:pPr>
            <a:endParaRPr lang="en-US"/>
          </a:p>
        </c:txPr>
        <c:crossAx val="30875008"/>
        <c:crosses val="autoZero"/>
        <c:auto val="1"/>
        <c:lblAlgn val="ctr"/>
        <c:lblOffset val="100"/>
        <c:noMultiLvlLbl val="0"/>
      </c:catAx>
      <c:valAx>
        <c:axId val="30875008"/>
        <c:scaling>
          <c:orientation val="minMax"/>
        </c:scaling>
        <c:delete val="1"/>
        <c:axPos val="l"/>
        <c:numFmt formatCode="0%" sourceLinked="1"/>
        <c:majorTickMark val="none"/>
        <c:minorTickMark val="none"/>
        <c:tickLblPos val="nextTo"/>
        <c:crossAx val="30873472"/>
        <c:crosses val="autoZero"/>
        <c:crossBetween val="between"/>
      </c:valAx>
    </c:plotArea>
    <c:legend>
      <c:legendPos val="r"/>
      <c:layout>
        <c:manualLayout>
          <c:xMode val="edge"/>
          <c:yMode val="edge"/>
          <c:x val="0.75932781276138073"/>
          <c:y val="0.10799799521736944"/>
          <c:w val="0.2298904290750364"/>
          <c:h val="0.61863894464172375"/>
        </c:manualLayout>
      </c:layout>
      <c:overlay val="0"/>
      <c:txPr>
        <a:bodyPr/>
        <a:lstStyle/>
        <a:p>
          <a:pPr>
            <a:defRPr sz="1200" b="1">
              <a:solidFill>
                <a:schemeClr val="accent3">
                  <a:lumMod val="50000"/>
                </a:schemeClr>
              </a:solidFill>
            </a:defRPr>
          </a:pPr>
          <a:endParaRPr lang="en-US"/>
        </a:p>
      </c:txPr>
    </c:legend>
    <c:plotVisOnly val="1"/>
    <c:dispBlanksAs val="gap"/>
    <c:showDLblsOverMax val="0"/>
  </c:chart>
  <c:spPr>
    <a:noFill/>
    <a:ln>
      <a:noFill/>
    </a:ln>
  </c:spPr>
  <c:externalData r:id="rId2">
    <c:autoUpdate val="0"/>
  </c:externalData>
  <c:userShapes r:id="rId3"/>
</c:chartSpace>
</file>

<file path=ppt/charts/chart23.xml><?xml version="1.0" encoding="utf-8"?>
<c:chartSpace xmlns:c="http://schemas.openxmlformats.org/drawingml/2006/chart" xmlns:a="http://schemas.openxmlformats.org/drawingml/2006/main" xmlns:r="http://schemas.openxmlformats.org/officeDocument/2006/relationships">
  <c:date1904 val="0"/>
  <c:lang val="en-A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0372722000659525"/>
          <c:y val="6.5717038698705307E-2"/>
          <c:w val="0.8442044950259443"/>
          <c:h val="0.8243990090333887"/>
        </c:manualLayout>
      </c:layout>
      <c:lineChart>
        <c:grouping val="standard"/>
        <c:varyColors val="0"/>
        <c:ser>
          <c:idx val="0"/>
          <c:order val="0"/>
          <c:spPr>
            <a:ln w="15875">
              <a:solidFill>
                <a:srgbClr val="C00000"/>
              </a:solidFill>
            </a:ln>
          </c:spPr>
          <c:marker>
            <c:symbol val="none"/>
          </c:marker>
          <c:cat>
            <c:numRef>
              <c:f>'Share price '!$A$2808:$A$3081</c:f>
              <c:numCache>
                <c:formatCode>dd\ mmm\ yy</c:formatCode>
                <c:ptCount val="274"/>
                <c:pt idx="0">
                  <c:v>42887</c:v>
                </c:pt>
                <c:pt idx="1">
                  <c:v>42888</c:v>
                </c:pt>
                <c:pt idx="2">
                  <c:v>42891</c:v>
                </c:pt>
                <c:pt idx="3">
                  <c:v>42892</c:v>
                </c:pt>
                <c:pt idx="4">
                  <c:v>42893</c:v>
                </c:pt>
                <c:pt idx="5">
                  <c:v>42894</c:v>
                </c:pt>
                <c:pt idx="6">
                  <c:v>42895</c:v>
                </c:pt>
                <c:pt idx="7">
                  <c:v>42899</c:v>
                </c:pt>
                <c:pt idx="8">
                  <c:v>42900</c:v>
                </c:pt>
                <c:pt idx="9">
                  <c:v>42901</c:v>
                </c:pt>
                <c:pt idx="10">
                  <c:v>42902</c:v>
                </c:pt>
                <c:pt idx="11">
                  <c:v>42905</c:v>
                </c:pt>
                <c:pt idx="12">
                  <c:v>42906</c:v>
                </c:pt>
                <c:pt idx="13">
                  <c:v>42907</c:v>
                </c:pt>
                <c:pt idx="14">
                  <c:v>42908</c:v>
                </c:pt>
                <c:pt idx="15">
                  <c:v>42909</c:v>
                </c:pt>
                <c:pt idx="16">
                  <c:v>42912</c:v>
                </c:pt>
                <c:pt idx="17">
                  <c:v>42913</c:v>
                </c:pt>
                <c:pt idx="18">
                  <c:v>42914</c:v>
                </c:pt>
                <c:pt idx="19">
                  <c:v>42915</c:v>
                </c:pt>
                <c:pt idx="20">
                  <c:v>42916</c:v>
                </c:pt>
                <c:pt idx="21">
                  <c:v>42922</c:v>
                </c:pt>
                <c:pt idx="22">
                  <c:v>42923</c:v>
                </c:pt>
                <c:pt idx="23">
                  <c:v>42926</c:v>
                </c:pt>
                <c:pt idx="24">
                  <c:v>42927</c:v>
                </c:pt>
                <c:pt idx="25">
                  <c:v>42928</c:v>
                </c:pt>
                <c:pt idx="26">
                  <c:v>42929</c:v>
                </c:pt>
                <c:pt idx="27">
                  <c:v>42930</c:v>
                </c:pt>
                <c:pt idx="28">
                  <c:v>42933</c:v>
                </c:pt>
                <c:pt idx="29">
                  <c:v>42934</c:v>
                </c:pt>
                <c:pt idx="30">
                  <c:v>42935</c:v>
                </c:pt>
                <c:pt idx="31">
                  <c:v>42936</c:v>
                </c:pt>
                <c:pt idx="32">
                  <c:v>42937</c:v>
                </c:pt>
                <c:pt idx="33">
                  <c:v>42941</c:v>
                </c:pt>
                <c:pt idx="34">
                  <c:v>42942</c:v>
                </c:pt>
                <c:pt idx="35">
                  <c:v>42943</c:v>
                </c:pt>
                <c:pt idx="36">
                  <c:v>42944</c:v>
                </c:pt>
                <c:pt idx="37">
                  <c:v>42947</c:v>
                </c:pt>
                <c:pt idx="38">
                  <c:v>42948</c:v>
                </c:pt>
                <c:pt idx="39">
                  <c:v>42949</c:v>
                </c:pt>
                <c:pt idx="40">
                  <c:v>42950</c:v>
                </c:pt>
                <c:pt idx="41">
                  <c:v>42951</c:v>
                </c:pt>
                <c:pt idx="42">
                  <c:v>42954</c:v>
                </c:pt>
                <c:pt idx="43">
                  <c:v>42955</c:v>
                </c:pt>
                <c:pt idx="44">
                  <c:v>42956</c:v>
                </c:pt>
                <c:pt idx="45">
                  <c:v>42957</c:v>
                </c:pt>
                <c:pt idx="46">
                  <c:v>42958</c:v>
                </c:pt>
                <c:pt idx="47">
                  <c:v>42961</c:v>
                </c:pt>
                <c:pt idx="48">
                  <c:v>42962</c:v>
                </c:pt>
                <c:pt idx="49">
                  <c:v>42963</c:v>
                </c:pt>
                <c:pt idx="50">
                  <c:v>42964</c:v>
                </c:pt>
                <c:pt idx="51">
                  <c:v>42965</c:v>
                </c:pt>
                <c:pt idx="52">
                  <c:v>42968</c:v>
                </c:pt>
                <c:pt idx="53">
                  <c:v>42969</c:v>
                </c:pt>
                <c:pt idx="54">
                  <c:v>42970</c:v>
                </c:pt>
                <c:pt idx="55">
                  <c:v>42971</c:v>
                </c:pt>
                <c:pt idx="56">
                  <c:v>42972</c:v>
                </c:pt>
                <c:pt idx="57">
                  <c:v>42975</c:v>
                </c:pt>
                <c:pt idx="58">
                  <c:v>42976</c:v>
                </c:pt>
                <c:pt idx="59">
                  <c:v>42977</c:v>
                </c:pt>
                <c:pt idx="60">
                  <c:v>42978</c:v>
                </c:pt>
                <c:pt idx="61">
                  <c:v>42979</c:v>
                </c:pt>
                <c:pt idx="62">
                  <c:v>42982</c:v>
                </c:pt>
                <c:pt idx="63">
                  <c:v>42983</c:v>
                </c:pt>
                <c:pt idx="64">
                  <c:v>42984</c:v>
                </c:pt>
                <c:pt idx="65">
                  <c:v>42985</c:v>
                </c:pt>
                <c:pt idx="66">
                  <c:v>42986</c:v>
                </c:pt>
                <c:pt idx="67">
                  <c:v>42989</c:v>
                </c:pt>
                <c:pt idx="68">
                  <c:v>42990</c:v>
                </c:pt>
                <c:pt idx="69">
                  <c:v>42991</c:v>
                </c:pt>
                <c:pt idx="70">
                  <c:v>42992</c:v>
                </c:pt>
                <c:pt idx="71">
                  <c:v>42993</c:v>
                </c:pt>
                <c:pt idx="72">
                  <c:v>42996</c:v>
                </c:pt>
                <c:pt idx="73">
                  <c:v>42997</c:v>
                </c:pt>
                <c:pt idx="74">
                  <c:v>42998</c:v>
                </c:pt>
                <c:pt idx="75">
                  <c:v>42999</c:v>
                </c:pt>
                <c:pt idx="76">
                  <c:v>43000</c:v>
                </c:pt>
                <c:pt idx="77">
                  <c:v>43003</c:v>
                </c:pt>
                <c:pt idx="78">
                  <c:v>43004</c:v>
                </c:pt>
                <c:pt idx="79">
                  <c:v>43005</c:v>
                </c:pt>
                <c:pt idx="80">
                  <c:v>43006</c:v>
                </c:pt>
                <c:pt idx="81">
                  <c:v>43007</c:v>
                </c:pt>
                <c:pt idx="82">
                  <c:v>43010</c:v>
                </c:pt>
                <c:pt idx="83">
                  <c:v>43011</c:v>
                </c:pt>
                <c:pt idx="84">
                  <c:v>43012</c:v>
                </c:pt>
                <c:pt idx="85">
                  <c:v>43013</c:v>
                </c:pt>
                <c:pt idx="86">
                  <c:v>43014</c:v>
                </c:pt>
                <c:pt idx="87">
                  <c:v>43017</c:v>
                </c:pt>
                <c:pt idx="88">
                  <c:v>43018</c:v>
                </c:pt>
                <c:pt idx="89">
                  <c:v>43019</c:v>
                </c:pt>
                <c:pt idx="90">
                  <c:v>43020</c:v>
                </c:pt>
                <c:pt idx="91">
                  <c:v>43021</c:v>
                </c:pt>
                <c:pt idx="92">
                  <c:v>43024</c:v>
                </c:pt>
                <c:pt idx="93">
                  <c:v>43025</c:v>
                </c:pt>
                <c:pt idx="94">
                  <c:v>43026</c:v>
                </c:pt>
                <c:pt idx="95">
                  <c:v>43027</c:v>
                </c:pt>
                <c:pt idx="96">
                  <c:v>43028</c:v>
                </c:pt>
                <c:pt idx="97">
                  <c:v>43031</c:v>
                </c:pt>
                <c:pt idx="98">
                  <c:v>43032</c:v>
                </c:pt>
                <c:pt idx="99">
                  <c:v>43033</c:v>
                </c:pt>
                <c:pt idx="100">
                  <c:v>43034</c:v>
                </c:pt>
                <c:pt idx="101">
                  <c:v>43035</c:v>
                </c:pt>
                <c:pt idx="102">
                  <c:v>43038</c:v>
                </c:pt>
                <c:pt idx="103">
                  <c:v>43039</c:v>
                </c:pt>
                <c:pt idx="104">
                  <c:v>43040</c:v>
                </c:pt>
                <c:pt idx="105">
                  <c:v>43041</c:v>
                </c:pt>
                <c:pt idx="106">
                  <c:v>43042</c:v>
                </c:pt>
                <c:pt idx="107">
                  <c:v>43045</c:v>
                </c:pt>
                <c:pt idx="108">
                  <c:v>43046</c:v>
                </c:pt>
                <c:pt idx="109">
                  <c:v>43047</c:v>
                </c:pt>
                <c:pt idx="110">
                  <c:v>43048</c:v>
                </c:pt>
                <c:pt idx="111">
                  <c:v>43049</c:v>
                </c:pt>
                <c:pt idx="112">
                  <c:v>43052</c:v>
                </c:pt>
                <c:pt idx="113">
                  <c:v>43053</c:v>
                </c:pt>
                <c:pt idx="114">
                  <c:v>43054</c:v>
                </c:pt>
                <c:pt idx="115">
                  <c:v>43055</c:v>
                </c:pt>
                <c:pt idx="116">
                  <c:v>43056</c:v>
                </c:pt>
                <c:pt idx="117">
                  <c:v>43059</c:v>
                </c:pt>
                <c:pt idx="118">
                  <c:v>43060</c:v>
                </c:pt>
                <c:pt idx="119">
                  <c:v>43061</c:v>
                </c:pt>
                <c:pt idx="120">
                  <c:v>43062</c:v>
                </c:pt>
                <c:pt idx="121">
                  <c:v>43063</c:v>
                </c:pt>
                <c:pt idx="122">
                  <c:v>43066</c:v>
                </c:pt>
                <c:pt idx="123">
                  <c:v>43067</c:v>
                </c:pt>
                <c:pt idx="124">
                  <c:v>43068</c:v>
                </c:pt>
                <c:pt idx="125">
                  <c:v>43069</c:v>
                </c:pt>
                <c:pt idx="126">
                  <c:v>43070</c:v>
                </c:pt>
                <c:pt idx="127">
                  <c:v>43073</c:v>
                </c:pt>
                <c:pt idx="128">
                  <c:v>43074</c:v>
                </c:pt>
                <c:pt idx="129">
                  <c:v>43075</c:v>
                </c:pt>
                <c:pt idx="130">
                  <c:v>43076</c:v>
                </c:pt>
                <c:pt idx="131">
                  <c:v>43077</c:v>
                </c:pt>
                <c:pt idx="132">
                  <c:v>43080</c:v>
                </c:pt>
                <c:pt idx="133">
                  <c:v>43081</c:v>
                </c:pt>
                <c:pt idx="134">
                  <c:v>43082</c:v>
                </c:pt>
                <c:pt idx="135">
                  <c:v>43083</c:v>
                </c:pt>
                <c:pt idx="136">
                  <c:v>43084</c:v>
                </c:pt>
                <c:pt idx="137">
                  <c:v>43087</c:v>
                </c:pt>
                <c:pt idx="138">
                  <c:v>43088</c:v>
                </c:pt>
                <c:pt idx="139">
                  <c:v>43089</c:v>
                </c:pt>
                <c:pt idx="140">
                  <c:v>43090</c:v>
                </c:pt>
                <c:pt idx="141">
                  <c:v>43091</c:v>
                </c:pt>
                <c:pt idx="142">
                  <c:v>43096</c:v>
                </c:pt>
                <c:pt idx="143">
                  <c:v>43097</c:v>
                </c:pt>
                <c:pt idx="144">
                  <c:v>43098</c:v>
                </c:pt>
                <c:pt idx="145">
                  <c:v>43099</c:v>
                </c:pt>
                <c:pt idx="146">
                  <c:v>43100</c:v>
                </c:pt>
                <c:pt idx="147">
                  <c:v>43101</c:v>
                </c:pt>
                <c:pt idx="148">
                  <c:v>43102</c:v>
                </c:pt>
                <c:pt idx="149">
                  <c:v>43103</c:v>
                </c:pt>
                <c:pt idx="150">
                  <c:v>43104</c:v>
                </c:pt>
                <c:pt idx="151">
                  <c:v>43105</c:v>
                </c:pt>
                <c:pt idx="152">
                  <c:v>43108</c:v>
                </c:pt>
                <c:pt idx="153">
                  <c:v>43109</c:v>
                </c:pt>
                <c:pt idx="154">
                  <c:v>43110</c:v>
                </c:pt>
                <c:pt idx="155">
                  <c:v>43111</c:v>
                </c:pt>
                <c:pt idx="156">
                  <c:v>43112</c:v>
                </c:pt>
                <c:pt idx="157">
                  <c:v>43115</c:v>
                </c:pt>
                <c:pt idx="158">
                  <c:v>43116</c:v>
                </c:pt>
                <c:pt idx="159">
                  <c:v>43117</c:v>
                </c:pt>
                <c:pt idx="160">
                  <c:v>43118</c:v>
                </c:pt>
                <c:pt idx="161">
                  <c:v>43119</c:v>
                </c:pt>
                <c:pt idx="162">
                  <c:v>43122</c:v>
                </c:pt>
                <c:pt idx="163">
                  <c:v>43123</c:v>
                </c:pt>
                <c:pt idx="164">
                  <c:v>43124</c:v>
                </c:pt>
                <c:pt idx="165">
                  <c:v>43125</c:v>
                </c:pt>
                <c:pt idx="166">
                  <c:v>43126</c:v>
                </c:pt>
                <c:pt idx="167">
                  <c:v>43129</c:v>
                </c:pt>
                <c:pt idx="168">
                  <c:v>43130</c:v>
                </c:pt>
                <c:pt idx="169">
                  <c:v>43131</c:v>
                </c:pt>
                <c:pt idx="170">
                  <c:v>43132</c:v>
                </c:pt>
                <c:pt idx="171">
                  <c:v>43133</c:v>
                </c:pt>
                <c:pt idx="172">
                  <c:v>43136</c:v>
                </c:pt>
                <c:pt idx="173">
                  <c:v>43137</c:v>
                </c:pt>
                <c:pt idx="174">
                  <c:v>43138</c:v>
                </c:pt>
                <c:pt idx="175">
                  <c:v>43139</c:v>
                </c:pt>
                <c:pt idx="176">
                  <c:v>43140</c:v>
                </c:pt>
                <c:pt idx="177">
                  <c:v>43143</c:v>
                </c:pt>
                <c:pt idx="178">
                  <c:v>43144</c:v>
                </c:pt>
                <c:pt idx="179">
                  <c:v>43145</c:v>
                </c:pt>
                <c:pt idx="180">
                  <c:v>43146</c:v>
                </c:pt>
                <c:pt idx="181">
                  <c:v>43147</c:v>
                </c:pt>
                <c:pt idx="182">
                  <c:v>43150</c:v>
                </c:pt>
                <c:pt idx="183">
                  <c:v>43151</c:v>
                </c:pt>
                <c:pt idx="184">
                  <c:v>43152</c:v>
                </c:pt>
                <c:pt idx="185">
                  <c:v>43153</c:v>
                </c:pt>
                <c:pt idx="186">
                  <c:v>43154</c:v>
                </c:pt>
                <c:pt idx="187">
                  <c:v>43157</c:v>
                </c:pt>
                <c:pt idx="188">
                  <c:v>43158</c:v>
                </c:pt>
                <c:pt idx="189">
                  <c:v>43159</c:v>
                </c:pt>
                <c:pt idx="190">
                  <c:v>43160</c:v>
                </c:pt>
                <c:pt idx="191">
                  <c:v>43161</c:v>
                </c:pt>
                <c:pt idx="192">
                  <c:v>43164</c:v>
                </c:pt>
                <c:pt idx="193">
                  <c:v>43165</c:v>
                </c:pt>
                <c:pt idx="194">
                  <c:v>43166</c:v>
                </c:pt>
                <c:pt idx="195">
                  <c:v>43167</c:v>
                </c:pt>
                <c:pt idx="196">
                  <c:v>43168</c:v>
                </c:pt>
                <c:pt idx="197">
                  <c:v>43171</c:v>
                </c:pt>
                <c:pt idx="198">
                  <c:v>43172</c:v>
                </c:pt>
                <c:pt idx="199">
                  <c:v>43173</c:v>
                </c:pt>
                <c:pt idx="200">
                  <c:v>43174</c:v>
                </c:pt>
                <c:pt idx="201">
                  <c:v>43175</c:v>
                </c:pt>
                <c:pt idx="202">
                  <c:v>43178</c:v>
                </c:pt>
                <c:pt idx="203">
                  <c:v>43179</c:v>
                </c:pt>
                <c:pt idx="204">
                  <c:v>43180</c:v>
                </c:pt>
                <c:pt idx="205">
                  <c:v>43181</c:v>
                </c:pt>
                <c:pt idx="206">
                  <c:v>43182</c:v>
                </c:pt>
                <c:pt idx="207">
                  <c:v>43185</c:v>
                </c:pt>
                <c:pt idx="208">
                  <c:v>43186</c:v>
                </c:pt>
                <c:pt idx="209">
                  <c:v>43187</c:v>
                </c:pt>
                <c:pt idx="210">
                  <c:v>43188</c:v>
                </c:pt>
                <c:pt idx="211">
                  <c:v>43193</c:v>
                </c:pt>
                <c:pt idx="212">
                  <c:v>43194</c:v>
                </c:pt>
                <c:pt idx="213">
                  <c:v>43195</c:v>
                </c:pt>
                <c:pt idx="214">
                  <c:v>43196</c:v>
                </c:pt>
                <c:pt idx="215">
                  <c:v>43199</c:v>
                </c:pt>
                <c:pt idx="216">
                  <c:v>43200</c:v>
                </c:pt>
                <c:pt idx="217">
                  <c:v>43201</c:v>
                </c:pt>
                <c:pt idx="218">
                  <c:v>43202</c:v>
                </c:pt>
                <c:pt idx="219">
                  <c:v>43203</c:v>
                </c:pt>
                <c:pt idx="220">
                  <c:v>43206</c:v>
                </c:pt>
                <c:pt idx="221">
                  <c:v>43207</c:v>
                </c:pt>
                <c:pt idx="222">
                  <c:v>43208</c:v>
                </c:pt>
                <c:pt idx="223">
                  <c:v>43209</c:v>
                </c:pt>
                <c:pt idx="224">
                  <c:v>43210</c:v>
                </c:pt>
                <c:pt idx="225">
                  <c:v>43213</c:v>
                </c:pt>
                <c:pt idx="226">
                  <c:v>43214</c:v>
                </c:pt>
                <c:pt idx="227">
                  <c:v>43215</c:v>
                </c:pt>
                <c:pt idx="228">
                  <c:v>43216</c:v>
                </c:pt>
                <c:pt idx="229">
                  <c:v>43217</c:v>
                </c:pt>
                <c:pt idx="230">
                  <c:v>43220</c:v>
                </c:pt>
                <c:pt idx="231">
                  <c:v>43221</c:v>
                </c:pt>
                <c:pt idx="232">
                  <c:v>43222</c:v>
                </c:pt>
                <c:pt idx="233">
                  <c:v>43223</c:v>
                </c:pt>
                <c:pt idx="234">
                  <c:v>43224</c:v>
                </c:pt>
                <c:pt idx="235">
                  <c:v>43227</c:v>
                </c:pt>
                <c:pt idx="236">
                  <c:v>43228</c:v>
                </c:pt>
                <c:pt idx="237">
                  <c:v>43229</c:v>
                </c:pt>
                <c:pt idx="238">
                  <c:v>43230</c:v>
                </c:pt>
                <c:pt idx="239">
                  <c:v>43231</c:v>
                </c:pt>
                <c:pt idx="240">
                  <c:v>43234</c:v>
                </c:pt>
                <c:pt idx="241">
                  <c:v>43235</c:v>
                </c:pt>
                <c:pt idx="242">
                  <c:v>43236</c:v>
                </c:pt>
                <c:pt idx="243">
                  <c:v>43237</c:v>
                </c:pt>
                <c:pt idx="244">
                  <c:v>43238</c:v>
                </c:pt>
                <c:pt idx="245">
                  <c:v>43241</c:v>
                </c:pt>
                <c:pt idx="246">
                  <c:v>43242</c:v>
                </c:pt>
                <c:pt idx="247">
                  <c:v>43243</c:v>
                </c:pt>
                <c:pt idx="248">
                  <c:v>43244</c:v>
                </c:pt>
                <c:pt idx="249">
                  <c:v>43245</c:v>
                </c:pt>
                <c:pt idx="250">
                  <c:v>43248</c:v>
                </c:pt>
                <c:pt idx="251">
                  <c:v>43249</c:v>
                </c:pt>
                <c:pt idx="252">
                  <c:v>43250</c:v>
                </c:pt>
                <c:pt idx="253">
                  <c:v>43251</c:v>
                </c:pt>
                <c:pt idx="254">
                  <c:v>43252</c:v>
                </c:pt>
                <c:pt idx="255">
                  <c:v>43255</c:v>
                </c:pt>
                <c:pt idx="256">
                  <c:v>43256</c:v>
                </c:pt>
                <c:pt idx="257">
                  <c:v>43257</c:v>
                </c:pt>
                <c:pt idx="258">
                  <c:v>43258</c:v>
                </c:pt>
                <c:pt idx="259">
                  <c:v>43259</c:v>
                </c:pt>
                <c:pt idx="260">
                  <c:v>43263</c:v>
                </c:pt>
                <c:pt idx="261">
                  <c:v>43264</c:v>
                </c:pt>
                <c:pt idx="262">
                  <c:v>43265</c:v>
                </c:pt>
                <c:pt idx="263">
                  <c:v>43266</c:v>
                </c:pt>
                <c:pt idx="264">
                  <c:v>43269</c:v>
                </c:pt>
                <c:pt idx="265">
                  <c:v>43270</c:v>
                </c:pt>
                <c:pt idx="266">
                  <c:v>43271</c:v>
                </c:pt>
                <c:pt idx="267">
                  <c:v>43272</c:v>
                </c:pt>
                <c:pt idx="268">
                  <c:v>43273</c:v>
                </c:pt>
                <c:pt idx="269">
                  <c:v>43276</c:v>
                </c:pt>
                <c:pt idx="270">
                  <c:v>43277</c:v>
                </c:pt>
                <c:pt idx="271">
                  <c:v>43278</c:v>
                </c:pt>
                <c:pt idx="272">
                  <c:v>43279</c:v>
                </c:pt>
                <c:pt idx="273">
                  <c:v>43280</c:v>
                </c:pt>
              </c:numCache>
            </c:numRef>
          </c:cat>
          <c:val>
            <c:numRef>
              <c:f>'Share price '!$B$2808:$B$3081</c:f>
              <c:numCache>
                <c:formatCode>#,##0.00_);\(#,##0.00\);\-</c:formatCode>
                <c:ptCount val="274"/>
                <c:pt idx="0">
                  <c:v>9.58</c:v>
                </c:pt>
                <c:pt idx="1">
                  <c:v>9.52</c:v>
                </c:pt>
                <c:pt idx="2">
                  <c:v>9.5</c:v>
                </c:pt>
                <c:pt idx="3">
                  <c:v>9.5</c:v>
                </c:pt>
                <c:pt idx="4">
                  <c:v>9.51</c:v>
                </c:pt>
                <c:pt idx="5">
                  <c:v>9.5</c:v>
                </c:pt>
                <c:pt idx="6">
                  <c:v>9.5</c:v>
                </c:pt>
                <c:pt idx="7">
                  <c:v>9.51</c:v>
                </c:pt>
                <c:pt idx="8">
                  <c:v>9.51</c:v>
                </c:pt>
                <c:pt idx="9">
                  <c:v>9.51</c:v>
                </c:pt>
                <c:pt idx="10">
                  <c:v>9.51</c:v>
                </c:pt>
                <c:pt idx="11">
                  <c:v>9.51</c:v>
                </c:pt>
                <c:pt idx="12">
                  <c:v>9.51</c:v>
                </c:pt>
                <c:pt idx="13">
                  <c:v>9.51</c:v>
                </c:pt>
                <c:pt idx="14">
                  <c:v>9.52</c:v>
                </c:pt>
                <c:pt idx="15">
                  <c:v>9.52</c:v>
                </c:pt>
                <c:pt idx="16">
                  <c:v>9.52</c:v>
                </c:pt>
                <c:pt idx="17">
                  <c:v>9.52</c:v>
                </c:pt>
                <c:pt idx="18">
                  <c:v>9.5399999999999991</c:v>
                </c:pt>
                <c:pt idx="19">
                  <c:v>9.5399999999999991</c:v>
                </c:pt>
                <c:pt idx="20">
                  <c:v>9.5399999999999991</c:v>
                </c:pt>
                <c:pt idx="21">
                  <c:v>9.5500000000000007</c:v>
                </c:pt>
                <c:pt idx="22">
                  <c:v>9.5500000000000007</c:v>
                </c:pt>
                <c:pt idx="23">
                  <c:v>9.5500000000000007</c:v>
                </c:pt>
                <c:pt idx="24">
                  <c:v>9.57</c:v>
                </c:pt>
                <c:pt idx="25">
                  <c:v>9.56</c:v>
                </c:pt>
                <c:pt idx="26">
                  <c:v>9.6</c:v>
                </c:pt>
                <c:pt idx="27">
                  <c:v>9.6</c:v>
                </c:pt>
                <c:pt idx="28">
                  <c:v>9.6</c:v>
                </c:pt>
                <c:pt idx="29">
                  <c:v>9.6</c:v>
                </c:pt>
                <c:pt idx="30">
                  <c:v>9.6</c:v>
                </c:pt>
                <c:pt idx="31">
                  <c:v>9.6</c:v>
                </c:pt>
                <c:pt idx="32">
                  <c:v>9.6</c:v>
                </c:pt>
                <c:pt idx="33">
                  <c:v>9.6</c:v>
                </c:pt>
                <c:pt idx="34">
                  <c:v>9.6</c:v>
                </c:pt>
                <c:pt idx="35">
                  <c:v>9.6</c:v>
                </c:pt>
                <c:pt idx="36">
                  <c:v>9.6</c:v>
                </c:pt>
                <c:pt idx="37">
                  <c:v>9.5500000000000007</c:v>
                </c:pt>
                <c:pt idx="38">
                  <c:v>9.5500000000000007</c:v>
                </c:pt>
                <c:pt idx="39">
                  <c:v>9.5500000000000007</c:v>
                </c:pt>
                <c:pt idx="40">
                  <c:v>9.6</c:v>
                </c:pt>
                <c:pt idx="41">
                  <c:v>9.5500000000000007</c:v>
                </c:pt>
                <c:pt idx="42">
                  <c:v>9.5500000000000007</c:v>
                </c:pt>
                <c:pt idx="43">
                  <c:v>9.5500000000000007</c:v>
                </c:pt>
                <c:pt idx="44">
                  <c:v>9.5500000000000007</c:v>
                </c:pt>
                <c:pt idx="45" formatCode="_(* #,##0.00_);_(* \(#,##0.00\);_(* &quot;-&quot;??_);_(@_)">
                  <c:v>9.5500000000000007</c:v>
                </c:pt>
                <c:pt idx="46">
                  <c:v>9.5500000000000007</c:v>
                </c:pt>
                <c:pt idx="47">
                  <c:v>9.5500000000000007</c:v>
                </c:pt>
                <c:pt idx="48">
                  <c:v>9.5500000000000007</c:v>
                </c:pt>
                <c:pt idx="49">
                  <c:v>9.5500000000000007</c:v>
                </c:pt>
                <c:pt idx="50">
                  <c:v>9.5399999999999991</c:v>
                </c:pt>
                <c:pt idx="51">
                  <c:v>9.5399999999999991</c:v>
                </c:pt>
                <c:pt idx="52">
                  <c:v>9.5399999999999991</c:v>
                </c:pt>
                <c:pt idx="53">
                  <c:v>9.5500000000000007</c:v>
                </c:pt>
                <c:pt idx="54">
                  <c:v>9.5500000000000007</c:v>
                </c:pt>
                <c:pt idx="55">
                  <c:v>9.5500000000000007</c:v>
                </c:pt>
                <c:pt idx="56">
                  <c:v>9.5500000000000007</c:v>
                </c:pt>
                <c:pt idx="57">
                  <c:v>9.6</c:v>
                </c:pt>
                <c:pt idx="58">
                  <c:v>9.5500000000000007</c:v>
                </c:pt>
                <c:pt idx="59">
                  <c:v>9.6</c:v>
                </c:pt>
                <c:pt idx="60">
                  <c:v>9.6</c:v>
                </c:pt>
                <c:pt idx="61">
                  <c:v>9.6</c:v>
                </c:pt>
                <c:pt idx="62">
                  <c:v>9.6</c:v>
                </c:pt>
                <c:pt idx="63">
                  <c:v>9.6</c:v>
                </c:pt>
                <c:pt idx="64">
                  <c:v>9.6</c:v>
                </c:pt>
                <c:pt idx="65">
                  <c:v>9.6</c:v>
                </c:pt>
                <c:pt idx="66">
                  <c:v>9.6</c:v>
                </c:pt>
                <c:pt idx="67">
                  <c:v>9.5</c:v>
                </c:pt>
                <c:pt idx="68">
                  <c:v>9.5</c:v>
                </c:pt>
                <c:pt idx="69">
                  <c:v>9.5</c:v>
                </c:pt>
                <c:pt idx="70">
                  <c:v>9.5</c:v>
                </c:pt>
                <c:pt idx="71">
                  <c:v>9.5</c:v>
                </c:pt>
                <c:pt idx="72">
                  <c:v>9.5</c:v>
                </c:pt>
                <c:pt idx="73">
                  <c:v>9.5</c:v>
                </c:pt>
                <c:pt idx="74">
                  <c:v>9.5</c:v>
                </c:pt>
                <c:pt idx="75">
                  <c:v>9.5</c:v>
                </c:pt>
                <c:pt idx="76">
                  <c:v>9.5</c:v>
                </c:pt>
                <c:pt idx="77">
                  <c:v>9.5</c:v>
                </c:pt>
                <c:pt idx="78">
                  <c:v>9.5</c:v>
                </c:pt>
                <c:pt idx="79">
                  <c:v>9.6</c:v>
                </c:pt>
                <c:pt idx="80">
                  <c:v>9.6</c:v>
                </c:pt>
                <c:pt idx="81">
                  <c:v>9.6</c:v>
                </c:pt>
                <c:pt idx="82">
                  <c:v>9.6</c:v>
                </c:pt>
                <c:pt idx="83">
                  <c:v>9.6</c:v>
                </c:pt>
                <c:pt idx="84">
                  <c:v>9.5</c:v>
                </c:pt>
                <c:pt idx="85">
                  <c:v>9.5</c:v>
                </c:pt>
                <c:pt idx="86">
                  <c:v>9.4</c:v>
                </c:pt>
                <c:pt idx="87">
                  <c:v>9.41</c:v>
                </c:pt>
                <c:pt idx="88">
                  <c:v>9.41</c:v>
                </c:pt>
                <c:pt idx="89">
                  <c:v>9.41</c:v>
                </c:pt>
                <c:pt idx="90">
                  <c:v>9.4499999999999993</c:v>
                </c:pt>
                <c:pt idx="91">
                  <c:v>9.4499999999999993</c:v>
                </c:pt>
                <c:pt idx="92">
                  <c:v>9.4499999999999993</c:v>
                </c:pt>
                <c:pt idx="93">
                  <c:v>9.4499999999999993</c:v>
                </c:pt>
                <c:pt idx="94">
                  <c:v>9.4</c:v>
                </c:pt>
                <c:pt idx="95">
                  <c:v>9.4600000000000009</c:v>
                </c:pt>
                <c:pt idx="96">
                  <c:v>9.4600000000000009</c:v>
                </c:pt>
                <c:pt idx="97">
                  <c:v>9.4600000000000009</c:v>
                </c:pt>
                <c:pt idx="98">
                  <c:v>9.4499999999999993</c:v>
                </c:pt>
                <c:pt idx="99">
                  <c:v>9.5</c:v>
                </c:pt>
                <c:pt idx="100">
                  <c:v>9.5</c:v>
                </c:pt>
                <c:pt idx="101">
                  <c:v>9.5</c:v>
                </c:pt>
                <c:pt idx="102">
                  <c:v>9.5</c:v>
                </c:pt>
                <c:pt idx="103">
                  <c:v>9.51</c:v>
                </c:pt>
                <c:pt idx="104">
                  <c:v>9.4600000000000009</c:v>
                </c:pt>
                <c:pt idx="105">
                  <c:v>9.4499999999999993</c:v>
                </c:pt>
                <c:pt idx="106">
                  <c:v>9.4499999999999993</c:v>
                </c:pt>
                <c:pt idx="107">
                  <c:v>9.5</c:v>
                </c:pt>
                <c:pt idx="108">
                  <c:v>9.51</c:v>
                </c:pt>
                <c:pt idx="109">
                  <c:v>9.51</c:v>
                </c:pt>
                <c:pt idx="110">
                  <c:v>9.51</c:v>
                </c:pt>
                <c:pt idx="111">
                  <c:v>9.5</c:v>
                </c:pt>
                <c:pt idx="112">
                  <c:v>9.5</c:v>
                </c:pt>
                <c:pt idx="113">
                  <c:v>9.5</c:v>
                </c:pt>
                <c:pt idx="114">
                  <c:v>9.5</c:v>
                </c:pt>
                <c:pt idx="115">
                  <c:v>9.5</c:v>
                </c:pt>
                <c:pt idx="116">
                  <c:v>9.5</c:v>
                </c:pt>
                <c:pt idx="117">
                  <c:v>9.51</c:v>
                </c:pt>
                <c:pt idx="118">
                  <c:v>9.51</c:v>
                </c:pt>
                <c:pt idx="119">
                  <c:v>9.51</c:v>
                </c:pt>
                <c:pt idx="120">
                  <c:v>9.5</c:v>
                </c:pt>
                <c:pt idx="121">
                  <c:v>9.5500000000000007</c:v>
                </c:pt>
                <c:pt idx="122">
                  <c:v>9.5500000000000007</c:v>
                </c:pt>
                <c:pt idx="123">
                  <c:v>9.5</c:v>
                </c:pt>
                <c:pt idx="124">
                  <c:v>9.5</c:v>
                </c:pt>
                <c:pt idx="125">
                  <c:v>9.6</c:v>
                </c:pt>
                <c:pt idx="126">
                  <c:v>9.6</c:v>
                </c:pt>
                <c:pt idx="127">
                  <c:v>9.6</c:v>
                </c:pt>
                <c:pt idx="128">
                  <c:v>9.6</c:v>
                </c:pt>
                <c:pt idx="129">
                  <c:v>9.5</c:v>
                </c:pt>
                <c:pt idx="130">
                  <c:v>9.5</c:v>
                </c:pt>
                <c:pt idx="131">
                  <c:v>9.5</c:v>
                </c:pt>
                <c:pt idx="132">
                  <c:v>9.5</c:v>
                </c:pt>
                <c:pt idx="133">
                  <c:v>9.5</c:v>
                </c:pt>
                <c:pt idx="134">
                  <c:v>9.5</c:v>
                </c:pt>
                <c:pt idx="135">
                  <c:v>9.5</c:v>
                </c:pt>
                <c:pt idx="136">
                  <c:v>9.5</c:v>
                </c:pt>
                <c:pt idx="137">
                  <c:v>9.5</c:v>
                </c:pt>
                <c:pt idx="138">
                  <c:v>9.5</c:v>
                </c:pt>
                <c:pt idx="139">
                  <c:v>9.5</c:v>
                </c:pt>
                <c:pt idx="140">
                  <c:v>9.5</c:v>
                </c:pt>
                <c:pt idx="141">
                  <c:v>9.5</c:v>
                </c:pt>
                <c:pt idx="142">
                  <c:v>9.5</c:v>
                </c:pt>
                <c:pt idx="143">
                  <c:v>9.5</c:v>
                </c:pt>
                <c:pt idx="144">
                  <c:v>9.5</c:v>
                </c:pt>
                <c:pt idx="145">
                  <c:v>9.5</c:v>
                </c:pt>
                <c:pt idx="146">
                  <c:v>9.5</c:v>
                </c:pt>
                <c:pt idx="147">
                  <c:v>9.5</c:v>
                </c:pt>
                <c:pt idx="148">
                  <c:v>9.5</c:v>
                </c:pt>
                <c:pt idx="149">
                  <c:v>9.5</c:v>
                </c:pt>
                <c:pt idx="150">
                  <c:v>9.5</c:v>
                </c:pt>
                <c:pt idx="151">
                  <c:v>9.5</c:v>
                </c:pt>
                <c:pt idx="152">
                  <c:v>9.5</c:v>
                </c:pt>
                <c:pt idx="153">
                  <c:v>9.5</c:v>
                </c:pt>
                <c:pt idx="154">
                  <c:v>9.5</c:v>
                </c:pt>
                <c:pt idx="155">
                  <c:v>9.5500000000000007</c:v>
                </c:pt>
                <c:pt idx="156">
                  <c:v>9.5500000000000007</c:v>
                </c:pt>
                <c:pt idx="157">
                  <c:v>9.5500000000000007</c:v>
                </c:pt>
                <c:pt idx="158">
                  <c:v>9.5500000000000007</c:v>
                </c:pt>
                <c:pt idx="159">
                  <c:v>9.5500000000000007</c:v>
                </c:pt>
                <c:pt idx="160">
                  <c:v>9.5500000000000007</c:v>
                </c:pt>
                <c:pt idx="161">
                  <c:v>9.5500000000000007</c:v>
                </c:pt>
                <c:pt idx="162">
                  <c:v>9.5500000000000007</c:v>
                </c:pt>
                <c:pt idx="163">
                  <c:v>9.5500000000000007</c:v>
                </c:pt>
                <c:pt idx="164">
                  <c:v>9.5500000000000007</c:v>
                </c:pt>
                <c:pt idx="165">
                  <c:v>9.5500000000000007</c:v>
                </c:pt>
                <c:pt idx="166">
                  <c:v>9.5500000000000007</c:v>
                </c:pt>
                <c:pt idx="167">
                  <c:v>9.5500000000000007</c:v>
                </c:pt>
                <c:pt idx="168">
                  <c:v>9.5500000000000007</c:v>
                </c:pt>
                <c:pt idx="169">
                  <c:v>9.5500000000000007</c:v>
                </c:pt>
                <c:pt idx="170">
                  <c:v>9.5500000000000007</c:v>
                </c:pt>
                <c:pt idx="171">
                  <c:v>9.5500000000000007</c:v>
                </c:pt>
                <c:pt idx="172">
                  <c:v>9.5500000000000007</c:v>
                </c:pt>
                <c:pt idx="173">
                  <c:v>9.5500000000000007</c:v>
                </c:pt>
                <c:pt idx="174">
                  <c:v>9.5500000000000007</c:v>
                </c:pt>
                <c:pt idx="175">
                  <c:v>9.5500000000000007</c:v>
                </c:pt>
                <c:pt idx="176">
                  <c:v>9.5500000000000007</c:v>
                </c:pt>
                <c:pt idx="177">
                  <c:v>9.5500000000000007</c:v>
                </c:pt>
                <c:pt idx="178">
                  <c:v>9.5500000000000007</c:v>
                </c:pt>
                <c:pt idx="179">
                  <c:v>9.5500000000000007</c:v>
                </c:pt>
                <c:pt idx="180">
                  <c:v>9.5500000000000007</c:v>
                </c:pt>
                <c:pt idx="181">
                  <c:v>9.5500000000000007</c:v>
                </c:pt>
                <c:pt idx="182">
                  <c:v>9.5500000000000007</c:v>
                </c:pt>
                <c:pt idx="183">
                  <c:v>9.5</c:v>
                </c:pt>
                <c:pt idx="184">
                  <c:v>9.5</c:v>
                </c:pt>
                <c:pt idx="185">
                  <c:v>9.5</c:v>
                </c:pt>
                <c:pt idx="186">
                  <c:v>9.5</c:v>
                </c:pt>
                <c:pt idx="187">
                  <c:v>9.5</c:v>
                </c:pt>
                <c:pt idx="188">
                  <c:v>9.5500000000000007</c:v>
                </c:pt>
                <c:pt idx="189">
                  <c:v>9.5500000000000007</c:v>
                </c:pt>
                <c:pt idx="190">
                  <c:v>9.5</c:v>
                </c:pt>
                <c:pt idx="191">
                  <c:v>9.5500000000000007</c:v>
                </c:pt>
                <c:pt idx="192">
                  <c:v>9.5500000000000007</c:v>
                </c:pt>
                <c:pt idx="193">
                  <c:v>9.5500000000000007</c:v>
                </c:pt>
                <c:pt idx="194">
                  <c:v>9.5500000000000007</c:v>
                </c:pt>
                <c:pt idx="195">
                  <c:v>9.5500000000000007</c:v>
                </c:pt>
                <c:pt idx="196">
                  <c:v>9.5500000000000007</c:v>
                </c:pt>
                <c:pt idx="197">
                  <c:v>9.5500000000000007</c:v>
                </c:pt>
                <c:pt idx="198">
                  <c:v>9.5500000000000007</c:v>
                </c:pt>
                <c:pt idx="199">
                  <c:v>9.5500000000000007</c:v>
                </c:pt>
                <c:pt idx="200">
                  <c:v>9.5500000000000007</c:v>
                </c:pt>
                <c:pt idx="201">
                  <c:v>9.5500000000000007</c:v>
                </c:pt>
                <c:pt idx="202">
                  <c:v>9.56</c:v>
                </c:pt>
                <c:pt idx="203">
                  <c:v>9.5500000000000007</c:v>
                </c:pt>
                <c:pt idx="204">
                  <c:v>9.56</c:v>
                </c:pt>
                <c:pt idx="205">
                  <c:v>9.56</c:v>
                </c:pt>
                <c:pt idx="206">
                  <c:v>9.56</c:v>
                </c:pt>
                <c:pt idx="207">
                  <c:v>9.56</c:v>
                </c:pt>
                <c:pt idx="208">
                  <c:v>9.56</c:v>
                </c:pt>
                <c:pt idx="209">
                  <c:v>9.56</c:v>
                </c:pt>
                <c:pt idx="210">
                  <c:v>9.56</c:v>
                </c:pt>
                <c:pt idx="211">
                  <c:v>9.56</c:v>
                </c:pt>
                <c:pt idx="212">
                  <c:v>9.65</c:v>
                </c:pt>
                <c:pt idx="213">
                  <c:v>9.65</c:v>
                </c:pt>
                <c:pt idx="214">
                  <c:v>9.65</c:v>
                </c:pt>
                <c:pt idx="215">
                  <c:v>9.65</c:v>
                </c:pt>
                <c:pt idx="216">
                  <c:v>9.66</c:v>
                </c:pt>
                <c:pt idx="217">
                  <c:v>9.66</c:v>
                </c:pt>
                <c:pt idx="218">
                  <c:v>9.66</c:v>
                </c:pt>
                <c:pt idx="219">
                  <c:v>9.66</c:v>
                </c:pt>
                <c:pt idx="220">
                  <c:v>9.66</c:v>
                </c:pt>
                <c:pt idx="221">
                  <c:v>9.73</c:v>
                </c:pt>
                <c:pt idx="222">
                  <c:v>9.73</c:v>
                </c:pt>
                <c:pt idx="223">
                  <c:v>9.73</c:v>
                </c:pt>
                <c:pt idx="224">
                  <c:v>9.75</c:v>
                </c:pt>
                <c:pt idx="225">
                  <c:v>9.76</c:v>
                </c:pt>
                <c:pt idx="226">
                  <c:v>9.76</c:v>
                </c:pt>
                <c:pt idx="227">
                  <c:v>9.76</c:v>
                </c:pt>
                <c:pt idx="228">
                  <c:v>9.76</c:v>
                </c:pt>
                <c:pt idx="229">
                  <c:v>9.7899999999999991</c:v>
                </c:pt>
                <c:pt idx="230">
                  <c:v>9.7899999999999991</c:v>
                </c:pt>
                <c:pt idx="231">
                  <c:v>9.8000000000000007</c:v>
                </c:pt>
                <c:pt idx="232">
                  <c:v>9.8000000000000007</c:v>
                </c:pt>
                <c:pt idx="233">
                  <c:v>9.8000000000000007</c:v>
                </c:pt>
                <c:pt idx="234">
                  <c:v>9.8000000000000007</c:v>
                </c:pt>
                <c:pt idx="235">
                  <c:v>9.8000000000000007</c:v>
                </c:pt>
                <c:pt idx="236">
                  <c:v>9.8000000000000007</c:v>
                </c:pt>
                <c:pt idx="237">
                  <c:v>9.8000000000000007</c:v>
                </c:pt>
                <c:pt idx="238">
                  <c:v>9.83</c:v>
                </c:pt>
                <c:pt idx="239">
                  <c:v>9.83</c:v>
                </c:pt>
                <c:pt idx="240">
                  <c:v>9.83</c:v>
                </c:pt>
                <c:pt idx="241">
                  <c:v>9.84</c:v>
                </c:pt>
                <c:pt idx="242">
                  <c:v>9.84</c:v>
                </c:pt>
                <c:pt idx="243">
                  <c:v>9.84</c:v>
                </c:pt>
                <c:pt idx="244">
                  <c:v>9.84</c:v>
                </c:pt>
                <c:pt idx="245">
                  <c:v>9.84</c:v>
                </c:pt>
                <c:pt idx="246">
                  <c:v>9.86</c:v>
                </c:pt>
                <c:pt idx="247">
                  <c:v>9.8699999999999992</c:v>
                </c:pt>
                <c:pt idx="248">
                  <c:v>9.8699999999999992</c:v>
                </c:pt>
                <c:pt idx="249">
                  <c:v>9.8699999999999992</c:v>
                </c:pt>
                <c:pt idx="250">
                  <c:v>9.8699999999999992</c:v>
                </c:pt>
                <c:pt idx="251">
                  <c:v>9.8699999999999992</c:v>
                </c:pt>
                <c:pt idx="252">
                  <c:v>9.8699999999999992</c:v>
                </c:pt>
                <c:pt idx="253">
                  <c:v>10</c:v>
                </c:pt>
                <c:pt idx="254">
                  <c:v>10</c:v>
                </c:pt>
                <c:pt idx="255">
                  <c:v>10</c:v>
                </c:pt>
                <c:pt idx="256">
                  <c:v>10</c:v>
                </c:pt>
                <c:pt idx="257">
                  <c:v>10</c:v>
                </c:pt>
                <c:pt idx="258">
                  <c:v>10</c:v>
                </c:pt>
                <c:pt idx="259">
                  <c:v>10</c:v>
                </c:pt>
                <c:pt idx="260">
                  <c:v>10</c:v>
                </c:pt>
                <c:pt idx="261">
                  <c:v>9.9</c:v>
                </c:pt>
                <c:pt idx="262">
                  <c:v>9.9</c:v>
                </c:pt>
                <c:pt idx="263">
                  <c:v>9.9</c:v>
                </c:pt>
                <c:pt idx="264">
                  <c:v>9.9</c:v>
                </c:pt>
                <c:pt idx="265">
                  <c:v>9.9</c:v>
                </c:pt>
                <c:pt idx="266">
                  <c:v>9.9</c:v>
                </c:pt>
                <c:pt idx="267">
                  <c:v>9.9</c:v>
                </c:pt>
                <c:pt idx="268">
                  <c:v>9.9</c:v>
                </c:pt>
                <c:pt idx="269">
                  <c:v>9.9</c:v>
                </c:pt>
                <c:pt idx="270">
                  <c:v>9.9</c:v>
                </c:pt>
                <c:pt idx="271">
                  <c:v>10</c:v>
                </c:pt>
                <c:pt idx="272">
                  <c:v>10</c:v>
                </c:pt>
                <c:pt idx="273">
                  <c:v>10.01</c:v>
                </c:pt>
              </c:numCache>
            </c:numRef>
          </c:val>
          <c:smooth val="0"/>
        </c:ser>
        <c:dLbls>
          <c:showLegendKey val="0"/>
          <c:showVal val="0"/>
          <c:showCatName val="0"/>
          <c:showSerName val="0"/>
          <c:showPercent val="0"/>
          <c:showBubbleSize val="0"/>
        </c:dLbls>
        <c:marker val="1"/>
        <c:smooth val="0"/>
        <c:axId val="31032064"/>
        <c:axId val="31033600"/>
      </c:lineChart>
      <c:lineChart>
        <c:grouping val="standard"/>
        <c:varyColors val="0"/>
        <c:ser>
          <c:idx val="1"/>
          <c:order val="1"/>
          <c:spPr>
            <a:ln w="15875">
              <a:solidFill>
                <a:srgbClr val="257939"/>
              </a:solidFill>
            </a:ln>
          </c:spPr>
          <c:marker>
            <c:symbol val="none"/>
          </c:marker>
          <c:cat>
            <c:numRef>
              <c:f>'Share price '!$A$2808:$A$3081</c:f>
              <c:numCache>
                <c:formatCode>dd\ mmm\ yy</c:formatCode>
                <c:ptCount val="274"/>
                <c:pt idx="0">
                  <c:v>42887</c:v>
                </c:pt>
                <c:pt idx="1">
                  <c:v>42888</c:v>
                </c:pt>
                <c:pt idx="2">
                  <c:v>42891</c:v>
                </c:pt>
                <c:pt idx="3">
                  <c:v>42892</c:v>
                </c:pt>
                <c:pt idx="4">
                  <c:v>42893</c:v>
                </c:pt>
                <c:pt idx="5">
                  <c:v>42894</c:v>
                </c:pt>
                <c:pt idx="6">
                  <c:v>42895</c:v>
                </c:pt>
                <c:pt idx="7">
                  <c:v>42899</c:v>
                </c:pt>
                <c:pt idx="8">
                  <c:v>42900</c:v>
                </c:pt>
                <c:pt idx="9">
                  <c:v>42901</c:v>
                </c:pt>
                <c:pt idx="10">
                  <c:v>42902</c:v>
                </c:pt>
                <c:pt idx="11">
                  <c:v>42905</c:v>
                </c:pt>
                <c:pt idx="12">
                  <c:v>42906</c:v>
                </c:pt>
                <c:pt idx="13">
                  <c:v>42907</c:v>
                </c:pt>
                <c:pt idx="14">
                  <c:v>42908</c:v>
                </c:pt>
                <c:pt idx="15">
                  <c:v>42909</c:v>
                </c:pt>
                <c:pt idx="16">
                  <c:v>42912</c:v>
                </c:pt>
                <c:pt idx="17">
                  <c:v>42913</c:v>
                </c:pt>
                <c:pt idx="18">
                  <c:v>42914</c:v>
                </c:pt>
                <c:pt idx="19">
                  <c:v>42915</c:v>
                </c:pt>
                <c:pt idx="20">
                  <c:v>42916</c:v>
                </c:pt>
                <c:pt idx="21">
                  <c:v>42922</c:v>
                </c:pt>
                <c:pt idx="22">
                  <c:v>42923</c:v>
                </c:pt>
                <c:pt idx="23">
                  <c:v>42926</c:v>
                </c:pt>
                <c:pt idx="24">
                  <c:v>42927</c:v>
                </c:pt>
                <c:pt idx="25">
                  <c:v>42928</c:v>
                </c:pt>
                <c:pt idx="26">
                  <c:v>42929</c:v>
                </c:pt>
                <c:pt idx="27">
                  <c:v>42930</c:v>
                </c:pt>
                <c:pt idx="28">
                  <c:v>42933</c:v>
                </c:pt>
                <c:pt idx="29">
                  <c:v>42934</c:v>
                </c:pt>
                <c:pt idx="30">
                  <c:v>42935</c:v>
                </c:pt>
                <c:pt idx="31">
                  <c:v>42936</c:v>
                </c:pt>
                <c:pt idx="32">
                  <c:v>42937</c:v>
                </c:pt>
                <c:pt idx="33">
                  <c:v>42941</c:v>
                </c:pt>
                <c:pt idx="34">
                  <c:v>42942</c:v>
                </c:pt>
                <c:pt idx="35">
                  <c:v>42943</c:v>
                </c:pt>
                <c:pt idx="36">
                  <c:v>42944</c:v>
                </c:pt>
                <c:pt idx="37">
                  <c:v>42947</c:v>
                </c:pt>
                <c:pt idx="38">
                  <c:v>42948</c:v>
                </c:pt>
                <c:pt idx="39">
                  <c:v>42949</c:v>
                </c:pt>
                <c:pt idx="40">
                  <c:v>42950</c:v>
                </c:pt>
                <c:pt idx="41">
                  <c:v>42951</c:v>
                </c:pt>
                <c:pt idx="42">
                  <c:v>42954</c:v>
                </c:pt>
                <c:pt idx="43">
                  <c:v>42955</c:v>
                </c:pt>
                <c:pt idx="44">
                  <c:v>42956</c:v>
                </c:pt>
                <c:pt idx="45">
                  <c:v>42957</c:v>
                </c:pt>
                <c:pt idx="46">
                  <c:v>42958</c:v>
                </c:pt>
                <c:pt idx="47">
                  <c:v>42961</c:v>
                </c:pt>
                <c:pt idx="48">
                  <c:v>42962</c:v>
                </c:pt>
                <c:pt idx="49">
                  <c:v>42963</c:v>
                </c:pt>
                <c:pt idx="50">
                  <c:v>42964</c:v>
                </c:pt>
                <c:pt idx="51">
                  <c:v>42965</c:v>
                </c:pt>
                <c:pt idx="52">
                  <c:v>42968</c:v>
                </c:pt>
                <c:pt idx="53">
                  <c:v>42969</c:v>
                </c:pt>
                <c:pt idx="54">
                  <c:v>42970</c:v>
                </c:pt>
                <c:pt idx="55">
                  <c:v>42971</c:v>
                </c:pt>
                <c:pt idx="56">
                  <c:v>42972</c:v>
                </c:pt>
                <c:pt idx="57">
                  <c:v>42975</c:v>
                </c:pt>
                <c:pt idx="58">
                  <c:v>42976</c:v>
                </c:pt>
                <c:pt idx="59">
                  <c:v>42977</c:v>
                </c:pt>
                <c:pt idx="60">
                  <c:v>42978</c:v>
                </c:pt>
                <c:pt idx="61">
                  <c:v>42979</c:v>
                </c:pt>
                <c:pt idx="62">
                  <c:v>42982</c:v>
                </c:pt>
                <c:pt idx="63">
                  <c:v>42983</c:v>
                </c:pt>
                <c:pt idx="64">
                  <c:v>42984</c:v>
                </c:pt>
                <c:pt idx="65">
                  <c:v>42985</c:v>
                </c:pt>
                <c:pt idx="66">
                  <c:v>42986</c:v>
                </c:pt>
                <c:pt idx="67">
                  <c:v>42989</c:v>
                </c:pt>
                <c:pt idx="68">
                  <c:v>42990</c:v>
                </c:pt>
                <c:pt idx="69">
                  <c:v>42991</c:v>
                </c:pt>
                <c:pt idx="70">
                  <c:v>42992</c:v>
                </c:pt>
                <c:pt idx="71">
                  <c:v>42993</c:v>
                </c:pt>
                <c:pt idx="72">
                  <c:v>42996</c:v>
                </c:pt>
                <c:pt idx="73">
                  <c:v>42997</c:v>
                </c:pt>
                <c:pt idx="74">
                  <c:v>42998</c:v>
                </c:pt>
                <c:pt idx="75">
                  <c:v>42999</c:v>
                </c:pt>
                <c:pt idx="76">
                  <c:v>43000</c:v>
                </c:pt>
                <c:pt idx="77">
                  <c:v>43003</c:v>
                </c:pt>
                <c:pt idx="78">
                  <c:v>43004</c:v>
                </c:pt>
                <c:pt idx="79">
                  <c:v>43005</c:v>
                </c:pt>
                <c:pt idx="80">
                  <c:v>43006</c:v>
                </c:pt>
                <c:pt idx="81">
                  <c:v>43007</c:v>
                </c:pt>
                <c:pt idx="82">
                  <c:v>43010</c:v>
                </c:pt>
                <c:pt idx="83">
                  <c:v>43011</c:v>
                </c:pt>
                <c:pt idx="84">
                  <c:v>43012</c:v>
                </c:pt>
                <c:pt idx="85">
                  <c:v>43013</c:v>
                </c:pt>
                <c:pt idx="86">
                  <c:v>43014</c:v>
                </c:pt>
                <c:pt idx="87">
                  <c:v>43017</c:v>
                </c:pt>
                <c:pt idx="88">
                  <c:v>43018</c:v>
                </c:pt>
                <c:pt idx="89">
                  <c:v>43019</c:v>
                </c:pt>
                <c:pt idx="90">
                  <c:v>43020</c:v>
                </c:pt>
                <c:pt idx="91">
                  <c:v>43021</c:v>
                </c:pt>
                <c:pt idx="92">
                  <c:v>43024</c:v>
                </c:pt>
                <c:pt idx="93">
                  <c:v>43025</c:v>
                </c:pt>
                <c:pt idx="94">
                  <c:v>43026</c:v>
                </c:pt>
                <c:pt idx="95">
                  <c:v>43027</c:v>
                </c:pt>
                <c:pt idx="96">
                  <c:v>43028</c:v>
                </c:pt>
                <c:pt idx="97">
                  <c:v>43031</c:v>
                </c:pt>
                <c:pt idx="98">
                  <c:v>43032</c:v>
                </c:pt>
                <c:pt idx="99">
                  <c:v>43033</c:v>
                </c:pt>
                <c:pt idx="100">
                  <c:v>43034</c:v>
                </c:pt>
                <c:pt idx="101">
                  <c:v>43035</c:v>
                </c:pt>
                <c:pt idx="102">
                  <c:v>43038</c:v>
                </c:pt>
                <c:pt idx="103">
                  <c:v>43039</c:v>
                </c:pt>
                <c:pt idx="104">
                  <c:v>43040</c:v>
                </c:pt>
                <c:pt idx="105">
                  <c:v>43041</c:v>
                </c:pt>
                <c:pt idx="106">
                  <c:v>43042</c:v>
                </c:pt>
                <c:pt idx="107">
                  <c:v>43045</c:v>
                </c:pt>
                <c:pt idx="108">
                  <c:v>43046</c:v>
                </c:pt>
                <c:pt idx="109">
                  <c:v>43047</c:v>
                </c:pt>
                <c:pt idx="110">
                  <c:v>43048</c:v>
                </c:pt>
                <c:pt idx="111">
                  <c:v>43049</c:v>
                </c:pt>
                <c:pt idx="112">
                  <c:v>43052</c:v>
                </c:pt>
                <c:pt idx="113">
                  <c:v>43053</c:v>
                </c:pt>
                <c:pt idx="114">
                  <c:v>43054</c:v>
                </c:pt>
                <c:pt idx="115">
                  <c:v>43055</c:v>
                </c:pt>
                <c:pt idx="116">
                  <c:v>43056</c:v>
                </c:pt>
                <c:pt idx="117">
                  <c:v>43059</c:v>
                </c:pt>
                <c:pt idx="118">
                  <c:v>43060</c:v>
                </c:pt>
                <c:pt idx="119">
                  <c:v>43061</c:v>
                </c:pt>
                <c:pt idx="120">
                  <c:v>43062</c:v>
                </c:pt>
                <c:pt idx="121">
                  <c:v>43063</c:v>
                </c:pt>
                <c:pt idx="122">
                  <c:v>43066</c:v>
                </c:pt>
                <c:pt idx="123">
                  <c:v>43067</c:v>
                </c:pt>
                <c:pt idx="124">
                  <c:v>43068</c:v>
                </c:pt>
                <c:pt idx="125">
                  <c:v>43069</c:v>
                </c:pt>
                <c:pt idx="126">
                  <c:v>43070</c:v>
                </c:pt>
                <c:pt idx="127">
                  <c:v>43073</c:v>
                </c:pt>
                <c:pt idx="128">
                  <c:v>43074</c:v>
                </c:pt>
                <c:pt idx="129">
                  <c:v>43075</c:v>
                </c:pt>
                <c:pt idx="130">
                  <c:v>43076</c:v>
                </c:pt>
                <c:pt idx="131">
                  <c:v>43077</c:v>
                </c:pt>
                <c:pt idx="132">
                  <c:v>43080</c:v>
                </c:pt>
                <c:pt idx="133">
                  <c:v>43081</c:v>
                </c:pt>
                <c:pt idx="134">
                  <c:v>43082</c:v>
                </c:pt>
                <c:pt idx="135">
                  <c:v>43083</c:v>
                </c:pt>
                <c:pt idx="136">
                  <c:v>43084</c:v>
                </c:pt>
                <c:pt idx="137">
                  <c:v>43087</c:v>
                </c:pt>
                <c:pt idx="138">
                  <c:v>43088</c:v>
                </c:pt>
                <c:pt idx="139">
                  <c:v>43089</c:v>
                </c:pt>
                <c:pt idx="140">
                  <c:v>43090</c:v>
                </c:pt>
                <c:pt idx="141">
                  <c:v>43091</c:v>
                </c:pt>
                <c:pt idx="142">
                  <c:v>43096</c:v>
                </c:pt>
                <c:pt idx="143">
                  <c:v>43097</c:v>
                </c:pt>
                <c:pt idx="144">
                  <c:v>43098</c:v>
                </c:pt>
                <c:pt idx="145">
                  <c:v>43099</c:v>
                </c:pt>
                <c:pt idx="146">
                  <c:v>43100</c:v>
                </c:pt>
                <c:pt idx="147">
                  <c:v>43101</c:v>
                </c:pt>
                <c:pt idx="148">
                  <c:v>43102</c:v>
                </c:pt>
                <c:pt idx="149">
                  <c:v>43103</c:v>
                </c:pt>
                <c:pt idx="150">
                  <c:v>43104</c:v>
                </c:pt>
                <c:pt idx="151">
                  <c:v>43105</c:v>
                </c:pt>
                <c:pt idx="152">
                  <c:v>43108</c:v>
                </c:pt>
                <c:pt idx="153">
                  <c:v>43109</c:v>
                </c:pt>
                <c:pt idx="154">
                  <c:v>43110</c:v>
                </c:pt>
                <c:pt idx="155">
                  <c:v>43111</c:v>
                </c:pt>
                <c:pt idx="156">
                  <c:v>43112</c:v>
                </c:pt>
                <c:pt idx="157">
                  <c:v>43115</c:v>
                </c:pt>
                <c:pt idx="158">
                  <c:v>43116</c:v>
                </c:pt>
                <c:pt idx="159">
                  <c:v>43117</c:v>
                </c:pt>
                <c:pt idx="160">
                  <c:v>43118</c:v>
                </c:pt>
                <c:pt idx="161">
                  <c:v>43119</c:v>
                </c:pt>
                <c:pt idx="162">
                  <c:v>43122</c:v>
                </c:pt>
                <c:pt idx="163">
                  <c:v>43123</c:v>
                </c:pt>
                <c:pt idx="164">
                  <c:v>43124</c:v>
                </c:pt>
                <c:pt idx="165">
                  <c:v>43125</c:v>
                </c:pt>
                <c:pt idx="166">
                  <c:v>43126</c:v>
                </c:pt>
                <c:pt idx="167">
                  <c:v>43129</c:v>
                </c:pt>
                <c:pt idx="168">
                  <c:v>43130</c:v>
                </c:pt>
                <c:pt idx="169">
                  <c:v>43131</c:v>
                </c:pt>
                <c:pt idx="170">
                  <c:v>43132</c:v>
                </c:pt>
                <c:pt idx="171">
                  <c:v>43133</c:v>
                </c:pt>
                <c:pt idx="172">
                  <c:v>43136</c:v>
                </c:pt>
                <c:pt idx="173">
                  <c:v>43137</c:v>
                </c:pt>
                <c:pt idx="174">
                  <c:v>43138</c:v>
                </c:pt>
                <c:pt idx="175">
                  <c:v>43139</c:v>
                </c:pt>
                <c:pt idx="176">
                  <c:v>43140</c:v>
                </c:pt>
                <c:pt idx="177">
                  <c:v>43143</c:v>
                </c:pt>
                <c:pt idx="178">
                  <c:v>43144</c:v>
                </c:pt>
                <c:pt idx="179">
                  <c:v>43145</c:v>
                </c:pt>
                <c:pt idx="180">
                  <c:v>43146</c:v>
                </c:pt>
                <c:pt idx="181">
                  <c:v>43147</c:v>
                </c:pt>
                <c:pt idx="182">
                  <c:v>43150</c:v>
                </c:pt>
                <c:pt idx="183">
                  <c:v>43151</c:v>
                </c:pt>
                <c:pt idx="184">
                  <c:v>43152</c:v>
                </c:pt>
                <c:pt idx="185">
                  <c:v>43153</c:v>
                </c:pt>
                <c:pt idx="186">
                  <c:v>43154</c:v>
                </c:pt>
                <c:pt idx="187">
                  <c:v>43157</c:v>
                </c:pt>
                <c:pt idx="188">
                  <c:v>43158</c:v>
                </c:pt>
                <c:pt idx="189">
                  <c:v>43159</c:v>
                </c:pt>
                <c:pt idx="190">
                  <c:v>43160</c:v>
                </c:pt>
                <c:pt idx="191">
                  <c:v>43161</c:v>
                </c:pt>
                <c:pt idx="192">
                  <c:v>43164</c:v>
                </c:pt>
                <c:pt idx="193">
                  <c:v>43165</c:v>
                </c:pt>
                <c:pt idx="194">
                  <c:v>43166</c:v>
                </c:pt>
                <c:pt idx="195">
                  <c:v>43167</c:v>
                </c:pt>
                <c:pt idx="196">
                  <c:v>43168</c:v>
                </c:pt>
                <c:pt idx="197">
                  <c:v>43171</c:v>
                </c:pt>
                <c:pt idx="198">
                  <c:v>43172</c:v>
                </c:pt>
                <c:pt idx="199">
                  <c:v>43173</c:v>
                </c:pt>
                <c:pt idx="200">
                  <c:v>43174</c:v>
                </c:pt>
                <c:pt idx="201">
                  <c:v>43175</c:v>
                </c:pt>
                <c:pt idx="202">
                  <c:v>43178</c:v>
                </c:pt>
                <c:pt idx="203">
                  <c:v>43179</c:v>
                </c:pt>
                <c:pt idx="204">
                  <c:v>43180</c:v>
                </c:pt>
                <c:pt idx="205">
                  <c:v>43181</c:v>
                </c:pt>
                <c:pt idx="206">
                  <c:v>43182</c:v>
                </c:pt>
                <c:pt idx="207">
                  <c:v>43185</c:v>
                </c:pt>
                <c:pt idx="208">
                  <c:v>43186</c:v>
                </c:pt>
                <c:pt idx="209">
                  <c:v>43187</c:v>
                </c:pt>
                <c:pt idx="210">
                  <c:v>43188</c:v>
                </c:pt>
                <c:pt idx="211">
                  <c:v>43193</c:v>
                </c:pt>
                <c:pt idx="212">
                  <c:v>43194</c:v>
                </c:pt>
                <c:pt idx="213">
                  <c:v>43195</c:v>
                </c:pt>
                <c:pt idx="214">
                  <c:v>43196</c:v>
                </c:pt>
                <c:pt idx="215">
                  <c:v>43199</c:v>
                </c:pt>
                <c:pt idx="216">
                  <c:v>43200</c:v>
                </c:pt>
                <c:pt idx="217">
                  <c:v>43201</c:v>
                </c:pt>
                <c:pt idx="218">
                  <c:v>43202</c:v>
                </c:pt>
                <c:pt idx="219">
                  <c:v>43203</c:v>
                </c:pt>
                <c:pt idx="220">
                  <c:v>43206</c:v>
                </c:pt>
                <c:pt idx="221">
                  <c:v>43207</c:v>
                </c:pt>
                <c:pt idx="222">
                  <c:v>43208</c:v>
                </c:pt>
                <c:pt idx="223">
                  <c:v>43209</c:v>
                </c:pt>
                <c:pt idx="224">
                  <c:v>43210</c:v>
                </c:pt>
                <c:pt idx="225">
                  <c:v>43213</c:v>
                </c:pt>
                <c:pt idx="226">
                  <c:v>43214</c:v>
                </c:pt>
                <c:pt idx="227">
                  <c:v>43215</c:v>
                </c:pt>
                <c:pt idx="228">
                  <c:v>43216</c:v>
                </c:pt>
                <c:pt idx="229">
                  <c:v>43217</c:v>
                </c:pt>
                <c:pt idx="230">
                  <c:v>43220</c:v>
                </c:pt>
                <c:pt idx="231">
                  <c:v>43221</c:v>
                </c:pt>
                <c:pt idx="232">
                  <c:v>43222</c:v>
                </c:pt>
                <c:pt idx="233">
                  <c:v>43223</c:v>
                </c:pt>
                <c:pt idx="234">
                  <c:v>43224</c:v>
                </c:pt>
                <c:pt idx="235">
                  <c:v>43227</c:v>
                </c:pt>
                <c:pt idx="236">
                  <c:v>43228</c:v>
                </c:pt>
                <c:pt idx="237">
                  <c:v>43229</c:v>
                </c:pt>
                <c:pt idx="238">
                  <c:v>43230</c:v>
                </c:pt>
                <c:pt idx="239">
                  <c:v>43231</c:v>
                </c:pt>
                <c:pt idx="240">
                  <c:v>43234</c:v>
                </c:pt>
                <c:pt idx="241">
                  <c:v>43235</c:v>
                </c:pt>
                <c:pt idx="242">
                  <c:v>43236</c:v>
                </c:pt>
                <c:pt idx="243">
                  <c:v>43237</c:v>
                </c:pt>
                <c:pt idx="244">
                  <c:v>43238</c:v>
                </c:pt>
                <c:pt idx="245">
                  <c:v>43241</c:v>
                </c:pt>
                <c:pt idx="246">
                  <c:v>43242</c:v>
                </c:pt>
                <c:pt idx="247">
                  <c:v>43243</c:v>
                </c:pt>
                <c:pt idx="248">
                  <c:v>43244</c:v>
                </c:pt>
                <c:pt idx="249">
                  <c:v>43245</c:v>
                </c:pt>
                <c:pt idx="250">
                  <c:v>43248</c:v>
                </c:pt>
                <c:pt idx="251">
                  <c:v>43249</c:v>
                </c:pt>
                <c:pt idx="252">
                  <c:v>43250</c:v>
                </c:pt>
                <c:pt idx="253">
                  <c:v>43251</c:v>
                </c:pt>
                <c:pt idx="254">
                  <c:v>43252</c:v>
                </c:pt>
                <c:pt idx="255">
                  <c:v>43255</c:v>
                </c:pt>
                <c:pt idx="256">
                  <c:v>43256</c:v>
                </c:pt>
                <c:pt idx="257">
                  <c:v>43257</c:v>
                </c:pt>
                <c:pt idx="258">
                  <c:v>43258</c:v>
                </c:pt>
                <c:pt idx="259">
                  <c:v>43259</c:v>
                </c:pt>
                <c:pt idx="260">
                  <c:v>43263</c:v>
                </c:pt>
                <c:pt idx="261">
                  <c:v>43264</c:v>
                </c:pt>
                <c:pt idx="262">
                  <c:v>43265</c:v>
                </c:pt>
                <c:pt idx="263">
                  <c:v>43266</c:v>
                </c:pt>
                <c:pt idx="264">
                  <c:v>43269</c:v>
                </c:pt>
                <c:pt idx="265">
                  <c:v>43270</c:v>
                </c:pt>
                <c:pt idx="266">
                  <c:v>43271</c:v>
                </c:pt>
                <c:pt idx="267">
                  <c:v>43272</c:v>
                </c:pt>
                <c:pt idx="268">
                  <c:v>43273</c:v>
                </c:pt>
                <c:pt idx="269">
                  <c:v>43276</c:v>
                </c:pt>
                <c:pt idx="270">
                  <c:v>43277</c:v>
                </c:pt>
                <c:pt idx="271">
                  <c:v>43278</c:v>
                </c:pt>
                <c:pt idx="272">
                  <c:v>43279</c:v>
                </c:pt>
                <c:pt idx="273">
                  <c:v>43280</c:v>
                </c:pt>
              </c:numCache>
            </c:numRef>
          </c:cat>
          <c:val>
            <c:numRef>
              <c:f>'Share price '!$C$2808:$C$3081</c:f>
              <c:numCache>
                <c:formatCode>#,##0_);\(#,##0\);\-</c:formatCode>
                <c:ptCount val="274"/>
                <c:pt idx="0">
                  <c:v>1800</c:v>
                </c:pt>
                <c:pt idx="1">
                  <c:v>1208</c:v>
                </c:pt>
                <c:pt idx="2">
                  <c:v>2483</c:v>
                </c:pt>
                <c:pt idx="3">
                  <c:v>0</c:v>
                </c:pt>
                <c:pt idx="4">
                  <c:v>837</c:v>
                </c:pt>
                <c:pt idx="5">
                  <c:v>569</c:v>
                </c:pt>
                <c:pt idx="6">
                  <c:v>242</c:v>
                </c:pt>
                <c:pt idx="7">
                  <c:v>3640</c:v>
                </c:pt>
                <c:pt idx="8">
                  <c:v>88</c:v>
                </c:pt>
                <c:pt idx="9">
                  <c:v>0</c:v>
                </c:pt>
                <c:pt idx="10">
                  <c:v>0</c:v>
                </c:pt>
                <c:pt idx="11">
                  <c:v>0</c:v>
                </c:pt>
                <c:pt idx="12">
                  <c:v>1783</c:v>
                </c:pt>
                <c:pt idx="13">
                  <c:v>327</c:v>
                </c:pt>
                <c:pt idx="14">
                  <c:v>5185</c:v>
                </c:pt>
                <c:pt idx="15">
                  <c:v>121</c:v>
                </c:pt>
                <c:pt idx="16">
                  <c:v>1119</c:v>
                </c:pt>
                <c:pt idx="17">
                  <c:v>0</c:v>
                </c:pt>
                <c:pt idx="18">
                  <c:v>22912</c:v>
                </c:pt>
                <c:pt idx="19">
                  <c:v>18894</c:v>
                </c:pt>
                <c:pt idx="20">
                  <c:v>1556</c:v>
                </c:pt>
                <c:pt idx="21">
                  <c:v>0</c:v>
                </c:pt>
                <c:pt idx="22">
                  <c:v>0</c:v>
                </c:pt>
                <c:pt idx="23">
                  <c:v>1790</c:v>
                </c:pt>
                <c:pt idx="24">
                  <c:v>5000</c:v>
                </c:pt>
                <c:pt idx="25">
                  <c:v>1060</c:v>
                </c:pt>
                <c:pt idx="26">
                  <c:v>22584</c:v>
                </c:pt>
                <c:pt idx="27">
                  <c:v>0</c:v>
                </c:pt>
                <c:pt idx="28">
                  <c:v>456</c:v>
                </c:pt>
                <c:pt idx="29">
                  <c:v>155635</c:v>
                </c:pt>
                <c:pt idx="30">
                  <c:v>0</c:v>
                </c:pt>
                <c:pt idx="31">
                  <c:v>114630</c:v>
                </c:pt>
                <c:pt idx="32">
                  <c:v>0</c:v>
                </c:pt>
                <c:pt idx="33">
                  <c:v>0</c:v>
                </c:pt>
                <c:pt idx="34">
                  <c:v>21733</c:v>
                </c:pt>
                <c:pt idx="35">
                  <c:v>2812</c:v>
                </c:pt>
                <c:pt idx="36">
                  <c:v>1587</c:v>
                </c:pt>
                <c:pt idx="37">
                  <c:v>169077</c:v>
                </c:pt>
                <c:pt idx="38">
                  <c:v>0</c:v>
                </c:pt>
                <c:pt idx="39">
                  <c:v>418</c:v>
                </c:pt>
                <c:pt idx="40">
                  <c:v>15410</c:v>
                </c:pt>
                <c:pt idx="41">
                  <c:v>103779</c:v>
                </c:pt>
                <c:pt idx="42">
                  <c:v>348</c:v>
                </c:pt>
                <c:pt idx="43">
                  <c:v>66997</c:v>
                </c:pt>
                <c:pt idx="44">
                  <c:v>0</c:v>
                </c:pt>
                <c:pt idx="45" formatCode="_(* #,##0.00_);_(* \(#,##0.00\);_(* &quot;-&quot;??_);_(@_)">
                  <c:v>5036</c:v>
                </c:pt>
                <c:pt idx="46">
                  <c:v>750</c:v>
                </c:pt>
                <c:pt idx="47">
                  <c:v>0</c:v>
                </c:pt>
                <c:pt idx="48">
                  <c:v>1409</c:v>
                </c:pt>
                <c:pt idx="49">
                  <c:v>17107</c:v>
                </c:pt>
                <c:pt idx="50">
                  <c:v>5953</c:v>
                </c:pt>
                <c:pt idx="51">
                  <c:v>0</c:v>
                </c:pt>
                <c:pt idx="52">
                  <c:v>131</c:v>
                </c:pt>
                <c:pt idx="53">
                  <c:v>209</c:v>
                </c:pt>
                <c:pt idx="54">
                  <c:v>0</c:v>
                </c:pt>
                <c:pt idx="55">
                  <c:v>5000</c:v>
                </c:pt>
                <c:pt idx="56">
                  <c:v>176000</c:v>
                </c:pt>
                <c:pt idx="57">
                  <c:v>10416</c:v>
                </c:pt>
                <c:pt idx="58">
                  <c:v>28070</c:v>
                </c:pt>
                <c:pt idx="59">
                  <c:v>97822</c:v>
                </c:pt>
                <c:pt idx="60">
                  <c:v>5083</c:v>
                </c:pt>
                <c:pt idx="61">
                  <c:v>9803</c:v>
                </c:pt>
                <c:pt idx="62">
                  <c:v>500000</c:v>
                </c:pt>
                <c:pt idx="63">
                  <c:v>0</c:v>
                </c:pt>
                <c:pt idx="64">
                  <c:v>1000</c:v>
                </c:pt>
                <c:pt idx="65">
                  <c:v>731</c:v>
                </c:pt>
                <c:pt idx="66">
                  <c:v>450</c:v>
                </c:pt>
                <c:pt idx="67">
                  <c:v>2284</c:v>
                </c:pt>
                <c:pt idx="68">
                  <c:v>0</c:v>
                </c:pt>
                <c:pt idx="69">
                  <c:v>1508</c:v>
                </c:pt>
                <c:pt idx="70">
                  <c:v>520</c:v>
                </c:pt>
                <c:pt idx="71">
                  <c:v>0</c:v>
                </c:pt>
                <c:pt idx="72">
                  <c:v>2640</c:v>
                </c:pt>
                <c:pt idx="73">
                  <c:v>7370</c:v>
                </c:pt>
                <c:pt idx="74">
                  <c:v>833</c:v>
                </c:pt>
                <c:pt idx="75">
                  <c:v>1270</c:v>
                </c:pt>
                <c:pt idx="76">
                  <c:v>2726</c:v>
                </c:pt>
                <c:pt idx="77">
                  <c:v>0</c:v>
                </c:pt>
                <c:pt idx="78">
                  <c:v>227</c:v>
                </c:pt>
                <c:pt idx="79">
                  <c:v>35221</c:v>
                </c:pt>
                <c:pt idx="80">
                  <c:v>42342</c:v>
                </c:pt>
                <c:pt idx="81">
                  <c:v>0</c:v>
                </c:pt>
                <c:pt idx="82">
                  <c:v>39690</c:v>
                </c:pt>
                <c:pt idx="83">
                  <c:v>836</c:v>
                </c:pt>
                <c:pt idx="84">
                  <c:v>4021</c:v>
                </c:pt>
                <c:pt idx="85">
                  <c:v>0</c:v>
                </c:pt>
                <c:pt idx="86">
                  <c:v>3561</c:v>
                </c:pt>
                <c:pt idx="87">
                  <c:v>9663</c:v>
                </c:pt>
                <c:pt idx="88">
                  <c:v>361</c:v>
                </c:pt>
                <c:pt idx="89">
                  <c:v>159</c:v>
                </c:pt>
                <c:pt idx="90">
                  <c:v>654</c:v>
                </c:pt>
                <c:pt idx="91">
                  <c:v>0</c:v>
                </c:pt>
                <c:pt idx="92">
                  <c:v>266</c:v>
                </c:pt>
                <c:pt idx="93">
                  <c:v>0</c:v>
                </c:pt>
                <c:pt idx="94">
                  <c:v>7905</c:v>
                </c:pt>
                <c:pt idx="95">
                  <c:v>3088</c:v>
                </c:pt>
                <c:pt idx="96">
                  <c:v>101</c:v>
                </c:pt>
                <c:pt idx="97">
                  <c:v>0</c:v>
                </c:pt>
                <c:pt idx="98">
                  <c:v>3317</c:v>
                </c:pt>
                <c:pt idx="99">
                  <c:v>469</c:v>
                </c:pt>
                <c:pt idx="100">
                  <c:v>0</c:v>
                </c:pt>
                <c:pt idx="101">
                  <c:v>836</c:v>
                </c:pt>
                <c:pt idx="102">
                  <c:v>1422</c:v>
                </c:pt>
                <c:pt idx="103">
                  <c:v>475</c:v>
                </c:pt>
                <c:pt idx="104">
                  <c:v>16226</c:v>
                </c:pt>
                <c:pt idx="105">
                  <c:v>266</c:v>
                </c:pt>
                <c:pt idx="106">
                  <c:v>0</c:v>
                </c:pt>
                <c:pt idx="107">
                  <c:v>26967</c:v>
                </c:pt>
                <c:pt idx="108">
                  <c:v>5000</c:v>
                </c:pt>
                <c:pt idx="110">
                  <c:v>1208</c:v>
                </c:pt>
                <c:pt idx="111">
                  <c:v>1879</c:v>
                </c:pt>
                <c:pt idx="112">
                  <c:v>83</c:v>
                </c:pt>
                <c:pt idx="113">
                  <c:v>1082</c:v>
                </c:pt>
                <c:pt idx="114">
                  <c:v>1191</c:v>
                </c:pt>
                <c:pt idx="115">
                  <c:v>18398</c:v>
                </c:pt>
                <c:pt idx="116">
                  <c:v>0</c:v>
                </c:pt>
                <c:pt idx="117">
                  <c:v>4851</c:v>
                </c:pt>
                <c:pt idx="118">
                  <c:v>38773</c:v>
                </c:pt>
                <c:pt idx="119">
                  <c:v>0</c:v>
                </c:pt>
                <c:pt idx="120">
                  <c:v>19934</c:v>
                </c:pt>
                <c:pt idx="121">
                  <c:v>55</c:v>
                </c:pt>
                <c:pt idx="122">
                  <c:v>1239</c:v>
                </c:pt>
                <c:pt idx="123">
                  <c:v>8600</c:v>
                </c:pt>
                <c:pt idx="124">
                  <c:v>0</c:v>
                </c:pt>
                <c:pt idx="125">
                  <c:v>42701</c:v>
                </c:pt>
                <c:pt idx="126">
                  <c:v>0</c:v>
                </c:pt>
                <c:pt idx="127">
                  <c:v>0</c:v>
                </c:pt>
                <c:pt idx="128">
                  <c:v>0</c:v>
                </c:pt>
                <c:pt idx="129">
                  <c:v>10132</c:v>
                </c:pt>
                <c:pt idx="130">
                  <c:v>0</c:v>
                </c:pt>
                <c:pt idx="131">
                  <c:v>1967</c:v>
                </c:pt>
                <c:pt idx="132">
                  <c:v>56409</c:v>
                </c:pt>
                <c:pt idx="133">
                  <c:v>1370</c:v>
                </c:pt>
                <c:pt idx="134">
                  <c:v>1360</c:v>
                </c:pt>
                <c:pt idx="135">
                  <c:v>198</c:v>
                </c:pt>
                <c:pt idx="136">
                  <c:v>0</c:v>
                </c:pt>
                <c:pt idx="137">
                  <c:v>0</c:v>
                </c:pt>
                <c:pt idx="138">
                  <c:v>109807</c:v>
                </c:pt>
                <c:pt idx="139">
                  <c:v>0</c:v>
                </c:pt>
                <c:pt idx="140">
                  <c:v>10000</c:v>
                </c:pt>
                <c:pt idx="141">
                  <c:v>0</c:v>
                </c:pt>
                <c:pt idx="142">
                  <c:v>0</c:v>
                </c:pt>
                <c:pt idx="143">
                  <c:v>8815</c:v>
                </c:pt>
                <c:pt idx="144">
                  <c:v>0</c:v>
                </c:pt>
                <c:pt idx="145">
                  <c:v>0</c:v>
                </c:pt>
                <c:pt idx="146">
                  <c:v>0</c:v>
                </c:pt>
                <c:pt idx="147">
                  <c:v>0</c:v>
                </c:pt>
                <c:pt idx="148">
                  <c:v>0</c:v>
                </c:pt>
                <c:pt idx="149">
                  <c:v>0</c:v>
                </c:pt>
                <c:pt idx="150">
                  <c:v>77</c:v>
                </c:pt>
                <c:pt idx="151">
                  <c:v>1397</c:v>
                </c:pt>
                <c:pt idx="152">
                  <c:v>12086</c:v>
                </c:pt>
                <c:pt idx="153">
                  <c:v>0</c:v>
                </c:pt>
                <c:pt idx="154">
                  <c:v>0</c:v>
                </c:pt>
                <c:pt idx="155">
                  <c:v>25615</c:v>
                </c:pt>
                <c:pt idx="156">
                  <c:v>0</c:v>
                </c:pt>
                <c:pt idx="157">
                  <c:v>0</c:v>
                </c:pt>
                <c:pt idx="158">
                  <c:v>0</c:v>
                </c:pt>
                <c:pt idx="159">
                  <c:v>443</c:v>
                </c:pt>
                <c:pt idx="160">
                  <c:v>0</c:v>
                </c:pt>
                <c:pt idx="161">
                  <c:v>8290</c:v>
                </c:pt>
                <c:pt idx="162">
                  <c:v>11518</c:v>
                </c:pt>
                <c:pt idx="163">
                  <c:v>0</c:v>
                </c:pt>
                <c:pt idx="164">
                  <c:v>710</c:v>
                </c:pt>
                <c:pt idx="165">
                  <c:v>35755</c:v>
                </c:pt>
                <c:pt idx="166">
                  <c:v>5227</c:v>
                </c:pt>
                <c:pt idx="167">
                  <c:v>0</c:v>
                </c:pt>
                <c:pt idx="168">
                  <c:v>11854</c:v>
                </c:pt>
                <c:pt idx="169">
                  <c:v>0</c:v>
                </c:pt>
                <c:pt idx="170">
                  <c:v>52000</c:v>
                </c:pt>
                <c:pt idx="171">
                  <c:v>0</c:v>
                </c:pt>
                <c:pt idx="172">
                  <c:v>3353</c:v>
                </c:pt>
                <c:pt idx="173">
                  <c:v>137</c:v>
                </c:pt>
                <c:pt idx="174">
                  <c:v>147</c:v>
                </c:pt>
                <c:pt idx="175">
                  <c:v>0</c:v>
                </c:pt>
                <c:pt idx="176">
                  <c:v>24859</c:v>
                </c:pt>
                <c:pt idx="177">
                  <c:v>0</c:v>
                </c:pt>
                <c:pt idx="178">
                  <c:v>471</c:v>
                </c:pt>
                <c:pt idx="179">
                  <c:v>23893</c:v>
                </c:pt>
                <c:pt idx="180">
                  <c:v>0</c:v>
                </c:pt>
                <c:pt idx="181">
                  <c:v>0</c:v>
                </c:pt>
                <c:pt idx="182">
                  <c:v>0</c:v>
                </c:pt>
                <c:pt idx="183">
                  <c:v>631</c:v>
                </c:pt>
                <c:pt idx="184">
                  <c:v>20000</c:v>
                </c:pt>
                <c:pt idx="185">
                  <c:v>52110</c:v>
                </c:pt>
                <c:pt idx="186">
                  <c:v>0</c:v>
                </c:pt>
                <c:pt idx="187">
                  <c:v>4811</c:v>
                </c:pt>
                <c:pt idx="188">
                  <c:v>121676</c:v>
                </c:pt>
                <c:pt idx="189">
                  <c:v>0</c:v>
                </c:pt>
                <c:pt idx="190">
                  <c:v>8454</c:v>
                </c:pt>
                <c:pt idx="191">
                  <c:v>4070</c:v>
                </c:pt>
                <c:pt idx="192">
                  <c:v>0</c:v>
                </c:pt>
                <c:pt idx="193">
                  <c:v>78277</c:v>
                </c:pt>
                <c:pt idx="194">
                  <c:v>500</c:v>
                </c:pt>
                <c:pt idx="195">
                  <c:v>200</c:v>
                </c:pt>
                <c:pt idx="196">
                  <c:v>0</c:v>
                </c:pt>
                <c:pt idx="197">
                  <c:v>0</c:v>
                </c:pt>
                <c:pt idx="198">
                  <c:v>0</c:v>
                </c:pt>
                <c:pt idx="199">
                  <c:v>183</c:v>
                </c:pt>
                <c:pt idx="200">
                  <c:v>15108</c:v>
                </c:pt>
                <c:pt idx="201">
                  <c:v>0</c:v>
                </c:pt>
                <c:pt idx="202">
                  <c:v>1792</c:v>
                </c:pt>
                <c:pt idx="203">
                  <c:v>12500</c:v>
                </c:pt>
                <c:pt idx="204">
                  <c:v>46611</c:v>
                </c:pt>
                <c:pt idx="205">
                  <c:v>0</c:v>
                </c:pt>
                <c:pt idx="206">
                  <c:v>0</c:v>
                </c:pt>
                <c:pt idx="207">
                  <c:v>0</c:v>
                </c:pt>
                <c:pt idx="208">
                  <c:v>0</c:v>
                </c:pt>
                <c:pt idx="209">
                  <c:v>457</c:v>
                </c:pt>
                <c:pt idx="210">
                  <c:v>0</c:v>
                </c:pt>
                <c:pt idx="211">
                  <c:v>0</c:v>
                </c:pt>
                <c:pt idx="212">
                  <c:v>94507</c:v>
                </c:pt>
                <c:pt idx="213">
                  <c:v>0</c:v>
                </c:pt>
                <c:pt idx="214">
                  <c:v>0</c:v>
                </c:pt>
                <c:pt idx="215">
                  <c:v>2048</c:v>
                </c:pt>
                <c:pt idx="216">
                  <c:v>1000</c:v>
                </c:pt>
                <c:pt idx="217">
                  <c:v>0</c:v>
                </c:pt>
                <c:pt idx="218">
                  <c:v>0</c:v>
                </c:pt>
                <c:pt idx="219">
                  <c:v>0</c:v>
                </c:pt>
                <c:pt idx="220">
                  <c:v>2800</c:v>
                </c:pt>
                <c:pt idx="221">
                  <c:v>11374</c:v>
                </c:pt>
                <c:pt idx="222">
                  <c:v>0</c:v>
                </c:pt>
                <c:pt idx="223">
                  <c:v>0</c:v>
                </c:pt>
                <c:pt idx="224">
                  <c:v>1156</c:v>
                </c:pt>
                <c:pt idx="225">
                  <c:v>2800</c:v>
                </c:pt>
                <c:pt idx="226">
                  <c:v>0</c:v>
                </c:pt>
                <c:pt idx="227">
                  <c:v>0</c:v>
                </c:pt>
                <c:pt idx="228">
                  <c:v>0</c:v>
                </c:pt>
                <c:pt idx="229">
                  <c:v>5717</c:v>
                </c:pt>
                <c:pt idx="230">
                  <c:v>0</c:v>
                </c:pt>
                <c:pt idx="231">
                  <c:v>3260</c:v>
                </c:pt>
                <c:pt idx="232">
                  <c:v>0</c:v>
                </c:pt>
                <c:pt idx="233">
                  <c:v>0</c:v>
                </c:pt>
                <c:pt idx="234">
                  <c:v>0</c:v>
                </c:pt>
                <c:pt idx="235">
                  <c:v>1013</c:v>
                </c:pt>
                <c:pt idx="236">
                  <c:v>0</c:v>
                </c:pt>
                <c:pt idx="237">
                  <c:v>0</c:v>
                </c:pt>
                <c:pt idx="238">
                  <c:v>17089</c:v>
                </c:pt>
                <c:pt idx="239">
                  <c:v>0</c:v>
                </c:pt>
                <c:pt idx="240">
                  <c:v>0</c:v>
                </c:pt>
                <c:pt idx="241">
                  <c:v>1712</c:v>
                </c:pt>
                <c:pt idx="242">
                  <c:v>0</c:v>
                </c:pt>
                <c:pt idx="243">
                  <c:v>0</c:v>
                </c:pt>
                <c:pt idx="244">
                  <c:v>0</c:v>
                </c:pt>
                <c:pt idx="245">
                  <c:v>0</c:v>
                </c:pt>
                <c:pt idx="246">
                  <c:v>11108</c:v>
                </c:pt>
                <c:pt idx="247">
                  <c:v>9873</c:v>
                </c:pt>
                <c:pt idx="248">
                  <c:v>0</c:v>
                </c:pt>
                <c:pt idx="249">
                  <c:v>0</c:v>
                </c:pt>
                <c:pt idx="250">
                  <c:v>0</c:v>
                </c:pt>
                <c:pt idx="251">
                  <c:v>0</c:v>
                </c:pt>
                <c:pt idx="252">
                  <c:v>0</c:v>
                </c:pt>
                <c:pt idx="253">
                  <c:v>1639</c:v>
                </c:pt>
                <c:pt idx="254">
                  <c:v>0</c:v>
                </c:pt>
                <c:pt idx="255">
                  <c:v>0</c:v>
                </c:pt>
                <c:pt idx="256">
                  <c:v>0</c:v>
                </c:pt>
                <c:pt idx="257">
                  <c:v>0</c:v>
                </c:pt>
                <c:pt idx="258">
                  <c:v>0</c:v>
                </c:pt>
                <c:pt idx="259">
                  <c:v>0</c:v>
                </c:pt>
                <c:pt idx="260">
                  <c:v>0</c:v>
                </c:pt>
                <c:pt idx="261">
                  <c:v>879</c:v>
                </c:pt>
                <c:pt idx="262">
                  <c:v>0</c:v>
                </c:pt>
                <c:pt idx="263">
                  <c:v>0</c:v>
                </c:pt>
                <c:pt idx="264">
                  <c:v>0</c:v>
                </c:pt>
                <c:pt idx="265">
                  <c:v>0</c:v>
                </c:pt>
                <c:pt idx="266">
                  <c:v>0</c:v>
                </c:pt>
                <c:pt idx="267">
                  <c:v>0</c:v>
                </c:pt>
                <c:pt idx="268">
                  <c:v>0</c:v>
                </c:pt>
                <c:pt idx="269">
                  <c:v>0</c:v>
                </c:pt>
                <c:pt idx="270">
                  <c:v>0</c:v>
                </c:pt>
                <c:pt idx="271">
                  <c:v>596</c:v>
                </c:pt>
                <c:pt idx="272">
                  <c:v>0</c:v>
                </c:pt>
                <c:pt idx="273">
                  <c:v>580</c:v>
                </c:pt>
              </c:numCache>
            </c:numRef>
          </c:val>
          <c:smooth val="0"/>
        </c:ser>
        <c:dLbls>
          <c:showLegendKey val="0"/>
          <c:showVal val="0"/>
          <c:showCatName val="0"/>
          <c:showSerName val="0"/>
          <c:showPercent val="0"/>
          <c:showBubbleSize val="0"/>
        </c:dLbls>
        <c:marker val="1"/>
        <c:smooth val="0"/>
        <c:axId val="31037312"/>
        <c:axId val="31035392"/>
      </c:lineChart>
      <c:dateAx>
        <c:axId val="31032064"/>
        <c:scaling>
          <c:orientation val="minMax"/>
          <c:max val="43281"/>
          <c:min val="42887"/>
        </c:scaling>
        <c:delete val="0"/>
        <c:axPos val="b"/>
        <c:numFmt formatCode="mmm\-yy" sourceLinked="0"/>
        <c:majorTickMark val="out"/>
        <c:minorTickMark val="none"/>
        <c:tickLblPos val="nextTo"/>
        <c:txPr>
          <a:bodyPr/>
          <a:lstStyle/>
          <a:p>
            <a:pPr>
              <a:defRPr sz="1400" b="1"/>
            </a:pPr>
            <a:endParaRPr lang="en-US"/>
          </a:p>
        </c:txPr>
        <c:crossAx val="31033600"/>
        <c:crosses val="autoZero"/>
        <c:auto val="1"/>
        <c:lblOffset val="100"/>
        <c:baseTimeUnit val="days"/>
        <c:majorUnit val="3"/>
        <c:majorTimeUnit val="months"/>
      </c:dateAx>
      <c:valAx>
        <c:axId val="31033600"/>
        <c:scaling>
          <c:orientation val="minMax"/>
          <c:min val="6.2"/>
        </c:scaling>
        <c:delete val="0"/>
        <c:axPos val="l"/>
        <c:majorGridlines>
          <c:spPr>
            <a:ln>
              <a:prstDash val="sysDash"/>
            </a:ln>
          </c:spPr>
        </c:majorGridlines>
        <c:numFmt formatCode="\K#,##0.00_ ;[Red]\-\K#,##0.00\ " sourceLinked="0"/>
        <c:majorTickMark val="out"/>
        <c:minorTickMark val="none"/>
        <c:tickLblPos val="nextTo"/>
        <c:txPr>
          <a:bodyPr/>
          <a:lstStyle/>
          <a:p>
            <a:pPr>
              <a:defRPr b="1"/>
            </a:pPr>
            <a:endParaRPr lang="en-US"/>
          </a:p>
        </c:txPr>
        <c:crossAx val="31032064"/>
        <c:crosses val="autoZero"/>
        <c:crossBetween val="between"/>
      </c:valAx>
      <c:valAx>
        <c:axId val="31035392"/>
        <c:scaling>
          <c:orientation val="minMax"/>
          <c:max val="550000"/>
          <c:min val="0"/>
        </c:scaling>
        <c:delete val="0"/>
        <c:axPos val="r"/>
        <c:numFmt formatCode="#,##0.0_ ;[Red]\-#,##0.0\ " sourceLinked="0"/>
        <c:majorTickMark val="out"/>
        <c:minorTickMark val="none"/>
        <c:tickLblPos val="nextTo"/>
        <c:crossAx val="31037312"/>
        <c:crosses val="max"/>
        <c:crossBetween val="between"/>
        <c:minorUnit val="100000"/>
        <c:dispUnits>
          <c:builtInUnit val="hundredThousands"/>
        </c:dispUnits>
      </c:valAx>
      <c:dateAx>
        <c:axId val="31037312"/>
        <c:scaling>
          <c:orientation val="minMax"/>
        </c:scaling>
        <c:delete val="1"/>
        <c:axPos val="b"/>
        <c:numFmt formatCode="dd\ mmm\ yy" sourceLinked="1"/>
        <c:majorTickMark val="out"/>
        <c:minorTickMark val="none"/>
        <c:tickLblPos val="nextTo"/>
        <c:crossAx val="31035392"/>
        <c:crosses val="autoZero"/>
        <c:auto val="1"/>
        <c:lblOffset val="100"/>
        <c:baseTimeUnit val="days"/>
      </c:dateAx>
      <c:spPr>
        <a:ln>
          <a:noFill/>
        </a:ln>
      </c:spPr>
    </c:plotArea>
    <c:plotVisOnly val="1"/>
    <c:dispBlanksAs val="gap"/>
    <c:showDLblsOverMax val="0"/>
  </c:chart>
  <c:spPr>
    <a:ln>
      <a:noFill/>
    </a:ln>
  </c:spPr>
  <c:txPr>
    <a:bodyPr/>
    <a:lstStyle/>
    <a:p>
      <a:pPr>
        <a:defRPr sz="1200"/>
      </a:pPr>
      <a:endParaRPr lang="en-US"/>
    </a:p>
  </c:txPr>
  <c:externalData r:id="rId1">
    <c:autoUpdate val="0"/>
  </c:externalData>
  <c:userShapes r:id="rId2"/>
</c:chartSpace>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915066E-A2EF-4D37-BB58-FA8A906FF382}" type="doc">
      <dgm:prSet loTypeId="urn:microsoft.com/office/officeart/2005/8/layout/default" loCatId="list" qsTypeId="urn:microsoft.com/office/officeart/2005/8/quickstyle/simple1" qsCatId="simple" csTypeId="urn:microsoft.com/office/officeart/2005/8/colors/accent3_2" csCatId="accent3" phldr="1"/>
      <dgm:spPr/>
      <dgm:t>
        <a:bodyPr/>
        <a:lstStyle/>
        <a:p>
          <a:endParaRPr lang="en-AU"/>
        </a:p>
      </dgm:t>
    </dgm:pt>
    <dgm:pt modelId="{AA27CBE1-7BD6-4024-B450-AE3288FA879B}">
      <dgm:prSet custT="1"/>
      <dgm:spPr>
        <a:solidFill>
          <a:schemeClr val="accent3">
            <a:lumMod val="75000"/>
          </a:schemeClr>
        </a:solidFill>
      </dgm:spPr>
      <dgm:t>
        <a:bodyPr/>
        <a:lstStyle/>
        <a:p>
          <a:pPr algn="l" rtl="0"/>
          <a:r>
            <a:rPr lang="en-AU" sz="1600" b="1" dirty="0" smtClean="0"/>
            <a:t>Profit (NPAT)</a:t>
          </a:r>
          <a:br>
            <a:rPr lang="en-AU" sz="1600" b="1" dirty="0" smtClean="0"/>
          </a:br>
          <a:r>
            <a:rPr lang="en-AU" sz="1600" b="1" dirty="0" smtClean="0"/>
            <a:t>up 12.8</a:t>
          </a:r>
          <a:r>
            <a:rPr lang="en-AU" sz="1800" b="1" dirty="0" smtClean="0"/>
            <a:t>%</a:t>
          </a:r>
          <a:r>
            <a:rPr lang="en-AU" sz="1400" b="1" dirty="0" smtClean="0"/>
            <a:t> YOY </a:t>
          </a:r>
          <a:r>
            <a:rPr lang="en-AU" sz="1600" b="1" dirty="0" smtClean="0"/>
            <a:t>to</a:t>
          </a:r>
        </a:p>
        <a:p>
          <a:pPr algn="l" rtl="0"/>
          <a:r>
            <a:rPr lang="en-AU" sz="2400" b="1" dirty="0" smtClean="0">
              <a:solidFill>
                <a:srgbClr val="FFFF00"/>
              </a:solidFill>
              <a:effectLst/>
            </a:rPr>
            <a:t>K418.3m</a:t>
          </a:r>
          <a:endParaRPr lang="en-AU" sz="2400" b="1" dirty="0">
            <a:solidFill>
              <a:srgbClr val="FFFF00"/>
            </a:solidFill>
            <a:effectLst/>
          </a:endParaRPr>
        </a:p>
      </dgm:t>
    </dgm:pt>
    <dgm:pt modelId="{6665659E-5705-4D60-BE03-AD4990D13850}" type="parTrans" cxnId="{0F743A56-2EDD-4951-A76A-0227752A6198}">
      <dgm:prSet/>
      <dgm:spPr/>
      <dgm:t>
        <a:bodyPr/>
        <a:lstStyle/>
        <a:p>
          <a:pPr algn="l"/>
          <a:endParaRPr lang="en-AU" sz="1100" b="1">
            <a:solidFill>
              <a:schemeClr val="tx1"/>
            </a:solidFill>
          </a:endParaRPr>
        </a:p>
      </dgm:t>
    </dgm:pt>
    <dgm:pt modelId="{3EC418D0-60F1-40E3-AACB-14741BA773E6}" type="sibTrans" cxnId="{0F743A56-2EDD-4951-A76A-0227752A6198}">
      <dgm:prSet/>
      <dgm:spPr/>
      <dgm:t>
        <a:bodyPr/>
        <a:lstStyle/>
        <a:p>
          <a:pPr algn="l"/>
          <a:endParaRPr lang="en-AU" sz="1100" b="1">
            <a:solidFill>
              <a:schemeClr val="tx1"/>
            </a:solidFill>
          </a:endParaRPr>
        </a:p>
      </dgm:t>
    </dgm:pt>
    <dgm:pt modelId="{CBEDF367-3687-4A07-9B0E-41222F83F090}">
      <dgm:prSet custT="1"/>
      <dgm:spPr>
        <a:solidFill>
          <a:schemeClr val="accent3">
            <a:lumMod val="75000"/>
          </a:schemeClr>
        </a:solidFill>
      </dgm:spPr>
      <dgm:t>
        <a:bodyPr/>
        <a:lstStyle/>
        <a:p>
          <a:pPr algn="l" rtl="0"/>
          <a:r>
            <a:rPr lang="en-AU" sz="1600" b="1" dirty="0" smtClean="0"/>
            <a:t>Cost to income</a:t>
          </a:r>
          <a:br>
            <a:rPr lang="en-AU" sz="1600" b="1" dirty="0" smtClean="0"/>
          </a:br>
          <a:r>
            <a:rPr lang="en-AU" sz="1600" b="1" dirty="0" smtClean="0"/>
            <a:t>ratio improves</a:t>
          </a:r>
          <a:br>
            <a:rPr lang="en-AU" sz="1600" b="1" dirty="0" smtClean="0"/>
          </a:br>
          <a:r>
            <a:rPr lang="en-AU" sz="1600" b="1" dirty="0" smtClean="0"/>
            <a:t>to</a:t>
          </a:r>
          <a:br>
            <a:rPr lang="en-AU" sz="1600" b="1" dirty="0" smtClean="0"/>
          </a:br>
          <a:r>
            <a:rPr lang="en-AU" sz="2400" b="1" dirty="0" smtClean="0">
              <a:solidFill>
                <a:srgbClr val="FFFF00"/>
              </a:solidFill>
              <a:effectLst/>
            </a:rPr>
            <a:t>41.1% </a:t>
          </a:r>
          <a:endParaRPr lang="en-AU" sz="2400" b="1" dirty="0">
            <a:solidFill>
              <a:srgbClr val="FFFF00"/>
            </a:solidFill>
            <a:effectLst/>
          </a:endParaRPr>
        </a:p>
      </dgm:t>
    </dgm:pt>
    <dgm:pt modelId="{D32F51D6-C289-4D3A-8F41-D3BEC08E84BB}" type="parTrans" cxnId="{791E9F03-C782-4BAF-9AA1-D9B31B502405}">
      <dgm:prSet/>
      <dgm:spPr/>
      <dgm:t>
        <a:bodyPr/>
        <a:lstStyle/>
        <a:p>
          <a:pPr algn="l"/>
          <a:endParaRPr lang="en-AU" sz="1100" b="1">
            <a:solidFill>
              <a:schemeClr val="tx1"/>
            </a:solidFill>
          </a:endParaRPr>
        </a:p>
      </dgm:t>
    </dgm:pt>
    <dgm:pt modelId="{27197B83-F09C-4F25-836A-6E704688F481}" type="sibTrans" cxnId="{791E9F03-C782-4BAF-9AA1-D9B31B502405}">
      <dgm:prSet/>
      <dgm:spPr/>
      <dgm:t>
        <a:bodyPr/>
        <a:lstStyle/>
        <a:p>
          <a:pPr algn="l"/>
          <a:endParaRPr lang="en-AU" sz="1100" b="1">
            <a:solidFill>
              <a:schemeClr val="tx1"/>
            </a:solidFill>
          </a:endParaRPr>
        </a:p>
      </dgm:t>
    </dgm:pt>
    <dgm:pt modelId="{062CC12D-489D-4639-9EC3-4945EE7B0D7B}">
      <dgm:prSet custT="1"/>
      <dgm:spPr>
        <a:solidFill>
          <a:schemeClr val="accent3">
            <a:lumMod val="75000"/>
          </a:schemeClr>
        </a:solidFill>
      </dgm:spPr>
      <dgm:t>
        <a:bodyPr/>
        <a:lstStyle/>
        <a:p>
          <a:pPr algn="l" rtl="0"/>
          <a:r>
            <a:rPr lang="en-AU" sz="1600" b="1" dirty="0" smtClean="0"/>
            <a:t>Capital</a:t>
          </a:r>
          <a:br>
            <a:rPr lang="en-AU" sz="1600" b="1" dirty="0" smtClean="0"/>
          </a:br>
          <a:r>
            <a:rPr lang="en-AU" sz="1600" b="1" dirty="0" smtClean="0"/>
            <a:t>adequacy</a:t>
          </a:r>
          <a:br>
            <a:rPr lang="en-AU" sz="1600" b="1" dirty="0" smtClean="0"/>
          </a:br>
          <a:r>
            <a:rPr lang="en-AU" sz="2400" b="1" dirty="0" smtClean="0">
              <a:solidFill>
                <a:srgbClr val="FFFF00"/>
              </a:solidFill>
              <a:effectLst/>
            </a:rPr>
            <a:t>22.7%</a:t>
          </a:r>
          <a:endParaRPr lang="en-AU" sz="1600" b="1" dirty="0">
            <a:solidFill>
              <a:srgbClr val="FFFF00"/>
            </a:solidFill>
            <a:effectLst/>
          </a:endParaRPr>
        </a:p>
      </dgm:t>
    </dgm:pt>
    <dgm:pt modelId="{97538F03-29F9-4257-9A18-D1CAB26088CF}" type="parTrans" cxnId="{C4F94370-E63B-4EC3-86D1-9E45B4BAC77F}">
      <dgm:prSet/>
      <dgm:spPr/>
      <dgm:t>
        <a:bodyPr/>
        <a:lstStyle/>
        <a:p>
          <a:pPr algn="l"/>
          <a:endParaRPr lang="en-AU" sz="1100" b="1">
            <a:solidFill>
              <a:schemeClr val="tx1"/>
            </a:solidFill>
          </a:endParaRPr>
        </a:p>
      </dgm:t>
    </dgm:pt>
    <dgm:pt modelId="{BB9A5DD1-FA18-432C-BCEC-646BEA6AA9BD}" type="sibTrans" cxnId="{C4F94370-E63B-4EC3-86D1-9E45B4BAC77F}">
      <dgm:prSet/>
      <dgm:spPr/>
      <dgm:t>
        <a:bodyPr/>
        <a:lstStyle/>
        <a:p>
          <a:pPr algn="l"/>
          <a:endParaRPr lang="en-AU" sz="1100" b="1">
            <a:solidFill>
              <a:schemeClr val="tx1"/>
            </a:solidFill>
          </a:endParaRPr>
        </a:p>
      </dgm:t>
    </dgm:pt>
    <dgm:pt modelId="{4EDE6B57-E443-47F3-B2D4-E0143350ADCF}">
      <dgm:prSet custT="1"/>
      <dgm:spPr>
        <a:solidFill>
          <a:schemeClr val="accent3">
            <a:lumMod val="75000"/>
          </a:schemeClr>
        </a:solidFill>
      </dgm:spPr>
      <dgm:t>
        <a:bodyPr/>
        <a:lstStyle/>
        <a:p>
          <a:pPr algn="l" rtl="0"/>
          <a:r>
            <a:rPr lang="en-AU" sz="1600" b="1" dirty="0" smtClean="0"/>
            <a:t>Total income</a:t>
          </a:r>
          <a:br>
            <a:rPr lang="en-AU" sz="1600" b="1" dirty="0" smtClean="0"/>
          </a:br>
          <a:r>
            <a:rPr lang="en-AU" sz="1600" b="1" dirty="0" smtClean="0"/>
            <a:t>up</a:t>
          </a:r>
          <a:r>
            <a:rPr lang="en-AU" sz="2000" b="1" dirty="0" smtClean="0"/>
            <a:t> </a:t>
          </a:r>
          <a:r>
            <a:rPr lang="en-AU" sz="1600" b="1" dirty="0" smtClean="0"/>
            <a:t>8.0</a:t>
          </a:r>
          <a:r>
            <a:rPr lang="en-AU" sz="1800" b="1" dirty="0" smtClean="0"/>
            <a:t>% YOY </a:t>
          </a:r>
          <a:r>
            <a:rPr lang="en-AU" sz="1600" b="1" dirty="0" smtClean="0"/>
            <a:t>to</a:t>
          </a:r>
        </a:p>
        <a:p>
          <a:pPr algn="l" rtl="0"/>
          <a:r>
            <a:rPr lang="en-AU" sz="2400" b="1" dirty="0" smtClean="0">
              <a:solidFill>
                <a:srgbClr val="FFFF00"/>
              </a:solidFill>
              <a:effectLst/>
            </a:rPr>
            <a:t>K1.06bn</a:t>
          </a:r>
          <a:endParaRPr lang="en-AU" sz="2400" b="1" dirty="0">
            <a:solidFill>
              <a:srgbClr val="FFFF00"/>
            </a:solidFill>
            <a:effectLst/>
          </a:endParaRPr>
        </a:p>
      </dgm:t>
    </dgm:pt>
    <dgm:pt modelId="{0F4516B7-682B-48F0-A691-A2D4FDF9C923}" type="parTrans" cxnId="{7245799E-7F9B-4925-B0FE-DA63BBB17507}">
      <dgm:prSet/>
      <dgm:spPr/>
      <dgm:t>
        <a:bodyPr/>
        <a:lstStyle/>
        <a:p>
          <a:pPr algn="l"/>
          <a:endParaRPr lang="en-AU" sz="1600" b="1"/>
        </a:p>
      </dgm:t>
    </dgm:pt>
    <dgm:pt modelId="{4C0D9E16-87B9-4DD1-BAAD-A38D4327D1C2}" type="sibTrans" cxnId="{7245799E-7F9B-4925-B0FE-DA63BBB17507}">
      <dgm:prSet/>
      <dgm:spPr/>
      <dgm:t>
        <a:bodyPr/>
        <a:lstStyle/>
        <a:p>
          <a:pPr algn="l"/>
          <a:endParaRPr lang="en-AU" sz="1600" b="1"/>
        </a:p>
      </dgm:t>
    </dgm:pt>
    <dgm:pt modelId="{54B7C147-338F-4066-B2D7-F990BD93B534}">
      <dgm:prSet custT="1"/>
      <dgm:spPr>
        <a:solidFill>
          <a:schemeClr val="accent3">
            <a:lumMod val="75000"/>
          </a:schemeClr>
        </a:solidFill>
      </dgm:spPr>
      <dgm:t>
        <a:bodyPr/>
        <a:lstStyle/>
        <a:p>
          <a:pPr algn="l" rtl="0"/>
          <a:endParaRPr lang="en-AU" sz="1600" b="1" dirty="0" smtClean="0"/>
        </a:p>
        <a:p>
          <a:pPr algn="l" rtl="0"/>
          <a:r>
            <a:rPr lang="en-AU" sz="1600" b="1" dirty="0" smtClean="0"/>
            <a:t>Total assets</a:t>
          </a:r>
          <a:br>
            <a:rPr lang="en-AU" sz="1600" b="1" dirty="0" smtClean="0"/>
          </a:br>
          <a:r>
            <a:rPr lang="en-AU" sz="1600" b="1" dirty="0" smtClean="0"/>
            <a:t>up 5.6% YOY </a:t>
          </a:r>
          <a:r>
            <a:rPr lang="en-AU" sz="1400" b="1" dirty="0" smtClean="0"/>
            <a:t>to</a:t>
          </a:r>
        </a:p>
        <a:p>
          <a:pPr algn="l" rtl="0"/>
          <a:r>
            <a:rPr lang="en-AU" sz="2400" b="1" dirty="0" smtClean="0">
              <a:solidFill>
                <a:srgbClr val="FFFF00"/>
              </a:solidFill>
              <a:effectLst/>
            </a:rPr>
            <a:t>K22.9bn</a:t>
          </a:r>
        </a:p>
        <a:p>
          <a:pPr algn="l" rtl="0"/>
          <a:endParaRPr lang="en-AU" sz="1400" b="1" dirty="0"/>
        </a:p>
      </dgm:t>
    </dgm:pt>
    <dgm:pt modelId="{2C1AD851-E915-4C1E-8CBB-F60A6A550CE7}" type="parTrans" cxnId="{92388167-FE5E-4324-A0C6-AA451BC44196}">
      <dgm:prSet/>
      <dgm:spPr/>
      <dgm:t>
        <a:bodyPr/>
        <a:lstStyle/>
        <a:p>
          <a:pPr algn="l"/>
          <a:endParaRPr lang="en-AU" sz="1600" b="1"/>
        </a:p>
      </dgm:t>
    </dgm:pt>
    <dgm:pt modelId="{30498775-E7AC-4428-8CE9-7FCC0C5FB44B}" type="sibTrans" cxnId="{92388167-FE5E-4324-A0C6-AA451BC44196}">
      <dgm:prSet/>
      <dgm:spPr/>
      <dgm:t>
        <a:bodyPr/>
        <a:lstStyle/>
        <a:p>
          <a:pPr algn="l"/>
          <a:endParaRPr lang="en-AU" sz="1600" b="1"/>
        </a:p>
      </dgm:t>
    </dgm:pt>
    <dgm:pt modelId="{532E2498-E94F-4FB2-9DF5-A7D95F975FFF}">
      <dgm:prSet custT="1"/>
      <dgm:spPr>
        <a:solidFill>
          <a:schemeClr val="accent3">
            <a:lumMod val="75000"/>
          </a:schemeClr>
        </a:solidFill>
      </dgm:spPr>
      <dgm:t>
        <a:bodyPr/>
        <a:lstStyle/>
        <a:p>
          <a:pPr algn="l" rtl="0"/>
          <a:r>
            <a:rPr lang="en-AU" sz="1600" b="1" dirty="0" smtClean="0"/>
            <a:t>Loan provisions down</a:t>
          </a:r>
        </a:p>
        <a:p>
          <a:pPr algn="l" rtl="0"/>
          <a:r>
            <a:rPr lang="en-AU" sz="2400" b="1" dirty="0" smtClean="0">
              <a:solidFill>
                <a:srgbClr val="FFFF00"/>
              </a:solidFill>
              <a:effectLst/>
            </a:rPr>
            <a:t>4.7%</a:t>
          </a:r>
          <a:endParaRPr lang="en-AU" sz="2800" b="1" dirty="0">
            <a:solidFill>
              <a:srgbClr val="FFFF00"/>
            </a:solidFill>
            <a:effectLst/>
          </a:endParaRPr>
        </a:p>
      </dgm:t>
    </dgm:pt>
    <dgm:pt modelId="{C8B36E85-C9F0-499D-A35B-3C5A1F3CFE25}" type="parTrans" cxnId="{FC3A76BE-8B44-43DD-A6BD-1431F5625297}">
      <dgm:prSet/>
      <dgm:spPr/>
      <dgm:t>
        <a:bodyPr/>
        <a:lstStyle/>
        <a:p>
          <a:pPr algn="l"/>
          <a:endParaRPr lang="en-AU" sz="1600" b="1"/>
        </a:p>
      </dgm:t>
    </dgm:pt>
    <dgm:pt modelId="{BF7C804B-B628-4094-AF3A-41BDFF419DAD}" type="sibTrans" cxnId="{FC3A76BE-8B44-43DD-A6BD-1431F5625297}">
      <dgm:prSet/>
      <dgm:spPr/>
      <dgm:t>
        <a:bodyPr/>
        <a:lstStyle/>
        <a:p>
          <a:pPr algn="l"/>
          <a:endParaRPr lang="en-AU" sz="1600" b="1"/>
        </a:p>
      </dgm:t>
    </dgm:pt>
    <dgm:pt modelId="{9942AD42-24A8-4EE9-B88A-B2BA1A7A0539}">
      <dgm:prSet custT="1"/>
      <dgm:spPr>
        <a:solidFill>
          <a:schemeClr val="accent3">
            <a:lumMod val="75000"/>
          </a:schemeClr>
        </a:solidFill>
      </dgm:spPr>
      <dgm:t>
        <a:bodyPr/>
        <a:lstStyle/>
        <a:p>
          <a:pPr algn="l" rtl="0"/>
          <a:r>
            <a:rPr lang="en-AU" sz="1600" b="1" dirty="0" smtClean="0"/>
            <a:t>Dividend</a:t>
          </a:r>
          <a:br>
            <a:rPr lang="en-AU" sz="1600" b="1" dirty="0" smtClean="0"/>
          </a:br>
          <a:r>
            <a:rPr lang="en-AU" sz="1600" b="1" dirty="0" smtClean="0"/>
            <a:t>yield of</a:t>
          </a:r>
        </a:p>
        <a:p>
          <a:pPr algn="l" rtl="0"/>
          <a:r>
            <a:rPr lang="en-AU" sz="2400" b="1" dirty="0" smtClean="0">
              <a:solidFill>
                <a:srgbClr val="FFFF00"/>
              </a:solidFill>
              <a:effectLst/>
            </a:rPr>
            <a:t>12.4%</a:t>
          </a:r>
          <a:endParaRPr lang="en-AU" sz="2400" b="1" dirty="0">
            <a:solidFill>
              <a:srgbClr val="FFFF00"/>
            </a:solidFill>
            <a:effectLst/>
          </a:endParaRPr>
        </a:p>
      </dgm:t>
    </dgm:pt>
    <dgm:pt modelId="{909893E8-62E4-40BE-A9DD-EB234237E187}" type="parTrans" cxnId="{BAD9795F-DFE5-4DF9-9C8C-F25EFD86A6DA}">
      <dgm:prSet/>
      <dgm:spPr/>
      <dgm:t>
        <a:bodyPr/>
        <a:lstStyle/>
        <a:p>
          <a:pPr algn="l"/>
          <a:endParaRPr lang="en-AU" sz="1600" b="1"/>
        </a:p>
      </dgm:t>
    </dgm:pt>
    <dgm:pt modelId="{42740A31-7739-4FE7-9EC5-2221E61477E8}" type="sibTrans" cxnId="{BAD9795F-DFE5-4DF9-9C8C-F25EFD86A6DA}">
      <dgm:prSet/>
      <dgm:spPr/>
      <dgm:t>
        <a:bodyPr/>
        <a:lstStyle/>
        <a:p>
          <a:pPr algn="l"/>
          <a:endParaRPr lang="en-AU" sz="1600" b="1"/>
        </a:p>
      </dgm:t>
    </dgm:pt>
    <dgm:pt modelId="{ED979895-A92F-46AB-8BB4-A246027025DC}">
      <dgm:prSet custT="1"/>
      <dgm:spPr>
        <a:solidFill>
          <a:schemeClr val="accent3">
            <a:lumMod val="75000"/>
          </a:schemeClr>
        </a:solidFill>
      </dgm:spPr>
      <dgm:t>
        <a:bodyPr/>
        <a:lstStyle/>
        <a:p>
          <a:pPr algn="l" rtl="0"/>
          <a:r>
            <a:rPr lang="en-AU" sz="1600" b="1" dirty="0" smtClean="0"/>
            <a:t>ROE up to</a:t>
          </a:r>
        </a:p>
        <a:p>
          <a:pPr algn="l" rtl="0"/>
          <a:r>
            <a:rPr lang="en-AU" sz="2400" b="1" dirty="0" smtClean="0">
              <a:solidFill>
                <a:srgbClr val="FFFF00"/>
              </a:solidFill>
              <a:effectLst/>
            </a:rPr>
            <a:t>30.7%</a:t>
          </a:r>
          <a:endParaRPr lang="en-AU" sz="2000" b="1" dirty="0">
            <a:solidFill>
              <a:srgbClr val="FFFF00"/>
            </a:solidFill>
            <a:effectLst/>
          </a:endParaRPr>
        </a:p>
      </dgm:t>
    </dgm:pt>
    <dgm:pt modelId="{8AA0585A-D938-4D02-8280-3E1B5F1433FB}" type="parTrans" cxnId="{F88C6C1A-4459-4C6E-B82F-31CFB61D96AD}">
      <dgm:prSet/>
      <dgm:spPr/>
      <dgm:t>
        <a:bodyPr/>
        <a:lstStyle/>
        <a:p>
          <a:endParaRPr lang="en-AU" sz="1600" b="1"/>
        </a:p>
      </dgm:t>
    </dgm:pt>
    <dgm:pt modelId="{7DF1BB1C-B061-41E5-965D-56B6B1DC835D}" type="sibTrans" cxnId="{F88C6C1A-4459-4C6E-B82F-31CFB61D96AD}">
      <dgm:prSet/>
      <dgm:spPr/>
      <dgm:t>
        <a:bodyPr/>
        <a:lstStyle/>
        <a:p>
          <a:endParaRPr lang="en-AU" sz="1600" b="1"/>
        </a:p>
      </dgm:t>
    </dgm:pt>
    <dgm:pt modelId="{770D7048-1F68-4F11-8DCF-79A2A05BE430}" type="pres">
      <dgm:prSet presAssocID="{8915066E-A2EF-4D37-BB58-FA8A906FF382}" presName="diagram" presStyleCnt="0">
        <dgm:presLayoutVars>
          <dgm:dir/>
          <dgm:resizeHandles val="exact"/>
        </dgm:presLayoutVars>
      </dgm:prSet>
      <dgm:spPr/>
      <dgm:t>
        <a:bodyPr/>
        <a:lstStyle/>
        <a:p>
          <a:endParaRPr lang="en-AU"/>
        </a:p>
      </dgm:t>
    </dgm:pt>
    <dgm:pt modelId="{E5C0C139-947B-4E18-A7E0-AEA2CB3BCDEA}" type="pres">
      <dgm:prSet presAssocID="{AA27CBE1-7BD6-4024-B450-AE3288FA879B}" presName="node" presStyleLbl="node1" presStyleIdx="0" presStyleCnt="8" custLinFactNeighborX="522" custLinFactNeighborY="-1120">
        <dgm:presLayoutVars>
          <dgm:bulletEnabled val="1"/>
        </dgm:presLayoutVars>
      </dgm:prSet>
      <dgm:spPr/>
      <dgm:t>
        <a:bodyPr/>
        <a:lstStyle/>
        <a:p>
          <a:endParaRPr lang="en-AU"/>
        </a:p>
      </dgm:t>
    </dgm:pt>
    <dgm:pt modelId="{BFA6A187-3D14-4EAE-ADA3-EB4A3DCC51D7}" type="pres">
      <dgm:prSet presAssocID="{3EC418D0-60F1-40E3-AACB-14741BA773E6}" presName="sibTrans" presStyleCnt="0"/>
      <dgm:spPr/>
      <dgm:t>
        <a:bodyPr/>
        <a:lstStyle/>
        <a:p>
          <a:endParaRPr lang="en-AU"/>
        </a:p>
      </dgm:t>
    </dgm:pt>
    <dgm:pt modelId="{376AADC6-5EDC-4FD4-A761-7ED5DA4F3C34}" type="pres">
      <dgm:prSet presAssocID="{4EDE6B57-E443-47F3-B2D4-E0143350ADCF}" presName="node" presStyleLbl="node1" presStyleIdx="1" presStyleCnt="8">
        <dgm:presLayoutVars>
          <dgm:bulletEnabled val="1"/>
        </dgm:presLayoutVars>
      </dgm:prSet>
      <dgm:spPr/>
      <dgm:t>
        <a:bodyPr/>
        <a:lstStyle/>
        <a:p>
          <a:endParaRPr lang="en-AU"/>
        </a:p>
      </dgm:t>
    </dgm:pt>
    <dgm:pt modelId="{6F292247-A62F-4316-95BB-EA8250EC8590}" type="pres">
      <dgm:prSet presAssocID="{4C0D9E16-87B9-4DD1-BAAD-A38D4327D1C2}" presName="sibTrans" presStyleCnt="0"/>
      <dgm:spPr/>
      <dgm:t>
        <a:bodyPr/>
        <a:lstStyle/>
        <a:p>
          <a:endParaRPr lang="en-AU"/>
        </a:p>
      </dgm:t>
    </dgm:pt>
    <dgm:pt modelId="{08A15E96-7239-4FAC-B67E-CF1ED5968A89}" type="pres">
      <dgm:prSet presAssocID="{54B7C147-338F-4066-B2D7-F990BD93B534}" presName="node" presStyleLbl="node1" presStyleIdx="2" presStyleCnt="8">
        <dgm:presLayoutVars>
          <dgm:bulletEnabled val="1"/>
        </dgm:presLayoutVars>
      </dgm:prSet>
      <dgm:spPr/>
      <dgm:t>
        <a:bodyPr/>
        <a:lstStyle/>
        <a:p>
          <a:endParaRPr lang="en-AU"/>
        </a:p>
      </dgm:t>
    </dgm:pt>
    <dgm:pt modelId="{B1A8CE79-7BD4-4D2D-A8FD-00D687DF89AF}" type="pres">
      <dgm:prSet presAssocID="{30498775-E7AC-4428-8CE9-7FCC0C5FB44B}" presName="sibTrans" presStyleCnt="0"/>
      <dgm:spPr/>
      <dgm:t>
        <a:bodyPr/>
        <a:lstStyle/>
        <a:p>
          <a:endParaRPr lang="en-AU"/>
        </a:p>
      </dgm:t>
    </dgm:pt>
    <dgm:pt modelId="{97F87912-CAB3-41DD-B88D-5D034F75AB3A}" type="pres">
      <dgm:prSet presAssocID="{CBEDF367-3687-4A07-9B0E-41222F83F090}" presName="node" presStyleLbl="node1" presStyleIdx="3" presStyleCnt="8" custLinFactNeighborY="5161">
        <dgm:presLayoutVars>
          <dgm:bulletEnabled val="1"/>
        </dgm:presLayoutVars>
      </dgm:prSet>
      <dgm:spPr/>
      <dgm:t>
        <a:bodyPr/>
        <a:lstStyle/>
        <a:p>
          <a:endParaRPr lang="en-AU"/>
        </a:p>
      </dgm:t>
    </dgm:pt>
    <dgm:pt modelId="{6BEFF311-315E-43CA-B659-1EF3A299A446}" type="pres">
      <dgm:prSet presAssocID="{27197B83-F09C-4F25-836A-6E704688F481}" presName="sibTrans" presStyleCnt="0"/>
      <dgm:spPr/>
      <dgm:t>
        <a:bodyPr/>
        <a:lstStyle/>
        <a:p>
          <a:endParaRPr lang="en-AU"/>
        </a:p>
      </dgm:t>
    </dgm:pt>
    <dgm:pt modelId="{99DF7A69-0599-4A07-AA50-5896FA8E20BB}" type="pres">
      <dgm:prSet presAssocID="{062CC12D-489D-4639-9EC3-4945EE7B0D7B}" presName="node" presStyleLbl="node1" presStyleIdx="4" presStyleCnt="8">
        <dgm:presLayoutVars>
          <dgm:bulletEnabled val="1"/>
        </dgm:presLayoutVars>
      </dgm:prSet>
      <dgm:spPr/>
      <dgm:t>
        <a:bodyPr/>
        <a:lstStyle/>
        <a:p>
          <a:endParaRPr lang="en-AU"/>
        </a:p>
      </dgm:t>
    </dgm:pt>
    <dgm:pt modelId="{4711D54D-3AE3-4C10-BCB6-FA9FB8C09838}" type="pres">
      <dgm:prSet presAssocID="{BB9A5DD1-FA18-432C-BCEC-646BEA6AA9BD}" presName="sibTrans" presStyleCnt="0"/>
      <dgm:spPr/>
      <dgm:t>
        <a:bodyPr/>
        <a:lstStyle/>
        <a:p>
          <a:endParaRPr lang="en-AU"/>
        </a:p>
      </dgm:t>
    </dgm:pt>
    <dgm:pt modelId="{C2FE1AF7-6E45-4B5D-A700-C0C10FBEC820}" type="pres">
      <dgm:prSet presAssocID="{532E2498-E94F-4FB2-9DF5-A7D95F975FFF}" presName="node" presStyleLbl="node1" presStyleIdx="5" presStyleCnt="8">
        <dgm:presLayoutVars>
          <dgm:bulletEnabled val="1"/>
        </dgm:presLayoutVars>
      </dgm:prSet>
      <dgm:spPr/>
      <dgm:t>
        <a:bodyPr/>
        <a:lstStyle/>
        <a:p>
          <a:endParaRPr lang="en-AU"/>
        </a:p>
      </dgm:t>
    </dgm:pt>
    <dgm:pt modelId="{C04FB129-C43F-4877-A8E7-FCC747FA3C99}" type="pres">
      <dgm:prSet presAssocID="{BF7C804B-B628-4094-AF3A-41BDFF419DAD}" presName="sibTrans" presStyleCnt="0"/>
      <dgm:spPr/>
      <dgm:t>
        <a:bodyPr/>
        <a:lstStyle/>
        <a:p>
          <a:endParaRPr lang="en-AU"/>
        </a:p>
      </dgm:t>
    </dgm:pt>
    <dgm:pt modelId="{D51B132D-6A68-4AFC-8085-3CD8F6BA606A}" type="pres">
      <dgm:prSet presAssocID="{ED979895-A92F-46AB-8BB4-A246027025DC}" presName="node" presStyleLbl="node1" presStyleIdx="6" presStyleCnt="8">
        <dgm:presLayoutVars>
          <dgm:bulletEnabled val="1"/>
        </dgm:presLayoutVars>
      </dgm:prSet>
      <dgm:spPr/>
      <dgm:t>
        <a:bodyPr/>
        <a:lstStyle/>
        <a:p>
          <a:endParaRPr lang="en-AU"/>
        </a:p>
      </dgm:t>
    </dgm:pt>
    <dgm:pt modelId="{B82EE641-5D0A-4631-8A94-CD9D3A49D1C9}" type="pres">
      <dgm:prSet presAssocID="{7DF1BB1C-B061-41E5-965D-56B6B1DC835D}" presName="sibTrans" presStyleCnt="0"/>
      <dgm:spPr/>
      <dgm:t>
        <a:bodyPr/>
        <a:lstStyle/>
        <a:p>
          <a:endParaRPr lang="en-AU"/>
        </a:p>
      </dgm:t>
    </dgm:pt>
    <dgm:pt modelId="{376D3266-823E-4234-85EB-4037650C157E}" type="pres">
      <dgm:prSet presAssocID="{9942AD42-24A8-4EE9-B88A-B2BA1A7A0539}" presName="node" presStyleLbl="node1" presStyleIdx="7" presStyleCnt="8">
        <dgm:presLayoutVars>
          <dgm:bulletEnabled val="1"/>
        </dgm:presLayoutVars>
      </dgm:prSet>
      <dgm:spPr/>
      <dgm:t>
        <a:bodyPr/>
        <a:lstStyle/>
        <a:p>
          <a:endParaRPr lang="en-AU"/>
        </a:p>
      </dgm:t>
    </dgm:pt>
  </dgm:ptLst>
  <dgm:cxnLst>
    <dgm:cxn modelId="{FC3A76BE-8B44-43DD-A6BD-1431F5625297}" srcId="{8915066E-A2EF-4D37-BB58-FA8A906FF382}" destId="{532E2498-E94F-4FB2-9DF5-A7D95F975FFF}" srcOrd="5" destOrd="0" parTransId="{C8B36E85-C9F0-499D-A35B-3C5A1F3CFE25}" sibTransId="{BF7C804B-B628-4094-AF3A-41BDFF419DAD}"/>
    <dgm:cxn modelId="{4FB627A6-C67D-477F-930C-5A10F63F0512}" type="presOf" srcId="{062CC12D-489D-4639-9EC3-4945EE7B0D7B}" destId="{99DF7A69-0599-4A07-AA50-5896FA8E20BB}" srcOrd="0" destOrd="0" presId="urn:microsoft.com/office/officeart/2005/8/layout/default"/>
    <dgm:cxn modelId="{0B5EB68A-DD5F-4489-92BD-C5DB28EE7C10}" type="presOf" srcId="{AA27CBE1-7BD6-4024-B450-AE3288FA879B}" destId="{E5C0C139-947B-4E18-A7E0-AEA2CB3BCDEA}" srcOrd="0" destOrd="0" presId="urn:microsoft.com/office/officeart/2005/8/layout/default"/>
    <dgm:cxn modelId="{C9C49BBB-499F-4E71-95A1-D4811C9B8A98}" type="presOf" srcId="{ED979895-A92F-46AB-8BB4-A246027025DC}" destId="{D51B132D-6A68-4AFC-8085-3CD8F6BA606A}" srcOrd="0" destOrd="0" presId="urn:microsoft.com/office/officeart/2005/8/layout/default"/>
    <dgm:cxn modelId="{C260A985-A993-42FD-8EAF-F9C12D2E6721}" type="presOf" srcId="{CBEDF367-3687-4A07-9B0E-41222F83F090}" destId="{97F87912-CAB3-41DD-B88D-5D034F75AB3A}" srcOrd="0" destOrd="0" presId="urn:microsoft.com/office/officeart/2005/8/layout/default"/>
    <dgm:cxn modelId="{C4F94370-E63B-4EC3-86D1-9E45B4BAC77F}" srcId="{8915066E-A2EF-4D37-BB58-FA8A906FF382}" destId="{062CC12D-489D-4639-9EC3-4945EE7B0D7B}" srcOrd="4" destOrd="0" parTransId="{97538F03-29F9-4257-9A18-D1CAB26088CF}" sibTransId="{BB9A5DD1-FA18-432C-BCEC-646BEA6AA9BD}"/>
    <dgm:cxn modelId="{7984EC38-22E1-4CCB-8FA0-FE2ADC099255}" type="presOf" srcId="{532E2498-E94F-4FB2-9DF5-A7D95F975FFF}" destId="{C2FE1AF7-6E45-4B5D-A700-C0C10FBEC820}" srcOrd="0" destOrd="0" presId="urn:microsoft.com/office/officeart/2005/8/layout/default"/>
    <dgm:cxn modelId="{92388167-FE5E-4324-A0C6-AA451BC44196}" srcId="{8915066E-A2EF-4D37-BB58-FA8A906FF382}" destId="{54B7C147-338F-4066-B2D7-F990BD93B534}" srcOrd="2" destOrd="0" parTransId="{2C1AD851-E915-4C1E-8CBB-F60A6A550CE7}" sibTransId="{30498775-E7AC-4428-8CE9-7FCC0C5FB44B}"/>
    <dgm:cxn modelId="{BAD9795F-DFE5-4DF9-9C8C-F25EFD86A6DA}" srcId="{8915066E-A2EF-4D37-BB58-FA8A906FF382}" destId="{9942AD42-24A8-4EE9-B88A-B2BA1A7A0539}" srcOrd="7" destOrd="0" parTransId="{909893E8-62E4-40BE-A9DD-EB234237E187}" sibTransId="{42740A31-7739-4FE7-9EC5-2221E61477E8}"/>
    <dgm:cxn modelId="{CBF4B204-F185-4894-ABF3-75CE5828D0B2}" type="presOf" srcId="{9942AD42-24A8-4EE9-B88A-B2BA1A7A0539}" destId="{376D3266-823E-4234-85EB-4037650C157E}" srcOrd="0" destOrd="0" presId="urn:microsoft.com/office/officeart/2005/8/layout/default"/>
    <dgm:cxn modelId="{A16771CC-56BC-44C6-AA46-9771ACC8FF40}" type="presOf" srcId="{4EDE6B57-E443-47F3-B2D4-E0143350ADCF}" destId="{376AADC6-5EDC-4FD4-A761-7ED5DA4F3C34}" srcOrd="0" destOrd="0" presId="urn:microsoft.com/office/officeart/2005/8/layout/default"/>
    <dgm:cxn modelId="{791E9F03-C782-4BAF-9AA1-D9B31B502405}" srcId="{8915066E-A2EF-4D37-BB58-FA8A906FF382}" destId="{CBEDF367-3687-4A07-9B0E-41222F83F090}" srcOrd="3" destOrd="0" parTransId="{D32F51D6-C289-4D3A-8F41-D3BEC08E84BB}" sibTransId="{27197B83-F09C-4F25-836A-6E704688F481}"/>
    <dgm:cxn modelId="{0F743A56-2EDD-4951-A76A-0227752A6198}" srcId="{8915066E-A2EF-4D37-BB58-FA8A906FF382}" destId="{AA27CBE1-7BD6-4024-B450-AE3288FA879B}" srcOrd="0" destOrd="0" parTransId="{6665659E-5705-4D60-BE03-AD4990D13850}" sibTransId="{3EC418D0-60F1-40E3-AACB-14741BA773E6}"/>
    <dgm:cxn modelId="{7245799E-7F9B-4925-B0FE-DA63BBB17507}" srcId="{8915066E-A2EF-4D37-BB58-FA8A906FF382}" destId="{4EDE6B57-E443-47F3-B2D4-E0143350ADCF}" srcOrd="1" destOrd="0" parTransId="{0F4516B7-682B-48F0-A691-A2D4FDF9C923}" sibTransId="{4C0D9E16-87B9-4DD1-BAAD-A38D4327D1C2}"/>
    <dgm:cxn modelId="{FEB6C0A2-86A7-470D-83DC-8DDB91534C92}" type="presOf" srcId="{8915066E-A2EF-4D37-BB58-FA8A906FF382}" destId="{770D7048-1F68-4F11-8DCF-79A2A05BE430}" srcOrd="0" destOrd="0" presId="urn:microsoft.com/office/officeart/2005/8/layout/default"/>
    <dgm:cxn modelId="{7123F39D-7020-43D7-8ACF-8F2293B8E802}" type="presOf" srcId="{54B7C147-338F-4066-B2D7-F990BD93B534}" destId="{08A15E96-7239-4FAC-B67E-CF1ED5968A89}" srcOrd="0" destOrd="0" presId="urn:microsoft.com/office/officeart/2005/8/layout/default"/>
    <dgm:cxn modelId="{F88C6C1A-4459-4C6E-B82F-31CFB61D96AD}" srcId="{8915066E-A2EF-4D37-BB58-FA8A906FF382}" destId="{ED979895-A92F-46AB-8BB4-A246027025DC}" srcOrd="6" destOrd="0" parTransId="{8AA0585A-D938-4D02-8280-3E1B5F1433FB}" sibTransId="{7DF1BB1C-B061-41E5-965D-56B6B1DC835D}"/>
    <dgm:cxn modelId="{AD50FA18-6808-4F0B-99CB-D7BE21E5CE9B}" type="presParOf" srcId="{770D7048-1F68-4F11-8DCF-79A2A05BE430}" destId="{E5C0C139-947B-4E18-A7E0-AEA2CB3BCDEA}" srcOrd="0" destOrd="0" presId="urn:microsoft.com/office/officeart/2005/8/layout/default"/>
    <dgm:cxn modelId="{DC560F00-E3F3-4C11-96B7-D30B46B50D28}" type="presParOf" srcId="{770D7048-1F68-4F11-8DCF-79A2A05BE430}" destId="{BFA6A187-3D14-4EAE-ADA3-EB4A3DCC51D7}" srcOrd="1" destOrd="0" presId="urn:microsoft.com/office/officeart/2005/8/layout/default"/>
    <dgm:cxn modelId="{7DF786EA-2E8B-4FE4-9AE4-1F89DAF17542}" type="presParOf" srcId="{770D7048-1F68-4F11-8DCF-79A2A05BE430}" destId="{376AADC6-5EDC-4FD4-A761-7ED5DA4F3C34}" srcOrd="2" destOrd="0" presId="urn:microsoft.com/office/officeart/2005/8/layout/default"/>
    <dgm:cxn modelId="{F0F65993-6412-439C-ABFF-EB6F25729E6F}" type="presParOf" srcId="{770D7048-1F68-4F11-8DCF-79A2A05BE430}" destId="{6F292247-A62F-4316-95BB-EA8250EC8590}" srcOrd="3" destOrd="0" presId="urn:microsoft.com/office/officeart/2005/8/layout/default"/>
    <dgm:cxn modelId="{62062D74-16C5-4546-94CD-110D42EB217F}" type="presParOf" srcId="{770D7048-1F68-4F11-8DCF-79A2A05BE430}" destId="{08A15E96-7239-4FAC-B67E-CF1ED5968A89}" srcOrd="4" destOrd="0" presId="urn:microsoft.com/office/officeart/2005/8/layout/default"/>
    <dgm:cxn modelId="{DB0552CF-CCD7-4248-ADC3-0FB1C56C3B6E}" type="presParOf" srcId="{770D7048-1F68-4F11-8DCF-79A2A05BE430}" destId="{B1A8CE79-7BD4-4D2D-A8FD-00D687DF89AF}" srcOrd="5" destOrd="0" presId="urn:microsoft.com/office/officeart/2005/8/layout/default"/>
    <dgm:cxn modelId="{6D17D870-5DA5-4C8D-8D47-FAABC1F8E0A4}" type="presParOf" srcId="{770D7048-1F68-4F11-8DCF-79A2A05BE430}" destId="{97F87912-CAB3-41DD-B88D-5D034F75AB3A}" srcOrd="6" destOrd="0" presId="urn:microsoft.com/office/officeart/2005/8/layout/default"/>
    <dgm:cxn modelId="{CFB1E12C-E3E4-487A-894C-C87C89388341}" type="presParOf" srcId="{770D7048-1F68-4F11-8DCF-79A2A05BE430}" destId="{6BEFF311-315E-43CA-B659-1EF3A299A446}" srcOrd="7" destOrd="0" presId="urn:microsoft.com/office/officeart/2005/8/layout/default"/>
    <dgm:cxn modelId="{A822B092-A97C-4369-A29D-1F7F339FA19A}" type="presParOf" srcId="{770D7048-1F68-4F11-8DCF-79A2A05BE430}" destId="{99DF7A69-0599-4A07-AA50-5896FA8E20BB}" srcOrd="8" destOrd="0" presId="urn:microsoft.com/office/officeart/2005/8/layout/default"/>
    <dgm:cxn modelId="{3C5A3CCD-1C2E-44A3-A4A0-7472E613A672}" type="presParOf" srcId="{770D7048-1F68-4F11-8DCF-79A2A05BE430}" destId="{4711D54D-3AE3-4C10-BCB6-FA9FB8C09838}" srcOrd="9" destOrd="0" presId="urn:microsoft.com/office/officeart/2005/8/layout/default"/>
    <dgm:cxn modelId="{EA02EC52-045A-43A7-8A0A-ED1210405EB5}" type="presParOf" srcId="{770D7048-1F68-4F11-8DCF-79A2A05BE430}" destId="{C2FE1AF7-6E45-4B5D-A700-C0C10FBEC820}" srcOrd="10" destOrd="0" presId="urn:microsoft.com/office/officeart/2005/8/layout/default"/>
    <dgm:cxn modelId="{12183446-696B-4443-8191-3266D96646FF}" type="presParOf" srcId="{770D7048-1F68-4F11-8DCF-79A2A05BE430}" destId="{C04FB129-C43F-4877-A8E7-FCC747FA3C99}" srcOrd="11" destOrd="0" presId="urn:microsoft.com/office/officeart/2005/8/layout/default"/>
    <dgm:cxn modelId="{A3F49AD9-7B44-4EF9-A492-F3BD24CF0D0B}" type="presParOf" srcId="{770D7048-1F68-4F11-8DCF-79A2A05BE430}" destId="{D51B132D-6A68-4AFC-8085-3CD8F6BA606A}" srcOrd="12" destOrd="0" presId="urn:microsoft.com/office/officeart/2005/8/layout/default"/>
    <dgm:cxn modelId="{2DB74291-8396-4E4A-95CA-ABEB2AD1B2EA}" type="presParOf" srcId="{770D7048-1F68-4F11-8DCF-79A2A05BE430}" destId="{B82EE641-5D0A-4631-8A94-CD9D3A49D1C9}" srcOrd="13" destOrd="0" presId="urn:microsoft.com/office/officeart/2005/8/layout/default"/>
    <dgm:cxn modelId="{03DAA9BD-AC38-48BA-9C99-12AFA6985689}" type="presParOf" srcId="{770D7048-1F68-4F11-8DCF-79A2A05BE430}" destId="{376D3266-823E-4234-85EB-4037650C157E}" srcOrd="14" destOrd="0" presId="urn:microsoft.com/office/officeart/2005/8/layout/default"/>
  </dgm:cxnLst>
  <dgm:bg>
    <a:noFill/>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5C0C139-947B-4E18-A7E0-AEA2CB3BCDEA}">
      <dsp:nvSpPr>
        <dsp:cNvPr id="0" name=""/>
        <dsp:cNvSpPr/>
      </dsp:nvSpPr>
      <dsp:spPr>
        <a:xfrm>
          <a:off x="368758" y="0"/>
          <a:ext cx="1891754" cy="1135052"/>
        </a:xfrm>
        <a:prstGeom prst="rect">
          <a:avLst/>
        </a:prstGeom>
        <a:solidFill>
          <a:schemeClr val="accent3">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rtl="0">
            <a:lnSpc>
              <a:spcPct val="90000"/>
            </a:lnSpc>
            <a:spcBef>
              <a:spcPct val="0"/>
            </a:spcBef>
            <a:spcAft>
              <a:spcPct val="35000"/>
            </a:spcAft>
          </a:pPr>
          <a:r>
            <a:rPr lang="en-AU" sz="1600" b="1" kern="1200" dirty="0" smtClean="0"/>
            <a:t>Profit (NPAT)</a:t>
          </a:r>
          <a:br>
            <a:rPr lang="en-AU" sz="1600" b="1" kern="1200" dirty="0" smtClean="0"/>
          </a:br>
          <a:r>
            <a:rPr lang="en-AU" sz="1600" b="1" kern="1200" dirty="0" smtClean="0"/>
            <a:t>up 12.8</a:t>
          </a:r>
          <a:r>
            <a:rPr lang="en-AU" sz="1800" b="1" kern="1200" dirty="0" smtClean="0"/>
            <a:t>%</a:t>
          </a:r>
          <a:r>
            <a:rPr lang="en-AU" sz="1400" b="1" kern="1200" dirty="0" smtClean="0"/>
            <a:t> YOY </a:t>
          </a:r>
          <a:r>
            <a:rPr lang="en-AU" sz="1600" b="1" kern="1200" dirty="0" smtClean="0"/>
            <a:t>to</a:t>
          </a:r>
        </a:p>
        <a:p>
          <a:pPr lvl="0" algn="l" defTabSz="711200" rtl="0">
            <a:lnSpc>
              <a:spcPct val="90000"/>
            </a:lnSpc>
            <a:spcBef>
              <a:spcPct val="0"/>
            </a:spcBef>
            <a:spcAft>
              <a:spcPct val="35000"/>
            </a:spcAft>
          </a:pPr>
          <a:r>
            <a:rPr lang="en-AU" sz="2400" b="1" kern="1200" dirty="0" smtClean="0">
              <a:solidFill>
                <a:srgbClr val="FFFF00"/>
              </a:solidFill>
              <a:effectLst/>
            </a:rPr>
            <a:t>K418.3m</a:t>
          </a:r>
          <a:endParaRPr lang="en-AU" sz="2400" b="1" kern="1200" dirty="0">
            <a:solidFill>
              <a:srgbClr val="FFFF00"/>
            </a:solidFill>
            <a:effectLst/>
          </a:endParaRPr>
        </a:p>
      </dsp:txBody>
      <dsp:txXfrm>
        <a:off x="368758" y="0"/>
        <a:ext cx="1891754" cy="1135052"/>
      </dsp:txXfrm>
    </dsp:sp>
    <dsp:sp modelId="{376AADC6-5EDC-4FD4-A761-7ED5DA4F3C34}">
      <dsp:nvSpPr>
        <dsp:cNvPr id="0" name=""/>
        <dsp:cNvSpPr/>
      </dsp:nvSpPr>
      <dsp:spPr>
        <a:xfrm>
          <a:off x="2439813" y="2415"/>
          <a:ext cx="1891754" cy="1135052"/>
        </a:xfrm>
        <a:prstGeom prst="rect">
          <a:avLst/>
        </a:prstGeom>
        <a:solidFill>
          <a:schemeClr val="accent3">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rtl="0">
            <a:lnSpc>
              <a:spcPct val="90000"/>
            </a:lnSpc>
            <a:spcBef>
              <a:spcPct val="0"/>
            </a:spcBef>
            <a:spcAft>
              <a:spcPct val="35000"/>
            </a:spcAft>
          </a:pPr>
          <a:r>
            <a:rPr lang="en-AU" sz="1600" b="1" kern="1200" dirty="0" smtClean="0"/>
            <a:t>Total income</a:t>
          </a:r>
          <a:br>
            <a:rPr lang="en-AU" sz="1600" b="1" kern="1200" dirty="0" smtClean="0"/>
          </a:br>
          <a:r>
            <a:rPr lang="en-AU" sz="1600" b="1" kern="1200" dirty="0" smtClean="0"/>
            <a:t>up</a:t>
          </a:r>
          <a:r>
            <a:rPr lang="en-AU" sz="2000" b="1" kern="1200" dirty="0" smtClean="0"/>
            <a:t> </a:t>
          </a:r>
          <a:r>
            <a:rPr lang="en-AU" sz="1600" b="1" kern="1200" dirty="0" smtClean="0"/>
            <a:t>8.0</a:t>
          </a:r>
          <a:r>
            <a:rPr lang="en-AU" sz="1800" b="1" kern="1200" dirty="0" smtClean="0"/>
            <a:t>% YOY </a:t>
          </a:r>
          <a:r>
            <a:rPr lang="en-AU" sz="1600" b="1" kern="1200" dirty="0" smtClean="0"/>
            <a:t>to</a:t>
          </a:r>
        </a:p>
        <a:p>
          <a:pPr lvl="0" algn="l" defTabSz="711200" rtl="0">
            <a:lnSpc>
              <a:spcPct val="90000"/>
            </a:lnSpc>
            <a:spcBef>
              <a:spcPct val="0"/>
            </a:spcBef>
            <a:spcAft>
              <a:spcPct val="35000"/>
            </a:spcAft>
          </a:pPr>
          <a:r>
            <a:rPr lang="en-AU" sz="2400" b="1" kern="1200" dirty="0" smtClean="0">
              <a:solidFill>
                <a:srgbClr val="FFFF00"/>
              </a:solidFill>
              <a:effectLst/>
            </a:rPr>
            <a:t>K1.06bn</a:t>
          </a:r>
          <a:endParaRPr lang="en-AU" sz="2400" b="1" kern="1200" dirty="0">
            <a:solidFill>
              <a:srgbClr val="FFFF00"/>
            </a:solidFill>
            <a:effectLst/>
          </a:endParaRPr>
        </a:p>
      </dsp:txBody>
      <dsp:txXfrm>
        <a:off x="2439813" y="2415"/>
        <a:ext cx="1891754" cy="1135052"/>
      </dsp:txXfrm>
    </dsp:sp>
    <dsp:sp modelId="{08A15E96-7239-4FAC-B67E-CF1ED5968A89}">
      <dsp:nvSpPr>
        <dsp:cNvPr id="0" name=""/>
        <dsp:cNvSpPr/>
      </dsp:nvSpPr>
      <dsp:spPr>
        <a:xfrm>
          <a:off x="358883" y="1326643"/>
          <a:ext cx="1891754" cy="1135052"/>
        </a:xfrm>
        <a:prstGeom prst="rect">
          <a:avLst/>
        </a:prstGeom>
        <a:solidFill>
          <a:schemeClr val="accent3">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rtl="0">
            <a:lnSpc>
              <a:spcPct val="90000"/>
            </a:lnSpc>
            <a:spcBef>
              <a:spcPct val="0"/>
            </a:spcBef>
            <a:spcAft>
              <a:spcPct val="35000"/>
            </a:spcAft>
          </a:pPr>
          <a:endParaRPr lang="en-AU" sz="1600" b="1" kern="1200" dirty="0" smtClean="0"/>
        </a:p>
        <a:p>
          <a:pPr lvl="0" algn="l" defTabSz="711200" rtl="0">
            <a:lnSpc>
              <a:spcPct val="90000"/>
            </a:lnSpc>
            <a:spcBef>
              <a:spcPct val="0"/>
            </a:spcBef>
            <a:spcAft>
              <a:spcPct val="35000"/>
            </a:spcAft>
          </a:pPr>
          <a:r>
            <a:rPr lang="en-AU" sz="1600" b="1" kern="1200" dirty="0" smtClean="0"/>
            <a:t>Total assets</a:t>
          </a:r>
          <a:br>
            <a:rPr lang="en-AU" sz="1600" b="1" kern="1200" dirty="0" smtClean="0"/>
          </a:br>
          <a:r>
            <a:rPr lang="en-AU" sz="1600" b="1" kern="1200" dirty="0" smtClean="0"/>
            <a:t>up 5.6% YOY </a:t>
          </a:r>
          <a:r>
            <a:rPr lang="en-AU" sz="1400" b="1" kern="1200" dirty="0" smtClean="0"/>
            <a:t>to</a:t>
          </a:r>
        </a:p>
        <a:p>
          <a:pPr lvl="0" algn="l" defTabSz="711200" rtl="0">
            <a:lnSpc>
              <a:spcPct val="90000"/>
            </a:lnSpc>
            <a:spcBef>
              <a:spcPct val="0"/>
            </a:spcBef>
            <a:spcAft>
              <a:spcPct val="35000"/>
            </a:spcAft>
          </a:pPr>
          <a:r>
            <a:rPr lang="en-AU" sz="2400" b="1" kern="1200" dirty="0" smtClean="0">
              <a:solidFill>
                <a:srgbClr val="FFFF00"/>
              </a:solidFill>
              <a:effectLst/>
            </a:rPr>
            <a:t>K22.9bn</a:t>
          </a:r>
        </a:p>
        <a:p>
          <a:pPr lvl="0" algn="l" defTabSz="711200" rtl="0">
            <a:lnSpc>
              <a:spcPct val="90000"/>
            </a:lnSpc>
            <a:spcBef>
              <a:spcPct val="0"/>
            </a:spcBef>
            <a:spcAft>
              <a:spcPct val="35000"/>
            </a:spcAft>
          </a:pPr>
          <a:endParaRPr lang="en-AU" sz="1400" b="1" kern="1200" dirty="0"/>
        </a:p>
      </dsp:txBody>
      <dsp:txXfrm>
        <a:off x="358883" y="1326643"/>
        <a:ext cx="1891754" cy="1135052"/>
      </dsp:txXfrm>
    </dsp:sp>
    <dsp:sp modelId="{97F87912-CAB3-41DD-B88D-5D034F75AB3A}">
      <dsp:nvSpPr>
        <dsp:cNvPr id="0" name=""/>
        <dsp:cNvSpPr/>
      </dsp:nvSpPr>
      <dsp:spPr>
        <a:xfrm>
          <a:off x="2439813" y="1385223"/>
          <a:ext cx="1891754" cy="1135052"/>
        </a:xfrm>
        <a:prstGeom prst="rect">
          <a:avLst/>
        </a:prstGeom>
        <a:solidFill>
          <a:schemeClr val="accent3">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rtl="0">
            <a:lnSpc>
              <a:spcPct val="90000"/>
            </a:lnSpc>
            <a:spcBef>
              <a:spcPct val="0"/>
            </a:spcBef>
            <a:spcAft>
              <a:spcPct val="35000"/>
            </a:spcAft>
          </a:pPr>
          <a:r>
            <a:rPr lang="en-AU" sz="1600" b="1" kern="1200" dirty="0" smtClean="0"/>
            <a:t>Cost to income</a:t>
          </a:r>
          <a:br>
            <a:rPr lang="en-AU" sz="1600" b="1" kern="1200" dirty="0" smtClean="0"/>
          </a:br>
          <a:r>
            <a:rPr lang="en-AU" sz="1600" b="1" kern="1200" dirty="0" smtClean="0"/>
            <a:t>ratio improves</a:t>
          </a:r>
          <a:br>
            <a:rPr lang="en-AU" sz="1600" b="1" kern="1200" dirty="0" smtClean="0"/>
          </a:br>
          <a:r>
            <a:rPr lang="en-AU" sz="1600" b="1" kern="1200" dirty="0" smtClean="0"/>
            <a:t>to</a:t>
          </a:r>
          <a:br>
            <a:rPr lang="en-AU" sz="1600" b="1" kern="1200" dirty="0" smtClean="0"/>
          </a:br>
          <a:r>
            <a:rPr lang="en-AU" sz="2400" b="1" kern="1200" dirty="0" smtClean="0">
              <a:solidFill>
                <a:srgbClr val="FFFF00"/>
              </a:solidFill>
              <a:effectLst/>
            </a:rPr>
            <a:t>41.1% </a:t>
          </a:r>
          <a:endParaRPr lang="en-AU" sz="2400" b="1" kern="1200" dirty="0">
            <a:solidFill>
              <a:srgbClr val="FFFF00"/>
            </a:solidFill>
            <a:effectLst/>
          </a:endParaRPr>
        </a:p>
      </dsp:txBody>
      <dsp:txXfrm>
        <a:off x="2439813" y="1385223"/>
        <a:ext cx="1891754" cy="1135052"/>
      </dsp:txXfrm>
    </dsp:sp>
    <dsp:sp modelId="{99DF7A69-0599-4A07-AA50-5896FA8E20BB}">
      <dsp:nvSpPr>
        <dsp:cNvPr id="0" name=""/>
        <dsp:cNvSpPr/>
      </dsp:nvSpPr>
      <dsp:spPr>
        <a:xfrm>
          <a:off x="358883" y="2650871"/>
          <a:ext cx="1891754" cy="1135052"/>
        </a:xfrm>
        <a:prstGeom prst="rect">
          <a:avLst/>
        </a:prstGeom>
        <a:solidFill>
          <a:schemeClr val="accent3">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rtl="0">
            <a:lnSpc>
              <a:spcPct val="90000"/>
            </a:lnSpc>
            <a:spcBef>
              <a:spcPct val="0"/>
            </a:spcBef>
            <a:spcAft>
              <a:spcPct val="35000"/>
            </a:spcAft>
          </a:pPr>
          <a:r>
            <a:rPr lang="en-AU" sz="1600" b="1" kern="1200" dirty="0" smtClean="0"/>
            <a:t>Capital</a:t>
          </a:r>
          <a:br>
            <a:rPr lang="en-AU" sz="1600" b="1" kern="1200" dirty="0" smtClean="0"/>
          </a:br>
          <a:r>
            <a:rPr lang="en-AU" sz="1600" b="1" kern="1200" dirty="0" smtClean="0"/>
            <a:t>adequacy</a:t>
          </a:r>
          <a:br>
            <a:rPr lang="en-AU" sz="1600" b="1" kern="1200" dirty="0" smtClean="0"/>
          </a:br>
          <a:r>
            <a:rPr lang="en-AU" sz="2400" b="1" kern="1200" dirty="0" smtClean="0">
              <a:solidFill>
                <a:srgbClr val="FFFF00"/>
              </a:solidFill>
              <a:effectLst/>
            </a:rPr>
            <a:t>22.7%</a:t>
          </a:r>
          <a:endParaRPr lang="en-AU" sz="1600" b="1" kern="1200" dirty="0">
            <a:solidFill>
              <a:srgbClr val="FFFF00"/>
            </a:solidFill>
            <a:effectLst/>
          </a:endParaRPr>
        </a:p>
      </dsp:txBody>
      <dsp:txXfrm>
        <a:off x="358883" y="2650871"/>
        <a:ext cx="1891754" cy="1135052"/>
      </dsp:txXfrm>
    </dsp:sp>
    <dsp:sp modelId="{C2FE1AF7-6E45-4B5D-A700-C0C10FBEC820}">
      <dsp:nvSpPr>
        <dsp:cNvPr id="0" name=""/>
        <dsp:cNvSpPr/>
      </dsp:nvSpPr>
      <dsp:spPr>
        <a:xfrm>
          <a:off x="2439813" y="2650871"/>
          <a:ext cx="1891754" cy="1135052"/>
        </a:xfrm>
        <a:prstGeom prst="rect">
          <a:avLst/>
        </a:prstGeom>
        <a:solidFill>
          <a:schemeClr val="accent3">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rtl="0">
            <a:lnSpc>
              <a:spcPct val="90000"/>
            </a:lnSpc>
            <a:spcBef>
              <a:spcPct val="0"/>
            </a:spcBef>
            <a:spcAft>
              <a:spcPct val="35000"/>
            </a:spcAft>
          </a:pPr>
          <a:r>
            <a:rPr lang="en-AU" sz="1600" b="1" kern="1200" dirty="0" smtClean="0"/>
            <a:t>Loan provisions down</a:t>
          </a:r>
        </a:p>
        <a:p>
          <a:pPr lvl="0" algn="l" defTabSz="711200" rtl="0">
            <a:lnSpc>
              <a:spcPct val="90000"/>
            </a:lnSpc>
            <a:spcBef>
              <a:spcPct val="0"/>
            </a:spcBef>
            <a:spcAft>
              <a:spcPct val="35000"/>
            </a:spcAft>
          </a:pPr>
          <a:r>
            <a:rPr lang="en-AU" sz="2400" b="1" kern="1200" dirty="0" smtClean="0">
              <a:solidFill>
                <a:srgbClr val="FFFF00"/>
              </a:solidFill>
              <a:effectLst/>
            </a:rPr>
            <a:t>4.7%</a:t>
          </a:r>
          <a:endParaRPr lang="en-AU" sz="2800" b="1" kern="1200" dirty="0">
            <a:solidFill>
              <a:srgbClr val="FFFF00"/>
            </a:solidFill>
            <a:effectLst/>
          </a:endParaRPr>
        </a:p>
      </dsp:txBody>
      <dsp:txXfrm>
        <a:off x="2439813" y="2650871"/>
        <a:ext cx="1891754" cy="1135052"/>
      </dsp:txXfrm>
    </dsp:sp>
    <dsp:sp modelId="{D51B132D-6A68-4AFC-8085-3CD8F6BA606A}">
      <dsp:nvSpPr>
        <dsp:cNvPr id="0" name=""/>
        <dsp:cNvSpPr/>
      </dsp:nvSpPr>
      <dsp:spPr>
        <a:xfrm>
          <a:off x="358883" y="3975099"/>
          <a:ext cx="1891754" cy="1135052"/>
        </a:xfrm>
        <a:prstGeom prst="rect">
          <a:avLst/>
        </a:prstGeom>
        <a:solidFill>
          <a:schemeClr val="accent3">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rtl="0">
            <a:lnSpc>
              <a:spcPct val="90000"/>
            </a:lnSpc>
            <a:spcBef>
              <a:spcPct val="0"/>
            </a:spcBef>
            <a:spcAft>
              <a:spcPct val="35000"/>
            </a:spcAft>
          </a:pPr>
          <a:r>
            <a:rPr lang="en-AU" sz="1600" b="1" kern="1200" dirty="0" smtClean="0"/>
            <a:t>ROE up to</a:t>
          </a:r>
        </a:p>
        <a:p>
          <a:pPr lvl="0" algn="l" defTabSz="711200" rtl="0">
            <a:lnSpc>
              <a:spcPct val="90000"/>
            </a:lnSpc>
            <a:spcBef>
              <a:spcPct val="0"/>
            </a:spcBef>
            <a:spcAft>
              <a:spcPct val="35000"/>
            </a:spcAft>
          </a:pPr>
          <a:r>
            <a:rPr lang="en-AU" sz="2400" b="1" kern="1200" dirty="0" smtClean="0">
              <a:solidFill>
                <a:srgbClr val="FFFF00"/>
              </a:solidFill>
              <a:effectLst/>
            </a:rPr>
            <a:t>30.7%</a:t>
          </a:r>
          <a:endParaRPr lang="en-AU" sz="2000" b="1" kern="1200" dirty="0">
            <a:solidFill>
              <a:srgbClr val="FFFF00"/>
            </a:solidFill>
            <a:effectLst/>
          </a:endParaRPr>
        </a:p>
      </dsp:txBody>
      <dsp:txXfrm>
        <a:off x="358883" y="3975099"/>
        <a:ext cx="1891754" cy="1135052"/>
      </dsp:txXfrm>
    </dsp:sp>
    <dsp:sp modelId="{376D3266-823E-4234-85EB-4037650C157E}">
      <dsp:nvSpPr>
        <dsp:cNvPr id="0" name=""/>
        <dsp:cNvSpPr/>
      </dsp:nvSpPr>
      <dsp:spPr>
        <a:xfrm>
          <a:off x="2439813" y="3975099"/>
          <a:ext cx="1891754" cy="1135052"/>
        </a:xfrm>
        <a:prstGeom prst="rect">
          <a:avLst/>
        </a:prstGeom>
        <a:solidFill>
          <a:schemeClr val="accent3">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rtl="0">
            <a:lnSpc>
              <a:spcPct val="90000"/>
            </a:lnSpc>
            <a:spcBef>
              <a:spcPct val="0"/>
            </a:spcBef>
            <a:spcAft>
              <a:spcPct val="35000"/>
            </a:spcAft>
          </a:pPr>
          <a:r>
            <a:rPr lang="en-AU" sz="1600" b="1" kern="1200" dirty="0" smtClean="0"/>
            <a:t>Dividend</a:t>
          </a:r>
          <a:br>
            <a:rPr lang="en-AU" sz="1600" b="1" kern="1200" dirty="0" smtClean="0"/>
          </a:br>
          <a:r>
            <a:rPr lang="en-AU" sz="1600" b="1" kern="1200" dirty="0" smtClean="0"/>
            <a:t>yield of</a:t>
          </a:r>
        </a:p>
        <a:p>
          <a:pPr lvl="0" algn="l" defTabSz="711200" rtl="0">
            <a:lnSpc>
              <a:spcPct val="90000"/>
            </a:lnSpc>
            <a:spcBef>
              <a:spcPct val="0"/>
            </a:spcBef>
            <a:spcAft>
              <a:spcPct val="35000"/>
            </a:spcAft>
          </a:pPr>
          <a:r>
            <a:rPr lang="en-AU" sz="2400" b="1" kern="1200" dirty="0" smtClean="0">
              <a:solidFill>
                <a:srgbClr val="FFFF00"/>
              </a:solidFill>
              <a:effectLst/>
            </a:rPr>
            <a:t>12.4%</a:t>
          </a:r>
          <a:endParaRPr lang="en-AU" sz="2400" b="1" kern="1200" dirty="0">
            <a:solidFill>
              <a:srgbClr val="FFFF00"/>
            </a:solidFill>
            <a:effectLst/>
          </a:endParaRPr>
        </a:p>
      </dsp:txBody>
      <dsp:txXfrm>
        <a:off x="2439813" y="3975099"/>
        <a:ext cx="1891754" cy="1135052"/>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drawing1.xml><?xml version="1.0" encoding="utf-8"?>
<c:userShapes xmlns:c="http://schemas.openxmlformats.org/drawingml/2006/chart">
  <cdr:relSizeAnchor xmlns:cdr="http://schemas.openxmlformats.org/drawingml/2006/chartDrawing">
    <cdr:from>
      <cdr:x>0.71638</cdr:x>
      <cdr:y>0.19693</cdr:y>
    </cdr:from>
    <cdr:to>
      <cdr:x>0.79057</cdr:x>
      <cdr:y>0.44971</cdr:y>
    </cdr:to>
    <cdr:cxnSp macro="">
      <cdr:nvCxnSpPr>
        <cdr:cNvPr id="2" name="Straight Connector 1"/>
        <cdr:cNvCxnSpPr/>
      </cdr:nvCxnSpPr>
      <cdr:spPr>
        <a:xfrm xmlns:a="http://schemas.openxmlformats.org/drawingml/2006/main">
          <a:off x="5003563" y="761530"/>
          <a:ext cx="518192" cy="977491"/>
        </a:xfrm>
        <a:prstGeom xmlns:a="http://schemas.openxmlformats.org/drawingml/2006/main" prst="line">
          <a:avLst/>
        </a:prstGeom>
      </cdr:spPr>
      <cdr:style>
        <a:lnRef xmlns:a="http://schemas.openxmlformats.org/drawingml/2006/main" idx="1">
          <a:schemeClr val="accent3"/>
        </a:lnRef>
        <a:fillRef xmlns:a="http://schemas.openxmlformats.org/drawingml/2006/main" idx="0">
          <a:schemeClr val="accent3"/>
        </a:fillRef>
        <a:effectRef xmlns:a="http://schemas.openxmlformats.org/drawingml/2006/main" idx="0">
          <a:schemeClr val="accent3"/>
        </a:effectRef>
        <a:fontRef xmlns:a="http://schemas.openxmlformats.org/drawingml/2006/main" idx="minor">
          <a:schemeClr val="tx1"/>
        </a:fontRef>
      </cdr:style>
    </cdr:cxnSp>
  </cdr:relSizeAnchor>
</c:userShapes>
</file>

<file path=ppt/drawings/drawing2.xml><?xml version="1.0" encoding="utf-8"?>
<c:userShapes xmlns:c="http://schemas.openxmlformats.org/drawingml/2006/chart">
  <cdr:relSizeAnchor xmlns:cdr="http://schemas.openxmlformats.org/drawingml/2006/chartDrawing">
    <cdr:from>
      <cdr:x>0.21506</cdr:x>
      <cdr:y>0</cdr:y>
    </cdr:from>
    <cdr:to>
      <cdr:x>0.40013</cdr:x>
      <cdr:y>0.19088</cdr:y>
    </cdr:to>
    <cdr:sp macro="" textlink="">
      <cdr:nvSpPr>
        <cdr:cNvPr id="2" name="TextBox 1"/>
        <cdr:cNvSpPr txBox="1"/>
      </cdr:nvSpPr>
      <cdr:spPr>
        <a:xfrm xmlns:a="http://schemas.openxmlformats.org/drawingml/2006/main">
          <a:off x="1096955" y="0"/>
          <a:ext cx="943975" cy="572013"/>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pPr algn="ctr" rtl="0"/>
          <a:r>
            <a:rPr lang="en-US" sz="800" b="1" i="0" baseline="0" dirty="0">
              <a:effectLst/>
              <a:latin typeface="+mn-lt"/>
              <a:ea typeface="+mn-ea"/>
              <a:cs typeface="+mn-cs"/>
            </a:rPr>
            <a:t>Closing price (</a:t>
          </a:r>
          <a:r>
            <a:rPr lang="en-US" sz="900" b="1" i="0" baseline="0" dirty="0">
              <a:effectLst/>
              <a:latin typeface="+mn-lt"/>
              <a:ea typeface="+mn-ea"/>
              <a:cs typeface="+mn-cs"/>
            </a:rPr>
            <a:t>Kina</a:t>
          </a:r>
          <a:r>
            <a:rPr lang="en-US" sz="800" b="1" i="0" baseline="0" dirty="0">
              <a:effectLst/>
              <a:latin typeface="+mn-lt"/>
              <a:ea typeface="+mn-ea"/>
              <a:cs typeface="+mn-cs"/>
            </a:rPr>
            <a:t>)</a:t>
          </a:r>
          <a:endParaRPr lang="en-AU" sz="800" dirty="0">
            <a:effectLst/>
          </a:endParaRPr>
        </a:p>
        <a:p xmlns:a="http://schemas.openxmlformats.org/drawingml/2006/main">
          <a:pPr algn="ctr" rtl="0"/>
          <a:r>
            <a:rPr lang="en-US" sz="800" b="1" i="0" baseline="0" dirty="0">
              <a:solidFill>
                <a:srgbClr val="FF0000"/>
              </a:solidFill>
              <a:effectLst/>
              <a:latin typeface="+mn-lt"/>
              <a:ea typeface="+mn-ea"/>
              <a:cs typeface="+mn-cs"/>
            </a:rPr>
            <a:t>red</a:t>
          </a:r>
          <a:endParaRPr lang="en-AU" sz="800" dirty="0">
            <a:solidFill>
              <a:srgbClr val="FF0000"/>
            </a:solidFill>
            <a:effectLst/>
          </a:endParaRPr>
        </a:p>
      </cdr:txBody>
    </cdr:sp>
  </cdr:relSizeAnchor>
  <cdr:relSizeAnchor xmlns:cdr="http://schemas.openxmlformats.org/drawingml/2006/chartDrawing">
    <cdr:from>
      <cdr:x>0.60227</cdr:x>
      <cdr:y>0.10154</cdr:y>
    </cdr:from>
    <cdr:to>
      <cdr:x>0.875</cdr:x>
      <cdr:y>0.36</cdr:y>
    </cdr:to>
    <cdr:sp macro="" textlink="">
      <cdr:nvSpPr>
        <cdr:cNvPr id="3" name="TextBox 2"/>
        <cdr:cNvSpPr txBox="1"/>
      </cdr:nvSpPr>
      <cdr:spPr>
        <a:xfrm xmlns:a="http://schemas.openxmlformats.org/drawingml/2006/main">
          <a:off x="3028950" y="314326"/>
          <a:ext cx="1371600" cy="8001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AU" sz="1100"/>
        </a:p>
      </cdr:txBody>
    </cdr:sp>
  </cdr:relSizeAnchor>
  <cdr:relSizeAnchor xmlns:cdr="http://schemas.openxmlformats.org/drawingml/2006/chartDrawing">
    <cdr:from>
      <cdr:x>0.68427</cdr:x>
      <cdr:y>0</cdr:y>
    </cdr:from>
    <cdr:to>
      <cdr:x>0.91931</cdr:x>
      <cdr:y>0.16304</cdr:y>
    </cdr:to>
    <cdr:sp macro="" textlink="">
      <cdr:nvSpPr>
        <cdr:cNvPr id="4" name="TextBox 3"/>
        <cdr:cNvSpPr txBox="1"/>
      </cdr:nvSpPr>
      <cdr:spPr>
        <a:xfrm xmlns:a="http://schemas.openxmlformats.org/drawingml/2006/main">
          <a:off x="3358763" y="0"/>
          <a:ext cx="1153706" cy="488156"/>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pPr algn="ctr" rtl="0"/>
          <a:r>
            <a:rPr lang="en-US" sz="800" b="1" i="0" baseline="0">
              <a:effectLst/>
              <a:latin typeface="+mn-lt"/>
              <a:ea typeface="+mn-ea"/>
              <a:cs typeface="+mn-cs"/>
            </a:rPr>
            <a:t>Volume traded</a:t>
          </a:r>
          <a:endParaRPr lang="en-AU" sz="800">
            <a:effectLst/>
          </a:endParaRPr>
        </a:p>
        <a:p xmlns:a="http://schemas.openxmlformats.org/drawingml/2006/main">
          <a:pPr algn="ctr" rtl="0"/>
          <a:r>
            <a:rPr lang="en-US" sz="800" b="1" i="0" baseline="0">
              <a:effectLst/>
              <a:latin typeface="+mn-lt"/>
              <a:ea typeface="+mn-ea"/>
              <a:cs typeface="+mn-cs"/>
            </a:rPr>
            <a:t>(millions)</a:t>
          </a:r>
          <a:endParaRPr lang="en-AU" sz="800">
            <a:effectLst/>
          </a:endParaRPr>
        </a:p>
        <a:p xmlns:a="http://schemas.openxmlformats.org/drawingml/2006/main">
          <a:pPr algn="ctr" rtl="0"/>
          <a:r>
            <a:rPr lang="en-US" sz="800" b="1" i="0" baseline="0">
              <a:solidFill>
                <a:srgbClr val="237737"/>
              </a:solidFill>
              <a:effectLst/>
              <a:latin typeface="+mn-lt"/>
              <a:ea typeface="+mn-ea"/>
              <a:cs typeface="+mn-cs"/>
            </a:rPr>
            <a:t>green</a:t>
          </a:r>
          <a:endParaRPr lang="en-AU" sz="800" b="1">
            <a:solidFill>
              <a:srgbClr val="237737"/>
            </a:solidFill>
            <a:effectLst/>
          </a:endParaRPr>
        </a:p>
        <a:p xmlns:a="http://schemas.openxmlformats.org/drawingml/2006/main">
          <a:endParaRPr lang="en-AU" sz="800"/>
        </a:p>
      </cdr:txBody>
    </cdr:sp>
  </cdr:relSizeAnchor>
  <cdr:relSizeAnchor xmlns:cdr="http://schemas.openxmlformats.org/drawingml/2006/chartDrawing">
    <cdr:from>
      <cdr:x>0.38163</cdr:x>
      <cdr:y>0.04348</cdr:y>
    </cdr:from>
    <cdr:to>
      <cdr:x>0.63885</cdr:x>
      <cdr:y>0.19555</cdr:y>
    </cdr:to>
    <cdr:sp macro="" textlink="">
      <cdr:nvSpPr>
        <cdr:cNvPr id="5" name="TextBox 4"/>
        <cdr:cNvSpPr txBox="1"/>
      </cdr:nvSpPr>
      <cdr:spPr>
        <a:xfrm xmlns:a="http://schemas.openxmlformats.org/drawingml/2006/main">
          <a:off x="1880524" y="127074"/>
          <a:ext cx="1267489" cy="444426"/>
        </a:xfrm>
        <a:prstGeom xmlns:a="http://schemas.openxmlformats.org/drawingml/2006/main" prst="rect">
          <a:avLst/>
        </a:prstGeom>
        <a:noFill xmlns:a="http://schemas.openxmlformats.org/drawingml/2006/main"/>
      </cdr:spPr>
      <cdr:txBody>
        <a:bodyPr xmlns:a="http://schemas.openxmlformats.org/drawingml/2006/main" vertOverflow="clip" wrap="square" rtlCol="0"/>
        <a:lstStyle xmlns:a="http://schemas.openxmlformats.org/drawingml/2006/main"/>
        <a:p xmlns:a="http://schemas.openxmlformats.org/drawingml/2006/main">
          <a:pPr algn="ctr"/>
          <a:r>
            <a:rPr lang="en-AU" sz="1600" b="1">
              <a:solidFill>
                <a:srgbClr val="00B050"/>
              </a:solidFill>
            </a:rPr>
            <a:t>Share Price</a:t>
          </a:r>
        </a:p>
      </cdr:txBody>
    </cdr:sp>
  </cdr:relSizeAnchor>
</c:userShape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17-04-19T11:18:50.143"/>
    </inkml:context>
    <inkml:brush xml:id="br0">
      <inkml:brushProperty name="width" value="0.00882" units="cm"/>
      <inkml:brushProperty name="height" value="0.00882" units="cm"/>
      <inkml:brushProperty name="color" value="#8CC63F"/>
      <inkml:brushProperty name="ignorePressure" value="1"/>
    </inkml:brush>
  </inkml:definitions>
  <inkml:trace contextRef="#ctx0" brushRef="#br0">24765 6437</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17-04-19T11:18:51.359"/>
    </inkml:context>
    <inkml:brush xml:id="br0">
      <inkml:brushProperty name="width" value="0.00882" units="cm"/>
      <inkml:brushProperty name="height" value="0.00882" units="cm"/>
      <inkml:brushProperty name="color" value="#8CC63F"/>
      <inkml:brushProperty name="ignorePressure" value="1"/>
    </inkml:brush>
  </inkml:definitions>
  <inkml:trace contextRef="#ctx0" brushRef="#br0">24795 6523</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17-04-19T11:19:18.138"/>
    </inkml:context>
    <inkml:brush xml:id="br0">
      <inkml:brushProperty name="width" value="0.0175" units="cm"/>
      <inkml:brushProperty name="height" value="0.0175" units="cm"/>
      <inkml:brushProperty name="color" value="#3165BB"/>
      <inkml:brushProperty name="ignorePressure" value="1"/>
    </inkml:brush>
  </inkml:definitions>
  <inkml:trace contextRef="#ctx0" brushRef="#br0">24015 6062</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17-04-19T11:19:27.488"/>
    </inkml:context>
    <inkml:brush xml:id="br0">
      <inkml:brushProperty name="width" value="0.0175" units="cm"/>
      <inkml:brushProperty name="height" value="0.0175" units="cm"/>
      <inkml:brushProperty name="color" value="#3165BB"/>
      <inkml:brushProperty name="ignorePressure" value="1"/>
    </inkml:brush>
  </inkml:definitions>
  <inkml:trace contextRef="#ctx0" brushRef="#br0">19642 3680,'0'-2,"0"-4,0-3,0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17-04-19T11:18:50.143"/>
    </inkml:context>
    <inkml:brush xml:id="br0">
      <inkml:brushProperty name="width" value="0.00882" units="cm"/>
      <inkml:brushProperty name="height" value="0.00882" units="cm"/>
      <inkml:brushProperty name="color" value="#8CC63F"/>
      <inkml:brushProperty name="ignorePressure" value="1"/>
    </inkml:brush>
  </inkml:definitions>
  <inkml:trace contextRef="#ctx0" brushRef="#br0">24765 6437</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17-04-19T11:18:51.359"/>
    </inkml:context>
    <inkml:brush xml:id="br0">
      <inkml:brushProperty name="width" value="0.00882" units="cm"/>
      <inkml:brushProperty name="height" value="0.00882" units="cm"/>
      <inkml:brushProperty name="color" value="#8CC63F"/>
      <inkml:brushProperty name="ignorePressure" value="1"/>
    </inkml:brush>
  </inkml:definitions>
  <inkml:trace contextRef="#ctx0" brushRef="#br0">24795 6523</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17-04-19T11:19:18.138"/>
    </inkml:context>
    <inkml:brush xml:id="br0">
      <inkml:brushProperty name="width" value="0.0175" units="cm"/>
      <inkml:brushProperty name="height" value="0.0175" units="cm"/>
      <inkml:brushProperty name="color" value="#3165BB"/>
      <inkml:brushProperty name="ignorePressure" value="1"/>
    </inkml:brush>
  </inkml:definitions>
  <inkml:trace contextRef="#ctx0" brushRef="#br0">24015 6062</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17-04-19T11:19:27.488"/>
    </inkml:context>
    <inkml:brush xml:id="br0">
      <inkml:brushProperty name="width" value="0.0175" units="cm"/>
      <inkml:brushProperty name="height" value="0.0175" units="cm"/>
      <inkml:brushProperty name="color" value="#3165BB"/>
      <inkml:brushProperty name="ignorePressure" value="1"/>
    </inkml:brush>
  </inkml:definitions>
  <inkml:trace contextRef="#ctx0" brushRef="#br0">19034 3780,'0'-9,"0"-21,0-13,0-1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17-04-19T11:18:50.143"/>
    </inkml:context>
    <inkml:brush xml:id="br0">
      <inkml:brushProperty name="width" value="0.00882" units="cm"/>
      <inkml:brushProperty name="height" value="0.00882" units="cm"/>
      <inkml:brushProperty name="color" value="#8CC63F"/>
      <inkml:brushProperty name="ignorePressure" value="1"/>
    </inkml:brush>
  </inkml:definitions>
  <inkml:trace contextRef="#ctx0" brushRef="#br0">0-2147483648</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17-04-19T11:18:51.359"/>
    </inkml:context>
    <inkml:brush xml:id="br0">
      <inkml:brushProperty name="width" value="0.00882" units="cm"/>
      <inkml:brushProperty name="height" value="0.00882" units="cm"/>
      <inkml:brushProperty name="color" value="#8CC63F"/>
      <inkml:brushProperty name="ignorePressure" value="1"/>
    </inkml:brush>
  </inkml:definitions>
  <inkml:trace contextRef="#ctx0" brushRef="#br0">0-2147483648</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17-04-19T11:19:18.138"/>
    </inkml:context>
    <inkml:brush xml:id="br0">
      <inkml:brushProperty name="width" value="0.0175" units="cm"/>
      <inkml:brushProperty name="height" value="0.0175" units="cm"/>
      <inkml:brushProperty name="color" value="#3165BB"/>
      <inkml:brushProperty name="ignorePressure" value="1"/>
    </inkml:brush>
  </inkml:definitions>
  <inkml:trace contextRef="#ctx0" brushRef="#br0">0-2147483648</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17-04-19T11:19:27.488"/>
    </inkml:context>
    <inkml:brush xml:id="br0">
      <inkml:brushProperty name="width" value="0.0175" units="cm"/>
      <inkml:brushProperty name="height" value="0.0175" units="cm"/>
      <inkml:brushProperty name="color" value="#3165BB"/>
      <inkml:brushProperty name="ignorePressure" value="1"/>
    </inkml:brush>
  </inkml:definitions>
  <inkml:trace contextRef="#ctx0" brushRef="#br0">19642 3680,'0'-2,"0"-4,0-3,0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18-04-16T04:35:40.758"/>
    </inkml:context>
    <inkml:brush xml:id="br0">
      <inkml:brushProperty name="width" value="0.00882" units="cm"/>
      <inkml:brushProperty name="height" value="0.00882" units="cm"/>
      <inkml:brushProperty name="color" value="#8CC63F"/>
      <inkml:brushProperty name="ignorePressure" value="1"/>
    </inkml:brush>
  </inkml:definitions>
  <inkml:trace contextRef="#ctx0" brushRef="#br0">24765 6437</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18-04-16T04:35:40.759"/>
    </inkml:context>
    <inkml:brush xml:id="br0">
      <inkml:brushProperty name="width" value="0.00882" units="cm"/>
      <inkml:brushProperty name="height" value="0.00882" units="cm"/>
      <inkml:brushProperty name="color" value="#8CC63F"/>
      <inkml:brushProperty name="ignorePressure" value="1"/>
    </inkml:brush>
  </inkml:definitions>
  <inkml:trace contextRef="#ctx0" brushRef="#br0">24795 6523</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18-04-16T04:35:40.760"/>
    </inkml:context>
    <inkml:brush xml:id="br0">
      <inkml:brushProperty name="width" value="0.0175" units="cm"/>
      <inkml:brushProperty name="height" value="0.0175" units="cm"/>
      <inkml:brushProperty name="color" value="#3165BB"/>
      <inkml:brushProperty name="ignorePressure" value="1"/>
    </inkml:brush>
  </inkml:definitions>
  <inkml:trace contextRef="#ctx0" brushRef="#br0">24015 6062</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945659" cy="496332"/>
          </a:xfrm>
          <a:prstGeom prst="rect">
            <a:avLst/>
          </a:prstGeom>
        </p:spPr>
        <p:txBody>
          <a:bodyPr vert="horz" lIns="91312" tIns="45656" rIns="91312" bIns="45656" rtlCol="0"/>
          <a:lstStyle>
            <a:lvl1pPr algn="l">
              <a:defRPr sz="1200"/>
            </a:lvl1pPr>
          </a:lstStyle>
          <a:p>
            <a:endParaRPr lang="en-AU"/>
          </a:p>
        </p:txBody>
      </p:sp>
      <p:sp>
        <p:nvSpPr>
          <p:cNvPr id="3" name="Date Placeholder 2"/>
          <p:cNvSpPr>
            <a:spLocks noGrp="1"/>
          </p:cNvSpPr>
          <p:nvPr>
            <p:ph type="dt" idx="1"/>
          </p:nvPr>
        </p:nvSpPr>
        <p:spPr>
          <a:xfrm>
            <a:off x="3850443" y="0"/>
            <a:ext cx="2945659" cy="496332"/>
          </a:xfrm>
          <a:prstGeom prst="rect">
            <a:avLst/>
          </a:prstGeom>
        </p:spPr>
        <p:txBody>
          <a:bodyPr vert="horz" lIns="91312" tIns="45656" rIns="91312" bIns="45656" rtlCol="0"/>
          <a:lstStyle>
            <a:lvl1pPr algn="r">
              <a:defRPr sz="1200"/>
            </a:lvl1pPr>
          </a:lstStyle>
          <a:p>
            <a:fld id="{3EB1B2FB-431A-483D-9539-41C1A1A76340}" type="datetimeFigureOut">
              <a:rPr lang="en-AU" smtClean="0"/>
              <a:t>28/08/2018</a:t>
            </a:fld>
            <a:endParaRPr lang="en-AU"/>
          </a:p>
        </p:txBody>
      </p:sp>
      <p:sp>
        <p:nvSpPr>
          <p:cNvPr id="4" name="Slide Image Placeholder 3"/>
          <p:cNvSpPr>
            <a:spLocks noGrp="1" noRot="1" noChangeAspect="1"/>
          </p:cNvSpPr>
          <p:nvPr>
            <p:ph type="sldImg" idx="2"/>
          </p:nvPr>
        </p:nvSpPr>
        <p:spPr>
          <a:xfrm>
            <a:off x="919163" y="744538"/>
            <a:ext cx="4959350" cy="3721100"/>
          </a:xfrm>
          <a:prstGeom prst="rect">
            <a:avLst/>
          </a:prstGeom>
          <a:noFill/>
          <a:ln w="12700">
            <a:solidFill>
              <a:prstClr val="black"/>
            </a:solidFill>
          </a:ln>
        </p:spPr>
        <p:txBody>
          <a:bodyPr vert="horz" lIns="91312" tIns="45656" rIns="91312" bIns="45656" rtlCol="0" anchor="ctr"/>
          <a:lstStyle/>
          <a:p>
            <a:endParaRPr lang="en-AU"/>
          </a:p>
        </p:txBody>
      </p:sp>
      <p:sp>
        <p:nvSpPr>
          <p:cNvPr id="5" name="Notes Placeholder 4"/>
          <p:cNvSpPr>
            <a:spLocks noGrp="1"/>
          </p:cNvSpPr>
          <p:nvPr>
            <p:ph type="body" sz="quarter" idx="3"/>
          </p:nvPr>
        </p:nvSpPr>
        <p:spPr>
          <a:xfrm>
            <a:off x="679768" y="4715153"/>
            <a:ext cx="5438140" cy="4466987"/>
          </a:xfrm>
          <a:prstGeom prst="rect">
            <a:avLst/>
          </a:prstGeom>
        </p:spPr>
        <p:txBody>
          <a:bodyPr vert="horz" lIns="91312" tIns="45656" rIns="91312" bIns="45656"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1" y="9428584"/>
            <a:ext cx="2945659" cy="496332"/>
          </a:xfrm>
          <a:prstGeom prst="rect">
            <a:avLst/>
          </a:prstGeom>
        </p:spPr>
        <p:txBody>
          <a:bodyPr vert="horz" lIns="91312" tIns="45656" rIns="91312" bIns="45656" rtlCol="0" anchor="b"/>
          <a:lstStyle>
            <a:lvl1pPr algn="l">
              <a:defRPr sz="1200"/>
            </a:lvl1pPr>
          </a:lstStyle>
          <a:p>
            <a:endParaRPr lang="en-AU"/>
          </a:p>
        </p:txBody>
      </p:sp>
      <p:sp>
        <p:nvSpPr>
          <p:cNvPr id="7" name="Slide Number Placeholder 6"/>
          <p:cNvSpPr>
            <a:spLocks noGrp="1"/>
          </p:cNvSpPr>
          <p:nvPr>
            <p:ph type="sldNum" sz="quarter" idx="5"/>
          </p:nvPr>
        </p:nvSpPr>
        <p:spPr>
          <a:xfrm>
            <a:off x="3850443" y="9428584"/>
            <a:ext cx="2945659" cy="496332"/>
          </a:xfrm>
          <a:prstGeom prst="rect">
            <a:avLst/>
          </a:prstGeom>
        </p:spPr>
        <p:txBody>
          <a:bodyPr vert="horz" lIns="91312" tIns="45656" rIns="91312" bIns="45656" rtlCol="0" anchor="b"/>
          <a:lstStyle>
            <a:lvl1pPr algn="r">
              <a:defRPr sz="1200"/>
            </a:lvl1pPr>
          </a:lstStyle>
          <a:p>
            <a:fld id="{70FB0FFB-AA07-44D9-A41C-FD7C57F93BF8}" type="slidenum">
              <a:rPr lang="en-AU" smtClean="0"/>
              <a:t>‹#›</a:t>
            </a:fld>
            <a:endParaRPr lang="en-AU"/>
          </a:p>
        </p:txBody>
      </p:sp>
    </p:spTree>
    <p:extLst>
      <p:ext uri="{BB962C8B-B14F-4D97-AF65-F5344CB8AC3E}">
        <p14:creationId xmlns:p14="http://schemas.microsoft.com/office/powerpoint/2010/main" val="9201593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8A32A9F4-2494-481F-A9A5-D428DB0A0EBB}" type="slidenum">
              <a:rPr lang="en-AU" smtClean="0">
                <a:solidFill>
                  <a:prstClr val="black"/>
                </a:solidFill>
              </a:rPr>
              <a:pPr/>
              <a:t>1</a:t>
            </a:fld>
            <a:endParaRPr lang="en-AU">
              <a:solidFill>
                <a:prstClr val="black"/>
              </a:solidFill>
            </a:endParaRPr>
          </a:p>
        </p:txBody>
      </p:sp>
    </p:spTree>
    <p:extLst>
      <p:ext uri="{BB962C8B-B14F-4D97-AF65-F5344CB8AC3E}">
        <p14:creationId xmlns:p14="http://schemas.microsoft.com/office/powerpoint/2010/main" val="8140544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4D62D32-2410-4DA5-AD9E-2957BA4DEBB7}" type="slidenum">
              <a:rPr lang="en-US" smtClean="0">
                <a:solidFill>
                  <a:prstClr val="black"/>
                </a:solidFill>
              </a:rPr>
              <a:pPr/>
              <a:t>2</a:t>
            </a:fld>
            <a:endParaRPr lang="en-US" dirty="0">
              <a:solidFill>
                <a:prstClr val="black"/>
              </a:solidFill>
            </a:endParaRPr>
          </a:p>
        </p:txBody>
      </p:sp>
    </p:spTree>
    <p:extLst>
      <p:ext uri="{BB962C8B-B14F-4D97-AF65-F5344CB8AC3E}">
        <p14:creationId xmlns:p14="http://schemas.microsoft.com/office/powerpoint/2010/main" val="8573137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8A32A9F4-2494-481F-A9A5-D428DB0A0EBB}" type="slidenum">
              <a:rPr lang="en-AU" smtClean="0"/>
              <a:t>3</a:t>
            </a:fld>
            <a:endParaRPr lang="en-AU"/>
          </a:p>
        </p:txBody>
      </p:sp>
    </p:spTree>
    <p:extLst>
      <p:ext uri="{BB962C8B-B14F-4D97-AF65-F5344CB8AC3E}">
        <p14:creationId xmlns:p14="http://schemas.microsoft.com/office/powerpoint/2010/main" val="875943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8A32A9F4-2494-481F-A9A5-D428DB0A0EBB}" type="slidenum">
              <a:rPr lang="en-AU" smtClean="0"/>
              <a:t>4</a:t>
            </a:fld>
            <a:endParaRPr lang="en-AU"/>
          </a:p>
        </p:txBody>
      </p:sp>
    </p:spTree>
    <p:extLst>
      <p:ext uri="{BB962C8B-B14F-4D97-AF65-F5344CB8AC3E}">
        <p14:creationId xmlns:p14="http://schemas.microsoft.com/office/powerpoint/2010/main" val="875943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pPr defTabSz="896045">
              <a:defRPr/>
            </a:pPr>
            <a:fld id="{8A32A9F4-2494-481F-A9A5-D428DB0A0EBB}" type="slidenum">
              <a:rPr lang="en-AU">
                <a:solidFill>
                  <a:prstClr val="black"/>
                </a:solidFill>
                <a:latin typeface="Calibri"/>
              </a:rPr>
              <a:pPr defTabSz="896045">
                <a:defRPr/>
              </a:pPr>
              <a:t>5</a:t>
            </a:fld>
            <a:endParaRPr lang="en-AU" dirty="0">
              <a:solidFill>
                <a:prstClr val="black"/>
              </a:solidFill>
              <a:latin typeface="Calibri"/>
            </a:endParaRPr>
          </a:p>
        </p:txBody>
      </p:sp>
    </p:spTree>
    <p:extLst>
      <p:ext uri="{BB962C8B-B14F-4D97-AF65-F5344CB8AC3E}">
        <p14:creationId xmlns:p14="http://schemas.microsoft.com/office/powerpoint/2010/main" val="22498988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8A32A9F4-2494-481F-A9A5-D428DB0A0EBB}" type="slidenum">
              <a:rPr lang="en-AU" smtClean="0"/>
              <a:t>6</a:t>
            </a:fld>
            <a:endParaRPr lang="en-AU"/>
          </a:p>
        </p:txBody>
      </p:sp>
    </p:spTree>
    <p:extLst>
      <p:ext uri="{BB962C8B-B14F-4D97-AF65-F5344CB8AC3E}">
        <p14:creationId xmlns:p14="http://schemas.microsoft.com/office/powerpoint/2010/main" val="875943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8A32A9F4-2494-481F-A9A5-D428DB0A0EBB}" type="slidenum">
              <a:rPr lang="en-AU" smtClean="0"/>
              <a:t>7</a:t>
            </a:fld>
            <a:endParaRPr lang="en-AU"/>
          </a:p>
        </p:txBody>
      </p:sp>
    </p:spTree>
    <p:extLst>
      <p:ext uri="{BB962C8B-B14F-4D97-AF65-F5344CB8AC3E}">
        <p14:creationId xmlns:p14="http://schemas.microsoft.com/office/powerpoint/2010/main" val="875943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8A32A9F4-2494-481F-A9A5-D428DB0A0EBB}" type="slidenum">
              <a:rPr lang="en-AU" smtClean="0"/>
              <a:t>8</a:t>
            </a:fld>
            <a:endParaRPr lang="en-AU"/>
          </a:p>
        </p:txBody>
      </p:sp>
    </p:spTree>
    <p:extLst>
      <p:ext uri="{BB962C8B-B14F-4D97-AF65-F5344CB8AC3E}">
        <p14:creationId xmlns:p14="http://schemas.microsoft.com/office/powerpoint/2010/main" val="875943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8A32A9F4-2494-481F-A9A5-D428DB0A0EBB}" type="slidenum">
              <a:rPr lang="en-AU" smtClean="0"/>
              <a:t>9</a:t>
            </a:fld>
            <a:endParaRPr lang="en-AU"/>
          </a:p>
        </p:txBody>
      </p:sp>
    </p:spTree>
    <p:extLst>
      <p:ext uri="{BB962C8B-B14F-4D97-AF65-F5344CB8AC3E}">
        <p14:creationId xmlns:p14="http://schemas.microsoft.com/office/powerpoint/2010/main" val="875943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8A32A9F4-2494-481F-A9A5-D428DB0A0EBB}" type="slidenum">
              <a:rPr lang="en-AU" smtClean="0"/>
              <a:t>10</a:t>
            </a:fld>
            <a:endParaRPr lang="en-AU"/>
          </a:p>
        </p:txBody>
      </p:sp>
    </p:spTree>
    <p:extLst>
      <p:ext uri="{BB962C8B-B14F-4D97-AF65-F5344CB8AC3E}">
        <p14:creationId xmlns:p14="http://schemas.microsoft.com/office/powerpoint/2010/main" val="875943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pPr>
              <a:defRPr/>
            </a:pPr>
            <a:fld id="{8A32A9F4-2494-481F-A9A5-D428DB0A0EBB}" type="slidenum">
              <a:rPr lang="en-AU" smtClean="0">
                <a:solidFill>
                  <a:prstClr val="black"/>
                </a:solidFill>
              </a:rPr>
              <a:pPr>
                <a:defRPr/>
              </a:pPr>
              <a:t>11</a:t>
            </a:fld>
            <a:endParaRPr lang="en-AU">
              <a:solidFill>
                <a:prstClr val="black"/>
              </a:solidFill>
            </a:endParaRPr>
          </a:p>
        </p:txBody>
      </p:sp>
    </p:spTree>
    <p:extLst>
      <p:ext uri="{BB962C8B-B14F-4D97-AF65-F5344CB8AC3E}">
        <p14:creationId xmlns:p14="http://schemas.microsoft.com/office/powerpoint/2010/main" val="22498988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pPr>
              <a:defRPr/>
            </a:pPr>
            <a:fld id="{8A32A9F4-2494-481F-A9A5-D428DB0A0EBB}" type="slidenum">
              <a:rPr lang="en-AU" smtClean="0">
                <a:solidFill>
                  <a:prstClr val="black"/>
                </a:solidFill>
              </a:rPr>
              <a:pPr>
                <a:defRPr/>
              </a:pPr>
              <a:t>12</a:t>
            </a:fld>
            <a:endParaRPr lang="en-AU">
              <a:solidFill>
                <a:prstClr val="black"/>
              </a:solidFill>
            </a:endParaRPr>
          </a:p>
        </p:txBody>
      </p:sp>
    </p:spTree>
    <p:extLst>
      <p:ext uri="{BB962C8B-B14F-4D97-AF65-F5344CB8AC3E}">
        <p14:creationId xmlns:p14="http://schemas.microsoft.com/office/powerpoint/2010/main" val="22498988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8A32A9F4-2494-481F-A9A5-D428DB0A0EBB}" type="slidenum">
              <a:rPr lang="en-AU" smtClean="0"/>
              <a:t>13</a:t>
            </a:fld>
            <a:endParaRPr lang="en-AU"/>
          </a:p>
        </p:txBody>
      </p:sp>
    </p:spTree>
    <p:extLst>
      <p:ext uri="{BB962C8B-B14F-4D97-AF65-F5344CB8AC3E}">
        <p14:creationId xmlns:p14="http://schemas.microsoft.com/office/powerpoint/2010/main" val="875943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8A32A9F4-2494-481F-A9A5-D428DB0A0EBB}" type="slidenum">
              <a:rPr lang="en-AU" smtClean="0"/>
              <a:t>14</a:t>
            </a:fld>
            <a:endParaRPr lang="en-AU"/>
          </a:p>
        </p:txBody>
      </p:sp>
    </p:spTree>
    <p:extLst>
      <p:ext uri="{BB962C8B-B14F-4D97-AF65-F5344CB8AC3E}">
        <p14:creationId xmlns:p14="http://schemas.microsoft.com/office/powerpoint/2010/main" val="875943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8A32A9F4-2494-481F-A9A5-D428DB0A0EBB}" type="slidenum">
              <a:rPr lang="en-AU" smtClean="0"/>
              <a:t>15</a:t>
            </a:fld>
            <a:endParaRPr lang="en-AU"/>
          </a:p>
        </p:txBody>
      </p:sp>
    </p:spTree>
    <p:extLst>
      <p:ext uri="{BB962C8B-B14F-4D97-AF65-F5344CB8AC3E}">
        <p14:creationId xmlns:p14="http://schemas.microsoft.com/office/powerpoint/2010/main" val="875943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8A32A9F4-2494-481F-A9A5-D428DB0A0EBB}" type="slidenum">
              <a:rPr lang="en-AU" smtClean="0"/>
              <a:t>16</a:t>
            </a:fld>
            <a:endParaRPr lang="en-AU"/>
          </a:p>
        </p:txBody>
      </p:sp>
    </p:spTree>
    <p:extLst>
      <p:ext uri="{BB962C8B-B14F-4D97-AF65-F5344CB8AC3E}">
        <p14:creationId xmlns:p14="http://schemas.microsoft.com/office/powerpoint/2010/main" val="875943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PE</a:t>
            </a:r>
            <a:r>
              <a:rPr lang="en-AU" baseline="0" dirty="0" smtClean="0"/>
              <a:t> Ratio = Price per share/EPS</a:t>
            </a:r>
          </a:p>
          <a:p>
            <a:r>
              <a:rPr lang="en-AU" baseline="0" dirty="0" smtClean="0"/>
              <a:t>EPS= Net income – dividends on preferred stock /Average outstanding shares</a:t>
            </a:r>
          </a:p>
          <a:p>
            <a:r>
              <a:rPr lang="en-AU" baseline="0" dirty="0" smtClean="0"/>
              <a:t>	= 757, 003m/467,318m</a:t>
            </a:r>
          </a:p>
          <a:p>
            <a:r>
              <a:rPr lang="en-AU" dirty="0" smtClean="0"/>
              <a:t>	 = 1.62</a:t>
            </a:r>
          </a:p>
          <a:p>
            <a:r>
              <a:rPr lang="en-AU" dirty="0" smtClean="0"/>
              <a:t>PE 	= 9.5/1.62</a:t>
            </a:r>
            <a:r>
              <a:rPr lang="en-AU" baseline="0" dirty="0" smtClean="0"/>
              <a:t>= 5.5 times</a:t>
            </a:r>
          </a:p>
          <a:p>
            <a:endParaRPr lang="en-AU" baseline="0" dirty="0" smtClean="0"/>
          </a:p>
          <a:p>
            <a:r>
              <a:rPr lang="en-AU" baseline="0" dirty="0" smtClean="0"/>
              <a:t>Dividend Yield = Annual Dividends/Price per share ( 2016 full 0.79+0.32 2017 interim)</a:t>
            </a:r>
          </a:p>
          <a:p>
            <a:r>
              <a:rPr lang="en-AU" baseline="0" dirty="0" smtClean="0"/>
              <a:t>	 = 111/10.01 * 100 = 11.1%</a:t>
            </a:r>
          </a:p>
          <a:p>
            <a:endParaRPr lang="en-AU" dirty="0"/>
          </a:p>
        </p:txBody>
      </p:sp>
      <p:sp>
        <p:nvSpPr>
          <p:cNvPr id="4" name="Slide Number Placeholder 3"/>
          <p:cNvSpPr>
            <a:spLocks noGrp="1"/>
          </p:cNvSpPr>
          <p:nvPr>
            <p:ph type="sldNum" sz="quarter" idx="10"/>
          </p:nvPr>
        </p:nvSpPr>
        <p:spPr/>
        <p:txBody>
          <a:bodyPr/>
          <a:lstStyle/>
          <a:p>
            <a:fld id="{8A32A9F4-2494-481F-A9A5-D428DB0A0EBB}" type="slidenum">
              <a:rPr lang="en-AU" smtClean="0"/>
              <a:t>17</a:t>
            </a:fld>
            <a:endParaRPr lang="en-AU"/>
          </a:p>
        </p:txBody>
      </p:sp>
    </p:spTree>
    <p:extLst>
      <p:ext uri="{BB962C8B-B14F-4D97-AF65-F5344CB8AC3E}">
        <p14:creationId xmlns:p14="http://schemas.microsoft.com/office/powerpoint/2010/main" val="8759435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70FB0FFB-AA07-44D9-A41C-FD7C57F93BF8}" type="slidenum">
              <a:rPr lang="en-AU" smtClean="0"/>
              <a:t>18</a:t>
            </a:fld>
            <a:endParaRPr lang="en-AU"/>
          </a:p>
        </p:txBody>
      </p:sp>
    </p:spTree>
    <p:extLst>
      <p:ext uri="{BB962C8B-B14F-4D97-AF65-F5344CB8AC3E}">
        <p14:creationId xmlns:p14="http://schemas.microsoft.com/office/powerpoint/2010/main" val="33385007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AU"/>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AU"/>
          </a:p>
        </p:txBody>
      </p:sp>
      <p:sp>
        <p:nvSpPr>
          <p:cNvPr id="4" name="Date Placeholder 3"/>
          <p:cNvSpPr>
            <a:spLocks noGrp="1"/>
          </p:cNvSpPr>
          <p:nvPr>
            <p:ph type="dt" sz="half" idx="10"/>
          </p:nvPr>
        </p:nvSpPr>
        <p:spPr/>
        <p:txBody>
          <a:bodyPr/>
          <a:lstStyle/>
          <a:p>
            <a:fld id="{CB1AE6AA-9CBC-45A8-8BAC-C0E5505DB9A6}" type="datetimeFigureOut">
              <a:rPr lang="en-AU" smtClean="0"/>
              <a:t>28/08/2018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D3627B9-FC7C-412F-8EAE-F31E9DF6972A}" type="slidenum">
              <a:rPr lang="en-AU" smtClean="0"/>
              <a:t>‹#›</a:t>
            </a:fld>
            <a:endParaRPr lang="en-AU"/>
          </a:p>
        </p:txBody>
      </p:sp>
    </p:spTree>
    <p:extLst>
      <p:ext uri="{BB962C8B-B14F-4D97-AF65-F5344CB8AC3E}">
        <p14:creationId xmlns:p14="http://schemas.microsoft.com/office/powerpoint/2010/main" val="31077680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CB1AE6AA-9CBC-45A8-8BAC-C0E5505DB9A6}" type="datetimeFigureOut">
              <a:rPr lang="en-AU" smtClean="0"/>
              <a:t>28/08/2018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D3627B9-FC7C-412F-8EAE-F31E9DF6972A}" type="slidenum">
              <a:rPr lang="en-AU" smtClean="0"/>
              <a:t>‹#›</a:t>
            </a:fld>
            <a:endParaRPr lang="en-AU"/>
          </a:p>
        </p:txBody>
      </p:sp>
    </p:spTree>
    <p:extLst>
      <p:ext uri="{BB962C8B-B14F-4D97-AF65-F5344CB8AC3E}">
        <p14:creationId xmlns:p14="http://schemas.microsoft.com/office/powerpoint/2010/main" val="32809785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B1AE6AA-9CBC-45A8-8BAC-C0E5505DB9A6}" type="datetimeFigureOut">
              <a:rPr lang="en-AU" smtClean="0"/>
              <a:t>28/08/2018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D3627B9-FC7C-412F-8EAE-F31E9DF6972A}" type="slidenum">
              <a:rPr lang="en-AU" smtClean="0"/>
              <a:t>‹#›</a:t>
            </a:fld>
            <a:endParaRPr lang="en-AU"/>
          </a:p>
        </p:txBody>
      </p:sp>
    </p:spTree>
    <p:extLst>
      <p:ext uri="{BB962C8B-B14F-4D97-AF65-F5344CB8AC3E}">
        <p14:creationId xmlns:p14="http://schemas.microsoft.com/office/powerpoint/2010/main" val="31365079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p:cNvSpPr>
            <a:spLocks noGrp="1"/>
          </p:cNvSpPr>
          <p:nvPr>
            <p:ph type="dt" sz="half" idx="10"/>
          </p:nvPr>
        </p:nvSpPr>
        <p:spPr/>
        <p:txBody>
          <a:bodyPr/>
          <a:lstStyle/>
          <a:p>
            <a:fld id="{CB1AE6AA-9CBC-45A8-8BAC-C0E5505DB9A6}" type="datetimeFigureOut">
              <a:rPr lang="en-AU" smtClean="0"/>
              <a:t>28/08/2018</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9D3627B9-FC7C-412F-8EAE-F31E9DF6972A}" type="slidenum">
              <a:rPr lang="en-AU" smtClean="0"/>
              <a:t>‹#›</a:t>
            </a:fld>
            <a:endParaRPr lang="en-AU"/>
          </a:p>
        </p:txBody>
      </p:sp>
    </p:spTree>
    <p:extLst>
      <p:ext uri="{BB962C8B-B14F-4D97-AF65-F5344CB8AC3E}">
        <p14:creationId xmlns:p14="http://schemas.microsoft.com/office/powerpoint/2010/main" val="40107614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p:cNvSpPr>
            <a:spLocks noGrp="1"/>
          </p:cNvSpPr>
          <p:nvPr>
            <p:ph type="dt" sz="half" idx="10"/>
          </p:nvPr>
        </p:nvSpPr>
        <p:spPr/>
        <p:txBody>
          <a:bodyPr/>
          <a:lstStyle/>
          <a:p>
            <a:fld id="{CB1AE6AA-9CBC-45A8-8BAC-C0E5505DB9A6}" type="datetimeFigureOut">
              <a:rPr lang="en-AU" smtClean="0"/>
              <a:t>28/08/2018</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9D3627B9-FC7C-412F-8EAE-F31E9DF6972A}" type="slidenum">
              <a:rPr lang="en-AU" smtClean="0"/>
              <a:t>‹#›</a:t>
            </a:fld>
            <a:endParaRPr lang="en-AU"/>
          </a:p>
        </p:txBody>
      </p:sp>
    </p:spTree>
    <p:extLst>
      <p:ext uri="{BB962C8B-B14F-4D97-AF65-F5344CB8AC3E}">
        <p14:creationId xmlns:p14="http://schemas.microsoft.com/office/powerpoint/2010/main" val="15408019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Date Placeholder 2"/>
          <p:cNvSpPr>
            <a:spLocks noGrp="1"/>
          </p:cNvSpPr>
          <p:nvPr>
            <p:ph type="dt" sz="half" idx="10"/>
          </p:nvPr>
        </p:nvSpPr>
        <p:spPr/>
        <p:txBody>
          <a:bodyPr/>
          <a:lstStyle/>
          <a:p>
            <a:fld id="{CB1AE6AA-9CBC-45A8-8BAC-C0E5505DB9A6}" type="datetimeFigureOut">
              <a:rPr lang="en-AU" smtClean="0"/>
              <a:t>28/08/2018</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9D3627B9-FC7C-412F-8EAE-F31E9DF6972A}" type="slidenum">
              <a:rPr lang="en-AU" smtClean="0"/>
              <a:t>‹#›</a:t>
            </a:fld>
            <a:endParaRPr lang="en-AU"/>
          </a:p>
        </p:txBody>
      </p:sp>
    </p:spTree>
    <p:extLst>
      <p:ext uri="{BB962C8B-B14F-4D97-AF65-F5344CB8AC3E}">
        <p14:creationId xmlns:p14="http://schemas.microsoft.com/office/powerpoint/2010/main" val="18133294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B1AE6AA-9CBC-45A8-8BAC-C0E5505DB9A6}" type="datetimeFigureOut">
              <a:rPr lang="en-AU" smtClean="0"/>
              <a:t>28/08/2018</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9D3627B9-FC7C-412F-8EAE-F31E9DF6972A}" type="slidenum">
              <a:rPr lang="en-AU" smtClean="0"/>
              <a:t>‹#›</a:t>
            </a:fld>
            <a:endParaRPr lang="en-AU"/>
          </a:p>
        </p:txBody>
      </p:sp>
    </p:spTree>
    <p:extLst>
      <p:ext uri="{BB962C8B-B14F-4D97-AF65-F5344CB8AC3E}">
        <p14:creationId xmlns:p14="http://schemas.microsoft.com/office/powerpoint/2010/main" val="17606365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B1AE6AA-9CBC-45A8-8BAC-C0E5505DB9A6}" type="datetimeFigureOut">
              <a:rPr lang="en-AU" smtClean="0"/>
              <a:t>28/08/2018</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9D3627B9-FC7C-412F-8EAE-F31E9DF6972A}" type="slidenum">
              <a:rPr lang="en-AU" smtClean="0"/>
              <a:t>‹#›</a:t>
            </a:fld>
            <a:endParaRPr lang="en-AU"/>
          </a:p>
        </p:txBody>
      </p:sp>
    </p:spTree>
    <p:extLst>
      <p:ext uri="{BB962C8B-B14F-4D97-AF65-F5344CB8AC3E}">
        <p14:creationId xmlns:p14="http://schemas.microsoft.com/office/powerpoint/2010/main" val="6606799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B1AE6AA-9CBC-45A8-8BAC-C0E5505DB9A6}" type="datetimeFigureOut">
              <a:rPr lang="en-AU" smtClean="0"/>
              <a:t>28/08/2018</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9D3627B9-FC7C-412F-8EAE-F31E9DF6972A}" type="slidenum">
              <a:rPr lang="en-AU" smtClean="0"/>
              <a:t>‹#›</a:t>
            </a:fld>
            <a:endParaRPr lang="en-AU"/>
          </a:p>
        </p:txBody>
      </p:sp>
    </p:spTree>
    <p:extLst>
      <p:ext uri="{BB962C8B-B14F-4D97-AF65-F5344CB8AC3E}">
        <p14:creationId xmlns:p14="http://schemas.microsoft.com/office/powerpoint/2010/main" val="7306784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CB1AE6AA-9CBC-45A8-8BAC-C0E5505DB9A6}" type="datetimeFigureOut">
              <a:rPr lang="en-AU" smtClean="0"/>
              <a:t>28/08/2018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D3627B9-FC7C-412F-8EAE-F31E9DF6972A}" type="slidenum">
              <a:rPr lang="en-AU" smtClean="0"/>
              <a:t>‹#›</a:t>
            </a:fld>
            <a:endParaRPr lang="en-AU"/>
          </a:p>
        </p:txBody>
      </p:sp>
    </p:spTree>
    <p:extLst>
      <p:ext uri="{BB962C8B-B14F-4D97-AF65-F5344CB8AC3E}">
        <p14:creationId xmlns:p14="http://schemas.microsoft.com/office/powerpoint/2010/main" val="39355703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AU"/>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CB1AE6AA-9CBC-45A8-8BAC-C0E5505DB9A6}" type="datetimeFigureOut">
              <a:rPr lang="en-AU" smtClean="0"/>
              <a:t>28/08/2018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D3627B9-FC7C-412F-8EAE-F31E9DF6972A}" type="slidenum">
              <a:rPr lang="en-AU" smtClean="0"/>
              <a:t>‹#›</a:t>
            </a:fld>
            <a:endParaRPr lang="en-AU"/>
          </a:p>
        </p:txBody>
      </p:sp>
    </p:spTree>
    <p:extLst>
      <p:ext uri="{BB962C8B-B14F-4D97-AF65-F5344CB8AC3E}">
        <p14:creationId xmlns:p14="http://schemas.microsoft.com/office/powerpoint/2010/main" val="38889302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B1AE6AA-9CBC-45A8-8BAC-C0E5505DB9A6}" type="datetimeFigureOut">
              <a:rPr lang="en-AU" smtClean="0"/>
              <a:t>28/08/2018</a:t>
            </a:fld>
            <a:endParaRPr lang="en-AU"/>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3627B9-FC7C-412F-8EAE-F31E9DF6972A}" type="slidenum">
              <a:rPr lang="en-AU" smtClean="0"/>
              <a:t>‹#›</a:t>
            </a:fld>
            <a:endParaRPr lang="en-AU"/>
          </a:p>
        </p:txBody>
      </p:sp>
    </p:spTree>
    <p:extLst>
      <p:ext uri="{BB962C8B-B14F-4D97-AF65-F5344CB8AC3E}">
        <p14:creationId xmlns:p14="http://schemas.microsoft.com/office/powerpoint/2010/main" val="19260255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2.png"/><Relationship Id="rId7"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5.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12.jpeg"/><Relationship Id="rId7" Type="http://schemas.openxmlformats.org/officeDocument/2006/relationships/customXml" Target="../ink/ink4.xml"/><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customXml" Target="../ink/ink3.xml"/><Relationship Id="rId5" Type="http://schemas.openxmlformats.org/officeDocument/2006/relationships/customXml" Target="../ink/ink2.xml"/><Relationship Id="rId4" Type="http://schemas.openxmlformats.org/officeDocument/2006/relationships/customXml" Target="../ink/ink1.xml"/></Relationships>
</file>

<file path=ppt/slides/_rels/slide6.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2.png"/><Relationship Id="rId7" Type="http://schemas.openxmlformats.org/officeDocument/2006/relationships/diagramColors" Target="../diagrams/colors1.xml"/><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chart" Target="../charts/char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chart" Target="../charts/chart5.xml"/><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chart" Target="../charts/chart9.xml"/><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chart" Target="../charts/chart8.xml"/><Relationship Id="rId5" Type="http://schemas.openxmlformats.org/officeDocument/2006/relationships/chart" Target="../charts/chart7.xml"/><Relationship Id="rId4" Type="http://schemas.openxmlformats.org/officeDocument/2006/relationships/chart" Target="../charts/chart6.xml"/></Relationships>
</file>

<file path=ppt/slides/_rels/slide9.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5.jpeg"/><Relationship Id="rId3" Type="http://schemas.openxmlformats.org/officeDocument/2006/relationships/image" Target="../media/image2.png"/><Relationship Id="rId7" Type="http://schemas.openxmlformats.org/officeDocument/2006/relationships/image" Target="../media/image8.png"/><Relationship Id="rId12" Type="http://schemas.openxmlformats.org/officeDocument/2006/relationships/image" Target="../media/image14.jpe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7.png"/><Relationship Id="rId11" Type="http://schemas.openxmlformats.org/officeDocument/2006/relationships/image" Target="../media/image13.jpeg"/><Relationship Id="rId5" Type="http://schemas.openxmlformats.org/officeDocument/2006/relationships/image" Target="../media/image6.png"/><Relationship Id="rId15" Type="http://schemas.openxmlformats.org/officeDocument/2006/relationships/image" Target="../media/image17.jpe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 Id="rId14" Type="http://schemas.openxmlformats.org/officeDocument/2006/relationships/image" Target="../media/image16.jpeg"/></Relationships>
</file>

<file path=ppt/slides/_rels/slide10.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chart" Target="../charts/chart12.xml"/><Relationship Id="rId3" Type="http://schemas.openxmlformats.org/officeDocument/2006/relationships/image" Target="../media/image2.png"/><Relationship Id="rId7" Type="http://schemas.openxmlformats.org/officeDocument/2006/relationships/image" Target="../media/image20.png"/><Relationship Id="rId12" Type="http://schemas.openxmlformats.org/officeDocument/2006/relationships/chart" Target="../charts/chart11.xml"/><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18.png"/><Relationship Id="rId10" Type="http://schemas.openxmlformats.org/officeDocument/2006/relationships/image" Target="../media/image23.png"/><Relationship Id="rId4" Type="http://schemas.openxmlformats.org/officeDocument/2006/relationships/chart" Target="../charts/chart10.xml"/><Relationship Id="rId9" Type="http://schemas.openxmlformats.org/officeDocument/2006/relationships/image" Target="../media/image22.png"/><Relationship Id="rId14" Type="http://schemas.openxmlformats.org/officeDocument/2006/relationships/chart" Target="../charts/chart13.xml"/></Relationships>
</file>

<file path=ppt/slides/_rels/slide11.xml.rels><?xml version="1.0" encoding="UTF-8" standalone="yes"?>
<Relationships xmlns="http://schemas.openxmlformats.org/package/2006/relationships"><Relationship Id="rId8" Type="http://schemas.openxmlformats.org/officeDocument/2006/relationships/image" Target="../media/image49.emf"/><Relationship Id="rId3" Type="http://schemas.openxmlformats.org/officeDocument/2006/relationships/image" Target="../media/image2.png"/><Relationship Id="rId7" Type="http://schemas.openxmlformats.org/officeDocument/2006/relationships/customXml" Target="../ink/ink8.xml"/><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customXml" Target="../ink/ink7.xml"/><Relationship Id="rId5" Type="http://schemas.openxmlformats.org/officeDocument/2006/relationships/customXml" Target="../ink/ink6.xml"/><Relationship Id="rId4" Type="http://schemas.openxmlformats.org/officeDocument/2006/relationships/customXml" Target="../ink/ink5.xml"/></Relationships>
</file>

<file path=ppt/slides/_rels/slide12.xml.rels><?xml version="1.0" encoding="UTF-8" standalone="yes"?>
<Relationships xmlns="http://schemas.openxmlformats.org/package/2006/relationships"><Relationship Id="rId8" Type="http://schemas.openxmlformats.org/officeDocument/2006/relationships/customXml" Target="../ink/ink12.xml"/><Relationship Id="rId3" Type="http://schemas.openxmlformats.org/officeDocument/2006/relationships/image" Target="../media/image2.png"/><Relationship Id="rId7" Type="http://schemas.openxmlformats.org/officeDocument/2006/relationships/customXml" Target="../ink/ink11.xml"/><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customXml" Target="../ink/ink10.xml"/><Relationship Id="rId5" Type="http://schemas.openxmlformats.org/officeDocument/2006/relationships/image" Target="../media/image33.emf"/><Relationship Id="rId10" Type="http://schemas.openxmlformats.org/officeDocument/2006/relationships/chart" Target="../charts/chart14.xml"/><Relationship Id="rId4" Type="http://schemas.openxmlformats.org/officeDocument/2006/relationships/customXml" Target="../ink/ink9.xml"/><Relationship Id="rId9" Type="http://schemas.openxmlformats.org/officeDocument/2006/relationships/image" Target="../media/image40.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chart" Target="../charts/chart15.xml"/></Relationships>
</file>

<file path=ppt/slides/_rels/slide14.xml.rels><?xml version="1.0" encoding="UTF-8" standalone="yes"?>
<Relationships xmlns="http://schemas.openxmlformats.org/package/2006/relationships"><Relationship Id="rId8" Type="http://schemas.openxmlformats.org/officeDocument/2006/relationships/image" Target="../media/image14.emf"/><Relationship Id="rId3" Type="http://schemas.openxmlformats.org/officeDocument/2006/relationships/image" Target="../media/image2.png"/><Relationship Id="rId7" Type="http://schemas.openxmlformats.org/officeDocument/2006/relationships/customXml" Target="../ink/ink15.xml"/><Relationship Id="rId12" Type="http://schemas.openxmlformats.org/officeDocument/2006/relationships/chart" Target="../charts/chart19.xml"/><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customXml" Target="../ink/ink14.xml"/><Relationship Id="rId11" Type="http://schemas.openxmlformats.org/officeDocument/2006/relationships/chart" Target="../charts/chart18.xml"/><Relationship Id="rId5" Type="http://schemas.openxmlformats.org/officeDocument/2006/relationships/image" Target="../media/image13.emf"/><Relationship Id="rId10" Type="http://schemas.openxmlformats.org/officeDocument/2006/relationships/chart" Target="../charts/chart17.xml"/><Relationship Id="rId4" Type="http://schemas.openxmlformats.org/officeDocument/2006/relationships/customXml" Target="../ink/ink13.xml"/><Relationship Id="rId9" Type="http://schemas.openxmlformats.org/officeDocument/2006/relationships/chart" Target="../charts/chart16.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chart" Target="../charts/chart21.xml"/><Relationship Id="rId4" Type="http://schemas.openxmlformats.org/officeDocument/2006/relationships/chart" Target="../charts/chart20.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chart" Target="../charts/chart2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chart" Target="../charts/chart23.xml"/></Relationships>
</file>

<file path=ppt/slides/_rels/slide1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u26341\Desktop\Leadership forum PPT\PPT front.jpg"/>
          <p:cNvPicPr>
            <a:picLocks noChangeAspect="1" noChangeArrowheads="1"/>
          </p:cNvPicPr>
          <p:nvPr/>
        </p:nvPicPr>
        <p:blipFill rotWithShape="1">
          <a:blip r:embed="rId3">
            <a:extLst>
              <a:ext uri="{28A0092B-C50C-407E-A947-70E740481C1C}">
                <a14:useLocalDpi xmlns:a14="http://schemas.microsoft.com/office/drawing/2010/main" val="0"/>
              </a:ext>
            </a:extLst>
          </a:blip>
          <a:srcRect r="896" b="961"/>
          <a:stretch/>
        </p:blipFill>
        <p:spPr bwMode="auto">
          <a:xfrm>
            <a:off x="-5971" y="-13031"/>
            <a:ext cx="9149972" cy="6871031"/>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p:cNvSpPr txBox="1"/>
          <p:nvPr/>
        </p:nvSpPr>
        <p:spPr>
          <a:xfrm>
            <a:off x="470517" y="4581128"/>
            <a:ext cx="4676124" cy="369332"/>
          </a:xfrm>
          <a:prstGeom prst="rect">
            <a:avLst/>
          </a:prstGeom>
          <a:noFill/>
        </p:spPr>
        <p:txBody>
          <a:bodyPr wrap="square" lIns="0" rtlCol="0">
            <a:spAutoFit/>
          </a:bodyPr>
          <a:lstStyle/>
          <a:p>
            <a:r>
              <a:rPr lang="en-AU" dirty="0" smtClean="0">
                <a:solidFill>
                  <a:prstClr val="white"/>
                </a:solidFill>
              </a:rPr>
              <a:t>Robin Fleming </a:t>
            </a:r>
            <a:r>
              <a:rPr lang="en-AU" dirty="0">
                <a:solidFill>
                  <a:prstClr val="white"/>
                </a:solidFill>
              </a:rPr>
              <a:t>– </a:t>
            </a:r>
            <a:r>
              <a:rPr lang="en-AU" dirty="0" smtClean="0">
                <a:solidFill>
                  <a:prstClr val="white"/>
                </a:solidFill>
              </a:rPr>
              <a:t>Group Chief Executive </a:t>
            </a:r>
            <a:r>
              <a:rPr lang="en-AU" dirty="0">
                <a:solidFill>
                  <a:prstClr val="white"/>
                </a:solidFill>
              </a:rPr>
              <a:t>Officer</a:t>
            </a:r>
          </a:p>
        </p:txBody>
      </p:sp>
      <p:sp>
        <p:nvSpPr>
          <p:cNvPr id="5" name="TextBox 4"/>
          <p:cNvSpPr txBox="1"/>
          <p:nvPr/>
        </p:nvSpPr>
        <p:spPr>
          <a:xfrm>
            <a:off x="470517" y="3206502"/>
            <a:ext cx="3288977" cy="954107"/>
          </a:xfrm>
          <a:prstGeom prst="rect">
            <a:avLst/>
          </a:prstGeom>
          <a:noFill/>
        </p:spPr>
        <p:txBody>
          <a:bodyPr wrap="none" lIns="0" rtlCol="0">
            <a:spAutoFit/>
          </a:bodyPr>
          <a:lstStyle>
            <a:defPPr>
              <a:defRPr lang="en-US"/>
            </a:defPPr>
            <a:lvl1pPr>
              <a:defRPr sz="2000">
                <a:solidFill>
                  <a:schemeClr val="bg1"/>
                </a:solidFill>
              </a:defRPr>
            </a:lvl1pPr>
          </a:lstStyle>
          <a:p>
            <a:r>
              <a:rPr lang="en-AU" sz="2800" b="1" dirty="0" smtClean="0">
                <a:solidFill>
                  <a:prstClr val="white"/>
                </a:solidFill>
              </a:rPr>
              <a:t>Investor Presentation</a:t>
            </a:r>
          </a:p>
          <a:p>
            <a:r>
              <a:rPr lang="en-AU" sz="2800" b="1" dirty="0" smtClean="0">
                <a:solidFill>
                  <a:prstClr val="white"/>
                </a:solidFill>
              </a:rPr>
              <a:t>First half – June 2018</a:t>
            </a:r>
            <a:endParaRPr lang="en-AU" sz="2800" b="1" dirty="0">
              <a:solidFill>
                <a:prstClr val="white"/>
              </a:solidFill>
            </a:endParaRPr>
          </a:p>
        </p:txBody>
      </p:sp>
      <p:sp>
        <p:nvSpPr>
          <p:cNvPr id="6" name="TextBox 5"/>
          <p:cNvSpPr txBox="1"/>
          <p:nvPr/>
        </p:nvSpPr>
        <p:spPr>
          <a:xfrm>
            <a:off x="470517" y="4973106"/>
            <a:ext cx="1739282" cy="338554"/>
          </a:xfrm>
          <a:prstGeom prst="rect">
            <a:avLst/>
          </a:prstGeom>
          <a:noFill/>
        </p:spPr>
        <p:txBody>
          <a:bodyPr wrap="square" lIns="0" rtlCol="0">
            <a:spAutoFit/>
          </a:bodyPr>
          <a:lstStyle/>
          <a:p>
            <a:r>
              <a:rPr lang="en-AU" sz="1600" dirty="0" smtClean="0">
                <a:solidFill>
                  <a:prstClr val="white"/>
                </a:solidFill>
              </a:rPr>
              <a:t>28 August 2018</a:t>
            </a:r>
            <a:endParaRPr lang="en-AU" sz="1600" dirty="0">
              <a:solidFill>
                <a:prstClr val="white"/>
              </a:solidFill>
            </a:endParaRPr>
          </a:p>
        </p:txBody>
      </p:sp>
    </p:spTree>
    <p:extLst>
      <p:ext uri="{BB962C8B-B14F-4D97-AF65-F5344CB8AC3E}">
        <p14:creationId xmlns:p14="http://schemas.microsoft.com/office/powerpoint/2010/main" val="418218283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8736286" y="6445263"/>
            <a:ext cx="288862" cy="338554"/>
          </a:xfrm>
          <a:prstGeom prst="rect">
            <a:avLst/>
          </a:prstGeom>
          <a:noFill/>
        </p:spPr>
        <p:txBody>
          <a:bodyPr wrap="none" rtlCol="0">
            <a:spAutoFit/>
          </a:bodyPr>
          <a:lstStyle/>
          <a:p>
            <a:fld id="{930AFB57-27B1-4EDC-9D85-71AA30732641}" type="slidenum">
              <a:rPr lang="en-AU" sz="1600" smtClean="0">
                <a:solidFill>
                  <a:prstClr val="white"/>
                </a:solidFill>
              </a:rPr>
              <a:pPr/>
              <a:t>2</a:t>
            </a:fld>
            <a:endParaRPr lang="en-AU" sz="1600" dirty="0">
              <a:solidFill>
                <a:prstClr val="white"/>
              </a:solidFill>
            </a:endParaRPr>
          </a:p>
        </p:txBody>
      </p:sp>
      <p:sp>
        <p:nvSpPr>
          <p:cNvPr id="10" name="Content Placeholder 2"/>
          <p:cNvSpPr txBox="1"/>
          <p:nvPr/>
        </p:nvSpPr>
        <p:spPr bwMode="auto">
          <a:xfrm>
            <a:off x="172660" y="1024189"/>
            <a:ext cx="8704639" cy="4747961"/>
          </a:xfrm>
          <a:prstGeom prst="rect">
            <a:avLst/>
          </a:prstGeom>
          <a:noFill/>
          <a:ln w="9525">
            <a:noFill/>
            <a:miter lim="800000"/>
          </a:ln>
        </p:spPr>
        <p:txBody>
          <a:bodyPr/>
          <a:lstStyle/>
          <a:p>
            <a:pPr>
              <a:spcBef>
                <a:spcPct val="20000"/>
              </a:spcBef>
            </a:pPr>
            <a:r>
              <a:rPr lang="en-GB" sz="800" b="1" dirty="0">
                <a:solidFill>
                  <a:prstClr val="black"/>
                </a:solidFill>
              </a:rPr>
              <a:t>NOT FOR PUBLICATION OR DISTRIBUTION, DIRECTLY OR INDIRECTLY</a:t>
            </a:r>
          </a:p>
          <a:p>
            <a:pPr>
              <a:spcBef>
                <a:spcPct val="20000"/>
              </a:spcBef>
            </a:pPr>
            <a:r>
              <a:rPr lang="en-GB" sz="800" dirty="0">
                <a:solidFill>
                  <a:prstClr val="black"/>
                </a:solidFill>
              </a:rPr>
              <a:t>This presentation has been prepared and issued by Bank of South Pacific Limited (the “Company”), and may not be reproduced in whole or in part, nor may any of its contents be  disclosed to any other person without the prior written consent of the Company.</a:t>
            </a:r>
            <a:endParaRPr lang="en-US" sz="800" dirty="0">
              <a:solidFill>
                <a:prstClr val="black"/>
              </a:solidFill>
            </a:endParaRPr>
          </a:p>
          <a:p>
            <a:pPr>
              <a:spcBef>
                <a:spcPct val="20000"/>
              </a:spcBef>
            </a:pPr>
            <a:r>
              <a:rPr lang="en-GB" sz="800" dirty="0">
                <a:solidFill>
                  <a:prstClr val="black"/>
                </a:solidFill>
              </a:rPr>
              <a:t>This presentation is provided by the Company for general information purposes only, without taking into account any recipient’s personal objectives, financial situation or needs. It should not  form the basis of or be relied on by the recipient in considering the merits of any particular transaction </a:t>
            </a:r>
            <a:r>
              <a:rPr lang="en-US" sz="800" dirty="0">
                <a:solidFill>
                  <a:prstClr val="black"/>
                </a:solidFill>
              </a:rPr>
              <a:t>and does not purport to contain all of the information that an interested party may desire</a:t>
            </a:r>
            <a:r>
              <a:rPr lang="en-GB" sz="800" dirty="0">
                <a:solidFill>
                  <a:prstClr val="black"/>
                </a:solidFill>
              </a:rPr>
              <a:t>. It is not an offer to buy or sell, or a solicitation to invest in or refrain from investing in, any securities or other investment product. This presentation has not been filed, lodged, registered, reviewed or approved by any regulatory authority in any jurisdiction and recipients of this presentation should keep themselves informed of, and comply with and observe, all applicable legal and regulatory requirements. </a:t>
            </a:r>
            <a:r>
              <a:rPr lang="en-US" sz="800" dirty="0">
                <a:solidFill>
                  <a:prstClr val="black"/>
                </a:solidFill>
              </a:rPr>
              <a:t>The distribution of this presentation in certain jurisdictions may be restricted by law and, accordingly, recipients of this presentation represent that they are able to receive this presentation without contravention of any unfulfilled registration requirements or other legal restrictions in the jurisdiction in which they reside or conduct business. </a:t>
            </a:r>
            <a:r>
              <a:rPr lang="en-GB" sz="800" dirty="0">
                <a:solidFill>
                  <a:prstClr val="black"/>
                </a:solidFill>
              </a:rPr>
              <a:t>Nothing in this presentation constitutes investment, legal, tax, accounting or other advice. The recipient should consider its own financial situation, objectives and needs, and conduct its own independent investigation and assessments of the contents of this presentation, including obtaining investment, legal, tax, accounting and other advice as it considers necessary or appropriate. Any costs incurred by recipients in making such investigations and assessments, etc. are not the responsibility of the Company </a:t>
            </a:r>
            <a:r>
              <a:rPr lang="en-US" sz="800" dirty="0">
                <a:solidFill>
                  <a:prstClr val="black"/>
                </a:solidFill>
              </a:rPr>
              <a:t>or any of its advisers, directors, employees or agents</a:t>
            </a:r>
            <a:r>
              <a:rPr lang="en-GB" sz="800" dirty="0">
                <a:solidFill>
                  <a:prstClr val="black"/>
                </a:solidFill>
              </a:rPr>
              <a:t>. </a:t>
            </a:r>
            <a:endParaRPr lang="en-US" sz="800" dirty="0">
              <a:solidFill>
                <a:prstClr val="black"/>
              </a:solidFill>
            </a:endParaRPr>
          </a:p>
          <a:p>
            <a:pPr>
              <a:spcBef>
                <a:spcPct val="20000"/>
              </a:spcBef>
            </a:pPr>
            <a:r>
              <a:rPr lang="en-GB" sz="800" dirty="0">
                <a:solidFill>
                  <a:prstClr val="black"/>
                </a:solidFill>
              </a:rPr>
              <a:t>Provision of this presentation is not a representation to any recipient or any other person that the shares or business of the Company or any of its subsidiaries will be sold. The Company may at any time negotiate with one or more interested parties and enter into a definitive agreement without prior notice to any or all interested parties.</a:t>
            </a:r>
            <a:r>
              <a:rPr lang="en-US" sz="800" dirty="0">
                <a:solidFill>
                  <a:prstClr val="black"/>
                </a:solidFill>
              </a:rPr>
              <a:t> The Company also reserves the right to terminate, at any time, further participation in the investigation and proposed process by any party, to modify any of the rules or procedures set forth herein or any other procedures without prior notice or assigning any reason therefore or to terminate the process contemplated hereby. The Company reserves the right to take any action, whether in or out of the ordinary course of business, which the Company in its sole discretion deems necessary or prudent in the conduct of its business or the process contemplated by this presentation.</a:t>
            </a:r>
          </a:p>
          <a:p>
            <a:pPr>
              <a:spcBef>
                <a:spcPct val="20000"/>
              </a:spcBef>
            </a:pPr>
            <a:r>
              <a:rPr lang="en-GB" sz="800" dirty="0">
                <a:solidFill>
                  <a:prstClr val="black"/>
                </a:solidFill>
              </a:rPr>
              <a:t>This presentation has been prepared on the basis of publicly available information and/or selected information and does not purport to be all-inclusive or to contain all of the information that may be relevant to the presentation. </a:t>
            </a:r>
            <a:r>
              <a:rPr lang="en-US" sz="800" dirty="0">
                <a:solidFill>
                  <a:prstClr val="black"/>
                </a:solidFill>
              </a:rPr>
              <a:t>Neither the delivery or supply of this presentation (or any part thereof) nor the provision of information referred to herein or provided in connection with the evaluation of the Company by interested parties shall, under any circumstances, (a) constitute a representation or give rise to any implication, that there has been no change in the affairs, business or financial position of the Company or any of its subsidiaries, associated companies or affiliates or in the information herein since the date hereof or the date on which this presentation has been provided or delivered or (b) provide a basis of any credit or other evaluations and should not be considered as a recommendation by the Company that any recipient of the presentation or such other document or information contemplated herein should proceed with a further investigation of the Company or enter into any transaction with the Company or any person in relation to the Company. Neither </a:t>
            </a:r>
            <a:r>
              <a:rPr lang="en-GB" sz="800" dirty="0">
                <a:solidFill>
                  <a:prstClr val="black"/>
                </a:solidFill>
              </a:rPr>
              <a:t>the Company nor any other person are under any obligation to update or correct this presentation.</a:t>
            </a:r>
            <a:endParaRPr lang="en-US" sz="800" dirty="0">
              <a:solidFill>
                <a:prstClr val="black"/>
              </a:solidFill>
            </a:endParaRPr>
          </a:p>
          <a:p>
            <a:pPr>
              <a:spcBef>
                <a:spcPct val="20000"/>
              </a:spcBef>
            </a:pPr>
            <a:r>
              <a:rPr lang="en-GB" sz="800" dirty="0">
                <a:solidFill>
                  <a:prstClr val="black"/>
                </a:solidFill>
              </a:rPr>
              <a:t> The Company and its related bodies corporate and other affiliates, and their respective officers, employees, advisors, representatives, consultants and agents (“Relevant Parties”) make no representation or warranty, expressed or implied, as to, and no reliance should be placed on, the fairness, accuracy, completeness, timeliness or reliability of the contents of this presentation or any other written or oral communication transmitted or made available to any interested party, whether as to the past or future. To the maximum extent permitted by law, none of the Relevant Parties accept any liability (including, without limitation, any liability arising from fault of negligence on the part of any of them) for any loss whatsoever arising from the use of this presentation or its contents or otherwise arising in connection with it or as a result of any omission, inadequacy or inaccuracy herein. Only those representations and warranties that are provided in a definitive agreement when, and if, it is executed, and subject to such limitations as may be provided in such agreement </a:t>
            </a:r>
            <a:r>
              <a:rPr lang="en-US" sz="800" dirty="0">
                <a:solidFill>
                  <a:prstClr val="black"/>
                </a:solidFill>
              </a:rPr>
              <a:t>shall have any legal effect</a:t>
            </a:r>
            <a:r>
              <a:rPr lang="en-GB" sz="800" dirty="0">
                <a:solidFill>
                  <a:prstClr val="black"/>
                </a:solidFill>
              </a:rPr>
              <a:t>. This presentation may contain forward-looking statements, forecasts, estimates and projections (“Forward Statements”). No independent third party has reviewed the reasonableness of any such statements or assumptions. None of the Relevant Parties represents or warrants that such Forward Statements will be achieved or will prove to be correct. Actual future results and operations are subject to significant </a:t>
            </a:r>
            <a:r>
              <a:rPr lang="en-US" sz="800" dirty="0">
                <a:solidFill>
                  <a:prstClr val="black"/>
                </a:solidFill>
              </a:rPr>
              <a:t>business, economic and competitive uncertainties and contingencies, many of which are beyond the control of the Company, and </a:t>
            </a:r>
            <a:r>
              <a:rPr lang="en-GB" sz="800" dirty="0">
                <a:solidFill>
                  <a:prstClr val="black"/>
                </a:solidFill>
              </a:rPr>
              <a:t>could vary materially from the Forward Statements. Similarly, no representation or warranty is made that the assumptions on which the Forward Statements are based may be reasonable.  No audit, review or verification has been undertaken by an independent third party of the assumptions, data, historical results, calculations and forecasts presented. In receiving this presentation, each recipient acknowledges that it shall not deal or cause or procure any person to purchase, acquire, dispose of or deal in any securities of the Company in breach of any laws and regulations relating to   insider dealing, market abuse or securities in general of Singapore and elsewhere. </a:t>
            </a:r>
            <a:endParaRPr lang="en-US" sz="800" dirty="0">
              <a:solidFill>
                <a:prstClr val="black"/>
              </a:solidFill>
            </a:endParaRPr>
          </a:p>
          <a:p>
            <a:pPr>
              <a:spcBef>
                <a:spcPct val="20000"/>
              </a:spcBef>
            </a:pPr>
            <a:r>
              <a:rPr lang="en-GB" sz="800" dirty="0">
                <a:solidFill>
                  <a:prstClr val="black"/>
                </a:solidFill>
              </a:rPr>
              <a:t> The recipient acknowledges that no person is intended to act or be responsible as a fiduciary to the recipient, its management, stockholders, creditors or any other person. </a:t>
            </a:r>
            <a:br>
              <a:rPr lang="en-GB" sz="800" dirty="0">
                <a:solidFill>
                  <a:prstClr val="black"/>
                </a:solidFill>
              </a:rPr>
            </a:br>
            <a:r>
              <a:rPr lang="en-GB" sz="800" dirty="0">
                <a:solidFill>
                  <a:prstClr val="black"/>
                </a:solidFill>
              </a:rPr>
              <a:t>By accepting and providing this presentation, the recipient expressly disclaims any fiduciary relationship with any person and agrees that the recipient is responsible for making </a:t>
            </a:r>
            <a:br>
              <a:rPr lang="en-GB" sz="800" dirty="0">
                <a:solidFill>
                  <a:prstClr val="black"/>
                </a:solidFill>
              </a:rPr>
            </a:br>
            <a:r>
              <a:rPr lang="en-GB" sz="800" dirty="0">
                <a:solidFill>
                  <a:prstClr val="black"/>
                </a:solidFill>
              </a:rPr>
              <a:t>its own independent judgements with respect to any transaction and any other matters regarding this presentation. </a:t>
            </a:r>
            <a:endParaRPr lang="en-US" sz="800" dirty="0">
              <a:solidFill>
                <a:prstClr val="black"/>
              </a:solidFill>
            </a:endParaRPr>
          </a:p>
          <a:p>
            <a:pPr>
              <a:spcBef>
                <a:spcPct val="20000"/>
              </a:spcBef>
            </a:pPr>
            <a:r>
              <a:rPr lang="en-US" sz="800" b="1" dirty="0">
                <a:solidFill>
                  <a:prstClr val="black"/>
                </a:solidFill>
              </a:rPr>
              <a:t>The Company is not authorised under the Banking Act 1959 (Cth) (the "Banking Act") and is not supervised by the Australian Prudential Regulation Authority. The Company's products are not covered by the depositor protection provisions in section 13A of the Banking Act and will not be covered by the financial claims scheme under Division 2AA of the Banking Act.</a:t>
            </a:r>
            <a:endParaRPr lang="en-GB" sz="800" b="1" dirty="0">
              <a:solidFill>
                <a:prstClr val="black"/>
              </a:solidFill>
            </a:endParaRPr>
          </a:p>
        </p:txBody>
      </p:sp>
      <p:sp>
        <p:nvSpPr>
          <p:cNvPr id="6" name="TextBox 4"/>
          <p:cNvSpPr txBox="1">
            <a:spLocks noChangeArrowheads="1"/>
          </p:cNvSpPr>
          <p:nvPr/>
        </p:nvSpPr>
        <p:spPr bwMode="auto">
          <a:xfrm>
            <a:off x="345830" y="260648"/>
            <a:ext cx="6840760" cy="5084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defTabSz="457200" eaLnBrk="1" fontAlgn="auto" hangingPunct="1">
              <a:lnSpc>
                <a:spcPts val="3200"/>
              </a:lnSpc>
              <a:spcBef>
                <a:spcPts val="0"/>
              </a:spcBef>
              <a:spcAft>
                <a:spcPts val="0"/>
              </a:spcAft>
              <a:defRPr sz="3200" b="1">
                <a:solidFill>
                  <a:srgbClr val="92D050"/>
                </a:solidFill>
                <a:latin typeface="Calibri" panose="020F0502020204030204" pitchFamily="34" charset="0"/>
              </a:defRPr>
            </a:lvl1pPr>
            <a:lvl2pPr marL="742950" indent="-285750" defTabSz="457200">
              <a:defRPr>
                <a:latin typeface="Arial" pitchFamily="34" charset="0"/>
              </a:defRPr>
            </a:lvl2pPr>
            <a:lvl3pPr marL="1143000" indent="-228600" defTabSz="457200">
              <a:defRPr>
                <a:latin typeface="Arial" pitchFamily="34" charset="0"/>
              </a:defRPr>
            </a:lvl3pPr>
            <a:lvl4pPr marL="1600200" indent="-228600" defTabSz="457200">
              <a:defRPr>
                <a:latin typeface="Arial" pitchFamily="34" charset="0"/>
              </a:defRPr>
            </a:lvl4pPr>
            <a:lvl5pPr marL="2057400" indent="-228600" defTabSz="457200">
              <a:defRPr>
                <a:latin typeface="Arial" pitchFamily="34" charset="0"/>
              </a:defRPr>
            </a:lvl5pPr>
            <a:lvl6pPr marL="2514600" indent="-228600" defTabSz="457200" eaLnBrk="0" fontAlgn="base" hangingPunct="0">
              <a:spcBef>
                <a:spcPct val="0"/>
              </a:spcBef>
              <a:spcAft>
                <a:spcPct val="0"/>
              </a:spcAft>
              <a:defRPr>
                <a:latin typeface="Arial" pitchFamily="34" charset="0"/>
              </a:defRPr>
            </a:lvl6pPr>
            <a:lvl7pPr marL="2971800" indent="-228600" defTabSz="457200" eaLnBrk="0" fontAlgn="base" hangingPunct="0">
              <a:spcBef>
                <a:spcPct val="0"/>
              </a:spcBef>
              <a:spcAft>
                <a:spcPct val="0"/>
              </a:spcAft>
              <a:defRPr>
                <a:latin typeface="Arial" pitchFamily="34" charset="0"/>
              </a:defRPr>
            </a:lvl7pPr>
            <a:lvl8pPr marL="3429000" indent="-228600" defTabSz="457200" eaLnBrk="0" fontAlgn="base" hangingPunct="0">
              <a:spcBef>
                <a:spcPct val="0"/>
              </a:spcBef>
              <a:spcAft>
                <a:spcPct val="0"/>
              </a:spcAft>
              <a:defRPr>
                <a:latin typeface="Arial" pitchFamily="34" charset="0"/>
              </a:defRPr>
            </a:lvl8pPr>
            <a:lvl9pPr marL="3886200" indent="-228600" defTabSz="457200" eaLnBrk="0" fontAlgn="base" hangingPunct="0">
              <a:spcBef>
                <a:spcPct val="0"/>
              </a:spcBef>
              <a:spcAft>
                <a:spcPct val="0"/>
              </a:spcAft>
              <a:defRPr>
                <a:latin typeface="Arial" pitchFamily="34" charset="0"/>
              </a:defRPr>
            </a:lvl9pPr>
          </a:lstStyle>
          <a:p>
            <a:r>
              <a:rPr lang="en-US" altLang="en-US" dirty="0">
                <a:latin typeface="Calibri"/>
              </a:rPr>
              <a:t>Disclaimer</a:t>
            </a:r>
          </a:p>
        </p:txBody>
      </p:sp>
      <p:sp>
        <p:nvSpPr>
          <p:cNvPr id="2" name="Rectangle 1"/>
          <p:cNvSpPr/>
          <p:nvPr>
            <p:custDataLst>
              <p:tags r:id="rId1"/>
            </p:custDataLst>
          </p:nvPr>
        </p:nvSpPr>
        <p:spPr>
          <a:xfrm>
            <a:off x="9446768" y="7276176"/>
            <a:ext cx="72135" cy="169277"/>
          </a:xfrm>
          <a:prstGeom prst="rect">
            <a:avLst/>
          </a:prstGeom>
          <a:noFill/>
          <a:ln w="3175" cap="flat" cmpd="sng" algn="ctr">
            <a:noFill/>
            <a:prstDash val="solid"/>
          </a:ln>
          <a:effectLst/>
          <a:extLst>
            <a:ext uri="{91240B29-F687-4F45-9708-019B960494DF}">
              <a14:hiddenLine xmlns:a14="http://schemas.microsoft.com/office/drawing/2010/main" w="3175" cap="flat" cmpd="sng" algn="ctr">
                <a:solidFill>
                  <a:srgbClr val="969696"/>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b" anchorCtr="0" forceAA="0" compatLnSpc="1">
            <a:prstTxWarp prst="textNoShape">
              <a:avLst/>
            </a:prstTxWarp>
            <a:spAutoFit/>
          </a:bodyPr>
          <a:lstStyle/>
          <a:p>
            <a:pPr algn="r" eaLnBrk="0" fontAlgn="base" hangingPunct="0">
              <a:spcBef>
                <a:spcPct val="0"/>
              </a:spcBef>
              <a:spcAft>
                <a:spcPct val="0"/>
              </a:spcAft>
            </a:pPr>
            <a:r>
              <a:rPr lang="en-US" sz="1100">
                <a:solidFill>
                  <a:srgbClr val="000000"/>
                </a:solidFill>
              </a:rPr>
              <a:t>2</a:t>
            </a:r>
            <a:endParaRPr lang="en-US" sz="1100" dirty="0">
              <a:solidFill>
                <a:srgbClr val="000000"/>
              </a:solidFill>
            </a:endParaRPr>
          </a:p>
        </p:txBody>
      </p:sp>
    </p:spTree>
    <p:extLst>
      <p:ext uri="{BB962C8B-B14F-4D97-AF65-F5344CB8AC3E}">
        <p14:creationId xmlns:p14="http://schemas.microsoft.com/office/powerpoint/2010/main" val="264641519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TextBox 4"/>
          <p:cNvSpPr txBox="1">
            <a:spLocks noChangeArrowheads="1"/>
          </p:cNvSpPr>
          <p:nvPr/>
        </p:nvSpPr>
        <p:spPr bwMode="auto">
          <a:xfrm>
            <a:off x="251832" y="44624"/>
            <a:ext cx="720048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rIns="0">
            <a:spAutoFit/>
          </a:bodyPr>
          <a:lstStyle>
            <a:lvl1pPr defTabSz="457200" eaLnBrk="0" hangingPunct="0">
              <a:defRPr>
                <a:solidFill>
                  <a:schemeClr val="tx1"/>
                </a:solidFill>
                <a:latin typeface="Arial" pitchFamily="34" charset="0"/>
              </a:defRPr>
            </a:lvl1pPr>
            <a:lvl2pPr marL="742950" indent="-285750" defTabSz="457200" eaLnBrk="0" hangingPunct="0">
              <a:defRPr>
                <a:solidFill>
                  <a:schemeClr val="tx1"/>
                </a:solidFill>
                <a:latin typeface="Arial" pitchFamily="34" charset="0"/>
              </a:defRPr>
            </a:lvl2pPr>
            <a:lvl3pPr marL="1143000" indent="-228600" defTabSz="457200" eaLnBrk="0" hangingPunct="0">
              <a:defRPr>
                <a:solidFill>
                  <a:schemeClr val="tx1"/>
                </a:solidFill>
                <a:latin typeface="Arial" pitchFamily="34" charset="0"/>
              </a:defRPr>
            </a:lvl3pPr>
            <a:lvl4pPr marL="1600200" indent="-228600" defTabSz="457200" eaLnBrk="0" hangingPunct="0">
              <a:defRPr>
                <a:solidFill>
                  <a:schemeClr val="tx1"/>
                </a:solidFill>
                <a:latin typeface="Arial" pitchFamily="34" charset="0"/>
              </a:defRPr>
            </a:lvl4pPr>
            <a:lvl5pPr marL="2057400" indent="-228600" defTabSz="457200" eaLnBrk="0" hangingPunct="0">
              <a:defRPr>
                <a:solidFill>
                  <a:schemeClr val="tx1"/>
                </a:solidFill>
                <a:latin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defRPr>
            </a:lvl9pPr>
          </a:lstStyle>
          <a:p>
            <a:pPr eaLnBrk="1" hangingPunct="1"/>
            <a:r>
              <a:rPr lang="en-AU" altLang="en-US" sz="2800" b="1" dirty="0">
                <a:solidFill>
                  <a:srgbClr val="92D050"/>
                </a:solidFill>
                <a:cs typeface="Arial" pitchFamily="34" charset="0"/>
              </a:rPr>
              <a:t>Markets where BSP </a:t>
            </a:r>
            <a:r>
              <a:rPr lang="en-AU" altLang="en-US" sz="2800" b="1" dirty="0" smtClean="0">
                <a:solidFill>
                  <a:srgbClr val="92D050"/>
                </a:solidFill>
                <a:cs typeface="Arial" pitchFamily="34" charset="0"/>
              </a:rPr>
              <a:t>operates</a:t>
            </a:r>
            <a:endParaRPr lang="en-AU" altLang="en-US" sz="2800" b="1" dirty="0">
              <a:solidFill>
                <a:srgbClr val="92D050"/>
              </a:solidFill>
              <a:cs typeface="Arial" pitchFamily="34" charset="0"/>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AU"/>
          </a:p>
        </p:txBody>
      </p:sp>
      <p:sp>
        <p:nvSpPr>
          <p:cNvPr id="8" name="TextBox 7"/>
          <p:cNvSpPr txBox="1"/>
          <p:nvPr/>
        </p:nvSpPr>
        <p:spPr>
          <a:xfrm>
            <a:off x="8867893" y="6499592"/>
            <a:ext cx="263214" cy="276999"/>
          </a:xfrm>
          <a:prstGeom prst="rect">
            <a:avLst/>
          </a:prstGeom>
          <a:noFill/>
        </p:spPr>
        <p:txBody>
          <a:bodyPr wrap="square" lIns="0" rtlCol="0">
            <a:spAutoFit/>
          </a:bodyPr>
          <a:lstStyle>
            <a:defPPr>
              <a:defRPr lang="en-US"/>
            </a:defPPr>
            <a:lvl1pPr>
              <a:defRPr sz="1200" b="1">
                <a:solidFill>
                  <a:prstClr val="white"/>
                </a:solidFill>
              </a:defRPr>
            </a:lvl1pPr>
          </a:lstStyle>
          <a:p>
            <a:pPr algn="ctr"/>
            <a:fld id="{930AFB57-27B1-4EDC-9D85-71AA30732641}" type="slidenum">
              <a:rPr lang="en-AU"/>
              <a:pPr algn="ctr"/>
              <a:t>3</a:t>
            </a:fld>
            <a:endParaRPr lang="en-AU" dirty="0"/>
          </a:p>
        </p:txBody>
      </p:sp>
      <p:sp>
        <p:nvSpPr>
          <p:cNvPr id="10" name="TextBox 9"/>
          <p:cNvSpPr txBox="1"/>
          <p:nvPr/>
        </p:nvSpPr>
        <p:spPr>
          <a:xfrm>
            <a:off x="251832" y="6488848"/>
            <a:ext cx="3096032" cy="276999"/>
          </a:xfrm>
          <a:prstGeom prst="rect">
            <a:avLst/>
          </a:prstGeom>
          <a:noFill/>
        </p:spPr>
        <p:txBody>
          <a:bodyPr wrap="square" lIns="0" rtlCol="0">
            <a:spAutoFit/>
          </a:bodyPr>
          <a:lstStyle/>
          <a:p>
            <a:pPr>
              <a:defRPr/>
            </a:pPr>
            <a:r>
              <a:rPr lang="en-US" sz="1200" b="1" dirty="0" smtClean="0">
                <a:solidFill>
                  <a:prstClr val="white"/>
                </a:solidFill>
              </a:rPr>
              <a:t>INVESTOR PRESENTATION Half year 2018 </a:t>
            </a:r>
            <a:endParaRPr lang="en-AU" sz="1200" b="1" dirty="0">
              <a:solidFill>
                <a:prstClr val="white"/>
              </a:solidFill>
            </a:endParaRPr>
          </a:p>
        </p:txBody>
      </p:sp>
      <p:pic>
        <p:nvPicPr>
          <p:cNvPr id="3" name="Picture 2" descr="C:\Users\u26577\AppData\Local\Microsoft\Windows\Temporary Internet Files\Content.Outlook\8IY7C7HE\BSP-Locations_13.04.18 (2).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7504" y="1412776"/>
            <a:ext cx="7488832" cy="4963186"/>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p:cNvSpPr/>
          <p:nvPr/>
        </p:nvSpPr>
        <p:spPr>
          <a:xfrm>
            <a:off x="7592064" y="1636844"/>
            <a:ext cx="1407436" cy="904875"/>
          </a:xfrm>
          <a:prstGeom prst="rect">
            <a:avLst/>
          </a:prstGeom>
          <a:solidFill>
            <a:srgbClr val="8CC63F"/>
          </a:solidFill>
          <a:ln w="6350">
            <a:solidFill>
              <a:srgbClr val="8CC6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400" dirty="0" smtClean="0">
                <a:solidFill>
                  <a:schemeClr val="bg1"/>
                </a:solidFill>
              </a:rPr>
              <a:t>Loan </a:t>
            </a:r>
            <a:r>
              <a:rPr lang="en-AU" sz="1400" dirty="0">
                <a:solidFill>
                  <a:schemeClr val="bg1"/>
                </a:solidFill>
              </a:rPr>
              <a:t>market share in </a:t>
            </a:r>
            <a:r>
              <a:rPr lang="en-AU" b="1" dirty="0">
                <a:solidFill>
                  <a:schemeClr val="bg1"/>
                </a:solidFill>
              </a:rPr>
              <a:t>4</a:t>
            </a:r>
            <a:r>
              <a:rPr lang="en-AU" sz="1400" dirty="0">
                <a:solidFill>
                  <a:schemeClr val="bg1"/>
                </a:solidFill>
              </a:rPr>
              <a:t> </a:t>
            </a:r>
            <a:r>
              <a:rPr lang="en-AU" sz="1400" dirty="0" smtClean="0">
                <a:solidFill>
                  <a:schemeClr val="bg1"/>
                </a:solidFill>
              </a:rPr>
              <a:t>x markets</a:t>
            </a:r>
            <a:endParaRPr lang="en-AU" sz="1400" dirty="0">
              <a:solidFill>
                <a:schemeClr val="bg1"/>
              </a:solidFill>
            </a:endParaRPr>
          </a:p>
        </p:txBody>
      </p:sp>
      <p:sp>
        <p:nvSpPr>
          <p:cNvPr id="13" name="Oval 12"/>
          <p:cNvSpPr/>
          <p:nvPr/>
        </p:nvSpPr>
        <p:spPr>
          <a:xfrm>
            <a:off x="7346679" y="1292488"/>
            <a:ext cx="490771" cy="490771"/>
          </a:xfrm>
          <a:prstGeom prst="ellipse">
            <a:avLst/>
          </a:prstGeom>
          <a:solidFill>
            <a:srgbClr val="78AB33"/>
          </a:solidFill>
          <a:ln w="6350">
            <a:solidFill>
              <a:srgbClr val="8CC63F"/>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AU" sz="2000" b="1" dirty="0" smtClean="0">
                <a:solidFill>
                  <a:schemeClr val="bg1"/>
                </a:solidFill>
              </a:rPr>
              <a:t># 1</a:t>
            </a:r>
            <a:endParaRPr lang="en-AU" sz="1400" dirty="0">
              <a:solidFill>
                <a:schemeClr val="bg1"/>
              </a:solidFill>
            </a:endParaRPr>
          </a:p>
        </p:txBody>
      </p:sp>
      <p:sp>
        <p:nvSpPr>
          <p:cNvPr id="14" name="Rectangle 13"/>
          <p:cNvSpPr/>
          <p:nvPr/>
        </p:nvSpPr>
        <p:spPr>
          <a:xfrm>
            <a:off x="7604069" y="3037019"/>
            <a:ext cx="1407436" cy="904875"/>
          </a:xfrm>
          <a:prstGeom prst="rect">
            <a:avLst/>
          </a:prstGeom>
          <a:solidFill>
            <a:srgbClr val="8CC63F"/>
          </a:solidFill>
          <a:ln w="6350">
            <a:solidFill>
              <a:srgbClr val="8CC6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400" dirty="0" smtClean="0">
                <a:solidFill>
                  <a:schemeClr val="bg1"/>
                </a:solidFill>
              </a:rPr>
              <a:t>Deposit market </a:t>
            </a:r>
            <a:r>
              <a:rPr lang="en-AU" sz="1400" dirty="0">
                <a:solidFill>
                  <a:schemeClr val="bg1"/>
                </a:solidFill>
              </a:rPr>
              <a:t>share in </a:t>
            </a:r>
            <a:r>
              <a:rPr lang="en-AU" b="1" dirty="0">
                <a:solidFill>
                  <a:schemeClr val="bg1"/>
                </a:solidFill>
              </a:rPr>
              <a:t>4</a:t>
            </a:r>
            <a:r>
              <a:rPr lang="en-AU" sz="1400" dirty="0">
                <a:solidFill>
                  <a:schemeClr val="bg1"/>
                </a:solidFill>
              </a:rPr>
              <a:t> </a:t>
            </a:r>
            <a:r>
              <a:rPr lang="en-AU" sz="1400" dirty="0" smtClean="0">
                <a:solidFill>
                  <a:schemeClr val="bg1"/>
                </a:solidFill>
              </a:rPr>
              <a:t>x markets</a:t>
            </a:r>
            <a:endParaRPr lang="en-AU" sz="1400" dirty="0">
              <a:solidFill>
                <a:schemeClr val="bg1"/>
              </a:solidFill>
            </a:endParaRPr>
          </a:p>
        </p:txBody>
      </p:sp>
      <p:sp>
        <p:nvSpPr>
          <p:cNvPr id="15" name="Oval 14"/>
          <p:cNvSpPr/>
          <p:nvPr/>
        </p:nvSpPr>
        <p:spPr>
          <a:xfrm>
            <a:off x="7358684" y="2692663"/>
            <a:ext cx="490771" cy="490771"/>
          </a:xfrm>
          <a:prstGeom prst="ellipse">
            <a:avLst/>
          </a:prstGeom>
          <a:solidFill>
            <a:srgbClr val="78AB33"/>
          </a:solidFill>
          <a:ln w="6350">
            <a:solidFill>
              <a:srgbClr val="8CC63F"/>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AU" sz="2000" b="1" dirty="0" smtClean="0">
                <a:solidFill>
                  <a:schemeClr val="bg1"/>
                </a:solidFill>
              </a:rPr>
              <a:t># 1</a:t>
            </a:r>
            <a:endParaRPr lang="en-AU" sz="1400" dirty="0">
              <a:solidFill>
                <a:schemeClr val="bg1"/>
              </a:solidFill>
            </a:endParaRPr>
          </a:p>
        </p:txBody>
      </p:sp>
      <p:sp>
        <p:nvSpPr>
          <p:cNvPr id="16" name="Rectangle 15"/>
          <p:cNvSpPr/>
          <p:nvPr/>
        </p:nvSpPr>
        <p:spPr>
          <a:xfrm>
            <a:off x="7592064" y="4408619"/>
            <a:ext cx="1407436" cy="1324637"/>
          </a:xfrm>
          <a:prstGeom prst="rect">
            <a:avLst/>
          </a:prstGeom>
          <a:solidFill>
            <a:srgbClr val="8CC63F"/>
          </a:solidFill>
          <a:ln w="6350">
            <a:solidFill>
              <a:srgbClr val="8CC6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600" b="1" dirty="0" smtClean="0">
                <a:solidFill>
                  <a:schemeClr val="bg1"/>
                </a:solidFill>
              </a:rPr>
              <a:t>POMSOX</a:t>
            </a:r>
            <a:endParaRPr lang="en-AU" sz="1600" b="1" dirty="0">
              <a:solidFill>
                <a:schemeClr val="bg1"/>
              </a:solidFill>
            </a:endParaRPr>
          </a:p>
          <a:p>
            <a:pPr lvl="0" algn="ctr"/>
            <a:r>
              <a:rPr lang="en-AU" sz="1400" dirty="0" smtClean="0">
                <a:solidFill>
                  <a:schemeClr val="bg1"/>
                </a:solidFill>
              </a:rPr>
              <a:t>Market cap of </a:t>
            </a:r>
            <a:r>
              <a:rPr lang="en-AU" b="1" dirty="0" smtClean="0">
                <a:solidFill>
                  <a:schemeClr val="bg1"/>
                </a:solidFill>
              </a:rPr>
              <a:t>K4.67b</a:t>
            </a:r>
            <a:r>
              <a:rPr lang="en-AU" sz="1400" dirty="0" smtClean="0">
                <a:solidFill>
                  <a:schemeClr val="bg1"/>
                </a:solidFill>
              </a:rPr>
              <a:t/>
            </a:r>
            <a:br>
              <a:rPr lang="en-AU" sz="1400" dirty="0" smtClean="0">
                <a:solidFill>
                  <a:schemeClr val="bg1"/>
                </a:solidFill>
              </a:rPr>
            </a:br>
            <a:r>
              <a:rPr lang="en-AU" sz="1400" dirty="0" smtClean="0">
                <a:solidFill>
                  <a:schemeClr val="bg1"/>
                </a:solidFill>
              </a:rPr>
              <a:t>[30 June 2018]</a:t>
            </a:r>
            <a:endParaRPr lang="en-AU" sz="1400" dirty="0">
              <a:solidFill>
                <a:schemeClr val="bg1"/>
              </a:solidFill>
            </a:endParaRPr>
          </a:p>
        </p:txBody>
      </p:sp>
      <p:sp>
        <p:nvSpPr>
          <p:cNvPr id="18" name="TextBox 17"/>
          <p:cNvSpPr txBox="1"/>
          <p:nvPr/>
        </p:nvSpPr>
        <p:spPr>
          <a:xfrm>
            <a:off x="251832" y="639607"/>
            <a:ext cx="7200488" cy="557145"/>
          </a:xfrm>
          <a:prstGeom prst="rect">
            <a:avLst/>
          </a:prstGeom>
          <a:noFill/>
          <a:ln>
            <a:solidFill>
              <a:srgbClr val="8CC63F"/>
            </a:solidFill>
          </a:ln>
        </p:spPr>
        <p:txBody>
          <a:bodyPr wrap="square" rtlCol="0" anchor="ctr">
            <a:noAutofit/>
          </a:bodyPr>
          <a:lstStyle/>
          <a:p>
            <a:pPr lvl="0">
              <a:spcBef>
                <a:spcPts val="600"/>
              </a:spcBef>
              <a:defRPr/>
            </a:pPr>
            <a:r>
              <a:rPr lang="en-US" sz="1600" b="1" dirty="0">
                <a:solidFill>
                  <a:srgbClr val="73A531"/>
                </a:solidFill>
              </a:rPr>
              <a:t>BSP </a:t>
            </a:r>
            <a:r>
              <a:rPr lang="en-US" sz="1600" b="1" dirty="0" smtClean="0">
                <a:solidFill>
                  <a:srgbClr val="73A531"/>
                </a:solidFill>
              </a:rPr>
              <a:t>is the </a:t>
            </a:r>
            <a:r>
              <a:rPr lang="en-US" sz="1600" b="1" dirty="0">
                <a:solidFill>
                  <a:srgbClr val="73A531"/>
                </a:solidFill>
              </a:rPr>
              <a:t>leading financial services provider in the markets we </a:t>
            </a:r>
            <a:r>
              <a:rPr lang="en-US" sz="1600" b="1" dirty="0" smtClean="0">
                <a:solidFill>
                  <a:srgbClr val="73A531"/>
                </a:solidFill>
              </a:rPr>
              <a:t>operate</a:t>
            </a:r>
            <a:endParaRPr lang="en-US" sz="1600" b="1" dirty="0">
              <a:solidFill>
                <a:srgbClr val="73A531"/>
              </a:solidFill>
            </a:endParaRPr>
          </a:p>
        </p:txBody>
      </p:sp>
    </p:spTree>
    <p:extLst>
      <p:ext uri="{BB962C8B-B14F-4D97-AF65-F5344CB8AC3E}">
        <p14:creationId xmlns:p14="http://schemas.microsoft.com/office/powerpoint/2010/main" val="266585247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TextBox 4"/>
          <p:cNvSpPr txBox="1">
            <a:spLocks noChangeArrowheads="1"/>
          </p:cNvSpPr>
          <p:nvPr/>
        </p:nvSpPr>
        <p:spPr bwMode="auto">
          <a:xfrm>
            <a:off x="251832" y="44624"/>
            <a:ext cx="720048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rIns="0">
            <a:spAutoFit/>
          </a:bodyPr>
          <a:lstStyle>
            <a:lvl1pPr defTabSz="457200" eaLnBrk="0" hangingPunct="0">
              <a:defRPr>
                <a:solidFill>
                  <a:schemeClr val="tx1"/>
                </a:solidFill>
                <a:latin typeface="Arial" pitchFamily="34" charset="0"/>
              </a:defRPr>
            </a:lvl1pPr>
            <a:lvl2pPr marL="742950" indent="-285750" defTabSz="457200" eaLnBrk="0" hangingPunct="0">
              <a:defRPr>
                <a:solidFill>
                  <a:schemeClr val="tx1"/>
                </a:solidFill>
                <a:latin typeface="Arial" pitchFamily="34" charset="0"/>
              </a:defRPr>
            </a:lvl2pPr>
            <a:lvl3pPr marL="1143000" indent="-228600" defTabSz="457200" eaLnBrk="0" hangingPunct="0">
              <a:defRPr>
                <a:solidFill>
                  <a:schemeClr val="tx1"/>
                </a:solidFill>
                <a:latin typeface="Arial" pitchFamily="34" charset="0"/>
              </a:defRPr>
            </a:lvl3pPr>
            <a:lvl4pPr marL="1600200" indent="-228600" defTabSz="457200" eaLnBrk="0" hangingPunct="0">
              <a:defRPr>
                <a:solidFill>
                  <a:schemeClr val="tx1"/>
                </a:solidFill>
                <a:latin typeface="Arial" pitchFamily="34" charset="0"/>
              </a:defRPr>
            </a:lvl4pPr>
            <a:lvl5pPr marL="2057400" indent="-228600" defTabSz="457200" eaLnBrk="0" hangingPunct="0">
              <a:defRPr>
                <a:solidFill>
                  <a:schemeClr val="tx1"/>
                </a:solidFill>
                <a:latin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defRPr>
            </a:lvl9pPr>
          </a:lstStyle>
          <a:p>
            <a:pPr eaLnBrk="1" hangingPunct="1"/>
            <a:r>
              <a:rPr lang="en-AU" altLang="en-US" sz="2800" b="1" dirty="0">
                <a:solidFill>
                  <a:srgbClr val="92D050"/>
                </a:solidFill>
                <a:cs typeface="Arial" pitchFamily="34" charset="0"/>
              </a:rPr>
              <a:t>BSP’s growing service offering</a:t>
            </a: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AU"/>
          </a:p>
        </p:txBody>
      </p:sp>
      <p:sp>
        <p:nvSpPr>
          <p:cNvPr id="8" name="TextBox 7"/>
          <p:cNvSpPr txBox="1"/>
          <p:nvPr/>
        </p:nvSpPr>
        <p:spPr>
          <a:xfrm>
            <a:off x="8867893" y="6499592"/>
            <a:ext cx="263214" cy="276999"/>
          </a:xfrm>
          <a:prstGeom prst="rect">
            <a:avLst/>
          </a:prstGeom>
          <a:noFill/>
        </p:spPr>
        <p:txBody>
          <a:bodyPr wrap="square" lIns="0" rtlCol="0">
            <a:spAutoFit/>
          </a:bodyPr>
          <a:lstStyle>
            <a:defPPr>
              <a:defRPr lang="en-US"/>
            </a:defPPr>
            <a:lvl1pPr>
              <a:defRPr sz="1200" b="1">
                <a:solidFill>
                  <a:prstClr val="white"/>
                </a:solidFill>
              </a:defRPr>
            </a:lvl1pPr>
          </a:lstStyle>
          <a:p>
            <a:pPr algn="ctr"/>
            <a:fld id="{930AFB57-27B1-4EDC-9D85-71AA30732641}" type="slidenum">
              <a:rPr lang="en-AU"/>
              <a:pPr algn="ctr"/>
              <a:t>4</a:t>
            </a:fld>
            <a:endParaRPr lang="en-AU" dirty="0"/>
          </a:p>
        </p:txBody>
      </p:sp>
      <p:sp>
        <p:nvSpPr>
          <p:cNvPr id="18" name="TextBox 17"/>
          <p:cNvSpPr txBox="1"/>
          <p:nvPr/>
        </p:nvSpPr>
        <p:spPr>
          <a:xfrm>
            <a:off x="251832" y="639607"/>
            <a:ext cx="7200488" cy="845177"/>
          </a:xfrm>
          <a:prstGeom prst="rect">
            <a:avLst/>
          </a:prstGeom>
          <a:noFill/>
          <a:ln>
            <a:solidFill>
              <a:srgbClr val="8CC63F"/>
            </a:solidFill>
          </a:ln>
        </p:spPr>
        <p:txBody>
          <a:bodyPr wrap="square" rtlCol="0" anchor="ctr">
            <a:noAutofit/>
          </a:bodyPr>
          <a:lstStyle/>
          <a:p>
            <a:pPr lvl="0">
              <a:spcBef>
                <a:spcPts val="600"/>
              </a:spcBef>
              <a:defRPr/>
            </a:pPr>
            <a:r>
              <a:rPr lang="en-US" sz="1600" b="1" dirty="0">
                <a:solidFill>
                  <a:srgbClr val="73A531"/>
                </a:solidFill>
              </a:rPr>
              <a:t>In line with BSP’s geographical and income diversification strategy, BSP has  expanded </a:t>
            </a:r>
            <a:r>
              <a:rPr lang="en-US" sz="1600" b="1" dirty="0" smtClean="0">
                <a:solidFill>
                  <a:srgbClr val="73A531"/>
                </a:solidFill>
              </a:rPr>
              <a:t>its product / service offering into both existing and new markets.</a:t>
            </a:r>
          </a:p>
        </p:txBody>
      </p:sp>
      <p:pic>
        <p:nvPicPr>
          <p:cNvPr id="17"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12130" y="2460649"/>
            <a:ext cx="931296" cy="47232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19" name="Straight Connector 18"/>
          <p:cNvCxnSpPr>
            <a:cxnSpLocks/>
            <a:stCxn id="17" idx="2"/>
            <a:endCxn id="53" idx="0"/>
          </p:cNvCxnSpPr>
          <p:nvPr/>
        </p:nvCxnSpPr>
        <p:spPr>
          <a:xfrm>
            <a:off x="8477778" y="2932978"/>
            <a:ext cx="1" cy="243710"/>
          </a:xfrm>
          <a:prstGeom prst="line">
            <a:avLst/>
          </a:prstGeom>
          <a:ln>
            <a:solidFill>
              <a:srgbClr val="8CC63F"/>
            </a:solidFill>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8013304" y="2182786"/>
            <a:ext cx="928949" cy="200055"/>
          </a:xfrm>
          <a:prstGeom prst="rect">
            <a:avLst/>
          </a:prstGeom>
          <a:noFill/>
        </p:spPr>
        <p:txBody>
          <a:bodyPr wrap="square" lIns="0" tIns="0" rIns="0" bIns="0" rtlCol="0">
            <a:spAutoFit/>
          </a:bodyPr>
          <a:lstStyle/>
          <a:p>
            <a:pPr algn="ctr"/>
            <a:r>
              <a:rPr lang="en-AU" sz="1300" dirty="0">
                <a:solidFill>
                  <a:srgbClr val="5F8828"/>
                </a:solidFill>
              </a:rPr>
              <a:t>Cambodia</a:t>
            </a:r>
          </a:p>
        </p:txBody>
      </p:sp>
      <p:cxnSp>
        <p:nvCxnSpPr>
          <p:cNvPr id="21" name="Straight Connector 20"/>
          <p:cNvCxnSpPr>
            <a:cxnSpLocks/>
            <a:stCxn id="22" idx="2"/>
            <a:endCxn id="54" idx="0"/>
          </p:cNvCxnSpPr>
          <p:nvPr/>
        </p:nvCxnSpPr>
        <p:spPr>
          <a:xfrm>
            <a:off x="7350581" y="2938563"/>
            <a:ext cx="0" cy="238125"/>
          </a:xfrm>
          <a:prstGeom prst="line">
            <a:avLst/>
          </a:prstGeom>
          <a:ln>
            <a:solidFill>
              <a:srgbClr val="8CC63F"/>
            </a:solidFill>
          </a:ln>
        </p:spPr>
        <p:style>
          <a:lnRef idx="1">
            <a:schemeClr val="accent1"/>
          </a:lnRef>
          <a:fillRef idx="0">
            <a:schemeClr val="accent1"/>
          </a:fillRef>
          <a:effectRef idx="0">
            <a:schemeClr val="accent1"/>
          </a:effectRef>
          <a:fontRef idx="minor">
            <a:schemeClr val="tx1"/>
          </a:fontRef>
        </p:style>
      </p:cxnSp>
      <p:pic>
        <p:nvPicPr>
          <p:cNvPr id="22"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72117" y="2460099"/>
            <a:ext cx="956927" cy="478464"/>
          </a:xfrm>
          <a:prstGeom prst="rect">
            <a:avLst/>
          </a:prstGeom>
          <a:noFill/>
          <a:ln w="317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
        <p:nvSpPr>
          <p:cNvPr id="23" name="TextBox 22"/>
          <p:cNvSpPr txBox="1"/>
          <p:nvPr/>
        </p:nvSpPr>
        <p:spPr>
          <a:xfrm>
            <a:off x="6886106" y="2182786"/>
            <a:ext cx="928949" cy="200055"/>
          </a:xfrm>
          <a:prstGeom prst="rect">
            <a:avLst/>
          </a:prstGeom>
          <a:noFill/>
        </p:spPr>
        <p:txBody>
          <a:bodyPr wrap="square" lIns="0" tIns="0" rIns="0" bIns="0" rtlCol="0">
            <a:spAutoFit/>
          </a:bodyPr>
          <a:lstStyle/>
          <a:p>
            <a:pPr algn="ctr"/>
            <a:r>
              <a:rPr lang="en-AU" sz="1300" dirty="0">
                <a:solidFill>
                  <a:srgbClr val="5F8828"/>
                </a:solidFill>
              </a:rPr>
              <a:t>Tonga</a:t>
            </a:r>
          </a:p>
        </p:txBody>
      </p:sp>
      <p:sp>
        <p:nvSpPr>
          <p:cNvPr id="24" name="Rectangle 23"/>
          <p:cNvSpPr/>
          <p:nvPr/>
        </p:nvSpPr>
        <p:spPr>
          <a:xfrm>
            <a:off x="5766848" y="3176688"/>
            <a:ext cx="915423" cy="418869"/>
          </a:xfrm>
          <a:prstGeom prst="rect">
            <a:avLst/>
          </a:prstGeom>
          <a:solidFill>
            <a:srgbClr val="73A531"/>
          </a:solidFill>
          <a:ln w="6350">
            <a:solidFill>
              <a:srgbClr val="73A5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b="1" dirty="0"/>
              <a:t>Bank</a:t>
            </a:r>
          </a:p>
        </p:txBody>
      </p:sp>
      <p:cxnSp>
        <p:nvCxnSpPr>
          <p:cNvPr id="25" name="Straight Connector 24"/>
          <p:cNvCxnSpPr>
            <a:cxnSpLocks/>
            <a:stCxn id="26" idx="2"/>
            <a:endCxn id="24" idx="0"/>
          </p:cNvCxnSpPr>
          <p:nvPr/>
        </p:nvCxnSpPr>
        <p:spPr>
          <a:xfrm>
            <a:off x="6224559" y="2931194"/>
            <a:ext cx="1" cy="245494"/>
          </a:xfrm>
          <a:prstGeom prst="line">
            <a:avLst/>
          </a:prstGeom>
          <a:ln>
            <a:solidFill>
              <a:srgbClr val="8CC63F"/>
            </a:solidFill>
          </a:ln>
        </p:spPr>
        <p:style>
          <a:lnRef idx="1">
            <a:schemeClr val="accent1"/>
          </a:lnRef>
          <a:fillRef idx="0">
            <a:schemeClr val="accent1"/>
          </a:fillRef>
          <a:effectRef idx="0">
            <a:schemeClr val="accent1"/>
          </a:effectRef>
          <a:fontRef idx="minor">
            <a:schemeClr val="tx1"/>
          </a:fontRef>
        </p:style>
      </p:cxnSp>
      <p:pic>
        <p:nvPicPr>
          <p:cNvPr id="26"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61860" y="2464853"/>
            <a:ext cx="925398" cy="4663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7" name="TextBox 26"/>
          <p:cNvSpPr txBox="1"/>
          <p:nvPr/>
        </p:nvSpPr>
        <p:spPr>
          <a:xfrm>
            <a:off x="5760085" y="2182786"/>
            <a:ext cx="928949" cy="200055"/>
          </a:xfrm>
          <a:prstGeom prst="rect">
            <a:avLst/>
          </a:prstGeom>
          <a:noFill/>
        </p:spPr>
        <p:txBody>
          <a:bodyPr wrap="square" lIns="0" tIns="0" rIns="0" bIns="0" rtlCol="0">
            <a:spAutoFit/>
          </a:bodyPr>
          <a:lstStyle/>
          <a:p>
            <a:pPr algn="ctr"/>
            <a:r>
              <a:rPr lang="en-AU" sz="1300" dirty="0">
                <a:solidFill>
                  <a:srgbClr val="5F8828"/>
                </a:solidFill>
              </a:rPr>
              <a:t>Vanuatu</a:t>
            </a:r>
          </a:p>
        </p:txBody>
      </p:sp>
      <p:sp>
        <p:nvSpPr>
          <p:cNvPr id="28" name="Rectangle 27"/>
          <p:cNvSpPr/>
          <p:nvPr/>
        </p:nvSpPr>
        <p:spPr>
          <a:xfrm>
            <a:off x="4654816" y="3176688"/>
            <a:ext cx="915423" cy="418869"/>
          </a:xfrm>
          <a:prstGeom prst="rect">
            <a:avLst/>
          </a:prstGeom>
          <a:solidFill>
            <a:srgbClr val="73A531"/>
          </a:solidFill>
          <a:ln w="6350">
            <a:solidFill>
              <a:srgbClr val="73A5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b="1" dirty="0"/>
              <a:t>Bank</a:t>
            </a:r>
          </a:p>
        </p:txBody>
      </p:sp>
      <p:cxnSp>
        <p:nvCxnSpPr>
          <p:cNvPr id="29" name="Straight Connector 28"/>
          <p:cNvCxnSpPr>
            <a:cxnSpLocks/>
            <a:stCxn id="30" idx="2"/>
            <a:endCxn id="28" idx="0"/>
          </p:cNvCxnSpPr>
          <p:nvPr/>
        </p:nvCxnSpPr>
        <p:spPr>
          <a:xfrm>
            <a:off x="5112527" y="2932978"/>
            <a:ext cx="1" cy="243710"/>
          </a:xfrm>
          <a:prstGeom prst="line">
            <a:avLst/>
          </a:prstGeom>
          <a:ln>
            <a:solidFill>
              <a:srgbClr val="8CC63F"/>
            </a:solidFill>
          </a:ln>
        </p:spPr>
        <p:style>
          <a:lnRef idx="1">
            <a:schemeClr val="accent1"/>
          </a:lnRef>
          <a:fillRef idx="0">
            <a:schemeClr val="accent1"/>
          </a:fillRef>
          <a:effectRef idx="0">
            <a:schemeClr val="accent1"/>
          </a:effectRef>
          <a:fontRef idx="minor">
            <a:schemeClr val="tx1"/>
          </a:fontRef>
        </p:style>
      </p:cxnSp>
      <p:pic>
        <p:nvPicPr>
          <p:cNvPr id="30" name="Picture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49828" y="2470279"/>
            <a:ext cx="925398" cy="4626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1" name="TextBox 30"/>
          <p:cNvSpPr txBox="1"/>
          <p:nvPr/>
        </p:nvSpPr>
        <p:spPr>
          <a:xfrm>
            <a:off x="4648053" y="2182786"/>
            <a:ext cx="928949" cy="200055"/>
          </a:xfrm>
          <a:prstGeom prst="rect">
            <a:avLst/>
          </a:prstGeom>
          <a:noFill/>
        </p:spPr>
        <p:txBody>
          <a:bodyPr wrap="square" lIns="0" tIns="0" rIns="0" bIns="0" rtlCol="0">
            <a:spAutoFit/>
          </a:bodyPr>
          <a:lstStyle/>
          <a:p>
            <a:pPr algn="ctr"/>
            <a:r>
              <a:rPr lang="en-AU" sz="1300" dirty="0">
                <a:solidFill>
                  <a:srgbClr val="5F8828"/>
                </a:solidFill>
              </a:rPr>
              <a:t>Cook Islands</a:t>
            </a:r>
          </a:p>
        </p:txBody>
      </p:sp>
      <p:sp>
        <p:nvSpPr>
          <p:cNvPr id="32" name="Rectangle 31"/>
          <p:cNvSpPr/>
          <p:nvPr/>
        </p:nvSpPr>
        <p:spPr>
          <a:xfrm>
            <a:off x="3542784" y="3176688"/>
            <a:ext cx="915423" cy="418869"/>
          </a:xfrm>
          <a:prstGeom prst="rect">
            <a:avLst/>
          </a:prstGeom>
          <a:solidFill>
            <a:srgbClr val="73A531"/>
          </a:solidFill>
          <a:ln w="6350">
            <a:solidFill>
              <a:srgbClr val="73A5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b="1" dirty="0"/>
              <a:t>Bank</a:t>
            </a:r>
          </a:p>
        </p:txBody>
      </p:sp>
      <p:pic>
        <p:nvPicPr>
          <p:cNvPr id="33" name="Picture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39262" y="2469961"/>
            <a:ext cx="922466" cy="4612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34" name="Straight Connector 33"/>
          <p:cNvCxnSpPr>
            <a:cxnSpLocks/>
          </p:cNvCxnSpPr>
          <p:nvPr/>
        </p:nvCxnSpPr>
        <p:spPr>
          <a:xfrm>
            <a:off x="4000495" y="2931194"/>
            <a:ext cx="1" cy="370501"/>
          </a:xfrm>
          <a:prstGeom prst="line">
            <a:avLst/>
          </a:prstGeom>
          <a:ln>
            <a:solidFill>
              <a:srgbClr val="8CC63F"/>
            </a:solidFill>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3536021" y="2182786"/>
            <a:ext cx="928949" cy="200055"/>
          </a:xfrm>
          <a:prstGeom prst="rect">
            <a:avLst/>
          </a:prstGeom>
          <a:noFill/>
        </p:spPr>
        <p:txBody>
          <a:bodyPr wrap="square" lIns="0" tIns="0" rIns="0" bIns="0" rtlCol="0">
            <a:spAutoFit/>
          </a:bodyPr>
          <a:lstStyle/>
          <a:p>
            <a:pPr algn="ctr"/>
            <a:r>
              <a:rPr lang="en-AU" sz="1300" dirty="0">
                <a:solidFill>
                  <a:srgbClr val="5F8828"/>
                </a:solidFill>
              </a:rPr>
              <a:t>Samoa</a:t>
            </a:r>
          </a:p>
        </p:txBody>
      </p:sp>
      <p:pic>
        <p:nvPicPr>
          <p:cNvPr id="36" name="Picture 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30471" y="2469961"/>
            <a:ext cx="922467" cy="46123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7" name="TextBox 36"/>
          <p:cNvSpPr txBox="1"/>
          <p:nvPr/>
        </p:nvSpPr>
        <p:spPr>
          <a:xfrm>
            <a:off x="2416945" y="1998120"/>
            <a:ext cx="928949" cy="400110"/>
          </a:xfrm>
          <a:prstGeom prst="rect">
            <a:avLst/>
          </a:prstGeom>
          <a:noFill/>
        </p:spPr>
        <p:txBody>
          <a:bodyPr wrap="square" lIns="0" tIns="0" rIns="0" bIns="0" rtlCol="0">
            <a:spAutoFit/>
          </a:bodyPr>
          <a:lstStyle/>
          <a:p>
            <a:pPr algn="ctr"/>
            <a:r>
              <a:rPr lang="en-AU" sz="1300" dirty="0">
                <a:solidFill>
                  <a:srgbClr val="5F8828"/>
                </a:solidFill>
              </a:rPr>
              <a:t>Solomon Islands</a:t>
            </a:r>
          </a:p>
        </p:txBody>
      </p:sp>
      <p:cxnSp>
        <p:nvCxnSpPr>
          <p:cNvPr id="38" name="Straight Connector 37"/>
          <p:cNvCxnSpPr>
            <a:cxnSpLocks/>
            <a:stCxn id="36" idx="2"/>
            <a:endCxn id="52" idx="0"/>
          </p:cNvCxnSpPr>
          <p:nvPr/>
        </p:nvCxnSpPr>
        <p:spPr>
          <a:xfrm>
            <a:off x="2891705" y="2931195"/>
            <a:ext cx="3522" cy="920809"/>
          </a:xfrm>
          <a:prstGeom prst="line">
            <a:avLst/>
          </a:prstGeom>
          <a:ln>
            <a:solidFill>
              <a:srgbClr val="8CC63F"/>
            </a:solidFill>
          </a:ln>
        </p:spPr>
        <p:style>
          <a:lnRef idx="1">
            <a:schemeClr val="accent1"/>
          </a:lnRef>
          <a:fillRef idx="0">
            <a:schemeClr val="accent1"/>
          </a:fillRef>
          <a:effectRef idx="0">
            <a:schemeClr val="accent1"/>
          </a:effectRef>
          <a:fontRef idx="minor">
            <a:schemeClr val="tx1"/>
          </a:fontRef>
        </p:style>
      </p:cxnSp>
      <p:sp>
        <p:nvSpPr>
          <p:cNvPr id="39" name="Rectangle 38"/>
          <p:cNvSpPr/>
          <p:nvPr/>
        </p:nvSpPr>
        <p:spPr>
          <a:xfrm>
            <a:off x="2430471" y="3176688"/>
            <a:ext cx="915423" cy="418869"/>
          </a:xfrm>
          <a:prstGeom prst="rect">
            <a:avLst/>
          </a:prstGeom>
          <a:solidFill>
            <a:srgbClr val="73A531"/>
          </a:solidFill>
          <a:ln w="6350">
            <a:solidFill>
              <a:srgbClr val="73A5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b="1" dirty="0"/>
              <a:t>Bank</a:t>
            </a:r>
          </a:p>
        </p:txBody>
      </p:sp>
      <p:pic>
        <p:nvPicPr>
          <p:cNvPr id="40" name="Picture 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308155" y="2469962"/>
            <a:ext cx="922464" cy="4612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41" name="Straight Connector 40"/>
          <p:cNvCxnSpPr>
            <a:cxnSpLocks/>
          </p:cNvCxnSpPr>
          <p:nvPr/>
        </p:nvCxnSpPr>
        <p:spPr>
          <a:xfrm>
            <a:off x="1769387" y="2931194"/>
            <a:ext cx="1" cy="1568118"/>
          </a:xfrm>
          <a:prstGeom prst="line">
            <a:avLst/>
          </a:prstGeom>
          <a:ln>
            <a:solidFill>
              <a:srgbClr val="8CC63F"/>
            </a:solidFill>
          </a:ln>
        </p:spPr>
        <p:style>
          <a:lnRef idx="1">
            <a:schemeClr val="accent1"/>
          </a:lnRef>
          <a:fillRef idx="0">
            <a:schemeClr val="accent1"/>
          </a:fillRef>
          <a:effectRef idx="0">
            <a:schemeClr val="accent1"/>
          </a:effectRef>
          <a:fontRef idx="minor">
            <a:schemeClr val="tx1"/>
          </a:fontRef>
        </p:style>
      </p:cxnSp>
      <p:sp>
        <p:nvSpPr>
          <p:cNvPr id="42" name="Rectangle 41"/>
          <p:cNvSpPr/>
          <p:nvPr/>
        </p:nvSpPr>
        <p:spPr>
          <a:xfrm>
            <a:off x="1311676" y="3852004"/>
            <a:ext cx="915423" cy="418869"/>
          </a:xfrm>
          <a:prstGeom prst="rect">
            <a:avLst/>
          </a:prstGeom>
          <a:solidFill>
            <a:srgbClr val="73A531"/>
          </a:solidFill>
          <a:ln w="6350">
            <a:solidFill>
              <a:srgbClr val="73A5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b="1" dirty="0"/>
              <a:t>Finance</a:t>
            </a:r>
          </a:p>
        </p:txBody>
      </p:sp>
      <p:sp>
        <p:nvSpPr>
          <p:cNvPr id="43" name="Rectangle 42"/>
          <p:cNvSpPr/>
          <p:nvPr/>
        </p:nvSpPr>
        <p:spPr>
          <a:xfrm>
            <a:off x="1311676" y="3176688"/>
            <a:ext cx="915423" cy="418869"/>
          </a:xfrm>
          <a:prstGeom prst="rect">
            <a:avLst/>
          </a:prstGeom>
          <a:solidFill>
            <a:srgbClr val="73A531"/>
          </a:solidFill>
          <a:ln w="6350">
            <a:solidFill>
              <a:srgbClr val="73A5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b="1" dirty="0"/>
              <a:t>Bank</a:t>
            </a:r>
          </a:p>
        </p:txBody>
      </p:sp>
      <p:sp>
        <p:nvSpPr>
          <p:cNvPr id="44" name="TextBox 43"/>
          <p:cNvSpPr txBox="1"/>
          <p:nvPr/>
        </p:nvSpPr>
        <p:spPr>
          <a:xfrm>
            <a:off x="1304913" y="2182786"/>
            <a:ext cx="928949" cy="200055"/>
          </a:xfrm>
          <a:prstGeom prst="rect">
            <a:avLst/>
          </a:prstGeom>
          <a:noFill/>
        </p:spPr>
        <p:txBody>
          <a:bodyPr wrap="square" lIns="0" tIns="0" rIns="0" bIns="0" rtlCol="0">
            <a:spAutoFit/>
          </a:bodyPr>
          <a:lstStyle/>
          <a:p>
            <a:pPr algn="ctr"/>
            <a:r>
              <a:rPr lang="en-AU" sz="1300" dirty="0">
                <a:solidFill>
                  <a:srgbClr val="5F8828"/>
                </a:solidFill>
              </a:rPr>
              <a:t>Fiji</a:t>
            </a:r>
          </a:p>
        </p:txBody>
      </p:sp>
      <p:pic>
        <p:nvPicPr>
          <p:cNvPr id="45" name="Picture 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97177" y="2464853"/>
            <a:ext cx="920356" cy="4767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46" name="Straight Connector 45"/>
          <p:cNvCxnSpPr>
            <a:cxnSpLocks/>
            <a:endCxn id="55" idx="0"/>
          </p:cNvCxnSpPr>
          <p:nvPr/>
        </p:nvCxnSpPr>
        <p:spPr>
          <a:xfrm flipH="1">
            <a:off x="650593" y="2941608"/>
            <a:ext cx="6762" cy="2231061"/>
          </a:xfrm>
          <a:prstGeom prst="line">
            <a:avLst/>
          </a:prstGeom>
          <a:ln>
            <a:solidFill>
              <a:srgbClr val="8CC63F"/>
            </a:solidFill>
          </a:ln>
        </p:spPr>
        <p:style>
          <a:lnRef idx="1">
            <a:schemeClr val="accent1"/>
          </a:lnRef>
          <a:fillRef idx="0">
            <a:schemeClr val="accent1"/>
          </a:fillRef>
          <a:effectRef idx="0">
            <a:schemeClr val="accent1"/>
          </a:effectRef>
          <a:fontRef idx="minor">
            <a:schemeClr val="tx1"/>
          </a:fontRef>
        </p:style>
      </p:cxnSp>
      <p:sp>
        <p:nvSpPr>
          <p:cNvPr id="47" name="Rectangle 46"/>
          <p:cNvSpPr/>
          <p:nvPr/>
        </p:nvSpPr>
        <p:spPr>
          <a:xfrm>
            <a:off x="199644" y="3852003"/>
            <a:ext cx="915423" cy="418869"/>
          </a:xfrm>
          <a:prstGeom prst="rect">
            <a:avLst/>
          </a:prstGeom>
          <a:solidFill>
            <a:srgbClr val="73A531"/>
          </a:solidFill>
          <a:ln w="6350">
            <a:solidFill>
              <a:srgbClr val="73A5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b="1" dirty="0"/>
              <a:t>Finance</a:t>
            </a:r>
          </a:p>
        </p:txBody>
      </p:sp>
      <p:sp>
        <p:nvSpPr>
          <p:cNvPr id="48" name="Rectangle 47"/>
          <p:cNvSpPr/>
          <p:nvPr/>
        </p:nvSpPr>
        <p:spPr>
          <a:xfrm>
            <a:off x="199644" y="3176687"/>
            <a:ext cx="915423" cy="418869"/>
          </a:xfrm>
          <a:prstGeom prst="rect">
            <a:avLst/>
          </a:prstGeom>
          <a:solidFill>
            <a:srgbClr val="73A531"/>
          </a:solidFill>
          <a:ln w="6350">
            <a:solidFill>
              <a:srgbClr val="73A5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b="1" dirty="0"/>
              <a:t>Bank</a:t>
            </a:r>
          </a:p>
        </p:txBody>
      </p:sp>
      <p:sp>
        <p:nvSpPr>
          <p:cNvPr id="49" name="TextBox 48"/>
          <p:cNvSpPr txBox="1"/>
          <p:nvPr/>
        </p:nvSpPr>
        <p:spPr>
          <a:xfrm>
            <a:off x="192881" y="1998120"/>
            <a:ext cx="928949" cy="400110"/>
          </a:xfrm>
          <a:prstGeom prst="rect">
            <a:avLst/>
          </a:prstGeom>
          <a:noFill/>
        </p:spPr>
        <p:txBody>
          <a:bodyPr wrap="square" lIns="0" tIns="0" rIns="0" bIns="0" rtlCol="0">
            <a:spAutoFit/>
          </a:bodyPr>
          <a:lstStyle/>
          <a:p>
            <a:pPr algn="ctr"/>
            <a:r>
              <a:rPr lang="en-AU" sz="1300" dirty="0">
                <a:solidFill>
                  <a:srgbClr val="5F8828"/>
                </a:solidFill>
              </a:rPr>
              <a:t>Papua New Guinea</a:t>
            </a:r>
          </a:p>
        </p:txBody>
      </p:sp>
      <p:sp>
        <p:nvSpPr>
          <p:cNvPr id="50" name="Rectangle 49"/>
          <p:cNvSpPr/>
          <p:nvPr/>
        </p:nvSpPr>
        <p:spPr>
          <a:xfrm>
            <a:off x="1324928" y="4499312"/>
            <a:ext cx="915423" cy="421569"/>
          </a:xfrm>
          <a:prstGeom prst="rect">
            <a:avLst/>
          </a:prstGeom>
          <a:solidFill>
            <a:srgbClr val="73A531"/>
          </a:solidFill>
          <a:ln w="6350">
            <a:solidFill>
              <a:srgbClr val="73A5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b="1" dirty="0"/>
              <a:t>Life</a:t>
            </a:r>
          </a:p>
        </p:txBody>
      </p:sp>
      <p:sp>
        <p:nvSpPr>
          <p:cNvPr id="51" name="Rectangle 50"/>
          <p:cNvSpPr/>
          <p:nvPr/>
        </p:nvSpPr>
        <p:spPr>
          <a:xfrm>
            <a:off x="206457" y="4510951"/>
            <a:ext cx="915423" cy="418869"/>
          </a:xfrm>
          <a:prstGeom prst="rect">
            <a:avLst/>
          </a:prstGeom>
          <a:solidFill>
            <a:srgbClr val="63DF41"/>
          </a:solidFill>
          <a:ln w="6350">
            <a:solidFill>
              <a:srgbClr val="63DF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b="1" dirty="0"/>
              <a:t>Life</a:t>
            </a:r>
            <a:endParaRPr lang="en-AU" sz="1100" dirty="0"/>
          </a:p>
        </p:txBody>
      </p:sp>
      <p:sp>
        <p:nvSpPr>
          <p:cNvPr id="52" name="Rectangle 51"/>
          <p:cNvSpPr/>
          <p:nvPr/>
        </p:nvSpPr>
        <p:spPr>
          <a:xfrm>
            <a:off x="2437515" y="3852004"/>
            <a:ext cx="915423" cy="418869"/>
          </a:xfrm>
          <a:prstGeom prst="rect">
            <a:avLst/>
          </a:prstGeom>
          <a:solidFill>
            <a:srgbClr val="63DF41"/>
          </a:solidFill>
          <a:ln w="6350">
            <a:solidFill>
              <a:srgbClr val="63DF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b="1" dirty="0"/>
              <a:t>Finance</a:t>
            </a:r>
          </a:p>
        </p:txBody>
      </p:sp>
      <p:sp>
        <p:nvSpPr>
          <p:cNvPr id="53" name="Rectangle 52"/>
          <p:cNvSpPr/>
          <p:nvPr/>
        </p:nvSpPr>
        <p:spPr>
          <a:xfrm>
            <a:off x="8020067" y="3176688"/>
            <a:ext cx="915423" cy="418869"/>
          </a:xfrm>
          <a:prstGeom prst="rect">
            <a:avLst/>
          </a:prstGeom>
          <a:solidFill>
            <a:srgbClr val="63DF41"/>
          </a:solidFill>
          <a:ln w="6350">
            <a:solidFill>
              <a:srgbClr val="63DF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b="1" dirty="0"/>
              <a:t>Finance</a:t>
            </a:r>
          </a:p>
        </p:txBody>
      </p:sp>
      <p:sp>
        <p:nvSpPr>
          <p:cNvPr id="54" name="Rectangle 53"/>
          <p:cNvSpPr/>
          <p:nvPr/>
        </p:nvSpPr>
        <p:spPr>
          <a:xfrm>
            <a:off x="6892869" y="3176688"/>
            <a:ext cx="915423" cy="418869"/>
          </a:xfrm>
          <a:prstGeom prst="rect">
            <a:avLst/>
          </a:prstGeom>
          <a:solidFill>
            <a:srgbClr val="73A531"/>
          </a:solidFill>
          <a:ln w="6350">
            <a:solidFill>
              <a:srgbClr val="73A5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b="1" dirty="0"/>
              <a:t>Bank</a:t>
            </a:r>
            <a:endParaRPr lang="en-AU" sz="1100" dirty="0">
              <a:solidFill>
                <a:prstClr val="white"/>
              </a:solidFill>
            </a:endParaRPr>
          </a:p>
        </p:txBody>
      </p:sp>
      <p:sp>
        <p:nvSpPr>
          <p:cNvPr id="55" name="Rectangle 54"/>
          <p:cNvSpPr/>
          <p:nvPr/>
        </p:nvSpPr>
        <p:spPr>
          <a:xfrm>
            <a:off x="192881" y="5172669"/>
            <a:ext cx="915423" cy="418869"/>
          </a:xfrm>
          <a:prstGeom prst="rect">
            <a:avLst/>
          </a:prstGeom>
          <a:solidFill>
            <a:srgbClr val="73A531"/>
          </a:solidFill>
          <a:ln w="6350">
            <a:solidFill>
              <a:srgbClr val="73A5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b="1" dirty="0"/>
              <a:t>BSP Capital</a:t>
            </a:r>
            <a:endParaRPr lang="en-AU" sz="1100" dirty="0"/>
          </a:p>
        </p:txBody>
      </p:sp>
      <p:sp>
        <p:nvSpPr>
          <p:cNvPr id="56" name="TextBox 55"/>
          <p:cNvSpPr txBox="1"/>
          <p:nvPr/>
        </p:nvSpPr>
        <p:spPr>
          <a:xfrm>
            <a:off x="179512" y="5759678"/>
            <a:ext cx="749368" cy="261610"/>
          </a:xfrm>
          <a:prstGeom prst="rect">
            <a:avLst/>
          </a:prstGeom>
          <a:noFill/>
        </p:spPr>
        <p:txBody>
          <a:bodyPr wrap="square" rtlCol="0">
            <a:spAutoFit/>
          </a:bodyPr>
          <a:lstStyle/>
          <a:p>
            <a:r>
              <a:rPr lang="en-AU" sz="1100" b="1" dirty="0" smtClean="0"/>
              <a:t>KEY</a:t>
            </a:r>
            <a:endParaRPr lang="en-AU" sz="1100" b="1" dirty="0"/>
          </a:p>
        </p:txBody>
      </p:sp>
      <p:sp>
        <p:nvSpPr>
          <p:cNvPr id="57" name="TextBox 56"/>
          <p:cNvSpPr txBox="1"/>
          <p:nvPr/>
        </p:nvSpPr>
        <p:spPr>
          <a:xfrm>
            <a:off x="704881" y="6021288"/>
            <a:ext cx="2092883" cy="261610"/>
          </a:xfrm>
          <a:prstGeom prst="rect">
            <a:avLst/>
          </a:prstGeom>
          <a:noFill/>
        </p:spPr>
        <p:txBody>
          <a:bodyPr wrap="square" rtlCol="0">
            <a:spAutoFit/>
          </a:bodyPr>
          <a:lstStyle/>
          <a:p>
            <a:r>
              <a:rPr lang="en-AU" sz="1100" dirty="0" smtClean="0">
                <a:solidFill>
                  <a:srgbClr val="67942C"/>
                </a:solidFill>
              </a:rPr>
              <a:t>New operations in 2017/2018</a:t>
            </a:r>
            <a:endParaRPr lang="en-AU" sz="1100" dirty="0">
              <a:solidFill>
                <a:srgbClr val="67942C"/>
              </a:solidFill>
            </a:endParaRPr>
          </a:p>
        </p:txBody>
      </p:sp>
      <p:sp>
        <p:nvSpPr>
          <p:cNvPr id="58" name="Rectangle 57"/>
          <p:cNvSpPr/>
          <p:nvPr/>
        </p:nvSpPr>
        <p:spPr>
          <a:xfrm>
            <a:off x="260937" y="6037584"/>
            <a:ext cx="457712" cy="229018"/>
          </a:xfrm>
          <a:prstGeom prst="rect">
            <a:avLst/>
          </a:prstGeom>
          <a:solidFill>
            <a:srgbClr val="63DF41"/>
          </a:solidFill>
          <a:ln w="6350">
            <a:solidFill>
              <a:srgbClr val="63DF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200" b="1" dirty="0"/>
          </a:p>
        </p:txBody>
      </p:sp>
      <p:sp>
        <p:nvSpPr>
          <p:cNvPr id="59" name="Rectangle 58"/>
          <p:cNvSpPr/>
          <p:nvPr/>
        </p:nvSpPr>
        <p:spPr>
          <a:xfrm>
            <a:off x="179512" y="5759678"/>
            <a:ext cx="2618252" cy="549642"/>
          </a:xfrm>
          <a:prstGeom prst="rect">
            <a:avLst/>
          </a:prstGeom>
          <a:noFill/>
          <a:ln w="6350">
            <a:solidFill>
              <a:srgbClr val="8CC6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1" name="TextBox 60"/>
          <p:cNvSpPr txBox="1"/>
          <p:nvPr/>
        </p:nvSpPr>
        <p:spPr>
          <a:xfrm>
            <a:off x="251832" y="6488848"/>
            <a:ext cx="3096032" cy="276999"/>
          </a:xfrm>
          <a:prstGeom prst="rect">
            <a:avLst/>
          </a:prstGeom>
          <a:noFill/>
        </p:spPr>
        <p:txBody>
          <a:bodyPr wrap="square" lIns="0" rtlCol="0">
            <a:spAutoFit/>
          </a:bodyPr>
          <a:lstStyle/>
          <a:p>
            <a:pPr>
              <a:defRPr/>
            </a:pPr>
            <a:r>
              <a:rPr lang="en-US" sz="1200" b="1" dirty="0" smtClean="0">
                <a:solidFill>
                  <a:prstClr val="white"/>
                </a:solidFill>
              </a:rPr>
              <a:t>INVESTOR PRESENTATION Half year 2018 </a:t>
            </a:r>
            <a:endParaRPr lang="en-AU" sz="1200" b="1" dirty="0">
              <a:solidFill>
                <a:prstClr val="white"/>
              </a:solidFill>
            </a:endParaRPr>
          </a:p>
        </p:txBody>
      </p:sp>
      <p:graphicFrame>
        <p:nvGraphicFramePr>
          <p:cNvPr id="62" name="Table 61"/>
          <p:cNvGraphicFramePr>
            <a:graphicFrameLocks noGrp="1"/>
          </p:cNvGraphicFramePr>
          <p:nvPr>
            <p:extLst>
              <p:ext uri="{D42A27DB-BD31-4B8C-83A1-F6EECF244321}">
                <p14:modId xmlns:p14="http://schemas.microsoft.com/office/powerpoint/2010/main" val="564148590"/>
              </p:ext>
            </p:extLst>
          </p:nvPr>
        </p:nvGraphicFramePr>
        <p:xfrm>
          <a:off x="3963176" y="3778392"/>
          <a:ext cx="3818954" cy="2458920"/>
        </p:xfrm>
        <a:graphic>
          <a:graphicData uri="http://schemas.openxmlformats.org/drawingml/2006/table">
            <a:tbl>
              <a:tblPr>
                <a:tableStyleId>{5C22544A-7EE6-4342-B048-85BDC9FD1C3A}</a:tableStyleId>
              </a:tblPr>
              <a:tblGrid>
                <a:gridCol w="467878"/>
                <a:gridCol w="2618477"/>
                <a:gridCol w="732599"/>
              </a:tblGrid>
              <a:tr h="174145">
                <a:tc gridSpan="3">
                  <a:txBody>
                    <a:bodyPr/>
                    <a:lstStyle/>
                    <a:p>
                      <a:pPr algn="l" fontAlgn="b"/>
                      <a:r>
                        <a:rPr lang="en-AU" sz="1200" b="1" i="0" u="none" strike="noStrike" dirty="0" smtClean="0">
                          <a:solidFill>
                            <a:srgbClr val="FFFFFF"/>
                          </a:solidFill>
                          <a:effectLst/>
                          <a:latin typeface="Calibri"/>
                        </a:rPr>
                        <a:t>BSP’S TOP 10 SHAREHOLDERS</a:t>
                      </a:r>
                      <a:endParaRPr lang="en-AU" sz="1200" b="1" i="0" u="none" strike="noStrike" dirty="0">
                        <a:solidFill>
                          <a:srgbClr val="FFFFFF"/>
                        </a:solidFill>
                        <a:effectLst/>
                        <a:latin typeface="Calibri"/>
                      </a:endParaRPr>
                    </a:p>
                  </a:txBody>
                  <a:tcPr marL="36000" marR="36000" marT="36000" marB="0" anchor="b">
                    <a:lnL w="6350" cap="flat" cmpd="sng" algn="ctr">
                      <a:solidFill>
                        <a:srgbClr val="6A972D"/>
                      </a:solidFill>
                      <a:prstDash val="solid"/>
                      <a:round/>
                      <a:headEnd type="none" w="med" len="med"/>
                      <a:tailEnd type="none" w="med" len="med"/>
                    </a:lnL>
                    <a:lnR w="6350" cap="flat" cmpd="sng" algn="ctr">
                      <a:solidFill>
                        <a:srgbClr val="6A972D"/>
                      </a:solidFill>
                      <a:prstDash val="solid"/>
                      <a:round/>
                      <a:headEnd type="none" w="med" len="med"/>
                      <a:tailEnd type="none" w="med" len="med"/>
                    </a:lnR>
                    <a:lnT w="6350" cap="flat" cmpd="sng" algn="ctr">
                      <a:solidFill>
                        <a:srgbClr val="6A972D"/>
                      </a:solidFill>
                      <a:prstDash val="solid"/>
                      <a:round/>
                      <a:headEnd type="none" w="med" len="med"/>
                      <a:tailEnd type="none" w="med" len="med"/>
                    </a:lnT>
                    <a:lnB w="6350" cap="flat" cmpd="sng" algn="ctr">
                      <a:solidFill>
                        <a:srgbClr val="6A972D"/>
                      </a:solidFill>
                      <a:prstDash val="solid"/>
                      <a:round/>
                      <a:headEnd type="none" w="med" len="med"/>
                      <a:tailEnd type="none" w="med" len="med"/>
                    </a:lnB>
                    <a:solidFill>
                      <a:srgbClr val="6A972D"/>
                    </a:solidFill>
                  </a:tcPr>
                </a:tc>
                <a:tc hMerge="1">
                  <a:txBody>
                    <a:bodyPr/>
                    <a:lstStyle/>
                    <a:p>
                      <a:pPr algn="l" fontAlgn="b"/>
                      <a:endParaRPr lang="en-AU" sz="1000" b="0" i="0" u="none" strike="noStrike" dirty="0">
                        <a:solidFill>
                          <a:srgbClr val="FFFFFF"/>
                        </a:solidFill>
                        <a:effectLst/>
                        <a:latin typeface="Calibri"/>
                      </a:endParaRPr>
                    </a:p>
                  </a:txBody>
                  <a:tcPr marL="36000" marR="9039" marT="36000" marB="0" anchor="b">
                    <a:lnL w="6350" cap="flat" cmpd="sng" algn="ctr">
                      <a:solidFill>
                        <a:srgbClr val="6A972D"/>
                      </a:solidFill>
                      <a:prstDash val="solid"/>
                      <a:round/>
                      <a:headEnd type="none" w="med" len="med"/>
                      <a:tailEnd type="none" w="med" len="med"/>
                    </a:lnL>
                    <a:lnR w="6350" cap="flat" cmpd="sng" algn="ctr">
                      <a:solidFill>
                        <a:srgbClr val="6A972D"/>
                      </a:solidFill>
                      <a:prstDash val="solid"/>
                      <a:round/>
                      <a:headEnd type="none" w="med" len="med"/>
                      <a:tailEnd type="none" w="med" len="med"/>
                    </a:lnR>
                    <a:lnT w="6350" cap="flat" cmpd="sng" algn="ctr">
                      <a:solidFill>
                        <a:srgbClr val="6A972D"/>
                      </a:solidFill>
                      <a:prstDash val="solid"/>
                      <a:round/>
                      <a:headEnd type="none" w="med" len="med"/>
                      <a:tailEnd type="none" w="med" len="med"/>
                    </a:lnT>
                    <a:lnB w="6350" cap="flat" cmpd="sng" algn="ctr">
                      <a:solidFill>
                        <a:srgbClr val="6A972D"/>
                      </a:solidFill>
                      <a:prstDash val="solid"/>
                      <a:round/>
                      <a:headEnd type="none" w="med" len="med"/>
                      <a:tailEnd type="none" w="med" len="med"/>
                    </a:lnB>
                    <a:solidFill>
                      <a:srgbClr val="6A972D"/>
                    </a:solidFill>
                  </a:tcPr>
                </a:tc>
                <a:tc hMerge="1">
                  <a:txBody>
                    <a:bodyPr/>
                    <a:lstStyle/>
                    <a:p>
                      <a:pPr algn="ctr" fontAlgn="b"/>
                      <a:endParaRPr lang="en-AU" sz="1000" b="0" i="0" u="none" strike="noStrike" dirty="0">
                        <a:solidFill>
                          <a:srgbClr val="FFFFFF"/>
                        </a:solidFill>
                        <a:effectLst/>
                        <a:latin typeface="Calibri"/>
                      </a:endParaRPr>
                    </a:p>
                  </a:txBody>
                  <a:tcPr marL="36000" marR="9039" marT="36000" marB="0" anchor="b">
                    <a:lnL w="6350" cap="flat" cmpd="sng" algn="ctr">
                      <a:solidFill>
                        <a:srgbClr val="6A972D"/>
                      </a:solidFill>
                      <a:prstDash val="solid"/>
                      <a:round/>
                      <a:headEnd type="none" w="med" len="med"/>
                      <a:tailEnd type="none" w="med" len="med"/>
                    </a:lnL>
                    <a:lnR w="6350" cap="flat" cmpd="sng" algn="ctr">
                      <a:solidFill>
                        <a:srgbClr val="6A972D"/>
                      </a:solidFill>
                      <a:prstDash val="solid"/>
                      <a:round/>
                      <a:headEnd type="none" w="med" len="med"/>
                      <a:tailEnd type="none" w="med" len="med"/>
                    </a:lnR>
                    <a:lnT w="6350" cap="flat" cmpd="sng" algn="ctr">
                      <a:solidFill>
                        <a:srgbClr val="6A972D"/>
                      </a:solidFill>
                      <a:prstDash val="solid"/>
                      <a:round/>
                      <a:headEnd type="none" w="med" len="med"/>
                      <a:tailEnd type="none" w="med" len="med"/>
                    </a:lnT>
                    <a:lnB w="6350" cap="flat" cmpd="sng" algn="ctr">
                      <a:solidFill>
                        <a:srgbClr val="6A972D"/>
                      </a:solidFill>
                      <a:prstDash val="solid"/>
                      <a:round/>
                      <a:headEnd type="none" w="med" len="med"/>
                      <a:tailEnd type="none" w="med" len="med"/>
                    </a:lnB>
                    <a:solidFill>
                      <a:srgbClr val="6A972D"/>
                    </a:solidFill>
                  </a:tcPr>
                </a:tc>
              </a:tr>
              <a:tr h="174145">
                <a:tc>
                  <a:txBody>
                    <a:bodyPr/>
                    <a:lstStyle/>
                    <a:p>
                      <a:pPr algn="ctr" fontAlgn="b"/>
                      <a:r>
                        <a:rPr lang="en-AU" sz="1100" b="1" u="none" strike="noStrike" dirty="0">
                          <a:solidFill>
                            <a:schemeClr val="bg1"/>
                          </a:solidFill>
                          <a:effectLst/>
                        </a:rPr>
                        <a:t> </a:t>
                      </a:r>
                      <a:r>
                        <a:rPr lang="en-AU" sz="1100" b="1" u="none" strike="noStrike" dirty="0" smtClean="0">
                          <a:solidFill>
                            <a:schemeClr val="bg1"/>
                          </a:solidFill>
                          <a:effectLst/>
                        </a:rPr>
                        <a:t>Rank</a:t>
                      </a:r>
                      <a:endParaRPr lang="en-AU" sz="1100" b="1" i="0" u="none" strike="noStrike" dirty="0">
                        <a:solidFill>
                          <a:schemeClr val="bg1"/>
                        </a:solidFill>
                        <a:effectLst/>
                        <a:latin typeface="Calibri"/>
                      </a:endParaRPr>
                    </a:p>
                  </a:txBody>
                  <a:tcPr marL="36000" marR="36000" marT="36000" marB="0" anchor="b">
                    <a:lnL w="6350" cap="flat" cmpd="sng" algn="ctr">
                      <a:solidFill>
                        <a:srgbClr val="6A972D"/>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6A972D"/>
                      </a:solidFill>
                      <a:prstDash val="solid"/>
                      <a:round/>
                      <a:headEnd type="none" w="med" len="med"/>
                      <a:tailEnd type="none" w="med" len="med"/>
                    </a:lnT>
                    <a:lnB w="6350" cap="flat" cmpd="sng" algn="ctr">
                      <a:solidFill>
                        <a:srgbClr val="6A972D"/>
                      </a:solidFill>
                      <a:prstDash val="solid"/>
                      <a:round/>
                      <a:headEnd type="none" w="med" len="med"/>
                      <a:tailEnd type="none" w="med" len="med"/>
                    </a:lnB>
                    <a:solidFill>
                      <a:srgbClr val="8CC63F"/>
                    </a:solidFill>
                  </a:tcPr>
                </a:tc>
                <a:tc>
                  <a:txBody>
                    <a:bodyPr/>
                    <a:lstStyle/>
                    <a:p>
                      <a:pPr algn="l" fontAlgn="b"/>
                      <a:r>
                        <a:rPr lang="en-AU" sz="1100" b="1" u="none" strike="noStrike" dirty="0" smtClean="0">
                          <a:solidFill>
                            <a:schemeClr val="bg1"/>
                          </a:solidFill>
                          <a:effectLst/>
                        </a:rPr>
                        <a:t>Name</a:t>
                      </a:r>
                      <a:endParaRPr lang="en-AU" sz="1100" b="1" i="0" u="none" strike="noStrike" dirty="0">
                        <a:solidFill>
                          <a:schemeClr val="bg1"/>
                        </a:solidFill>
                        <a:effectLst/>
                        <a:latin typeface="Calibri"/>
                      </a:endParaRPr>
                    </a:p>
                  </a:txBody>
                  <a:tcPr marL="36000" marR="36000" marT="3600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6A972D"/>
                      </a:solidFill>
                      <a:prstDash val="solid"/>
                      <a:round/>
                      <a:headEnd type="none" w="med" len="med"/>
                      <a:tailEnd type="none" w="med" len="med"/>
                    </a:lnT>
                    <a:lnB w="6350" cap="flat" cmpd="sng" algn="ctr">
                      <a:solidFill>
                        <a:srgbClr val="6A972D"/>
                      </a:solidFill>
                      <a:prstDash val="solid"/>
                      <a:round/>
                      <a:headEnd type="none" w="med" len="med"/>
                      <a:tailEnd type="none" w="med" len="med"/>
                    </a:lnB>
                    <a:solidFill>
                      <a:srgbClr val="8CC63F"/>
                    </a:solidFill>
                  </a:tcPr>
                </a:tc>
                <a:tc>
                  <a:txBody>
                    <a:bodyPr/>
                    <a:lstStyle/>
                    <a:p>
                      <a:pPr algn="r" fontAlgn="b"/>
                      <a:r>
                        <a:rPr lang="en-AU" sz="1100" b="1" i="0" u="none" strike="noStrike" dirty="0" smtClean="0">
                          <a:solidFill>
                            <a:schemeClr val="bg1"/>
                          </a:solidFill>
                          <a:effectLst/>
                          <a:latin typeface="Calibri"/>
                        </a:rPr>
                        <a:t>% Held</a:t>
                      </a:r>
                      <a:endParaRPr lang="en-AU" sz="1100" b="1" i="0" u="none" strike="noStrike" dirty="0">
                        <a:solidFill>
                          <a:schemeClr val="bg1"/>
                        </a:solidFill>
                        <a:effectLst/>
                        <a:latin typeface="Calibri"/>
                      </a:endParaRPr>
                    </a:p>
                  </a:txBody>
                  <a:tcPr marL="36000" marR="36000" marT="36000" marB="0" anchor="b">
                    <a:lnL w="6350" cap="flat" cmpd="sng" algn="ctr">
                      <a:noFill/>
                      <a:prstDash val="solid"/>
                      <a:round/>
                      <a:headEnd type="none" w="med" len="med"/>
                      <a:tailEnd type="none" w="med" len="med"/>
                    </a:lnL>
                    <a:lnR w="6350" cap="flat" cmpd="sng" algn="ctr">
                      <a:solidFill>
                        <a:srgbClr val="6A972D"/>
                      </a:solidFill>
                      <a:prstDash val="solid"/>
                      <a:round/>
                      <a:headEnd type="none" w="med" len="med"/>
                      <a:tailEnd type="none" w="med" len="med"/>
                    </a:lnR>
                    <a:lnT w="6350" cap="flat" cmpd="sng" algn="ctr">
                      <a:solidFill>
                        <a:srgbClr val="6A972D"/>
                      </a:solidFill>
                      <a:prstDash val="solid"/>
                      <a:round/>
                      <a:headEnd type="none" w="med" len="med"/>
                      <a:tailEnd type="none" w="med" len="med"/>
                    </a:lnT>
                    <a:lnB w="6350" cap="flat" cmpd="sng" algn="ctr">
                      <a:solidFill>
                        <a:srgbClr val="6A972D"/>
                      </a:solidFill>
                      <a:prstDash val="solid"/>
                      <a:round/>
                      <a:headEnd type="none" w="med" len="med"/>
                      <a:tailEnd type="none" w="med" len="med"/>
                    </a:lnB>
                    <a:solidFill>
                      <a:srgbClr val="8CC63F"/>
                    </a:solidFill>
                  </a:tcPr>
                </a:tc>
              </a:tr>
              <a:tr h="174145">
                <a:tc>
                  <a:txBody>
                    <a:bodyPr/>
                    <a:lstStyle/>
                    <a:p>
                      <a:pPr algn="ctr" fontAlgn="b"/>
                      <a:r>
                        <a:rPr lang="en-AU" sz="1100" b="1" u="none" strike="noStrike" dirty="0">
                          <a:effectLst/>
                        </a:rPr>
                        <a:t>1</a:t>
                      </a:r>
                      <a:endParaRPr lang="en-AU" sz="1100" b="1" i="0" u="none" strike="noStrike" dirty="0">
                        <a:solidFill>
                          <a:srgbClr val="000000"/>
                        </a:solidFill>
                        <a:effectLst/>
                        <a:latin typeface="Calibri"/>
                      </a:endParaRPr>
                    </a:p>
                  </a:txBody>
                  <a:tcPr marL="36000" marR="36000" marT="36000" marB="0" anchor="b">
                    <a:lnL w="6350" cap="flat" cmpd="sng" algn="ctr">
                      <a:solidFill>
                        <a:srgbClr val="6A972D"/>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6A972D"/>
                      </a:solidFill>
                      <a:prstDash val="solid"/>
                      <a:round/>
                      <a:headEnd type="none" w="med" len="med"/>
                      <a:tailEnd type="none" w="med" len="med"/>
                    </a:lnT>
                    <a:lnB w="6350" cap="flat" cmpd="sng" algn="ctr">
                      <a:noFill/>
                      <a:prstDash val="solid"/>
                      <a:round/>
                      <a:headEnd type="none" w="med" len="med"/>
                      <a:tailEnd type="none" w="med" len="med"/>
                    </a:lnB>
                    <a:solidFill>
                      <a:srgbClr val="E3ECD0"/>
                    </a:solidFill>
                  </a:tcPr>
                </a:tc>
                <a:tc>
                  <a:txBody>
                    <a:bodyPr/>
                    <a:lstStyle/>
                    <a:p>
                      <a:pPr algn="l" fontAlgn="b"/>
                      <a:r>
                        <a:rPr lang="en-AU" sz="1100" b="0" i="0" u="none" strike="noStrike">
                          <a:solidFill>
                            <a:srgbClr val="000000"/>
                          </a:solidFill>
                          <a:effectLst/>
                          <a:latin typeface="Calibri"/>
                        </a:rPr>
                        <a:t>Kumul Consolidated Holdings</a:t>
                      </a:r>
                    </a:p>
                  </a:txBody>
                  <a:tcPr marL="9525" marR="9525" marT="9525"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6A972D"/>
                      </a:solidFill>
                      <a:prstDash val="solid"/>
                      <a:round/>
                      <a:headEnd type="none" w="med" len="med"/>
                      <a:tailEnd type="none" w="med" len="med"/>
                    </a:lnT>
                    <a:lnB w="6350" cap="flat" cmpd="sng" algn="ctr">
                      <a:noFill/>
                      <a:prstDash val="solid"/>
                      <a:round/>
                      <a:headEnd type="none" w="med" len="med"/>
                      <a:tailEnd type="none" w="med" len="med"/>
                    </a:lnB>
                    <a:solidFill>
                      <a:srgbClr val="E3ECD0"/>
                    </a:solidFill>
                  </a:tcPr>
                </a:tc>
                <a:tc>
                  <a:txBody>
                    <a:bodyPr/>
                    <a:lstStyle/>
                    <a:p>
                      <a:pPr algn="r" fontAlgn="b"/>
                      <a:r>
                        <a:rPr lang="en-AU" sz="1100" b="0" i="0" u="none" strike="noStrike">
                          <a:solidFill>
                            <a:srgbClr val="000000"/>
                          </a:solidFill>
                          <a:effectLst/>
                          <a:latin typeface="Calibri"/>
                        </a:rPr>
                        <a:t>18.0%</a:t>
                      </a:r>
                    </a:p>
                  </a:txBody>
                  <a:tcPr marL="9525" marR="9525" marT="9525" marB="0" anchor="b">
                    <a:lnL w="6350" cap="flat" cmpd="sng" algn="ctr">
                      <a:noFill/>
                      <a:prstDash val="solid"/>
                      <a:round/>
                      <a:headEnd type="none" w="med" len="med"/>
                      <a:tailEnd type="none" w="med" len="med"/>
                    </a:lnL>
                    <a:lnR w="6350" cap="flat" cmpd="sng" algn="ctr">
                      <a:solidFill>
                        <a:srgbClr val="6A972D"/>
                      </a:solidFill>
                      <a:prstDash val="solid"/>
                      <a:round/>
                      <a:headEnd type="none" w="med" len="med"/>
                      <a:tailEnd type="none" w="med" len="med"/>
                    </a:lnR>
                    <a:lnT w="6350" cap="flat" cmpd="sng" algn="ctr">
                      <a:solidFill>
                        <a:srgbClr val="6A972D"/>
                      </a:solidFill>
                      <a:prstDash val="solid"/>
                      <a:round/>
                      <a:headEnd type="none" w="med" len="med"/>
                      <a:tailEnd type="none" w="med" len="med"/>
                    </a:lnT>
                    <a:lnB w="6350" cap="flat" cmpd="sng" algn="ctr">
                      <a:noFill/>
                      <a:prstDash val="solid"/>
                      <a:round/>
                      <a:headEnd type="none" w="med" len="med"/>
                      <a:tailEnd type="none" w="med" len="med"/>
                    </a:lnB>
                    <a:solidFill>
                      <a:srgbClr val="E3ECD0"/>
                    </a:solidFill>
                  </a:tcPr>
                </a:tc>
              </a:tr>
              <a:tr h="180774">
                <a:tc>
                  <a:txBody>
                    <a:bodyPr/>
                    <a:lstStyle/>
                    <a:p>
                      <a:pPr algn="ctr" fontAlgn="b"/>
                      <a:r>
                        <a:rPr lang="en-AU" sz="1100" b="1" u="none" strike="noStrike" dirty="0">
                          <a:effectLst/>
                        </a:rPr>
                        <a:t>2</a:t>
                      </a:r>
                      <a:endParaRPr lang="en-AU" sz="1100" b="1" i="0" u="none" strike="noStrike" dirty="0">
                        <a:solidFill>
                          <a:srgbClr val="000000"/>
                        </a:solidFill>
                        <a:effectLst/>
                        <a:latin typeface="Calibri"/>
                      </a:endParaRPr>
                    </a:p>
                  </a:txBody>
                  <a:tcPr marL="36000" marR="36000" marT="36000" marB="0" anchor="b">
                    <a:lnL w="6350" cap="flat" cmpd="sng" algn="ctr">
                      <a:solidFill>
                        <a:srgbClr val="6A972D"/>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rgbClr val="E3ECD0"/>
                    </a:solidFill>
                  </a:tcPr>
                </a:tc>
                <a:tc>
                  <a:txBody>
                    <a:bodyPr/>
                    <a:lstStyle/>
                    <a:p>
                      <a:pPr algn="l" fontAlgn="b"/>
                      <a:r>
                        <a:rPr lang="en-AU" sz="1100" b="0" i="0" u="none" strike="noStrike">
                          <a:solidFill>
                            <a:srgbClr val="000000"/>
                          </a:solidFill>
                          <a:effectLst/>
                          <a:latin typeface="Calibri"/>
                        </a:rPr>
                        <a:t>Nambawan Super Ltd</a:t>
                      </a:r>
                    </a:p>
                  </a:txBody>
                  <a:tcPr marL="9525" marR="9525" marT="9525"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rgbClr val="E3ECD0"/>
                    </a:solidFill>
                  </a:tcPr>
                </a:tc>
                <a:tc>
                  <a:txBody>
                    <a:bodyPr/>
                    <a:lstStyle/>
                    <a:p>
                      <a:pPr algn="r" fontAlgn="b"/>
                      <a:r>
                        <a:rPr lang="en-AU" sz="1100" b="0" i="0" u="none" strike="noStrike">
                          <a:solidFill>
                            <a:srgbClr val="000000"/>
                          </a:solidFill>
                          <a:effectLst/>
                          <a:latin typeface="Calibri"/>
                        </a:rPr>
                        <a:t>12.3%</a:t>
                      </a:r>
                    </a:p>
                  </a:txBody>
                  <a:tcPr marL="9525" marR="9525" marT="9525" marB="0" anchor="b">
                    <a:lnL w="6350" cap="flat" cmpd="sng" algn="ctr">
                      <a:noFill/>
                      <a:prstDash val="solid"/>
                      <a:round/>
                      <a:headEnd type="none" w="med" len="med"/>
                      <a:tailEnd type="none" w="med" len="med"/>
                    </a:lnL>
                    <a:lnR w="6350" cap="flat" cmpd="sng" algn="ctr">
                      <a:solidFill>
                        <a:srgbClr val="6A972D"/>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rgbClr val="E3ECD0"/>
                    </a:solidFill>
                  </a:tcPr>
                </a:tc>
              </a:tr>
              <a:tr h="180774">
                <a:tc>
                  <a:txBody>
                    <a:bodyPr/>
                    <a:lstStyle/>
                    <a:p>
                      <a:pPr algn="ctr" fontAlgn="b"/>
                      <a:r>
                        <a:rPr lang="en-AU" sz="1100" b="1" u="none" strike="noStrike" dirty="0">
                          <a:effectLst/>
                        </a:rPr>
                        <a:t>3</a:t>
                      </a:r>
                      <a:endParaRPr lang="en-AU" sz="1100" b="1" i="0" u="none" strike="noStrike" dirty="0">
                        <a:solidFill>
                          <a:srgbClr val="000000"/>
                        </a:solidFill>
                        <a:effectLst/>
                        <a:latin typeface="Calibri"/>
                      </a:endParaRPr>
                    </a:p>
                  </a:txBody>
                  <a:tcPr marL="36000" marR="36000" marT="36000" marB="0" anchor="b">
                    <a:lnL w="6350" cap="flat" cmpd="sng" algn="ctr">
                      <a:solidFill>
                        <a:srgbClr val="6A972D"/>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rgbClr val="E3ECD0"/>
                    </a:solidFill>
                  </a:tcPr>
                </a:tc>
                <a:tc>
                  <a:txBody>
                    <a:bodyPr/>
                    <a:lstStyle/>
                    <a:p>
                      <a:pPr algn="l" fontAlgn="b"/>
                      <a:r>
                        <a:rPr lang="en-AU" sz="1100" b="0" i="0" u="none" strike="noStrike">
                          <a:solidFill>
                            <a:srgbClr val="000000"/>
                          </a:solidFill>
                          <a:effectLst/>
                          <a:latin typeface="Calibri"/>
                        </a:rPr>
                        <a:t>Petroleum Resources Kutubu Ltd</a:t>
                      </a:r>
                    </a:p>
                  </a:txBody>
                  <a:tcPr marL="9525" marR="9525" marT="9525"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rgbClr val="E3ECD0"/>
                    </a:solidFill>
                  </a:tcPr>
                </a:tc>
                <a:tc>
                  <a:txBody>
                    <a:bodyPr/>
                    <a:lstStyle/>
                    <a:p>
                      <a:pPr algn="r" fontAlgn="b"/>
                      <a:r>
                        <a:rPr lang="en-AU" sz="1100" b="0" i="0" u="none" strike="noStrike" dirty="0">
                          <a:solidFill>
                            <a:srgbClr val="000000"/>
                          </a:solidFill>
                          <a:effectLst/>
                          <a:latin typeface="Calibri"/>
                        </a:rPr>
                        <a:t>9.9%</a:t>
                      </a:r>
                    </a:p>
                  </a:txBody>
                  <a:tcPr marL="9525" marR="9525" marT="9525" marB="0" anchor="b">
                    <a:lnL w="6350" cap="flat" cmpd="sng" algn="ctr">
                      <a:noFill/>
                      <a:prstDash val="solid"/>
                      <a:round/>
                      <a:headEnd type="none" w="med" len="med"/>
                      <a:tailEnd type="none" w="med" len="med"/>
                    </a:lnL>
                    <a:lnR w="6350" cap="flat" cmpd="sng" algn="ctr">
                      <a:solidFill>
                        <a:srgbClr val="6A972D"/>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rgbClr val="E3ECD0"/>
                    </a:solidFill>
                  </a:tcPr>
                </a:tc>
              </a:tr>
              <a:tr h="180774">
                <a:tc>
                  <a:txBody>
                    <a:bodyPr/>
                    <a:lstStyle/>
                    <a:p>
                      <a:pPr algn="ctr" fontAlgn="b"/>
                      <a:r>
                        <a:rPr lang="en-AU" sz="1100" b="1" u="none" strike="noStrike" dirty="0">
                          <a:effectLst/>
                        </a:rPr>
                        <a:t>4</a:t>
                      </a:r>
                      <a:endParaRPr lang="en-AU" sz="1100" b="1" i="0" u="none" strike="noStrike" dirty="0">
                        <a:solidFill>
                          <a:srgbClr val="000000"/>
                        </a:solidFill>
                        <a:effectLst/>
                        <a:latin typeface="Calibri"/>
                      </a:endParaRPr>
                    </a:p>
                  </a:txBody>
                  <a:tcPr marL="36000" marR="36000" marT="36000" marB="0" anchor="b">
                    <a:lnL w="6350" cap="flat" cmpd="sng" algn="ctr">
                      <a:solidFill>
                        <a:srgbClr val="6A972D"/>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rgbClr val="E3ECD0"/>
                    </a:solidFill>
                  </a:tcPr>
                </a:tc>
                <a:tc>
                  <a:txBody>
                    <a:bodyPr/>
                    <a:lstStyle/>
                    <a:p>
                      <a:pPr algn="l" fontAlgn="b"/>
                      <a:r>
                        <a:rPr lang="en-AU" sz="1100" b="0" i="0" u="none" strike="noStrike">
                          <a:solidFill>
                            <a:srgbClr val="000000"/>
                          </a:solidFill>
                          <a:effectLst/>
                          <a:latin typeface="Calibri"/>
                        </a:rPr>
                        <a:t>National Superannuation Fund Ltd</a:t>
                      </a:r>
                    </a:p>
                  </a:txBody>
                  <a:tcPr marL="9525" marR="9525" marT="9525"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rgbClr val="E3ECD0"/>
                    </a:solidFill>
                  </a:tcPr>
                </a:tc>
                <a:tc>
                  <a:txBody>
                    <a:bodyPr/>
                    <a:lstStyle/>
                    <a:p>
                      <a:pPr algn="r" fontAlgn="b"/>
                      <a:r>
                        <a:rPr lang="en-AU" sz="1100" b="0" i="0" u="none" strike="noStrike">
                          <a:solidFill>
                            <a:srgbClr val="000000"/>
                          </a:solidFill>
                          <a:effectLst/>
                          <a:latin typeface="Calibri"/>
                        </a:rPr>
                        <a:t>9.7%</a:t>
                      </a:r>
                    </a:p>
                  </a:txBody>
                  <a:tcPr marL="9525" marR="9525" marT="9525" marB="0" anchor="b">
                    <a:lnL w="6350" cap="flat" cmpd="sng" algn="ctr">
                      <a:noFill/>
                      <a:prstDash val="solid"/>
                      <a:round/>
                      <a:headEnd type="none" w="med" len="med"/>
                      <a:tailEnd type="none" w="med" len="med"/>
                    </a:lnL>
                    <a:lnR w="6350" cap="flat" cmpd="sng" algn="ctr">
                      <a:solidFill>
                        <a:srgbClr val="6A972D"/>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rgbClr val="E3ECD0"/>
                    </a:solidFill>
                  </a:tcPr>
                </a:tc>
              </a:tr>
              <a:tr h="180774">
                <a:tc>
                  <a:txBody>
                    <a:bodyPr/>
                    <a:lstStyle/>
                    <a:p>
                      <a:pPr algn="ctr" fontAlgn="b"/>
                      <a:r>
                        <a:rPr lang="en-AU" sz="1100" b="1" u="none" strike="noStrike" dirty="0">
                          <a:effectLst/>
                        </a:rPr>
                        <a:t>5</a:t>
                      </a:r>
                      <a:endParaRPr lang="en-AU" sz="1100" b="1" i="0" u="none" strike="noStrike" dirty="0">
                        <a:solidFill>
                          <a:srgbClr val="000000"/>
                        </a:solidFill>
                        <a:effectLst/>
                        <a:latin typeface="Calibri"/>
                      </a:endParaRPr>
                    </a:p>
                  </a:txBody>
                  <a:tcPr marL="36000" marR="36000" marT="36000" marB="0" anchor="b">
                    <a:lnL w="6350" cap="flat" cmpd="sng" algn="ctr">
                      <a:solidFill>
                        <a:srgbClr val="6A972D"/>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rgbClr val="E3ECD0"/>
                    </a:solidFill>
                  </a:tcPr>
                </a:tc>
                <a:tc>
                  <a:txBody>
                    <a:bodyPr/>
                    <a:lstStyle/>
                    <a:p>
                      <a:pPr algn="l" fontAlgn="b"/>
                      <a:r>
                        <a:rPr lang="en-AU" sz="1100" b="0" i="0" u="none" strike="noStrike">
                          <a:solidFill>
                            <a:srgbClr val="000000"/>
                          </a:solidFill>
                          <a:effectLst/>
                          <a:latin typeface="Calibri"/>
                        </a:rPr>
                        <a:t>Credit Corporation (PNG) Ltd</a:t>
                      </a:r>
                    </a:p>
                  </a:txBody>
                  <a:tcPr marL="9525" marR="9525" marT="9525"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rgbClr val="E3ECD0"/>
                    </a:solidFill>
                  </a:tcPr>
                </a:tc>
                <a:tc>
                  <a:txBody>
                    <a:bodyPr/>
                    <a:lstStyle/>
                    <a:p>
                      <a:pPr algn="r" fontAlgn="b"/>
                      <a:r>
                        <a:rPr lang="en-AU" sz="1100" b="0" i="0" u="none" strike="noStrike">
                          <a:solidFill>
                            <a:srgbClr val="000000"/>
                          </a:solidFill>
                          <a:effectLst/>
                          <a:latin typeface="Calibri"/>
                        </a:rPr>
                        <a:t>7.1%</a:t>
                      </a:r>
                    </a:p>
                  </a:txBody>
                  <a:tcPr marL="9525" marR="9525" marT="9525" marB="0" anchor="b">
                    <a:lnL w="6350" cap="flat" cmpd="sng" algn="ctr">
                      <a:noFill/>
                      <a:prstDash val="solid"/>
                      <a:round/>
                      <a:headEnd type="none" w="med" len="med"/>
                      <a:tailEnd type="none" w="med" len="med"/>
                    </a:lnL>
                    <a:lnR w="6350" cap="flat" cmpd="sng" algn="ctr">
                      <a:solidFill>
                        <a:srgbClr val="6A972D"/>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rgbClr val="E3ECD0"/>
                    </a:solidFill>
                  </a:tcPr>
                </a:tc>
              </a:tr>
              <a:tr h="180774">
                <a:tc>
                  <a:txBody>
                    <a:bodyPr/>
                    <a:lstStyle/>
                    <a:p>
                      <a:pPr algn="ctr" fontAlgn="b"/>
                      <a:r>
                        <a:rPr lang="en-AU" sz="1100" b="1" u="none" strike="noStrike" dirty="0">
                          <a:effectLst/>
                        </a:rPr>
                        <a:t>6</a:t>
                      </a:r>
                      <a:endParaRPr lang="en-AU" sz="1100" b="1" i="0" u="none" strike="noStrike" dirty="0">
                        <a:solidFill>
                          <a:srgbClr val="000000"/>
                        </a:solidFill>
                        <a:effectLst/>
                        <a:latin typeface="Calibri"/>
                      </a:endParaRPr>
                    </a:p>
                  </a:txBody>
                  <a:tcPr marL="36000" marR="36000" marT="36000" marB="0" anchor="b">
                    <a:lnL w="6350" cap="flat" cmpd="sng" algn="ctr">
                      <a:solidFill>
                        <a:srgbClr val="6A972D"/>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rgbClr val="E3ECD0"/>
                    </a:solidFill>
                  </a:tcPr>
                </a:tc>
                <a:tc>
                  <a:txBody>
                    <a:bodyPr/>
                    <a:lstStyle/>
                    <a:p>
                      <a:pPr algn="l" fontAlgn="b"/>
                      <a:r>
                        <a:rPr lang="en-AU" sz="1100" b="0" i="0" u="none" strike="noStrike">
                          <a:solidFill>
                            <a:srgbClr val="000000"/>
                          </a:solidFill>
                          <a:effectLst/>
                          <a:latin typeface="Calibri"/>
                        </a:rPr>
                        <a:t>Motor Vehicles Insurance Ltd</a:t>
                      </a:r>
                    </a:p>
                  </a:txBody>
                  <a:tcPr marL="9525" marR="9525" marT="9525"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rgbClr val="E3ECD0"/>
                    </a:solidFill>
                  </a:tcPr>
                </a:tc>
                <a:tc>
                  <a:txBody>
                    <a:bodyPr/>
                    <a:lstStyle/>
                    <a:p>
                      <a:pPr algn="r" fontAlgn="b"/>
                      <a:r>
                        <a:rPr lang="en-AU" sz="1100" b="0" i="0" u="none" strike="noStrike">
                          <a:solidFill>
                            <a:srgbClr val="000000"/>
                          </a:solidFill>
                          <a:effectLst/>
                          <a:latin typeface="Calibri"/>
                        </a:rPr>
                        <a:t>6.7%</a:t>
                      </a:r>
                    </a:p>
                  </a:txBody>
                  <a:tcPr marL="9525" marR="9525" marT="9525" marB="0" anchor="b">
                    <a:lnL w="6350" cap="flat" cmpd="sng" algn="ctr">
                      <a:noFill/>
                      <a:prstDash val="solid"/>
                      <a:round/>
                      <a:headEnd type="none" w="med" len="med"/>
                      <a:tailEnd type="none" w="med" len="med"/>
                    </a:lnL>
                    <a:lnR w="6350" cap="flat" cmpd="sng" algn="ctr">
                      <a:solidFill>
                        <a:srgbClr val="6A972D"/>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rgbClr val="E3ECD0"/>
                    </a:solidFill>
                  </a:tcPr>
                </a:tc>
              </a:tr>
              <a:tr h="180774">
                <a:tc>
                  <a:txBody>
                    <a:bodyPr/>
                    <a:lstStyle/>
                    <a:p>
                      <a:pPr algn="ctr" fontAlgn="b"/>
                      <a:r>
                        <a:rPr lang="en-AU" sz="1100" b="1" u="none" strike="noStrike" dirty="0">
                          <a:effectLst/>
                        </a:rPr>
                        <a:t>7</a:t>
                      </a:r>
                      <a:endParaRPr lang="en-AU" sz="1100" b="1" i="0" u="none" strike="noStrike" dirty="0">
                        <a:solidFill>
                          <a:srgbClr val="000000"/>
                        </a:solidFill>
                        <a:effectLst/>
                        <a:latin typeface="Calibri"/>
                      </a:endParaRPr>
                    </a:p>
                  </a:txBody>
                  <a:tcPr marL="36000" marR="36000" marT="36000" marB="0" anchor="b">
                    <a:lnL w="6350" cap="flat" cmpd="sng" algn="ctr">
                      <a:solidFill>
                        <a:srgbClr val="6A972D"/>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rgbClr val="E3ECD0"/>
                    </a:solidFill>
                  </a:tcPr>
                </a:tc>
                <a:tc>
                  <a:txBody>
                    <a:bodyPr/>
                    <a:lstStyle/>
                    <a:p>
                      <a:pPr algn="l" fontAlgn="b"/>
                      <a:r>
                        <a:rPr lang="en-US" sz="1100" b="0" i="0" u="none" strike="noStrike">
                          <a:solidFill>
                            <a:srgbClr val="000000"/>
                          </a:solidFill>
                          <a:effectLst/>
                          <a:latin typeface="Calibri"/>
                        </a:rPr>
                        <a:t>PNG Sustainable Development Program Ltd</a:t>
                      </a:r>
                    </a:p>
                  </a:txBody>
                  <a:tcPr marL="9525" marR="9525" marT="9525"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rgbClr val="E3ECD0"/>
                    </a:solidFill>
                  </a:tcPr>
                </a:tc>
                <a:tc>
                  <a:txBody>
                    <a:bodyPr/>
                    <a:lstStyle/>
                    <a:p>
                      <a:pPr algn="r" fontAlgn="b"/>
                      <a:r>
                        <a:rPr lang="en-AU" sz="1100" b="0" i="0" u="none" strike="noStrike" dirty="0">
                          <a:solidFill>
                            <a:srgbClr val="000000"/>
                          </a:solidFill>
                          <a:effectLst/>
                          <a:latin typeface="Calibri"/>
                        </a:rPr>
                        <a:t>6.2%</a:t>
                      </a:r>
                    </a:p>
                  </a:txBody>
                  <a:tcPr marL="9525" marR="9525" marT="9525" marB="0" anchor="b">
                    <a:lnL w="6350" cap="flat" cmpd="sng" algn="ctr">
                      <a:noFill/>
                      <a:prstDash val="solid"/>
                      <a:round/>
                      <a:headEnd type="none" w="med" len="med"/>
                      <a:tailEnd type="none" w="med" len="med"/>
                    </a:lnL>
                    <a:lnR w="6350" cap="flat" cmpd="sng" algn="ctr">
                      <a:solidFill>
                        <a:srgbClr val="6A972D"/>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rgbClr val="E3ECD0"/>
                    </a:solidFill>
                  </a:tcPr>
                </a:tc>
              </a:tr>
              <a:tr h="180774">
                <a:tc>
                  <a:txBody>
                    <a:bodyPr/>
                    <a:lstStyle/>
                    <a:p>
                      <a:pPr algn="ctr" fontAlgn="b"/>
                      <a:r>
                        <a:rPr lang="en-AU" sz="1100" b="1" u="none" strike="noStrike" dirty="0">
                          <a:effectLst/>
                        </a:rPr>
                        <a:t>8</a:t>
                      </a:r>
                      <a:endParaRPr lang="en-AU" sz="1100" b="1" i="0" u="none" strike="noStrike" dirty="0">
                        <a:solidFill>
                          <a:srgbClr val="000000"/>
                        </a:solidFill>
                        <a:effectLst/>
                        <a:latin typeface="Calibri"/>
                      </a:endParaRPr>
                    </a:p>
                  </a:txBody>
                  <a:tcPr marL="36000" marR="36000" marT="36000" marB="0" anchor="b">
                    <a:lnL w="6350" cap="flat" cmpd="sng" algn="ctr">
                      <a:solidFill>
                        <a:srgbClr val="6A972D"/>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rgbClr val="E3ECD0"/>
                    </a:solidFill>
                  </a:tcPr>
                </a:tc>
                <a:tc>
                  <a:txBody>
                    <a:bodyPr/>
                    <a:lstStyle/>
                    <a:p>
                      <a:pPr algn="l" fontAlgn="b"/>
                      <a:r>
                        <a:rPr lang="en-US" sz="1100" b="0" i="0" u="none" strike="noStrike" dirty="0" smtClean="0">
                          <a:solidFill>
                            <a:srgbClr val="000000"/>
                          </a:solidFill>
                          <a:effectLst/>
                          <a:latin typeface="Calibri"/>
                        </a:rPr>
                        <a:t>Fiji National</a:t>
                      </a:r>
                      <a:r>
                        <a:rPr lang="en-US" sz="1100" b="0" i="0" u="none" strike="noStrike" baseline="0" dirty="0" smtClean="0">
                          <a:solidFill>
                            <a:srgbClr val="000000"/>
                          </a:solidFill>
                          <a:effectLst/>
                          <a:latin typeface="Calibri"/>
                        </a:rPr>
                        <a:t> </a:t>
                      </a:r>
                      <a:r>
                        <a:rPr lang="en-US" sz="1100" b="0" i="0" u="none" strike="noStrike" baseline="0" smtClean="0">
                          <a:solidFill>
                            <a:srgbClr val="000000"/>
                          </a:solidFill>
                          <a:effectLst/>
                          <a:latin typeface="Calibri"/>
                        </a:rPr>
                        <a:t>Provident Fund Board</a:t>
                      </a:r>
                      <a:endParaRPr lang="en-US" sz="1100" b="0" i="0" u="none" strike="noStrike" dirty="0">
                        <a:solidFill>
                          <a:srgbClr val="000000"/>
                        </a:solidFill>
                        <a:effectLst/>
                        <a:latin typeface="Calibri"/>
                      </a:endParaRPr>
                    </a:p>
                  </a:txBody>
                  <a:tcPr marL="9525" marR="9525" marT="9525"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rgbClr val="E3ECD0"/>
                    </a:solidFill>
                  </a:tcPr>
                </a:tc>
                <a:tc>
                  <a:txBody>
                    <a:bodyPr/>
                    <a:lstStyle/>
                    <a:p>
                      <a:pPr algn="r" fontAlgn="b"/>
                      <a:r>
                        <a:rPr lang="en-AU" sz="1100" b="0" i="0" u="none" strike="noStrike" dirty="0" smtClean="0">
                          <a:solidFill>
                            <a:srgbClr val="000000"/>
                          </a:solidFill>
                          <a:effectLst/>
                          <a:latin typeface="Calibri"/>
                        </a:rPr>
                        <a:t>4.1%</a:t>
                      </a:r>
                      <a:endParaRPr lang="en-AU" sz="1100" b="0" i="0" u="none" strike="noStrike" dirty="0">
                        <a:solidFill>
                          <a:srgbClr val="000000"/>
                        </a:solidFill>
                        <a:effectLst/>
                        <a:latin typeface="Calibri"/>
                      </a:endParaRPr>
                    </a:p>
                  </a:txBody>
                  <a:tcPr marL="9525" marR="9525" marT="9525" marB="0" anchor="b">
                    <a:lnL w="6350" cap="flat" cmpd="sng" algn="ctr">
                      <a:noFill/>
                      <a:prstDash val="solid"/>
                      <a:round/>
                      <a:headEnd type="none" w="med" len="med"/>
                      <a:tailEnd type="none" w="med" len="med"/>
                    </a:lnL>
                    <a:lnR w="6350" cap="flat" cmpd="sng" algn="ctr">
                      <a:solidFill>
                        <a:srgbClr val="6A972D"/>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rgbClr val="E3ECD0"/>
                    </a:solidFill>
                  </a:tcPr>
                </a:tc>
              </a:tr>
              <a:tr h="180774">
                <a:tc>
                  <a:txBody>
                    <a:bodyPr/>
                    <a:lstStyle/>
                    <a:p>
                      <a:pPr algn="ctr" fontAlgn="b"/>
                      <a:r>
                        <a:rPr lang="en-AU" sz="1100" b="1" u="none" strike="noStrike" dirty="0">
                          <a:effectLst/>
                        </a:rPr>
                        <a:t>9</a:t>
                      </a:r>
                      <a:endParaRPr lang="en-AU" sz="1100" b="1" i="0" u="none" strike="noStrike" dirty="0">
                        <a:solidFill>
                          <a:srgbClr val="000000"/>
                        </a:solidFill>
                        <a:effectLst/>
                        <a:latin typeface="Calibri"/>
                      </a:endParaRPr>
                    </a:p>
                  </a:txBody>
                  <a:tcPr marL="36000" marR="36000" marT="36000" marB="0" anchor="b">
                    <a:lnL w="6350" cap="flat" cmpd="sng" algn="ctr">
                      <a:solidFill>
                        <a:srgbClr val="6A972D"/>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rgbClr val="E3ECD0"/>
                    </a:solidFill>
                  </a:tcPr>
                </a:tc>
                <a:tc>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en-US" sz="1100" b="0" i="0" u="none" strike="noStrike" dirty="0" smtClean="0">
                          <a:solidFill>
                            <a:srgbClr val="000000"/>
                          </a:solidFill>
                          <a:effectLst/>
                          <a:latin typeface="+mn-lt"/>
                        </a:rPr>
                        <a:t>Teachers Savings &amp; Loan Society Ltd.</a:t>
                      </a:r>
                    </a:p>
                  </a:txBody>
                  <a:tcPr marL="9525" marR="9525" marT="9525"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rgbClr val="E3ECD0"/>
                    </a:solidFill>
                  </a:tcPr>
                </a:tc>
                <a:tc>
                  <a:txBody>
                    <a:bodyPr/>
                    <a:lstStyle/>
                    <a:p>
                      <a:pPr algn="r" fontAlgn="b"/>
                      <a:r>
                        <a:rPr lang="en-AU" sz="1100" b="0" i="0" u="none" strike="noStrike" dirty="0" smtClean="0">
                          <a:solidFill>
                            <a:srgbClr val="000000"/>
                          </a:solidFill>
                          <a:effectLst/>
                          <a:latin typeface="Calibri"/>
                        </a:rPr>
                        <a:t>3.3%</a:t>
                      </a:r>
                      <a:endParaRPr lang="en-AU" sz="1100" b="0" i="0" u="none" strike="noStrike" dirty="0">
                        <a:solidFill>
                          <a:srgbClr val="000000"/>
                        </a:solidFill>
                        <a:effectLst/>
                        <a:latin typeface="Calibri"/>
                      </a:endParaRPr>
                    </a:p>
                  </a:txBody>
                  <a:tcPr marL="9525" marR="9525" marT="9525" marB="0" anchor="b">
                    <a:lnL w="6350" cap="flat" cmpd="sng" algn="ctr">
                      <a:noFill/>
                      <a:prstDash val="solid"/>
                      <a:round/>
                      <a:headEnd type="none" w="med" len="med"/>
                      <a:tailEnd type="none" w="med" len="med"/>
                    </a:lnL>
                    <a:lnR w="6350" cap="flat" cmpd="sng" algn="ctr">
                      <a:solidFill>
                        <a:srgbClr val="6A972D"/>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rgbClr val="E3ECD0"/>
                    </a:solidFill>
                  </a:tcPr>
                </a:tc>
              </a:tr>
              <a:tr h="130028">
                <a:tc>
                  <a:txBody>
                    <a:bodyPr/>
                    <a:lstStyle/>
                    <a:p>
                      <a:pPr algn="ctr" fontAlgn="b"/>
                      <a:r>
                        <a:rPr lang="en-AU" sz="1100" b="1" u="none" strike="noStrike" dirty="0">
                          <a:effectLst/>
                        </a:rPr>
                        <a:t>10</a:t>
                      </a:r>
                      <a:endParaRPr lang="en-AU" sz="1100" b="1" i="0" u="none" strike="noStrike" dirty="0">
                        <a:solidFill>
                          <a:srgbClr val="000000"/>
                        </a:solidFill>
                        <a:effectLst/>
                        <a:latin typeface="Calibri"/>
                      </a:endParaRPr>
                    </a:p>
                  </a:txBody>
                  <a:tcPr marL="36000" marR="36000" marT="36000" marB="0" anchor="b">
                    <a:lnL w="6350" cap="flat" cmpd="sng" algn="ctr">
                      <a:solidFill>
                        <a:srgbClr val="6A972D"/>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6A972D"/>
                      </a:solidFill>
                      <a:prstDash val="solid"/>
                      <a:round/>
                      <a:headEnd type="none" w="med" len="med"/>
                      <a:tailEnd type="none" w="med" len="med"/>
                    </a:lnB>
                    <a:solidFill>
                      <a:srgbClr val="E3ECD0"/>
                    </a:solidFill>
                  </a:tcPr>
                </a:tc>
                <a:tc>
                  <a:txBody>
                    <a:bodyPr/>
                    <a:lstStyle/>
                    <a:p>
                      <a:pPr algn="l" fontAlgn="b"/>
                      <a:r>
                        <a:rPr lang="en-US" sz="1100" b="0" i="0" u="none" strike="noStrike" dirty="0" smtClean="0">
                          <a:solidFill>
                            <a:srgbClr val="000000"/>
                          </a:solidFill>
                          <a:effectLst/>
                          <a:latin typeface="Calibri"/>
                        </a:rPr>
                        <a:t>Comrade Trustee</a:t>
                      </a:r>
                      <a:r>
                        <a:rPr lang="en-US" sz="1100" b="0" i="0" u="none" strike="noStrike" baseline="0" dirty="0" smtClean="0">
                          <a:solidFill>
                            <a:srgbClr val="000000"/>
                          </a:solidFill>
                          <a:effectLst/>
                          <a:latin typeface="Calibri"/>
                        </a:rPr>
                        <a:t> Services  Ltd</a:t>
                      </a:r>
                      <a:endParaRPr lang="en-US" sz="1100" b="0" i="0" u="none" strike="noStrike" dirty="0">
                        <a:solidFill>
                          <a:srgbClr val="000000"/>
                        </a:solidFill>
                        <a:effectLst/>
                        <a:latin typeface="Calibri"/>
                      </a:endParaRPr>
                    </a:p>
                  </a:txBody>
                  <a:tcPr marL="9525" marR="9525" marT="9525"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6A972D"/>
                      </a:solidFill>
                      <a:prstDash val="solid"/>
                      <a:round/>
                      <a:headEnd type="none" w="med" len="med"/>
                      <a:tailEnd type="none" w="med" len="med"/>
                    </a:lnB>
                    <a:solidFill>
                      <a:srgbClr val="E3ECD0"/>
                    </a:solidFill>
                  </a:tcPr>
                </a:tc>
                <a:tc>
                  <a:txBody>
                    <a:bodyPr/>
                    <a:lstStyle/>
                    <a:p>
                      <a:pPr algn="r" fontAlgn="b"/>
                      <a:r>
                        <a:rPr lang="en-AU" sz="1100" b="0" i="0" u="none" strike="noStrike" dirty="0" smtClean="0">
                          <a:solidFill>
                            <a:srgbClr val="000000"/>
                          </a:solidFill>
                          <a:effectLst/>
                          <a:latin typeface="Calibri"/>
                        </a:rPr>
                        <a:t>3.1%</a:t>
                      </a:r>
                      <a:endParaRPr lang="en-AU" sz="1100" b="0" i="0" u="none" strike="noStrike" dirty="0">
                        <a:solidFill>
                          <a:srgbClr val="000000"/>
                        </a:solidFill>
                        <a:effectLst/>
                        <a:latin typeface="Calibri"/>
                      </a:endParaRPr>
                    </a:p>
                  </a:txBody>
                  <a:tcPr marL="9525" marR="9525" marT="9525" marB="0" anchor="b">
                    <a:lnL w="6350" cap="flat" cmpd="sng" algn="ctr">
                      <a:noFill/>
                      <a:prstDash val="solid"/>
                      <a:round/>
                      <a:headEnd type="none" w="med" len="med"/>
                      <a:tailEnd type="none" w="med" len="med"/>
                    </a:lnL>
                    <a:lnR w="6350" cap="flat" cmpd="sng" algn="ctr">
                      <a:solidFill>
                        <a:srgbClr val="6A972D"/>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6A972D"/>
                      </a:solidFill>
                      <a:prstDash val="solid"/>
                      <a:round/>
                      <a:headEnd type="none" w="med" len="med"/>
                      <a:tailEnd type="none" w="med" len="med"/>
                    </a:lnB>
                    <a:solidFill>
                      <a:srgbClr val="E3ECD0"/>
                    </a:solidFill>
                  </a:tcPr>
                </a:tc>
              </a:tr>
            </a:tbl>
          </a:graphicData>
        </a:graphic>
      </p:graphicFrame>
    </p:spTree>
    <p:extLst>
      <p:ext uri="{BB962C8B-B14F-4D97-AF65-F5344CB8AC3E}">
        <p14:creationId xmlns:p14="http://schemas.microsoft.com/office/powerpoint/2010/main" val="35235243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87856" y="6413266"/>
            <a:ext cx="2843984"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2000" b="0" i="0" u="none" strike="noStrike" kern="1200" cap="none" spc="0" normalizeH="0" baseline="0" noProof="0" dirty="0">
                <a:ln>
                  <a:noFill/>
                </a:ln>
                <a:solidFill>
                  <a:prstClr val="white"/>
                </a:solidFill>
                <a:effectLst/>
                <a:uLnTx/>
                <a:uFillTx/>
                <a:latin typeface="Calibri"/>
                <a:ea typeface="+mn-ea"/>
                <a:cs typeface="+mn-cs"/>
              </a:rPr>
              <a:t>Sub - title of Presentation</a:t>
            </a:r>
          </a:p>
        </p:txBody>
      </p:sp>
      <p:sp>
        <p:nvSpPr>
          <p:cNvPr id="5" name="TextBox 4"/>
          <p:cNvSpPr txBox="1"/>
          <p:nvPr/>
        </p:nvSpPr>
        <p:spPr>
          <a:xfrm>
            <a:off x="8092133" y="6367515"/>
            <a:ext cx="872355"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2000" b="0" i="0" u="none" strike="noStrike" kern="1200" cap="none" spc="0" normalizeH="0" baseline="0" noProof="0" dirty="0">
                <a:ln>
                  <a:noFill/>
                </a:ln>
                <a:solidFill>
                  <a:prstClr val="white"/>
                </a:solidFill>
                <a:effectLst/>
                <a:uLnTx/>
                <a:uFillTx/>
                <a:latin typeface="Calibri"/>
                <a:ea typeface="+mn-ea"/>
                <a:cs typeface="+mn-cs"/>
              </a:rPr>
              <a:t>Slide 1</a:t>
            </a:r>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a:ln w="6350">
            <a:solidFill>
              <a:srgbClr val="8CC63F"/>
            </a:solidFill>
          </a:ln>
        </p:spPr>
      </p:pic>
      <p:sp>
        <p:nvSpPr>
          <p:cNvPr id="11" name="TextBox 4"/>
          <p:cNvSpPr txBox="1">
            <a:spLocks noChangeArrowheads="1"/>
          </p:cNvSpPr>
          <p:nvPr/>
        </p:nvSpPr>
        <p:spPr bwMode="auto">
          <a:xfrm>
            <a:off x="287856" y="260648"/>
            <a:ext cx="651639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nchor="ctr">
            <a:normAutofit/>
          </a:bodyPr>
          <a:lstStyle>
            <a:lvl1pPr defTabSz="457200" eaLnBrk="0" hangingPunct="0">
              <a:defRPr>
                <a:solidFill>
                  <a:schemeClr val="tx1"/>
                </a:solidFill>
                <a:latin typeface="Arial" pitchFamily="34" charset="0"/>
              </a:defRPr>
            </a:lvl1pPr>
            <a:lvl2pPr marL="742950" indent="-285750" defTabSz="457200" eaLnBrk="0" hangingPunct="0">
              <a:defRPr>
                <a:solidFill>
                  <a:schemeClr val="tx1"/>
                </a:solidFill>
                <a:latin typeface="Arial" pitchFamily="34" charset="0"/>
              </a:defRPr>
            </a:lvl2pPr>
            <a:lvl3pPr marL="1143000" indent="-228600" defTabSz="457200" eaLnBrk="0" hangingPunct="0">
              <a:defRPr>
                <a:solidFill>
                  <a:schemeClr val="tx1"/>
                </a:solidFill>
                <a:latin typeface="Arial" pitchFamily="34" charset="0"/>
              </a:defRPr>
            </a:lvl3pPr>
            <a:lvl4pPr marL="1600200" indent="-228600" defTabSz="457200" eaLnBrk="0" hangingPunct="0">
              <a:defRPr>
                <a:solidFill>
                  <a:schemeClr val="tx1"/>
                </a:solidFill>
                <a:latin typeface="Arial" pitchFamily="34" charset="0"/>
              </a:defRPr>
            </a:lvl4pPr>
            <a:lvl5pPr marL="2057400" indent="-228600" defTabSz="457200" eaLnBrk="0" hangingPunct="0">
              <a:defRPr>
                <a:solidFill>
                  <a:schemeClr val="tx1"/>
                </a:solidFill>
                <a:latin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altLang="en-US" sz="2000" b="1" i="0" u="none" strike="noStrike" kern="1200" cap="none" spc="0" normalizeH="0" baseline="0" noProof="0" dirty="0">
                <a:ln>
                  <a:noFill/>
                </a:ln>
                <a:solidFill>
                  <a:srgbClr val="73A531"/>
                </a:solidFill>
                <a:effectLst/>
                <a:uLnTx/>
                <a:uFillTx/>
                <a:latin typeface="Arial" pitchFamily="34" charset="0"/>
                <a:ea typeface="+mn-ea"/>
                <a:cs typeface="Arial" pitchFamily="34" charset="0"/>
              </a:rPr>
              <a:t> </a:t>
            </a:r>
            <a:endParaRPr kumimoji="0" lang="en-US" altLang="en-US" sz="2000" b="1" i="0" u="none" strike="noStrike" kern="1200" cap="none" spc="0" normalizeH="0" baseline="0" noProof="0" dirty="0">
              <a:ln>
                <a:noFill/>
              </a:ln>
              <a:solidFill>
                <a:srgbClr val="73A531"/>
              </a:solidFill>
              <a:effectLst/>
              <a:uLnTx/>
              <a:uFillTx/>
              <a:latin typeface="Calibri" pitchFamily="34" charset="0"/>
              <a:ea typeface="+mn-ea"/>
              <a:cs typeface="+mn-cs"/>
            </a:endParaRPr>
          </a:p>
        </p:txBody>
      </p:sp>
      <p:sp>
        <p:nvSpPr>
          <p:cNvPr id="10" name="TextBox 9"/>
          <p:cNvSpPr txBox="1"/>
          <p:nvPr/>
        </p:nvSpPr>
        <p:spPr>
          <a:xfrm>
            <a:off x="8736286" y="6445263"/>
            <a:ext cx="288862"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30AFB57-27B1-4EDC-9D85-71AA30732641}" type="slidenum">
              <a:rPr kumimoji="0" lang="en-AU" sz="1600" b="0" i="0" u="none" strike="noStrike" kern="1200" cap="none" spc="0" normalizeH="0" baseline="0" noProof="0" smtClean="0">
                <a:ln>
                  <a:noFill/>
                </a:ln>
                <a:solidFill>
                  <a:prstClr val="white"/>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AU" sz="1600" b="0" i="0" u="none" strike="noStrike" kern="1200" cap="none" spc="0" normalizeH="0" baseline="0" noProof="0" dirty="0">
              <a:ln>
                <a:noFill/>
              </a:ln>
              <a:solidFill>
                <a:prstClr val="white"/>
              </a:solidFill>
              <a:effectLst/>
              <a:uLnTx/>
              <a:uFillTx/>
              <a:latin typeface="Calibri"/>
              <a:ea typeface="+mn-ea"/>
              <a:cs typeface="+mn-cs"/>
            </a:endParaRPr>
          </a:p>
        </p:txBody>
      </p:sp>
      <mc:AlternateContent xmlns:mc="http://schemas.openxmlformats.org/markup-compatibility/2006" xmlns:p14="http://schemas.microsoft.com/office/powerpoint/2010/main">
        <mc:Choice Requires="p14">
          <p:contentPart p14:bwMode="auto" r:id="rId4">
            <p14:nvContentPartPr>
              <p14:cNvPr id="18" name="Ink 17"/>
              <p14:cNvContentPartPr/>
              <p14:nvPr/>
            </p14:nvContentPartPr>
            <p14:xfrm>
              <a:off x="8837468" y="1948263"/>
              <a:ext cx="180" cy="180"/>
            </p14:xfrm>
          </p:contentPart>
        </mc:Choice>
        <mc:Fallback xmlns="">
          <p:pic>
            <p:nvPicPr>
              <p:cNvPr id="18" name="Ink 17"/>
              <p:cNvPicPr/>
              <p:nvPr/>
            </p:nvPicPr>
            <p:blipFill/>
            <p:spPr/>
          </p:pic>
        </mc:Fallback>
      </mc:AlternateContent>
      <mc:AlternateContent xmlns:mc="http://schemas.openxmlformats.org/markup-compatibility/2006" xmlns:p14="http://schemas.microsoft.com/office/powerpoint/2010/main">
        <mc:Choice Requires="p14">
          <p:contentPart p14:bwMode="auto" r:id="rId5">
            <p14:nvContentPartPr>
              <p14:cNvPr id="19" name="Ink 18"/>
              <p14:cNvContentPartPr/>
              <p14:nvPr/>
            </p14:nvContentPartPr>
            <p14:xfrm>
              <a:off x="8847728" y="1979403"/>
              <a:ext cx="180" cy="180"/>
            </p14:xfrm>
          </p:contentPart>
        </mc:Choice>
        <mc:Fallback xmlns="">
          <p:pic>
            <p:nvPicPr>
              <p:cNvPr id="19" name="Ink 18"/>
              <p:cNvPicPr/>
              <p:nvPr/>
            </p:nvPicPr>
            <p:blipFill/>
            <p:spPr/>
          </p:pic>
        </mc:Fallback>
      </mc:AlternateContent>
      <mc:AlternateContent xmlns:mc="http://schemas.openxmlformats.org/markup-compatibility/2006" xmlns:p14="http://schemas.microsoft.com/office/powerpoint/2010/main">
        <mc:Choice Requires="p14">
          <p:contentPart p14:bwMode="auto" r:id="rId6">
            <p14:nvContentPartPr>
              <p14:cNvPr id="20" name="Ink 19"/>
              <p14:cNvContentPartPr/>
              <p14:nvPr/>
            </p14:nvContentPartPr>
            <p14:xfrm>
              <a:off x="8567288" y="1813083"/>
              <a:ext cx="180" cy="180"/>
            </p14:xfrm>
          </p:contentPart>
        </mc:Choice>
        <mc:Fallback xmlns="">
          <p:pic>
            <p:nvPicPr>
              <p:cNvPr id="20" name="Ink 19"/>
              <p:cNvPicPr/>
              <p:nvPr/>
            </p:nvPicPr>
            <p:blipFill/>
            <p:spPr/>
          </p:pic>
        </mc:Fallback>
      </mc:AlternateContent>
      <mc:AlternateContent xmlns:mc="http://schemas.openxmlformats.org/markup-compatibility/2006" xmlns:p14="http://schemas.microsoft.com/office/powerpoint/2010/main">
        <mc:Choice Requires="p14">
          <p:contentPart p14:bwMode="auto" r:id="rId7">
            <p14:nvContentPartPr>
              <p14:cNvPr id="22" name="Ink 21"/>
              <p14:cNvContentPartPr/>
              <p14:nvPr/>
            </p14:nvContentPartPr>
            <p14:xfrm>
              <a:off x="6995615" y="845430"/>
              <a:ext cx="180" cy="9540"/>
            </p14:xfrm>
          </p:contentPart>
        </mc:Choice>
        <mc:Fallback xmlns="">
          <p:pic>
            <p:nvPicPr>
              <p:cNvPr id="22" name="Ink 21"/>
              <p:cNvPicPr/>
              <p:nvPr/>
            </p:nvPicPr>
            <p:blipFill>
              <a:blip r:embed="rId8"/>
              <a:stretch>
                <a:fillRect/>
              </a:stretch>
            </p:blipFill>
            <p:spPr>
              <a:xfrm>
                <a:off x="6993995" y="842250"/>
                <a:ext cx="3240" cy="15547"/>
              </a:xfrm>
              <a:prstGeom prst="rect">
                <a:avLst/>
              </a:prstGeom>
            </p:spPr>
          </p:pic>
        </mc:Fallback>
      </mc:AlternateContent>
      <p:sp>
        <p:nvSpPr>
          <p:cNvPr id="2" name="Rectangle 1"/>
          <p:cNvSpPr/>
          <p:nvPr/>
        </p:nvSpPr>
        <p:spPr>
          <a:xfrm>
            <a:off x="0" y="2132856"/>
            <a:ext cx="7956376" cy="1628670"/>
          </a:xfrm>
          <a:prstGeom prst="rect">
            <a:avLst/>
          </a:prstGeom>
          <a:solidFill>
            <a:srgbClr val="8CC63F"/>
          </a:solidFill>
          <a:ln>
            <a:solidFill>
              <a:srgbClr val="8CC6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7800" lvl="0"/>
            <a:r>
              <a:rPr lang="en-AU" sz="2800" b="1" dirty="0">
                <a:solidFill>
                  <a:prstClr val="white"/>
                </a:solidFill>
              </a:rPr>
              <a:t>Financials</a:t>
            </a:r>
            <a:endParaRPr kumimoji="0" lang="en-AU" sz="2800" b="1" i="0" u="none" strike="noStrike" kern="1200" cap="none" spc="0" normalizeH="0" baseline="0" noProof="0" dirty="0">
              <a:ln>
                <a:noFill/>
              </a:ln>
              <a:solidFill>
                <a:prstClr val="white"/>
              </a:solidFill>
              <a:effectLst/>
              <a:uLnTx/>
              <a:uFillTx/>
              <a:latin typeface="Calibri"/>
              <a:ea typeface="+mn-ea"/>
              <a:cs typeface="+mn-cs"/>
            </a:endParaRPr>
          </a:p>
        </p:txBody>
      </p:sp>
      <p:sp>
        <p:nvSpPr>
          <p:cNvPr id="7" name="Flowchart: Delay 6"/>
          <p:cNvSpPr/>
          <p:nvPr/>
        </p:nvSpPr>
        <p:spPr>
          <a:xfrm>
            <a:off x="7208798" y="2132856"/>
            <a:ext cx="1628670" cy="1628670"/>
          </a:xfrm>
          <a:prstGeom prst="flowChartDelay">
            <a:avLst/>
          </a:prstGeom>
          <a:solidFill>
            <a:srgbClr val="8CC63F"/>
          </a:solidFill>
          <a:ln>
            <a:solidFill>
              <a:srgbClr val="8CC6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166944484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93" y="0"/>
            <a:ext cx="9144000" cy="685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TextBox 4"/>
          <p:cNvSpPr txBox="1">
            <a:spLocks noChangeArrowheads="1"/>
          </p:cNvSpPr>
          <p:nvPr/>
        </p:nvSpPr>
        <p:spPr bwMode="auto">
          <a:xfrm>
            <a:off x="251832" y="44624"/>
            <a:ext cx="720048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rIns="0">
            <a:spAutoFit/>
          </a:bodyPr>
          <a:lstStyle>
            <a:lvl1pPr defTabSz="457200" eaLnBrk="0" hangingPunct="0">
              <a:defRPr>
                <a:solidFill>
                  <a:schemeClr val="tx1"/>
                </a:solidFill>
                <a:latin typeface="Arial" pitchFamily="34" charset="0"/>
              </a:defRPr>
            </a:lvl1pPr>
            <a:lvl2pPr marL="742950" indent="-285750" defTabSz="457200" eaLnBrk="0" hangingPunct="0">
              <a:defRPr>
                <a:solidFill>
                  <a:schemeClr val="tx1"/>
                </a:solidFill>
                <a:latin typeface="Arial" pitchFamily="34" charset="0"/>
              </a:defRPr>
            </a:lvl2pPr>
            <a:lvl3pPr marL="1143000" indent="-228600" defTabSz="457200" eaLnBrk="0" hangingPunct="0">
              <a:defRPr>
                <a:solidFill>
                  <a:schemeClr val="tx1"/>
                </a:solidFill>
                <a:latin typeface="Arial" pitchFamily="34" charset="0"/>
              </a:defRPr>
            </a:lvl3pPr>
            <a:lvl4pPr marL="1600200" indent="-228600" defTabSz="457200" eaLnBrk="0" hangingPunct="0">
              <a:defRPr>
                <a:solidFill>
                  <a:schemeClr val="tx1"/>
                </a:solidFill>
                <a:latin typeface="Arial" pitchFamily="34" charset="0"/>
              </a:defRPr>
            </a:lvl4pPr>
            <a:lvl5pPr marL="2057400" indent="-228600" defTabSz="457200" eaLnBrk="0" hangingPunct="0">
              <a:defRPr>
                <a:solidFill>
                  <a:schemeClr val="tx1"/>
                </a:solidFill>
                <a:latin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defRPr>
            </a:lvl9pPr>
          </a:lstStyle>
          <a:p>
            <a:pPr eaLnBrk="1" hangingPunct="1"/>
            <a:r>
              <a:rPr lang="en-US" altLang="en-US" sz="2800" b="1" dirty="0" smtClean="0">
                <a:solidFill>
                  <a:srgbClr val="92D050"/>
                </a:solidFill>
                <a:cs typeface="Arial" pitchFamily="34" charset="0"/>
              </a:rPr>
              <a:t>Highlights for first half of 2018 [YTD June]</a:t>
            </a:r>
            <a:endParaRPr lang="en-US" altLang="en-US" sz="2800" b="1" dirty="0">
              <a:solidFill>
                <a:srgbClr val="92D050"/>
              </a:solidFill>
              <a:cs typeface="Arial" pitchFamily="34" charset="0"/>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AU"/>
          </a:p>
        </p:txBody>
      </p:sp>
      <p:sp>
        <p:nvSpPr>
          <p:cNvPr id="8" name="TextBox 7"/>
          <p:cNvSpPr txBox="1"/>
          <p:nvPr/>
        </p:nvSpPr>
        <p:spPr>
          <a:xfrm>
            <a:off x="8867893" y="6499592"/>
            <a:ext cx="263214" cy="276999"/>
          </a:xfrm>
          <a:prstGeom prst="rect">
            <a:avLst/>
          </a:prstGeom>
          <a:noFill/>
        </p:spPr>
        <p:txBody>
          <a:bodyPr wrap="square" lIns="0" rtlCol="0">
            <a:spAutoFit/>
          </a:bodyPr>
          <a:lstStyle>
            <a:defPPr>
              <a:defRPr lang="en-US"/>
            </a:defPPr>
            <a:lvl1pPr>
              <a:defRPr sz="1200" b="1">
                <a:solidFill>
                  <a:prstClr val="white"/>
                </a:solidFill>
              </a:defRPr>
            </a:lvl1pPr>
          </a:lstStyle>
          <a:p>
            <a:pPr algn="ctr"/>
            <a:fld id="{930AFB57-27B1-4EDC-9D85-71AA30732641}" type="slidenum">
              <a:rPr lang="en-AU"/>
              <a:pPr algn="ctr"/>
              <a:t>6</a:t>
            </a:fld>
            <a:endParaRPr lang="en-AU" dirty="0"/>
          </a:p>
        </p:txBody>
      </p:sp>
      <p:sp>
        <p:nvSpPr>
          <p:cNvPr id="18" name="TextBox 17"/>
          <p:cNvSpPr txBox="1"/>
          <p:nvPr/>
        </p:nvSpPr>
        <p:spPr>
          <a:xfrm>
            <a:off x="251832" y="548680"/>
            <a:ext cx="7200488" cy="557145"/>
          </a:xfrm>
          <a:prstGeom prst="rect">
            <a:avLst/>
          </a:prstGeom>
          <a:noFill/>
          <a:ln>
            <a:solidFill>
              <a:srgbClr val="8CC63F"/>
            </a:solidFill>
          </a:ln>
        </p:spPr>
        <p:txBody>
          <a:bodyPr wrap="square" rtlCol="0" anchor="ctr">
            <a:noAutofit/>
          </a:bodyPr>
          <a:lstStyle/>
          <a:p>
            <a:pPr lvl="0">
              <a:spcBef>
                <a:spcPts val="600"/>
              </a:spcBef>
              <a:defRPr/>
            </a:pPr>
            <a:r>
              <a:rPr lang="en-US" sz="1600" b="1" dirty="0">
                <a:solidFill>
                  <a:srgbClr val="73A531"/>
                </a:solidFill>
              </a:rPr>
              <a:t>BSP </a:t>
            </a:r>
            <a:r>
              <a:rPr lang="en-US" sz="1600" b="1" dirty="0" smtClean="0">
                <a:solidFill>
                  <a:srgbClr val="73A531"/>
                </a:solidFill>
              </a:rPr>
              <a:t>continues its strong performance … </a:t>
            </a:r>
            <a:r>
              <a:rPr lang="en-US" sz="1600" b="1" dirty="0">
                <a:solidFill>
                  <a:srgbClr val="73A531"/>
                </a:solidFill>
              </a:rPr>
              <a:t>despite </a:t>
            </a:r>
            <a:r>
              <a:rPr lang="en-US" sz="1600" b="1" dirty="0" smtClean="0">
                <a:solidFill>
                  <a:srgbClr val="73A531"/>
                </a:solidFill>
              </a:rPr>
              <a:t>challenging </a:t>
            </a:r>
            <a:r>
              <a:rPr lang="en-US" sz="1600" b="1" dirty="0">
                <a:solidFill>
                  <a:srgbClr val="73A531"/>
                </a:solidFill>
              </a:rPr>
              <a:t>business and economic environments. </a:t>
            </a:r>
          </a:p>
        </p:txBody>
      </p:sp>
      <p:graphicFrame>
        <p:nvGraphicFramePr>
          <p:cNvPr id="31" name="Diagram 30"/>
          <p:cNvGraphicFramePr/>
          <p:nvPr>
            <p:extLst>
              <p:ext uri="{D42A27DB-BD31-4B8C-83A1-F6EECF244321}">
                <p14:modId xmlns:p14="http://schemas.microsoft.com/office/powerpoint/2010/main" val="2269641688"/>
              </p:ext>
            </p:extLst>
          </p:nvPr>
        </p:nvGraphicFramePr>
        <p:xfrm>
          <a:off x="-108520" y="1196752"/>
          <a:ext cx="4690451" cy="511256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32" name="Up Arrow 31"/>
          <p:cNvSpPr/>
          <p:nvPr/>
        </p:nvSpPr>
        <p:spPr>
          <a:xfrm>
            <a:off x="1728843" y="1268760"/>
            <a:ext cx="321642" cy="360040"/>
          </a:xfrm>
          <a:prstGeom prst="upArrow">
            <a:avLst/>
          </a:prstGeom>
          <a:solidFill>
            <a:schemeClr val="accent3">
              <a:lumMod val="50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3" name="Up Arrow 32"/>
          <p:cNvSpPr/>
          <p:nvPr/>
        </p:nvSpPr>
        <p:spPr>
          <a:xfrm>
            <a:off x="3820006" y="1268760"/>
            <a:ext cx="321642" cy="360040"/>
          </a:xfrm>
          <a:prstGeom prst="upArrow">
            <a:avLst/>
          </a:prstGeom>
          <a:solidFill>
            <a:schemeClr val="accent3">
              <a:lumMod val="50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5" name="Up Arrow 34"/>
          <p:cNvSpPr/>
          <p:nvPr/>
        </p:nvSpPr>
        <p:spPr>
          <a:xfrm>
            <a:off x="1728843" y="2564904"/>
            <a:ext cx="321642" cy="360040"/>
          </a:xfrm>
          <a:prstGeom prst="upArrow">
            <a:avLst/>
          </a:prstGeom>
          <a:solidFill>
            <a:schemeClr val="accent3">
              <a:lumMod val="50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6" name="Up Arrow 35"/>
          <p:cNvSpPr/>
          <p:nvPr/>
        </p:nvSpPr>
        <p:spPr>
          <a:xfrm flipV="1">
            <a:off x="1730078" y="3933056"/>
            <a:ext cx="319172" cy="376845"/>
          </a:xfrm>
          <a:prstGeom prst="upArrow">
            <a:avLst/>
          </a:prstGeom>
          <a:solidFill>
            <a:srgbClr val="FF0000"/>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9" name="Up Arrow 38"/>
          <p:cNvSpPr/>
          <p:nvPr/>
        </p:nvSpPr>
        <p:spPr>
          <a:xfrm>
            <a:off x="1728843" y="5229200"/>
            <a:ext cx="321642" cy="360040"/>
          </a:xfrm>
          <a:prstGeom prst="upArrow">
            <a:avLst/>
          </a:prstGeom>
          <a:solidFill>
            <a:schemeClr val="accent3">
              <a:lumMod val="50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2" name="TextBox 41"/>
          <p:cNvSpPr txBox="1"/>
          <p:nvPr/>
        </p:nvSpPr>
        <p:spPr>
          <a:xfrm>
            <a:off x="5024189" y="1418373"/>
            <a:ext cx="3724275" cy="677108"/>
          </a:xfrm>
          <a:prstGeom prst="rect">
            <a:avLst/>
          </a:prstGeom>
          <a:noFill/>
        </p:spPr>
        <p:txBody>
          <a:bodyPr wrap="square" rtlCol="0">
            <a:spAutoFit/>
          </a:bodyPr>
          <a:lstStyle/>
          <a:p>
            <a:r>
              <a:rPr lang="en-AU" sz="2000" b="1" dirty="0" smtClean="0">
                <a:solidFill>
                  <a:srgbClr val="73A531"/>
                </a:solidFill>
              </a:rPr>
              <a:t>GROUP NPAT TREND</a:t>
            </a:r>
            <a:r>
              <a:rPr lang="en-AU" b="1" dirty="0" smtClean="0">
                <a:solidFill>
                  <a:srgbClr val="73A531"/>
                </a:solidFill>
              </a:rPr>
              <a:t/>
            </a:r>
            <a:br>
              <a:rPr lang="en-AU" b="1" dirty="0" smtClean="0">
                <a:solidFill>
                  <a:srgbClr val="73A531"/>
                </a:solidFill>
              </a:rPr>
            </a:br>
            <a:r>
              <a:rPr lang="en-AU" dirty="0" smtClean="0">
                <a:solidFill>
                  <a:srgbClr val="73A531"/>
                </a:solidFill>
              </a:rPr>
              <a:t>[Km]</a:t>
            </a:r>
            <a:endParaRPr lang="en-AU" dirty="0">
              <a:solidFill>
                <a:srgbClr val="73A531"/>
              </a:solidFill>
            </a:endParaRPr>
          </a:p>
        </p:txBody>
      </p:sp>
      <p:sp>
        <p:nvSpPr>
          <p:cNvPr id="43" name="TextBox 42"/>
          <p:cNvSpPr txBox="1"/>
          <p:nvPr/>
        </p:nvSpPr>
        <p:spPr>
          <a:xfrm>
            <a:off x="251832" y="6488848"/>
            <a:ext cx="3096032" cy="276999"/>
          </a:xfrm>
          <a:prstGeom prst="rect">
            <a:avLst/>
          </a:prstGeom>
          <a:noFill/>
        </p:spPr>
        <p:txBody>
          <a:bodyPr wrap="square" lIns="0" rtlCol="0">
            <a:spAutoFit/>
          </a:bodyPr>
          <a:lstStyle/>
          <a:p>
            <a:pPr>
              <a:defRPr/>
            </a:pPr>
            <a:r>
              <a:rPr lang="en-US" sz="1200" b="1" dirty="0" smtClean="0">
                <a:solidFill>
                  <a:prstClr val="white"/>
                </a:solidFill>
              </a:rPr>
              <a:t>INVESTOR PRESENTATION Half year 2018 </a:t>
            </a:r>
            <a:endParaRPr lang="en-AU" sz="1200" b="1" dirty="0">
              <a:solidFill>
                <a:prstClr val="white"/>
              </a:solidFill>
            </a:endParaRPr>
          </a:p>
        </p:txBody>
      </p:sp>
      <p:graphicFrame>
        <p:nvGraphicFramePr>
          <p:cNvPr id="44" name="Chart 43"/>
          <p:cNvGraphicFramePr>
            <a:graphicFrameLocks/>
          </p:cNvGraphicFramePr>
          <p:nvPr>
            <p:extLst>
              <p:ext uri="{D42A27DB-BD31-4B8C-83A1-F6EECF244321}">
                <p14:modId xmlns:p14="http://schemas.microsoft.com/office/powerpoint/2010/main" val="4088526744"/>
              </p:ext>
            </p:extLst>
          </p:nvPr>
        </p:nvGraphicFramePr>
        <p:xfrm>
          <a:off x="4498096" y="2276872"/>
          <a:ext cx="4612467" cy="2696160"/>
        </p:xfrm>
        <a:graphic>
          <a:graphicData uri="http://schemas.openxmlformats.org/drawingml/2006/chart">
            <c:chart xmlns:c="http://schemas.openxmlformats.org/drawingml/2006/chart" xmlns:r="http://schemas.openxmlformats.org/officeDocument/2006/relationships" r:id="rId9"/>
          </a:graphicData>
        </a:graphic>
      </p:graphicFrame>
      <p:sp>
        <p:nvSpPr>
          <p:cNvPr id="19" name="Up Arrow 18"/>
          <p:cNvSpPr/>
          <p:nvPr/>
        </p:nvSpPr>
        <p:spPr>
          <a:xfrm>
            <a:off x="3820006" y="5221932"/>
            <a:ext cx="321642" cy="360040"/>
          </a:xfrm>
          <a:prstGeom prst="upArrow">
            <a:avLst/>
          </a:prstGeom>
          <a:solidFill>
            <a:schemeClr val="accent3">
              <a:lumMod val="50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0" name="Up Arrow 19"/>
          <p:cNvSpPr/>
          <p:nvPr/>
        </p:nvSpPr>
        <p:spPr>
          <a:xfrm flipV="1">
            <a:off x="3821241" y="3933056"/>
            <a:ext cx="319172" cy="376845"/>
          </a:xfrm>
          <a:prstGeom prst="upArrow">
            <a:avLst/>
          </a:prstGeom>
          <a:solidFill>
            <a:srgbClr val="FF0000"/>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2" name="Up Arrow 21"/>
          <p:cNvSpPr/>
          <p:nvPr/>
        </p:nvSpPr>
        <p:spPr>
          <a:xfrm flipV="1">
            <a:off x="3852076" y="2636912"/>
            <a:ext cx="319172" cy="376845"/>
          </a:xfrm>
          <a:prstGeom prst="upArrow">
            <a:avLst/>
          </a:prstGeom>
          <a:solidFill>
            <a:srgbClr val="FF0000"/>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58038904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TextBox 4"/>
          <p:cNvSpPr txBox="1">
            <a:spLocks noChangeArrowheads="1"/>
          </p:cNvSpPr>
          <p:nvPr/>
        </p:nvSpPr>
        <p:spPr bwMode="auto">
          <a:xfrm>
            <a:off x="251832" y="44624"/>
            <a:ext cx="720048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rIns="0">
            <a:spAutoFit/>
          </a:bodyPr>
          <a:lstStyle>
            <a:lvl1pPr defTabSz="457200" eaLnBrk="0" hangingPunct="0">
              <a:defRPr>
                <a:solidFill>
                  <a:schemeClr val="tx1"/>
                </a:solidFill>
                <a:latin typeface="Arial" pitchFamily="34" charset="0"/>
              </a:defRPr>
            </a:lvl1pPr>
            <a:lvl2pPr marL="742950" indent="-285750" defTabSz="457200" eaLnBrk="0" hangingPunct="0">
              <a:defRPr>
                <a:solidFill>
                  <a:schemeClr val="tx1"/>
                </a:solidFill>
                <a:latin typeface="Arial" pitchFamily="34" charset="0"/>
              </a:defRPr>
            </a:lvl2pPr>
            <a:lvl3pPr marL="1143000" indent="-228600" defTabSz="457200" eaLnBrk="0" hangingPunct="0">
              <a:defRPr>
                <a:solidFill>
                  <a:schemeClr val="tx1"/>
                </a:solidFill>
                <a:latin typeface="Arial" pitchFamily="34" charset="0"/>
              </a:defRPr>
            </a:lvl3pPr>
            <a:lvl4pPr marL="1600200" indent="-228600" defTabSz="457200" eaLnBrk="0" hangingPunct="0">
              <a:defRPr>
                <a:solidFill>
                  <a:schemeClr val="tx1"/>
                </a:solidFill>
                <a:latin typeface="Arial" pitchFamily="34" charset="0"/>
              </a:defRPr>
            </a:lvl4pPr>
            <a:lvl5pPr marL="2057400" indent="-228600" defTabSz="457200" eaLnBrk="0" hangingPunct="0">
              <a:defRPr>
                <a:solidFill>
                  <a:schemeClr val="tx1"/>
                </a:solidFill>
                <a:latin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defRPr>
            </a:lvl9pPr>
          </a:lstStyle>
          <a:p>
            <a:pPr eaLnBrk="1" hangingPunct="1"/>
            <a:r>
              <a:rPr lang="en-US" altLang="en-US" sz="2800" b="1" dirty="0">
                <a:solidFill>
                  <a:srgbClr val="92D050"/>
                </a:solidFill>
                <a:cs typeface="Arial" pitchFamily="34" charset="0"/>
              </a:rPr>
              <a:t>Group key </a:t>
            </a:r>
            <a:r>
              <a:rPr lang="en-US" altLang="en-US" sz="2800" b="1" dirty="0" smtClean="0">
                <a:solidFill>
                  <a:srgbClr val="92D050"/>
                </a:solidFill>
                <a:cs typeface="Arial" pitchFamily="34" charset="0"/>
              </a:rPr>
              <a:t>ratios</a:t>
            </a:r>
            <a:endParaRPr lang="en-US" altLang="en-US" sz="2800" b="1" dirty="0">
              <a:solidFill>
                <a:srgbClr val="92D050"/>
              </a:solidFill>
              <a:cs typeface="Arial" pitchFamily="34" charset="0"/>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AU"/>
          </a:p>
        </p:txBody>
      </p:sp>
      <p:sp>
        <p:nvSpPr>
          <p:cNvPr id="8" name="TextBox 7"/>
          <p:cNvSpPr txBox="1"/>
          <p:nvPr/>
        </p:nvSpPr>
        <p:spPr>
          <a:xfrm>
            <a:off x="8867893" y="6499592"/>
            <a:ext cx="263214" cy="276999"/>
          </a:xfrm>
          <a:prstGeom prst="rect">
            <a:avLst/>
          </a:prstGeom>
          <a:noFill/>
        </p:spPr>
        <p:txBody>
          <a:bodyPr wrap="square" lIns="0" rtlCol="0">
            <a:spAutoFit/>
          </a:bodyPr>
          <a:lstStyle>
            <a:defPPr>
              <a:defRPr lang="en-US"/>
            </a:defPPr>
            <a:lvl1pPr>
              <a:defRPr sz="1200" b="1">
                <a:solidFill>
                  <a:prstClr val="white"/>
                </a:solidFill>
              </a:defRPr>
            </a:lvl1pPr>
          </a:lstStyle>
          <a:p>
            <a:pPr algn="ctr"/>
            <a:fld id="{930AFB57-27B1-4EDC-9D85-71AA30732641}" type="slidenum">
              <a:rPr lang="en-AU"/>
              <a:pPr algn="ctr"/>
              <a:t>7</a:t>
            </a:fld>
            <a:endParaRPr lang="en-AU" dirty="0"/>
          </a:p>
        </p:txBody>
      </p:sp>
      <p:sp>
        <p:nvSpPr>
          <p:cNvPr id="18" name="TextBox 17"/>
          <p:cNvSpPr txBox="1"/>
          <p:nvPr/>
        </p:nvSpPr>
        <p:spPr>
          <a:xfrm>
            <a:off x="251832" y="639607"/>
            <a:ext cx="7200488" cy="701161"/>
          </a:xfrm>
          <a:prstGeom prst="rect">
            <a:avLst/>
          </a:prstGeom>
          <a:noFill/>
          <a:ln>
            <a:solidFill>
              <a:srgbClr val="8CC63F"/>
            </a:solidFill>
          </a:ln>
        </p:spPr>
        <p:txBody>
          <a:bodyPr wrap="square" rtlCol="0" anchor="ctr">
            <a:noAutofit/>
          </a:bodyPr>
          <a:lstStyle/>
          <a:p>
            <a:pPr lvl="0">
              <a:spcBef>
                <a:spcPts val="600"/>
              </a:spcBef>
              <a:defRPr/>
            </a:pPr>
            <a:r>
              <a:rPr lang="en-US" sz="1600" b="1" dirty="0" smtClean="0">
                <a:solidFill>
                  <a:srgbClr val="73A531"/>
                </a:solidFill>
              </a:rPr>
              <a:t>Our key ratios are trending favourably … a clear picture of our corporate health.</a:t>
            </a:r>
          </a:p>
        </p:txBody>
      </p:sp>
      <p:sp>
        <p:nvSpPr>
          <p:cNvPr id="35" name="TextBox 34"/>
          <p:cNvSpPr txBox="1"/>
          <p:nvPr/>
        </p:nvSpPr>
        <p:spPr>
          <a:xfrm>
            <a:off x="260245" y="1659657"/>
            <a:ext cx="3724275" cy="400110"/>
          </a:xfrm>
          <a:prstGeom prst="rect">
            <a:avLst/>
          </a:prstGeom>
          <a:noFill/>
        </p:spPr>
        <p:txBody>
          <a:bodyPr wrap="square" lIns="0" rtlCol="0">
            <a:spAutoFit/>
          </a:bodyPr>
          <a:lstStyle/>
          <a:p>
            <a:r>
              <a:rPr lang="en-AU" sz="2000" b="1" dirty="0" smtClean="0">
                <a:solidFill>
                  <a:srgbClr val="73A531"/>
                </a:solidFill>
              </a:rPr>
              <a:t>COST TO INCOME TREND</a:t>
            </a:r>
            <a:endParaRPr lang="en-AU" dirty="0">
              <a:solidFill>
                <a:srgbClr val="73A531"/>
              </a:solidFill>
            </a:endParaRPr>
          </a:p>
        </p:txBody>
      </p:sp>
      <p:sp>
        <p:nvSpPr>
          <p:cNvPr id="37" name="TextBox 36"/>
          <p:cNvSpPr txBox="1"/>
          <p:nvPr/>
        </p:nvSpPr>
        <p:spPr>
          <a:xfrm>
            <a:off x="4777095" y="1659657"/>
            <a:ext cx="3724275" cy="400110"/>
          </a:xfrm>
          <a:prstGeom prst="rect">
            <a:avLst/>
          </a:prstGeom>
          <a:noFill/>
        </p:spPr>
        <p:txBody>
          <a:bodyPr wrap="square" lIns="0" rtlCol="0">
            <a:spAutoFit/>
          </a:bodyPr>
          <a:lstStyle/>
          <a:p>
            <a:r>
              <a:rPr lang="en-AU" sz="2000" b="1" dirty="0" smtClean="0">
                <a:solidFill>
                  <a:srgbClr val="73A531"/>
                </a:solidFill>
              </a:rPr>
              <a:t>ROE AND ROA TRENDS</a:t>
            </a:r>
            <a:endParaRPr lang="en-AU" dirty="0">
              <a:solidFill>
                <a:srgbClr val="73A531"/>
              </a:solidFill>
            </a:endParaRPr>
          </a:p>
        </p:txBody>
      </p:sp>
      <p:sp>
        <p:nvSpPr>
          <p:cNvPr id="38" name="TextBox 37"/>
          <p:cNvSpPr txBox="1"/>
          <p:nvPr/>
        </p:nvSpPr>
        <p:spPr>
          <a:xfrm>
            <a:off x="260245" y="3920902"/>
            <a:ext cx="3724275" cy="400110"/>
          </a:xfrm>
          <a:prstGeom prst="rect">
            <a:avLst/>
          </a:prstGeom>
          <a:noFill/>
        </p:spPr>
        <p:txBody>
          <a:bodyPr wrap="square" lIns="0" rtlCol="0">
            <a:spAutoFit/>
          </a:bodyPr>
          <a:lstStyle/>
          <a:p>
            <a:r>
              <a:rPr lang="en-AU" sz="2000" b="1" dirty="0">
                <a:solidFill>
                  <a:srgbClr val="73A531"/>
                </a:solidFill>
              </a:rPr>
              <a:t>PROVISION AND NPL TO LOANS </a:t>
            </a:r>
          </a:p>
        </p:txBody>
      </p:sp>
      <p:sp>
        <p:nvSpPr>
          <p:cNvPr id="39" name="TextBox 38"/>
          <p:cNvSpPr txBox="1"/>
          <p:nvPr/>
        </p:nvSpPr>
        <p:spPr>
          <a:xfrm>
            <a:off x="4777095" y="3920902"/>
            <a:ext cx="3724275" cy="400110"/>
          </a:xfrm>
          <a:prstGeom prst="rect">
            <a:avLst/>
          </a:prstGeom>
          <a:noFill/>
        </p:spPr>
        <p:txBody>
          <a:bodyPr wrap="square" lIns="0" rtlCol="0">
            <a:spAutoFit/>
          </a:bodyPr>
          <a:lstStyle/>
          <a:p>
            <a:r>
              <a:rPr lang="en-AU" sz="2000" b="1" dirty="0">
                <a:solidFill>
                  <a:srgbClr val="73A531"/>
                </a:solidFill>
              </a:rPr>
              <a:t>CAPITAL ADEQUACY </a:t>
            </a:r>
          </a:p>
        </p:txBody>
      </p:sp>
      <p:sp>
        <p:nvSpPr>
          <p:cNvPr id="26" name="TextBox 25"/>
          <p:cNvSpPr txBox="1"/>
          <p:nvPr/>
        </p:nvSpPr>
        <p:spPr>
          <a:xfrm>
            <a:off x="251832" y="6488848"/>
            <a:ext cx="3096032" cy="276999"/>
          </a:xfrm>
          <a:prstGeom prst="rect">
            <a:avLst/>
          </a:prstGeom>
          <a:noFill/>
        </p:spPr>
        <p:txBody>
          <a:bodyPr wrap="square" lIns="0" rtlCol="0">
            <a:spAutoFit/>
          </a:bodyPr>
          <a:lstStyle/>
          <a:p>
            <a:pPr>
              <a:defRPr/>
            </a:pPr>
            <a:r>
              <a:rPr lang="en-US" sz="1200" b="1" dirty="0" smtClean="0">
                <a:solidFill>
                  <a:prstClr val="white"/>
                </a:solidFill>
              </a:rPr>
              <a:t>INVESTOR PRESENTATION Half year 2018 </a:t>
            </a:r>
            <a:endParaRPr lang="en-AU" sz="1200" b="1" dirty="0">
              <a:solidFill>
                <a:prstClr val="white"/>
              </a:solidFill>
            </a:endParaRPr>
          </a:p>
        </p:txBody>
      </p:sp>
      <p:graphicFrame>
        <p:nvGraphicFramePr>
          <p:cNvPr id="27" name="Chart 26"/>
          <p:cNvGraphicFramePr>
            <a:graphicFrameLocks/>
          </p:cNvGraphicFramePr>
          <p:nvPr>
            <p:extLst>
              <p:ext uri="{D42A27DB-BD31-4B8C-83A1-F6EECF244321}">
                <p14:modId xmlns:p14="http://schemas.microsoft.com/office/powerpoint/2010/main" val="182826844"/>
              </p:ext>
            </p:extLst>
          </p:nvPr>
        </p:nvGraphicFramePr>
        <p:xfrm>
          <a:off x="113154" y="2060971"/>
          <a:ext cx="3738922" cy="1859931"/>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8" name="Chart 27"/>
          <p:cNvGraphicFramePr>
            <a:graphicFrameLocks/>
          </p:cNvGraphicFramePr>
          <p:nvPr>
            <p:extLst>
              <p:ext uri="{D42A27DB-BD31-4B8C-83A1-F6EECF244321}">
                <p14:modId xmlns:p14="http://schemas.microsoft.com/office/powerpoint/2010/main" val="2750537798"/>
              </p:ext>
            </p:extLst>
          </p:nvPr>
        </p:nvGraphicFramePr>
        <p:xfrm>
          <a:off x="3984520" y="1872315"/>
          <a:ext cx="4217402" cy="1884625"/>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9" name="Chart 28"/>
          <p:cNvGraphicFramePr>
            <a:graphicFrameLocks/>
          </p:cNvGraphicFramePr>
          <p:nvPr>
            <p:extLst>
              <p:ext uri="{D42A27DB-BD31-4B8C-83A1-F6EECF244321}">
                <p14:modId xmlns:p14="http://schemas.microsoft.com/office/powerpoint/2010/main" val="644462208"/>
              </p:ext>
            </p:extLst>
          </p:nvPr>
        </p:nvGraphicFramePr>
        <p:xfrm>
          <a:off x="-31583" y="4437112"/>
          <a:ext cx="3883659" cy="1827815"/>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16" name="Chart 15"/>
          <p:cNvGraphicFramePr>
            <a:graphicFrameLocks/>
          </p:cNvGraphicFramePr>
          <p:nvPr>
            <p:extLst>
              <p:ext uri="{D42A27DB-BD31-4B8C-83A1-F6EECF244321}">
                <p14:modId xmlns:p14="http://schemas.microsoft.com/office/powerpoint/2010/main" val="265731080"/>
              </p:ext>
            </p:extLst>
          </p:nvPr>
        </p:nvGraphicFramePr>
        <p:xfrm>
          <a:off x="4355976" y="4106471"/>
          <a:ext cx="3672408" cy="2233066"/>
        </p:xfrm>
        <a:graphic>
          <a:graphicData uri="http://schemas.openxmlformats.org/drawingml/2006/chart">
            <c:chart xmlns:c="http://schemas.openxmlformats.org/drawingml/2006/chart" xmlns:r="http://schemas.openxmlformats.org/officeDocument/2006/relationships" r:id="rId7"/>
          </a:graphicData>
        </a:graphic>
      </p:graphicFrame>
    </p:spTree>
    <p:extLst>
      <p:ext uri="{BB962C8B-B14F-4D97-AF65-F5344CB8AC3E}">
        <p14:creationId xmlns:p14="http://schemas.microsoft.com/office/powerpoint/2010/main" val="158179001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TextBox 4"/>
          <p:cNvSpPr txBox="1">
            <a:spLocks noChangeArrowheads="1"/>
          </p:cNvSpPr>
          <p:nvPr/>
        </p:nvSpPr>
        <p:spPr bwMode="auto">
          <a:xfrm>
            <a:off x="251832" y="44624"/>
            <a:ext cx="720048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rIns="0">
            <a:spAutoFit/>
          </a:bodyPr>
          <a:lstStyle>
            <a:lvl1pPr defTabSz="457200" eaLnBrk="0" hangingPunct="0">
              <a:defRPr>
                <a:solidFill>
                  <a:schemeClr val="tx1"/>
                </a:solidFill>
                <a:latin typeface="Arial" pitchFamily="34" charset="0"/>
              </a:defRPr>
            </a:lvl1pPr>
            <a:lvl2pPr marL="742950" indent="-285750" defTabSz="457200" eaLnBrk="0" hangingPunct="0">
              <a:defRPr>
                <a:solidFill>
                  <a:schemeClr val="tx1"/>
                </a:solidFill>
                <a:latin typeface="Arial" pitchFamily="34" charset="0"/>
              </a:defRPr>
            </a:lvl2pPr>
            <a:lvl3pPr marL="1143000" indent="-228600" defTabSz="457200" eaLnBrk="0" hangingPunct="0">
              <a:defRPr>
                <a:solidFill>
                  <a:schemeClr val="tx1"/>
                </a:solidFill>
                <a:latin typeface="Arial" pitchFamily="34" charset="0"/>
              </a:defRPr>
            </a:lvl3pPr>
            <a:lvl4pPr marL="1600200" indent="-228600" defTabSz="457200" eaLnBrk="0" hangingPunct="0">
              <a:defRPr>
                <a:solidFill>
                  <a:schemeClr val="tx1"/>
                </a:solidFill>
                <a:latin typeface="Arial" pitchFamily="34" charset="0"/>
              </a:defRPr>
            </a:lvl4pPr>
            <a:lvl5pPr marL="2057400" indent="-228600" defTabSz="457200" eaLnBrk="0" hangingPunct="0">
              <a:defRPr>
                <a:solidFill>
                  <a:schemeClr val="tx1"/>
                </a:solidFill>
                <a:latin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defRPr>
            </a:lvl9pPr>
          </a:lstStyle>
          <a:p>
            <a:pPr eaLnBrk="1" hangingPunct="1"/>
            <a:r>
              <a:rPr lang="en-US" altLang="en-US" sz="2800" b="1" dirty="0">
                <a:solidFill>
                  <a:srgbClr val="92D050"/>
                </a:solidFill>
                <a:cs typeface="Arial" pitchFamily="34" charset="0"/>
              </a:rPr>
              <a:t>Group key performance indicator trends</a:t>
            </a: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AU"/>
          </a:p>
        </p:txBody>
      </p:sp>
      <p:sp>
        <p:nvSpPr>
          <p:cNvPr id="8" name="TextBox 7"/>
          <p:cNvSpPr txBox="1"/>
          <p:nvPr/>
        </p:nvSpPr>
        <p:spPr>
          <a:xfrm>
            <a:off x="8867893" y="6499592"/>
            <a:ext cx="263214" cy="276999"/>
          </a:xfrm>
          <a:prstGeom prst="rect">
            <a:avLst/>
          </a:prstGeom>
          <a:noFill/>
        </p:spPr>
        <p:txBody>
          <a:bodyPr wrap="square" lIns="0" rtlCol="0">
            <a:spAutoFit/>
          </a:bodyPr>
          <a:lstStyle>
            <a:defPPr>
              <a:defRPr lang="en-US"/>
            </a:defPPr>
            <a:lvl1pPr>
              <a:defRPr sz="1200" b="1">
                <a:solidFill>
                  <a:prstClr val="white"/>
                </a:solidFill>
              </a:defRPr>
            </a:lvl1pPr>
          </a:lstStyle>
          <a:p>
            <a:pPr algn="ctr"/>
            <a:fld id="{930AFB57-27B1-4EDC-9D85-71AA30732641}" type="slidenum">
              <a:rPr lang="en-AU"/>
              <a:pPr algn="ctr"/>
              <a:t>8</a:t>
            </a:fld>
            <a:endParaRPr lang="en-AU" dirty="0"/>
          </a:p>
        </p:txBody>
      </p:sp>
      <p:sp>
        <p:nvSpPr>
          <p:cNvPr id="18" name="TextBox 17"/>
          <p:cNvSpPr txBox="1"/>
          <p:nvPr/>
        </p:nvSpPr>
        <p:spPr>
          <a:xfrm>
            <a:off x="251832" y="639607"/>
            <a:ext cx="7200488" cy="557145"/>
          </a:xfrm>
          <a:prstGeom prst="rect">
            <a:avLst/>
          </a:prstGeom>
          <a:noFill/>
          <a:ln>
            <a:solidFill>
              <a:srgbClr val="8CC63F"/>
            </a:solidFill>
          </a:ln>
        </p:spPr>
        <p:txBody>
          <a:bodyPr wrap="square" rtlCol="0" anchor="ctr">
            <a:noAutofit/>
          </a:bodyPr>
          <a:lstStyle/>
          <a:p>
            <a:pPr lvl="0">
              <a:spcBef>
                <a:spcPts val="600"/>
              </a:spcBef>
              <a:defRPr/>
            </a:pPr>
            <a:r>
              <a:rPr lang="en-US" sz="1600" b="1" dirty="0">
                <a:solidFill>
                  <a:srgbClr val="73A531"/>
                </a:solidFill>
              </a:rPr>
              <a:t>BSP’s </a:t>
            </a:r>
            <a:r>
              <a:rPr lang="en-US" sz="1600" b="1" dirty="0" smtClean="0">
                <a:solidFill>
                  <a:srgbClr val="73A531"/>
                </a:solidFill>
              </a:rPr>
              <a:t>loans and deposits continues to grow despite competitor and economic challenges</a:t>
            </a:r>
            <a:endParaRPr lang="en-US" sz="1600" b="1" dirty="0">
              <a:solidFill>
                <a:srgbClr val="73A531"/>
              </a:solidFill>
            </a:endParaRPr>
          </a:p>
        </p:txBody>
      </p:sp>
      <p:sp>
        <p:nvSpPr>
          <p:cNvPr id="20" name="TextBox 19"/>
          <p:cNvSpPr txBox="1"/>
          <p:nvPr/>
        </p:nvSpPr>
        <p:spPr>
          <a:xfrm>
            <a:off x="260245" y="1412776"/>
            <a:ext cx="3724275" cy="677108"/>
          </a:xfrm>
          <a:prstGeom prst="rect">
            <a:avLst/>
          </a:prstGeom>
          <a:noFill/>
        </p:spPr>
        <p:txBody>
          <a:bodyPr wrap="square" lIns="0" rtlCol="0">
            <a:spAutoFit/>
          </a:bodyPr>
          <a:lstStyle/>
          <a:p>
            <a:r>
              <a:rPr lang="en-AU" sz="2000" b="1" dirty="0" smtClean="0">
                <a:solidFill>
                  <a:srgbClr val="73A531"/>
                </a:solidFill>
              </a:rPr>
              <a:t>NET LOAN TRENDS</a:t>
            </a:r>
          </a:p>
          <a:p>
            <a:r>
              <a:rPr lang="en-AU" dirty="0" smtClean="0">
                <a:solidFill>
                  <a:srgbClr val="73A531"/>
                </a:solidFill>
              </a:rPr>
              <a:t>[Km]</a:t>
            </a:r>
            <a:endParaRPr lang="en-AU" sz="1600" dirty="0">
              <a:solidFill>
                <a:srgbClr val="73A531"/>
              </a:solidFill>
            </a:endParaRPr>
          </a:p>
        </p:txBody>
      </p:sp>
      <p:sp>
        <p:nvSpPr>
          <p:cNvPr id="21" name="TextBox 20"/>
          <p:cNvSpPr txBox="1"/>
          <p:nvPr/>
        </p:nvSpPr>
        <p:spPr>
          <a:xfrm>
            <a:off x="4777095" y="1412776"/>
            <a:ext cx="3724275" cy="677108"/>
          </a:xfrm>
          <a:prstGeom prst="rect">
            <a:avLst/>
          </a:prstGeom>
          <a:noFill/>
        </p:spPr>
        <p:txBody>
          <a:bodyPr wrap="square" lIns="0" rtlCol="0">
            <a:spAutoFit/>
          </a:bodyPr>
          <a:lstStyle/>
          <a:p>
            <a:r>
              <a:rPr lang="en-AU" sz="2000" b="1" dirty="0" smtClean="0">
                <a:solidFill>
                  <a:srgbClr val="73A531"/>
                </a:solidFill>
              </a:rPr>
              <a:t>TOTAL ASSETS TRENDS</a:t>
            </a:r>
          </a:p>
          <a:p>
            <a:r>
              <a:rPr lang="en-AU" dirty="0" smtClean="0">
                <a:solidFill>
                  <a:srgbClr val="73A531"/>
                </a:solidFill>
              </a:rPr>
              <a:t>[Kb]</a:t>
            </a:r>
            <a:endParaRPr lang="en-AU" sz="1600" dirty="0">
              <a:solidFill>
                <a:srgbClr val="73A531"/>
              </a:solidFill>
            </a:endParaRPr>
          </a:p>
        </p:txBody>
      </p:sp>
      <p:sp>
        <p:nvSpPr>
          <p:cNvPr id="22" name="TextBox 21"/>
          <p:cNvSpPr txBox="1"/>
          <p:nvPr/>
        </p:nvSpPr>
        <p:spPr>
          <a:xfrm>
            <a:off x="230525" y="3999715"/>
            <a:ext cx="3724275" cy="677108"/>
          </a:xfrm>
          <a:prstGeom prst="rect">
            <a:avLst/>
          </a:prstGeom>
          <a:noFill/>
        </p:spPr>
        <p:txBody>
          <a:bodyPr wrap="square" lIns="0" rtlCol="0">
            <a:spAutoFit/>
          </a:bodyPr>
          <a:lstStyle/>
          <a:p>
            <a:r>
              <a:rPr lang="en-AU" sz="2000" b="1" dirty="0" smtClean="0">
                <a:solidFill>
                  <a:srgbClr val="73A531"/>
                </a:solidFill>
              </a:rPr>
              <a:t>DEPOSIT TRENDS</a:t>
            </a:r>
          </a:p>
          <a:p>
            <a:r>
              <a:rPr lang="en-AU" dirty="0" smtClean="0">
                <a:solidFill>
                  <a:srgbClr val="73A531"/>
                </a:solidFill>
              </a:rPr>
              <a:t>[Kb]</a:t>
            </a:r>
            <a:endParaRPr lang="en-AU" dirty="0">
              <a:solidFill>
                <a:srgbClr val="73A531"/>
              </a:solidFill>
            </a:endParaRPr>
          </a:p>
        </p:txBody>
      </p:sp>
      <p:sp>
        <p:nvSpPr>
          <p:cNvPr id="23" name="TextBox 22"/>
          <p:cNvSpPr txBox="1"/>
          <p:nvPr/>
        </p:nvSpPr>
        <p:spPr>
          <a:xfrm>
            <a:off x="4777095" y="4030175"/>
            <a:ext cx="3724275" cy="677108"/>
          </a:xfrm>
          <a:prstGeom prst="rect">
            <a:avLst/>
          </a:prstGeom>
          <a:noFill/>
        </p:spPr>
        <p:txBody>
          <a:bodyPr wrap="square" lIns="0" rtlCol="0">
            <a:spAutoFit/>
          </a:bodyPr>
          <a:lstStyle/>
          <a:p>
            <a:r>
              <a:rPr lang="en-AU" sz="2000" b="1" dirty="0" smtClean="0">
                <a:solidFill>
                  <a:srgbClr val="73A531"/>
                </a:solidFill>
              </a:rPr>
              <a:t>DEPOSIT MIX TRENDS</a:t>
            </a:r>
          </a:p>
          <a:p>
            <a:r>
              <a:rPr lang="en-AU" dirty="0" smtClean="0">
                <a:solidFill>
                  <a:srgbClr val="73A531"/>
                </a:solidFill>
              </a:rPr>
              <a:t>[Kb]</a:t>
            </a:r>
            <a:endParaRPr lang="en-AU" dirty="0">
              <a:solidFill>
                <a:srgbClr val="73A531"/>
              </a:solidFill>
            </a:endParaRPr>
          </a:p>
        </p:txBody>
      </p:sp>
      <p:graphicFrame>
        <p:nvGraphicFramePr>
          <p:cNvPr id="30" name="Chart 29"/>
          <p:cNvGraphicFramePr>
            <a:graphicFrameLocks/>
          </p:cNvGraphicFramePr>
          <p:nvPr>
            <p:extLst>
              <p:ext uri="{D42A27DB-BD31-4B8C-83A1-F6EECF244321}">
                <p14:modId xmlns:p14="http://schemas.microsoft.com/office/powerpoint/2010/main" val="2521615985"/>
              </p:ext>
            </p:extLst>
          </p:nvPr>
        </p:nvGraphicFramePr>
        <p:xfrm>
          <a:off x="4355976" y="4555448"/>
          <a:ext cx="4320480" cy="1944144"/>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31" name="Chart 30"/>
          <p:cNvGraphicFramePr>
            <a:graphicFrameLocks/>
          </p:cNvGraphicFramePr>
          <p:nvPr>
            <p:extLst>
              <p:ext uri="{D42A27DB-BD31-4B8C-83A1-F6EECF244321}">
                <p14:modId xmlns:p14="http://schemas.microsoft.com/office/powerpoint/2010/main" val="3772641652"/>
              </p:ext>
            </p:extLst>
          </p:nvPr>
        </p:nvGraphicFramePr>
        <p:xfrm>
          <a:off x="123747" y="4626841"/>
          <a:ext cx="3728330" cy="1538463"/>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32" name="Chart 31"/>
          <p:cNvGraphicFramePr>
            <a:graphicFrameLocks/>
          </p:cNvGraphicFramePr>
          <p:nvPr>
            <p:extLst>
              <p:ext uri="{D42A27DB-BD31-4B8C-83A1-F6EECF244321}">
                <p14:modId xmlns:p14="http://schemas.microsoft.com/office/powerpoint/2010/main" val="3508246020"/>
              </p:ext>
            </p:extLst>
          </p:nvPr>
        </p:nvGraphicFramePr>
        <p:xfrm>
          <a:off x="260245" y="2083763"/>
          <a:ext cx="3443496" cy="2016224"/>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33" name="Chart 32"/>
          <p:cNvGraphicFramePr>
            <a:graphicFrameLocks/>
          </p:cNvGraphicFramePr>
          <p:nvPr>
            <p:extLst>
              <p:ext uri="{D42A27DB-BD31-4B8C-83A1-F6EECF244321}">
                <p14:modId xmlns:p14="http://schemas.microsoft.com/office/powerpoint/2010/main" val="665954681"/>
              </p:ext>
            </p:extLst>
          </p:nvPr>
        </p:nvGraphicFramePr>
        <p:xfrm>
          <a:off x="4355976" y="2055498"/>
          <a:ext cx="3887899" cy="1944217"/>
        </p:xfrm>
        <a:graphic>
          <a:graphicData uri="http://schemas.openxmlformats.org/drawingml/2006/chart">
            <c:chart xmlns:c="http://schemas.openxmlformats.org/drawingml/2006/chart" xmlns:r="http://schemas.openxmlformats.org/officeDocument/2006/relationships" r:id="rId7"/>
          </a:graphicData>
        </a:graphic>
      </p:graphicFrame>
      <p:sp>
        <p:nvSpPr>
          <p:cNvPr id="34" name="TextBox 33"/>
          <p:cNvSpPr txBox="1"/>
          <p:nvPr/>
        </p:nvSpPr>
        <p:spPr>
          <a:xfrm>
            <a:off x="251832" y="6488848"/>
            <a:ext cx="3096032" cy="276999"/>
          </a:xfrm>
          <a:prstGeom prst="rect">
            <a:avLst/>
          </a:prstGeom>
          <a:noFill/>
        </p:spPr>
        <p:txBody>
          <a:bodyPr wrap="square" lIns="0" rtlCol="0">
            <a:spAutoFit/>
          </a:bodyPr>
          <a:lstStyle/>
          <a:p>
            <a:pPr>
              <a:defRPr/>
            </a:pPr>
            <a:r>
              <a:rPr lang="en-US" sz="1200" b="1" dirty="0" smtClean="0">
                <a:solidFill>
                  <a:prstClr val="white"/>
                </a:solidFill>
              </a:rPr>
              <a:t>INVESTOR PRESENTATION Half year 2018 </a:t>
            </a:r>
            <a:endParaRPr lang="en-AU" sz="1200" b="1" dirty="0">
              <a:solidFill>
                <a:prstClr val="white"/>
              </a:solidFill>
            </a:endParaRPr>
          </a:p>
        </p:txBody>
      </p:sp>
      <p:sp>
        <p:nvSpPr>
          <p:cNvPr id="3" name="Right Arrow 2"/>
          <p:cNvSpPr/>
          <p:nvPr/>
        </p:nvSpPr>
        <p:spPr>
          <a:xfrm rot="20542334">
            <a:off x="788401" y="2085185"/>
            <a:ext cx="2250326" cy="293066"/>
          </a:xfrm>
          <a:prstGeom prst="rightArrow">
            <a:avLst/>
          </a:prstGeom>
          <a:solidFill>
            <a:srgbClr val="92D050"/>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5" name="Right Arrow 34"/>
          <p:cNvSpPr/>
          <p:nvPr/>
        </p:nvSpPr>
        <p:spPr>
          <a:xfrm rot="20542334">
            <a:off x="4989097" y="2177888"/>
            <a:ext cx="1882603" cy="257586"/>
          </a:xfrm>
          <a:prstGeom prst="rightArrow">
            <a:avLst/>
          </a:prstGeom>
          <a:solidFill>
            <a:srgbClr val="92D050"/>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6" name="Right Arrow 35"/>
          <p:cNvSpPr/>
          <p:nvPr/>
        </p:nvSpPr>
        <p:spPr>
          <a:xfrm rot="20542334">
            <a:off x="1017065" y="4647737"/>
            <a:ext cx="1882603" cy="257586"/>
          </a:xfrm>
          <a:prstGeom prst="rightArrow">
            <a:avLst/>
          </a:prstGeom>
          <a:solidFill>
            <a:srgbClr val="92D050"/>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 name="TextBox 3"/>
          <p:cNvSpPr txBox="1"/>
          <p:nvPr/>
        </p:nvSpPr>
        <p:spPr>
          <a:xfrm rot="20363423">
            <a:off x="1038567" y="1994874"/>
            <a:ext cx="1013972" cy="276999"/>
          </a:xfrm>
          <a:prstGeom prst="rect">
            <a:avLst/>
          </a:prstGeom>
          <a:noFill/>
        </p:spPr>
        <p:txBody>
          <a:bodyPr wrap="square" rtlCol="0">
            <a:spAutoFit/>
          </a:bodyPr>
          <a:lstStyle/>
          <a:p>
            <a:r>
              <a:rPr lang="en-AU" sz="1200" b="1" dirty="0" smtClean="0">
                <a:solidFill>
                  <a:srgbClr val="6EBE46"/>
                </a:solidFill>
              </a:rPr>
              <a:t>CAGR 12.3%</a:t>
            </a:r>
            <a:endParaRPr lang="en-AU" sz="1200" b="1" dirty="0">
              <a:solidFill>
                <a:srgbClr val="6EBE46"/>
              </a:solidFill>
            </a:endParaRPr>
          </a:p>
        </p:txBody>
      </p:sp>
      <p:sp>
        <p:nvSpPr>
          <p:cNvPr id="37" name="TextBox 36"/>
          <p:cNvSpPr txBox="1"/>
          <p:nvPr/>
        </p:nvSpPr>
        <p:spPr>
          <a:xfrm rot="20363423">
            <a:off x="1168620" y="4538324"/>
            <a:ext cx="1013972" cy="276999"/>
          </a:xfrm>
          <a:prstGeom prst="rect">
            <a:avLst/>
          </a:prstGeom>
          <a:noFill/>
        </p:spPr>
        <p:txBody>
          <a:bodyPr wrap="square" rtlCol="0">
            <a:spAutoFit/>
          </a:bodyPr>
          <a:lstStyle/>
          <a:p>
            <a:r>
              <a:rPr lang="en-AU" sz="1200" b="1" dirty="0" smtClean="0">
                <a:solidFill>
                  <a:srgbClr val="6EBE46"/>
                </a:solidFill>
              </a:rPr>
              <a:t>CAGR 7.7%</a:t>
            </a:r>
            <a:endParaRPr lang="en-AU" sz="1200" b="1" dirty="0">
              <a:solidFill>
                <a:srgbClr val="6EBE46"/>
              </a:solidFill>
            </a:endParaRPr>
          </a:p>
        </p:txBody>
      </p:sp>
      <p:sp>
        <p:nvSpPr>
          <p:cNvPr id="38" name="TextBox 37"/>
          <p:cNvSpPr txBox="1"/>
          <p:nvPr/>
        </p:nvSpPr>
        <p:spPr>
          <a:xfrm rot="20363423">
            <a:off x="5164368" y="1998711"/>
            <a:ext cx="1013972" cy="276999"/>
          </a:xfrm>
          <a:prstGeom prst="rect">
            <a:avLst/>
          </a:prstGeom>
          <a:noFill/>
        </p:spPr>
        <p:txBody>
          <a:bodyPr wrap="square" rtlCol="0">
            <a:spAutoFit/>
          </a:bodyPr>
          <a:lstStyle/>
          <a:p>
            <a:r>
              <a:rPr lang="en-AU" sz="1200" b="1" dirty="0" smtClean="0">
                <a:solidFill>
                  <a:srgbClr val="6EBE46"/>
                </a:solidFill>
              </a:rPr>
              <a:t>CAGR 7.7%</a:t>
            </a:r>
            <a:endParaRPr lang="en-AU" sz="1200" b="1" dirty="0">
              <a:solidFill>
                <a:srgbClr val="6EBE46"/>
              </a:solidFill>
            </a:endParaRPr>
          </a:p>
        </p:txBody>
      </p:sp>
    </p:spTree>
    <p:extLst>
      <p:ext uri="{BB962C8B-B14F-4D97-AF65-F5344CB8AC3E}">
        <p14:creationId xmlns:p14="http://schemas.microsoft.com/office/powerpoint/2010/main" val="116525961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TextBox 4"/>
          <p:cNvSpPr txBox="1">
            <a:spLocks noChangeArrowheads="1"/>
          </p:cNvSpPr>
          <p:nvPr/>
        </p:nvSpPr>
        <p:spPr bwMode="auto">
          <a:xfrm>
            <a:off x="251832" y="44624"/>
            <a:ext cx="720048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rIns="0">
            <a:spAutoFit/>
          </a:bodyPr>
          <a:lstStyle>
            <a:lvl1pPr defTabSz="457200" eaLnBrk="0" hangingPunct="0">
              <a:defRPr>
                <a:solidFill>
                  <a:schemeClr val="tx1"/>
                </a:solidFill>
                <a:latin typeface="Arial" pitchFamily="34" charset="0"/>
              </a:defRPr>
            </a:lvl1pPr>
            <a:lvl2pPr marL="742950" indent="-285750" defTabSz="457200" eaLnBrk="0" hangingPunct="0">
              <a:defRPr>
                <a:solidFill>
                  <a:schemeClr val="tx1"/>
                </a:solidFill>
                <a:latin typeface="Arial" pitchFamily="34" charset="0"/>
              </a:defRPr>
            </a:lvl2pPr>
            <a:lvl3pPr marL="1143000" indent="-228600" defTabSz="457200" eaLnBrk="0" hangingPunct="0">
              <a:defRPr>
                <a:solidFill>
                  <a:schemeClr val="tx1"/>
                </a:solidFill>
                <a:latin typeface="Arial" pitchFamily="34" charset="0"/>
              </a:defRPr>
            </a:lvl3pPr>
            <a:lvl4pPr marL="1600200" indent="-228600" defTabSz="457200" eaLnBrk="0" hangingPunct="0">
              <a:defRPr>
                <a:solidFill>
                  <a:schemeClr val="tx1"/>
                </a:solidFill>
                <a:latin typeface="Arial" pitchFamily="34" charset="0"/>
              </a:defRPr>
            </a:lvl4pPr>
            <a:lvl5pPr marL="2057400" indent="-228600" defTabSz="457200" eaLnBrk="0" hangingPunct="0">
              <a:defRPr>
                <a:solidFill>
                  <a:schemeClr val="tx1"/>
                </a:solidFill>
                <a:latin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defRPr>
            </a:lvl9pPr>
          </a:lstStyle>
          <a:p>
            <a:pPr eaLnBrk="1" hangingPunct="1"/>
            <a:r>
              <a:rPr lang="en-US" altLang="en-US" sz="2800" b="1" dirty="0" smtClean="0">
                <a:solidFill>
                  <a:srgbClr val="92D050"/>
                </a:solidFill>
                <a:cs typeface="Arial" pitchFamily="34" charset="0"/>
              </a:rPr>
              <a:t>Continued investment to improve service</a:t>
            </a:r>
            <a:endParaRPr lang="en-US" altLang="en-US" sz="2800" b="1" dirty="0">
              <a:solidFill>
                <a:srgbClr val="92D050"/>
              </a:solidFill>
              <a:cs typeface="Arial" pitchFamily="34" charset="0"/>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AU"/>
          </a:p>
        </p:txBody>
      </p:sp>
      <p:sp>
        <p:nvSpPr>
          <p:cNvPr id="8" name="TextBox 7"/>
          <p:cNvSpPr txBox="1"/>
          <p:nvPr/>
        </p:nvSpPr>
        <p:spPr>
          <a:xfrm>
            <a:off x="8867893" y="6499592"/>
            <a:ext cx="263214" cy="276999"/>
          </a:xfrm>
          <a:prstGeom prst="rect">
            <a:avLst/>
          </a:prstGeom>
          <a:noFill/>
        </p:spPr>
        <p:txBody>
          <a:bodyPr wrap="square" lIns="0" rtlCol="0">
            <a:spAutoFit/>
          </a:bodyPr>
          <a:lstStyle>
            <a:defPPr>
              <a:defRPr lang="en-US"/>
            </a:defPPr>
            <a:lvl1pPr>
              <a:defRPr sz="1200" b="1">
                <a:solidFill>
                  <a:prstClr val="white"/>
                </a:solidFill>
              </a:defRPr>
            </a:lvl1pPr>
          </a:lstStyle>
          <a:p>
            <a:pPr algn="ctr"/>
            <a:fld id="{930AFB57-27B1-4EDC-9D85-71AA30732641}" type="slidenum">
              <a:rPr lang="en-AU"/>
              <a:pPr algn="ctr"/>
              <a:t>9</a:t>
            </a:fld>
            <a:endParaRPr lang="en-AU" dirty="0"/>
          </a:p>
        </p:txBody>
      </p:sp>
      <p:sp>
        <p:nvSpPr>
          <p:cNvPr id="18" name="TextBox 17"/>
          <p:cNvSpPr txBox="1"/>
          <p:nvPr/>
        </p:nvSpPr>
        <p:spPr>
          <a:xfrm>
            <a:off x="251832" y="639607"/>
            <a:ext cx="7200488" cy="773169"/>
          </a:xfrm>
          <a:prstGeom prst="rect">
            <a:avLst/>
          </a:prstGeom>
          <a:noFill/>
          <a:ln>
            <a:solidFill>
              <a:srgbClr val="8CC63F"/>
            </a:solidFill>
          </a:ln>
        </p:spPr>
        <p:txBody>
          <a:bodyPr wrap="square" rtlCol="0" anchor="ctr">
            <a:noAutofit/>
          </a:bodyPr>
          <a:lstStyle/>
          <a:p>
            <a:pPr lvl="0">
              <a:spcBef>
                <a:spcPts val="600"/>
              </a:spcBef>
              <a:defRPr/>
            </a:pPr>
            <a:r>
              <a:rPr lang="en-US" sz="1600" b="1" dirty="0">
                <a:solidFill>
                  <a:srgbClr val="73A531"/>
                </a:solidFill>
              </a:rPr>
              <a:t>Our Digital Strategy </a:t>
            </a:r>
            <a:r>
              <a:rPr lang="en-US" sz="1600" b="1" dirty="0" smtClean="0">
                <a:solidFill>
                  <a:srgbClr val="73A531"/>
                </a:solidFill>
              </a:rPr>
              <a:t>continues to deliver enhanced coverage and banking </a:t>
            </a:r>
            <a:r>
              <a:rPr lang="en-US" sz="1600" b="1" dirty="0">
                <a:solidFill>
                  <a:srgbClr val="73A531"/>
                </a:solidFill>
              </a:rPr>
              <a:t>services </a:t>
            </a:r>
            <a:r>
              <a:rPr lang="en-US" sz="1600" b="1" dirty="0" smtClean="0">
                <a:solidFill>
                  <a:srgbClr val="73A531"/>
                </a:solidFill>
              </a:rPr>
              <a:t>throughout the pacific region … with digital channels supported by our extensive branch network</a:t>
            </a:r>
            <a:endParaRPr lang="en-US" sz="1600" b="1" dirty="0">
              <a:solidFill>
                <a:srgbClr val="73A531"/>
              </a:solidFill>
            </a:endParaRPr>
          </a:p>
        </p:txBody>
      </p:sp>
      <p:graphicFrame>
        <p:nvGraphicFramePr>
          <p:cNvPr id="60" name="Table 59"/>
          <p:cNvGraphicFramePr>
            <a:graphicFrameLocks noGrp="1"/>
          </p:cNvGraphicFramePr>
          <p:nvPr>
            <p:extLst>
              <p:ext uri="{D42A27DB-BD31-4B8C-83A1-F6EECF244321}">
                <p14:modId xmlns:p14="http://schemas.microsoft.com/office/powerpoint/2010/main" val="468652233"/>
              </p:ext>
            </p:extLst>
          </p:nvPr>
        </p:nvGraphicFramePr>
        <p:xfrm>
          <a:off x="292142" y="1778000"/>
          <a:ext cx="8404179" cy="4270375"/>
        </p:xfrm>
        <a:graphic>
          <a:graphicData uri="http://schemas.openxmlformats.org/drawingml/2006/table">
            <a:tbl>
              <a:tblPr firstRow="1" bandRow="1">
                <a:tableStyleId>{5C22544A-7EE6-4342-B048-85BDC9FD1C3A}</a:tableStyleId>
              </a:tblPr>
              <a:tblGrid>
                <a:gridCol w="1247098"/>
                <a:gridCol w="1122262"/>
                <a:gridCol w="862117"/>
                <a:gridCol w="862117"/>
                <a:gridCol w="862117"/>
                <a:gridCol w="862117"/>
                <a:gridCol w="862117"/>
                <a:gridCol w="862117"/>
                <a:gridCol w="862117"/>
              </a:tblGrid>
              <a:tr h="370840">
                <a:tc>
                  <a:txBody>
                    <a:bodyPr/>
                    <a:lstStyle/>
                    <a:p>
                      <a:endParaRPr lang="en-AU" dirty="0">
                        <a:solidFill>
                          <a:srgbClr val="73A531"/>
                        </a:solidFill>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solidFill>
                  </a:tcPr>
                </a:tc>
                <a:tc>
                  <a:txBody>
                    <a:bodyPr/>
                    <a:lstStyle/>
                    <a:p>
                      <a:pPr algn="ctr"/>
                      <a:r>
                        <a:rPr lang="en-AU" dirty="0" smtClean="0">
                          <a:solidFill>
                            <a:srgbClr val="73A531"/>
                          </a:solidFill>
                        </a:rPr>
                        <a:t>Total</a:t>
                      </a:r>
                      <a:endParaRPr lang="en-AU" dirty="0">
                        <a:solidFill>
                          <a:srgbClr val="73A531"/>
                        </a:solidFill>
                      </a:endParaRPr>
                    </a:p>
                  </a:txBody>
                  <a:tcP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rgbClr val="8CC63F"/>
                      </a:solidFill>
                      <a:prstDash val="solid"/>
                      <a:round/>
                      <a:headEnd type="none" w="med" len="med"/>
                      <a:tailEnd type="none" w="med" len="med"/>
                    </a:lnB>
                    <a:solidFill>
                      <a:schemeClr val="bg1"/>
                    </a:solidFill>
                  </a:tcPr>
                </a:tc>
                <a:tc>
                  <a:txBody>
                    <a:bodyPr/>
                    <a:lstStyle/>
                    <a:p>
                      <a:endParaRPr lang="en-AU" dirty="0">
                        <a:solidFill>
                          <a:srgbClr val="73A53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rgbClr val="8CC63F"/>
                      </a:solidFill>
                      <a:prstDash val="solid"/>
                      <a:round/>
                      <a:headEnd type="none" w="med" len="med"/>
                      <a:tailEnd type="none" w="med" len="med"/>
                    </a:lnB>
                    <a:solidFill>
                      <a:schemeClr val="bg1"/>
                    </a:solidFill>
                  </a:tcPr>
                </a:tc>
                <a:tc>
                  <a:txBody>
                    <a:bodyPr/>
                    <a:lstStyle/>
                    <a:p>
                      <a:endParaRPr lang="en-AU" dirty="0">
                        <a:solidFill>
                          <a:srgbClr val="73A53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rgbClr val="8CC63F"/>
                      </a:solidFill>
                      <a:prstDash val="solid"/>
                      <a:round/>
                      <a:headEnd type="none" w="med" len="med"/>
                      <a:tailEnd type="none" w="med" len="med"/>
                    </a:lnB>
                    <a:solidFill>
                      <a:schemeClr val="bg1"/>
                    </a:solidFill>
                  </a:tcPr>
                </a:tc>
                <a:tc>
                  <a:txBody>
                    <a:bodyPr/>
                    <a:lstStyle/>
                    <a:p>
                      <a:endParaRPr lang="en-AU" dirty="0">
                        <a:solidFill>
                          <a:srgbClr val="73A53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rgbClr val="8CC63F"/>
                      </a:solidFill>
                      <a:prstDash val="solid"/>
                      <a:round/>
                      <a:headEnd type="none" w="med" len="med"/>
                      <a:tailEnd type="none" w="med" len="med"/>
                    </a:lnB>
                    <a:solidFill>
                      <a:schemeClr val="bg1"/>
                    </a:solidFill>
                  </a:tcPr>
                </a:tc>
                <a:tc>
                  <a:txBody>
                    <a:bodyPr/>
                    <a:lstStyle/>
                    <a:p>
                      <a:endParaRPr lang="en-AU" dirty="0">
                        <a:solidFill>
                          <a:srgbClr val="73A53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rgbClr val="8CC63F"/>
                      </a:solidFill>
                      <a:prstDash val="solid"/>
                      <a:round/>
                      <a:headEnd type="none" w="med" len="med"/>
                      <a:tailEnd type="none" w="med" len="med"/>
                    </a:lnB>
                    <a:solidFill>
                      <a:schemeClr val="bg1"/>
                    </a:solidFill>
                  </a:tcPr>
                </a:tc>
                <a:tc>
                  <a:txBody>
                    <a:bodyPr/>
                    <a:lstStyle/>
                    <a:p>
                      <a:endParaRPr lang="en-AU" dirty="0">
                        <a:solidFill>
                          <a:srgbClr val="73A53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rgbClr val="8CC63F"/>
                      </a:solidFill>
                      <a:prstDash val="solid"/>
                      <a:round/>
                      <a:headEnd type="none" w="med" len="med"/>
                      <a:tailEnd type="none" w="med" len="med"/>
                    </a:lnB>
                    <a:solidFill>
                      <a:schemeClr val="bg1"/>
                    </a:solidFill>
                  </a:tcPr>
                </a:tc>
                <a:tc>
                  <a:txBody>
                    <a:bodyPr/>
                    <a:lstStyle/>
                    <a:p>
                      <a:endParaRPr lang="en-AU" dirty="0">
                        <a:solidFill>
                          <a:srgbClr val="73A53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rgbClr val="8CC63F"/>
                      </a:solidFill>
                      <a:prstDash val="solid"/>
                      <a:round/>
                      <a:headEnd type="none" w="med" len="med"/>
                      <a:tailEnd type="none" w="med" len="med"/>
                    </a:lnB>
                    <a:solidFill>
                      <a:schemeClr val="bg1"/>
                    </a:solidFill>
                  </a:tcPr>
                </a:tc>
                <a:tc>
                  <a:txBody>
                    <a:bodyPr/>
                    <a:lstStyle/>
                    <a:p>
                      <a:endParaRPr lang="en-AU" dirty="0">
                        <a:solidFill>
                          <a:srgbClr val="73A53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rgbClr val="8CC63F"/>
                      </a:solidFill>
                      <a:prstDash val="solid"/>
                      <a:round/>
                      <a:headEnd type="none" w="med" len="med"/>
                      <a:tailEnd type="none" w="med" len="med"/>
                    </a:lnB>
                    <a:solidFill>
                      <a:schemeClr val="bg1"/>
                    </a:solidFill>
                  </a:tcPr>
                </a:tc>
              </a:tr>
              <a:tr h="779907">
                <a:tc>
                  <a:txBody>
                    <a:bodyPr/>
                    <a:lstStyle/>
                    <a:p>
                      <a:endParaRPr lang="en-AU" dirty="0">
                        <a:solidFill>
                          <a:srgbClr val="73A531"/>
                        </a:solidFill>
                      </a:endParaRPr>
                    </a:p>
                  </a:txBody>
                  <a:tcPr>
                    <a:lnL w="6350" cap="flat" cmpd="sng" algn="ctr">
                      <a:noFill/>
                      <a:prstDash val="solid"/>
                      <a:round/>
                      <a:headEnd type="none" w="med" len="med"/>
                      <a:tailEnd type="none" w="med" len="med"/>
                    </a:lnL>
                    <a:lnR w="6350" cap="flat" cmpd="sng" algn="ctr">
                      <a:solidFill>
                        <a:srgbClr val="8CC63F"/>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solidFill>
                  </a:tcPr>
                </a:tc>
                <a:tc>
                  <a:txBody>
                    <a:bodyPr/>
                    <a:lstStyle/>
                    <a:p>
                      <a:pPr marL="0" algn="ctr" defTabSz="914400" rtl="0" eaLnBrk="1" fontAlgn="ctr" latinLnBrk="0" hangingPunct="1"/>
                      <a:r>
                        <a:rPr lang="en-AU" sz="1800" b="1" i="0" u="none" strike="noStrike" kern="1200" dirty="0">
                          <a:solidFill>
                            <a:schemeClr val="accent3">
                              <a:lumMod val="75000"/>
                            </a:schemeClr>
                          </a:solidFill>
                          <a:effectLst/>
                          <a:latin typeface="Calibri"/>
                          <a:ea typeface="+mn-ea"/>
                          <a:cs typeface="+mn-cs"/>
                        </a:rPr>
                        <a:t>82</a:t>
                      </a:r>
                    </a:p>
                  </a:txBody>
                  <a:tcPr marL="0" marR="0" marT="0" marB="0" anchor="ctr">
                    <a:lnL w="6350" cap="flat" cmpd="sng" algn="ctr">
                      <a:solidFill>
                        <a:srgbClr val="8CC63F"/>
                      </a:solidFill>
                      <a:prstDash val="solid"/>
                      <a:round/>
                      <a:headEnd type="none" w="med" len="med"/>
                      <a:tailEnd type="none" w="med" len="med"/>
                    </a:lnL>
                    <a:lnR w="6350" cap="flat" cmpd="sng" algn="ctr">
                      <a:solidFill>
                        <a:srgbClr val="8CC63F"/>
                      </a:solidFill>
                      <a:prstDash val="solid"/>
                      <a:round/>
                      <a:headEnd type="none" w="med" len="med"/>
                      <a:tailEnd type="none" w="med" len="med"/>
                    </a:lnR>
                    <a:lnT w="6350" cap="flat" cmpd="sng" algn="ctr">
                      <a:solidFill>
                        <a:srgbClr val="8CC63F"/>
                      </a:solidFill>
                      <a:prstDash val="solid"/>
                      <a:round/>
                      <a:headEnd type="none" w="med" len="med"/>
                      <a:tailEnd type="none" w="med" len="med"/>
                    </a:lnT>
                    <a:lnB w="6350" cap="flat" cmpd="sng" algn="ctr">
                      <a:solidFill>
                        <a:srgbClr val="8CC63F"/>
                      </a:solidFill>
                      <a:prstDash val="solid"/>
                      <a:round/>
                      <a:headEnd type="none" w="med" len="med"/>
                      <a:tailEnd type="none" w="med" len="med"/>
                    </a:lnB>
                    <a:solidFill>
                      <a:srgbClr val="F5F8EE"/>
                    </a:solidFill>
                  </a:tcPr>
                </a:tc>
                <a:tc>
                  <a:txBody>
                    <a:bodyPr/>
                    <a:lstStyle/>
                    <a:p>
                      <a:pPr algn="ctr" rtl="0" fontAlgn="ctr"/>
                      <a:r>
                        <a:rPr lang="en-AU" sz="1800" b="0" i="0" u="none" strike="noStrike" dirty="0">
                          <a:solidFill>
                            <a:schemeClr val="accent3">
                              <a:lumMod val="75000"/>
                            </a:schemeClr>
                          </a:solidFill>
                          <a:effectLst/>
                          <a:latin typeface="Calibri"/>
                        </a:rPr>
                        <a:t>46</a:t>
                      </a:r>
                    </a:p>
                  </a:txBody>
                  <a:tcPr marL="0" marR="0" marT="0" marB="0" anchor="ctr">
                    <a:lnL w="6350" cap="flat" cmpd="sng" algn="ctr">
                      <a:solidFill>
                        <a:srgbClr val="8CC63F"/>
                      </a:solidFill>
                      <a:prstDash val="solid"/>
                      <a:round/>
                      <a:headEnd type="none" w="med" len="med"/>
                      <a:tailEnd type="none" w="med" len="med"/>
                    </a:lnL>
                    <a:lnR w="6350" cap="flat" cmpd="sng" algn="ctr">
                      <a:solidFill>
                        <a:srgbClr val="8CC63F"/>
                      </a:solidFill>
                      <a:prstDash val="solid"/>
                      <a:round/>
                      <a:headEnd type="none" w="med" len="med"/>
                      <a:tailEnd type="none" w="med" len="med"/>
                    </a:lnR>
                    <a:lnT w="6350" cap="flat" cmpd="sng" algn="ctr">
                      <a:solidFill>
                        <a:srgbClr val="8CC63F"/>
                      </a:solidFill>
                      <a:prstDash val="solid"/>
                      <a:round/>
                      <a:headEnd type="none" w="med" len="med"/>
                      <a:tailEnd type="none" w="med" len="med"/>
                    </a:lnT>
                    <a:lnB w="6350" cap="flat" cmpd="sng" algn="ctr">
                      <a:solidFill>
                        <a:srgbClr val="8CC63F"/>
                      </a:solidFill>
                      <a:prstDash val="solid"/>
                      <a:round/>
                      <a:headEnd type="none" w="med" len="med"/>
                      <a:tailEnd type="none" w="med" len="med"/>
                    </a:lnB>
                    <a:solidFill>
                      <a:schemeClr val="bg1"/>
                    </a:solidFill>
                  </a:tcPr>
                </a:tc>
                <a:tc>
                  <a:txBody>
                    <a:bodyPr/>
                    <a:lstStyle/>
                    <a:p>
                      <a:pPr algn="ctr" rtl="0" fontAlgn="ctr"/>
                      <a:r>
                        <a:rPr lang="en-AU" sz="1800" b="0" i="0" u="none" strike="noStrike">
                          <a:solidFill>
                            <a:schemeClr val="accent3">
                              <a:lumMod val="75000"/>
                            </a:schemeClr>
                          </a:solidFill>
                          <a:effectLst/>
                          <a:latin typeface="Calibri"/>
                        </a:rPr>
                        <a:t>17</a:t>
                      </a:r>
                    </a:p>
                  </a:txBody>
                  <a:tcPr marL="0" marR="0" marT="0" marB="0" anchor="ctr">
                    <a:lnL w="6350" cap="flat" cmpd="sng" algn="ctr">
                      <a:solidFill>
                        <a:srgbClr val="8CC63F"/>
                      </a:solidFill>
                      <a:prstDash val="solid"/>
                      <a:round/>
                      <a:headEnd type="none" w="med" len="med"/>
                      <a:tailEnd type="none" w="med" len="med"/>
                    </a:lnL>
                    <a:lnR w="6350" cap="flat" cmpd="sng" algn="ctr">
                      <a:solidFill>
                        <a:srgbClr val="8CC63F"/>
                      </a:solidFill>
                      <a:prstDash val="solid"/>
                      <a:round/>
                      <a:headEnd type="none" w="med" len="med"/>
                      <a:tailEnd type="none" w="med" len="med"/>
                    </a:lnR>
                    <a:lnT w="6350" cap="flat" cmpd="sng" algn="ctr">
                      <a:solidFill>
                        <a:srgbClr val="8CC63F"/>
                      </a:solidFill>
                      <a:prstDash val="solid"/>
                      <a:round/>
                      <a:headEnd type="none" w="med" len="med"/>
                      <a:tailEnd type="none" w="med" len="med"/>
                    </a:lnT>
                    <a:lnB w="6350" cap="flat" cmpd="sng" algn="ctr">
                      <a:solidFill>
                        <a:srgbClr val="8CC63F"/>
                      </a:solidFill>
                      <a:prstDash val="solid"/>
                      <a:round/>
                      <a:headEnd type="none" w="med" len="med"/>
                      <a:tailEnd type="none" w="med" len="med"/>
                    </a:lnB>
                    <a:solidFill>
                      <a:schemeClr val="bg1"/>
                    </a:solidFill>
                  </a:tcPr>
                </a:tc>
                <a:tc>
                  <a:txBody>
                    <a:bodyPr/>
                    <a:lstStyle/>
                    <a:p>
                      <a:pPr algn="ctr" rtl="0" fontAlgn="ctr"/>
                      <a:r>
                        <a:rPr lang="en-AU" sz="1800" b="0" i="0" u="none" strike="noStrike">
                          <a:solidFill>
                            <a:schemeClr val="accent3">
                              <a:lumMod val="75000"/>
                            </a:schemeClr>
                          </a:solidFill>
                          <a:effectLst/>
                          <a:latin typeface="Calibri"/>
                        </a:rPr>
                        <a:t>8</a:t>
                      </a:r>
                    </a:p>
                  </a:txBody>
                  <a:tcPr marL="0" marR="0" marT="0" marB="0" anchor="ctr">
                    <a:lnL w="6350" cap="flat" cmpd="sng" algn="ctr">
                      <a:solidFill>
                        <a:srgbClr val="8CC63F"/>
                      </a:solidFill>
                      <a:prstDash val="solid"/>
                      <a:round/>
                      <a:headEnd type="none" w="med" len="med"/>
                      <a:tailEnd type="none" w="med" len="med"/>
                    </a:lnL>
                    <a:lnR w="6350" cap="flat" cmpd="sng" algn="ctr">
                      <a:solidFill>
                        <a:srgbClr val="8CC63F"/>
                      </a:solidFill>
                      <a:prstDash val="solid"/>
                      <a:round/>
                      <a:headEnd type="none" w="med" len="med"/>
                      <a:tailEnd type="none" w="med" len="med"/>
                    </a:lnR>
                    <a:lnT w="6350" cap="flat" cmpd="sng" algn="ctr">
                      <a:solidFill>
                        <a:srgbClr val="8CC63F"/>
                      </a:solidFill>
                      <a:prstDash val="solid"/>
                      <a:round/>
                      <a:headEnd type="none" w="med" len="med"/>
                      <a:tailEnd type="none" w="med" len="med"/>
                    </a:lnT>
                    <a:lnB w="6350" cap="flat" cmpd="sng" algn="ctr">
                      <a:solidFill>
                        <a:srgbClr val="8CC63F"/>
                      </a:solidFill>
                      <a:prstDash val="solid"/>
                      <a:round/>
                      <a:headEnd type="none" w="med" len="med"/>
                      <a:tailEnd type="none" w="med" len="med"/>
                    </a:lnB>
                    <a:solidFill>
                      <a:schemeClr val="bg1"/>
                    </a:solidFill>
                  </a:tcPr>
                </a:tc>
                <a:tc>
                  <a:txBody>
                    <a:bodyPr/>
                    <a:lstStyle/>
                    <a:p>
                      <a:pPr algn="ctr" rtl="0" fontAlgn="ctr"/>
                      <a:r>
                        <a:rPr lang="en-AU" sz="1800" b="0" i="0" u="none" strike="noStrike">
                          <a:solidFill>
                            <a:schemeClr val="accent3">
                              <a:lumMod val="75000"/>
                            </a:schemeClr>
                          </a:solidFill>
                          <a:effectLst/>
                          <a:latin typeface="Calibri"/>
                        </a:rPr>
                        <a:t>3</a:t>
                      </a:r>
                    </a:p>
                  </a:txBody>
                  <a:tcPr marL="0" marR="0" marT="0" marB="0" anchor="ctr">
                    <a:lnL w="6350" cap="flat" cmpd="sng" algn="ctr">
                      <a:solidFill>
                        <a:srgbClr val="8CC63F"/>
                      </a:solidFill>
                      <a:prstDash val="solid"/>
                      <a:round/>
                      <a:headEnd type="none" w="med" len="med"/>
                      <a:tailEnd type="none" w="med" len="med"/>
                    </a:lnL>
                    <a:lnR w="6350" cap="flat" cmpd="sng" algn="ctr">
                      <a:solidFill>
                        <a:srgbClr val="8CC63F"/>
                      </a:solidFill>
                      <a:prstDash val="solid"/>
                      <a:round/>
                      <a:headEnd type="none" w="med" len="med"/>
                      <a:tailEnd type="none" w="med" len="med"/>
                    </a:lnR>
                    <a:lnT w="6350" cap="flat" cmpd="sng" algn="ctr">
                      <a:solidFill>
                        <a:srgbClr val="8CC63F"/>
                      </a:solidFill>
                      <a:prstDash val="solid"/>
                      <a:round/>
                      <a:headEnd type="none" w="med" len="med"/>
                      <a:tailEnd type="none" w="med" len="med"/>
                    </a:lnT>
                    <a:lnB w="6350" cap="flat" cmpd="sng" algn="ctr">
                      <a:solidFill>
                        <a:srgbClr val="8CC63F"/>
                      </a:solidFill>
                      <a:prstDash val="solid"/>
                      <a:round/>
                      <a:headEnd type="none" w="med" len="med"/>
                      <a:tailEnd type="none" w="med" len="med"/>
                    </a:lnB>
                    <a:solidFill>
                      <a:schemeClr val="bg1"/>
                    </a:solidFill>
                  </a:tcPr>
                </a:tc>
                <a:tc>
                  <a:txBody>
                    <a:bodyPr/>
                    <a:lstStyle/>
                    <a:p>
                      <a:pPr algn="ctr" rtl="0" fontAlgn="ctr"/>
                      <a:r>
                        <a:rPr lang="en-AU" sz="1800" b="0" i="0" u="none" strike="noStrike">
                          <a:solidFill>
                            <a:schemeClr val="accent3">
                              <a:lumMod val="75000"/>
                            </a:schemeClr>
                          </a:solidFill>
                          <a:effectLst/>
                          <a:latin typeface="Calibri"/>
                        </a:rPr>
                        <a:t>2</a:t>
                      </a:r>
                    </a:p>
                  </a:txBody>
                  <a:tcPr marL="0" marR="0" marT="0" marB="0" anchor="ctr">
                    <a:lnL w="6350" cap="flat" cmpd="sng" algn="ctr">
                      <a:solidFill>
                        <a:srgbClr val="8CC63F"/>
                      </a:solidFill>
                      <a:prstDash val="solid"/>
                      <a:round/>
                      <a:headEnd type="none" w="med" len="med"/>
                      <a:tailEnd type="none" w="med" len="med"/>
                    </a:lnL>
                    <a:lnR w="6350" cap="flat" cmpd="sng" algn="ctr">
                      <a:solidFill>
                        <a:srgbClr val="8CC63F"/>
                      </a:solidFill>
                      <a:prstDash val="solid"/>
                      <a:round/>
                      <a:headEnd type="none" w="med" len="med"/>
                      <a:tailEnd type="none" w="med" len="med"/>
                    </a:lnR>
                    <a:lnT w="6350" cap="flat" cmpd="sng" algn="ctr">
                      <a:solidFill>
                        <a:srgbClr val="8CC63F"/>
                      </a:solidFill>
                      <a:prstDash val="solid"/>
                      <a:round/>
                      <a:headEnd type="none" w="med" len="med"/>
                      <a:tailEnd type="none" w="med" len="med"/>
                    </a:lnT>
                    <a:lnB w="6350" cap="flat" cmpd="sng" algn="ctr">
                      <a:solidFill>
                        <a:srgbClr val="8CC63F"/>
                      </a:solidFill>
                      <a:prstDash val="solid"/>
                      <a:round/>
                      <a:headEnd type="none" w="med" len="med"/>
                      <a:tailEnd type="none" w="med" len="med"/>
                    </a:lnB>
                    <a:solidFill>
                      <a:schemeClr val="bg1"/>
                    </a:solidFill>
                  </a:tcPr>
                </a:tc>
                <a:tc>
                  <a:txBody>
                    <a:bodyPr/>
                    <a:lstStyle/>
                    <a:p>
                      <a:pPr algn="ctr" rtl="0" fontAlgn="ctr"/>
                      <a:r>
                        <a:rPr lang="en-AU" sz="1800" b="0" i="0" u="none" strike="noStrike">
                          <a:solidFill>
                            <a:schemeClr val="accent3">
                              <a:lumMod val="75000"/>
                            </a:schemeClr>
                          </a:solidFill>
                          <a:effectLst/>
                          <a:latin typeface="Calibri"/>
                        </a:rPr>
                        <a:t>2</a:t>
                      </a:r>
                    </a:p>
                  </a:txBody>
                  <a:tcPr marL="0" marR="0" marT="0" marB="0" anchor="ctr">
                    <a:lnL w="6350" cap="flat" cmpd="sng" algn="ctr">
                      <a:solidFill>
                        <a:srgbClr val="8CC63F"/>
                      </a:solidFill>
                      <a:prstDash val="solid"/>
                      <a:round/>
                      <a:headEnd type="none" w="med" len="med"/>
                      <a:tailEnd type="none" w="med" len="med"/>
                    </a:lnL>
                    <a:lnR w="6350" cap="flat" cmpd="sng" algn="ctr">
                      <a:solidFill>
                        <a:srgbClr val="8CC63F"/>
                      </a:solidFill>
                      <a:prstDash val="solid"/>
                      <a:round/>
                      <a:headEnd type="none" w="med" len="med"/>
                      <a:tailEnd type="none" w="med" len="med"/>
                    </a:lnR>
                    <a:lnT w="6350" cap="flat" cmpd="sng" algn="ctr">
                      <a:solidFill>
                        <a:srgbClr val="8CC63F"/>
                      </a:solidFill>
                      <a:prstDash val="solid"/>
                      <a:round/>
                      <a:headEnd type="none" w="med" len="med"/>
                      <a:tailEnd type="none" w="med" len="med"/>
                    </a:lnT>
                    <a:lnB w="6350" cap="flat" cmpd="sng" algn="ctr">
                      <a:solidFill>
                        <a:srgbClr val="8CC63F"/>
                      </a:solidFill>
                      <a:prstDash val="solid"/>
                      <a:round/>
                      <a:headEnd type="none" w="med" len="med"/>
                      <a:tailEnd type="none" w="med" len="med"/>
                    </a:lnB>
                    <a:solidFill>
                      <a:schemeClr val="bg1"/>
                    </a:solidFill>
                  </a:tcPr>
                </a:tc>
                <a:tc>
                  <a:txBody>
                    <a:bodyPr/>
                    <a:lstStyle/>
                    <a:p>
                      <a:pPr algn="ctr" rtl="0" fontAlgn="ctr"/>
                      <a:r>
                        <a:rPr lang="en-AU" sz="1800" b="0" i="0" u="none" strike="noStrike">
                          <a:solidFill>
                            <a:schemeClr val="accent3">
                              <a:lumMod val="75000"/>
                            </a:schemeClr>
                          </a:solidFill>
                          <a:effectLst/>
                          <a:latin typeface="Calibri"/>
                        </a:rPr>
                        <a:t>4</a:t>
                      </a:r>
                    </a:p>
                  </a:txBody>
                  <a:tcPr marL="0" marR="0" marT="0" marB="0" anchor="ctr">
                    <a:lnL w="6350" cap="flat" cmpd="sng" algn="ctr">
                      <a:solidFill>
                        <a:srgbClr val="8CC63F"/>
                      </a:solidFill>
                      <a:prstDash val="solid"/>
                      <a:round/>
                      <a:headEnd type="none" w="med" len="med"/>
                      <a:tailEnd type="none" w="med" len="med"/>
                    </a:lnL>
                    <a:lnR w="6350" cap="flat" cmpd="sng" algn="ctr">
                      <a:solidFill>
                        <a:srgbClr val="8CC63F"/>
                      </a:solidFill>
                      <a:prstDash val="solid"/>
                      <a:round/>
                      <a:headEnd type="none" w="med" len="med"/>
                      <a:tailEnd type="none" w="med" len="med"/>
                    </a:lnR>
                    <a:lnT w="6350" cap="flat" cmpd="sng" algn="ctr">
                      <a:solidFill>
                        <a:srgbClr val="8CC63F"/>
                      </a:solidFill>
                      <a:prstDash val="solid"/>
                      <a:round/>
                      <a:headEnd type="none" w="med" len="med"/>
                      <a:tailEnd type="none" w="med" len="med"/>
                    </a:lnT>
                    <a:lnB w="6350" cap="flat" cmpd="sng" algn="ctr">
                      <a:solidFill>
                        <a:srgbClr val="8CC63F"/>
                      </a:solidFill>
                      <a:prstDash val="solid"/>
                      <a:round/>
                      <a:headEnd type="none" w="med" len="med"/>
                      <a:tailEnd type="none" w="med" len="med"/>
                    </a:lnB>
                    <a:solidFill>
                      <a:schemeClr val="bg1"/>
                    </a:solidFill>
                  </a:tcPr>
                </a:tc>
              </a:tr>
              <a:tr h="779907">
                <a:tc>
                  <a:txBody>
                    <a:bodyPr/>
                    <a:lstStyle/>
                    <a:p>
                      <a:endParaRPr lang="en-AU" dirty="0">
                        <a:solidFill>
                          <a:srgbClr val="73A531"/>
                        </a:solidFill>
                      </a:endParaRPr>
                    </a:p>
                  </a:txBody>
                  <a:tcPr>
                    <a:lnL w="6350" cap="flat" cmpd="sng" algn="ctr">
                      <a:noFill/>
                      <a:prstDash val="solid"/>
                      <a:round/>
                      <a:headEnd type="none" w="med" len="med"/>
                      <a:tailEnd type="none" w="med" len="med"/>
                    </a:lnL>
                    <a:lnR w="6350" cap="flat" cmpd="sng" algn="ctr">
                      <a:solidFill>
                        <a:srgbClr val="8CC63F"/>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solidFill>
                  </a:tcPr>
                </a:tc>
                <a:tc>
                  <a:txBody>
                    <a:bodyPr/>
                    <a:lstStyle/>
                    <a:p>
                      <a:pPr marL="0" algn="ctr" defTabSz="914400" rtl="0" eaLnBrk="1" fontAlgn="ctr" latinLnBrk="0" hangingPunct="1"/>
                      <a:r>
                        <a:rPr lang="en-AU" sz="1800" b="1" i="0" u="none" strike="noStrike" kern="1200" dirty="0">
                          <a:solidFill>
                            <a:schemeClr val="accent3">
                              <a:lumMod val="75000"/>
                            </a:schemeClr>
                          </a:solidFill>
                          <a:effectLst/>
                          <a:latin typeface="Calibri"/>
                          <a:ea typeface="+mn-ea"/>
                          <a:cs typeface="+mn-cs"/>
                        </a:rPr>
                        <a:t>48</a:t>
                      </a:r>
                    </a:p>
                  </a:txBody>
                  <a:tcPr marL="0" marR="0" marT="0" marB="0" anchor="ctr">
                    <a:lnL w="6350" cap="flat" cmpd="sng" algn="ctr">
                      <a:solidFill>
                        <a:srgbClr val="8CC63F"/>
                      </a:solidFill>
                      <a:prstDash val="solid"/>
                      <a:round/>
                      <a:headEnd type="none" w="med" len="med"/>
                      <a:tailEnd type="none" w="med" len="med"/>
                    </a:lnL>
                    <a:lnR w="6350" cap="flat" cmpd="sng" algn="ctr">
                      <a:solidFill>
                        <a:srgbClr val="8CC63F"/>
                      </a:solidFill>
                      <a:prstDash val="solid"/>
                      <a:round/>
                      <a:headEnd type="none" w="med" len="med"/>
                      <a:tailEnd type="none" w="med" len="med"/>
                    </a:lnR>
                    <a:lnT w="6350" cap="flat" cmpd="sng" algn="ctr">
                      <a:solidFill>
                        <a:srgbClr val="8CC63F"/>
                      </a:solidFill>
                      <a:prstDash val="solid"/>
                      <a:round/>
                      <a:headEnd type="none" w="med" len="med"/>
                      <a:tailEnd type="none" w="med" len="med"/>
                    </a:lnT>
                    <a:lnB w="6350" cap="flat" cmpd="sng" algn="ctr">
                      <a:solidFill>
                        <a:srgbClr val="8CC63F"/>
                      </a:solidFill>
                      <a:prstDash val="solid"/>
                      <a:round/>
                      <a:headEnd type="none" w="med" len="med"/>
                      <a:tailEnd type="none" w="med" len="med"/>
                    </a:lnB>
                    <a:solidFill>
                      <a:srgbClr val="F5F8EE"/>
                    </a:solidFill>
                  </a:tcPr>
                </a:tc>
                <a:tc>
                  <a:txBody>
                    <a:bodyPr/>
                    <a:lstStyle/>
                    <a:p>
                      <a:pPr algn="ctr" rtl="0" fontAlgn="ctr"/>
                      <a:r>
                        <a:rPr lang="en-AU" sz="1800" b="0" i="0" u="none" strike="noStrike">
                          <a:solidFill>
                            <a:schemeClr val="accent3">
                              <a:lumMod val="75000"/>
                            </a:schemeClr>
                          </a:solidFill>
                          <a:effectLst/>
                          <a:latin typeface="Calibri"/>
                        </a:rPr>
                        <a:t>46</a:t>
                      </a:r>
                    </a:p>
                  </a:txBody>
                  <a:tcPr marL="0" marR="0" marT="0" marB="0" anchor="ctr">
                    <a:lnL w="6350" cap="flat" cmpd="sng" algn="ctr">
                      <a:solidFill>
                        <a:srgbClr val="8CC63F"/>
                      </a:solidFill>
                      <a:prstDash val="solid"/>
                      <a:round/>
                      <a:headEnd type="none" w="med" len="med"/>
                      <a:tailEnd type="none" w="med" len="med"/>
                    </a:lnL>
                    <a:lnR w="6350" cap="flat" cmpd="sng" algn="ctr">
                      <a:solidFill>
                        <a:srgbClr val="8CC63F"/>
                      </a:solidFill>
                      <a:prstDash val="solid"/>
                      <a:round/>
                      <a:headEnd type="none" w="med" len="med"/>
                      <a:tailEnd type="none" w="med" len="med"/>
                    </a:lnR>
                    <a:lnT w="6350" cap="flat" cmpd="sng" algn="ctr">
                      <a:solidFill>
                        <a:srgbClr val="8CC63F"/>
                      </a:solidFill>
                      <a:prstDash val="solid"/>
                      <a:round/>
                      <a:headEnd type="none" w="med" len="med"/>
                      <a:tailEnd type="none" w="med" len="med"/>
                    </a:lnT>
                    <a:lnB w="6350" cap="flat" cmpd="sng" algn="ctr">
                      <a:solidFill>
                        <a:srgbClr val="8CC63F"/>
                      </a:solidFill>
                      <a:prstDash val="solid"/>
                      <a:round/>
                      <a:headEnd type="none" w="med" len="med"/>
                      <a:tailEnd type="none" w="med" len="med"/>
                    </a:lnB>
                    <a:solidFill>
                      <a:schemeClr val="bg1"/>
                    </a:solidFill>
                  </a:tcPr>
                </a:tc>
                <a:tc>
                  <a:txBody>
                    <a:bodyPr/>
                    <a:lstStyle/>
                    <a:p>
                      <a:pPr algn="ctr" rtl="0" fontAlgn="ctr"/>
                      <a:r>
                        <a:rPr lang="en-AU" sz="1800" b="0" i="0" u="none" strike="noStrike">
                          <a:solidFill>
                            <a:schemeClr val="accent3">
                              <a:lumMod val="75000"/>
                            </a:schemeClr>
                          </a:solidFill>
                          <a:effectLst/>
                          <a:latin typeface="Calibri"/>
                        </a:rPr>
                        <a:t>0</a:t>
                      </a:r>
                    </a:p>
                  </a:txBody>
                  <a:tcPr marL="0" marR="0" marT="0" marB="0" anchor="ctr">
                    <a:lnL w="6350" cap="flat" cmpd="sng" algn="ctr">
                      <a:solidFill>
                        <a:srgbClr val="8CC63F"/>
                      </a:solidFill>
                      <a:prstDash val="solid"/>
                      <a:round/>
                      <a:headEnd type="none" w="med" len="med"/>
                      <a:tailEnd type="none" w="med" len="med"/>
                    </a:lnL>
                    <a:lnR w="6350" cap="flat" cmpd="sng" algn="ctr">
                      <a:solidFill>
                        <a:srgbClr val="8CC63F"/>
                      </a:solidFill>
                      <a:prstDash val="solid"/>
                      <a:round/>
                      <a:headEnd type="none" w="med" len="med"/>
                      <a:tailEnd type="none" w="med" len="med"/>
                    </a:lnR>
                    <a:lnT w="6350" cap="flat" cmpd="sng" algn="ctr">
                      <a:solidFill>
                        <a:srgbClr val="8CC63F"/>
                      </a:solidFill>
                      <a:prstDash val="solid"/>
                      <a:round/>
                      <a:headEnd type="none" w="med" len="med"/>
                      <a:tailEnd type="none" w="med" len="med"/>
                    </a:lnT>
                    <a:lnB w="6350" cap="flat" cmpd="sng" algn="ctr">
                      <a:solidFill>
                        <a:srgbClr val="8CC63F"/>
                      </a:solidFill>
                      <a:prstDash val="solid"/>
                      <a:round/>
                      <a:headEnd type="none" w="med" len="med"/>
                      <a:tailEnd type="none" w="med" len="med"/>
                    </a:lnB>
                    <a:solidFill>
                      <a:schemeClr val="bg1"/>
                    </a:solidFill>
                  </a:tcPr>
                </a:tc>
                <a:tc>
                  <a:txBody>
                    <a:bodyPr/>
                    <a:lstStyle/>
                    <a:p>
                      <a:pPr algn="ctr" rtl="0" fontAlgn="ctr"/>
                      <a:r>
                        <a:rPr lang="en-AU" sz="1800" b="0" i="0" u="none" strike="noStrike">
                          <a:solidFill>
                            <a:schemeClr val="accent3">
                              <a:lumMod val="75000"/>
                            </a:schemeClr>
                          </a:solidFill>
                          <a:effectLst/>
                          <a:latin typeface="Calibri"/>
                        </a:rPr>
                        <a:t>0</a:t>
                      </a:r>
                    </a:p>
                  </a:txBody>
                  <a:tcPr marL="0" marR="0" marT="0" marB="0" anchor="ctr">
                    <a:lnL w="6350" cap="flat" cmpd="sng" algn="ctr">
                      <a:solidFill>
                        <a:srgbClr val="8CC63F"/>
                      </a:solidFill>
                      <a:prstDash val="solid"/>
                      <a:round/>
                      <a:headEnd type="none" w="med" len="med"/>
                      <a:tailEnd type="none" w="med" len="med"/>
                    </a:lnL>
                    <a:lnR w="6350" cap="flat" cmpd="sng" algn="ctr">
                      <a:solidFill>
                        <a:srgbClr val="8CC63F"/>
                      </a:solidFill>
                      <a:prstDash val="solid"/>
                      <a:round/>
                      <a:headEnd type="none" w="med" len="med"/>
                      <a:tailEnd type="none" w="med" len="med"/>
                    </a:lnR>
                    <a:lnT w="6350" cap="flat" cmpd="sng" algn="ctr">
                      <a:solidFill>
                        <a:srgbClr val="8CC63F"/>
                      </a:solidFill>
                      <a:prstDash val="solid"/>
                      <a:round/>
                      <a:headEnd type="none" w="med" len="med"/>
                      <a:tailEnd type="none" w="med" len="med"/>
                    </a:lnT>
                    <a:lnB w="6350" cap="flat" cmpd="sng" algn="ctr">
                      <a:solidFill>
                        <a:srgbClr val="8CC63F"/>
                      </a:solidFill>
                      <a:prstDash val="solid"/>
                      <a:round/>
                      <a:headEnd type="none" w="med" len="med"/>
                      <a:tailEnd type="none" w="med" len="med"/>
                    </a:lnB>
                    <a:solidFill>
                      <a:schemeClr val="bg1"/>
                    </a:solidFill>
                  </a:tcPr>
                </a:tc>
                <a:tc>
                  <a:txBody>
                    <a:bodyPr/>
                    <a:lstStyle/>
                    <a:p>
                      <a:pPr algn="ctr" rtl="0" fontAlgn="ctr"/>
                      <a:r>
                        <a:rPr lang="en-AU" sz="1800" b="0" i="0" u="none" strike="noStrike">
                          <a:solidFill>
                            <a:schemeClr val="accent3">
                              <a:lumMod val="75000"/>
                            </a:schemeClr>
                          </a:solidFill>
                          <a:effectLst/>
                          <a:latin typeface="Calibri"/>
                        </a:rPr>
                        <a:t>2</a:t>
                      </a:r>
                    </a:p>
                  </a:txBody>
                  <a:tcPr marL="0" marR="0" marT="0" marB="0" anchor="ctr">
                    <a:lnL w="6350" cap="flat" cmpd="sng" algn="ctr">
                      <a:solidFill>
                        <a:srgbClr val="8CC63F"/>
                      </a:solidFill>
                      <a:prstDash val="solid"/>
                      <a:round/>
                      <a:headEnd type="none" w="med" len="med"/>
                      <a:tailEnd type="none" w="med" len="med"/>
                    </a:lnL>
                    <a:lnR w="6350" cap="flat" cmpd="sng" algn="ctr">
                      <a:solidFill>
                        <a:srgbClr val="8CC63F"/>
                      </a:solidFill>
                      <a:prstDash val="solid"/>
                      <a:round/>
                      <a:headEnd type="none" w="med" len="med"/>
                      <a:tailEnd type="none" w="med" len="med"/>
                    </a:lnR>
                    <a:lnT w="6350" cap="flat" cmpd="sng" algn="ctr">
                      <a:solidFill>
                        <a:srgbClr val="8CC63F"/>
                      </a:solidFill>
                      <a:prstDash val="solid"/>
                      <a:round/>
                      <a:headEnd type="none" w="med" len="med"/>
                      <a:tailEnd type="none" w="med" len="med"/>
                    </a:lnT>
                    <a:lnB w="6350" cap="flat" cmpd="sng" algn="ctr">
                      <a:solidFill>
                        <a:srgbClr val="8CC63F"/>
                      </a:solidFill>
                      <a:prstDash val="solid"/>
                      <a:round/>
                      <a:headEnd type="none" w="med" len="med"/>
                      <a:tailEnd type="none" w="med" len="med"/>
                    </a:lnB>
                    <a:solidFill>
                      <a:schemeClr val="bg1"/>
                    </a:solidFill>
                  </a:tcPr>
                </a:tc>
                <a:tc>
                  <a:txBody>
                    <a:bodyPr/>
                    <a:lstStyle/>
                    <a:p>
                      <a:pPr algn="ctr" rtl="0" fontAlgn="ctr"/>
                      <a:r>
                        <a:rPr lang="en-AU" sz="1800" b="0" i="0" u="none" strike="noStrike">
                          <a:solidFill>
                            <a:schemeClr val="accent3">
                              <a:lumMod val="75000"/>
                            </a:schemeClr>
                          </a:solidFill>
                          <a:effectLst/>
                          <a:latin typeface="Calibri"/>
                        </a:rPr>
                        <a:t>0</a:t>
                      </a:r>
                    </a:p>
                  </a:txBody>
                  <a:tcPr marL="0" marR="0" marT="0" marB="0" anchor="ctr">
                    <a:lnL w="6350" cap="flat" cmpd="sng" algn="ctr">
                      <a:solidFill>
                        <a:srgbClr val="8CC63F"/>
                      </a:solidFill>
                      <a:prstDash val="solid"/>
                      <a:round/>
                      <a:headEnd type="none" w="med" len="med"/>
                      <a:tailEnd type="none" w="med" len="med"/>
                    </a:lnL>
                    <a:lnR w="6350" cap="flat" cmpd="sng" algn="ctr">
                      <a:solidFill>
                        <a:srgbClr val="8CC63F"/>
                      </a:solidFill>
                      <a:prstDash val="solid"/>
                      <a:round/>
                      <a:headEnd type="none" w="med" len="med"/>
                      <a:tailEnd type="none" w="med" len="med"/>
                    </a:lnR>
                    <a:lnT w="6350" cap="flat" cmpd="sng" algn="ctr">
                      <a:solidFill>
                        <a:srgbClr val="8CC63F"/>
                      </a:solidFill>
                      <a:prstDash val="solid"/>
                      <a:round/>
                      <a:headEnd type="none" w="med" len="med"/>
                      <a:tailEnd type="none" w="med" len="med"/>
                    </a:lnT>
                    <a:lnB w="6350" cap="flat" cmpd="sng" algn="ctr">
                      <a:solidFill>
                        <a:srgbClr val="8CC63F"/>
                      </a:solidFill>
                      <a:prstDash val="solid"/>
                      <a:round/>
                      <a:headEnd type="none" w="med" len="med"/>
                      <a:tailEnd type="none" w="med" len="med"/>
                    </a:lnB>
                    <a:solidFill>
                      <a:schemeClr val="bg1"/>
                    </a:solidFill>
                  </a:tcPr>
                </a:tc>
                <a:tc>
                  <a:txBody>
                    <a:bodyPr/>
                    <a:lstStyle/>
                    <a:p>
                      <a:pPr algn="ctr" rtl="0" fontAlgn="ctr"/>
                      <a:r>
                        <a:rPr lang="en-AU" sz="1800" b="0" i="0" u="none" strike="noStrike">
                          <a:solidFill>
                            <a:schemeClr val="accent3">
                              <a:lumMod val="75000"/>
                            </a:schemeClr>
                          </a:solidFill>
                          <a:effectLst/>
                          <a:latin typeface="Calibri"/>
                        </a:rPr>
                        <a:t>0</a:t>
                      </a:r>
                    </a:p>
                  </a:txBody>
                  <a:tcPr marL="0" marR="0" marT="0" marB="0" anchor="ctr">
                    <a:lnL w="6350" cap="flat" cmpd="sng" algn="ctr">
                      <a:solidFill>
                        <a:srgbClr val="8CC63F"/>
                      </a:solidFill>
                      <a:prstDash val="solid"/>
                      <a:round/>
                      <a:headEnd type="none" w="med" len="med"/>
                      <a:tailEnd type="none" w="med" len="med"/>
                    </a:lnL>
                    <a:lnR w="6350" cap="flat" cmpd="sng" algn="ctr">
                      <a:solidFill>
                        <a:srgbClr val="8CC63F"/>
                      </a:solidFill>
                      <a:prstDash val="solid"/>
                      <a:round/>
                      <a:headEnd type="none" w="med" len="med"/>
                      <a:tailEnd type="none" w="med" len="med"/>
                    </a:lnR>
                    <a:lnT w="6350" cap="flat" cmpd="sng" algn="ctr">
                      <a:solidFill>
                        <a:srgbClr val="8CC63F"/>
                      </a:solidFill>
                      <a:prstDash val="solid"/>
                      <a:round/>
                      <a:headEnd type="none" w="med" len="med"/>
                      <a:tailEnd type="none" w="med" len="med"/>
                    </a:lnT>
                    <a:lnB w="6350" cap="flat" cmpd="sng" algn="ctr">
                      <a:solidFill>
                        <a:srgbClr val="8CC63F"/>
                      </a:solidFill>
                      <a:prstDash val="solid"/>
                      <a:round/>
                      <a:headEnd type="none" w="med" len="med"/>
                      <a:tailEnd type="none" w="med" len="med"/>
                    </a:lnB>
                    <a:solidFill>
                      <a:schemeClr val="bg1"/>
                    </a:solidFill>
                  </a:tcPr>
                </a:tc>
                <a:tc>
                  <a:txBody>
                    <a:bodyPr/>
                    <a:lstStyle/>
                    <a:p>
                      <a:pPr algn="ctr" rtl="0" fontAlgn="ctr"/>
                      <a:r>
                        <a:rPr lang="en-AU" sz="1800" b="0" i="0" u="none" strike="noStrike">
                          <a:solidFill>
                            <a:schemeClr val="accent3">
                              <a:lumMod val="75000"/>
                            </a:schemeClr>
                          </a:solidFill>
                          <a:effectLst/>
                          <a:latin typeface="Calibri"/>
                        </a:rPr>
                        <a:t>0</a:t>
                      </a:r>
                    </a:p>
                  </a:txBody>
                  <a:tcPr marL="0" marR="0" marT="0" marB="0" anchor="ctr">
                    <a:lnL w="6350" cap="flat" cmpd="sng" algn="ctr">
                      <a:solidFill>
                        <a:srgbClr val="8CC63F"/>
                      </a:solidFill>
                      <a:prstDash val="solid"/>
                      <a:round/>
                      <a:headEnd type="none" w="med" len="med"/>
                      <a:tailEnd type="none" w="med" len="med"/>
                    </a:lnL>
                    <a:lnR w="6350" cap="flat" cmpd="sng" algn="ctr">
                      <a:solidFill>
                        <a:srgbClr val="8CC63F"/>
                      </a:solidFill>
                      <a:prstDash val="solid"/>
                      <a:round/>
                      <a:headEnd type="none" w="med" len="med"/>
                      <a:tailEnd type="none" w="med" len="med"/>
                    </a:lnR>
                    <a:lnT w="6350" cap="flat" cmpd="sng" algn="ctr">
                      <a:solidFill>
                        <a:srgbClr val="8CC63F"/>
                      </a:solidFill>
                      <a:prstDash val="solid"/>
                      <a:round/>
                      <a:headEnd type="none" w="med" len="med"/>
                      <a:tailEnd type="none" w="med" len="med"/>
                    </a:lnT>
                    <a:lnB w="6350" cap="flat" cmpd="sng" algn="ctr">
                      <a:solidFill>
                        <a:srgbClr val="8CC63F"/>
                      </a:solidFill>
                      <a:prstDash val="solid"/>
                      <a:round/>
                      <a:headEnd type="none" w="med" len="med"/>
                      <a:tailEnd type="none" w="med" len="med"/>
                    </a:lnB>
                    <a:solidFill>
                      <a:schemeClr val="bg1"/>
                    </a:solidFill>
                  </a:tcPr>
                </a:tc>
              </a:tr>
              <a:tr h="779907">
                <a:tc>
                  <a:txBody>
                    <a:bodyPr/>
                    <a:lstStyle/>
                    <a:p>
                      <a:endParaRPr lang="en-AU" dirty="0" smtClean="0">
                        <a:solidFill>
                          <a:srgbClr val="73A531"/>
                        </a:solidFill>
                      </a:endParaRPr>
                    </a:p>
                  </a:txBody>
                  <a:tcPr>
                    <a:lnL w="6350" cap="flat" cmpd="sng" algn="ctr">
                      <a:noFill/>
                      <a:prstDash val="solid"/>
                      <a:round/>
                      <a:headEnd type="none" w="med" len="med"/>
                      <a:tailEnd type="none" w="med" len="med"/>
                    </a:lnL>
                    <a:lnR w="6350" cap="flat" cmpd="sng" algn="ctr">
                      <a:solidFill>
                        <a:srgbClr val="8CC63F"/>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solidFill>
                  </a:tcPr>
                </a:tc>
                <a:tc>
                  <a:txBody>
                    <a:bodyPr/>
                    <a:lstStyle/>
                    <a:p>
                      <a:pPr marL="0" algn="ctr" defTabSz="914400" rtl="0" eaLnBrk="1" fontAlgn="ctr" latinLnBrk="0" hangingPunct="1"/>
                      <a:r>
                        <a:rPr lang="en-AU" sz="1800" b="1" i="0" u="none" strike="noStrike" kern="1200" dirty="0">
                          <a:solidFill>
                            <a:schemeClr val="accent3">
                              <a:lumMod val="75000"/>
                            </a:schemeClr>
                          </a:solidFill>
                          <a:effectLst/>
                          <a:latin typeface="Calibri"/>
                          <a:ea typeface="+mn-ea"/>
                          <a:cs typeface="+mn-cs"/>
                        </a:rPr>
                        <a:t>524</a:t>
                      </a:r>
                    </a:p>
                  </a:txBody>
                  <a:tcPr marL="0" marR="0" marT="0" marB="0" anchor="ctr">
                    <a:lnL w="6350" cap="flat" cmpd="sng" algn="ctr">
                      <a:solidFill>
                        <a:srgbClr val="8CC63F"/>
                      </a:solidFill>
                      <a:prstDash val="solid"/>
                      <a:round/>
                      <a:headEnd type="none" w="med" len="med"/>
                      <a:tailEnd type="none" w="med" len="med"/>
                    </a:lnL>
                    <a:lnR w="6350" cap="flat" cmpd="sng" algn="ctr">
                      <a:solidFill>
                        <a:srgbClr val="8CC63F"/>
                      </a:solidFill>
                      <a:prstDash val="solid"/>
                      <a:round/>
                      <a:headEnd type="none" w="med" len="med"/>
                      <a:tailEnd type="none" w="med" len="med"/>
                    </a:lnR>
                    <a:lnT w="6350" cap="flat" cmpd="sng" algn="ctr">
                      <a:solidFill>
                        <a:srgbClr val="8CC63F"/>
                      </a:solidFill>
                      <a:prstDash val="solid"/>
                      <a:round/>
                      <a:headEnd type="none" w="med" len="med"/>
                      <a:tailEnd type="none" w="med" len="med"/>
                    </a:lnT>
                    <a:lnB w="6350" cap="flat" cmpd="sng" algn="ctr">
                      <a:solidFill>
                        <a:srgbClr val="8CC63F"/>
                      </a:solidFill>
                      <a:prstDash val="solid"/>
                      <a:round/>
                      <a:headEnd type="none" w="med" len="med"/>
                      <a:tailEnd type="none" w="med" len="med"/>
                    </a:lnB>
                    <a:solidFill>
                      <a:srgbClr val="F5F8EE"/>
                    </a:solidFill>
                  </a:tcPr>
                </a:tc>
                <a:tc>
                  <a:txBody>
                    <a:bodyPr/>
                    <a:lstStyle/>
                    <a:p>
                      <a:pPr algn="ctr" rtl="0" fontAlgn="ctr"/>
                      <a:r>
                        <a:rPr lang="en-AU" sz="1800" b="0" i="0" u="none" strike="noStrike">
                          <a:solidFill>
                            <a:schemeClr val="accent3">
                              <a:lumMod val="75000"/>
                            </a:schemeClr>
                          </a:solidFill>
                          <a:effectLst/>
                          <a:latin typeface="Calibri"/>
                        </a:rPr>
                        <a:t>316</a:t>
                      </a:r>
                    </a:p>
                  </a:txBody>
                  <a:tcPr marL="0" marR="0" marT="0" marB="0" anchor="ctr">
                    <a:lnL w="6350" cap="flat" cmpd="sng" algn="ctr">
                      <a:solidFill>
                        <a:srgbClr val="8CC63F"/>
                      </a:solidFill>
                      <a:prstDash val="solid"/>
                      <a:round/>
                      <a:headEnd type="none" w="med" len="med"/>
                      <a:tailEnd type="none" w="med" len="med"/>
                    </a:lnL>
                    <a:lnR w="6350" cap="flat" cmpd="sng" algn="ctr">
                      <a:solidFill>
                        <a:srgbClr val="8CC63F"/>
                      </a:solidFill>
                      <a:prstDash val="solid"/>
                      <a:round/>
                      <a:headEnd type="none" w="med" len="med"/>
                      <a:tailEnd type="none" w="med" len="med"/>
                    </a:lnR>
                    <a:lnT w="6350" cap="flat" cmpd="sng" algn="ctr">
                      <a:solidFill>
                        <a:srgbClr val="8CC63F"/>
                      </a:solidFill>
                      <a:prstDash val="solid"/>
                      <a:round/>
                      <a:headEnd type="none" w="med" len="med"/>
                      <a:tailEnd type="none" w="med" len="med"/>
                    </a:lnT>
                    <a:lnB w="6350" cap="flat" cmpd="sng" algn="ctr">
                      <a:solidFill>
                        <a:srgbClr val="8CC63F"/>
                      </a:solidFill>
                      <a:prstDash val="solid"/>
                      <a:round/>
                      <a:headEnd type="none" w="med" len="med"/>
                      <a:tailEnd type="none" w="med" len="med"/>
                    </a:lnB>
                    <a:solidFill>
                      <a:schemeClr val="bg1"/>
                    </a:solidFill>
                  </a:tcPr>
                </a:tc>
                <a:tc>
                  <a:txBody>
                    <a:bodyPr/>
                    <a:lstStyle/>
                    <a:p>
                      <a:pPr algn="ctr" rtl="0" fontAlgn="ctr"/>
                      <a:r>
                        <a:rPr lang="en-AU" sz="1800" b="0" i="0" u="none" strike="noStrike">
                          <a:solidFill>
                            <a:schemeClr val="accent3">
                              <a:lumMod val="75000"/>
                            </a:schemeClr>
                          </a:solidFill>
                          <a:effectLst/>
                          <a:latin typeface="Calibri"/>
                        </a:rPr>
                        <a:t>115</a:t>
                      </a:r>
                    </a:p>
                  </a:txBody>
                  <a:tcPr marL="0" marR="0" marT="0" marB="0" anchor="ctr">
                    <a:lnL w="6350" cap="flat" cmpd="sng" algn="ctr">
                      <a:solidFill>
                        <a:srgbClr val="8CC63F"/>
                      </a:solidFill>
                      <a:prstDash val="solid"/>
                      <a:round/>
                      <a:headEnd type="none" w="med" len="med"/>
                      <a:tailEnd type="none" w="med" len="med"/>
                    </a:lnL>
                    <a:lnR w="6350" cap="flat" cmpd="sng" algn="ctr">
                      <a:solidFill>
                        <a:srgbClr val="8CC63F"/>
                      </a:solidFill>
                      <a:prstDash val="solid"/>
                      <a:round/>
                      <a:headEnd type="none" w="med" len="med"/>
                      <a:tailEnd type="none" w="med" len="med"/>
                    </a:lnR>
                    <a:lnT w="6350" cap="flat" cmpd="sng" algn="ctr">
                      <a:solidFill>
                        <a:srgbClr val="8CC63F"/>
                      </a:solidFill>
                      <a:prstDash val="solid"/>
                      <a:round/>
                      <a:headEnd type="none" w="med" len="med"/>
                      <a:tailEnd type="none" w="med" len="med"/>
                    </a:lnT>
                    <a:lnB w="6350" cap="flat" cmpd="sng" algn="ctr">
                      <a:solidFill>
                        <a:srgbClr val="8CC63F"/>
                      </a:solidFill>
                      <a:prstDash val="solid"/>
                      <a:round/>
                      <a:headEnd type="none" w="med" len="med"/>
                      <a:tailEnd type="none" w="med" len="med"/>
                    </a:lnB>
                    <a:solidFill>
                      <a:schemeClr val="bg1"/>
                    </a:solidFill>
                  </a:tcPr>
                </a:tc>
                <a:tc>
                  <a:txBody>
                    <a:bodyPr/>
                    <a:lstStyle/>
                    <a:p>
                      <a:pPr algn="ctr" rtl="0" fontAlgn="ctr"/>
                      <a:r>
                        <a:rPr lang="en-AU" sz="1800" b="0" i="0" u="none" strike="noStrike">
                          <a:solidFill>
                            <a:schemeClr val="accent3">
                              <a:lumMod val="75000"/>
                            </a:schemeClr>
                          </a:solidFill>
                          <a:effectLst/>
                          <a:latin typeface="Calibri"/>
                        </a:rPr>
                        <a:t>30</a:t>
                      </a:r>
                    </a:p>
                  </a:txBody>
                  <a:tcPr marL="0" marR="0" marT="0" marB="0" anchor="ctr">
                    <a:lnL w="6350" cap="flat" cmpd="sng" algn="ctr">
                      <a:solidFill>
                        <a:srgbClr val="8CC63F"/>
                      </a:solidFill>
                      <a:prstDash val="solid"/>
                      <a:round/>
                      <a:headEnd type="none" w="med" len="med"/>
                      <a:tailEnd type="none" w="med" len="med"/>
                    </a:lnL>
                    <a:lnR w="6350" cap="flat" cmpd="sng" algn="ctr">
                      <a:solidFill>
                        <a:srgbClr val="8CC63F"/>
                      </a:solidFill>
                      <a:prstDash val="solid"/>
                      <a:round/>
                      <a:headEnd type="none" w="med" len="med"/>
                      <a:tailEnd type="none" w="med" len="med"/>
                    </a:lnR>
                    <a:lnT w="6350" cap="flat" cmpd="sng" algn="ctr">
                      <a:solidFill>
                        <a:srgbClr val="8CC63F"/>
                      </a:solidFill>
                      <a:prstDash val="solid"/>
                      <a:round/>
                      <a:headEnd type="none" w="med" len="med"/>
                      <a:tailEnd type="none" w="med" len="med"/>
                    </a:lnT>
                    <a:lnB w="6350" cap="flat" cmpd="sng" algn="ctr">
                      <a:solidFill>
                        <a:srgbClr val="8CC63F"/>
                      </a:solidFill>
                      <a:prstDash val="solid"/>
                      <a:round/>
                      <a:headEnd type="none" w="med" len="med"/>
                      <a:tailEnd type="none" w="med" len="med"/>
                    </a:lnB>
                    <a:solidFill>
                      <a:schemeClr val="bg1"/>
                    </a:solidFill>
                  </a:tcPr>
                </a:tc>
                <a:tc>
                  <a:txBody>
                    <a:bodyPr/>
                    <a:lstStyle/>
                    <a:p>
                      <a:pPr algn="ctr" rtl="0" fontAlgn="ctr"/>
                      <a:r>
                        <a:rPr lang="en-AU" sz="1800" b="0" i="0" u="none" strike="noStrike">
                          <a:solidFill>
                            <a:schemeClr val="accent3">
                              <a:lumMod val="75000"/>
                            </a:schemeClr>
                          </a:solidFill>
                          <a:effectLst/>
                          <a:latin typeface="Calibri"/>
                        </a:rPr>
                        <a:t>21</a:t>
                      </a:r>
                    </a:p>
                  </a:txBody>
                  <a:tcPr marL="0" marR="0" marT="0" marB="0" anchor="ctr">
                    <a:lnL w="6350" cap="flat" cmpd="sng" algn="ctr">
                      <a:solidFill>
                        <a:srgbClr val="8CC63F"/>
                      </a:solidFill>
                      <a:prstDash val="solid"/>
                      <a:round/>
                      <a:headEnd type="none" w="med" len="med"/>
                      <a:tailEnd type="none" w="med" len="med"/>
                    </a:lnL>
                    <a:lnR w="6350" cap="flat" cmpd="sng" algn="ctr">
                      <a:solidFill>
                        <a:srgbClr val="8CC63F"/>
                      </a:solidFill>
                      <a:prstDash val="solid"/>
                      <a:round/>
                      <a:headEnd type="none" w="med" len="med"/>
                      <a:tailEnd type="none" w="med" len="med"/>
                    </a:lnR>
                    <a:lnT w="6350" cap="flat" cmpd="sng" algn="ctr">
                      <a:solidFill>
                        <a:srgbClr val="8CC63F"/>
                      </a:solidFill>
                      <a:prstDash val="solid"/>
                      <a:round/>
                      <a:headEnd type="none" w="med" len="med"/>
                      <a:tailEnd type="none" w="med" len="med"/>
                    </a:lnT>
                    <a:lnB w="6350" cap="flat" cmpd="sng" algn="ctr">
                      <a:solidFill>
                        <a:srgbClr val="8CC63F"/>
                      </a:solidFill>
                      <a:prstDash val="solid"/>
                      <a:round/>
                      <a:headEnd type="none" w="med" len="med"/>
                      <a:tailEnd type="none" w="med" len="med"/>
                    </a:lnB>
                    <a:solidFill>
                      <a:schemeClr val="bg1"/>
                    </a:solidFill>
                  </a:tcPr>
                </a:tc>
                <a:tc>
                  <a:txBody>
                    <a:bodyPr/>
                    <a:lstStyle/>
                    <a:p>
                      <a:pPr algn="ctr" rtl="0" fontAlgn="ctr"/>
                      <a:r>
                        <a:rPr lang="en-AU" sz="1800" b="0" i="0" u="none" strike="noStrike">
                          <a:solidFill>
                            <a:schemeClr val="accent3">
                              <a:lumMod val="75000"/>
                            </a:schemeClr>
                          </a:solidFill>
                          <a:effectLst/>
                          <a:latin typeface="Calibri"/>
                        </a:rPr>
                        <a:t>11</a:t>
                      </a:r>
                    </a:p>
                  </a:txBody>
                  <a:tcPr marL="0" marR="0" marT="0" marB="0" anchor="ctr">
                    <a:lnL w="6350" cap="flat" cmpd="sng" algn="ctr">
                      <a:solidFill>
                        <a:srgbClr val="8CC63F"/>
                      </a:solidFill>
                      <a:prstDash val="solid"/>
                      <a:round/>
                      <a:headEnd type="none" w="med" len="med"/>
                      <a:tailEnd type="none" w="med" len="med"/>
                    </a:lnL>
                    <a:lnR w="6350" cap="flat" cmpd="sng" algn="ctr">
                      <a:solidFill>
                        <a:srgbClr val="8CC63F"/>
                      </a:solidFill>
                      <a:prstDash val="solid"/>
                      <a:round/>
                      <a:headEnd type="none" w="med" len="med"/>
                      <a:tailEnd type="none" w="med" len="med"/>
                    </a:lnR>
                    <a:lnT w="6350" cap="flat" cmpd="sng" algn="ctr">
                      <a:solidFill>
                        <a:srgbClr val="8CC63F"/>
                      </a:solidFill>
                      <a:prstDash val="solid"/>
                      <a:round/>
                      <a:headEnd type="none" w="med" len="med"/>
                      <a:tailEnd type="none" w="med" len="med"/>
                    </a:lnT>
                    <a:lnB w="6350" cap="flat" cmpd="sng" algn="ctr">
                      <a:solidFill>
                        <a:srgbClr val="8CC63F"/>
                      </a:solidFill>
                      <a:prstDash val="solid"/>
                      <a:round/>
                      <a:headEnd type="none" w="med" len="med"/>
                      <a:tailEnd type="none" w="med" len="med"/>
                    </a:lnB>
                    <a:solidFill>
                      <a:schemeClr val="bg1"/>
                    </a:solidFill>
                  </a:tcPr>
                </a:tc>
                <a:tc>
                  <a:txBody>
                    <a:bodyPr/>
                    <a:lstStyle/>
                    <a:p>
                      <a:pPr algn="ctr" rtl="0" fontAlgn="ctr"/>
                      <a:r>
                        <a:rPr lang="en-AU" sz="1800" b="0" i="0" u="none" strike="noStrike">
                          <a:solidFill>
                            <a:schemeClr val="accent3">
                              <a:lumMod val="75000"/>
                            </a:schemeClr>
                          </a:solidFill>
                          <a:effectLst/>
                          <a:latin typeface="Calibri"/>
                        </a:rPr>
                        <a:t>19</a:t>
                      </a:r>
                    </a:p>
                  </a:txBody>
                  <a:tcPr marL="0" marR="0" marT="0" marB="0" anchor="ctr">
                    <a:lnL w="6350" cap="flat" cmpd="sng" algn="ctr">
                      <a:solidFill>
                        <a:srgbClr val="8CC63F"/>
                      </a:solidFill>
                      <a:prstDash val="solid"/>
                      <a:round/>
                      <a:headEnd type="none" w="med" len="med"/>
                      <a:tailEnd type="none" w="med" len="med"/>
                    </a:lnL>
                    <a:lnR w="6350" cap="flat" cmpd="sng" algn="ctr">
                      <a:solidFill>
                        <a:srgbClr val="8CC63F"/>
                      </a:solidFill>
                      <a:prstDash val="solid"/>
                      <a:round/>
                      <a:headEnd type="none" w="med" len="med"/>
                      <a:tailEnd type="none" w="med" len="med"/>
                    </a:lnR>
                    <a:lnT w="6350" cap="flat" cmpd="sng" algn="ctr">
                      <a:solidFill>
                        <a:srgbClr val="8CC63F"/>
                      </a:solidFill>
                      <a:prstDash val="solid"/>
                      <a:round/>
                      <a:headEnd type="none" w="med" len="med"/>
                      <a:tailEnd type="none" w="med" len="med"/>
                    </a:lnT>
                    <a:lnB w="6350" cap="flat" cmpd="sng" algn="ctr">
                      <a:solidFill>
                        <a:srgbClr val="8CC63F"/>
                      </a:solidFill>
                      <a:prstDash val="solid"/>
                      <a:round/>
                      <a:headEnd type="none" w="med" len="med"/>
                      <a:tailEnd type="none" w="med" len="med"/>
                    </a:lnB>
                    <a:solidFill>
                      <a:schemeClr val="bg1"/>
                    </a:solidFill>
                  </a:tcPr>
                </a:tc>
                <a:tc>
                  <a:txBody>
                    <a:bodyPr/>
                    <a:lstStyle/>
                    <a:p>
                      <a:pPr algn="ctr" rtl="0" fontAlgn="ctr"/>
                      <a:r>
                        <a:rPr lang="en-AU" sz="1800" b="0" i="0" u="none" strike="noStrike" dirty="0">
                          <a:solidFill>
                            <a:schemeClr val="accent3">
                              <a:lumMod val="75000"/>
                            </a:schemeClr>
                          </a:solidFill>
                          <a:effectLst/>
                          <a:latin typeface="Calibri"/>
                        </a:rPr>
                        <a:t>12</a:t>
                      </a:r>
                    </a:p>
                  </a:txBody>
                  <a:tcPr marL="0" marR="0" marT="0" marB="0" anchor="ctr">
                    <a:lnL w="6350" cap="flat" cmpd="sng" algn="ctr">
                      <a:solidFill>
                        <a:srgbClr val="8CC63F"/>
                      </a:solidFill>
                      <a:prstDash val="solid"/>
                      <a:round/>
                      <a:headEnd type="none" w="med" len="med"/>
                      <a:tailEnd type="none" w="med" len="med"/>
                    </a:lnL>
                    <a:lnR w="6350" cap="flat" cmpd="sng" algn="ctr">
                      <a:solidFill>
                        <a:srgbClr val="8CC63F"/>
                      </a:solidFill>
                      <a:prstDash val="solid"/>
                      <a:round/>
                      <a:headEnd type="none" w="med" len="med"/>
                      <a:tailEnd type="none" w="med" len="med"/>
                    </a:lnR>
                    <a:lnT w="6350" cap="flat" cmpd="sng" algn="ctr">
                      <a:solidFill>
                        <a:srgbClr val="8CC63F"/>
                      </a:solidFill>
                      <a:prstDash val="solid"/>
                      <a:round/>
                      <a:headEnd type="none" w="med" len="med"/>
                      <a:tailEnd type="none" w="med" len="med"/>
                    </a:lnT>
                    <a:lnB w="6350" cap="flat" cmpd="sng" algn="ctr">
                      <a:solidFill>
                        <a:srgbClr val="8CC63F"/>
                      </a:solidFill>
                      <a:prstDash val="solid"/>
                      <a:round/>
                      <a:headEnd type="none" w="med" len="med"/>
                      <a:tailEnd type="none" w="med" len="med"/>
                    </a:lnB>
                    <a:solidFill>
                      <a:schemeClr val="bg1"/>
                    </a:solidFill>
                  </a:tcPr>
                </a:tc>
              </a:tr>
              <a:tr h="779907">
                <a:tc>
                  <a:txBody>
                    <a:bodyPr/>
                    <a:lstStyle/>
                    <a:p>
                      <a:endParaRPr lang="en-AU" dirty="0">
                        <a:solidFill>
                          <a:srgbClr val="73A531"/>
                        </a:solidFill>
                      </a:endParaRPr>
                    </a:p>
                  </a:txBody>
                  <a:tcPr>
                    <a:lnL w="6350" cap="flat" cmpd="sng" algn="ctr">
                      <a:noFill/>
                      <a:prstDash val="solid"/>
                      <a:round/>
                      <a:headEnd type="none" w="med" len="med"/>
                      <a:tailEnd type="none" w="med" len="med"/>
                    </a:lnL>
                    <a:lnR w="6350" cap="flat" cmpd="sng" algn="ctr">
                      <a:solidFill>
                        <a:srgbClr val="8CC63F"/>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solidFill>
                  </a:tcPr>
                </a:tc>
                <a:tc>
                  <a:txBody>
                    <a:bodyPr/>
                    <a:lstStyle/>
                    <a:p>
                      <a:pPr marL="0" algn="ctr" defTabSz="914400" rtl="0" eaLnBrk="1" fontAlgn="ctr" latinLnBrk="0" hangingPunct="1"/>
                      <a:r>
                        <a:rPr lang="en-AU" sz="1800" b="1" i="0" u="none" strike="noStrike" kern="1200" dirty="0" smtClean="0">
                          <a:solidFill>
                            <a:schemeClr val="accent3">
                              <a:lumMod val="75000"/>
                            </a:schemeClr>
                          </a:solidFill>
                          <a:effectLst/>
                          <a:latin typeface="Calibri"/>
                          <a:ea typeface="+mn-ea"/>
                          <a:cs typeface="+mn-cs"/>
                        </a:rPr>
                        <a:t>10,837</a:t>
                      </a:r>
                      <a:endParaRPr lang="en-AU" sz="1800" b="1" i="0" u="none" strike="noStrike" kern="1200" dirty="0">
                        <a:solidFill>
                          <a:schemeClr val="accent3">
                            <a:lumMod val="75000"/>
                          </a:schemeClr>
                        </a:solidFill>
                        <a:effectLst/>
                        <a:latin typeface="Calibri"/>
                        <a:ea typeface="+mn-ea"/>
                        <a:cs typeface="+mn-cs"/>
                      </a:endParaRPr>
                    </a:p>
                  </a:txBody>
                  <a:tcPr marL="0" marR="0" marT="0" marB="0" anchor="ctr">
                    <a:lnL w="6350" cap="flat" cmpd="sng" algn="ctr">
                      <a:solidFill>
                        <a:srgbClr val="8CC63F"/>
                      </a:solidFill>
                      <a:prstDash val="solid"/>
                      <a:round/>
                      <a:headEnd type="none" w="med" len="med"/>
                      <a:tailEnd type="none" w="med" len="med"/>
                    </a:lnL>
                    <a:lnR w="6350" cap="flat" cmpd="sng" algn="ctr">
                      <a:solidFill>
                        <a:srgbClr val="8CC63F"/>
                      </a:solidFill>
                      <a:prstDash val="solid"/>
                      <a:round/>
                      <a:headEnd type="none" w="med" len="med"/>
                      <a:tailEnd type="none" w="med" len="med"/>
                    </a:lnR>
                    <a:lnT w="6350" cap="flat" cmpd="sng" algn="ctr">
                      <a:solidFill>
                        <a:srgbClr val="8CC63F"/>
                      </a:solidFill>
                      <a:prstDash val="solid"/>
                      <a:round/>
                      <a:headEnd type="none" w="med" len="med"/>
                      <a:tailEnd type="none" w="med" len="med"/>
                    </a:lnT>
                    <a:lnB w="6350" cap="flat" cmpd="sng" algn="ctr">
                      <a:solidFill>
                        <a:srgbClr val="8CC63F"/>
                      </a:solidFill>
                      <a:prstDash val="solid"/>
                      <a:round/>
                      <a:headEnd type="none" w="med" len="med"/>
                      <a:tailEnd type="none" w="med" len="med"/>
                    </a:lnB>
                    <a:solidFill>
                      <a:srgbClr val="F5F8EE"/>
                    </a:solidFill>
                  </a:tcPr>
                </a:tc>
                <a:tc>
                  <a:txBody>
                    <a:bodyPr/>
                    <a:lstStyle/>
                    <a:p>
                      <a:pPr algn="ctr" rtl="0" fontAlgn="ctr"/>
                      <a:r>
                        <a:rPr lang="en-AU" sz="1800" b="0" i="0" u="none" strike="noStrike" dirty="0" smtClean="0">
                          <a:solidFill>
                            <a:schemeClr val="accent3">
                              <a:lumMod val="75000"/>
                            </a:schemeClr>
                          </a:solidFill>
                          <a:effectLst/>
                          <a:latin typeface="Calibri"/>
                        </a:rPr>
                        <a:t>7,123</a:t>
                      </a:r>
                      <a:endParaRPr lang="en-AU" sz="1800" b="0" i="0" u="none" strike="noStrike" dirty="0">
                        <a:solidFill>
                          <a:schemeClr val="accent3">
                            <a:lumMod val="75000"/>
                          </a:schemeClr>
                        </a:solidFill>
                        <a:effectLst/>
                        <a:latin typeface="Calibri"/>
                      </a:endParaRPr>
                    </a:p>
                  </a:txBody>
                  <a:tcPr marL="0" marR="0" marT="0" marB="0" anchor="ctr">
                    <a:lnL w="6350" cap="flat" cmpd="sng" algn="ctr">
                      <a:solidFill>
                        <a:srgbClr val="8CC63F"/>
                      </a:solidFill>
                      <a:prstDash val="solid"/>
                      <a:round/>
                      <a:headEnd type="none" w="med" len="med"/>
                      <a:tailEnd type="none" w="med" len="med"/>
                    </a:lnL>
                    <a:lnR w="6350" cap="flat" cmpd="sng" algn="ctr">
                      <a:solidFill>
                        <a:srgbClr val="8CC63F"/>
                      </a:solidFill>
                      <a:prstDash val="solid"/>
                      <a:round/>
                      <a:headEnd type="none" w="med" len="med"/>
                      <a:tailEnd type="none" w="med" len="med"/>
                    </a:lnR>
                    <a:lnT w="6350" cap="flat" cmpd="sng" algn="ctr">
                      <a:solidFill>
                        <a:srgbClr val="8CC63F"/>
                      </a:solidFill>
                      <a:prstDash val="solid"/>
                      <a:round/>
                      <a:headEnd type="none" w="med" len="med"/>
                      <a:tailEnd type="none" w="med" len="med"/>
                    </a:lnT>
                    <a:lnB w="6350" cap="flat" cmpd="sng" algn="ctr">
                      <a:solidFill>
                        <a:srgbClr val="8CC63F"/>
                      </a:solidFill>
                      <a:prstDash val="solid"/>
                      <a:round/>
                      <a:headEnd type="none" w="med" len="med"/>
                      <a:tailEnd type="none" w="med" len="med"/>
                    </a:lnB>
                    <a:solidFill>
                      <a:schemeClr val="bg1"/>
                    </a:solidFill>
                  </a:tcPr>
                </a:tc>
                <a:tc>
                  <a:txBody>
                    <a:bodyPr/>
                    <a:lstStyle/>
                    <a:p>
                      <a:pPr algn="ctr" rtl="0" fontAlgn="ctr"/>
                      <a:r>
                        <a:rPr lang="en-AU" sz="1800" b="0" i="0" u="none" strike="noStrike" dirty="0">
                          <a:solidFill>
                            <a:schemeClr val="accent3">
                              <a:lumMod val="75000"/>
                            </a:schemeClr>
                          </a:solidFill>
                          <a:effectLst/>
                          <a:latin typeface="Calibri"/>
                        </a:rPr>
                        <a:t>1,791</a:t>
                      </a:r>
                    </a:p>
                  </a:txBody>
                  <a:tcPr marL="0" marR="0" marT="0" marB="0" anchor="ctr">
                    <a:lnL w="6350" cap="flat" cmpd="sng" algn="ctr">
                      <a:solidFill>
                        <a:srgbClr val="8CC63F"/>
                      </a:solidFill>
                      <a:prstDash val="solid"/>
                      <a:round/>
                      <a:headEnd type="none" w="med" len="med"/>
                      <a:tailEnd type="none" w="med" len="med"/>
                    </a:lnL>
                    <a:lnR w="6350" cap="flat" cmpd="sng" algn="ctr">
                      <a:solidFill>
                        <a:srgbClr val="8CC63F"/>
                      </a:solidFill>
                      <a:prstDash val="solid"/>
                      <a:round/>
                      <a:headEnd type="none" w="med" len="med"/>
                      <a:tailEnd type="none" w="med" len="med"/>
                    </a:lnR>
                    <a:lnT w="6350" cap="flat" cmpd="sng" algn="ctr">
                      <a:solidFill>
                        <a:srgbClr val="8CC63F"/>
                      </a:solidFill>
                      <a:prstDash val="solid"/>
                      <a:round/>
                      <a:headEnd type="none" w="med" len="med"/>
                      <a:tailEnd type="none" w="med" len="med"/>
                    </a:lnT>
                    <a:lnB w="6350" cap="flat" cmpd="sng" algn="ctr">
                      <a:solidFill>
                        <a:srgbClr val="8CC63F"/>
                      </a:solidFill>
                      <a:prstDash val="solid"/>
                      <a:round/>
                      <a:headEnd type="none" w="med" len="med"/>
                      <a:tailEnd type="none" w="med" len="med"/>
                    </a:lnB>
                    <a:solidFill>
                      <a:schemeClr val="bg1"/>
                    </a:solidFill>
                  </a:tcPr>
                </a:tc>
                <a:tc>
                  <a:txBody>
                    <a:bodyPr/>
                    <a:lstStyle/>
                    <a:p>
                      <a:pPr algn="ctr" rtl="0" fontAlgn="ctr"/>
                      <a:r>
                        <a:rPr lang="en-AU" sz="1800" b="0" i="0" u="none" strike="noStrike">
                          <a:solidFill>
                            <a:schemeClr val="accent3">
                              <a:lumMod val="75000"/>
                            </a:schemeClr>
                          </a:solidFill>
                          <a:effectLst/>
                          <a:latin typeface="Calibri"/>
                        </a:rPr>
                        <a:t>368</a:t>
                      </a:r>
                    </a:p>
                  </a:txBody>
                  <a:tcPr marL="0" marR="0" marT="0" marB="0" anchor="ctr">
                    <a:lnL w="6350" cap="flat" cmpd="sng" algn="ctr">
                      <a:solidFill>
                        <a:srgbClr val="8CC63F"/>
                      </a:solidFill>
                      <a:prstDash val="solid"/>
                      <a:round/>
                      <a:headEnd type="none" w="med" len="med"/>
                      <a:tailEnd type="none" w="med" len="med"/>
                    </a:lnL>
                    <a:lnR w="6350" cap="flat" cmpd="sng" algn="ctr">
                      <a:solidFill>
                        <a:srgbClr val="8CC63F"/>
                      </a:solidFill>
                      <a:prstDash val="solid"/>
                      <a:round/>
                      <a:headEnd type="none" w="med" len="med"/>
                      <a:tailEnd type="none" w="med" len="med"/>
                    </a:lnR>
                    <a:lnT w="6350" cap="flat" cmpd="sng" algn="ctr">
                      <a:solidFill>
                        <a:srgbClr val="8CC63F"/>
                      </a:solidFill>
                      <a:prstDash val="solid"/>
                      <a:round/>
                      <a:headEnd type="none" w="med" len="med"/>
                      <a:tailEnd type="none" w="med" len="med"/>
                    </a:lnT>
                    <a:lnB w="6350" cap="flat" cmpd="sng" algn="ctr">
                      <a:solidFill>
                        <a:srgbClr val="8CC63F"/>
                      </a:solidFill>
                      <a:prstDash val="solid"/>
                      <a:round/>
                      <a:headEnd type="none" w="med" len="med"/>
                      <a:tailEnd type="none" w="med" len="med"/>
                    </a:lnB>
                    <a:solidFill>
                      <a:schemeClr val="bg1"/>
                    </a:solidFill>
                  </a:tcPr>
                </a:tc>
                <a:tc>
                  <a:txBody>
                    <a:bodyPr/>
                    <a:lstStyle/>
                    <a:p>
                      <a:pPr algn="ctr" rtl="0" fontAlgn="ctr"/>
                      <a:r>
                        <a:rPr lang="en-AU" sz="1800" b="0" i="0" u="none" strike="noStrike">
                          <a:solidFill>
                            <a:schemeClr val="accent3">
                              <a:lumMod val="75000"/>
                            </a:schemeClr>
                          </a:solidFill>
                          <a:effectLst/>
                          <a:latin typeface="Calibri"/>
                        </a:rPr>
                        <a:t>387</a:t>
                      </a:r>
                    </a:p>
                  </a:txBody>
                  <a:tcPr marL="0" marR="0" marT="0" marB="0" anchor="ctr">
                    <a:lnL w="6350" cap="flat" cmpd="sng" algn="ctr">
                      <a:solidFill>
                        <a:srgbClr val="8CC63F"/>
                      </a:solidFill>
                      <a:prstDash val="solid"/>
                      <a:round/>
                      <a:headEnd type="none" w="med" len="med"/>
                      <a:tailEnd type="none" w="med" len="med"/>
                    </a:lnL>
                    <a:lnR w="6350" cap="flat" cmpd="sng" algn="ctr">
                      <a:solidFill>
                        <a:srgbClr val="8CC63F"/>
                      </a:solidFill>
                      <a:prstDash val="solid"/>
                      <a:round/>
                      <a:headEnd type="none" w="med" len="med"/>
                      <a:tailEnd type="none" w="med" len="med"/>
                    </a:lnR>
                    <a:lnT w="6350" cap="flat" cmpd="sng" algn="ctr">
                      <a:solidFill>
                        <a:srgbClr val="8CC63F"/>
                      </a:solidFill>
                      <a:prstDash val="solid"/>
                      <a:round/>
                      <a:headEnd type="none" w="med" len="med"/>
                      <a:tailEnd type="none" w="med" len="med"/>
                    </a:lnT>
                    <a:lnB w="6350" cap="flat" cmpd="sng" algn="ctr">
                      <a:solidFill>
                        <a:srgbClr val="8CC63F"/>
                      </a:solidFill>
                      <a:prstDash val="solid"/>
                      <a:round/>
                      <a:headEnd type="none" w="med" len="med"/>
                      <a:tailEnd type="none" w="med" len="med"/>
                    </a:lnB>
                    <a:solidFill>
                      <a:schemeClr val="bg1"/>
                    </a:solidFill>
                  </a:tcPr>
                </a:tc>
                <a:tc>
                  <a:txBody>
                    <a:bodyPr/>
                    <a:lstStyle/>
                    <a:p>
                      <a:pPr algn="ctr" rtl="0" fontAlgn="ctr"/>
                      <a:r>
                        <a:rPr lang="en-AU" sz="1800" b="0" i="0" u="none" strike="noStrike">
                          <a:solidFill>
                            <a:schemeClr val="accent3">
                              <a:lumMod val="75000"/>
                            </a:schemeClr>
                          </a:solidFill>
                          <a:effectLst/>
                          <a:latin typeface="Calibri"/>
                        </a:rPr>
                        <a:t>376</a:t>
                      </a:r>
                    </a:p>
                  </a:txBody>
                  <a:tcPr marL="0" marR="0" marT="0" marB="0" anchor="ctr">
                    <a:lnL w="6350" cap="flat" cmpd="sng" algn="ctr">
                      <a:solidFill>
                        <a:srgbClr val="8CC63F"/>
                      </a:solidFill>
                      <a:prstDash val="solid"/>
                      <a:round/>
                      <a:headEnd type="none" w="med" len="med"/>
                      <a:tailEnd type="none" w="med" len="med"/>
                    </a:lnL>
                    <a:lnR w="6350" cap="flat" cmpd="sng" algn="ctr">
                      <a:solidFill>
                        <a:srgbClr val="8CC63F"/>
                      </a:solidFill>
                      <a:prstDash val="solid"/>
                      <a:round/>
                      <a:headEnd type="none" w="med" len="med"/>
                      <a:tailEnd type="none" w="med" len="med"/>
                    </a:lnR>
                    <a:lnT w="6350" cap="flat" cmpd="sng" algn="ctr">
                      <a:solidFill>
                        <a:srgbClr val="8CC63F"/>
                      </a:solidFill>
                      <a:prstDash val="solid"/>
                      <a:round/>
                      <a:headEnd type="none" w="med" len="med"/>
                      <a:tailEnd type="none" w="med" len="med"/>
                    </a:lnT>
                    <a:lnB w="6350" cap="flat" cmpd="sng" algn="ctr">
                      <a:solidFill>
                        <a:srgbClr val="8CC63F"/>
                      </a:solidFill>
                      <a:prstDash val="solid"/>
                      <a:round/>
                      <a:headEnd type="none" w="med" len="med"/>
                      <a:tailEnd type="none" w="med" len="med"/>
                    </a:lnB>
                    <a:solidFill>
                      <a:schemeClr val="bg1"/>
                    </a:solidFill>
                  </a:tcPr>
                </a:tc>
                <a:tc>
                  <a:txBody>
                    <a:bodyPr/>
                    <a:lstStyle/>
                    <a:p>
                      <a:pPr algn="ctr" rtl="0" fontAlgn="ctr"/>
                      <a:r>
                        <a:rPr lang="en-AU" sz="1800" b="0" i="0" u="none" strike="noStrike">
                          <a:solidFill>
                            <a:schemeClr val="accent3">
                              <a:lumMod val="75000"/>
                            </a:schemeClr>
                          </a:solidFill>
                          <a:effectLst/>
                          <a:latin typeface="Calibri"/>
                        </a:rPr>
                        <a:t>415</a:t>
                      </a:r>
                    </a:p>
                  </a:txBody>
                  <a:tcPr marL="0" marR="0" marT="0" marB="0" anchor="ctr">
                    <a:lnL w="6350" cap="flat" cmpd="sng" algn="ctr">
                      <a:solidFill>
                        <a:srgbClr val="8CC63F"/>
                      </a:solidFill>
                      <a:prstDash val="solid"/>
                      <a:round/>
                      <a:headEnd type="none" w="med" len="med"/>
                      <a:tailEnd type="none" w="med" len="med"/>
                    </a:lnL>
                    <a:lnR w="6350" cap="flat" cmpd="sng" algn="ctr">
                      <a:solidFill>
                        <a:srgbClr val="8CC63F"/>
                      </a:solidFill>
                      <a:prstDash val="solid"/>
                      <a:round/>
                      <a:headEnd type="none" w="med" len="med"/>
                      <a:tailEnd type="none" w="med" len="med"/>
                    </a:lnR>
                    <a:lnT w="6350" cap="flat" cmpd="sng" algn="ctr">
                      <a:solidFill>
                        <a:srgbClr val="8CC63F"/>
                      </a:solidFill>
                      <a:prstDash val="solid"/>
                      <a:round/>
                      <a:headEnd type="none" w="med" len="med"/>
                      <a:tailEnd type="none" w="med" len="med"/>
                    </a:lnT>
                    <a:lnB w="6350" cap="flat" cmpd="sng" algn="ctr">
                      <a:solidFill>
                        <a:srgbClr val="8CC63F"/>
                      </a:solidFill>
                      <a:prstDash val="solid"/>
                      <a:round/>
                      <a:headEnd type="none" w="med" len="med"/>
                      <a:tailEnd type="none" w="med" len="med"/>
                    </a:lnB>
                    <a:solidFill>
                      <a:schemeClr val="bg1"/>
                    </a:solidFill>
                  </a:tcPr>
                </a:tc>
                <a:tc>
                  <a:txBody>
                    <a:bodyPr/>
                    <a:lstStyle/>
                    <a:p>
                      <a:pPr algn="ctr" rtl="0" fontAlgn="ctr"/>
                      <a:r>
                        <a:rPr lang="en-AU" sz="1800" b="0" i="0" u="none" strike="noStrike">
                          <a:solidFill>
                            <a:schemeClr val="accent3">
                              <a:lumMod val="75000"/>
                            </a:schemeClr>
                          </a:solidFill>
                          <a:effectLst/>
                          <a:latin typeface="Calibri"/>
                        </a:rPr>
                        <a:t>377</a:t>
                      </a:r>
                    </a:p>
                  </a:txBody>
                  <a:tcPr marL="0" marR="0" marT="0" marB="0" anchor="ctr">
                    <a:lnL w="6350" cap="flat" cmpd="sng" algn="ctr">
                      <a:solidFill>
                        <a:srgbClr val="8CC63F"/>
                      </a:solidFill>
                      <a:prstDash val="solid"/>
                      <a:round/>
                      <a:headEnd type="none" w="med" len="med"/>
                      <a:tailEnd type="none" w="med" len="med"/>
                    </a:lnL>
                    <a:lnR w="6350" cap="flat" cmpd="sng" algn="ctr">
                      <a:solidFill>
                        <a:srgbClr val="8CC63F"/>
                      </a:solidFill>
                      <a:prstDash val="solid"/>
                      <a:round/>
                      <a:headEnd type="none" w="med" len="med"/>
                      <a:tailEnd type="none" w="med" len="med"/>
                    </a:lnR>
                    <a:lnT w="6350" cap="flat" cmpd="sng" algn="ctr">
                      <a:solidFill>
                        <a:srgbClr val="8CC63F"/>
                      </a:solidFill>
                      <a:prstDash val="solid"/>
                      <a:round/>
                      <a:headEnd type="none" w="med" len="med"/>
                      <a:tailEnd type="none" w="med" len="med"/>
                    </a:lnT>
                    <a:lnB w="6350" cap="flat" cmpd="sng" algn="ctr">
                      <a:solidFill>
                        <a:srgbClr val="8CC63F"/>
                      </a:solidFill>
                      <a:prstDash val="solid"/>
                      <a:round/>
                      <a:headEnd type="none" w="med" len="med"/>
                      <a:tailEnd type="none" w="med" len="med"/>
                    </a:lnB>
                    <a:solidFill>
                      <a:schemeClr val="bg1"/>
                    </a:solidFill>
                  </a:tcPr>
                </a:tc>
              </a:tr>
              <a:tr h="779907">
                <a:tc>
                  <a:txBody>
                    <a:bodyPr/>
                    <a:lstStyle/>
                    <a:p>
                      <a:endParaRPr lang="en-AU" dirty="0">
                        <a:solidFill>
                          <a:srgbClr val="73A531"/>
                        </a:solidFill>
                      </a:endParaRPr>
                    </a:p>
                  </a:txBody>
                  <a:tcPr>
                    <a:lnL w="6350" cap="flat" cmpd="sng" algn="ctr">
                      <a:noFill/>
                      <a:prstDash val="solid"/>
                      <a:round/>
                      <a:headEnd type="none" w="med" len="med"/>
                      <a:tailEnd type="none" w="med" len="med"/>
                    </a:lnL>
                    <a:lnR w="6350" cap="flat" cmpd="sng" algn="ctr">
                      <a:solidFill>
                        <a:srgbClr val="8CC63F"/>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solidFill>
                  </a:tcPr>
                </a:tc>
                <a:tc>
                  <a:txBody>
                    <a:bodyPr/>
                    <a:lstStyle/>
                    <a:p>
                      <a:pPr marL="0" algn="ctr" defTabSz="914400" rtl="0" eaLnBrk="1" fontAlgn="ctr" latinLnBrk="0" hangingPunct="1"/>
                      <a:r>
                        <a:rPr lang="en-AU" sz="1800" b="1" i="0" u="none" strike="noStrike" kern="1200" dirty="0">
                          <a:solidFill>
                            <a:schemeClr val="accent3">
                              <a:lumMod val="75000"/>
                            </a:schemeClr>
                          </a:solidFill>
                          <a:effectLst/>
                          <a:latin typeface="Calibri"/>
                          <a:ea typeface="+mn-ea"/>
                          <a:cs typeface="+mn-cs"/>
                        </a:rPr>
                        <a:t>577</a:t>
                      </a:r>
                    </a:p>
                  </a:txBody>
                  <a:tcPr marL="0" marR="0" marT="0" marB="0" anchor="ctr">
                    <a:lnL w="6350" cap="flat" cmpd="sng" algn="ctr">
                      <a:solidFill>
                        <a:srgbClr val="8CC63F"/>
                      </a:solidFill>
                      <a:prstDash val="solid"/>
                      <a:round/>
                      <a:headEnd type="none" w="med" len="med"/>
                      <a:tailEnd type="none" w="med" len="med"/>
                    </a:lnL>
                    <a:lnR w="6350" cap="flat" cmpd="sng" algn="ctr">
                      <a:solidFill>
                        <a:srgbClr val="8CC63F"/>
                      </a:solidFill>
                      <a:prstDash val="solid"/>
                      <a:round/>
                      <a:headEnd type="none" w="med" len="med"/>
                      <a:tailEnd type="none" w="med" len="med"/>
                    </a:lnR>
                    <a:lnT w="6350" cap="flat" cmpd="sng" algn="ctr">
                      <a:solidFill>
                        <a:srgbClr val="8CC63F"/>
                      </a:solidFill>
                      <a:prstDash val="solid"/>
                      <a:round/>
                      <a:headEnd type="none" w="med" len="med"/>
                      <a:tailEnd type="none" w="med" len="med"/>
                    </a:lnT>
                    <a:lnB w="6350" cap="flat" cmpd="sng" algn="ctr">
                      <a:solidFill>
                        <a:srgbClr val="8CC63F"/>
                      </a:solidFill>
                      <a:prstDash val="solid"/>
                      <a:round/>
                      <a:headEnd type="none" w="med" len="med"/>
                      <a:tailEnd type="none" w="med" len="med"/>
                    </a:lnB>
                    <a:solidFill>
                      <a:srgbClr val="F5F8EE"/>
                    </a:solidFill>
                  </a:tcPr>
                </a:tc>
                <a:tc>
                  <a:txBody>
                    <a:bodyPr/>
                    <a:lstStyle/>
                    <a:p>
                      <a:pPr algn="ctr" rtl="0" fontAlgn="ctr"/>
                      <a:r>
                        <a:rPr lang="en-AU" sz="1800" b="0" i="0" u="none" strike="noStrike">
                          <a:solidFill>
                            <a:schemeClr val="accent3">
                              <a:lumMod val="75000"/>
                            </a:schemeClr>
                          </a:solidFill>
                          <a:effectLst/>
                          <a:latin typeface="Calibri"/>
                        </a:rPr>
                        <a:t>371</a:t>
                      </a:r>
                    </a:p>
                  </a:txBody>
                  <a:tcPr marL="0" marR="0" marT="0" marB="0" anchor="ctr">
                    <a:lnL w="6350" cap="flat" cmpd="sng" algn="ctr">
                      <a:solidFill>
                        <a:srgbClr val="8CC63F"/>
                      </a:solidFill>
                      <a:prstDash val="solid"/>
                      <a:round/>
                      <a:headEnd type="none" w="med" len="med"/>
                      <a:tailEnd type="none" w="med" len="med"/>
                    </a:lnL>
                    <a:lnR w="6350" cap="flat" cmpd="sng" algn="ctr">
                      <a:solidFill>
                        <a:srgbClr val="8CC63F"/>
                      </a:solidFill>
                      <a:prstDash val="solid"/>
                      <a:round/>
                      <a:headEnd type="none" w="med" len="med"/>
                      <a:tailEnd type="none" w="med" len="med"/>
                    </a:lnR>
                    <a:lnT w="6350" cap="flat" cmpd="sng" algn="ctr">
                      <a:solidFill>
                        <a:srgbClr val="8CC63F"/>
                      </a:solidFill>
                      <a:prstDash val="solid"/>
                      <a:round/>
                      <a:headEnd type="none" w="med" len="med"/>
                      <a:tailEnd type="none" w="med" len="med"/>
                    </a:lnT>
                    <a:lnB w="6350" cap="flat" cmpd="sng" algn="ctr">
                      <a:solidFill>
                        <a:srgbClr val="8CC63F"/>
                      </a:solidFill>
                      <a:prstDash val="solid"/>
                      <a:round/>
                      <a:headEnd type="none" w="med" len="med"/>
                      <a:tailEnd type="none" w="med" len="med"/>
                    </a:lnB>
                    <a:solidFill>
                      <a:schemeClr val="bg1"/>
                    </a:solidFill>
                  </a:tcPr>
                </a:tc>
                <a:tc>
                  <a:txBody>
                    <a:bodyPr/>
                    <a:lstStyle/>
                    <a:p>
                      <a:pPr algn="ctr" rtl="0" fontAlgn="ctr"/>
                      <a:r>
                        <a:rPr lang="en-AU" sz="1800" b="0" i="0" u="none" strike="noStrike">
                          <a:solidFill>
                            <a:schemeClr val="accent3">
                              <a:lumMod val="75000"/>
                            </a:schemeClr>
                          </a:solidFill>
                          <a:effectLst/>
                          <a:latin typeface="Calibri"/>
                        </a:rPr>
                        <a:t>43</a:t>
                      </a:r>
                    </a:p>
                  </a:txBody>
                  <a:tcPr marL="0" marR="0" marT="0" marB="0" anchor="ctr">
                    <a:lnL w="6350" cap="flat" cmpd="sng" algn="ctr">
                      <a:solidFill>
                        <a:srgbClr val="8CC63F"/>
                      </a:solidFill>
                      <a:prstDash val="solid"/>
                      <a:round/>
                      <a:headEnd type="none" w="med" len="med"/>
                      <a:tailEnd type="none" w="med" len="med"/>
                    </a:lnL>
                    <a:lnR w="6350" cap="flat" cmpd="sng" algn="ctr">
                      <a:solidFill>
                        <a:srgbClr val="8CC63F"/>
                      </a:solidFill>
                      <a:prstDash val="solid"/>
                      <a:round/>
                      <a:headEnd type="none" w="med" len="med"/>
                      <a:tailEnd type="none" w="med" len="med"/>
                    </a:lnR>
                    <a:lnT w="6350" cap="flat" cmpd="sng" algn="ctr">
                      <a:solidFill>
                        <a:srgbClr val="8CC63F"/>
                      </a:solidFill>
                      <a:prstDash val="solid"/>
                      <a:round/>
                      <a:headEnd type="none" w="med" len="med"/>
                      <a:tailEnd type="none" w="med" len="med"/>
                    </a:lnT>
                    <a:lnB w="6350" cap="flat" cmpd="sng" algn="ctr">
                      <a:solidFill>
                        <a:srgbClr val="8CC63F"/>
                      </a:solidFill>
                      <a:prstDash val="solid"/>
                      <a:round/>
                      <a:headEnd type="none" w="med" len="med"/>
                      <a:tailEnd type="none" w="med" len="med"/>
                    </a:lnB>
                    <a:solidFill>
                      <a:schemeClr val="bg1"/>
                    </a:solidFill>
                  </a:tcPr>
                </a:tc>
                <a:tc>
                  <a:txBody>
                    <a:bodyPr/>
                    <a:lstStyle/>
                    <a:p>
                      <a:pPr algn="ctr" rtl="0" fontAlgn="ctr"/>
                      <a:r>
                        <a:rPr lang="en-AU" sz="1800" b="0" i="0" u="none" strike="noStrike">
                          <a:solidFill>
                            <a:schemeClr val="accent3">
                              <a:lumMod val="75000"/>
                            </a:schemeClr>
                          </a:solidFill>
                          <a:effectLst/>
                          <a:latin typeface="Calibri"/>
                        </a:rPr>
                        <a:t>76</a:t>
                      </a:r>
                    </a:p>
                  </a:txBody>
                  <a:tcPr marL="0" marR="0" marT="0" marB="0" anchor="ctr">
                    <a:lnL w="6350" cap="flat" cmpd="sng" algn="ctr">
                      <a:solidFill>
                        <a:srgbClr val="8CC63F"/>
                      </a:solidFill>
                      <a:prstDash val="solid"/>
                      <a:round/>
                      <a:headEnd type="none" w="med" len="med"/>
                      <a:tailEnd type="none" w="med" len="med"/>
                    </a:lnL>
                    <a:lnR w="6350" cap="flat" cmpd="sng" algn="ctr">
                      <a:solidFill>
                        <a:srgbClr val="8CC63F"/>
                      </a:solidFill>
                      <a:prstDash val="solid"/>
                      <a:round/>
                      <a:headEnd type="none" w="med" len="med"/>
                      <a:tailEnd type="none" w="med" len="med"/>
                    </a:lnR>
                    <a:lnT w="6350" cap="flat" cmpd="sng" algn="ctr">
                      <a:solidFill>
                        <a:srgbClr val="8CC63F"/>
                      </a:solidFill>
                      <a:prstDash val="solid"/>
                      <a:round/>
                      <a:headEnd type="none" w="med" len="med"/>
                      <a:tailEnd type="none" w="med" len="med"/>
                    </a:lnT>
                    <a:lnB w="6350" cap="flat" cmpd="sng" algn="ctr">
                      <a:solidFill>
                        <a:srgbClr val="8CC63F"/>
                      </a:solidFill>
                      <a:prstDash val="solid"/>
                      <a:round/>
                      <a:headEnd type="none" w="med" len="med"/>
                      <a:tailEnd type="none" w="med" len="med"/>
                    </a:lnB>
                    <a:solidFill>
                      <a:schemeClr val="bg1"/>
                    </a:solidFill>
                  </a:tcPr>
                </a:tc>
                <a:tc>
                  <a:txBody>
                    <a:bodyPr/>
                    <a:lstStyle/>
                    <a:p>
                      <a:pPr algn="ctr" rtl="0" fontAlgn="ctr"/>
                      <a:r>
                        <a:rPr lang="en-AU" sz="1800" b="0" i="0" u="none" strike="noStrike">
                          <a:solidFill>
                            <a:schemeClr val="accent3">
                              <a:lumMod val="75000"/>
                            </a:schemeClr>
                          </a:solidFill>
                          <a:effectLst/>
                          <a:latin typeface="Calibri"/>
                        </a:rPr>
                        <a:t>35</a:t>
                      </a:r>
                    </a:p>
                  </a:txBody>
                  <a:tcPr marL="0" marR="0" marT="0" marB="0" anchor="ctr">
                    <a:lnL w="6350" cap="flat" cmpd="sng" algn="ctr">
                      <a:solidFill>
                        <a:srgbClr val="8CC63F"/>
                      </a:solidFill>
                      <a:prstDash val="solid"/>
                      <a:round/>
                      <a:headEnd type="none" w="med" len="med"/>
                      <a:tailEnd type="none" w="med" len="med"/>
                    </a:lnL>
                    <a:lnR w="6350" cap="flat" cmpd="sng" algn="ctr">
                      <a:solidFill>
                        <a:srgbClr val="8CC63F"/>
                      </a:solidFill>
                      <a:prstDash val="solid"/>
                      <a:round/>
                      <a:headEnd type="none" w="med" len="med"/>
                      <a:tailEnd type="none" w="med" len="med"/>
                    </a:lnR>
                    <a:lnT w="6350" cap="flat" cmpd="sng" algn="ctr">
                      <a:solidFill>
                        <a:srgbClr val="8CC63F"/>
                      </a:solidFill>
                      <a:prstDash val="solid"/>
                      <a:round/>
                      <a:headEnd type="none" w="med" len="med"/>
                      <a:tailEnd type="none" w="med" len="med"/>
                    </a:lnT>
                    <a:lnB w="6350" cap="flat" cmpd="sng" algn="ctr">
                      <a:solidFill>
                        <a:srgbClr val="8CC63F"/>
                      </a:solidFill>
                      <a:prstDash val="solid"/>
                      <a:round/>
                      <a:headEnd type="none" w="med" len="med"/>
                      <a:tailEnd type="none" w="med" len="med"/>
                    </a:lnB>
                    <a:solidFill>
                      <a:schemeClr val="bg1"/>
                    </a:solidFill>
                  </a:tcPr>
                </a:tc>
                <a:tc>
                  <a:txBody>
                    <a:bodyPr/>
                    <a:lstStyle/>
                    <a:p>
                      <a:pPr algn="ctr" rtl="0" fontAlgn="ctr"/>
                      <a:r>
                        <a:rPr lang="en-AU" sz="1800" b="0" i="0" u="none" strike="noStrike">
                          <a:solidFill>
                            <a:schemeClr val="accent3">
                              <a:lumMod val="75000"/>
                            </a:schemeClr>
                          </a:solidFill>
                          <a:effectLst/>
                          <a:latin typeface="Calibri"/>
                        </a:rPr>
                        <a:t>9</a:t>
                      </a:r>
                    </a:p>
                  </a:txBody>
                  <a:tcPr marL="0" marR="0" marT="0" marB="0" anchor="ctr">
                    <a:lnL w="6350" cap="flat" cmpd="sng" algn="ctr">
                      <a:solidFill>
                        <a:srgbClr val="8CC63F"/>
                      </a:solidFill>
                      <a:prstDash val="solid"/>
                      <a:round/>
                      <a:headEnd type="none" w="med" len="med"/>
                      <a:tailEnd type="none" w="med" len="med"/>
                    </a:lnL>
                    <a:lnR w="6350" cap="flat" cmpd="sng" algn="ctr">
                      <a:solidFill>
                        <a:srgbClr val="8CC63F"/>
                      </a:solidFill>
                      <a:prstDash val="solid"/>
                      <a:round/>
                      <a:headEnd type="none" w="med" len="med"/>
                      <a:tailEnd type="none" w="med" len="med"/>
                    </a:lnR>
                    <a:lnT w="6350" cap="flat" cmpd="sng" algn="ctr">
                      <a:solidFill>
                        <a:srgbClr val="8CC63F"/>
                      </a:solidFill>
                      <a:prstDash val="solid"/>
                      <a:round/>
                      <a:headEnd type="none" w="med" len="med"/>
                      <a:tailEnd type="none" w="med" len="med"/>
                    </a:lnT>
                    <a:lnB w="6350" cap="flat" cmpd="sng" algn="ctr">
                      <a:solidFill>
                        <a:srgbClr val="8CC63F"/>
                      </a:solidFill>
                      <a:prstDash val="solid"/>
                      <a:round/>
                      <a:headEnd type="none" w="med" len="med"/>
                      <a:tailEnd type="none" w="med" len="med"/>
                    </a:lnB>
                    <a:solidFill>
                      <a:schemeClr val="bg1"/>
                    </a:solidFill>
                  </a:tcPr>
                </a:tc>
                <a:tc>
                  <a:txBody>
                    <a:bodyPr/>
                    <a:lstStyle/>
                    <a:p>
                      <a:pPr algn="ctr" rtl="0" fontAlgn="ctr"/>
                      <a:r>
                        <a:rPr lang="en-AU" sz="1800" b="0" i="0" u="none" strike="noStrike" dirty="0">
                          <a:solidFill>
                            <a:schemeClr val="accent3">
                              <a:lumMod val="75000"/>
                            </a:schemeClr>
                          </a:solidFill>
                          <a:effectLst/>
                          <a:latin typeface="Calibri"/>
                        </a:rPr>
                        <a:t>23</a:t>
                      </a:r>
                    </a:p>
                  </a:txBody>
                  <a:tcPr marL="0" marR="0" marT="0" marB="0" anchor="ctr">
                    <a:lnL w="6350" cap="flat" cmpd="sng" algn="ctr">
                      <a:solidFill>
                        <a:srgbClr val="8CC63F"/>
                      </a:solidFill>
                      <a:prstDash val="solid"/>
                      <a:round/>
                      <a:headEnd type="none" w="med" len="med"/>
                      <a:tailEnd type="none" w="med" len="med"/>
                    </a:lnL>
                    <a:lnR w="6350" cap="flat" cmpd="sng" algn="ctr">
                      <a:solidFill>
                        <a:srgbClr val="8CC63F"/>
                      </a:solidFill>
                      <a:prstDash val="solid"/>
                      <a:round/>
                      <a:headEnd type="none" w="med" len="med"/>
                      <a:tailEnd type="none" w="med" len="med"/>
                    </a:lnR>
                    <a:lnT w="6350" cap="flat" cmpd="sng" algn="ctr">
                      <a:solidFill>
                        <a:srgbClr val="8CC63F"/>
                      </a:solidFill>
                      <a:prstDash val="solid"/>
                      <a:round/>
                      <a:headEnd type="none" w="med" len="med"/>
                      <a:tailEnd type="none" w="med" len="med"/>
                    </a:lnT>
                    <a:lnB w="6350" cap="flat" cmpd="sng" algn="ctr">
                      <a:solidFill>
                        <a:srgbClr val="8CC63F"/>
                      </a:solidFill>
                      <a:prstDash val="solid"/>
                      <a:round/>
                      <a:headEnd type="none" w="med" len="med"/>
                      <a:tailEnd type="none" w="med" len="med"/>
                    </a:lnB>
                    <a:solidFill>
                      <a:schemeClr val="bg1"/>
                    </a:solidFill>
                  </a:tcPr>
                </a:tc>
                <a:tc>
                  <a:txBody>
                    <a:bodyPr/>
                    <a:lstStyle/>
                    <a:p>
                      <a:pPr algn="ctr" rtl="0" fontAlgn="ctr"/>
                      <a:r>
                        <a:rPr lang="en-AU" sz="1800" b="0" i="0" u="none" strike="noStrike" dirty="0">
                          <a:solidFill>
                            <a:schemeClr val="accent3">
                              <a:lumMod val="75000"/>
                            </a:schemeClr>
                          </a:solidFill>
                          <a:effectLst/>
                          <a:latin typeface="Calibri"/>
                        </a:rPr>
                        <a:t>20</a:t>
                      </a:r>
                    </a:p>
                  </a:txBody>
                  <a:tcPr marL="0" marR="0" marT="0" marB="0" anchor="ctr">
                    <a:lnL w="6350" cap="flat" cmpd="sng" algn="ctr">
                      <a:solidFill>
                        <a:srgbClr val="8CC63F"/>
                      </a:solidFill>
                      <a:prstDash val="solid"/>
                      <a:round/>
                      <a:headEnd type="none" w="med" len="med"/>
                      <a:tailEnd type="none" w="med" len="med"/>
                    </a:lnL>
                    <a:lnR w="6350" cap="flat" cmpd="sng" algn="ctr">
                      <a:solidFill>
                        <a:srgbClr val="8CC63F"/>
                      </a:solidFill>
                      <a:prstDash val="solid"/>
                      <a:round/>
                      <a:headEnd type="none" w="med" len="med"/>
                      <a:tailEnd type="none" w="med" len="med"/>
                    </a:lnR>
                    <a:lnT w="6350" cap="flat" cmpd="sng" algn="ctr">
                      <a:solidFill>
                        <a:srgbClr val="8CC63F"/>
                      </a:solidFill>
                      <a:prstDash val="solid"/>
                      <a:round/>
                      <a:headEnd type="none" w="med" len="med"/>
                      <a:tailEnd type="none" w="med" len="med"/>
                    </a:lnT>
                    <a:lnB w="6350" cap="flat" cmpd="sng" algn="ctr">
                      <a:solidFill>
                        <a:srgbClr val="8CC63F"/>
                      </a:solidFill>
                      <a:prstDash val="solid"/>
                      <a:round/>
                      <a:headEnd type="none" w="med" len="med"/>
                      <a:tailEnd type="none" w="med" len="med"/>
                    </a:lnB>
                    <a:solidFill>
                      <a:schemeClr val="bg1"/>
                    </a:solidFill>
                  </a:tcPr>
                </a:tc>
              </a:tr>
            </a:tbl>
          </a:graphicData>
        </a:graphic>
      </p:graphicFrame>
      <p:pic>
        <p:nvPicPr>
          <p:cNvPr id="66"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62371" y="1658042"/>
            <a:ext cx="822328" cy="411164"/>
          </a:xfrm>
          <a:prstGeom prst="rect">
            <a:avLst/>
          </a:prstGeom>
          <a:noFill/>
          <a:ln w="317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pic>
        <p:nvPicPr>
          <p:cNvPr id="67"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98432" y="1663251"/>
            <a:ext cx="795235" cy="4007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8"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34495" y="1664815"/>
            <a:ext cx="795235" cy="39761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9"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73080" y="1665446"/>
            <a:ext cx="792713" cy="39635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0" name="Picture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11664" y="1665445"/>
            <a:ext cx="792714" cy="39635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 name="Picture 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50250" y="1665446"/>
            <a:ext cx="792712" cy="39635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2" name="Picture 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690647" y="1658776"/>
            <a:ext cx="790901" cy="4096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1" name="Picture 7" descr="C:\Users\u26402\AppData\Local\Microsoft\Windows\Temporary Internet Files\Content.Outlook\0F7EQCCL\Cook Islands Branch  (1).jpg"/>
          <p:cNvPicPr>
            <a:picLocks noChangeAspect="1" noChangeArrowheads="1"/>
          </p:cNvPicPr>
          <p:nvPr/>
        </p:nvPicPr>
        <p:blipFill rotWithShape="1">
          <a:blip r:embed="rId11" cstate="print">
            <a:extLst>
              <a:ext uri="{28A0092B-C50C-407E-A947-70E740481C1C}">
                <a14:useLocalDpi xmlns:a14="http://schemas.microsoft.com/office/drawing/2010/main" val="0"/>
              </a:ext>
            </a:extLst>
          </a:blip>
          <a:srcRect b="4843"/>
          <a:stretch/>
        </p:blipFill>
        <p:spPr bwMode="auto">
          <a:xfrm>
            <a:off x="323528" y="2170960"/>
            <a:ext cx="1152128" cy="731251"/>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9"/>
          <p:cNvPicPr>
            <a:picLocks noChangeAspect="1" noChangeArrowheads="1"/>
          </p:cNvPicPr>
          <p:nvPr/>
        </p:nvPicPr>
        <p:blipFill rotWithShape="1">
          <a:blip r:embed="rId12" cstate="print">
            <a:extLst>
              <a:ext uri="{28A0092B-C50C-407E-A947-70E740481C1C}">
                <a14:useLocalDpi xmlns:a14="http://schemas.microsoft.com/office/drawing/2010/main" val="0"/>
              </a:ext>
            </a:extLst>
          </a:blip>
          <a:srcRect l="16311" t="36212"/>
          <a:stretch/>
        </p:blipFill>
        <p:spPr bwMode="auto">
          <a:xfrm>
            <a:off x="323527" y="4510088"/>
            <a:ext cx="1152129" cy="739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3" name="Picture 10"/>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323528" y="2955033"/>
            <a:ext cx="1152128" cy="728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4" name="Picture 11"/>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323528" y="5297898"/>
            <a:ext cx="1152128" cy="7238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5" name="Picture 12" descr="C:\Users\u26402\Desktop\20170913_120414.jpg"/>
          <p:cNvPicPr>
            <a:picLocks noChangeAspect="1" noChangeArrowheads="1"/>
          </p:cNvPicPr>
          <p:nvPr/>
        </p:nvPicPr>
        <p:blipFill rotWithShape="1">
          <a:blip r:embed="rId15" cstate="print">
            <a:extLst>
              <a:ext uri="{28A0092B-C50C-407E-A947-70E740481C1C}">
                <a14:useLocalDpi xmlns:a14="http://schemas.microsoft.com/office/drawing/2010/main" val="0"/>
              </a:ext>
            </a:extLst>
          </a:blip>
          <a:srcRect b="6778"/>
          <a:stretch/>
        </p:blipFill>
        <p:spPr bwMode="auto">
          <a:xfrm>
            <a:off x="323528" y="3734189"/>
            <a:ext cx="1152128" cy="740179"/>
          </a:xfrm>
          <a:prstGeom prst="rect">
            <a:avLst/>
          </a:prstGeom>
          <a:noFill/>
          <a:extLst>
            <a:ext uri="{909E8E84-426E-40DD-AFC4-6F175D3DCCD1}">
              <a14:hiddenFill xmlns:a14="http://schemas.microsoft.com/office/drawing/2010/main">
                <a:solidFill>
                  <a:srgbClr val="FFFFFF"/>
                </a:solidFill>
              </a14:hiddenFill>
            </a:ext>
          </a:extLst>
        </p:spPr>
      </p:pic>
      <p:sp>
        <p:nvSpPr>
          <p:cNvPr id="26" name="TextBox 25"/>
          <p:cNvSpPr txBox="1"/>
          <p:nvPr/>
        </p:nvSpPr>
        <p:spPr>
          <a:xfrm>
            <a:off x="559547" y="2176829"/>
            <a:ext cx="916109" cy="215444"/>
          </a:xfrm>
          <a:prstGeom prst="rect">
            <a:avLst/>
          </a:prstGeom>
          <a:solidFill>
            <a:srgbClr val="92D050"/>
          </a:solidFill>
        </p:spPr>
        <p:txBody>
          <a:bodyPr wrap="square" lIns="36000" tIns="0" rIns="36000" bIns="0" rtlCol="0">
            <a:spAutoFit/>
          </a:bodyPr>
          <a:lstStyle/>
          <a:p>
            <a:pPr algn="ctr"/>
            <a:r>
              <a:rPr lang="en-AU" sz="1400" b="1" dirty="0" smtClean="0">
                <a:solidFill>
                  <a:schemeClr val="bg1"/>
                </a:solidFill>
                <a:cs typeface="Arial" panose="020B0604020202020204" pitchFamily="34" charset="0"/>
              </a:rPr>
              <a:t>Branches</a:t>
            </a:r>
          </a:p>
        </p:txBody>
      </p:sp>
      <p:sp>
        <p:nvSpPr>
          <p:cNvPr id="27" name="TextBox 26"/>
          <p:cNvSpPr txBox="1"/>
          <p:nvPr/>
        </p:nvSpPr>
        <p:spPr>
          <a:xfrm>
            <a:off x="323527" y="3467921"/>
            <a:ext cx="1076333" cy="215444"/>
          </a:xfrm>
          <a:prstGeom prst="rect">
            <a:avLst/>
          </a:prstGeom>
          <a:solidFill>
            <a:srgbClr val="92D050"/>
          </a:solidFill>
        </p:spPr>
        <p:txBody>
          <a:bodyPr wrap="square" lIns="36000" tIns="0" rIns="36000" bIns="0" rtlCol="0">
            <a:spAutoFit/>
          </a:bodyPr>
          <a:lstStyle>
            <a:defPPr>
              <a:defRPr lang="en-US"/>
            </a:defPPr>
            <a:lvl1pPr algn="ctr">
              <a:defRPr sz="1400" b="1">
                <a:solidFill>
                  <a:schemeClr val="bg1"/>
                </a:solidFill>
                <a:cs typeface="Arial" panose="020B0604020202020204" pitchFamily="34" charset="0"/>
              </a:defRPr>
            </a:lvl1pPr>
          </a:lstStyle>
          <a:p>
            <a:r>
              <a:rPr lang="en-AU" dirty="0"/>
              <a:t>Sub Branches</a:t>
            </a:r>
          </a:p>
        </p:txBody>
      </p:sp>
      <p:sp>
        <p:nvSpPr>
          <p:cNvPr id="28" name="TextBox 27"/>
          <p:cNvSpPr txBox="1"/>
          <p:nvPr/>
        </p:nvSpPr>
        <p:spPr>
          <a:xfrm>
            <a:off x="937491" y="3734189"/>
            <a:ext cx="538165" cy="215444"/>
          </a:xfrm>
          <a:prstGeom prst="rect">
            <a:avLst/>
          </a:prstGeom>
          <a:solidFill>
            <a:srgbClr val="92D050"/>
          </a:solidFill>
        </p:spPr>
        <p:txBody>
          <a:bodyPr wrap="square" lIns="36000" tIns="0" rIns="36000" bIns="0" rtlCol="0">
            <a:spAutoFit/>
          </a:bodyPr>
          <a:lstStyle>
            <a:defPPr>
              <a:defRPr lang="en-US"/>
            </a:defPPr>
            <a:lvl1pPr algn="ctr">
              <a:defRPr sz="1400" b="1">
                <a:solidFill>
                  <a:schemeClr val="bg1"/>
                </a:solidFill>
                <a:cs typeface="Arial" panose="020B0604020202020204" pitchFamily="34" charset="0"/>
              </a:defRPr>
            </a:lvl1pPr>
          </a:lstStyle>
          <a:p>
            <a:r>
              <a:rPr lang="en-AU" dirty="0"/>
              <a:t>ATMs</a:t>
            </a:r>
          </a:p>
        </p:txBody>
      </p:sp>
      <p:sp>
        <p:nvSpPr>
          <p:cNvPr id="30" name="TextBox 29"/>
          <p:cNvSpPr txBox="1"/>
          <p:nvPr/>
        </p:nvSpPr>
        <p:spPr>
          <a:xfrm>
            <a:off x="323528" y="5806332"/>
            <a:ext cx="538166" cy="215444"/>
          </a:xfrm>
          <a:prstGeom prst="rect">
            <a:avLst/>
          </a:prstGeom>
          <a:solidFill>
            <a:srgbClr val="92D050"/>
          </a:solidFill>
        </p:spPr>
        <p:txBody>
          <a:bodyPr wrap="square" lIns="36000" tIns="0" rIns="36000" bIns="0" rtlCol="0">
            <a:spAutoFit/>
          </a:bodyPr>
          <a:lstStyle>
            <a:defPPr>
              <a:defRPr lang="en-US"/>
            </a:defPPr>
            <a:lvl1pPr algn="ctr">
              <a:defRPr sz="1400" b="1">
                <a:solidFill>
                  <a:schemeClr val="bg1"/>
                </a:solidFill>
                <a:cs typeface="Arial" panose="020B0604020202020204" pitchFamily="34" charset="0"/>
              </a:defRPr>
            </a:lvl1pPr>
          </a:lstStyle>
          <a:p>
            <a:r>
              <a:rPr lang="en-AU" dirty="0"/>
              <a:t>Agent</a:t>
            </a:r>
          </a:p>
        </p:txBody>
      </p:sp>
      <p:sp>
        <p:nvSpPr>
          <p:cNvPr id="31" name="TextBox 30"/>
          <p:cNvSpPr txBox="1"/>
          <p:nvPr/>
        </p:nvSpPr>
        <p:spPr>
          <a:xfrm>
            <a:off x="812006" y="4510088"/>
            <a:ext cx="663650" cy="215444"/>
          </a:xfrm>
          <a:prstGeom prst="rect">
            <a:avLst/>
          </a:prstGeom>
          <a:solidFill>
            <a:srgbClr val="92D050"/>
          </a:solidFill>
        </p:spPr>
        <p:txBody>
          <a:bodyPr wrap="square" lIns="36000" tIns="0" rIns="36000" bIns="0" rtlCol="0">
            <a:spAutoFit/>
          </a:bodyPr>
          <a:lstStyle>
            <a:defPPr>
              <a:defRPr lang="en-US"/>
            </a:defPPr>
            <a:lvl1pPr algn="ctr">
              <a:defRPr sz="1400" b="1">
                <a:solidFill>
                  <a:schemeClr val="bg1"/>
                </a:solidFill>
                <a:cs typeface="Arial" panose="020B0604020202020204" pitchFamily="34" charset="0"/>
              </a:defRPr>
            </a:lvl1pPr>
          </a:lstStyle>
          <a:p>
            <a:r>
              <a:rPr lang="en-AU" dirty="0" smtClean="0"/>
              <a:t>EFTPOS</a:t>
            </a:r>
            <a:endParaRPr lang="en-AU" dirty="0"/>
          </a:p>
        </p:txBody>
      </p:sp>
      <p:sp>
        <p:nvSpPr>
          <p:cNvPr id="29" name="TextBox 28"/>
          <p:cNvSpPr txBox="1"/>
          <p:nvPr/>
        </p:nvSpPr>
        <p:spPr>
          <a:xfrm>
            <a:off x="251832" y="6488848"/>
            <a:ext cx="3096032" cy="276999"/>
          </a:xfrm>
          <a:prstGeom prst="rect">
            <a:avLst/>
          </a:prstGeom>
          <a:noFill/>
        </p:spPr>
        <p:txBody>
          <a:bodyPr wrap="square" lIns="0" rtlCol="0">
            <a:spAutoFit/>
          </a:bodyPr>
          <a:lstStyle/>
          <a:p>
            <a:pPr>
              <a:defRPr/>
            </a:pPr>
            <a:r>
              <a:rPr lang="en-US" sz="1200" b="1" dirty="0" smtClean="0">
                <a:solidFill>
                  <a:prstClr val="white"/>
                </a:solidFill>
              </a:rPr>
              <a:t>INVESTOR PRESENTATION Half year 2018 </a:t>
            </a:r>
            <a:endParaRPr lang="en-AU" sz="1200" b="1" dirty="0">
              <a:solidFill>
                <a:prstClr val="white"/>
              </a:solidFill>
            </a:endParaRPr>
          </a:p>
        </p:txBody>
      </p:sp>
    </p:spTree>
    <p:extLst>
      <p:ext uri="{BB962C8B-B14F-4D97-AF65-F5344CB8AC3E}">
        <p14:creationId xmlns:p14="http://schemas.microsoft.com/office/powerpoint/2010/main" val="141839066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TextBox 4"/>
          <p:cNvSpPr txBox="1">
            <a:spLocks noChangeArrowheads="1"/>
          </p:cNvSpPr>
          <p:nvPr/>
        </p:nvSpPr>
        <p:spPr bwMode="auto">
          <a:xfrm>
            <a:off x="251832" y="44624"/>
            <a:ext cx="720048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rIns="0">
            <a:spAutoFit/>
          </a:bodyPr>
          <a:lstStyle>
            <a:lvl1pPr defTabSz="457200" eaLnBrk="0" hangingPunct="0">
              <a:defRPr>
                <a:solidFill>
                  <a:schemeClr val="tx1"/>
                </a:solidFill>
                <a:latin typeface="Arial" pitchFamily="34" charset="0"/>
              </a:defRPr>
            </a:lvl1pPr>
            <a:lvl2pPr marL="742950" indent="-285750" defTabSz="457200" eaLnBrk="0" hangingPunct="0">
              <a:defRPr>
                <a:solidFill>
                  <a:schemeClr val="tx1"/>
                </a:solidFill>
                <a:latin typeface="Arial" pitchFamily="34" charset="0"/>
              </a:defRPr>
            </a:lvl2pPr>
            <a:lvl3pPr marL="1143000" indent="-228600" defTabSz="457200" eaLnBrk="0" hangingPunct="0">
              <a:defRPr>
                <a:solidFill>
                  <a:schemeClr val="tx1"/>
                </a:solidFill>
                <a:latin typeface="Arial" pitchFamily="34" charset="0"/>
              </a:defRPr>
            </a:lvl3pPr>
            <a:lvl4pPr marL="1600200" indent="-228600" defTabSz="457200" eaLnBrk="0" hangingPunct="0">
              <a:defRPr>
                <a:solidFill>
                  <a:schemeClr val="tx1"/>
                </a:solidFill>
                <a:latin typeface="Arial" pitchFamily="34" charset="0"/>
              </a:defRPr>
            </a:lvl4pPr>
            <a:lvl5pPr marL="2057400" indent="-228600" defTabSz="457200" eaLnBrk="0" hangingPunct="0">
              <a:defRPr>
                <a:solidFill>
                  <a:schemeClr val="tx1"/>
                </a:solidFill>
                <a:latin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defRPr>
            </a:lvl9pPr>
          </a:lstStyle>
          <a:p>
            <a:pPr eaLnBrk="1" hangingPunct="1"/>
            <a:r>
              <a:rPr lang="en-US" altLang="en-US" sz="2800" b="1" dirty="0">
                <a:solidFill>
                  <a:srgbClr val="92D050"/>
                </a:solidFill>
                <a:cs typeface="Arial" pitchFamily="34" charset="0"/>
              </a:rPr>
              <a:t>Market strength</a:t>
            </a: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AU"/>
          </a:p>
        </p:txBody>
      </p:sp>
      <p:sp>
        <p:nvSpPr>
          <p:cNvPr id="8" name="TextBox 7"/>
          <p:cNvSpPr txBox="1"/>
          <p:nvPr/>
        </p:nvSpPr>
        <p:spPr>
          <a:xfrm>
            <a:off x="8867893" y="6499592"/>
            <a:ext cx="263214" cy="276999"/>
          </a:xfrm>
          <a:prstGeom prst="rect">
            <a:avLst/>
          </a:prstGeom>
          <a:noFill/>
        </p:spPr>
        <p:txBody>
          <a:bodyPr wrap="square" lIns="0" rtlCol="0">
            <a:spAutoFit/>
          </a:bodyPr>
          <a:lstStyle>
            <a:defPPr>
              <a:defRPr lang="en-US"/>
            </a:defPPr>
            <a:lvl1pPr>
              <a:defRPr sz="1200" b="1">
                <a:solidFill>
                  <a:prstClr val="white"/>
                </a:solidFill>
              </a:defRPr>
            </a:lvl1pPr>
          </a:lstStyle>
          <a:p>
            <a:pPr algn="ctr"/>
            <a:fld id="{930AFB57-27B1-4EDC-9D85-71AA30732641}" type="slidenum">
              <a:rPr lang="en-AU"/>
              <a:pPr algn="ctr"/>
              <a:t>10</a:t>
            </a:fld>
            <a:endParaRPr lang="en-AU" dirty="0"/>
          </a:p>
        </p:txBody>
      </p:sp>
      <p:sp>
        <p:nvSpPr>
          <p:cNvPr id="18" name="TextBox 17"/>
          <p:cNvSpPr txBox="1"/>
          <p:nvPr/>
        </p:nvSpPr>
        <p:spPr>
          <a:xfrm>
            <a:off x="251832" y="639607"/>
            <a:ext cx="7200488" cy="773169"/>
          </a:xfrm>
          <a:prstGeom prst="rect">
            <a:avLst/>
          </a:prstGeom>
          <a:noFill/>
          <a:ln>
            <a:solidFill>
              <a:srgbClr val="8CC63F"/>
            </a:solidFill>
          </a:ln>
        </p:spPr>
        <p:txBody>
          <a:bodyPr wrap="square" rtlCol="0" anchor="ctr">
            <a:noAutofit/>
          </a:bodyPr>
          <a:lstStyle/>
          <a:p>
            <a:pPr lvl="0">
              <a:spcBef>
                <a:spcPts val="600"/>
              </a:spcBef>
              <a:defRPr/>
            </a:pPr>
            <a:r>
              <a:rPr lang="en-US" sz="1600" b="1" dirty="0">
                <a:solidFill>
                  <a:srgbClr val="73A531"/>
                </a:solidFill>
              </a:rPr>
              <a:t>BSP’s combined </a:t>
            </a:r>
            <a:r>
              <a:rPr lang="en-US" sz="1600" b="1" dirty="0" smtClean="0">
                <a:solidFill>
                  <a:srgbClr val="73A531"/>
                </a:solidFill>
              </a:rPr>
              <a:t>loan market </a:t>
            </a:r>
            <a:r>
              <a:rPr lang="en-US" sz="1600" b="1" dirty="0">
                <a:solidFill>
                  <a:srgbClr val="73A531"/>
                </a:solidFill>
              </a:rPr>
              <a:t>share </a:t>
            </a:r>
            <a:r>
              <a:rPr lang="en-US" sz="1600" b="1" dirty="0" smtClean="0">
                <a:solidFill>
                  <a:srgbClr val="73A531"/>
                </a:solidFill>
              </a:rPr>
              <a:t>stood </a:t>
            </a:r>
            <a:r>
              <a:rPr lang="en-US" sz="1600" b="1" dirty="0">
                <a:solidFill>
                  <a:srgbClr val="73A531"/>
                </a:solidFill>
              </a:rPr>
              <a:t>at 42</a:t>
            </a:r>
            <a:r>
              <a:rPr lang="en-US" sz="1600" b="1" dirty="0" smtClean="0">
                <a:solidFill>
                  <a:srgbClr val="73A531"/>
                </a:solidFill>
              </a:rPr>
              <a:t>% at 30-Jun-18, an </a:t>
            </a:r>
            <a:r>
              <a:rPr lang="en-US" sz="1600" b="1" dirty="0">
                <a:solidFill>
                  <a:srgbClr val="73A531"/>
                </a:solidFill>
              </a:rPr>
              <a:t>increase of </a:t>
            </a:r>
            <a:r>
              <a:rPr lang="en-US" sz="1600" b="1" dirty="0" smtClean="0">
                <a:solidFill>
                  <a:srgbClr val="73A531"/>
                </a:solidFill>
              </a:rPr>
              <a:t>K813m </a:t>
            </a:r>
            <a:r>
              <a:rPr lang="en-US" sz="1600" b="1" dirty="0">
                <a:solidFill>
                  <a:srgbClr val="73A531"/>
                </a:solidFill>
              </a:rPr>
              <a:t>in the </a:t>
            </a:r>
            <a:r>
              <a:rPr lang="en-US" sz="1600" b="1" dirty="0" smtClean="0">
                <a:solidFill>
                  <a:srgbClr val="73A531"/>
                </a:solidFill>
              </a:rPr>
              <a:t>first half of 2018.  Our combined deposit share is 45%, an increase of K540m</a:t>
            </a:r>
            <a:endParaRPr lang="en-US" sz="1600" b="1" dirty="0">
              <a:solidFill>
                <a:srgbClr val="73A531"/>
              </a:solidFill>
            </a:endParaRPr>
          </a:p>
        </p:txBody>
      </p:sp>
      <p:sp>
        <p:nvSpPr>
          <p:cNvPr id="19" name="TextBox 18"/>
          <p:cNvSpPr txBox="1"/>
          <p:nvPr/>
        </p:nvSpPr>
        <p:spPr>
          <a:xfrm>
            <a:off x="260245" y="1484784"/>
            <a:ext cx="3724275" cy="707886"/>
          </a:xfrm>
          <a:prstGeom prst="rect">
            <a:avLst/>
          </a:prstGeom>
          <a:noFill/>
        </p:spPr>
        <p:txBody>
          <a:bodyPr wrap="square" lIns="0" rtlCol="0">
            <a:spAutoFit/>
          </a:bodyPr>
          <a:lstStyle/>
          <a:p>
            <a:r>
              <a:rPr lang="en-AU" sz="2000" b="1" dirty="0" smtClean="0">
                <a:solidFill>
                  <a:srgbClr val="73A531"/>
                </a:solidFill>
              </a:rPr>
              <a:t>LOANS MARKET SHARE</a:t>
            </a:r>
            <a:br>
              <a:rPr lang="en-AU" sz="2000" b="1" dirty="0" smtClean="0">
                <a:solidFill>
                  <a:srgbClr val="73A531"/>
                </a:solidFill>
              </a:rPr>
            </a:br>
            <a:endParaRPr lang="en-AU" sz="2000" dirty="0">
              <a:solidFill>
                <a:srgbClr val="73A531"/>
              </a:solidFill>
            </a:endParaRPr>
          </a:p>
        </p:txBody>
      </p:sp>
      <p:sp>
        <p:nvSpPr>
          <p:cNvPr id="20" name="TextBox 19"/>
          <p:cNvSpPr txBox="1"/>
          <p:nvPr/>
        </p:nvSpPr>
        <p:spPr>
          <a:xfrm>
            <a:off x="4777095" y="1484784"/>
            <a:ext cx="3724275" cy="707886"/>
          </a:xfrm>
          <a:prstGeom prst="rect">
            <a:avLst/>
          </a:prstGeom>
          <a:noFill/>
        </p:spPr>
        <p:txBody>
          <a:bodyPr wrap="square" lIns="0" rtlCol="0">
            <a:spAutoFit/>
          </a:bodyPr>
          <a:lstStyle/>
          <a:p>
            <a:r>
              <a:rPr lang="en-AU" sz="2000" b="1" dirty="0" smtClean="0">
                <a:solidFill>
                  <a:srgbClr val="73A531"/>
                </a:solidFill>
              </a:rPr>
              <a:t>DEPOSIT MARKET SHARE</a:t>
            </a:r>
            <a:br>
              <a:rPr lang="en-AU" sz="2000" b="1" dirty="0" smtClean="0">
                <a:solidFill>
                  <a:srgbClr val="73A531"/>
                </a:solidFill>
              </a:rPr>
            </a:br>
            <a:r>
              <a:rPr lang="en-AU" sz="2000" dirty="0" smtClean="0">
                <a:solidFill>
                  <a:srgbClr val="73A531"/>
                </a:solidFill>
              </a:rPr>
              <a:t> </a:t>
            </a:r>
            <a:endParaRPr lang="en-AU" sz="1600" dirty="0">
              <a:solidFill>
                <a:srgbClr val="73A531"/>
              </a:solidFill>
            </a:endParaRPr>
          </a:p>
        </p:txBody>
      </p:sp>
      <p:sp>
        <p:nvSpPr>
          <p:cNvPr id="21" name="TextBox 20"/>
          <p:cNvSpPr txBox="1"/>
          <p:nvPr/>
        </p:nvSpPr>
        <p:spPr>
          <a:xfrm>
            <a:off x="260245" y="3988597"/>
            <a:ext cx="3879707" cy="400110"/>
          </a:xfrm>
          <a:prstGeom prst="rect">
            <a:avLst/>
          </a:prstGeom>
          <a:noFill/>
        </p:spPr>
        <p:txBody>
          <a:bodyPr wrap="square" lIns="0" rtlCol="0">
            <a:spAutoFit/>
          </a:bodyPr>
          <a:lstStyle/>
          <a:p>
            <a:r>
              <a:rPr lang="en-AU" sz="2000" b="1" dirty="0" smtClean="0">
                <a:solidFill>
                  <a:srgbClr val="73A531"/>
                </a:solidFill>
              </a:rPr>
              <a:t>LOANS PORTFOLIO COMPOSITION </a:t>
            </a:r>
            <a:endParaRPr lang="en-AU" sz="2000" dirty="0">
              <a:solidFill>
                <a:srgbClr val="73A531"/>
              </a:solidFill>
            </a:endParaRPr>
          </a:p>
        </p:txBody>
      </p:sp>
      <p:sp>
        <p:nvSpPr>
          <p:cNvPr id="22" name="TextBox 21"/>
          <p:cNvSpPr txBox="1"/>
          <p:nvPr/>
        </p:nvSpPr>
        <p:spPr>
          <a:xfrm>
            <a:off x="4777095" y="3988597"/>
            <a:ext cx="4187393" cy="400110"/>
          </a:xfrm>
          <a:prstGeom prst="rect">
            <a:avLst/>
          </a:prstGeom>
          <a:noFill/>
        </p:spPr>
        <p:txBody>
          <a:bodyPr wrap="square" lIns="0" rtlCol="0">
            <a:spAutoFit/>
          </a:bodyPr>
          <a:lstStyle/>
          <a:p>
            <a:r>
              <a:rPr lang="en-AU" sz="2000" b="1" dirty="0" smtClean="0">
                <a:solidFill>
                  <a:srgbClr val="73A531"/>
                </a:solidFill>
              </a:rPr>
              <a:t>DEPOSIT PORTFOLIO COMPOSITION </a:t>
            </a:r>
            <a:endParaRPr lang="en-AU" sz="2000" dirty="0">
              <a:solidFill>
                <a:srgbClr val="73A531"/>
              </a:solidFill>
            </a:endParaRPr>
          </a:p>
        </p:txBody>
      </p:sp>
      <p:graphicFrame>
        <p:nvGraphicFramePr>
          <p:cNvPr id="23" name="Chart 22"/>
          <p:cNvGraphicFramePr>
            <a:graphicFrameLocks/>
          </p:cNvGraphicFramePr>
          <p:nvPr>
            <p:extLst>
              <p:ext uri="{D42A27DB-BD31-4B8C-83A1-F6EECF244321}">
                <p14:modId xmlns:p14="http://schemas.microsoft.com/office/powerpoint/2010/main" val="483971127"/>
              </p:ext>
            </p:extLst>
          </p:nvPr>
        </p:nvGraphicFramePr>
        <p:xfrm>
          <a:off x="146931" y="1838727"/>
          <a:ext cx="4106333" cy="2133292"/>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3" name="Table 2"/>
          <p:cNvGraphicFramePr>
            <a:graphicFrameLocks noGrp="1"/>
          </p:cNvGraphicFramePr>
          <p:nvPr>
            <p:extLst>
              <p:ext uri="{D42A27DB-BD31-4B8C-83A1-F6EECF244321}">
                <p14:modId xmlns:p14="http://schemas.microsoft.com/office/powerpoint/2010/main" val="877167267"/>
              </p:ext>
            </p:extLst>
          </p:nvPr>
        </p:nvGraphicFramePr>
        <p:xfrm>
          <a:off x="3345989" y="1906839"/>
          <a:ext cx="1012173" cy="2001641"/>
        </p:xfrm>
        <a:graphic>
          <a:graphicData uri="http://schemas.openxmlformats.org/drawingml/2006/table">
            <a:tbl>
              <a:tblPr>
                <a:tableStyleId>{5C22544A-7EE6-4342-B048-85BDC9FD1C3A}</a:tableStyleId>
              </a:tblPr>
              <a:tblGrid>
                <a:gridCol w="616105"/>
                <a:gridCol w="396068"/>
              </a:tblGrid>
              <a:tr h="179640">
                <a:tc>
                  <a:txBody>
                    <a:bodyPr/>
                    <a:lstStyle/>
                    <a:p>
                      <a:pPr algn="l" fontAlgn="b"/>
                      <a:r>
                        <a:rPr lang="en-AU" sz="800" u="none" strike="noStrike" dirty="0">
                          <a:effectLst/>
                        </a:rPr>
                        <a:t> </a:t>
                      </a:r>
                      <a:endParaRPr lang="en-AU" sz="800" b="0" i="0" u="none" strike="noStrike" dirty="0">
                        <a:solidFill>
                          <a:srgbClr val="000000"/>
                        </a:solidFill>
                        <a:effectLst/>
                        <a:latin typeface="Calibri"/>
                      </a:endParaRPr>
                    </a:p>
                  </a:txBody>
                  <a:tcPr marL="0" marR="0" marT="0" marB="0" anchor="b">
                    <a:noFill/>
                  </a:tcPr>
                </a:tc>
                <a:tc>
                  <a:txBody>
                    <a:bodyPr/>
                    <a:lstStyle/>
                    <a:p>
                      <a:pPr algn="ctr" fontAlgn="b"/>
                      <a:r>
                        <a:rPr lang="en-AU" sz="1200" b="1" u="none" strike="noStrike" dirty="0">
                          <a:effectLst/>
                        </a:rPr>
                        <a:t>Rank </a:t>
                      </a:r>
                      <a:endParaRPr lang="en-AU" sz="1000" b="1" i="0" u="none" strike="noStrike" dirty="0">
                        <a:solidFill>
                          <a:srgbClr val="FFFFFF"/>
                        </a:solidFill>
                        <a:effectLst/>
                        <a:latin typeface="Calibri"/>
                      </a:endParaRPr>
                    </a:p>
                  </a:txBody>
                  <a:tcPr marL="0" marR="0" marT="0" marB="0" anchor="b">
                    <a:noFill/>
                  </a:tcPr>
                </a:tc>
              </a:tr>
              <a:tr h="259823">
                <a:tc>
                  <a:txBody>
                    <a:bodyPr/>
                    <a:lstStyle/>
                    <a:p>
                      <a:pPr algn="l" fontAlgn="b"/>
                      <a:r>
                        <a:rPr lang="en-AU" sz="800" u="none" strike="noStrike" dirty="0">
                          <a:effectLst/>
                        </a:rPr>
                        <a:t> </a:t>
                      </a:r>
                      <a:endParaRPr lang="en-AU" sz="800" b="0" i="0" u="none" strike="noStrike" dirty="0">
                        <a:solidFill>
                          <a:srgbClr val="000000"/>
                        </a:solidFill>
                        <a:effectLst/>
                        <a:latin typeface="Calibri"/>
                      </a:endParaRPr>
                    </a:p>
                  </a:txBody>
                  <a:tcPr marL="0" marR="0" marT="0" marB="0">
                    <a:noFill/>
                  </a:tcPr>
                </a:tc>
                <a:tc>
                  <a:txBody>
                    <a:bodyPr/>
                    <a:lstStyle/>
                    <a:p>
                      <a:pPr algn="ctr" fontAlgn="b"/>
                      <a:r>
                        <a:rPr lang="en-AU" sz="1400" u="none" strike="noStrike" dirty="0">
                          <a:solidFill>
                            <a:schemeClr val="bg1"/>
                          </a:solidFill>
                          <a:effectLst/>
                        </a:rPr>
                        <a:t>#1</a:t>
                      </a:r>
                      <a:endParaRPr lang="en-AU" sz="1400" b="1" i="0" u="none" strike="noStrike" dirty="0">
                        <a:solidFill>
                          <a:schemeClr val="bg1"/>
                        </a:solidFill>
                        <a:effectLst/>
                        <a:latin typeface="Calibri"/>
                      </a:endParaRPr>
                    </a:p>
                  </a:txBody>
                  <a:tcPr marL="0" marR="0" marT="0" marB="0" anchor="ctr">
                    <a:solidFill>
                      <a:srgbClr val="8CC63F"/>
                    </a:solidFill>
                  </a:tcPr>
                </a:tc>
              </a:tr>
              <a:tr h="259823">
                <a:tc>
                  <a:txBody>
                    <a:bodyPr/>
                    <a:lstStyle/>
                    <a:p>
                      <a:pPr algn="l" fontAlgn="b"/>
                      <a:r>
                        <a:rPr lang="en-AU" sz="800" u="none" strike="noStrike">
                          <a:effectLst/>
                        </a:rPr>
                        <a:t> </a:t>
                      </a:r>
                      <a:endParaRPr lang="en-AU" sz="800" b="0" i="0" u="none" strike="noStrike">
                        <a:solidFill>
                          <a:srgbClr val="000000"/>
                        </a:solidFill>
                        <a:effectLst/>
                        <a:latin typeface="Calibri"/>
                      </a:endParaRPr>
                    </a:p>
                  </a:txBody>
                  <a:tcPr marL="0" marR="0" marT="0" marB="0">
                    <a:noFill/>
                  </a:tcPr>
                </a:tc>
                <a:tc>
                  <a:txBody>
                    <a:bodyPr/>
                    <a:lstStyle/>
                    <a:p>
                      <a:pPr algn="ctr" fontAlgn="b"/>
                      <a:r>
                        <a:rPr lang="en-AU" sz="1400" u="none" strike="noStrike" dirty="0">
                          <a:solidFill>
                            <a:schemeClr val="bg1"/>
                          </a:solidFill>
                          <a:effectLst/>
                        </a:rPr>
                        <a:t>#1</a:t>
                      </a:r>
                      <a:endParaRPr lang="en-AU" sz="1400" b="1" i="0" u="none" strike="noStrike" dirty="0">
                        <a:solidFill>
                          <a:schemeClr val="bg1"/>
                        </a:solidFill>
                        <a:effectLst/>
                        <a:latin typeface="Calibri"/>
                      </a:endParaRPr>
                    </a:p>
                  </a:txBody>
                  <a:tcPr marL="0" marR="0" marT="0" marB="0" anchor="ctr">
                    <a:solidFill>
                      <a:srgbClr val="8CC63F"/>
                    </a:solidFill>
                  </a:tcPr>
                </a:tc>
              </a:tr>
              <a:tr h="259823">
                <a:tc>
                  <a:txBody>
                    <a:bodyPr/>
                    <a:lstStyle/>
                    <a:p>
                      <a:pPr algn="l" fontAlgn="b"/>
                      <a:r>
                        <a:rPr lang="en-AU" sz="700" u="none" strike="noStrike">
                          <a:effectLst/>
                        </a:rPr>
                        <a:t> </a:t>
                      </a:r>
                      <a:endParaRPr lang="en-AU" sz="800" b="0" i="0" u="none" strike="noStrike">
                        <a:solidFill>
                          <a:srgbClr val="000000"/>
                        </a:solidFill>
                        <a:effectLst/>
                        <a:latin typeface="Calibri"/>
                      </a:endParaRPr>
                    </a:p>
                  </a:txBody>
                  <a:tcPr marL="0" marR="0" marT="0" marB="0">
                    <a:noFill/>
                  </a:tcPr>
                </a:tc>
                <a:tc>
                  <a:txBody>
                    <a:bodyPr/>
                    <a:lstStyle/>
                    <a:p>
                      <a:pPr algn="ctr" fontAlgn="b"/>
                      <a:r>
                        <a:rPr lang="en-AU" sz="1400" u="none" strike="noStrike" dirty="0">
                          <a:solidFill>
                            <a:schemeClr val="bg1"/>
                          </a:solidFill>
                          <a:effectLst/>
                        </a:rPr>
                        <a:t>#1</a:t>
                      </a:r>
                      <a:endParaRPr lang="en-AU" sz="1400" b="1" i="0" u="none" strike="noStrike" dirty="0">
                        <a:solidFill>
                          <a:schemeClr val="bg1"/>
                        </a:solidFill>
                        <a:effectLst/>
                        <a:latin typeface="Calibri"/>
                      </a:endParaRPr>
                    </a:p>
                  </a:txBody>
                  <a:tcPr marL="0" marR="0" marT="0" marB="0" anchor="ctr">
                    <a:solidFill>
                      <a:srgbClr val="8CC63F"/>
                    </a:solidFill>
                  </a:tcPr>
                </a:tc>
              </a:tr>
              <a:tr h="259823">
                <a:tc>
                  <a:txBody>
                    <a:bodyPr/>
                    <a:lstStyle/>
                    <a:p>
                      <a:pPr algn="l" fontAlgn="b"/>
                      <a:r>
                        <a:rPr lang="en-AU" sz="700" u="none" strike="noStrike">
                          <a:effectLst/>
                        </a:rPr>
                        <a:t> </a:t>
                      </a:r>
                      <a:endParaRPr lang="en-AU" sz="800" b="0" i="0" u="none" strike="noStrike">
                        <a:solidFill>
                          <a:srgbClr val="000000"/>
                        </a:solidFill>
                        <a:effectLst/>
                        <a:latin typeface="Calibri"/>
                      </a:endParaRPr>
                    </a:p>
                  </a:txBody>
                  <a:tcPr marL="0" marR="0" marT="0" marB="0">
                    <a:noFill/>
                  </a:tcPr>
                </a:tc>
                <a:tc>
                  <a:txBody>
                    <a:bodyPr/>
                    <a:lstStyle/>
                    <a:p>
                      <a:pPr algn="ctr" fontAlgn="b"/>
                      <a:r>
                        <a:rPr lang="en-AU" sz="1400" u="none" strike="noStrike" dirty="0">
                          <a:solidFill>
                            <a:schemeClr val="bg1"/>
                          </a:solidFill>
                          <a:effectLst/>
                        </a:rPr>
                        <a:t>#1</a:t>
                      </a:r>
                      <a:endParaRPr lang="en-AU" sz="1400" b="1" i="0" u="none" strike="noStrike" dirty="0">
                        <a:solidFill>
                          <a:schemeClr val="bg1"/>
                        </a:solidFill>
                        <a:effectLst/>
                        <a:latin typeface="Calibri"/>
                      </a:endParaRPr>
                    </a:p>
                  </a:txBody>
                  <a:tcPr marL="0" marR="0" marT="0" marB="0" anchor="ctr">
                    <a:solidFill>
                      <a:srgbClr val="8CC63F"/>
                    </a:solidFill>
                  </a:tcPr>
                </a:tc>
              </a:tr>
              <a:tr h="259823">
                <a:tc>
                  <a:txBody>
                    <a:bodyPr/>
                    <a:lstStyle/>
                    <a:p>
                      <a:pPr algn="l" fontAlgn="b"/>
                      <a:r>
                        <a:rPr lang="en-AU" sz="800" u="none" strike="noStrike">
                          <a:effectLst/>
                        </a:rPr>
                        <a:t> </a:t>
                      </a:r>
                      <a:endParaRPr lang="en-AU" sz="800" b="0" i="0" u="none" strike="noStrike">
                        <a:solidFill>
                          <a:srgbClr val="000000"/>
                        </a:solidFill>
                        <a:effectLst/>
                        <a:latin typeface="Calibri"/>
                      </a:endParaRPr>
                    </a:p>
                  </a:txBody>
                  <a:tcPr marL="0" marR="0" marT="0" marB="0">
                    <a:noFill/>
                  </a:tcPr>
                </a:tc>
                <a:tc>
                  <a:txBody>
                    <a:bodyPr/>
                    <a:lstStyle/>
                    <a:p>
                      <a:pPr algn="ctr" fontAlgn="b"/>
                      <a:r>
                        <a:rPr lang="en-AU" sz="1400" u="none" strike="noStrike" dirty="0">
                          <a:solidFill>
                            <a:schemeClr val="bg1"/>
                          </a:solidFill>
                          <a:effectLst/>
                        </a:rPr>
                        <a:t>#2</a:t>
                      </a:r>
                      <a:endParaRPr lang="en-AU" sz="1400" b="1" i="0" u="none" strike="noStrike" dirty="0">
                        <a:solidFill>
                          <a:schemeClr val="bg1"/>
                        </a:solidFill>
                        <a:effectLst/>
                        <a:latin typeface="Calibri"/>
                      </a:endParaRPr>
                    </a:p>
                  </a:txBody>
                  <a:tcPr marL="0" marR="0" marT="0" marB="0" anchor="ctr">
                    <a:solidFill>
                      <a:srgbClr val="8CC63F"/>
                    </a:solidFill>
                  </a:tcPr>
                </a:tc>
              </a:tr>
              <a:tr h="259823">
                <a:tc>
                  <a:txBody>
                    <a:bodyPr/>
                    <a:lstStyle/>
                    <a:p>
                      <a:pPr algn="l" fontAlgn="b"/>
                      <a:r>
                        <a:rPr lang="en-AU" sz="800" u="none" strike="noStrike">
                          <a:effectLst/>
                        </a:rPr>
                        <a:t> </a:t>
                      </a:r>
                      <a:endParaRPr lang="en-AU" sz="800" b="0" i="0" u="none" strike="noStrike">
                        <a:solidFill>
                          <a:srgbClr val="000000"/>
                        </a:solidFill>
                        <a:effectLst/>
                        <a:latin typeface="Calibri"/>
                      </a:endParaRPr>
                    </a:p>
                  </a:txBody>
                  <a:tcPr marL="0" marR="0" marT="0" marB="0">
                    <a:noFill/>
                  </a:tcPr>
                </a:tc>
                <a:tc>
                  <a:txBody>
                    <a:bodyPr/>
                    <a:lstStyle/>
                    <a:p>
                      <a:pPr algn="ctr" fontAlgn="b"/>
                      <a:r>
                        <a:rPr lang="en-AU" sz="1400" u="none" strike="noStrike" dirty="0" smtClean="0">
                          <a:solidFill>
                            <a:schemeClr val="bg1"/>
                          </a:solidFill>
                          <a:effectLst/>
                        </a:rPr>
                        <a:t>#2</a:t>
                      </a:r>
                      <a:endParaRPr lang="en-AU" sz="1400" b="1" i="0" u="none" strike="noStrike" dirty="0">
                        <a:solidFill>
                          <a:schemeClr val="bg1"/>
                        </a:solidFill>
                        <a:effectLst/>
                        <a:latin typeface="Arial"/>
                      </a:endParaRPr>
                    </a:p>
                  </a:txBody>
                  <a:tcPr marL="0" marR="0" marT="0" marB="0" anchor="ctr">
                    <a:solidFill>
                      <a:srgbClr val="8CC63F"/>
                    </a:solidFill>
                  </a:tcPr>
                </a:tc>
              </a:tr>
              <a:tr h="259823">
                <a:tc>
                  <a:txBody>
                    <a:bodyPr/>
                    <a:lstStyle/>
                    <a:p>
                      <a:pPr algn="l" fontAlgn="b"/>
                      <a:r>
                        <a:rPr lang="en-AU" sz="800" u="none" strike="noStrike">
                          <a:effectLst/>
                        </a:rPr>
                        <a:t> </a:t>
                      </a:r>
                      <a:endParaRPr lang="en-AU" sz="800" b="0" i="0" u="none" strike="noStrike">
                        <a:solidFill>
                          <a:srgbClr val="000000"/>
                        </a:solidFill>
                        <a:effectLst/>
                        <a:latin typeface="Calibri"/>
                      </a:endParaRPr>
                    </a:p>
                  </a:txBody>
                  <a:tcPr marL="0" marR="0" marT="0" marB="0">
                    <a:noFill/>
                  </a:tcPr>
                </a:tc>
                <a:tc>
                  <a:txBody>
                    <a:bodyPr/>
                    <a:lstStyle/>
                    <a:p>
                      <a:pPr algn="ctr" fontAlgn="b"/>
                      <a:r>
                        <a:rPr lang="en-AU" sz="1400" u="none" strike="noStrike" dirty="0">
                          <a:solidFill>
                            <a:schemeClr val="bg1"/>
                          </a:solidFill>
                          <a:effectLst/>
                        </a:rPr>
                        <a:t>#4</a:t>
                      </a:r>
                      <a:endParaRPr lang="en-AU" sz="1400" b="1" i="0" u="none" strike="noStrike" dirty="0">
                        <a:solidFill>
                          <a:schemeClr val="bg1"/>
                        </a:solidFill>
                        <a:effectLst/>
                        <a:latin typeface="Arial"/>
                      </a:endParaRPr>
                    </a:p>
                  </a:txBody>
                  <a:tcPr marL="0" marR="0" marT="0" marB="0" anchor="ctr">
                    <a:solidFill>
                      <a:srgbClr val="8CC63F"/>
                    </a:solidFill>
                  </a:tcPr>
                </a:tc>
              </a:tr>
            </a:tbl>
          </a:graphicData>
        </a:graphic>
      </p:graphicFrame>
      <p:pic>
        <p:nvPicPr>
          <p:cNvPr id="35" name="Picture 34"/>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511902" y="2372988"/>
            <a:ext cx="429862" cy="2149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6" name="Picture 35"/>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511902" y="3151077"/>
            <a:ext cx="428862" cy="2149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7" name="Picture 36"/>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511902" y="2894380"/>
            <a:ext cx="428862" cy="2149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8" name="Picture 37"/>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511902" y="3663471"/>
            <a:ext cx="429861" cy="2179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9" name="Picture 38"/>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3511902" y="2629685"/>
            <a:ext cx="428861" cy="22292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 name="Picture 39"/>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3511902" y="3407773"/>
            <a:ext cx="428862" cy="2139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 name="Picture 40"/>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3511902" y="2111293"/>
            <a:ext cx="428862" cy="21992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42" name="Chart 41"/>
          <p:cNvGraphicFramePr>
            <a:graphicFrameLocks/>
          </p:cNvGraphicFramePr>
          <p:nvPr>
            <p:extLst>
              <p:ext uri="{D42A27DB-BD31-4B8C-83A1-F6EECF244321}">
                <p14:modId xmlns:p14="http://schemas.microsoft.com/office/powerpoint/2010/main" val="3163486356"/>
              </p:ext>
            </p:extLst>
          </p:nvPr>
        </p:nvGraphicFramePr>
        <p:xfrm>
          <a:off x="4777095" y="1963718"/>
          <a:ext cx="3704166" cy="2045664"/>
        </p:xfrm>
        <a:graphic>
          <a:graphicData uri="http://schemas.openxmlformats.org/drawingml/2006/chart">
            <c:chart xmlns:c="http://schemas.openxmlformats.org/drawingml/2006/chart" xmlns:r="http://schemas.openxmlformats.org/officeDocument/2006/relationships" r:id="rId12"/>
          </a:graphicData>
        </a:graphic>
      </p:graphicFrame>
      <p:graphicFrame>
        <p:nvGraphicFramePr>
          <p:cNvPr id="43" name="Table 42"/>
          <p:cNvGraphicFramePr>
            <a:graphicFrameLocks noGrp="1"/>
          </p:cNvGraphicFramePr>
          <p:nvPr>
            <p:extLst>
              <p:ext uri="{D42A27DB-BD31-4B8C-83A1-F6EECF244321}">
                <p14:modId xmlns:p14="http://schemas.microsoft.com/office/powerpoint/2010/main" val="3234016288"/>
              </p:ext>
            </p:extLst>
          </p:nvPr>
        </p:nvGraphicFramePr>
        <p:xfrm>
          <a:off x="7778289" y="1893559"/>
          <a:ext cx="1012173" cy="2001641"/>
        </p:xfrm>
        <a:graphic>
          <a:graphicData uri="http://schemas.openxmlformats.org/drawingml/2006/table">
            <a:tbl>
              <a:tblPr>
                <a:tableStyleId>{5C22544A-7EE6-4342-B048-85BDC9FD1C3A}</a:tableStyleId>
              </a:tblPr>
              <a:tblGrid>
                <a:gridCol w="616105"/>
                <a:gridCol w="396068"/>
              </a:tblGrid>
              <a:tr h="179640">
                <a:tc>
                  <a:txBody>
                    <a:bodyPr/>
                    <a:lstStyle/>
                    <a:p>
                      <a:pPr algn="l" fontAlgn="b"/>
                      <a:r>
                        <a:rPr lang="en-AU" sz="800" u="none" strike="noStrike" dirty="0">
                          <a:effectLst/>
                        </a:rPr>
                        <a:t> </a:t>
                      </a:r>
                      <a:endParaRPr lang="en-AU" sz="800" b="0" i="0" u="none" strike="noStrike" dirty="0">
                        <a:solidFill>
                          <a:srgbClr val="000000"/>
                        </a:solidFill>
                        <a:effectLst/>
                        <a:latin typeface="Calibri"/>
                      </a:endParaRPr>
                    </a:p>
                  </a:txBody>
                  <a:tcPr marL="0" marR="0" marT="0" marB="0" anchor="b">
                    <a:noFill/>
                  </a:tcPr>
                </a:tc>
                <a:tc>
                  <a:txBody>
                    <a:bodyPr/>
                    <a:lstStyle/>
                    <a:p>
                      <a:pPr algn="ctr" fontAlgn="b"/>
                      <a:r>
                        <a:rPr lang="en-AU" sz="1200" b="1" u="none" strike="noStrike" dirty="0">
                          <a:effectLst/>
                        </a:rPr>
                        <a:t>Rank </a:t>
                      </a:r>
                      <a:endParaRPr lang="en-AU" sz="1000" b="1" i="0" u="none" strike="noStrike" dirty="0">
                        <a:solidFill>
                          <a:srgbClr val="FFFFFF"/>
                        </a:solidFill>
                        <a:effectLst/>
                        <a:latin typeface="Calibri"/>
                      </a:endParaRPr>
                    </a:p>
                  </a:txBody>
                  <a:tcPr marL="0" marR="0" marT="0" marB="0" anchor="b">
                    <a:noFill/>
                  </a:tcPr>
                </a:tc>
              </a:tr>
              <a:tr h="259823">
                <a:tc>
                  <a:txBody>
                    <a:bodyPr/>
                    <a:lstStyle/>
                    <a:p>
                      <a:pPr algn="l" fontAlgn="b"/>
                      <a:r>
                        <a:rPr lang="en-AU" sz="800" u="none" strike="noStrike" dirty="0">
                          <a:effectLst/>
                        </a:rPr>
                        <a:t> </a:t>
                      </a:r>
                      <a:endParaRPr lang="en-AU" sz="800" b="0" i="0" u="none" strike="noStrike" dirty="0">
                        <a:solidFill>
                          <a:srgbClr val="000000"/>
                        </a:solidFill>
                        <a:effectLst/>
                        <a:latin typeface="Calibri"/>
                      </a:endParaRPr>
                    </a:p>
                  </a:txBody>
                  <a:tcPr marL="0" marR="0" marT="0" marB="0">
                    <a:noFill/>
                  </a:tcPr>
                </a:tc>
                <a:tc>
                  <a:txBody>
                    <a:bodyPr/>
                    <a:lstStyle/>
                    <a:p>
                      <a:pPr algn="ctr" fontAlgn="b"/>
                      <a:r>
                        <a:rPr lang="en-AU" sz="1400" u="none" strike="noStrike" dirty="0">
                          <a:solidFill>
                            <a:schemeClr val="bg1"/>
                          </a:solidFill>
                          <a:effectLst/>
                        </a:rPr>
                        <a:t>#1</a:t>
                      </a:r>
                      <a:endParaRPr lang="en-AU" sz="1400" b="1" i="0" u="none" strike="noStrike" dirty="0">
                        <a:solidFill>
                          <a:schemeClr val="bg1"/>
                        </a:solidFill>
                        <a:effectLst/>
                        <a:latin typeface="Calibri"/>
                      </a:endParaRPr>
                    </a:p>
                  </a:txBody>
                  <a:tcPr marL="0" marR="0" marT="0" marB="0" anchor="ctr">
                    <a:solidFill>
                      <a:srgbClr val="8CC63F"/>
                    </a:solidFill>
                  </a:tcPr>
                </a:tc>
              </a:tr>
              <a:tr h="259823">
                <a:tc>
                  <a:txBody>
                    <a:bodyPr/>
                    <a:lstStyle/>
                    <a:p>
                      <a:pPr algn="l" fontAlgn="b"/>
                      <a:r>
                        <a:rPr lang="en-AU" sz="800" u="none" strike="noStrike">
                          <a:effectLst/>
                        </a:rPr>
                        <a:t> </a:t>
                      </a:r>
                      <a:endParaRPr lang="en-AU" sz="800" b="0" i="0" u="none" strike="noStrike">
                        <a:solidFill>
                          <a:srgbClr val="000000"/>
                        </a:solidFill>
                        <a:effectLst/>
                        <a:latin typeface="Calibri"/>
                      </a:endParaRPr>
                    </a:p>
                  </a:txBody>
                  <a:tcPr marL="0" marR="0" marT="0" marB="0">
                    <a:noFill/>
                  </a:tcPr>
                </a:tc>
                <a:tc>
                  <a:txBody>
                    <a:bodyPr/>
                    <a:lstStyle/>
                    <a:p>
                      <a:pPr algn="ctr" fontAlgn="b"/>
                      <a:r>
                        <a:rPr lang="en-AU" sz="1400" u="none" strike="noStrike" dirty="0">
                          <a:solidFill>
                            <a:schemeClr val="bg1"/>
                          </a:solidFill>
                          <a:effectLst/>
                        </a:rPr>
                        <a:t>#1</a:t>
                      </a:r>
                      <a:endParaRPr lang="en-AU" sz="1400" b="1" i="0" u="none" strike="noStrike" dirty="0">
                        <a:solidFill>
                          <a:schemeClr val="bg1"/>
                        </a:solidFill>
                        <a:effectLst/>
                        <a:latin typeface="Calibri"/>
                      </a:endParaRPr>
                    </a:p>
                  </a:txBody>
                  <a:tcPr marL="0" marR="0" marT="0" marB="0" anchor="ctr">
                    <a:solidFill>
                      <a:srgbClr val="8CC63F"/>
                    </a:solidFill>
                  </a:tcPr>
                </a:tc>
              </a:tr>
              <a:tr h="259823">
                <a:tc>
                  <a:txBody>
                    <a:bodyPr/>
                    <a:lstStyle/>
                    <a:p>
                      <a:pPr algn="l" fontAlgn="b"/>
                      <a:r>
                        <a:rPr lang="en-AU" sz="700" u="none" strike="noStrike">
                          <a:effectLst/>
                        </a:rPr>
                        <a:t> </a:t>
                      </a:r>
                      <a:endParaRPr lang="en-AU" sz="800" b="0" i="0" u="none" strike="noStrike">
                        <a:solidFill>
                          <a:srgbClr val="000000"/>
                        </a:solidFill>
                        <a:effectLst/>
                        <a:latin typeface="Calibri"/>
                      </a:endParaRPr>
                    </a:p>
                  </a:txBody>
                  <a:tcPr marL="0" marR="0" marT="0" marB="0">
                    <a:noFill/>
                  </a:tcPr>
                </a:tc>
                <a:tc>
                  <a:txBody>
                    <a:bodyPr/>
                    <a:lstStyle/>
                    <a:p>
                      <a:pPr algn="ctr" fontAlgn="b"/>
                      <a:r>
                        <a:rPr lang="en-AU" sz="1400" u="none" strike="noStrike" dirty="0">
                          <a:solidFill>
                            <a:schemeClr val="bg1"/>
                          </a:solidFill>
                          <a:effectLst/>
                        </a:rPr>
                        <a:t>#1</a:t>
                      </a:r>
                      <a:endParaRPr lang="en-AU" sz="1400" b="1" i="0" u="none" strike="noStrike" dirty="0">
                        <a:solidFill>
                          <a:schemeClr val="bg1"/>
                        </a:solidFill>
                        <a:effectLst/>
                        <a:latin typeface="Calibri"/>
                      </a:endParaRPr>
                    </a:p>
                  </a:txBody>
                  <a:tcPr marL="0" marR="0" marT="0" marB="0" anchor="ctr">
                    <a:solidFill>
                      <a:srgbClr val="8CC63F"/>
                    </a:solidFill>
                  </a:tcPr>
                </a:tc>
              </a:tr>
              <a:tr h="259823">
                <a:tc>
                  <a:txBody>
                    <a:bodyPr/>
                    <a:lstStyle/>
                    <a:p>
                      <a:pPr algn="l" fontAlgn="b"/>
                      <a:r>
                        <a:rPr lang="en-AU" sz="700" u="none" strike="noStrike">
                          <a:effectLst/>
                        </a:rPr>
                        <a:t> </a:t>
                      </a:r>
                      <a:endParaRPr lang="en-AU" sz="800" b="0" i="0" u="none" strike="noStrike">
                        <a:solidFill>
                          <a:srgbClr val="000000"/>
                        </a:solidFill>
                        <a:effectLst/>
                        <a:latin typeface="Calibri"/>
                      </a:endParaRPr>
                    </a:p>
                  </a:txBody>
                  <a:tcPr marL="0" marR="0" marT="0" marB="0">
                    <a:noFill/>
                  </a:tcPr>
                </a:tc>
                <a:tc>
                  <a:txBody>
                    <a:bodyPr/>
                    <a:lstStyle/>
                    <a:p>
                      <a:pPr algn="ctr" fontAlgn="b"/>
                      <a:r>
                        <a:rPr lang="en-AU" sz="1400" u="none" strike="noStrike" dirty="0">
                          <a:solidFill>
                            <a:schemeClr val="bg1"/>
                          </a:solidFill>
                          <a:effectLst/>
                        </a:rPr>
                        <a:t>#1</a:t>
                      </a:r>
                      <a:endParaRPr lang="en-AU" sz="1400" b="1" i="0" u="none" strike="noStrike" dirty="0">
                        <a:solidFill>
                          <a:schemeClr val="bg1"/>
                        </a:solidFill>
                        <a:effectLst/>
                        <a:latin typeface="Calibri"/>
                      </a:endParaRPr>
                    </a:p>
                  </a:txBody>
                  <a:tcPr marL="0" marR="0" marT="0" marB="0" anchor="ctr">
                    <a:solidFill>
                      <a:srgbClr val="8CC63F"/>
                    </a:solidFill>
                  </a:tcPr>
                </a:tc>
              </a:tr>
              <a:tr h="259823">
                <a:tc>
                  <a:txBody>
                    <a:bodyPr/>
                    <a:lstStyle/>
                    <a:p>
                      <a:pPr algn="l" fontAlgn="b"/>
                      <a:r>
                        <a:rPr lang="en-AU" sz="800" u="none" strike="noStrike">
                          <a:effectLst/>
                        </a:rPr>
                        <a:t> </a:t>
                      </a:r>
                      <a:endParaRPr lang="en-AU" sz="800" b="0" i="0" u="none" strike="noStrike">
                        <a:solidFill>
                          <a:srgbClr val="000000"/>
                        </a:solidFill>
                        <a:effectLst/>
                        <a:latin typeface="Calibri"/>
                      </a:endParaRPr>
                    </a:p>
                  </a:txBody>
                  <a:tcPr marL="0" marR="0" marT="0" marB="0">
                    <a:noFill/>
                  </a:tcPr>
                </a:tc>
                <a:tc>
                  <a:txBody>
                    <a:bodyPr/>
                    <a:lstStyle/>
                    <a:p>
                      <a:pPr algn="ctr" fontAlgn="b"/>
                      <a:r>
                        <a:rPr lang="en-AU" sz="1400" u="none" strike="noStrike" dirty="0">
                          <a:solidFill>
                            <a:schemeClr val="bg1"/>
                          </a:solidFill>
                          <a:effectLst/>
                        </a:rPr>
                        <a:t>#2</a:t>
                      </a:r>
                      <a:endParaRPr lang="en-AU" sz="1400" b="1" i="0" u="none" strike="noStrike" dirty="0">
                        <a:solidFill>
                          <a:schemeClr val="bg1"/>
                        </a:solidFill>
                        <a:effectLst/>
                        <a:latin typeface="Calibri"/>
                      </a:endParaRPr>
                    </a:p>
                  </a:txBody>
                  <a:tcPr marL="0" marR="0" marT="0" marB="0" anchor="ctr">
                    <a:solidFill>
                      <a:srgbClr val="8CC63F"/>
                    </a:solidFill>
                  </a:tcPr>
                </a:tc>
              </a:tr>
              <a:tr h="259823">
                <a:tc>
                  <a:txBody>
                    <a:bodyPr/>
                    <a:lstStyle/>
                    <a:p>
                      <a:pPr algn="l" fontAlgn="b"/>
                      <a:r>
                        <a:rPr lang="en-AU" sz="800" u="none" strike="noStrike">
                          <a:effectLst/>
                        </a:rPr>
                        <a:t> </a:t>
                      </a:r>
                      <a:endParaRPr lang="en-AU" sz="800" b="0" i="0" u="none" strike="noStrike">
                        <a:solidFill>
                          <a:srgbClr val="000000"/>
                        </a:solidFill>
                        <a:effectLst/>
                        <a:latin typeface="Calibri"/>
                      </a:endParaRPr>
                    </a:p>
                  </a:txBody>
                  <a:tcPr marL="0" marR="0" marT="0" marB="0">
                    <a:noFill/>
                  </a:tcPr>
                </a:tc>
                <a:tc>
                  <a:txBody>
                    <a:bodyPr/>
                    <a:lstStyle/>
                    <a:p>
                      <a:pPr algn="ctr" fontAlgn="b"/>
                      <a:r>
                        <a:rPr lang="en-AU" sz="1400" u="none" strike="noStrike" dirty="0" smtClean="0">
                          <a:solidFill>
                            <a:schemeClr val="bg1"/>
                          </a:solidFill>
                          <a:effectLst/>
                        </a:rPr>
                        <a:t>#2</a:t>
                      </a:r>
                      <a:endParaRPr lang="en-AU" sz="1400" b="1" i="0" u="none" strike="noStrike" dirty="0">
                        <a:solidFill>
                          <a:schemeClr val="bg1"/>
                        </a:solidFill>
                        <a:effectLst/>
                        <a:latin typeface="Arial"/>
                      </a:endParaRPr>
                    </a:p>
                  </a:txBody>
                  <a:tcPr marL="0" marR="0" marT="0" marB="0" anchor="ctr">
                    <a:solidFill>
                      <a:srgbClr val="8CC63F"/>
                    </a:solidFill>
                  </a:tcPr>
                </a:tc>
              </a:tr>
              <a:tr h="259823">
                <a:tc>
                  <a:txBody>
                    <a:bodyPr/>
                    <a:lstStyle/>
                    <a:p>
                      <a:pPr algn="l" fontAlgn="b"/>
                      <a:r>
                        <a:rPr lang="en-AU" sz="800" u="none" strike="noStrike">
                          <a:effectLst/>
                        </a:rPr>
                        <a:t> </a:t>
                      </a:r>
                      <a:endParaRPr lang="en-AU" sz="800" b="0" i="0" u="none" strike="noStrike">
                        <a:solidFill>
                          <a:srgbClr val="000000"/>
                        </a:solidFill>
                        <a:effectLst/>
                        <a:latin typeface="Calibri"/>
                      </a:endParaRPr>
                    </a:p>
                  </a:txBody>
                  <a:tcPr marL="0" marR="0" marT="0" marB="0">
                    <a:noFill/>
                  </a:tcPr>
                </a:tc>
                <a:tc>
                  <a:txBody>
                    <a:bodyPr/>
                    <a:lstStyle/>
                    <a:p>
                      <a:pPr algn="ctr" fontAlgn="b"/>
                      <a:r>
                        <a:rPr lang="en-AU" sz="1400" u="none" strike="noStrike" dirty="0">
                          <a:solidFill>
                            <a:schemeClr val="bg1"/>
                          </a:solidFill>
                          <a:effectLst/>
                        </a:rPr>
                        <a:t>#4</a:t>
                      </a:r>
                      <a:endParaRPr lang="en-AU" sz="1400" b="1" i="0" u="none" strike="noStrike" dirty="0">
                        <a:solidFill>
                          <a:schemeClr val="bg1"/>
                        </a:solidFill>
                        <a:effectLst/>
                        <a:latin typeface="Arial"/>
                      </a:endParaRPr>
                    </a:p>
                  </a:txBody>
                  <a:tcPr marL="0" marR="0" marT="0" marB="0" anchor="ctr">
                    <a:solidFill>
                      <a:srgbClr val="8CC63F"/>
                    </a:solidFill>
                  </a:tcPr>
                </a:tc>
              </a:tr>
            </a:tbl>
          </a:graphicData>
        </a:graphic>
      </p:graphicFrame>
      <p:pic>
        <p:nvPicPr>
          <p:cNvPr id="44" name="Picture 43"/>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943201" y="2623091"/>
            <a:ext cx="429862" cy="2149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5" name="Picture 44"/>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943201" y="3147489"/>
            <a:ext cx="428862" cy="2149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6" name="Picture 45"/>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943201" y="2101693"/>
            <a:ext cx="428862" cy="2149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7" name="Picture 46"/>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943201" y="3662891"/>
            <a:ext cx="429861" cy="2179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8" name="Picture 47"/>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7943201" y="2881291"/>
            <a:ext cx="428861" cy="22292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9" name="Picture 48"/>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7943201" y="3405688"/>
            <a:ext cx="428862" cy="2139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0" name="Picture 49"/>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7943201" y="2359893"/>
            <a:ext cx="428862" cy="21992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51" name="Chart 50"/>
          <p:cNvGraphicFramePr>
            <a:graphicFrameLocks/>
          </p:cNvGraphicFramePr>
          <p:nvPr>
            <p:extLst>
              <p:ext uri="{D42A27DB-BD31-4B8C-83A1-F6EECF244321}">
                <p14:modId xmlns:p14="http://schemas.microsoft.com/office/powerpoint/2010/main" val="4005024681"/>
              </p:ext>
            </p:extLst>
          </p:nvPr>
        </p:nvGraphicFramePr>
        <p:xfrm>
          <a:off x="251832" y="4297681"/>
          <a:ext cx="4076328" cy="2087880"/>
        </p:xfrm>
        <a:graphic>
          <a:graphicData uri="http://schemas.openxmlformats.org/drawingml/2006/chart">
            <c:chart xmlns:c="http://schemas.openxmlformats.org/drawingml/2006/chart" xmlns:r="http://schemas.openxmlformats.org/officeDocument/2006/relationships" r:id="rId13"/>
          </a:graphicData>
        </a:graphic>
      </p:graphicFrame>
      <p:graphicFrame>
        <p:nvGraphicFramePr>
          <p:cNvPr id="52" name="Chart 51"/>
          <p:cNvGraphicFramePr>
            <a:graphicFrameLocks/>
          </p:cNvGraphicFramePr>
          <p:nvPr>
            <p:extLst>
              <p:ext uri="{D42A27DB-BD31-4B8C-83A1-F6EECF244321}">
                <p14:modId xmlns:p14="http://schemas.microsoft.com/office/powerpoint/2010/main" val="1664323142"/>
              </p:ext>
            </p:extLst>
          </p:nvPr>
        </p:nvGraphicFramePr>
        <p:xfrm>
          <a:off x="4777095" y="4297680"/>
          <a:ext cx="3536326" cy="2133600"/>
        </p:xfrm>
        <a:graphic>
          <a:graphicData uri="http://schemas.openxmlformats.org/drawingml/2006/chart">
            <c:chart xmlns:c="http://schemas.openxmlformats.org/drawingml/2006/chart" xmlns:r="http://schemas.openxmlformats.org/officeDocument/2006/relationships" r:id="rId14"/>
          </a:graphicData>
        </a:graphic>
      </p:graphicFrame>
      <p:sp>
        <p:nvSpPr>
          <p:cNvPr id="32" name="TextBox 31"/>
          <p:cNvSpPr txBox="1"/>
          <p:nvPr/>
        </p:nvSpPr>
        <p:spPr>
          <a:xfrm>
            <a:off x="251832" y="6488848"/>
            <a:ext cx="3096032" cy="276999"/>
          </a:xfrm>
          <a:prstGeom prst="rect">
            <a:avLst/>
          </a:prstGeom>
          <a:noFill/>
        </p:spPr>
        <p:txBody>
          <a:bodyPr wrap="square" lIns="0" rtlCol="0">
            <a:spAutoFit/>
          </a:bodyPr>
          <a:lstStyle/>
          <a:p>
            <a:pPr>
              <a:defRPr/>
            </a:pPr>
            <a:r>
              <a:rPr lang="en-US" sz="1200" b="1" dirty="0" smtClean="0">
                <a:solidFill>
                  <a:prstClr val="white"/>
                </a:solidFill>
              </a:rPr>
              <a:t>INVESTOR PRESENTATION Half year 2018 </a:t>
            </a:r>
            <a:endParaRPr lang="en-AU" sz="1200" b="1" dirty="0">
              <a:solidFill>
                <a:prstClr val="white"/>
              </a:solidFill>
            </a:endParaRPr>
          </a:p>
        </p:txBody>
      </p:sp>
    </p:spTree>
    <p:extLst>
      <p:ext uri="{BB962C8B-B14F-4D97-AF65-F5344CB8AC3E}">
        <p14:creationId xmlns:p14="http://schemas.microsoft.com/office/powerpoint/2010/main" val="229274800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TextBox 9"/>
          <p:cNvSpPr txBox="1"/>
          <p:nvPr/>
        </p:nvSpPr>
        <p:spPr>
          <a:xfrm>
            <a:off x="8736286" y="6445263"/>
            <a:ext cx="288862" cy="338554"/>
          </a:xfrm>
          <a:prstGeom prst="rect">
            <a:avLst/>
          </a:prstGeom>
          <a:noFill/>
        </p:spPr>
        <p:txBody>
          <a:bodyPr wrap="none" rtlCol="0">
            <a:spAutoFit/>
          </a:bodyPr>
          <a:lstStyle/>
          <a:p>
            <a:pPr>
              <a:defRPr/>
            </a:pPr>
            <a:fld id="{930AFB57-27B1-4EDC-9D85-71AA30732641}" type="slidenum">
              <a:rPr lang="en-AU" sz="1600" smtClean="0">
                <a:solidFill>
                  <a:prstClr val="white"/>
                </a:solidFill>
              </a:rPr>
              <a:pPr>
                <a:defRPr/>
              </a:pPr>
              <a:t>11</a:t>
            </a:fld>
            <a:endParaRPr lang="en-AU" sz="1600" dirty="0">
              <a:solidFill>
                <a:prstClr val="white"/>
              </a:solidFill>
            </a:endParaRPr>
          </a:p>
        </p:txBody>
      </p:sp>
      <mc:AlternateContent xmlns:mc="http://schemas.openxmlformats.org/markup-compatibility/2006" xmlns:p14="http://schemas.microsoft.com/office/powerpoint/2010/main">
        <mc:Choice Requires="p14">
          <p:contentPart p14:bwMode="auto" r:id="rId4">
            <p14:nvContentPartPr>
              <p14:cNvPr id="18" name="Ink 17"/>
              <p14:cNvContentPartPr/>
              <p14:nvPr/>
            </p14:nvContentPartPr>
            <p14:xfrm>
              <a:off x="8837468" y="1948263"/>
              <a:ext cx="180" cy="180"/>
            </p14:xfrm>
          </p:contentPart>
        </mc:Choice>
        <mc:Fallback xmlns="">
          <p:pic>
            <p:nvPicPr>
              <p:cNvPr id="18" name="Ink 17"/>
              <p:cNvPicPr/>
              <p:nvPr/>
            </p:nvPicPr>
            <p:blipFill/>
            <p:spPr/>
          </p:pic>
        </mc:Fallback>
      </mc:AlternateContent>
      <mc:AlternateContent xmlns:mc="http://schemas.openxmlformats.org/markup-compatibility/2006" xmlns:p14="http://schemas.microsoft.com/office/powerpoint/2010/main">
        <mc:Choice Requires="p14">
          <p:contentPart p14:bwMode="auto" r:id="rId5">
            <p14:nvContentPartPr>
              <p14:cNvPr id="19" name="Ink 18"/>
              <p14:cNvContentPartPr/>
              <p14:nvPr/>
            </p14:nvContentPartPr>
            <p14:xfrm>
              <a:off x="8847728" y="1979403"/>
              <a:ext cx="180" cy="180"/>
            </p14:xfrm>
          </p:contentPart>
        </mc:Choice>
        <mc:Fallback xmlns="">
          <p:pic>
            <p:nvPicPr>
              <p:cNvPr id="19" name="Ink 18"/>
              <p:cNvPicPr/>
              <p:nvPr/>
            </p:nvPicPr>
            <p:blipFill/>
            <p:spPr/>
          </p:pic>
        </mc:Fallback>
      </mc:AlternateContent>
      <mc:AlternateContent xmlns:mc="http://schemas.openxmlformats.org/markup-compatibility/2006" xmlns:p14="http://schemas.microsoft.com/office/powerpoint/2010/main">
        <mc:Choice Requires="p14">
          <p:contentPart p14:bwMode="auto" r:id="rId6">
            <p14:nvContentPartPr>
              <p14:cNvPr id="20" name="Ink 19"/>
              <p14:cNvContentPartPr/>
              <p14:nvPr/>
            </p14:nvContentPartPr>
            <p14:xfrm>
              <a:off x="8567288" y="1813083"/>
              <a:ext cx="180" cy="180"/>
            </p14:xfrm>
          </p:contentPart>
        </mc:Choice>
        <mc:Fallback xmlns="">
          <p:pic>
            <p:nvPicPr>
              <p:cNvPr id="20" name="Ink 19"/>
              <p:cNvPicPr/>
              <p:nvPr/>
            </p:nvPicPr>
            <p:blipFill/>
            <p:spPr/>
          </p:pic>
        </mc:Fallback>
      </mc:AlternateContent>
      <mc:AlternateContent xmlns:mc="http://schemas.openxmlformats.org/markup-compatibility/2006" xmlns:p14="http://schemas.microsoft.com/office/powerpoint/2010/main">
        <mc:Choice Requires="p14">
          <p:contentPart p14:bwMode="auto" r:id="rId7">
            <p14:nvContentPartPr>
              <p14:cNvPr id="22" name="Ink 21"/>
              <p14:cNvContentPartPr/>
              <p14:nvPr/>
            </p14:nvContentPartPr>
            <p14:xfrm>
              <a:off x="6995615" y="3280010"/>
              <a:ext cx="180" cy="45719"/>
            </p14:xfrm>
          </p:contentPart>
        </mc:Choice>
        <mc:Fallback xmlns="">
          <p:pic>
            <p:nvPicPr>
              <p:cNvPr id="22" name="Ink 21"/>
              <p:cNvPicPr/>
              <p:nvPr/>
            </p:nvPicPr>
            <p:blipFill>
              <a:blip r:embed="rId8"/>
              <a:stretch>
                <a:fillRect/>
              </a:stretch>
            </p:blipFill>
            <p:spPr>
              <a:xfrm>
                <a:off x="6993995" y="3276770"/>
                <a:ext cx="3420" cy="52199"/>
              </a:xfrm>
              <a:prstGeom prst="rect">
                <a:avLst/>
              </a:prstGeom>
            </p:spPr>
          </p:pic>
        </mc:Fallback>
      </mc:AlternateContent>
      <p:sp>
        <p:nvSpPr>
          <p:cNvPr id="2" name="Rectangle 1"/>
          <p:cNvSpPr/>
          <p:nvPr/>
        </p:nvSpPr>
        <p:spPr>
          <a:xfrm>
            <a:off x="260245" y="2708181"/>
            <a:ext cx="6254462" cy="1296883"/>
          </a:xfrm>
          <a:prstGeom prst="rect">
            <a:avLst/>
          </a:prstGeom>
          <a:solidFill>
            <a:srgbClr val="8CC63F"/>
          </a:solidFill>
          <a:ln>
            <a:solidFill>
              <a:srgbClr val="8CC6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82550"/>
            <a:r>
              <a:rPr lang="en-AU" sz="2800" b="1" dirty="0" smtClean="0">
                <a:solidFill>
                  <a:prstClr val="white"/>
                </a:solidFill>
              </a:rPr>
              <a:t>Q2-2018 results</a:t>
            </a:r>
            <a:endParaRPr lang="en-AU" sz="2800" b="1" dirty="0">
              <a:solidFill>
                <a:prstClr val="white"/>
              </a:solidFill>
            </a:endParaRPr>
          </a:p>
        </p:txBody>
      </p:sp>
      <p:sp>
        <p:nvSpPr>
          <p:cNvPr id="7" name="Flowchart: Delay 6"/>
          <p:cNvSpPr/>
          <p:nvPr/>
        </p:nvSpPr>
        <p:spPr>
          <a:xfrm>
            <a:off x="6514706" y="2708182"/>
            <a:ext cx="937613" cy="1296883"/>
          </a:xfrm>
          <a:prstGeom prst="flowChartDelay">
            <a:avLst/>
          </a:prstGeom>
          <a:solidFill>
            <a:srgbClr val="8CC63F"/>
          </a:solidFill>
          <a:ln>
            <a:solidFill>
              <a:srgbClr val="8CC6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AU">
              <a:solidFill>
                <a:prstClr val="white"/>
              </a:solidFill>
            </a:endParaRPr>
          </a:p>
        </p:txBody>
      </p:sp>
      <p:sp>
        <p:nvSpPr>
          <p:cNvPr id="12" name="TextBox 11"/>
          <p:cNvSpPr txBox="1"/>
          <p:nvPr/>
        </p:nvSpPr>
        <p:spPr>
          <a:xfrm>
            <a:off x="251832" y="6488848"/>
            <a:ext cx="3096032" cy="276999"/>
          </a:xfrm>
          <a:prstGeom prst="rect">
            <a:avLst/>
          </a:prstGeom>
          <a:noFill/>
        </p:spPr>
        <p:txBody>
          <a:bodyPr wrap="square" lIns="0" rtlCol="0">
            <a:spAutoFit/>
          </a:bodyPr>
          <a:lstStyle/>
          <a:p>
            <a:pPr>
              <a:defRPr/>
            </a:pPr>
            <a:r>
              <a:rPr lang="en-US" sz="1200" b="1" dirty="0" smtClean="0">
                <a:solidFill>
                  <a:prstClr val="white"/>
                </a:solidFill>
              </a:rPr>
              <a:t>INVESTOR PRESENTATION Q2, 2018</a:t>
            </a:r>
            <a:endParaRPr lang="en-AU" sz="1200" b="1" dirty="0">
              <a:solidFill>
                <a:prstClr val="white"/>
              </a:solidFill>
            </a:endParaRPr>
          </a:p>
        </p:txBody>
      </p:sp>
    </p:spTree>
    <p:extLst>
      <p:ext uri="{BB962C8B-B14F-4D97-AF65-F5344CB8AC3E}">
        <p14:creationId xmlns:p14="http://schemas.microsoft.com/office/powerpoint/2010/main" val="87755005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TextBox 9"/>
          <p:cNvSpPr txBox="1"/>
          <p:nvPr/>
        </p:nvSpPr>
        <p:spPr>
          <a:xfrm>
            <a:off x="8736286" y="6445263"/>
            <a:ext cx="288862" cy="338554"/>
          </a:xfrm>
          <a:prstGeom prst="rect">
            <a:avLst/>
          </a:prstGeom>
          <a:noFill/>
        </p:spPr>
        <p:txBody>
          <a:bodyPr wrap="none" rtlCol="0">
            <a:spAutoFit/>
          </a:bodyPr>
          <a:lstStyle/>
          <a:p>
            <a:pPr>
              <a:defRPr/>
            </a:pPr>
            <a:fld id="{930AFB57-27B1-4EDC-9D85-71AA30732641}" type="slidenum">
              <a:rPr lang="en-AU" sz="1600" smtClean="0">
                <a:solidFill>
                  <a:prstClr val="white"/>
                </a:solidFill>
              </a:rPr>
              <a:pPr>
                <a:defRPr/>
              </a:pPr>
              <a:t>12</a:t>
            </a:fld>
            <a:endParaRPr lang="en-AU" sz="1600" dirty="0">
              <a:solidFill>
                <a:prstClr val="white"/>
              </a:solidFill>
            </a:endParaRPr>
          </a:p>
        </p:txBody>
      </p:sp>
      <mc:AlternateContent xmlns:mc="http://schemas.openxmlformats.org/markup-compatibility/2006" xmlns:p14="http://schemas.microsoft.com/office/powerpoint/2010/main">
        <mc:Choice Requires="p14">
          <p:contentPart p14:bwMode="auto" r:id="rId4">
            <p14:nvContentPartPr>
              <p14:cNvPr id="18" name="Ink 17"/>
              <p14:cNvContentPartPr/>
              <p14:nvPr/>
            </p14:nvContentPartPr>
            <p14:xfrm>
              <a:off x="10276661" y="2293954"/>
              <a:ext cx="45719" cy="180"/>
            </p14:xfrm>
          </p:contentPart>
        </mc:Choice>
        <mc:Fallback xmlns="">
          <p:pic>
            <p:nvPicPr>
              <p:cNvPr id="18" name="Ink 17"/>
              <p:cNvPicPr/>
              <p:nvPr/>
            </p:nvPicPr>
            <p:blipFill>
              <a:blip r:embed="rId5"/>
              <a:stretch>
                <a:fillRect/>
              </a:stretch>
            </p:blipFill>
            <p:spPr>
              <a:xfrm>
                <a:off x="0" y="0"/>
                <a:ext cx="0" cy="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9" name="Ink 18"/>
              <p14:cNvContentPartPr/>
              <p14:nvPr/>
            </p14:nvContentPartPr>
            <p14:xfrm>
              <a:off x="10286921" y="2325094"/>
              <a:ext cx="45719" cy="180"/>
            </p14:xfrm>
          </p:contentPart>
        </mc:Choice>
        <mc:Fallback xmlns="">
          <p:pic>
            <p:nvPicPr>
              <p:cNvPr id="19" name="Ink 18"/>
              <p:cNvPicPr/>
              <p:nvPr/>
            </p:nvPicPr>
            <p:blipFill>
              <a:blip r:embed="rId5"/>
              <a:stretch>
                <a:fillRect/>
              </a:stretch>
            </p:blipFill>
            <p:spPr>
              <a:xfrm>
                <a:off x="0" y="0"/>
                <a:ext cx="0" cy="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20" name="Ink 19"/>
              <p14:cNvContentPartPr/>
              <p14:nvPr/>
            </p14:nvContentPartPr>
            <p14:xfrm>
              <a:off x="10006481" y="2158774"/>
              <a:ext cx="45719" cy="180"/>
            </p14:xfrm>
          </p:contentPart>
        </mc:Choice>
        <mc:Fallback xmlns="">
          <p:pic>
            <p:nvPicPr>
              <p:cNvPr id="20" name="Ink 19"/>
              <p:cNvPicPr/>
              <p:nvPr/>
            </p:nvPicPr>
            <p:blipFill>
              <a:blip r:embed="rId5"/>
              <a:stretch>
                <a:fillRect/>
              </a:stretch>
            </p:blipFill>
            <p:spPr>
              <a:xfrm>
                <a:off x="0" y="0"/>
                <a:ext cx="0" cy="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2" name="Ink 21"/>
              <p14:cNvContentPartPr/>
              <p14:nvPr/>
            </p14:nvContentPartPr>
            <p14:xfrm>
              <a:off x="6995615" y="845430"/>
              <a:ext cx="180" cy="9540"/>
            </p14:xfrm>
          </p:contentPart>
        </mc:Choice>
        <mc:Fallback xmlns="">
          <p:pic>
            <p:nvPicPr>
              <p:cNvPr id="22" name="Ink 21"/>
              <p:cNvPicPr/>
              <p:nvPr/>
            </p:nvPicPr>
            <p:blipFill>
              <a:blip r:embed="rId9"/>
              <a:stretch>
                <a:fillRect/>
              </a:stretch>
            </p:blipFill>
            <p:spPr>
              <a:xfrm>
                <a:off x="6993995" y="842250"/>
                <a:ext cx="3240" cy="15547"/>
              </a:xfrm>
              <a:prstGeom prst="rect">
                <a:avLst/>
              </a:prstGeom>
            </p:spPr>
          </p:pic>
        </mc:Fallback>
      </mc:AlternateContent>
      <p:sp>
        <p:nvSpPr>
          <p:cNvPr id="23" name="TextBox 22"/>
          <p:cNvSpPr txBox="1"/>
          <p:nvPr/>
        </p:nvSpPr>
        <p:spPr>
          <a:xfrm>
            <a:off x="6156177" y="1418694"/>
            <a:ext cx="2724540" cy="498138"/>
          </a:xfrm>
          <a:prstGeom prst="roundRect">
            <a:avLst/>
          </a:prstGeom>
          <a:solidFill>
            <a:srgbClr val="6C9A2E"/>
          </a:solidFill>
          <a:ln>
            <a:solidFill>
              <a:srgbClr val="6C9A2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defRPr sz="1600" b="1">
                <a:solidFill>
                  <a:schemeClr val="bg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AU" dirty="0" smtClean="0"/>
              <a:t>HIGHLIGHTS</a:t>
            </a:r>
            <a:endParaRPr lang="en-AU" dirty="0"/>
          </a:p>
        </p:txBody>
      </p:sp>
      <p:sp>
        <p:nvSpPr>
          <p:cNvPr id="24" name="Rounded Rectangle 23"/>
          <p:cNvSpPr/>
          <p:nvPr/>
        </p:nvSpPr>
        <p:spPr>
          <a:xfrm>
            <a:off x="6156177" y="1988840"/>
            <a:ext cx="2724540" cy="2952328"/>
          </a:xfrm>
          <a:prstGeom prst="roundRect">
            <a:avLst>
              <a:gd name="adj" fmla="val 2157"/>
            </a:avLst>
          </a:prstGeom>
          <a:noFill/>
          <a:ln w="9525" cmpd="sng">
            <a:noFill/>
            <a:miter lim="800000"/>
            <a:headEnd/>
            <a:tailEnd/>
          </a:ln>
        </p:spPr>
        <p:txBody>
          <a:bodyPr lIns="0">
            <a:noAutofit/>
          </a:bodyPr>
          <a:lstStyle/>
          <a:p>
            <a:pPr marL="179388" indent="-179388" defTabSz="457200">
              <a:spcBef>
                <a:spcPts val="1200"/>
              </a:spcBef>
              <a:buClr>
                <a:srgbClr val="8CC63F"/>
              </a:buClr>
              <a:buSzPct val="124000"/>
              <a:buFont typeface="Calibri" panose="020F0502020204030204" pitchFamily="34" charset="0"/>
              <a:buChar char="●"/>
            </a:pPr>
            <a:r>
              <a:rPr lang="en-US" sz="1200" b="1" dirty="0">
                <a:solidFill>
                  <a:schemeClr val="bg2">
                    <a:lumMod val="25000"/>
                  </a:schemeClr>
                </a:solidFill>
              </a:rPr>
              <a:t>Q2 2018 Operating income is 10% higher than Q1 </a:t>
            </a:r>
            <a:r>
              <a:rPr lang="en-US" sz="1200" b="1" dirty="0" smtClean="0">
                <a:solidFill>
                  <a:schemeClr val="bg2">
                    <a:lumMod val="25000"/>
                  </a:schemeClr>
                </a:solidFill>
              </a:rPr>
              <a:t>2018, </a:t>
            </a:r>
            <a:r>
              <a:rPr lang="en-US" sz="1200" b="1" dirty="0">
                <a:solidFill>
                  <a:schemeClr val="bg2">
                    <a:lumMod val="25000"/>
                  </a:schemeClr>
                </a:solidFill>
              </a:rPr>
              <a:t>driven by higher interest on loans </a:t>
            </a:r>
            <a:r>
              <a:rPr lang="en-US" sz="1200" b="1" dirty="0" smtClean="0">
                <a:solidFill>
                  <a:schemeClr val="bg2">
                    <a:lumMod val="25000"/>
                  </a:schemeClr>
                </a:solidFill>
              </a:rPr>
              <a:t>[due </a:t>
            </a:r>
            <a:r>
              <a:rPr lang="en-US" sz="1200" b="1" dirty="0">
                <a:solidFill>
                  <a:schemeClr val="bg2">
                    <a:lumMod val="25000"/>
                  </a:schemeClr>
                </a:solidFill>
              </a:rPr>
              <a:t>to higher </a:t>
            </a:r>
            <a:r>
              <a:rPr lang="en-US" sz="1200" b="1" dirty="0" smtClean="0">
                <a:solidFill>
                  <a:schemeClr val="bg2">
                    <a:lumMod val="25000"/>
                  </a:schemeClr>
                </a:solidFill>
              </a:rPr>
              <a:t>volumes], </a:t>
            </a:r>
            <a:r>
              <a:rPr lang="en-US" sz="1200" b="1" dirty="0">
                <a:solidFill>
                  <a:schemeClr val="bg2">
                    <a:lumMod val="25000"/>
                  </a:schemeClr>
                </a:solidFill>
              </a:rPr>
              <a:t>higher liquids income, </a:t>
            </a:r>
            <a:r>
              <a:rPr lang="en-US" sz="1200" b="1" dirty="0" smtClean="0">
                <a:solidFill>
                  <a:schemeClr val="bg2">
                    <a:lumMod val="25000"/>
                  </a:schemeClr>
                </a:solidFill>
              </a:rPr>
              <a:t>and higher </a:t>
            </a:r>
            <a:r>
              <a:rPr lang="en-US" sz="1200" b="1" dirty="0">
                <a:solidFill>
                  <a:schemeClr val="bg2">
                    <a:lumMod val="25000"/>
                  </a:schemeClr>
                </a:solidFill>
              </a:rPr>
              <a:t>FX </a:t>
            </a:r>
            <a:r>
              <a:rPr lang="en-US" sz="1200" b="1" dirty="0" smtClean="0">
                <a:solidFill>
                  <a:schemeClr val="bg2">
                    <a:lumMod val="25000"/>
                  </a:schemeClr>
                </a:solidFill>
              </a:rPr>
              <a:t>income and proceeds from aircraft loss [proceeds of K19.2m and corresponding loss booked in expenses of K13.6m, a net gain K5.6m]</a:t>
            </a:r>
            <a:endParaRPr lang="en-US" sz="1200" b="1" dirty="0">
              <a:solidFill>
                <a:schemeClr val="bg2">
                  <a:lumMod val="25000"/>
                </a:schemeClr>
              </a:solidFill>
            </a:endParaRPr>
          </a:p>
          <a:p>
            <a:pPr marL="179388" indent="-179388" defTabSz="457200">
              <a:spcBef>
                <a:spcPts val="1200"/>
              </a:spcBef>
              <a:buClr>
                <a:srgbClr val="8CC63F"/>
              </a:buClr>
              <a:buSzPct val="124000"/>
              <a:buFont typeface="Calibri" panose="020F0502020204030204" pitchFamily="34" charset="0"/>
              <a:buChar char="●"/>
            </a:pPr>
            <a:r>
              <a:rPr lang="en-US" sz="1200" b="1" dirty="0">
                <a:solidFill>
                  <a:schemeClr val="bg2">
                    <a:lumMod val="25000"/>
                  </a:schemeClr>
                </a:solidFill>
              </a:rPr>
              <a:t>Total operating cost increased by </a:t>
            </a:r>
            <a:r>
              <a:rPr lang="en-US" sz="1200" b="1" dirty="0" smtClean="0">
                <a:solidFill>
                  <a:schemeClr val="bg2">
                    <a:lumMod val="25000"/>
                  </a:schemeClr>
                </a:solidFill>
              </a:rPr>
              <a:t>8.2% </a:t>
            </a:r>
            <a:r>
              <a:rPr lang="en-US" sz="1200" b="1" dirty="0">
                <a:solidFill>
                  <a:schemeClr val="bg2">
                    <a:lumMod val="25000"/>
                  </a:schemeClr>
                </a:solidFill>
              </a:rPr>
              <a:t>from Q1 2018 mainly due to </a:t>
            </a:r>
            <a:r>
              <a:rPr lang="en-US" sz="1200" b="1" dirty="0" smtClean="0">
                <a:solidFill>
                  <a:schemeClr val="bg2">
                    <a:lumMod val="25000"/>
                  </a:schemeClr>
                </a:solidFill>
              </a:rPr>
              <a:t>non-lending losses and loss on fixed assets [mentioned above]</a:t>
            </a:r>
          </a:p>
          <a:p>
            <a:pPr marL="179388" indent="-179388" defTabSz="457200">
              <a:spcBef>
                <a:spcPts val="1200"/>
              </a:spcBef>
              <a:buClr>
                <a:srgbClr val="8CC63F"/>
              </a:buClr>
              <a:buSzPct val="124000"/>
              <a:buFont typeface="Calibri" panose="020F0502020204030204" pitchFamily="34" charset="0"/>
              <a:buChar char="●"/>
            </a:pPr>
            <a:r>
              <a:rPr lang="en-US" sz="1200" b="1" dirty="0" smtClean="0">
                <a:solidFill>
                  <a:schemeClr val="bg2">
                    <a:lumMod val="25000"/>
                  </a:schemeClr>
                </a:solidFill>
              </a:rPr>
              <a:t>Cost to income ratio improved to 40.6% in the quarter</a:t>
            </a:r>
            <a:endParaRPr lang="en-US" sz="1200" b="1" dirty="0">
              <a:solidFill>
                <a:schemeClr val="bg2">
                  <a:lumMod val="25000"/>
                </a:schemeClr>
              </a:solidFill>
            </a:endParaRPr>
          </a:p>
        </p:txBody>
      </p:sp>
      <p:graphicFrame>
        <p:nvGraphicFramePr>
          <p:cNvPr id="3" name="Table 2"/>
          <p:cNvGraphicFramePr>
            <a:graphicFrameLocks noGrp="1"/>
          </p:cNvGraphicFramePr>
          <p:nvPr>
            <p:extLst>
              <p:ext uri="{D42A27DB-BD31-4B8C-83A1-F6EECF244321}">
                <p14:modId xmlns:p14="http://schemas.microsoft.com/office/powerpoint/2010/main" val="1283890079"/>
              </p:ext>
            </p:extLst>
          </p:nvPr>
        </p:nvGraphicFramePr>
        <p:xfrm>
          <a:off x="107505" y="1418694"/>
          <a:ext cx="5616622" cy="1349172"/>
        </p:xfrm>
        <a:graphic>
          <a:graphicData uri="http://schemas.openxmlformats.org/drawingml/2006/table">
            <a:tbl>
              <a:tblPr firstRow="1" bandRow="1">
                <a:tableStyleId>{F5AB1C69-6EDB-4FF4-983F-18BD219EF322}</a:tableStyleId>
              </a:tblPr>
              <a:tblGrid>
                <a:gridCol w="648071"/>
                <a:gridCol w="1230914"/>
                <a:gridCol w="1217358"/>
                <a:gridCol w="1224136"/>
                <a:gridCol w="1296143"/>
              </a:tblGrid>
              <a:tr h="5903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AU" sz="1400" dirty="0" smtClean="0"/>
                    </a:p>
                  </a:txBody>
                  <a:tcPr marL="36000" marR="36000">
                    <a:solidFill>
                      <a:schemeClr val="bg1"/>
                    </a:solidFill>
                  </a:tcPr>
                </a:tc>
                <a:tc>
                  <a:txBody>
                    <a:bodyPr/>
                    <a:lstStyle/>
                    <a:p>
                      <a:r>
                        <a:rPr lang="en-AU" sz="1400" dirty="0" smtClean="0"/>
                        <a:t>Total Income</a:t>
                      </a:r>
                      <a:endParaRPr lang="en-AU" sz="1400" dirty="0"/>
                    </a:p>
                  </a:txBody>
                  <a:tcPr marL="36000" marR="36000">
                    <a:solidFill>
                      <a:srgbClr val="8CC63F"/>
                    </a:solidFill>
                  </a:tcPr>
                </a:tc>
                <a:tc>
                  <a:txBody>
                    <a:bodyPr/>
                    <a:lstStyle/>
                    <a:p>
                      <a:r>
                        <a:rPr lang="en-AU" sz="1400" dirty="0" smtClean="0"/>
                        <a:t>Operating costs</a:t>
                      </a:r>
                      <a:endParaRPr lang="en-AU" sz="1400" dirty="0"/>
                    </a:p>
                  </a:txBody>
                  <a:tcPr marL="36000" marR="36000">
                    <a:solidFill>
                      <a:srgbClr val="8CC63F"/>
                    </a:solidFill>
                  </a:tcPr>
                </a:tc>
                <a:tc>
                  <a:txBody>
                    <a:bodyPr/>
                    <a:lstStyle/>
                    <a:p>
                      <a:r>
                        <a:rPr lang="en-AU" sz="1400" dirty="0" smtClean="0"/>
                        <a:t>Cost</a:t>
                      </a:r>
                      <a:r>
                        <a:rPr lang="en-AU" sz="1400" baseline="0" dirty="0" smtClean="0"/>
                        <a:t> to</a:t>
                      </a:r>
                      <a:br>
                        <a:rPr lang="en-AU" sz="1400" baseline="0" dirty="0" smtClean="0"/>
                      </a:br>
                      <a:r>
                        <a:rPr lang="en-AU" sz="1400" baseline="0" dirty="0" smtClean="0"/>
                        <a:t>income</a:t>
                      </a:r>
                      <a:endParaRPr lang="en-AU" sz="1400" dirty="0"/>
                    </a:p>
                  </a:txBody>
                  <a:tcPr marL="36000" marR="36000">
                    <a:solidFill>
                      <a:srgbClr val="8CC63F"/>
                    </a:solidFill>
                  </a:tcPr>
                </a:tc>
                <a:tc>
                  <a:txBody>
                    <a:bodyPr/>
                    <a:lstStyle/>
                    <a:p>
                      <a:r>
                        <a:rPr lang="en-AU" sz="1400" dirty="0" smtClean="0"/>
                        <a:t>NPAT</a:t>
                      </a:r>
                      <a:endParaRPr lang="en-AU" sz="1400" dirty="0"/>
                    </a:p>
                  </a:txBody>
                  <a:tcPr marL="36000" marR="36000">
                    <a:solidFill>
                      <a:srgbClr val="8CC63F"/>
                    </a:solidFill>
                  </a:tcPr>
                </a:tc>
              </a:tr>
              <a:tr h="37939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400" b="1" dirty="0" smtClean="0"/>
                        <a:t>PCP</a:t>
                      </a:r>
                    </a:p>
                  </a:txBody>
                  <a:tcPr marL="36000" marR="36000" anchor="ctr">
                    <a:solidFill>
                      <a:schemeClr val="accent3">
                        <a:lumMod val="40000"/>
                        <a:lumOff val="60000"/>
                      </a:schemeClr>
                    </a:solidFill>
                  </a:tcPr>
                </a:tc>
                <a:tc>
                  <a:txBody>
                    <a:bodyPr/>
                    <a:lstStyle/>
                    <a:p>
                      <a:r>
                        <a:rPr lang="en-AU" sz="1400" dirty="0" smtClean="0"/>
                        <a:t>10.1%</a:t>
                      </a:r>
                      <a:endParaRPr lang="en-AU" sz="1400" dirty="0"/>
                    </a:p>
                  </a:txBody>
                  <a:tcPr marL="36000" marR="36000" anchor="ctr">
                    <a:solidFill>
                      <a:schemeClr val="accent3">
                        <a:lumMod val="40000"/>
                        <a:lumOff val="60000"/>
                      </a:schemeClr>
                    </a:solidFill>
                  </a:tcPr>
                </a:tc>
                <a:tc>
                  <a:txBody>
                    <a:bodyPr/>
                    <a:lstStyle/>
                    <a:p>
                      <a:r>
                        <a:rPr lang="en-AU" sz="1400" dirty="0" smtClean="0"/>
                        <a:t>8.2%</a:t>
                      </a:r>
                      <a:endParaRPr lang="en-AU" sz="1400" dirty="0"/>
                    </a:p>
                  </a:txBody>
                  <a:tcPr marL="36000" marR="36000" anchor="ctr">
                    <a:solidFill>
                      <a:schemeClr val="accent3">
                        <a:lumMod val="40000"/>
                        <a:lumOff val="60000"/>
                      </a:schemeClr>
                    </a:solidFill>
                  </a:tcPr>
                </a:tc>
                <a:tc>
                  <a:txBody>
                    <a:bodyPr/>
                    <a:lstStyle/>
                    <a:p>
                      <a:r>
                        <a:rPr lang="en-AU" sz="1400" dirty="0" smtClean="0"/>
                        <a:t>(2.4)%</a:t>
                      </a:r>
                      <a:endParaRPr lang="en-AU" sz="1400" dirty="0"/>
                    </a:p>
                  </a:txBody>
                  <a:tcPr marL="36000" marR="36000" anchor="ctr">
                    <a:solidFill>
                      <a:schemeClr val="accent3">
                        <a:lumMod val="40000"/>
                        <a:lumOff val="60000"/>
                      </a:schemeClr>
                    </a:solidFill>
                  </a:tcPr>
                </a:tc>
                <a:tc>
                  <a:txBody>
                    <a:bodyPr/>
                    <a:lstStyle/>
                    <a:p>
                      <a:r>
                        <a:rPr lang="en-AU" sz="1400" dirty="0" smtClean="0"/>
                        <a:t>12.2%</a:t>
                      </a:r>
                      <a:endParaRPr lang="en-AU" sz="1400" dirty="0"/>
                    </a:p>
                  </a:txBody>
                  <a:tcPr marL="36000" marR="36000" anchor="ctr">
                    <a:solidFill>
                      <a:schemeClr val="accent3">
                        <a:lumMod val="40000"/>
                        <a:lumOff val="60000"/>
                      </a:schemeClr>
                    </a:solidFill>
                  </a:tcPr>
                </a:tc>
              </a:tr>
              <a:tr h="379397">
                <a:tc>
                  <a:txBody>
                    <a:bodyPr/>
                    <a:lstStyle/>
                    <a:p>
                      <a:r>
                        <a:rPr lang="en-AU" sz="1400" b="1" dirty="0" smtClean="0"/>
                        <a:t>YOY</a:t>
                      </a:r>
                      <a:endParaRPr lang="en-AU" sz="1400" b="1" dirty="0"/>
                    </a:p>
                  </a:txBody>
                  <a:tcPr marL="36000" marR="36000" anchor="ctr">
                    <a:solidFill>
                      <a:schemeClr val="accent3">
                        <a:lumMod val="40000"/>
                        <a:lumOff val="60000"/>
                      </a:schemeClr>
                    </a:solidFill>
                  </a:tcPr>
                </a:tc>
                <a:tc>
                  <a:txBody>
                    <a:bodyPr/>
                    <a:lstStyle/>
                    <a:p>
                      <a:r>
                        <a:rPr lang="en-AU" sz="1400" dirty="0" smtClean="0"/>
                        <a:t>11.0%</a:t>
                      </a:r>
                      <a:endParaRPr lang="en-AU" sz="1400" dirty="0"/>
                    </a:p>
                  </a:txBody>
                  <a:tcPr marL="36000" marR="36000" anchor="ctr">
                    <a:solidFill>
                      <a:schemeClr val="accent3">
                        <a:lumMod val="40000"/>
                        <a:lumOff val="60000"/>
                      </a:schemeClr>
                    </a:solidFill>
                  </a:tcPr>
                </a:tc>
                <a:tc>
                  <a:txBody>
                    <a:bodyPr/>
                    <a:lstStyle/>
                    <a:p>
                      <a:r>
                        <a:rPr lang="en-AU" sz="1400" dirty="0" smtClean="0"/>
                        <a:t>17.6%</a:t>
                      </a:r>
                      <a:endParaRPr lang="en-AU" sz="1400" dirty="0"/>
                    </a:p>
                  </a:txBody>
                  <a:tcPr marL="36000" marR="36000" anchor="ctr">
                    <a:solidFill>
                      <a:schemeClr val="accent3">
                        <a:lumMod val="40000"/>
                        <a:lumOff val="60000"/>
                      </a:schemeClr>
                    </a:solidFill>
                  </a:tcPr>
                </a:tc>
                <a:tc>
                  <a:txBody>
                    <a:bodyPr/>
                    <a:lstStyle/>
                    <a:p>
                      <a:r>
                        <a:rPr lang="en-AU" sz="1400" dirty="0" smtClean="0"/>
                        <a:t>5.9%</a:t>
                      </a:r>
                      <a:endParaRPr lang="en-AU" sz="1400" dirty="0"/>
                    </a:p>
                  </a:txBody>
                  <a:tcPr marL="36000" marR="36000" anchor="ctr">
                    <a:solidFill>
                      <a:schemeClr val="accent3">
                        <a:lumMod val="40000"/>
                        <a:lumOff val="60000"/>
                      </a:schemeClr>
                    </a:solidFill>
                  </a:tcPr>
                </a:tc>
                <a:tc>
                  <a:txBody>
                    <a:bodyPr/>
                    <a:lstStyle/>
                    <a:p>
                      <a:r>
                        <a:rPr lang="en-AU" sz="1400" dirty="0" smtClean="0"/>
                        <a:t>10.3%</a:t>
                      </a:r>
                      <a:endParaRPr lang="en-AU" sz="1400" dirty="0"/>
                    </a:p>
                  </a:txBody>
                  <a:tcPr marL="36000" marR="36000" anchor="ctr">
                    <a:solidFill>
                      <a:schemeClr val="accent3">
                        <a:lumMod val="40000"/>
                        <a:lumOff val="60000"/>
                      </a:schemeClr>
                    </a:solidFill>
                  </a:tcPr>
                </a:tc>
              </a:tr>
            </a:tbl>
          </a:graphicData>
        </a:graphic>
      </p:graphicFrame>
      <p:sp>
        <p:nvSpPr>
          <p:cNvPr id="26" name="Up Arrow 25"/>
          <p:cNvSpPr/>
          <p:nvPr/>
        </p:nvSpPr>
        <p:spPr>
          <a:xfrm>
            <a:off x="1483804" y="2099632"/>
            <a:ext cx="423900" cy="465272"/>
          </a:xfrm>
          <a:prstGeom prst="upArrow">
            <a:avLst/>
          </a:prstGeom>
          <a:solidFill>
            <a:schemeClr val="accent3">
              <a:lumMod val="75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7" name="Up Arrow 26"/>
          <p:cNvSpPr/>
          <p:nvPr/>
        </p:nvSpPr>
        <p:spPr>
          <a:xfrm>
            <a:off x="2707940" y="2099632"/>
            <a:ext cx="423900" cy="465272"/>
          </a:xfrm>
          <a:prstGeom prst="upArrow">
            <a:avLst/>
          </a:prstGeom>
          <a:solidFill>
            <a:schemeClr val="accent3">
              <a:lumMod val="75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1" name="Up Arrow 30"/>
          <p:cNvSpPr/>
          <p:nvPr/>
        </p:nvSpPr>
        <p:spPr>
          <a:xfrm rot="10800000">
            <a:off x="3932076" y="2132856"/>
            <a:ext cx="423900" cy="465272"/>
          </a:xfrm>
          <a:prstGeom prst="upArrow">
            <a:avLst/>
          </a:prstGeom>
          <a:solidFill>
            <a:srgbClr val="FF000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3" name="Up Arrow 32"/>
          <p:cNvSpPr/>
          <p:nvPr/>
        </p:nvSpPr>
        <p:spPr>
          <a:xfrm>
            <a:off x="5228220" y="2099632"/>
            <a:ext cx="423900" cy="465272"/>
          </a:xfrm>
          <a:prstGeom prst="upArrow">
            <a:avLst/>
          </a:prstGeom>
          <a:solidFill>
            <a:schemeClr val="accent3">
              <a:lumMod val="75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0" name="TextBox 29"/>
          <p:cNvSpPr txBox="1"/>
          <p:nvPr/>
        </p:nvSpPr>
        <p:spPr>
          <a:xfrm>
            <a:off x="251832" y="6488848"/>
            <a:ext cx="3096032" cy="276999"/>
          </a:xfrm>
          <a:prstGeom prst="rect">
            <a:avLst/>
          </a:prstGeom>
          <a:noFill/>
        </p:spPr>
        <p:txBody>
          <a:bodyPr wrap="square" lIns="0" rtlCol="0">
            <a:spAutoFit/>
          </a:bodyPr>
          <a:lstStyle/>
          <a:p>
            <a:pPr>
              <a:defRPr/>
            </a:pPr>
            <a:r>
              <a:rPr lang="en-US" sz="1200" b="1" dirty="0" smtClean="0">
                <a:solidFill>
                  <a:prstClr val="white"/>
                </a:solidFill>
              </a:rPr>
              <a:t>INVESTOR PRESENTATION Q2, 2018</a:t>
            </a:r>
            <a:endParaRPr lang="en-AU" sz="1200" b="1" dirty="0">
              <a:solidFill>
                <a:prstClr val="white"/>
              </a:solidFill>
            </a:endParaRPr>
          </a:p>
        </p:txBody>
      </p:sp>
      <p:sp>
        <p:nvSpPr>
          <p:cNvPr id="32" name="Rectangle 31"/>
          <p:cNvSpPr/>
          <p:nvPr/>
        </p:nvSpPr>
        <p:spPr>
          <a:xfrm>
            <a:off x="6444208" y="5345123"/>
            <a:ext cx="1478221" cy="604157"/>
          </a:xfrm>
          <a:prstGeom prst="rect">
            <a:avLst/>
          </a:prstGeom>
          <a:noFill/>
          <a:ln w="6350">
            <a:solidFill>
              <a:srgbClr val="8CC6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1200" b="1" dirty="0" smtClean="0">
                <a:solidFill>
                  <a:schemeClr val="tx1">
                    <a:lumMod val="50000"/>
                    <a:lumOff val="50000"/>
                  </a:schemeClr>
                </a:solidFill>
              </a:rPr>
              <a:t>Key:</a:t>
            </a:r>
          </a:p>
          <a:p>
            <a:r>
              <a:rPr lang="en-AU" sz="1200" dirty="0" smtClean="0">
                <a:solidFill>
                  <a:schemeClr val="tx1">
                    <a:lumMod val="50000"/>
                    <a:lumOff val="50000"/>
                  </a:schemeClr>
                </a:solidFill>
              </a:rPr>
              <a:t>PQ = prior quarter</a:t>
            </a:r>
          </a:p>
          <a:p>
            <a:r>
              <a:rPr lang="en-AU" sz="1200" dirty="0" smtClean="0">
                <a:solidFill>
                  <a:schemeClr val="tx1">
                    <a:lumMod val="50000"/>
                    <a:lumOff val="50000"/>
                  </a:schemeClr>
                </a:solidFill>
              </a:rPr>
              <a:t>YOY = year on year</a:t>
            </a:r>
            <a:endParaRPr lang="en-AU" sz="1200" dirty="0">
              <a:solidFill>
                <a:schemeClr val="tx1">
                  <a:lumMod val="50000"/>
                  <a:lumOff val="50000"/>
                </a:schemeClr>
              </a:solidFill>
            </a:endParaRPr>
          </a:p>
        </p:txBody>
      </p:sp>
      <p:graphicFrame>
        <p:nvGraphicFramePr>
          <p:cNvPr id="35" name="Chart 34"/>
          <p:cNvGraphicFramePr>
            <a:graphicFrameLocks/>
          </p:cNvGraphicFramePr>
          <p:nvPr>
            <p:extLst>
              <p:ext uri="{D42A27DB-BD31-4B8C-83A1-F6EECF244321}">
                <p14:modId xmlns:p14="http://schemas.microsoft.com/office/powerpoint/2010/main" val="30925195"/>
              </p:ext>
            </p:extLst>
          </p:nvPr>
        </p:nvGraphicFramePr>
        <p:xfrm>
          <a:off x="80868" y="3429000"/>
          <a:ext cx="5813911" cy="2891388"/>
        </p:xfrm>
        <a:graphic>
          <a:graphicData uri="http://schemas.openxmlformats.org/drawingml/2006/chart">
            <c:chart xmlns:c="http://schemas.openxmlformats.org/drawingml/2006/chart" xmlns:r="http://schemas.openxmlformats.org/officeDocument/2006/relationships" r:id="rId10"/>
          </a:graphicData>
        </a:graphic>
      </p:graphicFrame>
      <p:sp>
        <p:nvSpPr>
          <p:cNvPr id="37" name="TextBox 36"/>
          <p:cNvSpPr txBox="1"/>
          <p:nvPr/>
        </p:nvSpPr>
        <p:spPr>
          <a:xfrm>
            <a:off x="260245" y="2924944"/>
            <a:ext cx="4167739" cy="677108"/>
          </a:xfrm>
          <a:prstGeom prst="rect">
            <a:avLst/>
          </a:prstGeom>
          <a:noFill/>
        </p:spPr>
        <p:txBody>
          <a:bodyPr wrap="square" lIns="0" rtlCol="0">
            <a:spAutoFit/>
          </a:bodyPr>
          <a:lstStyle/>
          <a:p>
            <a:r>
              <a:rPr lang="en-AU" sz="2000" b="1" dirty="0" smtClean="0">
                <a:solidFill>
                  <a:srgbClr val="73A531"/>
                </a:solidFill>
              </a:rPr>
              <a:t>BSP GROUP QUARTERLY P&amp;L</a:t>
            </a:r>
          </a:p>
          <a:p>
            <a:r>
              <a:rPr lang="en-AU" dirty="0" smtClean="0">
                <a:solidFill>
                  <a:srgbClr val="73A531"/>
                </a:solidFill>
              </a:rPr>
              <a:t>[Km]</a:t>
            </a:r>
            <a:endParaRPr lang="en-AU" sz="1600" dirty="0">
              <a:solidFill>
                <a:srgbClr val="73A531"/>
              </a:solidFill>
            </a:endParaRPr>
          </a:p>
        </p:txBody>
      </p:sp>
      <p:sp>
        <p:nvSpPr>
          <p:cNvPr id="38" name="TextBox 4"/>
          <p:cNvSpPr txBox="1">
            <a:spLocks noChangeArrowheads="1"/>
          </p:cNvSpPr>
          <p:nvPr/>
        </p:nvSpPr>
        <p:spPr bwMode="auto">
          <a:xfrm>
            <a:off x="251832" y="44624"/>
            <a:ext cx="720048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rIns="0">
            <a:spAutoFit/>
          </a:bodyPr>
          <a:lstStyle>
            <a:lvl1pPr defTabSz="457200" eaLnBrk="0" hangingPunct="0">
              <a:defRPr>
                <a:solidFill>
                  <a:schemeClr val="tx1"/>
                </a:solidFill>
                <a:latin typeface="Arial" pitchFamily="34" charset="0"/>
              </a:defRPr>
            </a:lvl1pPr>
            <a:lvl2pPr marL="742950" indent="-285750" defTabSz="457200" eaLnBrk="0" hangingPunct="0">
              <a:defRPr>
                <a:solidFill>
                  <a:schemeClr val="tx1"/>
                </a:solidFill>
                <a:latin typeface="Arial" pitchFamily="34" charset="0"/>
              </a:defRPr>
            </a:lvl2pPr>
            <a:lvl3pPr marL="1143000" indent="-228600" defTabSz="457200" eaLnBrk="0" hangingPunct="0">
              <a:defRPr>
                <a:solidFill>
                  <a:schemeClr val="tx1"/>
                </a:solidFill>
                <a:latin typeface="Arial" pitchFamily="34" charset="0"/>
              </a:defRPr>
            </a:lvl3pPr>
            <a:lvl4pPr marL="1600200" indent="-228600" defTabSz="457200" eaLnBrk="0" hangingPunct="0">
              <a:defRPr>
                <a:solidFill>
                  <a:schemeClr val="tx1"/>
                </a:solidFill>
                <a:latin typeface="Arial" pitchFamily="34" charset="0"/>
              </a:defRPr>
            </a:lvl4pPr>
            <a:lvl5pPr marL="2057400" indent="-228600" defTabSz="457200" eaLnBrk="0" hangingPunct="0">
              <a:defRPr>
                <a:solidFill>
                  <a:schemeClr val="tx1"/>
                </a:solidFill>
                <a:latin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defRPr>
            </a:lvl9pPr>
          </a:lstStyle>
          <a:p>
            <a:pPr eaLnBrk="1" hangingPunct="1"/>
            <a:r>
              <a:rPr lang="en-US" altLang="en-US" sz="2800" b="1" dirty="0">
                <a:solidFill>
                  <a:srgbClr val="92D050"/>
                </a:solidFill>
                <a:cs typeface="Arial" pitchFamily="34" charset="0"/>
              </a:rPr>
              <a:t>Profit and </a:t>
            </a:r>
            <a:r>
              <a:rPr lang="en-US" altLang="en-US" sz="2800" b="1" dirty="0" smtClean="0">
                <a:solidFill>
                  <a:srgbClr val="92D050"/>
                </a:solidFill>
                <a:cs typeface="Arial" pitchFamily="34" charset="0"/>
              </a:rPr>
              <a:t>Loss </a:t>
            </a:r>
            <a:r>
              <a:rPr lang="en-US" altLang="en-US" sz="2800" dirty="0" smtClean="0">
                <a:solidFill>
                  <a:srgbClr val="92D050"/>
                </a:solidFill>
                <a:cs typeface="Arial" pitchFamily="34" charset="0"/>
              </a:rPr>
              <a:t>[Q2-2018]</a:t>
            </a:r>
            <a:endParaRPr lang="en-US" altLang="en-US" sz="2800" dirty="0">
              <a:solidFill>
                <a:srgbClr val="92D050"/>
              </a:solidFill>
              <a:cs typeface="Arial" pitchFamily="34" charset="0"/>
            </a:endParaRPr>
          </a:p>
        </p:txBody>
      </p:sp>
      <p:sp>
        <p:nvSpPr>
          <p:cNvPr id="39" name="TextBox 38"/>
          <p:cNvSpPr txBox="1"/>
          <p:nvPr/>
        </p:nvSpPr>
        <p:spPr>
          <a:xfrm>
            <a:off x="251832" y="639607"/>
            <a:ext cx="7200488" cy="557145"/>
          </a:xfrm>
          <a:prstGeom prst="rect">
            <a:avLst/>
          </a:prstGeom>
          <a:noFill/>
          <a:ln>
            <a:solidFill>
              <a:srgbClr val="8CC63F"/>
            </a:solidFill>
          </a:ln>
        </p:spPr>
        <p:txBody>
          <a:bodyPr wrap="square" rtlCol="0" anchor="ctr">
            <a:noAutofit/>
          </a:bodyPr>
          <a:lstStyle/>
          <a:p>
            <a:pPr lvl="0">
              <a:spcBef>
                <a:spcPts val="600"/>
              </a:spcBef>
              <a:defRPr/>
            </a:pPr>
            <a:r>
              <a:rPr lang="en-US" sz="1600" b="1" dirty="0" smtClean="0">
                <a:solidFill>
                  <a:srgbClr val="73A531"/>
                </a:solidFill>
              </a:rPr>
              <a:t>BSP’s Q2 profit grew by 11% year on year notwithstanding a slight increase in operating expenditure</a:t>
            </a:r>
            <a:endParaRPr lang="en-US" sz="1600" b="1" dirty="0">
              <a:solidFill>
                <a:srgbClr val="73A531"/>
              </a:solidFill>
            </a:endParaRPr>
          </a:p>
        </p:txBody>
      </p:sp>
    </p:spTree>
    <p:extLst>
      <p:ext uri="{BB962C8B-B14F-4D97-AF65-F5344CB8AC3E}">
        <p14:creationId xmlns:p14="http://schemas.microsoft.com/office/powerpoint/2010/main" val="338699167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TextBox 4"/>
          <p:cNvSpPr txBox="1">
            <a:spLocks noChangeArrowheads="1"/>
          </p:cNvSpPr>
          <p:nvPr/>
        </p:nvSpPr>
        <p:spPr bwMode="auto">
          <a:xfrm>
            <a:off x="251832" y="44624"/>
            <a:ext cx="720048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rIns="0">
            <a:spAutoFit/>
          </a:bodyPr>
          <a:lstStyle>
            <a:lvl1pPr defTabSz="457200" eaLnBrk="0" hangingPunct="0">
              <a:defRPr>
                <a:solidFill>
                  <a:schemeClr val="tx1"/>
                </a:solidFill>
                <a:latin typeface="Arial" pitchFamily="34" charset="0"/>
              </a:defRPr>
            </a:lvl1pPr>
            <a:lvl2pPr marL="742950" indent="-285750" defTabSz="457200" eaLnBrk="0" hangingPunct="0">
              <a:defRPr>
                <a:solidFill>
                  <a:schemeClr val="tx1"/>
                </a:solidFill>
                <a:latin typeface="Arial" pitchFamily="34" charset="0"/>
              </a:defRPr>
            </a:lvl2pPr>
            <a:lvl3pPr marL="1143000" indent="-228600" defTabSz="457200" eaLnBrk="0" hangingPunct="0">
              <a:defRPr>
                <a:solidFill>
                  <a:schemeClr val="tx1"/>
                </a:solidFill>
                <a:latin typeface="Arial" pitchFamily="34" charset="0"/>
              </a:defRPr>
            </a:lvl3pPr>
            <a:lvl4pPr marL="1600200" indent="-228600" defTabSz="457200" eaLnBrk="0" hangingPunct="0">
              <a:defRPr>
                <a:solidFill>
                  <a:schemeClr val="tx1"/>
                </a:solidFill>
                <a:latin typeface="Arial" pitchFamily="34" charset="0"/>
              </a:defRPr>
            </a:lvl4pPr>
            <a:lvl5pPr marL="2057400" indent="-228600" defTabSz="457200" eaLnBrk="0" hangingPunct="0">
              <a:defRPr>
                <a:solidFill>
                  <a:schemeClr val="tx1"/>
                </a:solidFill>
                <a:latin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defRPr>
            </a:lvl9pPr>
          </a:lstStyle>
          <a:p>
            <a:pPr eaLnBrk="1" hangingPunct="1"/>
            <a:r>
              <a:rPr lang="en-US" altLang="en-US" sz="2800" b="1" dirty="0" smtClean="0">
                <a:solidFill>
                  <a:srgbClr val="92D050"/>
                </a:solidFill>
                <a:cs typeface="Arial" pitchFamily="34" charset="0"/>
              </a:rPr>
              <a:t>Balance sheet </a:t>
            </a:r>
            <a:r>
              <a:rPr lang="en-US" altLang="en-US" sz="2800" dirty="0" smtClean="0">
                <a:solidFill>
                  <a:srgbClr val="92D050"/>
                </a:solidFill>
                <a:cs typeface="Arial" pitchFamily="34" charset="0"/>
              </a:rPr>
              <a:t>[Q2-2018]</a:t>
            </a:r>
            <a:endParaRPr lang="en-US" altLang="en-US" sz="2800" dirty="0">
              <a:solidFill>
                <a:srgbClr val="92D050"/>
              </a:solidFill>
              <a:cs typeface="Arial" pitchFamily="34" charset="0"/>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AU"/>
          </a:p>
        </p:txBody>
      </p:sp>
      <p:sp>
        <p:nvSpPr>
          <p:cNvPr id="8" name="TextBox 7"/>
          <p:cNvSpPr txBox="1"/>
          <p:nvPr/>
        </p:nvSpPr>
        <p:spPr>
          <a:xfrm>
            <a:off x="8867893" y="6499592"/>
            <a:ext cx="263214" cy="276999"/>
          </a:xfrm>
          <a:prstGeom prst="rect">
            <a:avLst/>
          </a:prstGeom>
          <a:noFill/>
        </p:spPr>
        <p:txBody>
          <a:bodyPr wrap="square" lIns="0" rtlCol="0">
            <a:spAutoFit/>
          </a:bodyPr>
          <a:lstStyle>
            <a:defPPr>
              <a:defRPr lang="en-US"/>
            </a:defPPr>
            <a:lvl1pPr>
              <a:defRPr sz="1200" b="1">
                <a:solidFill>
                  <a:prstClr val="white"/>
                </a:solidFill>
              </a:defRPr>
            </a:lvl1pPr>
          </a:lstStyle>
          <a:p>
            <a:pPr algn="ctr"/>
            <a:fld id="{930AFB57-27B1-4EDC-9D85-71AA30732641}" type="slidenum">
              <a:rPr lang="en-AU"/>
              <a:pPr algn="ctr"/>
              <a:t>13</a:t>
            </a:fld>
            <a:endParaRPr lang="en-AU" dirty="0"/>
          </a:p>
        </p:txBody>
      </p:sp>
      <p:sp>
        <p:nvSpPr>
          <p:cNvPr id="18" name="TextBox 17"/>
          <p:cNvSpPr txBox="1"/>
          <p:nvPr/>
        </p:nvSpPr>
        <p:spPr>
          <a:xfrm>
            <a:off x="251832" y="639607"/>
            <a:ext cx="7200488" cy="557145"/>
          </a:xfrm>
          <a:prstGeom prst="rect">
            <a:avLst/>
          </a:prstGeom>
          <a:noFill/>
          <a:ln>
            <a:solidFill>
              <a:srgbClr val="8CC63F"/>
            </a:solidFill>
          </a:ln>
        </p:spPr>
        <p:txBody>
          <a:bodyPr wrap="square" rtlCol="0" anchor="ctr">
            <a:noAutofit/>
          </a:bodyPr>
          <a:lstStyle/>
          <a:p>
            <a:pPr lvl="0">
              <a:spcBef>
                <a:spcPts val="600"/>
              </a:spcBef>
              <a:defRPr/>
            </a:pPr>
            <a:r>
              <a:rPr lang="en-US" sz="1600" b="1" dirty="0" smtClean="0">
                <a:solidFill>
                  <a:srgbClr val="73A531"/>
                </a:solidFill>
              </a:rPr>
              <a:t>Our balance sheet continues to strengthen with increase in both loans and deposits</a:t>
            </a:r>
            <a:endParaRPr lang="en-US" sz="1600" b="1" dirty="0">
              <a:solidFill>
                <a:srgbClr val="73A531"/>
              </a:solidFill>
            </a:endParaRPr>
          </a:p>
        </p:txBody>
      </p:sp>
      <p:graphicFrame>
        <p:nvGraphicFramePr>
          <p:cNvPr id="16" name="Table 15"/>
          <p:cNvGraphicFramePr>
            <a:graphicFrameLocks noGrp="1"/>
          </p:cNvGraphicFramePr>
          <p:nvPr>
            <p:extLst>
              <p:ext uri="{D42A27DB-BD31-4B8C-83A1-F6EECF244321}">
                <p14:modId xmlns:p14="http://schemas.microsoft.com/office/powerpoint/2010/main" val="228478922"/>
              </p:ext>
            </p:extLst>
          </p:nvPr>
        </p:nvGraphicFramePr>
        <p:xfrm>
          <a:off x="107504" y="1382721"/>
          <a:ext cx="6178998" cy="1446204"/>
        </p:xfrm>
        <a:graphic>
          <a:graphicData uri="http://schemas.openxmlformats.org/drawingml/2006/table">
            <a:tbl>
              <a:tblPr firstRow="1" bandRow="1">
                <a:tableStyleId>{F5AB1C69-6EDB-4FF4-983F-18BD219EF322}</a:tableStyleId>
              </a:tblPr>
              <a:tblGrid>
                <a:gridCol w="453503"/>
                <a:gridCol w="1145099"/>
                <a:gridCol w="1145099"/>
                <a:gridCol w="1145099"/>
                <a:gridCol w="1145099"/>
                <a:gridCol w="1145099"/>
              </a:tblGrid>
              <a:tr h="54671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AU" sz="1400" dirty="0" smtClean="0"/>
                    </a:p>
                  </a:txBody>
                  <a:tcPr marL="72000" marR="36000">
                    <a:solidFill>
                      <a:schemeClr val="bg1"/>
                    </a:solidFill>
                  </a:tcPr>
                </a:tc>
                <a:tc>
                  <a:txBody>
                    <a:bodyPr/>
                    <a:lstStyle/>
                    <a:p>
                      <a:r>
                        <a:rPr lang="en-AU" sz="1400" dirty="0" smtClean="0"/>
                        <a:t>Loans and</a:t>
                      </a:r>
                      <a:r>
                        <a:rPr lang="en-AU" sz="1400" baseline="0" dirty="0" smtClean="0"/>
                        <a:t> advances</a:t>
                      </a:r>
                      <a:endParaRPr lang="en-AU" sz="1400" dirty="0"/>
                    </a:p>
                  </a:txBody>
                  <a:tcPr marL="72000" marR="36000">
                    <a:solidFill>
                      <a:srgbClr val="8CC63F"/>
                    </a:solidFill>
                  </a:tcPr>
                </a:tc>
                <a:tc>
                  <a:txBody>
                    <a:bodyPr/>
                    <a:lstStyle/>
                    <a:p>
                      <a:r>
                        <a:rPr lang="en-AU" sz="1400" dirty="0" smtClean="0"/>
                        <a:t>Deposits</a:t>
                      </a:r>
                      <a:endParaRPr lang="en-AU" sz="1400" dirty="0"/>
                    </a:p>
                  </a:txBody>
                  <a:tcPr marL="72000" marR="36000">
                    <a:solidFill>
                      <a:srgbClr val="8CC63F"/>
                    </a:solidFill>
                  </a:tcPr>
                </a:tc>
                <a:tc>
                  <a:txBody>
                    <a:bodyPr/>
                    <a:lstStyle/>
                    <a:p>
                      <a:r>
                        <a:rPr lang="en-AU" sz="1400" dirty="0" smtClean="0"/>
                        <a:t>Total</a:t>
                      </a:r>
                      <a:br>
                        <a:rPr lang="en-AU" sz="1400" dirty="0" smtClean="0"/>
                      </a:br>
                      <a:r>
                        <a:rPr lang="en-AU" sz="1400" dirty="0" smtClean="0"/>
                        <a:t>Assets</a:t>
                      </a:r>
                      <a:endParaRPr lang="en-AU" sz="1400" dirty="0"/>
                    </a:p>
                  </a:txBody>
                  <a:tcPr marL="72000" marR="36000">
                    <a:solidFill>
                      <a:srgbClr val="8CC63F"/>
                    </a:solidFill>
                  </a:tcPr>
                </a:tc>
                <a:tc>
                  <a:txBody>
                    <a:bodyPr/>
                    <a:lstStyle/>
                    <a:p>
                      <a:r>
                        <a:rPr lang="en-AU" sz="1400" dirty="0" smtClean="0"/>
                        <a:t>Total</a:t>
                      </a:r>
                      <a:br>
                        <a:rPr lang="en-AU" sz="1400" dirty="0" smtClean="0"/>
                      </a:br>
                      <a:r>
                        <a:rPr lang="en-AU" sz="1400" dirty="0" smtClean="0"/>
                        <a:t>Liabilities</a:t>
                      </a:r>
                      <a:endParaRPr lang="en-AU" sz="1400" dirty="0"/>
                    </a:p>
                  </a:txBody>
                  <a:tcPr marL="72000" marR="36000">
                    <a:solidFill>
                      <a:srgbClr val="8CC63F"/>
                    </a:solidFill>
                  </a:tcPr>
                </a:tc>
                <a:tc>
                  <a:txBody>
                    <a:bodyPr/>
                    <a:lstStyle/>
                    <a:p>
                      <a:r>
                        <a:rPr lang="en-AU" sz="1400" dirty="0" smtClean="0"/>
                        <a:t>Net assets / SH equity</a:t>
                      </a:r>
                      <a:endParaRPr lang="en-AU" sz="1400" dirty="0"/>
                    </a:p>
                  </a:txBody>
                  <a:tcPr marL="72000" marR="36000">
                    <a:solidFill>
                      <a:srgbClr val="8CC63F"/>
                    </a:solidFill>
                  </a:tcPr>
                </a:tc>
              </a:tr>
              <a:tr h="44974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400" b="1" dirty="0" smtClean="0"/>
                        <a:t>PQ</a:t>
                      </a:r>
                    </a:p>
                  </a:txBody>
                  <a:tcPr marL="72000" marR="36000" anchor="ctr">
                    <a:solidFill>
                      <a:schemeClr val="accent3">
                        <a:lumMod val="40000"/>
                        <a:lumOff val="60000"/>
                      </a:schemeClr>
                    </a:solidFill>
                  </a:tcPr>
                </a:tc>
                <a:tc>
                  <a:txBody>
                    <a:bodyPr/>
                    <a:lstStyle/>
                    <a:p>
                      <a:r>
                        <a:rPr lang="en-AU" sz="1400" dirty="0" smtClean="0"/>
                        <a:t>3.3%</a:t>
                      </a:r>
                      <a:endParaRPr lang="en-AU" sz="1400" dirty="0"/>
                    </a:p>
                  </a:txBody>
                  <a:tcPr marL="36000" marR="36000" anchor="ctr">
                    <a:solidFill>
                      <a:schemeClr val="accent3">
                        <a:lumMod val="40000"/>
                        <a:lumOff val="60000"/>
                      </a:schemeClr>
                    </a:solidFill>
                  </a:tcPr>
                </a:tc>
                <a:tc>
                  <a:txBody>
                    <a:bodyPr/>
                    <a:lstStyle/>
                    <a:p>
                      <a:r>
                        <a:rPr lang="en-AU" sz="1400" dirty="0" smtClean="0"/>
                        <a:t>0.6%</a:t>
                      </a:r>
                      <a:endParaRPr lang="en-AU" sz="1400" dirty="0"/>
                    </a:p>
                  </a:txBody>
                  <a:tcPr marL="36000" marR="36000" anchor="ctr">
                    <a:solidFill>
                      <a:schemeClr val="accent3">
                        <a:lumMod val="40000"/>
                        <a:lumOff val="60000"/>
                      </a:schemeClr>
                    </a:solidFill>
                  </a:tcPr>
                </a:tc>
                <a:tc>
                  <a:txBody>
                    <a:bodyPr/>
                    <a:lstStyle/>
                    <a:p>
                      <a:r>
                        <a:rPr lang="en-AU" sz="1400" dirty="0" smtClean="0"/>
                        <a:t>(0.1)%</a:t>
                      </a:r>
                      <a:endParaRPr lang="en-AU" sz="1400" dirty="0"/>
                    </a:p>
                  </a:txBody>
                  <a:tcPr marL="36000" marR="36000" anchor="ctr">
                    <a:solidFill>
                      <a:schemeClr val="accent3">
                        <a:lumMod val="40000"/>
                        <a:lumOff val="60000"/>
                      </a:schemeClr>
                    </a:solidFill>
                  </a:tcPr>
                </a:tc>
                <a:tc>
                  <a:txBody>
                    <a:bodyPr/>
                    <a:lstStyle/>
                    <a:p>
                      <a:r>
                        <a:rPr lang="en-AU" sz="1400" dirty="0" smtClean="0"/>
                        <a:t>1.1%</a:t>
                      </a:r>
                      <a:endParaRPr lang="en-AU" sz="1400" dirty="0"/>
                    </a:p>
                  </a:txBody>
                  <a:tcPr marL="36000" marR="36000" anchor="ctr">
                    <a:solidFill>
                      <a:schemeClr val="accent3">
                        <a:lumMod val="40000"/>
                        <a:lumOff val="60000"/>
                      </a:schemeClr>
                    </a:solidFill>
                  </a:tcPr>
                </a:tc>
                <a:tc>
                  <a:txBody>
                    <a:bodyPr/>
                    <a:lstStyle/>
                    <a:p>
                      <a:r>
                        <a:rPr lang="en-AU" sz="1400" dirty="0" smtClean="0"/>
                        <a:t>(8.7%)</a:t>
                      </a:r>
                      <a:endParaRPr lang="en-AU" sz="1400" dirty="0"/>
                    </a:p>
                  </a:txBody>
                  <a:tcPr marL="36000" marR="36000" anchor="ctr">
                    <a:solidFill>
                      <a:schemeClr val="accent3">
                        <a:lumMod val="40000"/>
                        <a:lumOff val="60000"/>
                      </a:schemeClr>
                    </a:solidFill>
                  </a:tcPr>
                </a:tc>
              </a:tr>
              <a:tr h="449745">
                <a:tc>
                  <a:txBody>
                    <a:bodyPr/>
                    <a:lstStyle/>
                    <a:p>
                      <a:r>
                        <a:rPr lang="en-AU" sz="1400" b="1" dirty="0" smtClean="0"/>
                        <a:t>YOY</a:t>
                      </a:r>
                    </a:p>
                  </a:txBody>
                  <a:tcPr marL="72000" marR="36000" anchor="ctr">
                    <a:solidFill>
                      <a:schemeClr val="accent3">
                        <a:lumMod val="40000"/>
                        <a:lumOff val="60000"/>
                      </a:schemeClr>
                    </a:solidFill>
                  </a:tcPr>
                </a:tc>
                <a:tc>
                  <a:txBody>
                    <a:bodyPr/>
                    <a:lstStyle/>
                    <a:p>
                      <a:r>
                        <a:rPr lang="en-AU" sz="1400" dirty="0" smtClean="0"/>
                        <a:t>13.1%</a:t>
                      </a:r>
                      <a:endParaRPr lang="en-AU" sz="1400" dirty="0"/>
                    </a:p>
                  </a:txBody>
                  <a:tcPr marL="36000" marR="36000" anchor="ctr">
                    <a:solidFill>
                      <a:schemeClr val="accent3">
                        <a:lumMod val="40000"/>
                        <a:lumOff val="60000"/>
                      </a:schemeClr>
                    </a:solidFill>
                  </a:tcPr>
                </a:tc>
                <a:tc>
                  <a:txBody>
                    <a:bodyPr/>
                    <a:lstStyle/>
                    <a:p>
                      <a:r>
                        <a:rPr lang="en-AU" sz="1400" dirty="0" smtClean="0"/>
                        <a:t>4.4%</a:t>
                      </a:r>
                      <a:endParaRPr lang="en-AU" sz="1400" dirty="0"/>
                    </a:p>
                  </a:txBody>
                  <a:tcPr marL="36000" marR="36000" anchor="ctr">
                    <a:solidFill>
                      <a:schemeClr val="accent3">
                        <a:lumMod val="40000"/>
                        <a:lumOff val="60000"/>
                      </a:schemeClr>
                    </a:solidFill>
                  </a:tcPr>
                </a:tc>
                <a:tc>
                  <a:txBody>
                    <a:bodyPr/>
                    <a:lstStyle/>
                    <a:p>
                      <a:r>
                        <a:rPr lang="en-AU" sz="1400" dirty="0" smtClean="0"/>
                        <a:t>5.9%</a:t>
                      </a:r>
                      <a:endParaRPr lang="en-AU" sz="1400" dirty="0"/>
                    </a:p>
                  </a:txBody>
                  <a:tcPr marL="36000" marR="36000" anchor="ctr">
                    <a:solidFill>
                      <a:schemeClr val="accent3">
                        <a:lumMod val="40000"/>
                        <a:lumOff val="60000"/>
                      </a:schemeClr>
                    </a:solidFill>
                  </a:tcPr>
                </a:tc>
                <a:tc>
                  <a:txBody>
                    <a:bodyPr/>
                    <a:lstStyle/>
                    <a:p>
                      <a:r>
                        <a:rPr lang="en-AU" sz="1400" dirty="0" smtClean="0"/>
                        <a:t>5.1%</a:t>
                      </a:r>
                      <a:endParaRPr lang="en-AU" sz="1400" dirty="0"/>
                    </a:p>
                  </a:txBody>
                  <a:tcPr marL="36000" marR="36000" anchor="ctr">
                    <a:solidFill>
                      <a:schemeClr val="accent3">
                        <a:lumMod val="40000"/>
                        <a:lumOff val="60000"/>
                      </a:schemeClr>
                    </a:solidFill>
                  </a:tcPr>
                </a:tc>
                <a:tc>
                  <a:txBody>
                    <a:bodyPr/>
                    <a:lstStyle/>
                    <a:p>
                      <a:r>
                        <a:rPr lang="en-AU" sz="1400" dirty="0" smtClean="0"/>
                        <a:t>11.7%</a:t>
                      </a:r>
                      <a:endParaRPr lang="en-AU" sz="1400" dirty="0"/>
                    </a:p>
                  </a:txBody>
                  <a:tcPr marL="36000" marR="36000" anchor="ctr">
                    <a:solidFill>
                      <a:schemeClr val="accent3">
                        <a:lumMod val="40000"/>
                        <a:lumOff val="60000"/>
                      </a:schemeClr>
                    </a:solidFill>
                  </a:tcPr>
                </a:tc>
              </a:tr>
            </a:tbl>
          </a:graphicData>
        </a:graphic>
      </p:graphicFrame>
      <p:sp>
        <p:nvSpPr>
          <p:cNvPr id="3" name="Rectangle 2"/>
          <p:cNvSpPr/>
          <p:nvPr/>
        </p:nvSpPr>
        <p:spPr>
          <a:xfrm>
            <a:off x="6468938" y="5660167"/>
            <a:ext cx="1478221" cy="604157"/>
          </a:xfrm>
          <a:prstGeom prst="rect">
            <a:avLst/>
          </a:prstGeom>
          <a:noFill/>
          <a:ln w="6350">
            <a:solidFill>
              <a:srgbClr val="8CC6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1200" b="1" dirty="0" smtClean="0">
                <a:solidFill>
                  <a:schemeClr val="tx1">
                    <a:lumMod val="50000"/>
                    <a:lumOff val="50000"/>
                  </a:schemeClr>
                </a:solidFill>
              </a:rPr>
              <a:t>Key:</a:t>
            </a:r>
          </a:p>
          <a:p>
            <a:r>
              <a:rPr lang="en-AU" sz="1200" dirty="0" smtClean="0">
                <a:solidFill>
                  <a:schemeClr val="tx1">
                    <a:lumMod val="50000"/>
                    <a:lumOff val="50000"/>
                  </a:schemeClr>
                </a:solidFill>
              </a:rPr>
              <a:t>PQ = prior quarter</a:t>
            </a:r>
          </a:p>
          <a:p>
            <a:r>
              <a:rPr lang="en-AU" sz="1200" dirty="0" smtClean="0">
                <a:solidFill>
                  <a:schemeClr val="tx1">
                    <a:lumMod val="50000"/>
                    <a:lumOff val="50000"/>
                  </a:schemeClr>
                </a:solidFill>
              </a:rPr>
              <a:t>YOY = year on year</a:t>
            </a:r>
            <a:endParaRPr lang="en-AU" sz="1200" dirty="0">
              <a:solidFill>
                <a:schemeClr val="tx1">
                  <a:lumMod val="50000"/>
                  <a:lumOff val="50000"/>
                </a:schemeClr>
              </a:solidFill>
            </a:endParaRPr>
          </a:p>
        </p:txBody>
      </p:sp>
      <p:sp>
        <p:nvSpPr>
          <p:cNvPr id="25" name="TextBox 24"/>
          <p:cNvSpPr txBox="1"/>
          <p:nvPr/>
        </p:nvSpPr>
        <p:spPr>
          <a:xfrm>
            <a:off x="260245" y="2924944"/>
            <a:ext cx="5022048" cy="677108"/>
          </a:xfrm>
          <a:prstGeom prst="rect">
            <a:avLst/>
          </a:prstGeom>
          <a:noFill/>
        </p:spPr>
        <p:txBody>
          <a:bodyPr wrap="square" lIns="0" rtlCol="0">
            <a:spAutoFit/>
          </a:bodyPr>
          <a:lstStyle/>
          <a:p>
            <a:r>
              <a:rPr lang="en-AU" sz="2000" b="1" dirty="0" smtClean="0">
                <a:solidFill>
                  <a:srgbClr val="73A531"/>
                </a:solidFill>
              </a:rPr>
              <a:t>BSP GROUP QUARTERLY BALANCE SHEET</a:t>
            </a:r>
          </a:p>
          <a:p>
            <a:r>
              <a:rPr lang="en-AU" dirty="0" smtClean="0">
                <a:solidFill>
                  <a:srgbClr val="73A531"/>
                </a:solidFill>
              </a:rPr>
              <a:t>[Kb]</a:t>
            </a:r>
            <a:endParaRPr lang="en-AU" sz="1600" dirty="0">
              <a:solidFill>
                <a:srgbClr val="73A531"/>
              </a:solidFill>
            </a:endParaRPr>
          </a:p>
        </p:txBody>
      </p:sp>
      <p:graphicFrame>
        <p:nvGraphicFramePr>
          <p:cNvPr id="20" name="Chart 19"/>
          <p:cNvGraphicFramePr>
            <a:graphicFrameLocks/>
          </p:cNvGraphicFramePr>
          <p:nvPr>
            <p:extLst>
              <p:ext uri="{D42A27DB-BD31-4B8C-83A1-F6EECF244321}">
                <p14:modId xmlns:p14="http://schemas.microsoft.com/office/powerpoint/2010/main" val="1628474440"/>
              </p:ext>
            </p:extLst>
          </p:nvPr>
        </p:nvGraphicFramePr>
        <p:xfrm>
          <a:off x="251832" y="3602052"/>
          <a:ext cx="5913933" cy="2530928"/>
        </p:xfrm>
        <a:graphic>
          <a:graphicData uri="http://schemas.openxmlformats.org/drawingml/2006/chart">
            <c:chart xmlns:c="http://schemas.openxmlformats.org/drawingml/2006/chart" xmlns:r="http://schemas.openxmlformats.org/officeDocument/2006/relationships" r:id="rId4"/>
          </a:graphicData>
        </a:graphic>
      </p:graphicFrame>
      <p:sp>
        <p:nvSpPr>
          <p:cNvPr id="37" name="TextBox 36"/>
          <p:cNvSpPr txBox="1"/>
          <p:nvPr/>
        </p:nvSpPr>
        <p:spPr>
          <a:xfrm>
            <a:off x="6444208" y="1418021"/>
            <a:ext cx="2555292" cy="498138"/>
          </a:xfrm>
          <a:prstGeom prst="roundRect">
            <a:avLst/>
          </a:prstGeom>
          <a:solidFill>
            <a:srgbClr val="6C9A2E"/>
          </a:solidFill>
          <a:ln>
            <a:solidFill>
              <a:srgbClr val="6C9A2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defRPr sz="1600" b="1">
                <a:solidFill>
                  <a:schemeClr val="bg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AU" dirty="0" smtClean="0"/>
              <a:t>HIGHLIGHTS</a:t>
            </a:r>
            <a:endParaRPr lang="en-AU" dirty="0"/>
          </a:p>
        </p:txBody>
      </p:sp>
      <p:sp>
        <p:nvSpPr>
          <p:cNvPr id="38" name="Rounded Rectangle 37"/>
          <p:cNvSpPr/>
          <p:nvPr/>
        </p:nvSpPr>
        <p:spPr>
          <a:xfrm>
            <a:off x="6406567" y="1988840"/>
            <a:ext cx="2724540" cy="2458675"/>
          </a:xfrm>
          <a:prstGeom prst="roundRect">
            <a:avLst>
              <a:gd name="adj" fmla="val 2157"/>
            </a:avLst>
          </a:prstGeom>
          <a:noFill/>
          <a:ln w="9525" cmpd="sng">
            <a:noFill/>
            <a:miter lim="800000"/>
            <a:headEnd/>
            <a:tailEnd/>
          </a:ln>
        </p:spPr>
        <p:txBody>
          <a:bodyPr lIns="0">
            <a:noAutofit/>
          </a:bodyPr>
          <a:lstStyle/>
          <a:p>
            <a:pPr marL="179388" indent="-179388" defTabSz="457200">
              <a:spcBef>
                <a:spcPts val="900"/>
              </a:spcBef>
              <a:buClr>
                <a:srgbClr val="8CC63F"/>
              </a:buClr>
              <a:buSzPct val="124000"/>
              <a:buFont typeface="Calibri" panose="020F0502020204030204" pitchFamily="34" charset="0"/>
              <a:buChar char="●"/>
            </a:pPr>
            <a:r>
              <a:rPr lang="en-US" sz="1200" b="1" dirty="0">
                <a:solidFill>
                  <a:schemeClr val="bg2">
                    <a:lumMod val="25000"/>
                  </a:schemeClr>
                </a:solidFill>
              </a:rPr>
              <a:t>Total loan increased by K358m in Q2 2018 </a:t>
            </a:r>
            <a:r>
              <a:rPr lang="en-US" sz="1200" b="1" dirty="0" smtClean="0">
                <a:solidFill>
                  <a:schemeClr val="bg2">
                    <a:lumMod val="25000"/>
                  </a:schemeClr>
                </a:solidFill>
              </a:rPr>
              <a:t>[PNG </a:t>
            </a:r>
            <a:r>
              <a:rPr lang="en-US" sz="1200" b="1" dirty="0">
                <a:solidFill>
                  <a:schemeClr val="bg2">
                    <a:lumMod val="25000"/>
                  </a:schemeClr>
                </a:solidFill>
              </a:rPr>
              <a:t>+K229m, Fiji K100m, SI K16m and other OSBs and SUBs + </a:t>
            </a:r>
            <a:r>
              <a:rPr lang="en-US" sz="1200" b="1" dirty="0" smtClean="0">
                <a:solidFill>
                  <a:schemeClr val="bg2">
                    <a:lumMod val="25000"/>
                  </a:schemeClr>
                </a:solidFill>
              </a:rPr>
              <a:t>K12m]</a:t>
            </a:r>
            <a:endParaRPr lang="en-US" sz="1200" b="1" dirty="0">
              <a:solidFill>
                <a:schemeClr val="bg2">
                  <a:lumMod val="25000"/>
                </a:schemeClr>
              </a:solidFill>
            </a:endParaRPr>
          </a:p>
          <a:p>
            <a:pPr marL="179388" indent="-179388" defTabSz="457200">
              <a:spcBef>
                <a:spcPts val="900"/>
              </a:spcBef>
              <a:buClr>
                <a:srgbClr val="8CC63F"/>
              </a:buClr>
              <a:buSzPct val="124000"/>
              <a:buFont typeface="Calibri" panose="020F0502020204030204" pitchFamily="34" charset="0"/>
              <a:buChar char="●"/>
            </a:pPr>
            <a:r>
              <a:rPr lang="en-US" sz="1200" b="1" dirty="0">
                <a:solidFill>
                  <a:schemeClr val="bg2">
                    <a:lumMod val="25000"/>
                  </a:schemeClr>
                </a:solidFill>
              </a:rPr>
              <a:t>PNG </a:t>
            </a:r>
            <a:r>
              <a:rPr lang="en-US" sz="1200" b="1" dirty="0" smtClean="0">
                <a:solidFill>
                  <a:schemeClr val="bg2">
                    <a:lumMod val="25000"/>
                  </a:schemeClr>
                </a:solidFill>
              </a:rPr>
              <a:t>SBU loan </a:t>
            </a:r>
            <a:r>
              <a:rPr lang="en-US" sz="1200" b="1" dirty="0">
                <a:solidFill>
                  <a:schemeClr val="bg2">
                    <a:lumMod val="25000"/>
                  </a:schemeClr>
                </a:solidFill>
              </a:rPr>
              <a:t>movements – Corporate +</a:t>
            </a:r>
            <a:r>
              <a:rPr lang="en-US" sz="1200" b="1" dirty="0" smtClean="0">
                <a:solidFill>
                  <a:schemeClr val="bg2">
                    <a:lumMod val="25000"/>
                  </a:schemeClr>
                </a:solidFill>
              </a:rPr>
              <a:t>K258m, </a:t>
            </a:r>
            <a:r>
              <a:rPr lang="en-US" sz="1200" b="1" dirty="0">
                <a:solidFill>
                  <a:schemeClr val="bg2">
                    <a:lumMod val="25000"/>
                  </a:schemeClr>
                </a:solidFill>
              </a:rPr>
              <a:t>Retail +</a:t>
            </a:r>
            <a:r>
              <a:rPr lang="en-US" sz="1200" b="1" dirty="0" smtClean="0">
                <a:solidFill>
                  <a:schemeClr val="bg2">
                    <a:lumMod val="25000"/>
                  </a:schemeClr>
                </a:solidFill>
              </a:rPr>
              <a:t>K48m</a:t>
            </a:r>
            <a:endParaRPr lang="en-US" sz="1200" b="1" dirty="0">
              <a:solidFill>
                <a:schemeClr val="bg2">
                  <a:lumMod val="25000"/>
                </a:schemeClr>
              </a:solidFill>
            </a:endParaRPr>
          </a:p>
          <a:p>
            <a:pPr marL="179388" indent="-179388" defTabSz="457200">
              <a:spcBef>
                <a:spcPts val="900"/>
              </a:spcBef>
              <a:buClr>
                <a:srgbClr val="8CC63F"/>
              </a:buClr>
              <a:buSzPct val="124000"/>
              <a:buFont typeface="Calibri" panose="020F0502020204030204" pitchFamily="34" charset="0"/>
              <a:buChar char="●"/>
            </a:pPr>
            <a:r>
              <a:rPr lang="en-US" sz="1200" b="1" dirty="0">
                <a:solidFill>
                  <a:schemeClr val="bg2">
                    <a:lumMod val="25000"/>
                  </a:schemeClr>
                </a:solidFill>
              </a:rPr>
              <a:t>Total deposits increased by K113m in the quarter. </a:t>
            </a:r>
            <a:r>
              <a:rPr lang="en-US" sz="1200" b="1" dirty="0" smtClean="0">
                <a:solidFill>
                  <a:schemeClr val="bg2">
                    <a:lumMod val="25000"/>
                  </a:schemeClr>
                </a:solidFill>
              </a:rPr>
              <a:t>[PNG </a:t>
            </a:r>
            <a:r>
              <a:rPr lang="en-US" sz="1200" b="1" dirty="0">
                <a:solidFill>
                  <a:schemeClr val="bg2">
                    <a:lumMod val="25000"/>
                  </a:schemeClr>
                </a:solidFill>
              </a:rPr>
              <a:t>+K100m, Fiji -K61m, SI +K13m, </a:t>
            </a:r>
            <a:r>
              <a:rPr lang="en-US" sz="1200" b="1" dirty="0" smtClean="0">
                <a:solidFill>
                  <a:schemeClr val="bg2">
                    <a:lumMod val="25000"/>
                  </a:schemeClr>
                </a:solidFill>
              </a:rPr>
              <a:t>other OSBs and SUBs </a:t>
            </a:r>
            <a:r>
              <a:rPr lang="en-US" sz="1200" b="1" dirty="0">
                <a:solidFill>
                  <a:schemeClr val="bg2">
                    <a:lumMod val="25000"/>
                  </a:schemeClr>
                </a:solidFill>
              </a:rPr>
              <a:t>+</a:t>
            </a:r>
            <a:r>
              <a:rPr lang="en-US" sz="1200" b="1" dirty="0" smtClean="0">
                <a:solidFill>
                  <a:schemeClr val="bg2">
                    <a:lumMod val="25000"/>
                  </a:schemeClr>
                </a:solidFill>
              </a:rPr>
              <a:t>K61m]</a:t>
            </a:r>
            <a:endParaRPr lang="en-US" sz="1200" b="1" dirty="0">
              <a:solidFill>
                <a:schemeClr val="bg2">
                  <a:lumMod val="25000"/>
                </a:schemeClr>
              </a:solidFill>
            </a:endParaRPr>
          </a:p>
          <a:p>
            <a:pPr marL="179388" indent="-179388" defTabSz="457200">
              <a:spcBef>
                <a:spcPts val="900"/>
              </a:spcBef>
              <a:buClr>
                <a:srgbClr val="8CC63F"/>
              </a:buClr>
              <a:buSzPct val="124000"/>
              <a:buFont typeface="Calibri" panose="020F0502020204030204" pitchFamily="34" charset="0"/>
              <a:buChar char="●"/>
            </a:pPr>
            <a:r>
              <a:rPr lang="en-US" sz="1200" b="1" dirty="0">
                <a:solidFill>
                  <a:schemeClr val="bg2">
                    <a:lumMod val="25000"/>
                  </a:schemeClr>
                </a:solidFill>
              </a:rPr>
              <a:t>Total assets saw a slight drop from last quarter </a:t>
            </a:r>
            <a:r>
              <a:rPr lang="en-US" sz="1200" b="1" dirty="0" smtClean="0">
                <a:solidFill>
                  <a:schemeClr val="bg2">
                    <a:lumMod val="25000"/>
                  </a:schemeClr>
                </a:solidFill>
              </a:rPr>
              <a:t>due to reduced T’bills maturity</a:t>
            </a:r>
            <a:endParaRPr lang="en-US" sz="1200" b="1" dirty="0">
              <a:solidFill>
                <a:schemeClr val="bg2">
                  <a:lumMod val="25000"/>
                </a:schemeClr>
              </a:solidFill>
            </a:endParaRPr>
          </a:p>
          <a:p>
            <a:pPr marL="179388" indent="-179388" defTabSz="457200">
              <a:spcBef>
                <a:spcPts val="900"/>
              </a:spcBef>
              <a:buClr>
                <a:srgbClr val="8CC63F"/>
              </a:buClr>
              <a:buSzPct val="124000"/>
              <a:buFont typeface="Calibri" panose="020F0502020204030204" pitchFamily="34" charset="0"/>
              <a:buChar char="●"/>
            </a:pPr>
            <a:r>
              <a:rPr lang="en-US" sz="1200" b="1" dirty="0" smtClean="0">
                <a:solidFill>
                  <a:schemeClr val="bg2">
                    <a:lumMod val="25000"/>
                  </a:schemeClr>
                </a:solidFill>
              </a:rPr>
              <a:t>FX </a:t>
            </a:r>
            <a:r>
              <a:rPr lang="en-US" sz="1200" b="1" dirty="0">
                <a:solidFill>
                  <a:schemeClr val="bg2">
                    <a:lumMod val="25000"/>
                  </a:schemeClr>
                </a:solidFill>
              </a:rPr>
              <a:t>translation in Q2 increased; loans –K44m and Deposits +K166m due to the </a:t>
            </a:r>
            <a:r>
              <a:rPr lang="en-US" sz="1200" b="1" dirty="0" smtClean="0">
                <a:solidFill>
                  <a:schemeClr val="bg2">
                    <a:lumMod val="25000"/>
                  </a:schemeClr>
                </a:solidFill>
              </a:rPr>
              <a:t>Kina</a:t>
            </a:r>
            <a:r>
              <a:rPr lang="en-US" sz="1200" b="1" dirty="0">
                <a:solidFill>
                  <a:schemeClr val="bg2">
                    <a:lumMod val="25000"/>
                  </a:schemeClr>
                </a:solidFill>
              </a:rPr>
              <a:t> </a:t>
            </a:r>
            <a:r>
              <a:rPr lang="en-US" sz="1200" b="1" dirty="0" smtClean="0">
                <a:solidFill>
                  <a:schemeClr val="bg2">
                    <a:lumMod val="25000"/>
                  </a:schemeClr>
                </a:solidFill>
              </a:rPr>
              <a:t>weakening against currencies of BSP offshore assets</a:t>
            </a:r>
            <a:endParaRPr lang="en-US" sz="1200" b="1" dirty="0">
              <a:solidFill>
                <a:schemeClr val="bg2">
                  <a:lumMod val="25000"/>
                </a:schemeClr>
              </a:solidFill>
            </a:endParaRPr>
          </a:p>
        </p:txBody>
      </p:sp>
      <p:sp>
        <p:nvSpPr>
          <p:cNvPr id="39" name="TextBox 38"/>
          <p:cNvSpPr txBox="1"/>
          <p:nvPr/>
        </p:nvSpPr>
        <p:spPr>
          <a:xfrm>
            <a:off x="251832" y="6488848"/>
            <a:ext cx="3096032" cy="276999"/>
          </a:xfrm>
          <a:prstGeom prst="rect">
            <a:avLst/>
          </a:prstGeom>
          <a:noFill/>
        </p:spPr>
        <p:txBody>
          <a:bodyPr wrap="square" lIns="0" rtlCol="0">
            <a:spAutoFit/>
          </a:bodyPr>
          <a:lstStyle/>
          <a:p>
            <a:pPr>
              <a:defRPr/>
            </a:pPr>
            <a:r>
              <a:rPr lang="en-US" sz="1200" b="1" dirty="0" smtClean="0">
                <a:solidFill>
                  <a:prstClr val="white"/>
                </a:solidFill>
              </a:rPr>
              <a:t>INVESTOR PRESENTATION Q2, 2018</a:t>
            </a:r>
            <a:endParaRPr lang="en-AU" sz="1200" b="1" dirty="0">
              <a:solidFill>
                <a:prstClr val="white"/>
              </a:solidFill>
            </a:endParaRPr>
          </a:p>
        </p:txBody>
      </p:sp>
      <p:sp>
        <p:nvSpPr>
          <p:cNvPr id="19" name="Up Arrow 18"/>
          <p:cNvSpPr/>
          <p:nvPr/>
        </p:nvSpPr>
        <p:spPr>
          <a:xfrm>
            <a:off x="1187624" y="2030416"/>
            <a:ext cx="423900" cy="465272"/>
          </a:xfrm>
          <a:prstGeom prst="upArrow">
            <a:avLst/>
          </a:prstGeom>
          <a:solidFill>
            <a:schemeClr val="accent3">
              <a:lumMod val="75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4" name="Up Arrow 23"/>
          <p:cNvSpPr/>
          <p:nvPr/>
        </p:nvSpPr>
        <p:spPr>
          <a:xfrm>
            <a:off x="2347369" y="2037948"/>
            <a:ext cx="423900" cy="465272"/>
          </a:xfrm>
          <a:prstGeom prst="upArrow">
            <a:avLst/>
          </a:prstGeom>
          <a:solidFill>
            <a:schemeClr val="accent3">
              <a:lumMod val="75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Up Arrow 25"/>
          <p:cNvSpPr/>
          <p:nvPr/>
        </p:nvSpPr>
        <p:spPr>
          <a:xfrm>
            <a:off x="4644008" y="2037948"/>
            <a:ext cx="423900" cy="465272"/>
          </a:xfrm>
          <a:prstGeom prst="upArrow">
            <a:avLst/>
          </a:prstGeom>
          <a:solidFill>
            <a:schemeClr val="accent3">
              <a:lumMod val="75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7" name="Up Arrow 26"/>
          <p:cNvSpPr/>
          <p:nvPr/>
        </p:nvSpPr>
        <p:spPr>
          <a:xfrm rot="5400000">
            <a:off x="3512566" y="2112170"/>
            <a:ext cx="423900" cy="465272"/>
          </a:xfrm>
          <a:prstGeom prst="upArrow">
            <a:avLst/>
          </a:prstGeom>
          <a:solidFill>
            <a:schemeClr val="accent6">
              <a:lumMod val="75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8" name="Up Arrow 27"/>
          <p:cNvSpPr/>
          <p:nvPr/>
        </p:nvSpPr>
        <p:spPr>
          <a:xfrm flipV="1">
            <a:off x="5796136" y="2030416"/>
            <a:ext cx="423900" cy="465272"/>
          </a:xfrm>
          <a:prstGeom prst="upArrow">
            <a:avLst/>
          </a:prstGeom>
          <a:solidFill>
            <a:srgbClr val="FF000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09431335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TextBox 4"/>
          <p:cNvSpPr txBox="1">
            <a:spLocks noChangeArrowheads="1"/>
          </p:cNvSpPr>
          <p:nvPr/>
        </p:nvSpPr>
        <p:spPr bwMode="auto">
          <a:xfrm>
            <a:off x="251832" y="44624"/>
            <a:ext cx="720048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rIns="0">
            <a:spAutoFit/>
          </a:bodyPr>
          <a:lstStyle>
            <a:lvl1pPr defTabSz="457200" eaLnBrk="0" hangingPunct="0">
              <a:defRPr>
                <a:solidFill>
                  <a:schemeClr val="tx1"/>
                </a:solidFill>
                <a:latin typeface="Arial" pitchFamily="34" charset="0"/>
              </a:defRPr>
            </a:lvl1pPr>
            <a:lvl2pPr marL="742950" indent="-285750" defTabSz="457200" eaLnBrk="0" hangingPunct="0">
              <a:defRPr>
                <a:solidFill>
                  <a:schemeClr val="tx1"/>
                </a:solidFill>
                <a:latin typeface="Arial" pitchFamily="34" charset="0"/>
              </a:defRPr>
            </a:lvl2pPr>
            <a:lvl3pPr marL="1143000" indent="-228600" defTabSz="457200" eaLnBrk="0" hangingPunct="0">
              <a:defRPr>
                <a:solidFill>
                  <a:schemeClr val="tx1"/>
                </a:solidFill>
                <a:latin typeface="Arial" pitchFamily="34" charset="0"/>
              </a:defRPr>
            </a:lvl3pPr>
            <a:lvl4pPr marL="1600200" indent="-228600" defTabSz="457200" eaLnBrk="0" hangingPunct="0">
              <a:defRPr>
                <a:solidFill>
                  <a:schemeClr val="tx1"/>
                </a:solidFill>
                <a:latin typeface="Arial" pitchFamily="34" charset="0"/>
              </a:defRPr>
            </a:lvl4pPr>
            <a:lvl5pPr marL="2057400" indent="-228600" defTabSz="457200" eaLnBrk="0" hangingPunct="0">
              <a:defRPr>
                <a:solidFill>
                  <a:schemeClr val="tx1"/>
                </a:solidFill>
                <a:latin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defRPr>
            </a:lvl9pPr>
          </a:lstStyle>
          <a:p>
            <a:pPr eaLnBrk="1" hangingPunct="1"/>
            <a:r>
              <a:rPr lang="en-US" altLang="en-US" sz="2800" b="1" dirty="0">
                <a:solidFill>
                  <a:srgbClr val="92D050"/>
                </a:solidFill>
                <a:cs typeface="Arial" pitchFamily="34" charset="0"/>
              </a:rPr>
              <a:t>Group key </a:t>
            </a:r>
            <a:r>
              <a:rPr lang="en-US" altLang="en-US" sz="2800" b="1" dirty="0" smtClean="0">
                <a:solidFill>
                  <a:srgbClr val="92D050"/>
                </a:solidFill>
                <a:cs typeface="Arial" pitchFamily="34" charset="0"/>
              </a:rPr>
              <a:t>ratios </a:t>
            </a:r>
            <a:r>
              <a:rPr lang="en-US" altLang="en-US" sz="2800" dirty="0" smtClean="0">
                <a:solidFill>
                  <a:srgbClr val="92D050"/>
                </a:solidFill>
                <a:cs typeface="Arial" pitchFamily="34" charset="0"/>
              </a:rPr>
              <a:t>[Q2-2018]</a:t>
            </a:r>
            <a:endParaRPr lang="en-US" altLang="en-US" sz="2800" dirty="0">
              <a:solidFill>
                <a:srgbClr val="92D050"/>
              </a:solidFill>
              <a:cs typeface="Arial" pitchFamily="34" charset="0"/>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AU"/>
          </a:p>
        </p:txBody>
      </p:sp>
      <p:sp>
        <p:nvSpPr>
          <p:cNvPr id="8" name="TextBox 7"/>
          <p:cNvSpPr txBox="1"/>
          <p:nvPr/>
        </p:nvSpPr>
        <p:spPr>
          <a:xfrm>
            <a:off x="8867893" y="6499592"/>
            <a:ext cx="263214" cy="276999"/>
          </a:xfrm>
          <a:prstGeom prst="rect">
            <a:avLst/>
          </a:prstGeom>
          <a:noFill/>
        </p:spPr>
        <p:txBody>
          <a:bodyPr wrap="square" lIns="0" rtlCol="0">
            <a:spAutoFit/>
          </a:bodyPr>
          <a:lstStyle>
            <a:defPPr>
              <a:defRPr lang="en-US"/>
            </a:defPPr>
            <a:lvl1pPr>
              <a:defRPr sz="1200" b="1">
                <a:solidFill>
                  <a:prstClr val="white"/>
                </a:solidFill>
              </a:defRPr>
            </a:lvl1pPr>
          </a:lstStyle>
          <a:p>
            <a:pPr algn="ctr"/>
            <a:fld id="{930AFB57-27B1-4EDC-9D85-71AA30732641}" type="slidenum">
              <a:rPr lang="en-AU"/>
              <a:pPr algn="ctr"/>
              <a:t>14</a:t>
            </a:fld>
            <a:endParaRPr lang="en-AU" dirty="0"/>
          </a:p>
        </p:txBody>
      </p:sp>
      <p:sp>
        <p:nvSpPr>
          <p:cNvPr id="18" name="TextBox 17"/>
          <p:cNvSpPr txBox="1"/>
          <p:nvPr/>
        </p:nvSpPr>
        <p:spPr>
          <a:xfrm>
            <a:off x="251832" y="639607"/>
            <a:ext cx="7200488" cy="557145"/>
          </a:xfrm>
          <a:prstGeom prst="rect">
            <a:avLst/>
          </a:prstGeom>
          <a:noFill/>
          <a:ln>
            <a:solidFill>
              <a:srgbClr val="8CC63F"/>
            </a:solidFill>
          </a:ln>
        </p:spPr>
        <p:txBody>
          <a:bodyPr wrap="square" rtlCol="0" anchor="ctr">
            <a:noAutofit/>
          </a:bodyPr>
          <a:lstStyle/>
          <a:p>
            <a:pPr lvl="0">
              <a:spcBef>
                <a:spcPts val="600"/>
              </a:spcBef>
              <a:defRPr/>
            </a:pPr>
            <a:r>
              <a:rPr lang="en-US" sz="1600" b="1" dirty="0" smtClean="0">
                <a:solidFill>
                  <a:srgbClr val="73A531"/>
                </a:solidFill>
              </a:rPr>
              <a:t>All key ratios are </a:t>
            </a:r>
            <a:r>
              <a:rPr lang="en-US" sz="1600" b="1" dirty="0">
                <a:solidFill>
                  <a:srgbClr val="73A531"/>
                </a:solidFill>
              </a:rPr>
              <a:t>continue with upward  recent </a:t>
            </a:r>
            <a:r>
              <a:rPr lang="en-US" sz="1600" b="1" dirty="0" smtClean="0">
                <a:solidFill>
                  <a:srgbClr val="73A531"/>
                </a:solidFill>
              </a:rPr>
              <a:t>trends.  </a:t>
            </a:r>
            <a:endParaRPr lang="en-US" sz="1600" b="1" dirty="0">
              <a:solidFill>
                <a:srgbClr val="73A531"/>
              </a:solidFill>
            </a:endParaRPr>
          </a:p>
        </p:txBody>
      </p:sp>
      <mc:AlternateContent xmlns:mc="http://schemas.openxmlformats.org/markup-compatibility/2006" xmlns:p14="http://schemas.microsoft.com/office/powerpoint/2010/main">
        <mc:Choice Requires="p14">
          <p:contentPart p14:bwMode="auto" r:id="rId4">
            <p14:nvContentPartPr>
              <p14:cNvPr id="31" name="Ink 30"/>
              <p14:cNvContentPartPr/>
              <p14:nvPr/>
            </p14:nvContentPartPr>
            <p14:xfrm>
              <a:off x="8771550" y="1948263"/>
              <a:ext cx="180" cy="180"/>
            </p14:xfrm>
          </p:contentPart>
        </mc:Choice>
        <mc:Fallback xmlns="">
          <p:pic>
            <p:nvPicPr>
              <p:cNvPr id="31" name="Ink 30"/>
              <p:cNvPicPr/>
              <p:nvPr/>
            </p:nvPicPr>
            <p:blipFill>
              <a:blip r:embed="rId5"/>
              <a:stretch>
                <a:fillRect/>
              </a:stretch>
            </p:blipFill>
            <p:spPr>
              <a:xfrm>
                <a:off x="8770830" y="1947543"/>
                <a:ext cx="1620" cy="16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2" name="Ink 31"/>
              <p14:cNvContentPartPr/>
              <p14:nvPr/>
            </p14:nvContentPartPr>
            <p14:xfrm>
              <a:off x="8781810" y="1979403"/>
              <a:ext cx="180" cy="180"/>
            </p14:xfrm>
          </p:contentPart>
        </mc:Choice>
        <mc:Fallback xmlns="">
          <p:pic>
            <p:nvPicPr>
              <p:cNvPr id="32" name="Ink 31"/>
              <p:cNvPicPr/>
              <p:nvPr/>
            </p:nvPicPr>
            <p:blipFill>
              <a:blip r:embed="rId5"/>
              <a:stretch>
                <a:fillRect/>
              </a:stretch>
            </p:blipFill>
            <p:spPr>
              <a:xfrm>
                <a:off x="8781090" y="1978683"/>
                <a:ext cx="1620" cy="16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3" name="Ink 32"/>
              <p14:cNvContentPartPr/>
              <p14:nvPr/>
            </p14:nvContentPartPr>
            <p14:xfrm>
              <a:off x="8501370" y="1813083"/>
              <a:ext cx="180" cy="180"/>
            </p14:xfrm>
          </p:contentPart>
        </mc:Choice>
        <mc:Fallback xmlns="">
          <p:pic>
            <p:nvPicPr>
              <p:cNvPr id="33" name="Ink 32"/>
              <p:cNvPicPr/>
              <p:nvPr/>
            </p:nvPicPr>
            <p:blipFill>
              <a:blip r:embed="rId8"/>
              <a:stretch>
                <a:fillRect/>
              </a:stretch>
            </p:blipFill>
            <p:spPr>
              <a:xfrm>
                <a:off x="8499750" y="1811463"/>
                <a:ext cx="3420" cy="3420"/>
              </a:xfrm>
              <a:prstGeom prst="rect">
                <a:avLst/>
              </a:prstGeom>
            </p:spPr>
          </p:pic>
        </mc:Fallback>
      </mc:AlternateContent>
      <p:sp>
        <p:nvSpPr>
          <p:cNvPr id="35" name="TextBox 34"/>
          <p:cNvSpPr txBox="1"/>
          <p:nvPr/>
        </p:nvSpPr>
        <p:spPr>
          <a:xfrm>
            <a:off x="260245" y="1412776"/>
            <a:ext cx="3724275" cy="400110"/>
          </a:xfrm>
          <a:prstGeom prst="rect">
            <a:avLst/>
          </a:prstGeom>
          <a:noFill/>
        </p:spPr>
        <p:txBody>
          <a:bodyPr wrap="square" lIns="0" rtlCol="0">
            <a:spAutoFit/>
          </a:bodyPr>
          <a:lstStyle/>
          <a:p>
            <a:r>
              <a:rPr lang="en-AU" sz="2000" b="1" dirty="0" smtClean="0">
                <a:solidFill>
                  <a:srgbClr val="73A531"/>
                </a:solidFill>
              </a:rPr>
              <a:t>COST TO INCOME TREND</a:t>
            </a:r>
            <a:endParaRPr lang="en-AU" dirty="0">
              <a:solidFill>
                <a:srgbClr val="73A531"/>
              </a:solidFill>
            </a:endParaRPr>
          </a:p>
        </p:txBody>
      </p:sp>
      <p:sp>
        <p:nvSpPr>
          <p:cNvPr id="37" name="TextBox 36"/>
          <p:cNvSpPr txBox="1"/>
          <p:nvPr/>
        </p:nvSpPr>
        <p:spPr>
          <a:xfrm>
            <a:off x="4777095" y="1412776"/>
            <a:ext cx="3724275" cy="400110"/>
          </a:xfrm>
          <a:prstGeom prst="rect">
            <a:avLst/>
          </a:prstGeom>
          <a:noFill/>
        </p:spPr>
        <p:txBody>
          <a:bodyPr wrap="square" lIns="0" rtlCol="0">
            <a:spAutoFit/>
          </a:bodyPr>
          <a:lstStyle/>
          <a:p>
            <a:r>
              <a:rPr lang="en-AU" sz="2000" b="1" dirty="0" smtClean="0">
                <a:solidFill>
                  <a:srgbClr val="73A531"/>
                </a:solidFill>
              </a:rPr>
              <a:t>ROE </a:t>
            </a:r>
            <a:r>
              <a:rPr lang="en-AU" dirty="0" smtClean="0">
                <a:solidFill>
                  <a:srgbClr val="73A531"/>
                </a:solidFill>
              </a:rPr>
              <a:t>[annualised]</a:t>
            </a:r>
            <a:endParaRPr lang="en-AU" sz="1600" dirty="0">
              <a:solidFill>
                <a:srgbClr val="73A531"/>
              </a:solidFill>
            </a:endParaRPr>
          </a:p>
        </p:txBody>
      </p:sp>
      <p:sp>
        <p:nvSpPr>
          <p:cNvPr id="38" name="TextBox 37"/>
          <p:cNvSpPr txBox="1"/>
          <p:nvPr/>
        </p:nvSpPr>
        <p:spPr>
          <a:xfrm>
            <a:off x="415677" y="3879751"/>
            <a:ext cx="3724275" cy="400110"/>
          </a:xfrm>
          <a:prstGeom prst="rect">
            <a:avLst/>
          </a:prstGeom>
          <a:noFill/>
        </p:spPr>
        <p:txBody>
          <a:bodyPr wrap="square" lIns="0" rtlCol="0">
            <a:spAutoFit/>
          </a:bodyPr>
          <a:lstStyle/>
          <a:p>
            <a:r>
              <a:rPr lang="en-AU" sz="2000" b="1" dirty="0" smtClean="0">
                <a:solidFill>
                  <a:srgbClr val="73A531"/>
                </a:solidFill>
              </a:rPr>
              <a:t>ROA</a:t>
            </a:r>
            <a:r>
              <a:rPr lang="en-AU" sz="2000" dirty="0" smtClean="0">
                <a:solidFill>
                  <a:srgbClr val="73A531"/>
                </a:solidFill>
              </a:rPr>
              <a:t> [</a:t>
            </a:r>
            <a:r>
              <a:rPr lang="en-AU" dirty="0" smtClean="0">
                <a:solidFill>
                  <a:srgbClr val="73A531"/>
                </a:solidFill>
              </a:rPr>
              <a:t>annualised</a:t>
            </a:r>
            <a:r>
              <a:rPr lang="en-AU" sz="2000" dirty="0" smtClean="0">
                <a:solidFill>
                  <a:srgbClr val="73A531"/>
                </a:solidFill>
              </a:rPr>
              <a:t>]</a:t>
            </a:r>
            <a:endParaRPr lang="en-AU" sz="2000" dirty="0">
              <a:solidFill>
                <a:srgbClr val="73A531"/>
              </a:solidFill>
            </a:endParaRPr>
          </a:p>
        </p:txBody>
      </p:sp>
      <p:sp>
        <p:nvSpPr>
          <p:cNvPr id="39" name="TextBox 38"/>
          <p:cNvSpPr txBox="1"/>
          <p:nvPr/>
        </p:nvSpPr>
        <p:spPr>
          <a:xfrm>
            <a:off x="4777095" y="3879751"/>
            <a:ext cx="3724275" cy="400110"/>
          </a:xfrm>
          <a:prstGeom prst="rect">
            <a:avLst/>
          </a:prstGeom>
          <a:noFill/>
        </p:spPr>
        <p:txBody>
          <a:bodyPr wrap="square" lIns="0" rtlCol="0">
            <a:spAutoFit/>
          </a:bodyPr>
          <a:lstStyle/>
          <a:p>
            <a:r>
              <a:rPr lang="en-AU" sz="2000" b="1" dirty="0" smtClean="0">
                <a:solidFill>
                  <a:srgbClr val="73A531"/>
                </a:solidFill>
              </a:rPr>
              <a:t>LOAN TO DEPOSIT RATIO</a:t>
            </a:r>
            <a:endParaRPr lang="en-AU" sz="2000" b="1" dirty="0">
              <a:solidFill>
                <a:srgbClr val="73A531"/>
              </a:solidFill>
            </a:endParaRPr>
          </a:p>
        </p:txBody>
      </p:sp>
      <p:graphicFrame>
        <p:nvGraphicFramePr>
          <p:cNvPr id="21" name="Chart 20"/>
          <p:cNvGraphicFramePr>
            <a:graphicFrameLocks/>
          </p:cNvGraphicFramePr>
          <p:nvPr>
            <p:extLst>
              <p:ext uri="{D42A27DB-BD31-4B8C-83A1-F6EECF244321}">
                <p14:modId xmlns:p14="http://schemas.microsoft.com/office/powerpoint/2010/main" val="868910222"/>
              </p:ext>
            </p:extLst>
          </p:nvPr>
        </p:nvGraphicFramePr>
        <p:xfrm>
          <a:off x="182528" y="1865211"/>
          <a:ext cx="3879707" cy="2066488"/>
        </p:xfrm>
        <a:graphic>
          <a:graphicData uri="http://schemas.openxmlformats.org/drawingml/2006/chart">
            <c:chart xmlns:c="http://schemas.openxmlformats.org/drawingml/2006/chart" xmlns:r="http://schemas.openxmlformats.org/officeDocument/2006/relationships" r:id="rId9"/>
          </a:graphicData>
        </a:graphic>
      </p:graphicFrame>
      <p:graphicFrame>
        <p:nvGraphicFramePr>
          <p:cNvPr id="23" name="Chart 22"/>
          <p:cNvGraphicFramePr>
            <a:graphicFrameLocks/>
          </p:cNvGraphicFramePr>
          <p:nvPr>
            <p:extLst>
              <p:ext uri="{D42A27DB-BD31-4B8C-83A1-F6EECF244321}">
                <p14:modId xmlns:p14="http://schemas.microsoft.com/office/powerpoint/2010/main" val="2174627124"/>
              </p:ext>
            </p:extLst>
          </p:nvPr>
        </p:nvGraphicFramePr>
        <p:xfrm>
          <a:off x="4356785" y="1830716"/>
          <a:ext cx="4144765" cy="2049035"/>
        </p:xfrm>
        <a:graphic>
          <a:graphicData uri="http://schemas.openxmlformats.org/drawingml/2006/chart">
            <c:chart xmlns:c="http://schemas.openxmlformats.org/drawingml/2006/chart" xmlns:r="http://schemas.openxmlformats.org/officeDocument/2006/relationships" r:id="rId10"/>
          </a:graphicData>
        </a:graphic>
      </p:graphicFrame>
      <p:graphicFrame>
        <p:nvGraphicFramePr>
          <p:cNvPr id="26" name="Chart 25"/>
          <p:cNvGraphicFramePr>
            <a:graphicFrameLocks/>
          </p:cNvGraphicFramePr>
          <p:nvPr>
            <p:extLst>
              <p:ext uri="{D42A27DB-BD31-4B8C-83A1-F6EECF244321}">
                <p14:modId xmlns:p14="http://schemas.microsoft.com/office/powerpoint/2010/main" val="2413669425"/>
              </p:ext>
            </p:extLst>
          </p:nvPr>
        </p:nvGraphicFramePr>
        <p:xfrm>
          <a:off x="4598508" y="4437113"/>
          <a:ext cx="3903042" cy="2039678"/>
        </p:xfrm>
        <a:graphic>
          <a:graphicData uri="http://schemas.openxmlformats.org/drawingml/2006/chart">
            <c:chart xmlns:c="http://schemas.openxmlformats.org/drawingml/2006/chart" xmlns:r="http://schemas.openxmlformats.org/officeDocument/2006/relationships" r:id="rId11"/>
          </a:graphicData>
        </a:graphic>
      </p:graphicFrame>
      <p:sp>
        <p:nvSpPr>
          <p:cNvPr id="27" name="TextBox 26"/>
          <p:cNvSpPr txBox="1"/>
          <p:nvPr/>
        </p:nvSpPr>
        <p:spPr>
          <a:xfrm>
            <a:off x="251832" y="6488848"/>
            <a:ext cx="3096032" cy="276999"/>
          </a:xfrm>
          <a:prstGeom prst="rect">
            <a:avLst/>
          </a:prstGeom>
          <a:noFill/>
        </p:spPr>
        <p:txBody>
          <a:bodyPr wrap="square" lIns="0" rtlCol="0">
            <a:spAutoFit/>
          </a:bodyPr>
          <a:lstStyle/>
          <a:p>
            <a:pPr>
              <a:defRPr/>
            </a:pPr>
            <a:r>
              <a:rPr lang="en-US" sz="1200" b="1" dirty="0" smtClean="0">
                <a:solidFill>
                  <a:prstClr val="white"/>
                </a:solidFill>
              </a:rPr>
              <a:t>INVESTOR PRESENTATION Q2, 2018</a:t>
            </a:r>
            <a:endParaRPr lang="en-AU" sz="1200" b="1" dirty="0">
              <a:solidFill>
                <a:prstClr val="white"/>
              </a:solidFill>
            </a:endParaRPr>
          </a:p>
        </p:txBody>
      </p:sp>
      <p:graphicFrame>
        <p:nvGraphicFramePr>
          <p:cNvPr id="19" name="Chart 18"/>
          <p:cNvGraphicFramePr>
            <a:graphicFrameLocks/>
          </p:cNvGraphicFramePr>
          <p:nvPr>
            <p:extLst>
              <p:ext uri="{D42A27DB-BD31-4B8C-83A1-F6EECF244321}">
                <p14:modId xmlns:p14="http://schemas.microsoft.com/office/powerpoint/2010/main" val="3002772556"/>
              </p:ext>
            </p:extLst>
          </p:nvPr>
        </p:nvGraphicFramePr>
        <p:xfrm>
          <a:off x="106889" y="4472624"/>
          <a:ext cx="4030985" cy="2016224"/>
        </p:xfrm>
        <a:graphic>
          <a:graphicData uri="http://schemas.openxmlformats.org/drawingml/2006/chart">
            <c:chart xmlns:c="http://schemas.openxmlformats.org/drawingml/2006/chart" xmlns:r="http://schemas.openxmlformats.org/officeDocument/2006/relationships" r:id="rId12"/>
          </a:graphicData>
        </a:graphic>
      </p:graphicFrame>
    </p:spTree>
    <p:extLst>
      <p:ext uri="{BB962C8B-B14F-4D97-AF65-F5344CB8AC3E}">
        <p14:creationId xmlns:p14="http://schemas.microsoft.com/office/powerpoint/2010/main" val="10407988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93" y="20347"/>
            <a:ext cx="9144000" cy="685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TextBox 4"/>
          <p:cNvSpPr txBox="1">
            <a:spLocks noChangeArrowheads="1"/>
          </p:cNvSpPr>
          <p:nvPr/>
        </p:nvSpPr>
        <p:spPr bwMode="auto">
          <a:xfrm>
            <a:off x="251832" y="44624"/>
            <a:ext cx="720048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rIns="0">
            <a:spAutoFit/>
          </a:bodyPr>
          <a:lstStyle>
            <a:lvl1pPr defTabSz="457200" eaLnBrk="0" hangingPunct="0">
              <a:defRPr>
                <a:solidFill>
                  <a:schemeClr val="tx1"/>
                </a:solidFill>
                <a:latin typeface="Arial" pitchFamily="34" charset="0"/>
              </a:defRPr>
            </a:lvl1pPr>
            <a:lvl2pPr marL="742950" indent="-285750" defTabSz="457200" eaLnBrk="0" hangingPunct="0">
              <a:defRPr>
                <a:solidFill>
                  <a:schemeClr val="tx1"/>
                </a:solidFill>
                <a:latin typeface="Arial" pitchFamily="34" charset="0"/>
              </a:defRPr>
            </a:lvl2pPr>
            <a:lvl3pPr marL="1143000" indent="-228600" defTabSz="457200" eaLnBrk="0" hangingPunct="0">
              <a:defRPr>
                <a:solidFill>
                  <a:schemeClr val="tx1"/>
                </a:solidFill>
                <a:latin typeface="Arial" pitchFamily="34" charset="0"/>
              </a:defRPr>
            </a:lvl3pPr>
            <a:lvl4pPr marL="1600200" indent="-228600" defTabSz="457200" eaLnBrk="0" hangingPunct="0">
              <a:defRPr>
                <a:solidFill>
                  <a:schemeClr val="tx1"/>
                </a:solidFill>
                <a:latin typeface="Arial" pitchFamily="34" charset="0"/>
              </a:defRPr>
            </a:lvl4pPr>
            <a:lvl5pPr marL="2057400" indent="-228600" defTabSz="457200" eaLnBrk="0" hangingPunct="0">
              <a:defRPr>
                <a:solidFill>
                  <a:schemeClr val="tx1"/>
                </a:solidFill>
                <a:latin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defRPr>
            </a:lvl9pPr>
          </a:lstStyle>
          <a:p>
            <a:pPr eaLnBrk="1" hangingPunct="1"/>
            <a:r>
              <a:rPr lang="en-US" altLang="en-US" sz="2800" b="1" dirty="0">
                <a:solidFill>
                  <a:srgbClr val="92D050"/>
                </a:solidFill>
                <a:cs typeface="Arial" pitchFamily="34" charset="0"/>
              </a:rPr>
              <a:t>Group key </a:t>
            </a:r>
            <a:r>
              <a:rPr lang="en-US" altLang="en-US" sz="2800" b="1" dirty="0" smtClean="0">
                <a:solidFill>
                  <a:srgbClr val="92D050"/>
                </a:solidFill>
                <a:cs typeface="Arial" pitchFamily="34" charset="0"/>
              </a:rPr>
              <a:t>risk ratios </a:t>
            </a:r>
            <a:r>
              <a:rPr lang="en-US" altLang="en-US" sz="2800" dirty="0" smtClean="0">
                <a:solidFill>
                  <a:srgbClr val="92D050"/>
                </a:solidFill>
                <a:cs typeface="Arial" pitchFamily="34" charset="0"/>
              </a:rPr>
              <a:t>[Q2-2018]</a:t>
            </a:r>
            <a:endParaRPr lang="en-US" altLang="en-US" sz="2800" dirty="0">
              <a:solidFill>
                <a:srgbClr val="92D050"/>
              </a:solidFill>
              <a:cs typeface="Arial" pitchFamily="34" charset="0"/>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AU"/>
          </a:p>
        </p:txBody>
      </p:sp>
      <p:sp>
        <p:nvSpPr>
          <p:cNvPr id="8" name="TextBox 7"/>
          <p:cNvSpPr txBox="1"/>
          <p:nvPr/>
        </p:nvSpPr>
        <p:spPr>
          <a:xfrm>
            <a:off x="8867893" y="6499592"/>
            <a:ext cx="263214" cy="276999"/>
          </a:xfrm>
          <a:prstGeom prst="rect">
            <a:avLst/>
          </a:prstGeom>
          <a:noFill/>
        </p:spPr>
        <p:txBody>
          <a:bodyPr wrap="square" lIns="0" rtlCol="0">
            <a:spAutoFit/>
          </a:bodyPr>
          <a:lstStyle>
            <a:defPPr>
              <a:defRPr lang="en-US"/>
            </a:defPPr>
            <a:lvl1pPr>
              <a:defRPr sz="1200" b="1">
                <a:solidFill>
                  <a:prstClr val="white"/>
                </a:solidFill>
              </a:defRPr>
            </a:lvl1pPr>
          </a:lstStyle>
          <a:p>
            <a:pPr algn="ctr"/>
            <a:fld id="{930AFB57-27B1-4EDC-9D85-71AA30732641}" type="slidenum">
              <a:rPr lang="en-AU"/>
              <a:pPr algn="ctr"/>
              <a:t>15</a:t>
            </a:fld>
            <a:endParaRPr lang="en-AU" dirty="0"/>
          </a:p>
        </p:txBody>
      </p:sp>
      <p:sp>
        <p:nvSpPr>
          <p:cNvPr id="18" name="TextBox 17"/>
          <p:cNvSpPr txBox="1"/>
          <p:nvPr/>
        </p:nvSpPr>
        <p:spPr>
          <a:xfrm>
            <a:off x="251832" y="639607"/>
            <a:ext cx="7200488" cy="557145"/>
          </a:xfrm>
          <a:prstGeom prst="rect">
            <a:avLst/>
          </a:prstGeom>
          <a:noFill/>
          <a:ln>
            <a:solidFill>
              <a:srgbClr val="8CC63F"/>
            </a:solidFill>
          </a:ln>
        </p:spPr>
        <p:txBody>
          <a:bodyPr wrap="square" rtlCol="0" anchor="ctr">
            <a:noAutofit/>
          </a:bodyPr>
          <a:lstStyle/>
          <a:p>
            <a:pPr lvl="0">
              <a:spcBef>
                <a:spcPts val="600"/>
              </a:spcBef>
              <a:defRPr/>
            </a:pPr>
            <a:r>
              <a:rPr lang="en-US" sz="1600" b="1" dirty="0" smtClean="0">
                <a:solidFill>
                  <a:srgbClr val="73A531"/>
                </a:solidFill>
              </a:rPr>
              <a:t>Our risk ratios remain </a:t>
            </a:r>
            <a:r>
              <a:rPr lang="en-US" sz="1600" b="1" dirty="0">
                <a:solidFill>
                  <a:srgbClr val="73A531"/>
                </a:solidFill>
              </a:rPr>
              <a:t>stable and </a:t>
            </a:r>
            <a:r>
              <a:rPr lang="en-US" sz="1600" b="1" dirty="0" smtClean="0">
                <a:solidFill>
                  <a:srgbClr val="73A531"/>
                </a:solidFill>
              </a:rPr>
              <a:t>asset </a:t>
            </a:r>
            <a:r>
              <a:rPr lang="en-US" sz="1600" b="1" dirty="0">
                <a:solidFill>
                  <a:srgbClr val="73A531"/>
                </a:solidFill>
              </a:rPr>
              <a:t>quality remains sound</a:t>
            </a:r>
          </a:p>
        </p:txBody>
      </p:sp>
      <p:sp>
        <p:nvSpPr>
          <p:cNvPr id="35" name="TextBox 34"/>
          <p:cNvSpPr txBox="1"/>
          <p:nvPr/>
        </p:nvSpPr>
        <p:spPr>
          <a:xfrm>
            <a:off x="260245" y="1412776"/>
            <a:ext cx="3724275" cy="400110"/>
          </a:xfrm>
          <a:prstGeom prst="rect">
            <a:avLst/>
          </a:prstGeom>
          <a:noFill/>
        </p:spPr>
        <p:txBody>
          <a:bodyPr wrap="square" lIns="0" rtlCol="0">
            <a:spAutoFit/>
          </a:bodyPr>
          <a:lstStyle/>
          <a:p>
            <a:r>
              <a:rPr lang="en-AU" sz="2000" b="1" dirty="0" smtClean="0">
                <a:solidFill>
                  <a:srgbClr val="73A531"/>
                </a:solidFill>
              </a:rPr>
              <a:t>CAPITAL ADEQUACY</a:t>
            </a:r>
            <a:endParaRPr lang="en-AU" sz="2000" b="1" dirty="0">
              <a:solidFill>
                <a:srgbClr val="73A531"/>
              </a:solidFill>
            </a:endParaRPr>
          </a:p>
        </p:txBody>
      </p:sp>
      <p:sp>
        <p:nvSpPr>
          <p:cNvPr id="38" name="TextBox 37"/>
          <p:cNvSpPr txBox="1"/>
          <p:nvPr/>
        </p:nvSpPr>
        <p:spPr>
          <a:xfrm>
            <a:off x="260245" y="3879751"/>
            <a:ext cx="3724275" cy="400110"/>
          </a:xfrm>
          <a:prstGeom prst="rect">
            <a:avLst/>
          </a:prstGeom>
          <a:noFill/>
        </p:spPr>
        <p:txBody>
          <a:bodyPr wrap="square" lIns="0" rtlCol="0">
            <a:spAutoFit/>
          </a:bodyPr>
          <a:lstStyle/>
          <a:p>
            <a:r>
              <a:rPr lang="en-AU" sz="2000" b="1" dirty="0" smtClean="0">
                <a:solidFill>
                  <a:srgbClr val="73A531"/>
                </a:solidFill>
              </a:rPr>
              <a:t>PROVISIONS TO LOANS</a:t>
            </a:r>
            <a:endParaRPr lang="en-AU" sz="2000" b="1" dirty="0">
              <a:solidFill>
                <a:srgbClr val="73A531"/>
              </a:solidFill>
            </a:endParaRPr>
          </a:p>
        </p:txBody>
      </p:sp>
      <p:sp>
        <p:nvSpPr>
          <p:cNvPr id="15" name="TextBox 14"/>
          <p:cNvSpPr txBox="1"/>
          <p:nvPr/>
        </p:nvSpPr>
        <p:spPr>
          <a:xfrm>
            <a:off x="5940152" y="1412776"/>
            <a:ext cx="2927741" cy="489388"/>
          </a:xfrm>
          <a:prstGeom prst="roundRect">
            <a:avLst/>
          </a:prstGeom>
          <a:solidFill>
            <a:srgbClr val="78AB33"/>
          </a:solidFill>
          <a:ln>
            <a:solidFill>
              <a:srgbClr val="78AB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defRPr sz="1600" b="1">
                <a:solidFill>
                  <a:schemeClr val="bg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AU" dirty="0" smtClean="0"/>
              <a:t>HIGHLIGHTS </a:t>
            </a:r>
            <a:endParaRPr lang="en-AU" dirty="0"/>
          </a:p>
        </p:txBody>
      </p:sp>
      <p:sp>
        <p:nvSpPr>
          <p:cNvPr id="16" name="Rounded Rectangle 15"/>
          <p:cNvSpPr/>
          <p:nvPr/>
        </p:nvSpPr>
        <p:spPr>
          <a:xfrm>
            <a:off x="5930133" y="1988840"/>
            <a:ext cx="3017677" cy="4320480"/>
          </a:xfrm>
          <a:prstGeom prst="roundRect">
            <a:avLst>
              <a:gd name="adj" fmla="val 2157"/>
            </a:avLst>
          </a:prstGeom>
          <a:noFill/>
          <a:ln w="9525" cmpd="sng">
            <a:noFill/>
            <a:miter lim="800000"/>
            <a:headEnd/>
            <a:tailEnd/>
          </a:ln>
        </p:spPr>
        <p:txBody>
          <a:bodyPr lIns="0">
            <a:noAutofit/>
          </a:bodyPr>
          <a:lstStyle/>
          <a:p>
            <a:pPr marL="179388" indent="-179388" defTabSz="457200">
              <a:spcBef>
                <a:spcPts val="1200"/>
              </a:spcBef>
              <a:buClr>
                <a:srgbClr val="8CC63F"/>
              </a:buClr>
              <a:buSzPct val="124000"/>
              <a:buFont typeface="Calibri" panose="020F0502020204030204" pitchFamily="34" charset="0"/>
              <a:buChar char="●"/>
            </a:pPr>
            <a:r>
              <a:rPr lang="en-US" sz="1200" b="1" dirty="0" smtClean="0">
                <a:solidFill>
                  <a:schemeClr val="bg2">
                    <a:lumMod val="25000"/>
                  </a:schemeClr>
                </a:solidFill>
              </a:rPr>
              <a:t>BSP’s </a:t>
            </a:r>
            <a:r>
              <a:rPr lang="en-US" sz="1200" b="1" dirty="0">
                <a:solidFill>
                  <a:schemeClr val="bg2">
                    <a:lumMod val="25000"/>
                  </a:schemeClr>
                </a:solidFill>
              </a:rPr>
              <a:t>c</a:t>
            </a:r>
            <a:r>
              <a:rPr lang="en-US" sz="1200" b="1" dirty="0" smtClean="0">
                <a:solidFill>
                  <a:schemeClr val="bg2">
                    <a:lumMod val="25000"/>
                  </a:schemeClr>
                </a:solidFill>
              </a:rPr>
              <a:t>apital </a:t>
            </a:r>
            <a:r>
              <a:rPr lang="en-US" sz="1200" b="1" dirty="0">
                <a:solidFill>
                  <a:schemeClr val="bg2">
                    <a:lumMod val="25000"/>
                  </a:schemeClr>
                </a:solidFill>
              </a:rPr>
              <a:t>a</a:t>
            </a:r>
            <a:r>
              <a:rPr lang="en-US" sz="1200" b="1" dirty="0" smtClean="0">
                <a:solidFill>
                  <a:schemeClr val="bg2">
                    <a:lumMod val="25000"/>
                  </a:schemeClr>
                </a:solidFill>
              </a:rPr>
              <a:t>dequacy </a:t>
            </a:r>
            <a:r>
              <a:rPr lang="en-US" sz="1200" b="1" dirty="0">
                <a:solidFill>
                  <a:schemeClr val="bg2">
                    <a:lumMod val="25000"/>
                  </a:schemeClr>
                </a:solidFill>
              </a:rPr>
              <a:t>ratio declined slightly to </a:t>
            </a:r>
            <a:r>
              <a:rPr lang="en-US" sz="1200" b="1" dirty="0" smtClean="0">
                <a:solidFill>
                  <a:schemeClr val="bg2">
                    <a:lumMod val="25000"/>
                  </a:schemeClr>
                </a:solidFill>
              </a:rPr>
              <a:t>22.7</a:t>
            </a:r>
            <a:r>
              <a:rPr lang="en-US" sz="1200" b="1" dirty="0">
                <a:solidFill>
                  <a:schemeClr val="bg2">
                    <a:lumMod val="25000"/>
                  </a:schemeClr>
                </a:solidFill>
              </a:rPr>
              <a:t>% in Q2-18, due to dividend </a:t>
            </a:r>
            <a:r>
              <a:rPr lang="en-US" sz="1200" b="1" dirty="0" smtClean="0">
                <a:solidFill>
                  <a:schemeClr val="bg2">
                    <a:lumMod val="25000"/>
                  </a:schemeClr>
                </a:solidFill>
              </a:rPr>
              <a:t>payout … but remains well </a:t>
            </a:r>
            <a:r>
              <a:rPr lang="en-US" sz="1200" b="1" dirty="0">
                <a:solidFill>
                  <a:schemeClr val="bg2">
                    <a:lumMod val="25000"/>
                  </a:schemeClr>
                </a:solidFill>
              </a:rPr>
              <a:t>in excess of the 12% prudential requirement.</a:t>
            </a:r>
          </a:p>
          <a:p>
            <a:pPr marL="179388" indent="-179388" defTabSz="457200">
              <a:spcBef>
                <a:spcPts val="1200"/>
              </a:spcBef>
              <a:buClr>
                <a:srgbClr val="8CC63F"/>
              </a:buClr>
              <a:buSzPct val="124000"/>
              <a:buFont typeface="Calibri" panose="020F0502020204030204" pitchFamily="34" charset="0"/>
              <a:buChar char="●"/>
            </a:pPr>
            <a:r>
              <a:rPr lang="en-US" sz="1200" b="1" dirty="0">
                <a:solidFill>
                  <a:schemeClr val="bg2">
                    <a:lumMod val="25000"/>
                  </a:schemeClr>
                </a:solidFill>
              </a:rPr>
              <a:t>BSP’s Provisions to Loans ratio  in Q2-18 improved from the previous quarter to 4.7%  </a:t>
            </a:r>
            <a:r>
              <a:rPr lang="en-US" sz="1200" b="1" dirty="0" smtClean="0">
                <a:solidFill>
                  <a:schemeClr val="bg2">
                    <a:lumMod val="25000"/>
                  </a:schemeClr>
                </a:solidFill>
              </a:rPr>
              <a:t>… due to </a:t>
            </a:r>
            <a:r>
              <a:rPr lang="en-US" sz="1200" b="1" dirty="0">
                <a:solidFill>
                  <a:schemeClr val="bg2">
                    <a:lumMod val="25000"/>
                  </a:schemeClr>
                </a:solidFill>
              </a:rPr>
              <a:t>an increase in </a:t>
            </a:r>
            <a:r>
              <a:rPr lang="en-US" sz="1200" b="1" dirty="0" smtClean="0">
                <a:solidFill>
                  <a:schemeClr val="bg2">
                    <a:lumMod val="25000"/>
                  </a:schemeClr>
                </a:solidFill>
              </a:rPr>
              <a:t>gross loans, coupled </a:t>
            </a:r>
            <a:r>
              <a:rPr lang="en-US" sz="1200" b="1" dirty="0">
                <a:solidFill>
                  <a:schemeClr val="bg2">
                    <a:lumMod val="25000"/>
                  </a:schemeClr>
                </a:solidFill>
              </a:rPr>
              <a:t>with minimal change </a:t>
            </a:r>
            <a:r>
              <a:rPr lang="en-US" sz="1200" b="1" dirty="0" smtClean="0">
                <a:solidFill>
                  <a:schemeClr val="bg2">
                    <a:lumMod val="25000"/>
                  </a:schemeClr>
                </a:solidFill>
              </a:rPr>
              <a:t>to </a:t>
            </a:r>
            <a:r>
              <a:rPr lang="en-US" sz="1200" b="1" dirty="0">
                <a:solidFill>
                  <a:schemeClr val="bg2">
                    <a:lumMod val="25000"/>
                  </a:schemeClr>
                </a:solidFill>
              </a:rPr>
              <a:t>provisions. </a:t>
            </a:r>
            <a:endParaRPr lang="en-US" sz="1200" b="1" dirty="0" smtClean="0">
              <a:solidFill>
                <a:schemeClr val="bg2">
                  <a:lumMod val="25000"/>
                </a:schemeClr>
              </a:solidFill>
            </a:endParaRPr>
          </a:p>
          <a:p>
            <a:pPr marL="179388" indent="-179388" defTabSz="457200">
              <a:spcBef>
                <a:spcPts val="1200"/>
              </a:spcBef>
              <a:buClr>
                <a:srgbClr val="8CC63F"/>
              </a:buClr>
              <a:buSzPct val="124000"/>
              <a:buFont typeface="Calibri" panose="020F0502020204030204" pitchFamily="34" charset="0"/>
              <a:buChar char="●"/>
            </a:pPr>
            <a:r>
              <a:rPr lang="en-US" sz="1200" b="1" dirty="0">
                <a:solidFill>
                  <a:schemeClr val="bg2">
                    <a:lumMod val="25000"/>
                  </a:schemeClr>
                </a:solidFill>
              </a:rPr>
              <a:t>BSP’s prudent provisioning policies has ensured that the banks operating results are not adversely impacted as a result of the transition to IFRS 9.  Management overlay provisions taken up in anticipation of IFRS 9 have adequately catered for the changes in required provisions under the new standard, while residual overlay provisions have been largely retained as ‘model adjustments’, to cater for factors outside the IFRS 9 model </a:t>
            </a:r>
            <a:r>
              <a:rPr lang="en-US" sz="1200" b="1" dirty="0" smtClean="0">
                <a:solidFill>
                  <a:schemeClr val="bg2">
                    <a:lumMod val="25000"/>
                  </a:schemeClr>
                </a:solidFill>
              </a:rPr>
              <a:t>assumptions</a:t>
            </a:r>
            <a:endParaRPr lang="en-US" sz="1200" b="1" dirty="0">
              <a:solidFill>
                <a:schemeClr val="bg2">
                  <a:lumMod val="25000"/>
                </a:schemeClr>
              </a:solidFill>
            </a:endParaRPr>
          </a:p>
        </p:txBody>
      </p:sp>
      <p:sp>
        <p:nvSpPr>
          <p:cNvPr id="7" name="Right Bracket 6"/>
          <p:cNvSpPr/>
          <p:nvPr/>
        </p:nvSpPr>
        <p:spPr>
          <a:xfrm>
            <a:off x="4528194" y="2149579"/>
            <a:ext cx="228251" cy="1045029"/>
          </a:xfrm>
          <a:prstGeom prst="rightBracket">
            <a:avLst/>
          </a:prstGeom>
          <a:ln>
            <a:solidFill>
              <a:srgbClr val="8CC63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AU"/>
          </a:p>
        </p:txBody>
      </p:sp>
      <p:cxnSp>
        <p:nvCxnSpPr>
          <p:cNvPr id="12" name="Straight Connector 11"/>
          <p:cNvCxnSpPr>
            <a:stCxn id="7" idx="2"/>
          </p:cNvCxnSpPr>
          <p:nvPr/>
        </p:nvCxnSpPr>
        <p:spPr>
          <a:xfrm flipV="1">
            <a:off x="4756445" y="2672093"/>
            <a:ext cx="204108" cy="1"/>
          </a:xfrm>
          <a:prstGeom prst="line">
            <a:avLst/>
          </a:prstGeom>
          <a:ln>
            <a:solidFill>
              <a:srgbClr val="8CC63F"/>
            </a:solidFill>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4930006" y="2502818"/>
            <a:ext cx="832757" cy="338554"/>
          </a:xfrm>
          <a:prstGeom prst="rect">
            <a:avLst/>
          </a:prstGeom>
          <a:noFill/>
        </p:spPr>
        <p:txBody>
          <a:bodyPr wrap="square" rtlCol="0">
            <a:spAutoFit/>
          </a:bodyPr>
          <a:lstStyle/>
          <a:p>
            <a:r>
              <a:rPr lang="en-AU" sz="1600" b="1" dirty="0" smtClean="0">
                <a:solidFill>
                  <a:srgbClr val="344A16"/>
                </a:solidFill>
              </a:rPr>
              <a:t>22.7%</a:t>
            </a:r>
            <a:endParaRPr lang="en-AU" sz="1600" b="1" dirty="0">
              <a:solidFill>
                <a:srgbClr val="344A16"/>
              </a:solidFill>
            </a:endParaRPr>
          </a:p>
        </p:txBody>
      </p:sp>
      <p:sp>
        <p:nvSpPr>
          <p:cNvPr id="20" name="TextBox 19"/>
          <p:cNvSpPr txBox="1"/>
          <p:nvPr/>
        </p:nvSpPr>
        <p:spPr>
          <a:xfrm>
            <a:off x="251832" y="6488848"/>
            <a:ext cx="3096032" cy="276999"/>
          </a:xfrm>
          <a:prstGeom prst="rect">
            <a:avLst/>
          </a:prstGeom>
          <a:noFill/>
        </p:spPr>
        <p:txBody>
          <a:bodyPr wrap="square" lIns="0" rtlCol="0">
            <a:spAutoFit/>
          </a:bodyPr>
          <a:lstStyle/>
          <a:p>
            <a:pPr>
              <a:defRPr/>
            </a:pPr>
            <a:r>
              <a:rPr lang="en-US" sz="1200" b="1" dirty="0" smtClean="0">
                <a:solidFill>
                  <a:prstClr val="white"/>
                </a:solidFill>
              </a:rPr>
              <a:t>INVESTOR PRESENTATION Q2, 2018</a:t>
            </a:r>
            <a:endParaRPr lang="en-AU" sz="1200" b="1" dirty="0">
              <a:solidFill>
                <a:prstClr val="white"/>
              </a:solidFill>
            </a:endParaRPr>
          </a:p>
        </p:txBody>
      </p:sp>
      <p:graphicFrame>
        <p:nvGraphicFramePr>
          <p:cNvPr id="21" name="Chart 20"/>
          <p:cNvGraphicFramePr>
            <a:graphicFrameLocks/>
          </p:cNvGraphicFramePr>
          <p:nvPr>
            <p:extLst>
              <p:ext uri="{D42A27DB-BD31-4B8C-83A1-F6EECF244321}">
                <p14:modId xmlns:p14="http://schemas.microsoft.com/office/powerpoint/2010/main" val="1444138673"/>
              </p:ext>
            </p:extLst>
          </p:nvPr>
        </p:nvGraphicFramePr>
        <p:xfrm>
          <a:off x="138488" y="1692414"/>
          <a:ext cx="4549092" cy="2075017"/>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2" name="Chart 21"/>
          <p:cNvGraphicFramePr>
            <a:graphicFrameLocks/>
          </p:cNvGraphicFramePr>
          <p:nvPr>
            <p:extLst>
              <p:ext uri="{D42A27DB-BD31-4B8C-83A1-F6EECF244321}">
                <p14:modId xmlns:p14="http://schemas.microsoft.com/office/powerpoint/2010/main" val="912363464"/>
              </p:ext>
            </p:extLst>
          </p:nvPr>
        </p:nvGraphicFramePr>
        <p:xfrm>
          <a:off x="-92029" y="4079806"/>
          <a:ext cx="4848474" cy="2113735"/>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378458139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12" y="-27384"/>
            <a:ext cx="9144000" cy="685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TextBox 4"/>
          <p:cNvSpPr txBox="1">
            <a:spLocks noChangeArrowheads="1"/>
          </p:cNvSpPr>
          <p:nvPr/>
        </p:nvSpPr>
        <p:spPr bwMode="auto">
          <a:xfrm>
            <a:off x="251832" y="44624"/>
            <a:ext cx="720048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rIns="0">
            <a:spAutoFit/>
          </a:bodyPr>
          <a:lstStyle>
            <a:lvl1pPr defTabSz="457200" eaLnBrk="0" hangingPunct="0">
              <a:defRPr>
                <a:solidFill>
                  <a:schemeClr val="tx1"/>
                </a:solidFill>
                <a:latin typeface="Arial" pitchFamily="34" charset="0"/>
              </a:defRPr>
            </a:lvl1pPr>
            <a:lvl2pPr marL="742950" indent="-285750" defTabSz="457200" eaLnBrk="0" hangingPunct="0">
              <a:defRPr>
                <a:solidFill>
                  <a:schemeClr val="tx1"/>
                </a:solidFill>
                <a:latin typeface="Arial" pitchFamily="34" charset="0"/>
              </a:defRPr>
            </a:lvl2pPr>
            <a:lvl3pPr marL="1143000" indent="-228600" defTabSz="457200" eaLnBrk="0" hangingPunct="0">
              <a:defRPr>
                <a:solidFill>
                  <a:schemeClr val="tx1"/>
                </a:solidFill>
                <a:latin typeface="Arial" pitchFamily="34" charset="0"/>
              </a:defRPr>
            </a:lvl3pPr>
            <a:lvl4pPr marL="1600200" indent="-228600" defTabSz="457200" eaLnBrk="0" hangingPunct="0">
              <a:defRPr>
                <a:solidFill>
                  <a:schemeClr val="tx1"/>
                </a:solidFill>
                <a:latin typeface="Arial" pitchFamily="34" charset="0"/>
              </a:defRPr>
            </a:lvl4pPr>
            <a:lvl5pPr marL="2057400" indent="-228600" defTabSz="457200" eaLnBrk="0" hangingPunct="0">
              <a:defRPr>
                <a:solidFill>
                  <a:schemeClr val="tx1"/>
                </a:solidFill>
                <a:latin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defRPr>
            </a:lvl9pPr>
          </a:lstStyle>
          <a:p>
            <a:pPr eaLnBrk="1" hangingPunct="1"/>
            <a:r>
              <a:rPr lang="en-US" altLang="en-US" sz="2800" b="1" dirty="0" smtClean="0">
                <a:solidFill>
                  <a:srgbClr val="92D050"/>
                </a:solidFill>
                <a:cs typeface="Arial" pitchFamily="34" charset="0"/>
              </a:rPr>
              <a:t>Channels </a:t>
            </a:r>
            <a:r>
              <a:rPr lang="en-US" altLang="en-US" sz="2800" dirty="0" smtClean="0">
                <a:solidFill>
                  <a:srgbClr val="92D050"/>
                </a:solidFill>
                <a:cs typeface="Arial" pitchFamily="34" charset="0"/>
              </a:rPr>
              <a:t>[Q2-2018]</a:t>
            </a:r>
            <a:endParaRPr lang="en-US" altLang="en-US" sz="2800" dirty="0">
              <a:solidFill>
                <a:srgbClr val="92D050"/>
              </a:solidFill>
              <a:cs typeface="Arial" pitchFamily="34" charset="0"/>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AU"/>
          </a:p>
        </p:txBody>
      </p:sp>
      <p:sp>
        <p:nvSpPr>
          <p:cNvPr id="8" name="TextBox 7"/>
          <p:cNvSpPr txBox="1"/>
          <p:nvPr/>
        </p:nvSpPr>
        <p:spPr>
          <a:xfrm>
            <a:off x="8867893" y="6499592"/>
            <a:ext cx="263214" cy="276999"/>
          </a:xfrm>
          <a:prstGeom prst="rect">
            <a:avLst/>
          </a:prstGeom>
          <a:noFill/>
        </p:spPr>
        <p:txBody>
          <a:bodyPr wrap="square" lIns="0" rtlCol="0">
            <a:spAutoFit/>
          </a:bodyPr>
          <a:lstStyle>
            <a:defPPr>
              <a:defRPr lang="en-US"/>
            </a:defPPr>
            <a:lvl1pPr>
              <a:defRPr sz="1200" b="1">
                <a:solidFill>
                  <a:prstClr val="white"/>
                </a:solidFill>
              </a:defRPr>
            </a:lvl1pPr>
          </a:lstStyle>
          <a:p>
            <a:pPr algn="ctr"/>
            <a:fld id="{930AFB57-27B1-4EDC-9D85-71AA30732641}" type="slidenum">
              <a:rPr lang="en-AU"/>
              <a:pPr algn="ctr"/>
              <a:t>16</a:t>
            </a:fld>
            <a:endParaRPr lang="en-AU" dirty="0"/>
          </a:p>
        </p:txBody>
      </p:sp>
      <p:sp>
        <p:nvSpPr>
          <p:cNvPr id="18" name="TextBox 17"/>
          <p:cNvSpPr txBox="1"/>
          <p:nvPr/>
        </p:nvSpPr>
        <p:spPr>
          <a:xfrm>
            <a:off x="251832" y="639606"/>
            <a:ext cx="7416512" cy="1205218"/>
          </a:xfrm>
          <a:prstGeom prst="rect">
            <a:avLst/>
          </a:prstGeom>
          <a:noFill/>
          <a:ln>
            <a:solidFill>
              <a:srgbClr val="8CC63F"/>
            </a:solidFill>
          </a:ln>
        </p:spPr>
        <p:txBody>
          <a:bodyPr wrap="square" rtlCol="0" anchor="ctr">
            <a:noAutofit/>
          </a:bodyPr>
          <a:lstStyle/>
          <a:p>
            <a:pPr lvl="0">
              <a:spcBef>
                <a:spcPts val="600"/>
              </a:spcBef>
              <a:defRPr/>
            </a:pPr>
            <a:r>
              <a:rPr lang="en-US" sz="1600" b="1" dirty="0" smtClean="0">
                <a:solidFill>
                  <a:srgbClr val="73A531"/>
                </a:solidFill>
              </a:rPr>
              <a:t>Mobile banking is our </a:t>
            </a:r>
            <a:r>
              <a:rPr lang="en-US" sz="1600" b="1" dirty="0">
                <a:solidFill>
                  <a:srgbClr val="73A531"/>
                </a:solidFill>
              </a:rPr>
              <a:t>leading [</a:t>
            </a:r>
            <a:r>
              <a:rPr lang="en-US" sz="1600" b="1" dirty="0" smtClean="0">
                <a:solidFill>
                  <a:srgbClr val="73A531"/>
                </a:solidFill>
              </a:rPr>
              <a:t>33%] channel, with branches representing only 13% of total transactions in </a:t>
            </a:r>
            <a:r>
              <a:rPr lang="en-US" sz="1600" b="1" dirty="0">
                <a:solidFill>
                  <a:srgbClr val="73A531"/>
                </a:solidFill>
              </a:rPr>
              <a:t>Q2-2018 </a:t>
            </a:r>
            <a:r>
              <a:rPr lang="en-US" sz="1600" b="1" dirty="0" smtClean="0">
                <a:solidFill>
                  <a:srgbClr val="73A531"/>
                </a:solidFill>
              </a:rPr>
              <a:t>… given continued focus to reduce customers cash </a:t>
            </a:r>
            <a:r>
              <a:rPr lang="en-US" sz="1600" b="1" dirty="0">
                <a:solidFill>
                  <a:srgbClr val="73A531"/>
                </a:solidFill>
              </a:rPr>
              <a:t>dependency </a:t>
            </a:r>
            <a:r>
              <a:rPr lang="en-US" sz="1600" b="1" dirty="0" smtClean="0">
                <a:solidFill>
                  <a:srgbClr val="73A531"/>
                </a:solidFill>
              </a:rPr>
              <a:t>[in-line with our digital strategy] </a:t>
            </a:r>
            <a:r>
              <a:rPr lang="en-US" sz="1600" b="1" dirty="0">
                <a:solidFill>
                  <a:srgbClr val="73A531"/>
                </a:solidFill>
              </a:rPr>
              <a:t>with </a:t>
            </a:r>
            <a:r>
              <a:rPr lang="en-US" sz="1600" b="1" dirty="0" smtClean="0">
                <a:solidFill>
                  <a:srgbClr val="73A531"/>
                </a:solidFill>
              </a:rPr>
              <a:t>ongoing investment in EFTPOS, internet and mobile banking. </a:t>
            </a:r>
            <a:endParaRPr lang="en-US" sz="1600" b="1" dirty="0">
              <a:solidFill>
                <a:srgbClr val="73A531"/>
              </a:solidFill>
            </a:endParaRPr>
          </a:p>
        </p:txBody>
      </p:sp>
      <p:sp>
        <p:nvSpPr>
          <p:cNvPr id="52" name="TextBox 51"/>
          <p:cNvSpPr txBox="1"/>
          <p:nvPr/>
        </p:nvSpPr>
        <p:spPr>
          <a:xfrm>
            <a:off x="235813" y="1844824"/>
            <a:ext cx="3724275" cy="677108"/>
          </a:xfrm>
          <a:prstGeom prst="rect">
            <a:avLst/>
          </a:prstGeom>
          <a:noFill/>
        </p:spPr>
        <p:txBody>
          <a:bodyPr wrap="square" lIns="0" rtlCol="0">
            <a:spAutoFit/>
          </a:bodyPr>
          <a:lstStyle/>
          <a:p>
            <a:r>
              <a:rPr lang="en-AU" sz="2000" b="1" dirty="0" smtClean="0">
                <a:solidFill>
                  <a:srgbClr val="73A531"/>
                </a:solidFill>
              </a:rPr>
              <a:t>QUARTERLY CHANNEL TRENDS</a:t>
            </a:r>
            <a:br>
              <a:rPr lang="en-AU" sz="2000" b="1" dirty="0" smtClean="0">
                <a:solidFill>
                  <a:srgbClr val="73A531"/>
                </a:solidFill>
              </a:rPr>
            </a:br>
            <a:r>
              <a:rPr lang="en-AU" dirty="0" smtClean="0">
                <a:solidFill>
                  <a:srgbClr val="73A531"/>
                </a:solidFill>
              </a:rPr>
              <a:t>[Q2-2018] </a:t>
            </a:r>
            <a:endParaRPr lang="en-AU" dirty="0">
              <a:solidFill>
                <a:srgbClr val="73A531"/>
              </a:solidFill>
            </a:endParaRPr>
          </a:p>
        </p:txBody>
      </p:sp>
      <p:graphicFrame>
        <p:nvGraphicFramePr>
          <p:cNvPr id="20" name="Chart 19"/>
          <p:cNvGraphicFramePr>
            <a:graphicFrameLocks/>
          </p:cNvGraphicFramePr>
          <p:nvPr>
            <p:extLst>
              <p:ext uri="{D42A27DB-BD31-4B8C-83A1-F6EECF244321}">
                <p14:modId xmlns:p14="http://schemas.microsoft.com/office/powerpoint/2010/main" val="1293811291"/>
              </p:ext>
            </p:extLst>
          </p:nvPr>
        </p:nvGraphicFramePr>
        <p:xfrm>
          <a:off x="260245" y="2370359"/>
          <a:ext cx="6984542" cy="3866954"/>
        </p:xfrm>
        <a:graphic>
          <a:graphicData uri="http://schemas.openxmlformats.org/drawingml/2006/chart">
            <c:chart xmlns:c="http://schemas.openxmlformats.org/drawingml/2006/chart" xmlns:r="http://schemas.openxmlformats.org/officeDocument/2006/relationships" r:id="rId4"/>
          </a:graphicData>
        </a:graphic>
      </p:graphicFrame>
      <p:sp>
        <p:nvSpPr>
          <p:cNvPr id="21" name="TextBox 20"/>
          <p:cNvSpPr txBox="1"/>
          <p:nvPr/>
        </p:nvSpPr>
        <p:spPr>
          <a:xfrm>
            <a:off x="251832" y="6488848"/>
            <a:ext cx="3096032" cy="276999"/>
          </a:xfrm>
          <a:prstGeom prst="rect">
            <a:avLst/>
          </a:prstGeom>
          <a:noFill/>
        </p:spPr>
        <p:txBody>
          <a:bodyPr wrap="square" lIns="0" rtlCol="0">
            <a:spAutoFit/>
          </a:bodyPr>
          <a:lstStyle/>
          <a:p>
            <a:pPr>
              <a:defRPr/>
            </a:pPr>
            <a:r>
              <a:rPr lang="en-US" sz="1200" b="1" dirty="0" smtClean="0">
                <a:solidFill>
                  <a:prstClr val="white"/>
                </a:solidFill>
              </a:rPr>
              <a:t>INVESTOR PRESENTATION Q2, 2018</a:t>
            </a:r>
            <a:endParaRPr lang="en-AU" sz="1200" b="1" dirty="0">
              <a:solidFill>
                <a:prstClr val="white"/>
              </a:solidFill>
            </a:endParaRPr>
          </a:p>
        </p:txBody>
      </p:sp>
      <p:cxnSp>
        <p:nvCxnSpPr>
          <p:cNvPr id="4" name="Straight Connector 3"/>
          <p:cNvCxnSpPr/>
          <p:nvPr/>
        </p:nvCxnSpPr>
        <p:spPr>
          <a:xfrm>
            <a:off x="5292080" y="2708920"/>
            <a:ext cx="504056" cy="216024"/>
          </a:xfrm>
          <a:prstGeom prst="line">
            <a:avLst/>
          </a:prstGeom>
        </p:spPr>
        <p:style>
          <a:lnRef idx="1">
            <a:schemeClr val="accent3"/>
          </a:lnRef>
          <a:fillRef idx="0">
            <a:schemeClr val="accent3"/>
          </a:fillRef>
          <a:effectRef idx="0">
            <a:schemeClr val="accent3"/>
          </a:effectRef>
          <a:fontRef idx="minor">
            <a:schemeClr val="tx1"/>
          </a:fontRef>
        </p:style>
      </p:cxnSp>
      <p:cxnSp>
        <p:nvCxnSpPr>
          <p:cNvPr id="23" name="Straight Connector 22"/>
          <p:cNvCxnSpPr/>
          <p:nvPr/>
        </p:nvCxnSpPr>
        <p:spPr>
          <a:xfrm>
            <a:off x="5263808" y="2816932"/>
            <a:ext cx="541813" cy="314957"/>
          </a:xfrm>
          <a:prstGeom prst="line">
            <a:avLst/>
          </a:prstGeom>
        </p:spPr>
        <p:style>
          <a:lnRef idx="1">
            <a:schemeClr val="accent3"/>
          </a:lnRef>
          <a:fillRef idx="0">
            <a:schemeClr val="accent3"/>
          </a:fillRef>
          <a:effectRef idx="0">
            <a:schemeClr val="accent3"/>
          </a:effectRef>
          <a:fontRef idx="minor">
            <a:schemeClr val="tx1"/>
          </a:fontRef>
        </p:style>
      </p:cxnSp>
      <p:cxnSp>
        <p:nvCxnSpPr>
          <p:cNvPr id="24" name="Straight Connector 23"/>
          <p:cNvCxnSpPr/>
          <p:nvPr/>
        </p:nvCxnSpPr>
        <p:spPr>
          <a:xfrm>
            <a:off x="5263808" y="2924944"/>
            <a:ext cx="532328" cy="507537"/>
          </a:xfrm>
          <a:prstGeom prst="line">
            <a:avLst/>
          </a:prstGeom>
        </p:spPr>
        <p:style>
          <a:lnRef idx="1">
            <a:schemeClr val="accent3"/>
          </a:lnRef>
          <a:fillRef idx="0">
            <a:schemeClr val="accent3"/>
          </a:fillRef>
          <a:effectRef idx="0">
            <a:schemeClr val="accent3"/>
          </a:effectRef>
          <a:fontRef idx="minor">
            <a:schemeClr val="tx1"/>
          </a:fontRef>
        </p:style>
      </p:cxnSp>
      <p:cxnSp>
        <p:nvCxnSpPr>
          <p:cNvPr id="25" name="Straight Connector 24"/>
          <p:cNvCxnSpPr/>
          <p:nvPr/>
        </p:nvCxnSpPr>
        <p:spPr>
          <a:xfrm>
            <a:off x="5263808" y="2974410"/>
            <a:ext cx="504056" cy="814630"/>
          </a:xfrm>
          <a:prstGeom prst="line">
            <a:avLst/>
          </a:prstGeom>
        </p:spPr>
        <p:style>
          <a:lnRef idx="1">
            <a:schemeClr val="accent3"/>
          </a:lnRef>
          <a:fillRef idx="0">
            <a:schemeClr val="accent3"/>
          </a:fillRef>
          <a:effectRef idx="0">
            <a:schemeClr val="accent3"/>
          </a:effectRef>
          <a:fontRef idx="minor">
            <a:schemeClr val="tx1"/>
          </a:fontRef>
        </p:style>
      </p:cxnSp>
      <p:cxnSp>
        <p:nvCxnSpPr>
          <p:cNvPr id="26" name="Straight Connector 25"/>
          <p:cNvCxnSpPr/>
          <p:nvPr/>
        </p:nvCxnSpPr>
        <p:spPr>
          <a:xfrm>
            <a:off x="5263808" y="4415175"/>
            <a:ext cx="459019" cy="216024"/>
          </a:xfrm>
          <a:prstGeom prst="line">
            <a:avLst/>
          </a:prstGeom>
        </p:spPr>
        <p:style>
          <a:lnRef idx="1">
            <a:schemeClr val="accent3"/>
          </a:lnRef>
          <a:fillRef idx="0">
            <a:schemeClr val="accent3"/>
          </a:fillRef>
          <a:effectRef idx="0">
            <a:schemeClr val="accent3"/>
          </a:effectRef>
          <a:fontRef idx="minor">
            <a:schemeClr val="tx1"/>
          </a:fontRef>
        </p:style>
      </p:cxnSp>
      <p:cxnSp>
        <p:nvCxnSpPr>
          <p:cNvPr id="27" name="Straight Connector 26"/>
          <p:cNvCxnSpPr/>
          <p:nvPr/>
        </p:nvCxnSpPr>
        <p:spPr>
          <a:xfrm>
            <a:off x="5263808" y="4005064"/>
            <a:ext cx="459019" cy="324036"/>
          </a:xfrm>
          <a:prstGeom prst="line">
            <a:avLst/>
          </a:prstGeom>
        </p:spPr>
        <p:style>
          <a:lnRef idx="1">
            <a:schemeClr val="accent3"/>
          </a:lnRef>
          <a:fillRef idx="0">
            <a:schemeClr val="accent3"/>
          </a:fillRef>
          <a:effectRef idx="0">
            <a:schemeClr val="accent3"/>
          </a:effectRef>
          <a:fontRef idx="minor">
            <a:schemeClr val="tx1"/>
          </a:fontRef>
        </p:style>
      </p:cxnSp>
      <p:cxnSp>
        <p:nvCxnSpPr>
          <p:cNvPr id="28" name="Straight Connector 27"/>
          <p:cNvCxnSpPr/>
          <p:nvPr/>
        </p:nvCxnSpPr>
        <p:spPr>
          <a:xfrm>
            <a:off x="5292080" y="4745580"/>
            <a:ext cx="504056" cy="216024"/>
          </a:xfrm>
          <a:prstGeom prst="line">
            <a:avLst/>
          </a:prstGeom>
        </p:spPr>
        <p:style>
          <a:lnRef idx="1">
            <a:schemeClr val="accent3"/>
          </a:lnRef>
          <a:fillRef idx="0">
            <a:schemeClr val="accent3"/>
          </a:fillRef>
          <a:effectRef idx="0">
            <a:schemeClr val="accent3"/>
          </a:effectRef>
          <a:fontRef idx="minor">
            <a:schemeClr val="tx1"/>
          </a:fontRef>
        </p:style>
      </p:cxnSp>
    </p:spTree>
    <p:extLst>
      <p:ext uri="{BB962C8B-B14F-4D97-AF65-F5344CB8AC3E}">
        <p14:creationId xmlns:p14="http://schemas.microsoft.com/office/powerpoint/2010/main" val="92348971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TextBox 4"/>
          <p:cNvSpPr txBox="1">
            <a:spLocks noChangeArrowheads="1"/>
          </p:cNvSpPr>
          <p:nvPr/>
        </p:nvSpPr>
        <p:spPr bwMode="auto">
          <a:xfrm>
            <a:off x="251832" y="44624"/>
            <a:ext cx="720048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rIns="0">
            <a:spAutoFit/>
          </a:bodyPr>
          <a:lstStyle>
            <a:lvl1pPr defTabSz="457200" eaLnBrk="0" hangingPunct="0">
              <a:defRPr>
                <a:solidFill>
                  <a:schemeClr val="tx1"/>
                </a:solidFill>
                <a:latin typeface="Arial" pitchFamily="34" charset="0"/>
              </a:defRPr>
            </a:lvl1pPr>
            <a:lvl2pPr marL="742950" indent="-285750" defTabSz="457200" eaLnBrk="0" hangingPunct="0">
              <a:defRPr>
                <a:solidFill>
                  <a:schemeClr val="tx1"/>
                </a:solidFill>
                <a:latin typeface="Arial" pitchFamily="34" charset="0"/>
              </a:defRPr>
            </a:lvl2pPr>
            <a:lvl3pPr marL="1143000" indent="-228600" defTabSz="457200" eaLnBrk="0" hangingPunct="0">
              <a:defRPr>
                <a:solidFill>
                  <a:schemeClr val="tx1"/>
                </a:solidFill>
                <a:latin typeface="Arial" pitchFamily="34" charset="0"/>
              </a:defRPr>
            </a:lvl3pPr>
            <a:lvl4pPr marL="1600200" indent="-228600" defTabSz="457200" eaLnBrk="0" hangingPunct="0">
              <a:defRPr>
                <a:solidFill>
                  <a:schemeClr val="tx1"/>
                </a:solidFill>
                <a:latin typeface="Arial" pitchFamily="34" charset="0"/>
              </a:defRPr>
            </a:lvl4pPr>
            <a:lvl5pPr marL="2057400" indent="-228600" defTabSz="457200" eaLnBrk="0" hangingPunct="0">
              <a:defRPr>
                <a:solidFill>
                  <a:schemeClr val="tx1"/>
                </a:solidFill>
                <a:latin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defRPr>
            </a:lvl9pPr>
          </a:lstStyle>
          <a:p>
            <a:pPr eaLnBrk="1" hangingPunct="1"/>
            <a:r>
              <a:rPr lang="en-US" altLang="en-US" sz="2800" b="1" dirty="0" smtClean="0">
                <a:solidFill>
                  <a:srgbClr val="92D050"/>
                </a:solidFill>
                <a:cs typeface="Arial" pitchFamily="34" charset="0"/>
              </a:rPr>
              <a:t>Share price</a:t>
            </a:r>
            <a:endParaRPr lang="en-US" altLang="en-US" sz="2800" dirty="0">
              <a:solidFill>
                <a:srgbClr val="92D050"/>
              </a:solidFill>
              <a:cs typeface="Arial" pitchFamily="34" charset="0"/>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AU"/>
          </a:p>
        </p:txBody>
      </p:sp>
      <p:sp>
        <p:nvSpPr>
          <p:cNvPr id="8" name="TextBox 7"/>
          <p:cNvSpPr txBox="1"/>
          <p:nvPr/>
        </p:nvSpPr>
        <p:spPr>
          <a:xfrm>
            <a:off x="8867893" y="6499592"/>
            <a:ext cx="263214" cy="276999"/>
          </a:xfrm>
          <a:prstGeom prst="rect">
            <a:avLst/>
          </a:prstGeom>
          <a:noFill/>
        </p:spPr>
        <p:txBody>
          <a:bodyPr wrap="square" lIns="0" rtlCol="0">
            <a:spAutoFit/>
          </a:bodyPr>
          <a:lstStyle>
            <a:defPPr>
              <a:defRPr lang="en-US"/>
            </a:defPPr>
            <a:lvl1pPr>
              <a:defRPr sz="1200" b="1">
                <a:solidFill>
                  <a:prstClr val="white"/>
                </a:solidFill>
              </a:defRPr>
            </a:lvl1pPr>
          </a:lstStyle>
          <a:p>
            <a:pPr algn="ctr"/>
            <a:fld id="{930AFB57-27B1-4EDC-9D85-71AA30732641}" type="slidenum">
              <a:rPr lang="en-AU"/>
              <a:pPr algn="ctr"/>
              <a:t>17</a:t>
            </a:fld>
            <a:endParaRPr lang="en-AU" dirty="0"/>
          </a:p>
        </p:txBody>
      </p:sp>
      <p:sp>
        <p:nvSpPr>
          <p:cNvPr id="18" name="TextBox 17"/>
          <p:cNvSpPr txBox="1"/>
          <p:nvPr/>
        </p:nvSpPr>
        <p:spPr>
          <a:xfrm>
            <a:off x="251832" y="639607"/>
            <a:ext cx="7200488" cy="557145"/>
          </a:xfrm>
          <a:prstGeom prst="rect">
            <a:avLst/>
          </a:prstGeom>
          <a:noFill/>
          <a:ln>
            <a:solidFill>
              <a:srgbClr val="8CC63F"/>
            </a:solidFill>
          </a:ln>
        </p:spPr>
        <p:txBody>
          <a:bodyPr wrap="square" rtlCol="0" anchor="ctr">
            <a:noAutofit/>
          </a:bodyPr>
          <a:lstStyle/>
          <a:p>
            <a:pPr lvl="0">
              <a:spcBef>
                <a:spcPts val="600"/>
              </a:spcBef>
              <a:defRPr/>
            </a:pPr>
            <a:r>
              <a:rPr lang="en-US" sz="1600" b="1" dirty="0">
                <a:solidFill>
                  <a:srgbClr val="73A531"/>
                </a:solidFill>
              </a:rPr>
              <a:t>Dividend </a:t>
            </a:r>
            <a:r>
              <a:rPr lang="en-US" sz="1600" b="1" dirty="0" smtClean="0">
                <a:solidFill>
                  <a:srgbClr val="73A531"/>
                </a:solidFill>
              </a:rPr>
              <a:t>yield of 12.4%, based </a:t>
            </a:r>
            <a:r>
              <a:rPr lang="en-US" sz="1600" b="1" dirty="0">
                <a:solidFill>
                  <a:srgbClr val="73A531"/>
                </a:solidFill>
              </a:rPr>
              <a:t>on </a:t>
            </a:r>
            <a:r>
              <a:rPr lang="en-US" sz="1600" b="1" dirty="0" smtClean="0">
                <a:solidFill>
                  <a:srgbClr val="73A531"/>
                </a:solidFill>
              </a:rPr>
              <a:t>K10.01 share price, with  market capitalization of K4.67b as at end of June.</a:t>
            </a:r>
            <a:endParaRPr lang="en-US" sz="1600" b="1" dirty="0">
              <a:solidFill>
                <a:srgbClr val="73A531"/>
              </a:solidFill>
            </a:endParaRPr>
          </a:p>
        </p:txBody>
      </p:sp>
      <p:sp>
        <p:nvSpPr>
          <p:cNvPr id="9" name="Oval 4"/>
          <p:cNvSpPr/>
          <p:nvPr/>
        </p:nvSpPr>
        <p:spPr>
          <a:xfrm>
            <a:off x="5749679" y="3292227"/>
            <a:ext cx="1515087" cy="78484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13792" tIns="113792" rIns="113792" bIns="113792" numCol="1" spcCol="1270" anchor="ctr" anchorCtr="0">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lvl="0" algn="ctr" defTabSz="711200" rtl="0">
              <a:lnSpc>
                <a:spcPct val="90000"/>
              </a:lnSpc>
              <a:spcBef>
                <a:spcPct val="0"/>
              </a:spcBef>
              <a:spcAft>
                <a:spcPct val="35000"/>
              </a:spcAft>
            </a:pPr>
            <a:r>
              <a:rPr lang="en-AU" sz="1600" b="1" i="0" kern="1200" dirty="0">
                <a:solidFill>
                  <a:sysClr val="window" lastClr="FFFFFF"/>
                </a:solidFill>
                <a:latin typeface="Arial"/>
                <a:ea typeface="+mn-ea"/>
                <a:cs typeface="+mn-cs"/>
              </a:rPr>
              <a:t>Share Price K9.48</a:t>
            </a:r>
          </a:p>
          <a:p>
            <a:pPr lvl="0" algn="ctr" defTabSz="711200" rtl="0">
              <a:lnSpc>
                <a:spcPct val="90000"/>
              </a:lnSpc>
              <a:spcBef>
                <a:spcPct val="0"/>
              </a:spcBef>
              <a:spcAft>
                <a:spcPct val="35000"/>
              </a:spcAft>
            </a:pPr>
            <a:r>
              <a:rPr lang="en-AU" sz="1600" b="1" dirty="0">
                <a:solidFill>
                  <a:sysClr val="window" lastClr="FFFFFF"/>
                </a:solidFill>
                <a:latin typeface="Arial"/>
              </a:rPr>
              <a:t>28 Apr</a:t>
            </a:r>
            <a:r>
              <a:rPr lang="en-AU" sz="1600" b="1" i="0" baseline="0" dirty="0">
                <a:solidFill>
                  <a:sysClr val="window" lastClr="FFFFFF"/>
                </a:solidFill>
                <a:latin typeface="Arial"/>
              </a:rPr>
              <a:t>’17</a:t>
            </a:r>
            <a:endParaRPr lang="en-AU" sz="1600" b="1" i="0" kern="1200" dirty="0">
              <a:solidFill>
                <a:sysClr val="window" lastClr="FFFFFF"/>
              </a:solidFill>
              <a:latin typeface="Arial"/>
              <a:ea typeface="+mn-ea"/>
              <a:cs typeface="+mn-cs"/>
            </a:endParaRPr>
          </a:p>
        </p:txBody>
      </p:sp>
      <p:grpSp>
        <p:nvGrpSpPr>
          <p:cNvPr id="12" name="Group 11"/>
          <p:cNvGrpSpPr/>
          <p:nvPr/>
        </p:nvGrpSpPr>
        <p:grpSpPr>
          <a:xfrm>
            <a:off x="3347864" y="2638858"/>
            <a:ext cx="2455844" cy="1874782"/>
            <a:chOff x="0" y="0"/>
            <a:chExt cx="2562225" cy="2133600"/>
          </a:xfrm>
        </p:grpSpPr>
        <p:grpSp>
          <p:nvGrpSpPr>
            <p:cNvPr id="13" name="Group 12"/>
            <p:cNvGrpSpPr/>
            <p:nvPr/>
          </p:nvGrpSpPr>
          <p:grpSpPr>
            <a:xfrm>
              <a:off x="0" y="0"/>
              <a:ext cx="2562225" cy="2133600"/>
              <a:chOff x="0" y="0"/>
              <a:chExt cx="3233754" cy="3187811"/>
            </a:xfrm>
            <a:solidFill>
              <a:schemeClr val="accent3"/>
            </a:solidFill>
          </p:grpSpPr>
          <p:sp>
            <p:nvSpPr>
              <p:cNvPr id="17" name="Oval 16"/>
              <p:cNvSpPr/>
              <p:nvPr/>
            </p:nvSpPr>
            <p:spPr>
              <a:xfrm>
                <a:off x="0" y="0"/>
                <a:ext cx="3233754" cy="3187811"/>
              </a:xfrm>
              <a:prstGeom prst="ellipse">
                <a:avLst/>
              </a:prstGeom>
              <a:grpFill/>
              <a:ln>
                <a:noFill/>
              </a:ln>
              <a:effectLst>
                <a:outerShdw blurRad="40000" dist="23000" dir="5400000" rotWithShape="0">
                  <a:srgbClr val="000000">
                    <a:alpha val="35000"/>
                  </a:srgbClr>
                </a:outerShdw>
              </a:effectLst>
            </p:spPr>
            <p:style>
              <a:lnRef idx="0">
                <a:scrgbClr r="0" g="0" b="0"/>
              </a:lnRef>
              <a:fillRef idx="3">
                <a:scrgbClr r="0" g="0" b="0"/>
              </a:fillRef>
              <a:effectRef idx="2">
                <a:scrgbClr r="0" g="0" b="0"/>
              </a:effectRef>
              <a:fontRef idx="minor">
                <a:schemeClr val="lt1"/>
              </a:fontRef>
            </p:style>
            <p:txBody>
              <a:bodyPr wrap="square"/>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en-AU"/>
              </a:p>
            </p:txBody>
          </p:sp>
          <p:sp>
            <p:nvSpPr>
              <p:cNvPr id="19" name="Oval 4"/>
              <p:cNvSpPr/>
              <p:nvPr/>
            </p:nvSpPr>
            <p:spPr>
              <a:xfrm>
                <a:off x="722840" y="372542"/>
                <a:ext cx="1729524" cy="517401"/>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128016" tIns="128016" rIns="128016" bIns="128016" numCol="1" spcCol="1270" anchor="ctr" anchorCtr="0">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lvl="0" algn="ctr" defTabSz="800100" rtl="0">
                  <a:lnSpc>
                    <a:spcPct val="90000"/>
                  </a:lnSpc>
                  <a:spcBef>
                    <a:spcPct val="0"/>
                  </a:spcBef>
                  <a:spcAft>
                    <a:spcPct val="35000"/>
                  </a:spcAft>
                </a:pPr>
                <a:r>
                  <a:rPr lang="en-AU" sz="1600" b="1" i="0" kern="1200" dirty="0" smtClean="0">
                    <a:solidFill>
                      <a:sysClr val="window" lastClr="FFFFFF"/>
                    </a:solidFill>
                    <a:latin typeface="Arial"/>
                    <a:ea typeface="+mn-ea"/>
                    <a:cs typeface="+mn-cs"/>
                  </a:rPr>
                  <a:t>K4.67b Market </a:t>
                </a:r>
                <a:r>
                  <a:rPr lang="en-AU" sz="1600" b="1" i="0" kern="1200" dirty="0">
                    <a:solidFill>
                      <a:sysClr val="window" lastClr="FFFFFF"/>
                    </a:solidFill>
                    <a:latin typeface="Arial"/>
                    <a:ea typeface="+mn-ea"/>
                    <a:cs typeface="+mn-cs"/>
                  </a:rPr>
                  <a:t>Cap</a:t>
                </a:r>
              </a:p>
            </p:txBody>
          </p:sp>
        </p:grpSp>
        <p:grpSp>
          <p:nvGrpSpPr>
            <p:cNvPr id="14" name="Group 13"/>
            <p:cNvGrpSpPr/>
            <p:nvPr/>
          </p:nvGrpSpPr>
          <p:grpSpPr>
            <a:xfrm>
              <a:off x="371475" y="876300"/>
              <a:ext cx="1666875" cy="1181101"/>
              <a:chOff x="371475" y="876300"/>
              <a:chExt cx="2282651" cy="2220243"/>
            </a:xfrm>
          </p:grpSpPr>
          <p:sp>
            <p:nvSpPr>
              <p:cNvPr id="15" name="Oval 14"/>
              <p:cNvSpPr/>
              <p:nvPr/>
            </p:nvSpPr>
            <p:spPr>
              <a:xfrm>
                <a:off x="371475" y="876300"/>
                <a:ext cx="2282651" cy="2220243"/>
              </a:xfrm>
              <a:prstGeom prst="ellipse">
                <a:avLst/>
              </a:prstGeom>
              <a:gradFill rotWithShape="0">
                <a:gsLst>
                  <a:gs pos="0">
                    <a:srgbClr val="FF6700">
                      <a:hueOff val="2452395"/>
                      <a:satOff val="-81125"/>
                      <a:lumOff val="-1176"/>
                      <a:shade val="51000"/>
                      <a:satMod val="130000"/>
                      <a:alpha val="0"/>
                    </a:srgbClr>
                  </a:gs>
                  <a:gs pos="39000">
                    <a:srgbClr val="FF6700">
                      <a:hueOff val="2452395"/>
                      <a:satOff val="-81125"/>
                      <a:lumOff val="-1176"/>
                      <a:shade val="93000"/>
                      <a:satMod val="130000"/>
                      <a:alpha val="53000"/>
                    </a:srgbClr>
                  </a:gs>
                  <a:gs pos="100000">
                    <a:srgbClr val="FF6700">
                      <a:hueOff val="2452395"/>
                      <a:satOff val="-81125"/>
                      <a:lumOff val="-1176"/>
                      <a:alphaOff val="0"/>
                      <a:shade val="94000"/>
                      <a:satMod val="135000"/>
                    </a:srgbClr>
                  </a:gs>
                </a:gsLst>
                <a:lin ang="16200000" scaled="0"/>
              </a:gradFill>
              <a:ln>
                <a:noFill/>
              </a:ln>
              <a:effectLst>
                <a:outerShdw blurRad="40000" dist="23000" dir="5400000" rotWithShape="0">
                  <a:srgbClr val="000000">
                    <a:alpha val="35000"/>
                  </a:srgbClr>
                </a:outerShdw>
              </a:effectLst>
            </p:spPr>
            <p:style>
              <a:lnRef idx="0">
                <a:scrgbClr r="0" g="0" b="0"/>
              </a:lnRef>
              <a:fillRef idx="3">
                <a:scrgbClr r="0" g="0" b="0"/>
              </a:fillRef>
              <a:effectRef idx="2">
                <a:scrgbClr r="0" g="0" b="0"/>
              </a:effectRef>
              <a:fontRef idx="minor">
                <a:schemeClr val="lt1"/>
              </a:fontRef>
            </p:style>
            <p:txBody>
              <a:bodyPr wrap="square"/>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en-AU"/>
              </a:p>
            </p:txBody>
          </p:sp>
          <p:sp>
            <p:nvSpPr>
              <p:cNvPr id="16" name="Oval 4"/>
              <p:cNvSpPr/>
              <p:nvPr/>
            </p:nvSpPr>
            <p:spPr>
              <a:xfrm>
                <a:off x="742427" y="1526291"/>
                <a:ext cx="1866927" cy="111012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13792" tIns="113792" rIns="113792" bIns="113792" numCol="1" spcCol="1270" anchor="ctr" anchorCtr="0">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lvl="0" algn="ctr" defTabSz="711200" rtl="0">
                  <a:lnSpc>
                    <a:spcPct val="90000"/>
                  </a:lnSpc>
                  <a:spcBef>
                    <a:spcPct val="0"/>
                  </a:spcBef>
                  <a:spcAft>
                    <a:spcPct val="35000"/>
                  </a:spcAft>
                </a:pPr>
                <a:r>
                  <a:rPr lang="en-AU" sz="1400" b="1" i="0" kern="1200" dirty="0" smtClean="0">
                    <a:solidFill>
                      <a:sysClr val="window" lastClr="FFFFFF"/>
                    </a:solidFill>
                    <a:latin typeface="Arial"/>
                  </a:rPr>
                  <a:t>Share </a:t>
                </a:r>
                <a:r>
                  <a:rPr lang="en-AU" sz="1400" b="1" i="0" kern="1200" dirty="0">
                    <a:solidFill>
                      <a:sysClr val="window" lastClr="FFFFFF"/>
                    </a:solidFill>
                    <a:latin typeface="Arial"/>
                  </a:rPr>
                  <a:t>Price </a:t>
                </a:r>
                <a:r>
                  <a:rPr lang="en-AU" sz="1400" b="1" i="0" kern="1200" dirty="0" smtClean="0">
                    <a:solidFill>
                      <a:sysClr val="window" lastClr="FFFFFF"/>
                    </a:solidFill>
                    <a:latin typeface="Arial"/>
                  </a:rPr>
                  <a:t>K10.01</a:t>
                </a:r>
                <a:endParaRPr lang="en-AU" sz="1400" b="1" i="0" kern="1200" dirty="0">
                  <a:solidFill>
                    <a:sysClr val="window" lastClr="FFFFFF"/>
                  </a:solidFill>
                  <a:latin typeface="Arial"/>
                </a:endParaRPr>
              </a:p>
              <a:p>
                <a:pPr lvl="0" algn="ctr" defTabSz="711200" rtl="0">
                  <a:lnSpc>
                    <a:spcPct val="90000"/>
                  </a:lnSpc>
                  <a:spcBef>
                    <a:spcPct val="0"/>
                  </a:spcBef>
                  <a:spcAft>
                    <a:spcPct val="35000"/>
                  </a:spcAft>
                </a:pPr>
                <a:r>
                  <a:rPr lang="en-AU" sz="1400" b="1" dirty="0" smtClean="0">
                    <a:solidFill>
                      <a:sysClr val="window" lastClr="FFFFFF"/>
                    </a:solidFill>
                    <a:latin typeface="Arial"/>
                  </a:rPr>
                  <a:t>30 June  </a:t>
                </a:r>
                <a:r>
                  <a:rPr lang="en-AU" sz="1400" b="1" i="0" baseline="0" dirty="0" smtClean="0">
                    <a:solidFill>
                      <a:sysClr val="window" lastClr="FFFFFF"/>
                    </a:solidFill>
                    <a:latin typeface="Arial"/>
                  </a:rPr>
                  <a:t>18</a:t>
                </a:r>
                <a:endParaRPr lang="en-AU" sz="1400" b="1" i="0" kern="1200" dirty="0">
                  <a:solidFill>
                    <a:sysClr val="window" lastClr="FFFFFF"/>
                  </a:solidFill>
                  <a:latin typeface="Arial"/>
                </a:endParaRPr>
              </a:p>
            </p:txBody>
          </p:sp>
        </p:grpSp>
      </p:grpSp>
      <p:sp>
        <p:nvSpPr>
          <p:cNvPr id="21" name="TextBox 20"/>
          <p:cNvSpPr txBox="1"/>
          <p:nvPr/>
        </p:nvSpPr>
        <p:spPr>
          <a:xfrm>
            <a:off x="7956376" y="1988840"/>
            <a:ext cx="184731" cy="369332"/>
          </a:xfrm>
          <a:prstGeom prst="rect">
            <a:avLst/>
          </a:prstGeom>
          <a:noFill/>
        </p:spPr>
        <p:txBody>
          <a:bodyPr wrap="none" rtlCol="0">
            <a:spAutoFit/>
          </a:bodyPr>
          <a:lstStyle/>
          <a:p>
            <a:endParaRPr lang="en-AU" dirty="0"/>
          </a:p>
        </p:txBody>
      </p:sp>
      <p:sp>
        <p:nvSpPr>
          <p:cNvPr id="22" name="TextBox 21"/>
          <p:cNvSpPr txBox="1"/>
          <p:nvPr/>
        </p:nvSpPr>
        <p:spPr>
          <a:xfrm>
            <a:off x="235341" y="1412776"/>
            <a:ext cx="4267409" cy="400110"/>
          </a:xfrm>
          <a:prstGeom prst="rect">
            <a:avLst/>
          </a:prstGeom>
          <a:noFill/>
        </p:spPr>
        <p:txBody>
          <a:bodyPr wrap="square" rtlCol="0">
            <a:spAutoFit/>
          </a:bodyPr>
          <a:lstStyle/>
          <a:p>
            <a:r>
              <a:rPr lang="en-AU" sz="2000" b="1" dirty="0" smtClean="0">
                <a:solidFill>
                  <a:srgbClr val="73A531"/>
                </a:solidFill>
              </a:rPr>
              <a:t>01</a:t>
            </a:r>
            <a:r>
              <a:rPr lang="en-AU" sz="2000" b="1" baseline="30000" dirty="0" smtClean="0">
                <a:solidFill>
                  <a:srgbClr val="73A531"/>
                </a:solidFill>
              </a:rPr>
              <a:t>st</a:t>
            </a:r>
            <a:r>
              <a:rPr lang="en-AU" sz="2000" b="1" dirty="0" smtClean="0">
                <a:solidFill>
                  <a:srgbClr val="73A531"/>
                </a:solidFill>
              </a:rPr>
              <a:t> June </a:t>
            </a:r>
            <a:r>
              <a:rPr lang="en-AU" sz="2000" b="1" dirty="0">
                <a:solidFill>
                  <a:srgbClr val="73A531"/>
                </a:solidFill>
              </a:rPr>
              <a:t>2017 </a:t>
            </a:r>
            <a:r>
              <a:rPr lang="en-AU" sz="2000" b="1" dirty="0" smtClean="0">
                <a:solidFill>
                  <a:srgbClr val="73A531"/>
                </a:solidFill>
              </a:rPr>
              <a:t> to 30</a:t>
            </a:r>
            <a:r>
              <a:rPr lang="en-AU" sz="2000" b="1" baseline="30000" dirty="0" smtClean="0">
                <a:solidFill>
                  <a:srgbClr val="73A531"/>
                </a:solidFill>
              </a:rPr>
              <a:t>th</a:t>
            </a:r>
            <a:r>
              <a:rPr lang="en-AU" sz="2000" b="1" dirty="0" smtClean="0">
                <a:solidFill>
                  <a:srgbClr val="73A531"/>
                </a:solidFill>
              </a:rPr>
              <a:t>  </a:t>
            </a:r>
            <a:r>
              <a:rPr lang="en-AU" sz="2000" b="1" dirty="0">
                <a:solidFill>
                  <a:srgbClr val="73A531"/>
                </a:solidFill>
              </a:rPr>
              <a:t>June 2018</a:t>
            </a:r>
          </a:p>
        </p:txBody>
      </p:sp>
      <p:graphicFrame>
        <p:nvGraphicFramePr>
          <p:cNvPr id="20" name="Chart 19"/>
          <p:cNvGraphicFramePr>
            <a:graphicFrameLocks/>
          </p:cNvGraphicFramePr>
          <p:nvPr>
            <p:extLst>
              <p:ext uri="{D42A27DB-BD31-4B8C-83A1-F6EECF244321}">
                <p14:modId xmlns:p14="http://schemas.microsoft.com/office/powerpoint/2010/main" val="766480075"/>
              </p:ext>
            </p:extLst>
          </p:nvPr>
        </p:nvGraphicFramePr>
        <p:xfrm>
          <a:off x="108279" y="1910467"/>
          <a:ext cx="7488058" cy="3750781"/>
        </p:xfrm>
        <a:graphic>
          <a:graphicData uri="http://schemas.openxmlformats.org/drawingml/2006/chart">
            <c:chart xmlns:c="http://schemas.openxmlformats.org/drawingml/2006/chart" xmlns:r="http://schemas.openxmlformats.org/officeDocument/2006/relationships" r:id="rId4"/>
          </a:graphicData>
        </a:graphic>
      </p:graphicFrame>
      <p:sp>
        <p:nvSpPr>
          <p:cNvPr id="24" name="TextBox 23"/>
          <p:cNvSpPr txBox="1"/>
          <p:nvPr/>
        </p:nvSpPr>
        <p:spPr>
          <a:xfrm>
            <a:off x="251832" y="6488848"/>
            <a:ext cx="3096032" cy="276999"/>
          </a:xfrm>
          <a:prstGeom prst="rect">
            <a:avLst/>
          </a:prstGeom>
          <a:noFill/>
        </p:spPr>
        <p:txBody>
          <a:bodyPr wrap="square" lIns="0" rtlCol="0">
            <a:spAutoFit/>
          </a:bodyPr>
          <a:lstStyle/>
          <a:p>
            <a:pPr>
              <a:defRPr/>
            </a:pPr>
            <a:r>
              <a:rPr lang="en-US" sz="1200" b="1" dirty="0" smtClean="0">
                <a:solidFill>
                  <a:prstClr val="white"/>
                </a:solidFill>
              </a:rPr>
              <a:t>INVESTOR PRESENTATION Q2, 2018</a:t>
            </a:r>
            <a:endParaRPr lang="en-AU" sz="1200" b="1" dirty="0">
              <a:solidFill>
                <a:prstClr val="white"/>
              </a:solidFill>
            </a:endParaRPr>
          </a:p>
        </p:txBody>
      </p:sp>
    </p:spTree>
    <p:extLst>
      <p:ext uri="{BB962C8B-B14F-4D97-AF65-F5344CB8AC3E}">
        <p14:creationId xmlns:p14="http://schemas.microsoft.com/office/powerpoint/2010/main" val="416285821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87856" y="6413266"/>
            <a:ext cx="2843984" cy="400110"/>
          </a:xfrm>
          <a:prstGeom prst="rect">
            <a:avLst/>
          </a:prstGeom>
          <a:noFill/>
        </p:spPr>
        <p:txBody>
          <a:bodyPr wrap="none" rtlCol="0">
            <a:spAutoFit/>
          </a:bodyPr>
          <a:lstStyle/>
          <a:p>
            <a:r>
              <a:rPr lang="en-AU" sz="2000" dirty="0">
                <a:solidFill>
                  <a:schemeClr val="bg1"/>
                </a:solidFill>
              </a:rPr>
              <a:t>Sub - title of Presentation</a:t>
            </a:r>
          </a:p>
        </p:txBody>
      </p:sp>
      <p:sp>
        <p:nvSpPr>
          <p:cNvPr id="5" name="TextBox 4"/>
          <p:cNvSpPr txBox="1"/>
          <p:nvPr/>
        </p:nvSpPr>
        <p:spPr>
          <a:xfrm>
            <a:off x="8092133" y="6367515"/>
            <a:ext cx="872355" cy="400110"/>
          </a:xfrm>
          <a:prstGeom prst="rect">
            <a:avLst/>
          </a:prstGeom>
          <a:noFill/>
        </p:spPr>
        <p:txBody>
          <a:bodyPr wrap="none" rtlCol="0">
            <a:spAutoFit/>
          </a:bodyPr>
          <a:lstStyle/>
          <a:p>
            <a:r>
              <a:rPr lang="en-AU" sz="2000" dirty="0">
                <a:solidFill>
                  <a:schemeClr val="bg1"/>
                </a:solidFill>
              </a:rPr>
              <a:t>Slide 1</a:t>
            </a:r>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Title 8"/>
          <p:cNvSpPr txBox="1">
            <a:spLocks/>
          </p:cNvSpPr>
          <p:nvPr/>
        </p:nvSpPr>
        <p:spPr bwMode="auto">
          <a:xfrm>
            <a:off x="198452" y="2581150"/>
            <a:ext cx="8229600" cy="1143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AU" sz="4800" dirty="0">
                <a:solidFill>
                  <a:srgbClr val="92D050"/>
                </a:solidFill>
                <a:effectLst>
                  <a:outerShdw blurRad="38100" dist="38100" dir="2700000" algn="tl">
                    <a:srgbClr val="000000">
                      <a:alpha val="43137"/>
                    </a:srgbClr>
                  </a:outerShdw>
                </a:effectLst>
                <a:latin typeface="MS Reference Sans Serif" pitchFamily="34" charset="0"/>
              </a:rPr>
              <a:t>Thank You</a:t>
            </a:r>
          </a:p>
        </p:txBody>
      </p:sp>
      <p:sp>
        <p:nvSpPr>
          <p:cNvPr id="7" name="TextBox 6"/>
          <p:cNvSpPr txBox="1"/>
          <p:nvPr/>
        </p:nvSpPr>
        <p:spPr>
          <a:xfrm>
            <a:off x="8460432" y="6367515"/>
            <a:ext cx="602615" cy="369332"/>
          </a:xfrm>
          <a:prstGeom prst="rect">
            <a:avLst/>
          </a:prstGeom>
          <a:noFill/>
        </p:spPr>
        <p:txBody>
          <a:bodyPr wrap="square" rtlCol="0">
            <a:spAutoFit/>
          </a:bodyPr>
          <a:lstStyle/>
          <a:p>
            <a:pPr algn="r"/>
            <a:fld id="{68F7A365-B6DF-4DFC-A194-0C576AD92241}" type="slidenum">
              <a:rPr lang="en-AU" smtClean="0">
                <a:solidFill>
                  <a:schemeClr val="bg1"/>
                </a:solidFill>
              </a:rPr>
              <a:pPr algn="r"/>
              <a:t>18</a:t>
            </a:fld>
            <a:endParaRPr lang="en-AU" dirty="0">
              <a:solidFill>
                <a:schemeClr val="bg1"/>
              </a:solidFill>
            </a:endParaRPr>
          </a:p>
        </p:txBody>
      </p:sp>
    </p:spTree>
    <p:extLst>
      <p:ext uri="{BB962C8B-B14F-4D97-AF65-F5344CB8AC3E}">
        <p14:creationId xmlns:p14="http://schemas.microsoft.com/office/powerpoint/2010/main" val="787713100"/>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NCHORPOINT" val="NO VALUE"/>
  <p:tag name="CHARTLIBVERSION" val="NO VALUE"/>
  <p:tag name="DDVERSION" val="2.0"/>
  <p:tag name="FONTCOLOR" val="NO VALUE"/>
  <p:tag name="LINECOLOR" val="NO VALUE"/>
  <p:tag name="PLACEHOLDERSIZE" val="NO VALUE"/>
  <p:tag name="SOURCE" val="NO VALUE"/>
  <p:tag name="TYPE" val="PageNumber"/>
  <p:tag name="DEVICE" val="Canon Colorpass 1000"/>
  <p:tag name="FILLFORECOLOR" val="Transparent"/>
  <p:tag name="SUBOBJECTID" val="PgNum"/>
  <p:tag name="OBJECTID" val="PgNum"/>
  <p:tag name="TOP" val="573.2961"/>
  <p:tag name="HEIGHT" val="12.96"/>
  <p:tag name="LEFT" val="743.839965820313"/>
  <p:tag name="WIDTH" val="5.67992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7.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8.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9.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0.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Props/app.xml><?xml version="1.0" encoding="utf-8"?>
<Properties xmlns="http://schemas.openxmlformats.org/officeDocument/2006/extended-properties" xmlns:vt="http://schemas.openxmlformats.org/officeDocument/2006/docPropsVTypes">
  <TotalTime>37880</TotalTime>
  <Words>1783</Words>
  <Application>Microsoft Office PowerPoint</Application>
  <PresentationFormat>On-screen Show (4:3)</PresentationFormat>
  <Paragraphs>453</Paragraphs>
  <Slides>18</Slides>
  <Notes>18</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Bank of South Pacific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Jerome Kagena</dc:creator>
  <cp:lastModifiedBy>Wendy Gori</cp:lastModifiedBy>
  <cp:revision>411</cp:revision>
  <cp:lastPrinted>2018-07-19T00:03:42Z</cp:lastPrinted>
  <dcterms:created xsi:type="dcterms:W3CDTF">2017-08-07T05:50:32Z</dcterms:created>
  <dcterms:modified xsi:type="dcterms:W3CDTF">2018-08-28T00:49:37Z</dcterms:modified>
</cp:coreProperties>
</file>