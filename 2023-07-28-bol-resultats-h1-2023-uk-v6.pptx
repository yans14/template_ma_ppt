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heme/theme3.xml" ContentType="application/vnd.openxmlformats-officedocument.them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theme/themeOverride1.xml" ContentType="application/vnd.openxmlformats-officedocument.themeOverr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heme/themeOverride2.xml" ContentType="application/vnd.openxmlformats-officedocument.themeOverride+xml"/>
  <Override PartName="/ppt/tags/tag74.xml" ContentType="application/vnd.openxmlformats-officedocument.presentationml.tags+xml"/>
  <Override PartName="/ppt/tags/tag75.xml" ContentType="application/vnd.openxmlformats-officedocument.presentationml.tags+xml"/>
  <Override PartName="/ppt/theme/themeOverride3.xml" ContentType="application/vnd.openxmlformats-officedocument.themeOverride+xml"/>
  <Override PartName="/ppt/tags/tag76.xml" ContentType="application/vnd.openxmlformats-officedocument.presentationml.tags+xml"/>
  <Override PartName="/ppt/tags/tag77.xml" ContentType="application/vnd.openxmlformats-officedocument.presentationml.tags+xml"/>
  <Override PartName="/ppt/notesSlides/notesSlide4.xml" ContentType="application/vnd.openxmlformats-officedocument.presentationml.notesSlide+xml"/>
  <Override PartName="/ppt/theme/themeOverride4.xml" ContentType="application/vnd.openxmlformats-officedocument.themeOverride+xml"/>
  <Override PartName="/ppt/tags/tag78.xml" ContentType="application/vnd.openxmlformats-officedocument.presentationml.tags+xml"/>
  <Override PartName="/ppt/tags/tag79.xml" ContentType="application/vnd.openxmlformats-officedocument.presentationml.tags+xml"/>
  <Override PartName="/ppt/theme/themeOverride5.xml" ContentType="application/vnd.openxmlformats-officedocument.themeOverride+xml"/>
  <Override PartName="/ppt/tags/tag80.xml" ContentType="application/vnd.openxmlformats-officedocument.presentationml.tags+xml"/>
  <Override PartName="/ppt/theme/themeOverride6.xml" ContentType="application/vnd.openxmlformats-officedocument.themeOverride+xml"/>
  <Override PartName="/ppt/tags/tag81.xml" ContentType="application/vnd.openxmlformats-officedocument.presentationml.tags+xml"/>
  <Override PartName="/ppt/theme/themeOverride7.xml" ContentType="application/vnd.openxmlformats-officedocument.themeOverride+xml"/>
  <Override PartName="/ppt/tags/tag82.xml" ContentType="application/vnd.openxmlformats-officedocument.presentationml.tags+xml"/>
  <Override PartName="/ppt/tags/tag83.xml" ContentType="application/vnd.openxmlformats-officedocument.presentationml.tags+xml"/>
  <Override PartName="/ppt/theme/themeOverride8.xml" ContentType="application/vnd.openxmlformats-officedocument.themeOverride+xml"/>
  <Override PartName="/ppt/tags/tag84.xml" ContentType="application/vnd.openxmlformats-officedocument.presentationml.tags+xml"/>
  <Override PartName="/ppt/theme/themeOverride9.xml" ContentType="application/vnd.openxmlformats-officedocument.themeOverride+xml"/>
  <Override PartName="/ppt/tags/tag85.xml" ContentType="application/vnd.openxmlformats-officedocument.presentationml.tags+xml"/>
  <Override PartName="/ppt/theme/themeOverride10.xml" ContentType="application/vnd.openxmlformats-officedocument.themeOverride+xml"/>
  <Override PartName="/ppt/tags/tag86.xml" ContentType="application/vnd.openxmlformats-officedocument.presentationml.tags+xml"/>
  <Override PartName="/ppt/theme/themeOverride11.xml" ContentType="application/vnd.openxmlformats-officedocument.themeOverr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heme/themeOverride12.xml" ContentType="application/vnd.openxmlformats-officedocument.themeOverride+xml"/>
  <Override PartName="/ppt/tags/tag91.xml" ContentType="application/vnd.openxmlformats-officedocument.presentationml.tags+xml"/>
  <Override PartName="/ppt/tags/tag92.xml" ContentType="application/vnd.openxmlformats-officedocument.presentationml.tags+xml"/>
  <Override PartName="/ppt/theme/themeOverride13.xml" ContentType="application/vnd.openxmlformats-officedocument.themeOverride+xml"/>
  <Override PartName="/ppt/tags/tag93.xml" ContentType="application/vnd.openxmlformats-officedocument.presentationml.tags+xml"/>
  <Override PartName="/ppt/tags/tag94.xml" ContentType="application/vnd.openxmlformats-officedocument.presentationml.tags+xml"/>
  <Override PartName="/ppt/theme/themeOverride14.xml" ContentType="application/vnd.openxmlformats-officedocument.themeOverride+xml"/>
  <Override PartName="/ppt/tags/tag95.xml" ContentType="application/vnd.openxmlformats-officedocument.presentationml.tags+xml"/>
  <Override PartName="/ppt/notesSlides/notesSlide5.xml" ContentType="application/vnd.openxmlformats-officedocument.presentationml.notesSlide+xml"/>
  <Override PartName="/ppt/theme/themeOverride15.xml" ContentType="application/vnd.openxmlformats-officedocument.themeOverride+xml"/>
  <Override PartName="/ppt/tags/tag96.xml" ContentType="application/vnd.openxmlformats-officedocument.presentationml.tags+xml"/>
  <Override PartName="/ppt/notesSlides/notesSlide6.xml" ContentType="application/vnd.openxmlformats-officedocument.presentationml.notesSlide+xml"/>
  <Override PartName="/ppt/theme/themeOverride16.xml" ContentType="application/vnd.openxmlformats-officedocument.themeOverride+xml"/>
  <Override PartName="/ppt/tags/tag97.xml" ContentType="application/vnd.openxmlformats-officedocument.presentationml.tags+xml"/>
  <Override PartName="/ppt/theme/themeOverride17.xml" ContentType="application/vnd.openxmlformats-officedocument.themeOverride+xml"/>
  <Override PartName="/ppt/tags/tag98.xml" ContentType="application/vnd.openxmlformats-officedocument.presentationml.tags+xml"/>
  <Override PartName="/ppt/theme/themeOverride18.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9" r:id="rId5"/>
  </p:sldMasterIdLst>
  <p:notesMasterIdLst>
    <p:notesMasterId r:id="rId41"/>
  </p:notesMasterIdLst>
  <p:sldIdLst>
    <p:sldId id="256" r:id="rId6"/>
    <p:sldId id="263" r:id="rId7"/>
    <p:sldId id="264" r:id="rId8"/>
    <p:sldId id="590" r:id="rId9"/>
    <p:sldId id="638" r:id="rId10"/>
    <p:sldId id="595" r:id="rId11"/>
    <p:sldId id="639" r:id="rId12"/>
    <p:sldId id="621" r:id="rId13"/>
    <p:sldId id="677" r:id="rId14"/>
    <p:sldId id="422" r:id="rId15"/>
    <p:sldId id="599" r:id="rId16"/>
    <p:sldId id="267" r:id="rId17"/>
    <p:sldId id="361" r:id="rId18"/>
    <p:sldId id="435" r:id="rId19"/>
    <p:sldId id="393" r:id="rId20"/>
    <p:sldId id="412" r:id="rId21"/>
    <p:sldId id="550" r:id="rId22"/>
    <p:sldId id="622" r:id="rId23"/>
    <p:sldId id="633" r:id="rId24"/>
    <p:sldId id="623" r:id="rId25"/>
    <p:sldId id="586" r:id="rId26"/>
    <p:sldId id="600" r:id="rId27"/>
    <p:sldId id="601" r:id="rId28"/>
    <p:sldId id="634" r:id="rId29"/>
    <p:sldId id="635" r:id="rId30"/>
    <p:sldId id="636" r:id="rId31"/>
    <p:sldId id="603" r:id="rId32"/>
    <p:sldId id="265" r:id="rId33"/>
    <p:sldId id="408" r:id="rId34"/>
    <p:sldId id="432" r:id="rId35"/>
    <p:sldId id="604" r:id="rId36"/>
    <p:sldId id="433" r:id="rId37"/>
    <p:sldId id="427" r:id="rId38"/>
    <p:sldId id="428" r:id="rId39"/>
    <p:sldId id="548" r:id="rId40"/>
  </p:sldIdLst>
  <p:sldSz cx="9144000" cy="5143500" type="screen16x9"/>
  <p:notesSz cx="6797675" cy="9926638"/>
  <p:custDataLst>
    <p:tags r:id="rId42"/>
  </p:custData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8CA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7B9923-1BA8-47C0-9D49-E4DCF46470F8}" v="37" dt="2023-08-28T12:54:47.9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2" d="100"/>
          <a:sy n="132" d="100"/>
        </p:scale>
        <p:origin x="330"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gs" Target="tags/tag1.xml"/><Relationship Id="rId47"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4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ASSO Elisa" userId="af5da939-3989-4c20-9a97-365e1f9a2b2e" providerId="ADAL" clId="{5B7B9923-1BA8-47C0-9D49-E4DCF46470F8}"/>
    <pc:docChg chg="custSel modSld">
      <pc:chgData name="BOASSO Elisa" userId="af5da939-3989-4c20-9a97-365e1f9a2b2e" providerId="ADAL" clId="{5B7B9923-1BA8-47C0-9D49-E4DCF46470F8}" dt="2023-08-28T12:54:47.917" v="95"/>
      <pc:docMkLst>
        <pc:docMk/>
      </pc:docMkLst>
      <pc:sldChg chg="addSp delSp modSp mod">
        <pc:chgData name="BOASSO Elisa" userId="af5da939-3989-4c20-9a97-365e1f9a2b2e" providerId="ADAL" clId="{5B7B9923-1BA8-47C0-9D49-E4DCF46470F8}" dt="2023-08-28T12:40:29.284" v="30"/>
        <pc:sldMkLst>
          <pc:docMk/>
          <pc:sldMk cId="1850271555" sldId="427"/>
        </pc:sldMkLst>
        <pc:picChg chg="del">
          <ac:chgData name="BOASSO Elisa" userId="af5da939-3989-4c20-9a97-365e1f9a2b2e" providerId="ADAL" clId="{5B7B9923-1BA8-47C0-9D49-E4DCF46470F8}" dt="2023-08-28T12:40:29.284" v="22"/>
          <ac:picMkLst>
            <pc:docMk/>
            <pc:sldMk cId="1850271555" sldId="427"/>
            <ac:picMk id="2" creationId="{38343133-330D-44B5-A6C9-133ECC732336}"/>
          </ac:picMkLst>
        </pc:picChg>
        <pc:picChg chg="add mod ord replST">
          <ac:chgData name="BOASSO Elisa" userId="af5da939-3989-4c20-9a97-365e1f9a2b2e" providerId="ADAL" clId="{5B7B9923-1BA8-47C0-9D49-E4DCF46470F8}" dt="2023-08-28T12:40:29.284" v="30"/>
          <ac:picMkLst>
            <pc:docMk/>
            <pc:sldMk cId="1850271555" sldId="427"/>
            <ac:picMk id="3" creationId="{897CD34B-D9CD-4F73-94DF-D4110DA78D25}"/>
          </ac:picMkLst>
        </pc:picChg>
      </pc:sldChg>
      <pc:sldChg chg="addSp delSp modSp mod">
        <pc:chgData name="BOASSO Elisa" userId="af5da939-3989-4c20-9a97-365e1f9a2b2e" providerId="ADAL" clId="{5B7B9923-1BA8-47C0-9D49-E4DCF46470F8}" dt="2023-08-28T12:54:47.917" v="95"/>
        <pc:sldMkLst>
          <pc:docMk/>
          <pc:sldMk cId="133591083" sldId="601"/>
        </pc:sldMkLst>
        <pc:picChg chg="add mod ord replST">
          <ac:chgData name="BOASSO Elisa" userId="af5da939-3989-4c20-9a97-365e1f9a2b2e" providerId="ADAL" clId="{5B7B9923-1BA8-47C0-9D49-E4DCF46470F8}" dt="2023-08-28T12:54:47.917" v="95"/>
          <ac:picMkLst>
            <pc:docMk/>
            <pc:sldMk cId="133591083" sldId="601"/>
            <ac:picMk id="2" creationId="{FCC1AF54-29D3-4FAA-A20F-A340967A3F8E}"/>
          </ac:picMkLst>
        </pc:picChg>
        <pc:picChg chg="del">
          <ac:chgData name="BOASSO Elisa" userId="af5da939-3989-4c20-9a97-365e1f9a2b2e" providerId="ADAL" clId="{5B7B9923-1BA8-47C0-9D49-E4DCF46470F8}" dt="2023-08-28T12:54:47.917" v="87"/>
          <ac:picMkLst>
            <pc:docMk/>
            <pc:sldMk cId="133591083" sldId="601"/>
            <ac:picMk id="10" creationId="{F43BAC66-8B55-42B0-9BBE-495B9FCDD1CA}"/>
          </ac:picMkLst>
        </pc:picChg>
      </pc:sldChg>
      <pc:sldChg chg="modSp mod">
        <pc:chgData name="BOASSO Elisa" userId="af5da939-3989-4c20-9a97-365e1f9a2b2e" providerId="ADAL" clId="{5B7B9923-1BA8-47C0-9D49-E4DCF46470F8}" dt="2023-08-28T12:44:34.804" v="31" actId="20577"/>
        <pc:sldMkLst>
          <pc:docMk/>
          <pc:sldMk cId="1702407733" sldId="621"/>
        </pc:sldMkLst>
        <pc:spChg chg="mod">
          <ac:chgData name="BOASSO Elisa" userId="af5da939-3989-4c20-9a97-365e1f9a2b2e" providerId="ADAL" clId="{5B7B9923-1BA8-47C0-9D49-E4DCF46470F8}" dt="2023-08-28T12:44:34.804" v="31" actId="20577"/>
          <ac:spMkLst>
            <pc:docMk/>
            <pc:sldMk cId="1702407733" sldId="621"/>
            <ac:spMk id="17" creationId="{00000000-0000-0000-0000-000000000000}"/>
          </ac:spMkLst>
        </pc:spChg>
      </pc:sldChg>
      <pc:sldChg chg="addSp delSp modSp mod">
        <pc:chgData name="BOASSO Elisa" userId="af5da939-3989-4c20-9a97-365e1f9a2b2e" providerId="ADAL" clId="{5B7B9923-1BA8-47C0-9D49-E4DCF46470F8}" dt="2023-08-28T12:53:33.974" v="62"/>
        <pc:sldMkLst>
          <pc:docMk/>
          <pc:sldMk cId="2722624864" sldId="623"/>
        </pc:sldMkLst>
        <pc:picChg chg="del">
          <ac:chgData name="BOASSO Elisa" userId="af5da939-3989-4c20-9a97-365e1f9a2b2e" providerId="ADAL" clId="{5B7B9923-1BA8-47C0-9D49-E4DCF46470F8}" dt="2023-08-28T12:53:33.974" v="54"/>
          <ac:picMkLst>
            <pc:docMk/>
            <pc:sldMk cId="2722624864" sldId="623"/>
            <ac:picMk id="2" creationId="{87F153CC-0382-4049-A2DE-2C59878C312A}"/>
          </ac:picMkLst>
        </pc:picChg>
        <pc:picChg chg="add mod ord replST">
          <ac:chgData name="BOASSO Elisa" userId="af5da939-3989-4c20-9a97-365e1f9a2b2e" providerId="ADAL" clId="{5B7B9923-1BA8-47C0-9D49-E4DCF46470F8}" dt="2023-08-28T12:53:33.974" v="62"/>
          <ac:picMkLst>
            <pc:docMk/>
            <pc:sldMk cId="2722624864" sldId="623"/>
            <ac:picMk id="3" creationId="{8E0B8674-1872-480D-A043-C7290B806E1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1BCBFA6-ABE7-4023-A351-C35F1A66B7E0}" type="datetimeFigureOut">
              <a:rPr lang="fr-FR" smtClean="0"/>
              <a:t>28/08/2023</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D11861ED-79FF-484E-AB11-55A8478E6823}" type="slidenum">
              <a:rPr lang="fr-FR" smtClean="0"/>
              <a:t>‹N°›</a:t>
            </a:fld>
            <a:endParaRPr lang="fr-FR"/>
          </a:p>
        </p:txBody>
      </p:sp>
    </p:spTree>
    <p:extLst>
      <p:ext uri="{BB962C8B-B14F-4D97-AF65-F5344CB8AC3E}">
        <p14:creationId xmlns:p14="http://schemas.microsoft.com/office/powerpoint/2010/main" val="4104374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br>
              <a:rPr lang="fr-FR" sz="1200" kern="1200">
                <a:solidFill>
                  <a:schemeClr val="tx1"/>
                </a:solidFill>
                <a:effectLst/>
                <a:latin typeface="+mn-lt"/>
                <a:ea typeface="+mn-ea"/>
                <a:cs typeface="+mn-cs"/>
              </a:rPr>
            </a:br>
            <a:endParaRPr lang="fr-FR"/>
          </a:p>
        </p:txBody>
      </p:sp>
      <p:sp>
        <p:nvSpPr>
          <p:cNvPr id="4" name="Espace réservé du numéro de diapositive 3"/>
          <p:cNvSpPr>
            <a:spLocks noGrp="1"/>
          </p:cNvSpPr>
          <p:nvPr>
            <p:ph type="sldNum" sz="quarter" idx="10"/>
          </p:nvPr>
        </p:nvSpPr>
        <p:spPr/>
        <p:txBody>
          <a:bodyPr/>
          <a:lstStyle/>
          <a:p>
            <a:fld id="{D11861ED-79FF-484E-AB11-55A8478E6823}" type="slidenum">
              <a:rPr lang="fr-FR" smtClean="0"/>
              <a:t>11</a:t>
            </a:fld>
            <a:endParaRPr lang="fr-FR"/>
          </a:p>
        </p:txBody>
      </p:sp>
    </p:spTree>
    <p:extLst>
      <p:ext uri="{BB962C8B-B14F-4D97-AF65-F5344CB8AC3E}">
        <p14:creationId xmlns:p14="http://schemas.microsoft.com/office/powerpoint/2010/main" val="3656374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D11861ED-79FF-484E-AB11-55A8478E6823}" type="slidenum">
              <a:rPr lang="fr-FR" smtClean="0"/>
              <a:t>16</a:t>
            </a:fld>
            <a:endParaRPr lang="fr-FR"/>
          </a:p>
        </p:txBody>
      </p:sp>
    </p:spTree>
    <p:extLst>
      <p:ext uri="{BB962C8B-B14F-4D97-AF65-F5344CB8AC3E}">
        <p14:creationId xmlns:p14="http://schemas.microsoft.com/office/powerpoint/2010/main" val="569767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D11861ED-79FF-484E-AB11-55A8478E6823}" type="slidenum">
              <a:rPr lang="fr-FR" smtClean="0"/>
              <a:t>17</a:t>
            </a:fld>
            <a:endParaRPr lang="fr-FR"/>
          </a:p>
        </p:txBody>
      </p:sp>
    </p:spTree>
    <p:extLst>
      <p:ext uri="{BB962C8B-B14F-4D97-AF65-F5344CB8AC3E}">
        <p14:creationId xmlns:p14="http://schemas.microsoft.com/office/powerpoint/2010/main" val="4058583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11861ED-79FF-484E-AB11-55A8478E6823}" type="slidenum">
              <a:rPr lang="fr-FR" smtClean="0"/>
              <a:t>20</a:t>
            </a:fld>
            <a:endParaRPr lang="fr-FR"/>
          </a:p>
        </p:txBody>
      </p:sp>
    </p:spTree>
    <p:extLst>
      <p:ext uri="{BB962C8B-B14F-4D97-AF65-F5344CB8AC3E}">
        <p14:creationId xmlns:p14="http://schemas.microsoft.com/office/powerpoint/2010/main" val="130414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D11861ED-79FF-484E-AB11-55A8478E6823}" type="slidenum">
              <a:rPr lang="fr-FR" smtClean="0"/>
              <a:t>31</a:t>
            </a:fld>
            <a:endParaRPr lang="fr-FR"/>
          </a:p>
        </p:txBody>
      </p:sp>
    </p:spTree>
    <p:extLst>
      <p:ext uri="{BB962C8B-B14F-4D97-AF65-F5344CB8AC3E}">
        <p14:creationId xmlns:p14="http://schemas.microsoft.com/office/powerpoint/2010/main" val="185424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D11861ED-79FF-484E-AB11-55A8478E6823}" type="slidenum">
              <a:rPr lang="fr-FR" smtClean="0"/>
              <a:t>32</a:t>
            </a:fld>
            <a:endParaRPr lang="fr-FR"/>
          </a:p>
        </p:txBody>
      </p:sp>
    </p:spTree>
    <p:extLst>
      <p:ext uri="{BB962C8B-B14F-4D97-AF65-F5344CB8AC3E}">
        <p14:creationId xmlns:p14="http://schemas.microsoft.com/office/powerpoint/2010/main" val="5401884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slide" Target="../slides/slide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Master" Target="../slideMasters/slideMaster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9.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slide" Target="../slides/slide3.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slideMaster" Target="../slideMasters/slideMaster2.xml"/><Relationship Id="rId5" Type="http://schemas.openxmlformats.org/officeDocument/2006/relationships/tags" Target="../tags/tag16.xml"/><Relationship Id="rId10" Type="http://schemas.openxmlformats.org/officeDocument/2006/relationships/tags" Target="../tags/tag21.xml"/><Relationship Id="rId4" Type="http://schemas.openxmlformats.org/officeDocument/2006/relationships/tags" Target="../tags/tag15.xml"/><Relationship Id="rId9" Type="http://schemas.openxmlformats.org/officeDocument/2006/relationships/tags" Target="../tags/tag20.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29.xml"/><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image" Target="../media/image5.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slideMaster" Target="../slideMasters/slideMaster2.xml"/><Relationship Id="rId5" Type="http://schemas.openxmlformats.org/officeDocument/2006/relationships/tags" Target="../tags/tag26.xml"/><Relationship Id="rId10" Type="http://schemas.openxmlformats.org/officeDocument/2006/relationships/tags" Target="../tags/tag31.xml"/><Relationship Id="rId4" Type="http://schemas.openxmlformats.org/officeDocument/2006/relationships/tags" Target="../tags/tag25.xml"/><Relationship Id="rId9" Type="http://schemas.openxmlformats.org/officeDocument/2006/relationships/tags" Target="../tags/tag3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age de couverture">
    <p:spTree>
      <p:nvGrpSpPr>
        <p:cNvPr id="1" name=""/>
        <p:cNvGrpSpPr/>
        <p:nvPr/>
      </p:nvGrpSpPr>
      <p:grpSpPr>
        <a:xfrm>
          <a:off x="0" y="0"/>
          <a:ext cx="0" cy="0"/>
          <a:chOff x="0" y="0"/>
          <a:chExt cx="0" cy="0"/>
        </a:xfrm>
      </p:grpSpPr>
      <p:sp>
        <p:nvSpPr>
          <p:cNvPr id="19" name="Espace réservé du texte 18"/>
          <p:cNvSpPr>
            <a:spLocks noGrp="1"/>
          </p:cNvSpPr>
          <p:nvPr>
            <p:ph type="body" sz="quarter" idx="10" hasCustomPrompt="1"/>
          </p:nvPr>
        </p:nvSpPr>
        <p:spPr>
          <a:xfrm>
            <a:off x="5875284" y="2071217"/>
            <a:ext cx="2574996" cy="500533"/>
          </a:xfrm>
        </p:spPr>
        <p:txBody>
          <a:bodyPr lIns="0" tIns="0" rIns="0" bIns="0" anchor="b">
            <a:noAutofit/>
          </a:bodyPr>
          <a:lstStyle>
            <a:lvl1pPr marL="0" indent="0" algn="l">
              <a:buFontTx/>
              <a:buNone/>
              <a:defRPr sz="1800" b="0" cap="all" baseline="0">
                <a:solidFill>
                  <a:schemeClr val="tx2"/>
                </a:solidFill>
                <a:latin typeface="+mj-lt"/>
              </a:defRPr>
            </a:lvl1pPr>
          </a:lstStyle>
          <a:p>
            <a:pPr lvl="0"/>
            <a:r>
              <a:rPr lang="fr-FR"/>
              <a:t>Titre de la présentation</a:t>
            </a:r>
          </a:p>
        </p:txBody>
      </p:sp>
      <p:pic>
        <p:nvPicPr>
          <p:cNvPr id="18" name="Image 17" descr="Une image contenant signe, dessin&#10;&#10;Description générée automatiquement">
            <a:extLst>
              <a:ext uri="{FF2B5EF4-FFF2-40B4-BE49-F238E27FC236}">
                <a16:creationId xmlns:a16="http://schemas.microsoft.com/office/drawing/2014/main" id="{F54A34AF-6347-4BDB-AA36-32C609DDF16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41942" y="613226"/>
            <a:ext cx="2256386" cy="1066313"/>
          </a:xfrm>
          <a:prstGeom prst="rect">
            <a:avLst/>
          </a:prstGeom>
        </p:spPr>
      </p:pic>
      <p:sp>
        <p:nvSpPr>
          <p:cNvPr id="6" name="Rectangle 5">
            <a:extLst>
              <a:ext uri="{FF2B5EF4-FFF2-40B4-BE49-F238E27FC236}">
                <a16:creationId xmlns:a16="http://schemas.microsoft.com/office/drawing/2014/main" id="{1A5E4A9D-64A7-43A1-B2CA-A847E3ACA98D}"/>
              </a:ext>
            </a:extLst>
          </p:cNvPr>
          <p:cNvSpPr/>
          <p:nvPr userDrawn="1"/>
        </p:nvSpPr>
        <p:spPr>
          <a:xfrm>
            <a:off x="8191896" y="4659982"/>
            <a:ext cx="916608" cy="4284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err="1">
              <a:latin typeface="+mj-lt"/>
            </a:endParaRPr>
          </a:p>
        </p:txBody>
      </p:sp>
      <p:sp>
        <p:nvSpPr>
          <p:cNvPr id="21" name="Espace réservé du texte 20"/>
          <p:cNvSpPr>
            <a:spLocks noGrp="1"/>
          </p:cNvSpPr>
          <p:nvPr>
            <p:ph type="body" sz="quarter" idx="11" hasCustomPrompt="1"/>
          </p:nvPr>
        </p:nvSpPr>
        <p:spPr>
          <a:xfrm>
            <a:off x="5875284" y="4545766"/>
            <a:ext cx="2574996" cy="184666"/>
          </a:xfrm>
        </p:spPr>
        <p:txBody>
          <a:bodyPr lIns="0" tIns="0" rIns="0" bIns="0" anchor="ctr">
            <a:spAutoFit/>
          </a:bodyPr>
          <a:lstStyle>
            <a:lvl1pPr marL="0" indent="0" algn="l">
              <a:buFontTx/>
              <a:buNone/>
              <a:defRPr sz="1200" b="0" cap="all" baseline="0">
                <a:solidFill>
                  <a:schemeClr val="tx2"/>
                </a:solidFill>
              </a:defRPr>
            </a:lvl1pPr>
          </a:lstStyle>
          <a:p>
            <a:pPr lvl="0"/>
            <a:r>
              <a:rPr lang="fr-FR"/>
              <a:t>Date</a:t>
            </a:r>
          </a:p>
        </p:txBody>
      </p:sp>
      <p:sp>
        <p:nvSpPr>
          <p:cNvPr id="7" name="Rectangle 6">
            <a:extLst>
              <a:ext uri="{FF2B5EF4-FFF2-40B4-BE49-F238E27FC236}">
                <a16:creationId xmlns:a16="http://schemas.microsoft.com/office/drawing/2014/main" id="{64ACB11C-DA04-4720-8A24-15D408270C0B}"/>
              </a:ext>
            </a:extLst>
          </p:cNvPr>
          <p:cNvSpPr>
            <a:spLocks/>
          </p:cNvSpPr>
          <p:nvPr userDrawn="1"/>
        </p:nvSpPr>
        <p:spPr>
          <a:xfrm>
            <a:off x="1" y="5114700"/>
            <a:ext cx="9144000" cy="2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charset="0"/>
            </a:endParaRPr>
          </a:p>
        </p:txBody>
      </p:sp>
    </p:spTree>
    <p:extLst>
      <p:ext uri="{BB962C8B-B14F-4D97-AF65-F5344CB8AC3E}">
        <p14:creationId xmlns:p14="http://schemas.microsoft.com/office/powerpoint/2010/main" val="196522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age de couverture (Financière de l'Odet)">
    <p:spTree>
      <p:nvGrpSpPr>
        <p:cNvPr id="1" name=""/>
        <p:cNvGrpSpPr/>
        <p:nvPr/>
      </p:nvGrpSpPr>
      <p:grpSpPr>
        <a:xfrm>
          <a:off x="0" y="0"/>
          <a:ext cx="0" cy="0"/>
          <a:chOff x="0" y="0"/>
          <a:chExt cx="0" cy="0"/>
        </a:xfrm>
      </p:grpSpPr>
      <p:pic>
        <p:nvPicPr>
          <p:cNvPr id="7" name="Image 3">
            <a:extLst>
              <a:ext uri="{FF2B5EF4-FFF2-40B4-BE49-F238E27FC236}">
                <a16:creationId xmlns:a16="http://schemas.microsoft.com/office/drawing/2014/main" id="{70C4D8ED-7FB0-4109-8B93-BB9308F13F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922852" y="708256"/>
            <a:ext cx="4140122" cy="1393150"/>
          </a:xfrm>
          <a:prstGeom prst="rect">
            <a:avLst/>
          </a:prstGeom>
        </p:spPr>
      </p:pic>
      <p:sp>
        <p:nvSpPr>
          <p:cNvPr id="19" name="Espace réservé du texte 18"/>
          <p:cNvSpPr>
            <a:spLocks noGrp="1"/>
          </p:cNvSpPr>
          <p:nvPr>
            <p:ph type="body" sz="quarter" idx="10" hasCustomPrompt="1"/>
          </p:nvPr>
        </p:nvSpPr>
        <p:spPr>
          <a:xfrm>
            <a:off x="5875284" y="2071217"/>
            <a:ext cx="2574996" cy="500533"/>
          </a:xfrm>
        </p:spPr>
        <p:txBody>
          <a:bodyPr lIns="0" tIns="0" rIns="0" bIns="0" anchor="b">
            <a:noAutofit/>
          </a:bodyPr>
          <a:lstStyle>
            <a:lvl1pPr marL="0" indent="0" algn="l">
              <a:buFontTx/>
              <a:buNone/>
              <a:defRPr sz="1800" b="0" cap="all" baseline="0">
                <a:solidFill>
                  <a:schemeClr val="tx2"/>
                </a:solidFill>
                <a:latin typeface="+mj-lt"/>
              </a:defRPr>
            </a:lvl1pPr>
          </a:lstStyle>
          <a:p>
            <a:pPr lvl="0"/>
            <a:r>
              <a:rPr lang="fr-FR"/>
              <a:t>Titre de la présentation</a:t>
            </a:r>
          </a:p>
        </p:txBody>
      </p:sp>
      <p:sp>
        <p:nvSpPr>
          <p:cNvPr id="6" name="Rectangle 5">
            <a:extLst>
              <a:ext uri="{FF2B5EF4-FFF2-40B4-BE49-F238E27FC236}">
                <a16:creationId xmlns:a16="http://schemas.microsoft.com/office/drawing/2014/main" id="{1A5E4A9D-64A7-43A1-B2CA-A847E3ACA98D}"/>
              </a:ext>
            </a:extLst>
          </p:cNvPr>
          <p:cNvSpPr>
            <a:spLocks/>
          </p:cNvSpPr>
          <p:nvPr userDrawn="1"/>
        </p:nvSpPr>
        <p:spPr>
          <a:xfrm>
            <a:off x="8191896" y="4659982"/>
            <a:ext cx="916608" cy="4284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err="1">
              <a:latin typeface="+mj-lt"/>
            </a:endParaRPr>
          </a:p>
        </p:txBody>
      </p:sp>
      <p:sp>
        <p:nvSpPr>
          <p:cNvPr id="21" name="Espace réservé du texte 20"/>
          <p:cNvSpPr>
            <a:spLocks noGrp="1"/>
          </p:cNvSpPr>
          <p:nvPr>
            <p:ph type="body" sz="quarter" idx="11" hasCustomPrompt="1"/>
          </p:nvPr>
        </p:nvSpPr>
        <p:spPr>
          <a:xfrm>
            <a:off x="5875284" y="4545766"/>
            <a:ext cx="2574996" cy="184666"/>
          </a:xfrm>
        </p:spPr>
        <p:txBody>
          <a:bodyPr lIns="0" tIns="0" rIns="0" bIns="0" anchor="ctr">
            <a:spAutoFit/>
          </a:bodyPr>
          <a:lstStyle>
            <a:lvl1pPr marL="0" indent="0" algn="l">
              <a:buFontTx/>
              <a:buNone/>
              <a:defRPr sz="1200" b="0" cap="all" baseline="0">
                <a:solidFill>
                  <a:schemeClr val="tx2"/>
                </a:solidFill>
              </a:defRPr>
            </a:lvl1pPr>
          </a:lstStyle>
          <a:p>
            <a:pPr lvl="0"/>
            <a:r>
              <a:rPr lang="fr-FR"/>
              <a:t>Date</a:t>
            </a:r>
          </a:p>
        </p:txBody>
      </p:sp>
      <p:sp>
        <p:nvSpPr>
          <p:cNvPr id="8" name="Rectangle 7">
            <a:extLst>
              <a:ext uri="{FF2B5EF4-FFF2-40B4-BE49-F238E27FC236}">
                <a16:creationId xmlns:a16="http://schemas.microsoft.com/office/drawing/2014/main" id="{AF3B527F-3455-420F-8BA2-A371ADAC18ED}"/>
              </a:ext>
            </a:extLst>
          </p:cNvPr>
          <p:cNvSpPr>
            <a:spLocks/>
          </p:cNvSpPr>
          <p:nvPr userDrawn="1"/>
        </p:nvSpPr>
        <p:spPr>
          <a:xfrm>
            <a:off x="1" y="5114700"/>
            <a:ext cx="9144000" cy="2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charset="0"/>
            </a:endParaRPr>
          </a:p>
        </p:txBody>
      </p:sp>
    </p:spTree>
    <p:extLst>
      <p:ext uri="{BB962C8B-B14F-4D97-AF65-F5344CB8AC3E}">
        <p14:creationId xmlns:p14="http://schemas.microsoft.com/office/powerpoint/2010/main" val="2441850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ge de couverture (Neutre)">
    <p:spTree>
      <p:nvGrpSpPr>
        <p:cNvPr id="1" name=""/>
        <p:cNvGrpSpPr/>
        <p:nvPr/>
      </p:nvGrpSpPr>
      <p:grpSpPr>
        <a:xfrm>
          <a:off x="0" y="0"/>
          <a:ext cx="0" cy="0"/>
          <a:chOff x="0" y="0"/>
          <a:chExt cx="0" cy="0"/>
        </a:xfrm>
      </p:grpSpPr>
      <p:sp>
        <p:nvSpPr>
          <p:cNvPr id="19" name="Espace réservé du texte 18"/>
          <p:cNvSpPr>
            <a:spLocks noGrp="1"/>
          </p:cNvSpPr>
          <p:nvPr>
            <p:ph type="body" sz="quarter" idx="10" hasCustomPrompt="1"/>
          </p:nvPr>
        </p:nvSpPr>
        <p:spPr>
          <a:xfrm>
            <a:off x="5875284" y="2071217"/>
            <a:ext cx="2574996" cy="500533"/>
          </a:xfrm>
        </p:spPr>
        <p:txBody>
          <a:bodyPr lIns="0" tIns="0" rIns="0" bIns="0" anchor="b">
            <a:noAutofit/>
          </a:bodyPr>
          <a:lstStyle>
            <a:lvl1pPr marL="0" indent="0" algn="l">
              <a:buFontTx/>
              <a:buNone/>
              <a:defRPr sz="1800" b="0" cap="all" baseline="0">
                <a:solidFill>
                  <a:schemeClr val="tx2"/>
                </a:solidFill>
                <a:latin typeface="+mj-lt"/>
              </a:defRPr>
            </a:lvl1pPr>
          </a:lstStyle>
          <a:p>
            <a:pPr lvl="0"/>
            <a:r>
              <a:rPr lang="fr-FR"/>
              <a:t>Titre de la présentation</a:t>
            </a:r>
          </a:p>
        </p:txBody>
      </p:sp>
      <p:sp>
        <p:nvSpPr>
          <p:cNvPr id="6" name="Rectangle 5">
            <a:extLst>
              <a:ext uri="{FF2B5EF4-FFF2-40B4-BE49-F238E27FC236}">
                <a16:creationId xmlns:a16="http://schemas.microsoft.com/office/drawing/2014/main" id="{1A5E4A9D-64A7-43A1-B2CA-A847E3ACA98D}"/>
              </a:ext>
            </a:extLst>
          </p:cNvPr>
          <p:cNvSpPr>
            <a:spLocks/>
          </p:cNvSpPr>
          <p:nvPr userDrawn="1"/>
        </p:nvSpPr>
        <p:spPr>
          <a:xfrm>
            <a:off x="8191896" y="4659982"/>
            <a:ext cx="916608" cy="4284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err="1">
              <a:latin typeface="+mj-lt"/>
            </a:endParaRPr>
          </a:p>
        </p:txBody>
      </p:sp>
      <p:sp>
        <p:nvSpPr>
          <p:cNvPr id="21" name="Espace réservé du texte 20"/>
          <p:cNvSpPr>
            <a:spLocks noGrp="1"/>
          </p:cNvSpPr>
          <p:nvPr>
            <p:ph type="body" sz="quarter" idx="11" hasCustomPrompt="1"/>
          </p:nvPr>
        </p:nvSpPr>
        <p:spPr>
          <a:xfrm>
            <a:off x="5875284" y="4545766"/>
            <a:ext cx="2574996" cy="184666"/>
          </a:xfrm>
        </p:spPr>
        <p:txBody>
          <a:bodyPr lIns="0" tIns="0" rIns="0" bIns="0" anchor="ctr">
            <a:spAutoFit/>
          </a:bodyPr>
          <a:lstStyle>
            <a:lvl1pPr marL="0" indent="0" algn="l">
              <a:buFontTx/>
              <a:buNone/>
              <a:defRPr sz="1200" b="0" cap="all" baseline="0">
                <a:solidFill>
                  <a:schemeClr val="tx2"/>
                </a:solidFill>
              </a:defRPr>
            </a:lvl1pPr>
          </a:lstStyle>
          <a:p>
            <a:pPr lvl="0"/>
            <a:r>
              <a:rPr lang="fr-FR"/>
              <a:t>Date</a:t>
            </a:r>
          </a:p>
        </p:txBody>
      </p:sp>
      <p:sp>
        <p:nvSpPr>
          <p:cNvPr id="5" name="Rectangle 4">
            <a:extLst>
              <a:ext uri="{FF2B5EF4-FFF2-40B4-BE49-F238E27FC236}">
                <a16:creationId xmlns:a16="http://schemas.microsoft.com/office/drawing/2014/main" id="{E7680A39-4D81-40DF-B505-98523066DA71}"/>
              </a:ext>
            </a:extLst>
          </p:cNvPr>
          <p:cNvSpPr>
            <a:spLocks/>
          </p:cNvSpPr>
          <p:nvPr userDrawn="1"/>
        </p:nvSpPr>
        <p:spPr>
          <a:xfrm>
            <a:off x="1" y="5114700"/>
            <a:ext cx="9144000" cy="2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charset="0"/>
            </a:endParaRPr>
          </a:p>
        </p:txBody>
      </p:sp>
    </p:spTree>
    <p:extLst>
      <p:ext uri="{BB962C8B-B14F-4D97-AF65-F5344CB8AC3E}">
        <p14:creationId xmlns:p14="http://schemas.microsoft.com/office/powerpoint/2010/main" val="1484095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07951" y="914400"/>
            <a:ext cx="8926512" cy="3619500"/>
          </a:xfrm>
        </p:spPr>
        <p:txBody>
          <a:bodyPr/>
          <a:lstStyle>
            <a:lvl1pPr>
              <a:defRPr/>
            </a:lvl1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8" name="Titre 7"/>
          <p:cNvSpPr>
            <a:spLocks noGrp="1"/>
          </p:cNvSpPr>
          <p:nvPr>
            <p:ph type="title"/>
          </p:nvPr>
        </p:nvSpPr>
        <p:spPr/>
        <p:txBody>
          <a:bodyPr/>
          <a:lstStyle/>
          <a:p>
            <a:r>
              <a:rPr lang="fr-FR"/>
              <a:t>Modifiez le style du titre</a:t>
            </a:r>
          </a:p>
        </p:txBody>
      </p:sp>
      <p:sp>
        <p:nvSpPr>
          <p:cNvPr id="4" name="Espace réservé du texte 3"/>
          <p:cNvSpPr>
            <a:spLocks noGrp="1"/>
          </p:cNvSpPr>
          <p:nvPr>
            <p:ph type="body" sz="quarter" idx="13" hasCustomPrompt="1"/>
          </p:nvPr>
        </p:nvSpPr>
        <p:spPr>
          <a:xfrm>
            <a:off x="107951" y="502900"/>
            <a:ext cx="8926512" cy="215900"/>
          </a:xfrm>
        </p:spPr>
        <p:txBody>
          <a:bodyPr tIns="0" bIns="0" anchor="ctr"/>
          <a:lstStyle>
            <a:lvl1pPr marL="0" indent="0">
              <a:buFontTx/>
              <a:buNone/>
              <a:defRPr sz="1800" b="0" cap="all" baseline="0">
                <a:solidFill>
                  <a:schemeClr val="tx2"/>
                </a:solidFill>
              </a:defRPr>
            </a:lvl1pPr>
          </a:lstStyle>
          <a:p>
            <a:pPr lvl="0"/>
            <a:r>
              <a:rPr lang="fr-FR"/>
              <a:t>Sous-titre</a:t>
            </a:r>
          </a:p>
        </p:txBody>
      </p:sp>
    </p:spTree>
    <p:extLst>
      <p:ext uri="{BB962C8B-B14F-4D97-AF65-F5344CB8AC3E}">
        <p14:creationId xmlns:p14="http://schemas.microsoft.com/office/powerpoint/2010/main" val="257744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8" name="Titre 7"/>
          <p:cNvSpPr>
            <a:spLocks noGrp="1"/>
          </p:cNvSpPr>
          <p:nvPr>
            <p:ph type="title"/>
          </p:nvPr>
        </p:nvSpPr>
        <p:spPr/>
        <p:txBody>
          <a:bodyPr/>
          <a:lstStyle/>
          <a:p>
            <a:r>
              <a:rPr lang="fr-FR"/>
              <a:t>Modifiez le style du titre</a:t>
            </a:r>
          </a:p>
        </p:txBody>
      </p:sp>
      <p:sp>
        <p:nvSpPr>
          <p:cNvPr id="2" name="Espace réservé du contenu 1"/>
          <p:cNvSpPr>
            <a:spLocks noGrp="1"/>
          </p:cNvSpPr>
          <p:nvPr>
            <p:ph sz="quarter" idx="13"/>
          </p:nvPr>
        </p:nvSpPr>
        <p:spPr>
          <a:xfrm>
            <a:off x="107950" y="914400"/>
            <a:ext cx="4402800" cy="36195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14"/>
          </p:nvPr>
        </p:nvSpPr>
        <p:spPr>
          <a:xfrm>
            <a:off x="4631663" y="914400"/>
            <a:ext cx="4402800" cy="36195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texte 3"/>
          <p:cNvSpPr>
            <a:spLocks noGrp="1"/>
          </p:cNvSpPr>
          <p:nvPr>
            <p:ph type="body" sz="quarter" idx="15" hasCustomPrompt="1"/>
          </p:nvPr>
        </p:nvSpPr>
        <p:spPr>
          <a:xfrm>
            <a:off x="107951" y="502900"/>
            <a:ext cx="8926512" cy="215900"/>
          </a:xfrm>
        </p:spPr>
        <p:txBody>
          <a:bodyPr tIns="0" bIns="0" anchor="ctr"/>
          <a:lstStyle>
            <a:lvl1pPr marL="0" indent="0">
              <a:buFontTx/>
              <a:buNone/>
              <a:defRPr sz="1800" b="0" cap="all" baseline="0">
                <a:solidFill>
                  <a:schemeClr val="tx2"/>
                </a:solidFill>
              </a:defRPr>
            </a:lvl1pPr>
          </a:lstStyle>
          <a:p>
            <a:pPr lvl="0"/>
            <a:r>
              <a:rPr lang="fr-FR"/>
              <a:t>Sous-titre</a:t>
            </a:r>
          </a:p>
        </p:txBody>
      </p:sp>
    </p:spTree>
    <p:extLst>
      <p:ext uri="{BB962C8B-B14F-4D97-AF65-F5344CB8AC3E}">
        <p14:creationId xmlns:p14="http://schemas.microsoft.com/office/powerpoint/2010/main" val="2285818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Line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8" name="Titre 7"/>
          <p:cNvSpPr>
            <a:spLocks noGrp="1"/>
          </p:cNvSpPr>
          <p:nvPr>
            <p:ph type="title"/>
          </p:nvPr>
        </p:nvSpPr>
        <p:spPr/>
        <p:txBody>
          <a:bodyPr/>
          <a:lstStyle/>
          <a:p>
            <a:r>
              <a:rPr lang="fr-FR"/>
              <a:t>Modifiez le style du titre</a:t>
            </a:r>
          </a:p>
        </p:txBody>
      </p:sp>
      <p:sp>
        <p:nvSpPr>
          <p:cNvPr id="2" name="Espace réservé du contenu 1"/>
          <p:cNvSpPr>
            <a:spLocks noGrp="1"/>
          </p:cNvSpPr>
          <p:nvPr>
            <p:ph sz="quarter" idx="13"/>
          </p:nvPr>
        </p:nvSpPr>
        <p:spPr>
          <a:xfrm>
            <a:off x="107951" y="914400"/>
            <a:ext cx="8926512" cy="17460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14"/>
          </p:nvPr>
        </p:nvSpPr>
        <p:spPr>
          <a:xfrm>
            <a:off x="107951" y="2787900"/>
            <a:ext cx="8926512" cy="17460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texte 3"/>
          <p:cNvSpPr>
            <a:spLocks noGrp="1"/>
          </p:cNvSpPr>
          <p:nvPr>
            <p:ph type="body" sz="quarter" idx="15" hasCustomPrompt="1"/>
          </p:nvPr>
        </p:nvSpPr>
        <p:spPr>
          <a:xfrm>
            <a:off x="107951" y="502900"/>
            <a:ext cx="8926512" cy="215900"/>
          </a:xfrm>
        </p:spPr>
        <p:txBody>
          <a:bodyPr tIns="0" bIns="0" anchor="ctr"/>
          <a:lstStyle>
            <a:lvl1pPr marL="0" indent="0">
              <a:buFontTx/>
              <a:buNone/>
              <a:defRPr sz="1800" b="0" cap="all" baseline="0">
                <a:solidFill>
                  <a:schemeClr val="tx2"/>
                </a:solidFill>
              </a:defRPr>
            </a:lvl1pPr>
          </a:lstStyle>
          <a:p>
            <a:pPr lvl="0"/>
            <a:r>
              <a:rPr lang="fr-FR"/>
              <a:t>Sous-titre</a:t>
            </a:r>
          </a:p>
        </p:txBody>
      </p:sp>
    </p:spTree>
    <p:extLst>
      <p:ext uri="{BB962C8B-B14F-4D97-AF65-F5344CB8AC3E}">
        <p14:creationId xmlns:p14="http://schemas.microsoft.com/office/powerpoint/2010/main" val="2757829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Square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8" name="Titre 7"/>
          <p:cNvSpPr>
            <a:spLocks noGrp="1"/>
          </p:cNvSpPr>
          <p:nvPr>
            <p:ph type="title"/>
          </p:nvPr>
        </p:nvSpPr>
        <p:spPr/>
        <p:txBody>
          <a:bodyPr/>
          <a:lstStyle/>
          <a:p>
            <a:r>
              <a:rPr lang="fr-FR"/>
              <a:t>Modifiez le style du titre</a:t>
            </a:r>
          </a:p>
        </p:txBody>
      </p:sp>
      <p:sp>
        <p:nvSpPr>
          <p:cNvPr id="2" name="Espace réservé du contenu 1"/>
          <p:cNvSpPr>
            <a:spLocks noGrp="1"/>
          </p:cNvSpPr>
          <p:nvPr>
            <p:ph sz="quarter" idx="13"/>
          </p:nvPr>
        </p:nvSpPr>
        <p:spPr>
          <a:xfrm>
            <a:off x="107950" y="915566"/>
            <a:ext cx="4402800" cy="17460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14"/>
          </p:nvPr>
        </p:nvSpPr>
        <p:spPr>
          <a:xfrm>
            <a:off x="107950" y="2787900"/>
            <a:ext cx="4402800" cy="17460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contenu 4"/>
          <p:cNvSpPr>
            <a:spLocks noGrp="1"/>
          </p:cNvSpPr>
          <p:nvPr>
            <p:ph sz="quarter" idx="15"/>
          </p:nvPr>
        </p:nvSpPr>
        <p:spPr>
          <a:xfrm>
            <a:off x="4631663" y="915566"/>
            <a:ext cx="4402800" cy="17460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contenu 6"/>
          <p:cNvSpPr>
            <a:spLocks noGrp="1"/>
          </p:cNvSpPr>
          <p:nvPr>
            <p:ph sz="quarter" idx="16"/>
          </p:nvPr>
        </p:nvSpPr>
        <p:spPr>
          <a:xfrm>
            <a:off x="4631663" y="2787900"/>
            <a:ext cx="4402800" cy="17460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texte 3"/>
          <p:cNvSpPr>
            <a:spLocks noGrp="1"/>
          </p:cNvSpPr>
          <p:nvPr>
            <p:ph type="body" sz="quarter" idx="17" hasCustomPrompt="1"/>
          </p:nvPr>
        </p:nvSpPr>
        <p:spPr>
          <a:xfrm>
            <a:off x="107951" y="502900"/>
            <a:ext cx="8926512" cy="215900"/>
          </a:xfrm>
        </p:spPr>
        <p:txBody>
          <a:bodyPr tIns="0" bIns="0" anchor="ctr"/>
          <a:lstStyle>
            <a:lvl1pPr marL="0" indent="0">
              <a:buFontTx/>
              <a:buNone/>
              <a:defRPr sz="1800" b="0" cap="all" baseline="0">
                <a:solidFill>
                  <a:schemeClr val="tx2"/>
                </a:solidFill>
              </a:defRPr>
            </a:lvl1pPr>
          </a:lstStyle>
          <a:p>
            <a:pPr lvl="0"/>
            <a:r>
              <a:rPr lang="fr-FR"/>
              <a:t>Sous-titre</a:t>
            </a:r>
          </a:p>
        </p:txBody>
      </p:sp>
    </p:spTree>
    <p:extLst>
      <p:ext uri="{BB962C8B-B14F-4D97-AF65-F5344CB8AC3E}">
        <p14:creationId xmlns:p14="http://schemas.microsoft.com/office/powerpoint/2010/main" val="607296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2/3, 1/3)">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8" name="Titre 7"/>
          <p:cNvSpPr>
            <a:spLocks noGrp="1"/>
          </p:cNvSpPr>
          <p:nvPr>
            <p:ph type="title"/>
          </p:nvPr>
        </p:nvSpPr>
        <p:spPr/>
        <p:txBody>
          <a:bodyPr/>
          <a:lstStyle/>
          <a:p>
            <a:r>
              <a:rPr lang="fr-FR"/>
              <a:t>Modifiez le style du titre</a:t>
            </a:r>
          </a:p>
        </p:txBody>
      </p:sp>
      <p:sp>
        <p:nvSpPr>
          <p:cNvPr id="2" name="Espace réservé du contenu 1"/>
          <p:cNvSpPr>
            <a:spLocks noGrp="1"/>
          </p:cNvSpPr>
          <p:nvPr>
            <p:ph sz="quarter" idx="13"/>
          </p:nvPr>
        </p:nvSpPr>
        <p:spPr>
          <a:xfrm>
            <a:off x="107949" y="914400"/>
            <a:ext cx="5908675" cy="36195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14"/>
          </p:nvPr>
        </p:nvSpPr>
        <p:spPr>
          <a:xfrm>
            <a:off x="6143625" y="914400"/>
            <a:ext cx="2890838" cy="36195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texte 3"/>
          <p:cNvSpPr>
            <a:spLocks noGrp="1"/>
          </p:cNvSpPr>
          <p:nvPr>
            <p:ph type="body" sz="quarter" idx="15" hasCustomPrompt="1"/>
          </p:nvPr>
        </p:nvSpPr>
        <p:spPr>
          <a:xfrm>
            <a:off x="107951" y="502900"/>
            <a:ext cx="8926512" cy="215900"/>
          </a:xfrm>
        </p:spPr>
        <p:txBody>
          <a:bodyPr tIns="0" bIns="0" anchor="ctr"/>
          <a:lstStyle>
            <a:lvl1pPr marL="0" indent="0">
              <a:buFontTx/>
              <a:buNone/>
              <a:defRPr sz="1800" b="0" cap="all" baseline="0">
                <a:solidFill>
                  <a:schemeClr val="tx2"/>
                </a:solidFill>
              </a:defRPr>
            </a:lvl1pPr>
          </a:lstStyle>
          <a:p>
            <a:pPr lvl="0"/>
            <a:r>
              <a:rPr lang="fr-FR"/>
              <a:t>Sous-titre</a:t>
            </a:r>
          </a:p>
        </p:txBody>
      </p:sp>
    </p:spTree>
    <p:extLst>
      <p:ext uri="{BB962C8B-B14F-4D97-AF65-F5344CB8AC3E}">
        <p14:creationId xmlns:p14="http://schemas.microsoft.com/office/powerpoint/2010/main" val="396594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 (1)">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8" name="Titre 7"/>
          <p:cNvSpPr>
            <a:spLocks noGrp="1"/>
          </p:cNvSpPr>
          <p:nvPr>
            <p:ph type="title"/>
          </p:nvPr>
        </p:nvSpPr>
        <p:spPr/>
        <p:txBody>
          <a:bodyPr/>
          <a:lstStyle/>
          <a:p>
            <a:r>
              <a:rPr lang="fr-FR"/>
              <a:t>Modifiez le style du titre</a:t>
            </a:r>
          </a:p>
        </p:txBody>
      </p:sp>
      <p:sp>
        <p:nvSpPr>
          <p:cNvPr id="2" name="Espace réservé du contenu 1"/>
          <p:cNvSpPr>
            <a:spLocks noGrp="1"/>
          </p:cNvSpPr>
          <p:nvPr>
            <p:ph sz="quarter" idx="13"/>
          </p:nvPr>
        </p:nvSpPr>
        <p:spPr>
          <a:xfrm>
            <a:off x="107950" y="915566"/>
            <a:ext cx="6840000" cy="252000"/>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14"/>
          </p:nvPr>
        </p:nvSpPr>
        <p:spPr>
          <a:xfrm>
            <a:off x="107951" y="2908768"/>
            <a:ext cx="6840000" cy="1625132"/>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texte 3"/>
          <p:cNvSpPr>
            <a:spLocks noGrp="1"/>
          </p:cNvSpPr>
          <p:nvPr>
            <p:ph type="body" sz="quarter" idx="15" hasCustomPrompt="1"/>
          </p:nvPr>
        </p:nvSpPr>
        <p:spPr>
          <a:xfrm>
            <a:off x="107951" y="502900"/>
            <a:ext cx="8926512" cy="215900"/>
          </a:xfrm>
        </p:spPr>
        <p:txBody>
          <a:bodyPr tIns="0" bIns="0" anchor="ctr"/>
          <a:lstStyle>
            <a:lvl1pPr marL="0" indent="0">
              <a:buFontTx/>
              <a:buNone/>
              <a:defRPr sz="1800" b="0" cap="all" baseline="0">
                <a:solidFill>
                  <a:schemeClr val="tx2"/>
                </a:solidFill>
              </a:defRPr>
            </a:lvl1pPr>
          </a:lstStyle>
          <a:p>
            <a:pPr lvl="0"/>
            <a:r>
              <a:rPr lang="fr-FR"/>
              <a:t>Sous-titre</a:t>
            </a:r>
          </a:p>
        </p:txBody>
      </p:sp>
      <p:sp>
        <p:nvSpPr>
          <p:cNvPr id="5" name="Table Placeholder 4">
            <a:extLst>
              <a:ext uri="{FF2B5EF4-FFF2-40B4-BE49-F238E27FC236}">
                <a16:creationId xmlns:a16="http://schemas.microsoft.com/office/drawing/2014/main" id="{D32B3164-EFA2-4176-BD97-E09334A1C04D}"/>
              </a:ext>
            </a:extLst>
          </p:cNvPr>
          <p:cNvSpPr>
            <a:spLocks noGrp="1"/>
          </p:cNvSpPr>
          <p:nvPr>
            <p:ph type="tbl" sz="quarter" idx="16"/>
          </p:nvPr>
        </p:nvSpPr>
        <p:spPr>
          <a:xfrm>
            <a:off x="107950" y="1219200"/>
            <a:ext cx="6840000" cy="1620000"/>
          </a:xfrm>
        </p:spPr>
        <p:txBody>
          <a:bodyPr/>
          <a:lstStyle/>
          <a:p>
            <a:r>
              <a:rPr lang="fr-FR"/>
              <a:t>Cliquez sur l'icône pour ajouter un tableau</a:t>
            </a:r>
            <a:endParaRPr lang="en-US"/>
          </a:p>
        </p:txBody>
      </p:sp>
      <p:cxnSp>
        <p:nvCxnSpPr>
          <p:cNvPr id="10" name="Straight Connector 9">
            <a:extLst>
              <a:ext uri="{FF2B5EF4-FFF2-40B4-BE49-F238E27FC236}">
                <a16:creationId xmlns:a16="http://schemas.microsoft.com/office/drawing/2014/main" id="{BD96C87F-BE82-4551-A433-F1778B585868}"/>
              </a:ext>
            </a:extLst>
          </p:cNvPr>
          <p:cNvCxnSpPr>
            <a:cxnSpLocks/>
          </p:cNvCxnSpPr>
          <p:nvPr userDrawn="1"/>
        </p:nvCxnSpPr>
        <p:spPr>
          <a:xfrm>
            <a:off x="120651" y="1167566"/>
            <a:ext cx="6840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392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8" name="Titre 7"/>
          <p:cNvSpPr>
            <a:spLocks noGrp="1"/>
          </p:cNvSpPr>
          <p:nvPr>
            <p:ph type="title"/>
          </p:nvPr>
        </p:nvSpPr>
        <p:spPr/>
        <p:txBody>
          <a:bodyPr/>
          <a:lstStyle/>
          <a:p>
            <a:r>
              <a:rPr lang="fr-FR"/>
              <a:t>Modifiez le style du titre</a:t>
            </a:r>
          </a:p>
        </p:txBody>
      </p:sp>
      <p:sp>
        <p:nvSpPr>
          <p:cNvPr id="2" name="Espace réservé du contenu 1"/>
          <p:cNvSpPr>
            <a:spLocks noGrp="1"/>
          </p:cNvSpPr>
          <p:nvPr>
            <p:ph sz="quarter" idx="13" hasCustomPrompt="1"/>
          </p:nvPr>
        </p:nvSpPr>
        <p:spPr>
          <a:xfrm>
            <a:off x="107951" y="915566"/>
            <a:ext cx="6840000" cy="252000"/>
          </a:xfrm>
          <a:prstGeom prst="rect">
            <a:avLst/>
          </a:prstGeom>
          <a:solidFill>
            <a:schemeClr val="tx2"/>
          </a:solidFill>
        </p:spPr>
        <p:txBody>
          <a:bodyPr vert="horz" lIns="91440" tIns="45720" rIns="91440" bIns="45720" rtlCol="0">
            <a:noAutofit/>
          </a:bodyPr>
          <a:lstStyle>
            <a:lvl1pPr>
              <a:defRPr lang="fr-FR" smtClean="0">
                <a:solidFill>
                  <a:schemeClr val="bg1"/>
                </a:solidFill>
              </a:defRPr>
            </a:lvl1pPr>
            <a:lvl2pPr>
              <a:defRPr lang="fr-FR" smtClean="0">
                <a:solidFill>
                  <a:schemeClr val="bg1"/>
                </a:solidFill>
              </a:defRPr>
            </a:lvl2pPr>
            <a:lvl3pPr>
              <a:defRPr lang="fr-FR" smtClean="0">
                <a:solidFill>
                  <a:schemeClr val="bg1"/>
                </a:solidFill>
              </a:defRPr>
            </a:lvl3pPr>
            <a:lvl4pPr>
              <a:defRPr lang="fr-FR" smtClean="0">
                <a:solidFill>
                  <a:schemeClr val="bg1"/>
                </a:solidFill>
              </a:defRPr>
            </a:lvl4pPr>
            <a:lvl5pPr>
              <a:defRPr lang="fr-FR">
                <a:solidFill>
                  <a:schemeClr val="bg1"/>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14"/>
          </p:nvPr>
        </p:nvSpPr>
        <p:spPr>
          <a:xfrm>
            <a:off x="107951" y="2908768"/>
            <a:ext cx="6840000" cy="1625132"/>
          </a:xfrm>
          <a:prstGeom prst="rect">
            <a:avLst/>
          </a:prstGeom>
        </p:spPr>
        <p:txBody>
          <a:bodyPr vert="horz" lIns="91440" tIns="45720" rIns="91440" bIns="45720" rtlCol="0">
            <a:noAutofit/>
          </a:bodyPr>
          <a:lstStyle>
            <a:lvl1pPr>
              <a:defRPr lang="fr-FR" smtClean="0"/>
            </a:lvl1pPr>
            <a:lvl2pPr>
              <a:defRPr lang="fr-FR" smtClean="0"/>
            </a:lvl2pPr>
            <a:lvl3pPr>
              <a:defRPr lang="fr-FR" smtClean="0"/>
            </a:lvl3pPr>
            <a:lvl4pPr>
              <a:defRPr lang="fr-FR" smtClean="0"/>
            </a:lvl4pPr>
            <a:lvl5pPr>
              <a:defRPr lang="fr-F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texte 3"/>
          <p:cNvSpPr>
            <a:spLocks noGrp="1"/>
          </p:cNvSpPr>
          <p:nvPr>
            <p:ph type="body" sz="quarter" idx="15" hasCustomPrompt="1"/>
          </p:nvPr>
        </p:nvSpPr>
        <p:spPr>
          <a:xfrm>
            <a:off x="107951" y="502900"/>
            <a:ext cx="8926512" cy="215900"/>
          </a:xfrm>
        </p:spPr>
        <p:txBody>
          <a:bodyPr tIns="0" bIns="0" anchor="ctr"/>
          <a:lstStyle>
            <a:lvl1pPr marL="0" indent="0">
              <a:buFontTx/>
              <a:buNone/>
              <a:defRPr sz="1800" b="0" cap="all" baseline="0">
                <a:solidFill>
                  <a:schemeClr val="tx2"/>
                </a:solidFill>
              </a:defRPr>
            </a:lvl1pPr>
          </a:lstStyle>
          <a:p>
            <a:pPr lvl="0"/>
            <a:r>
              <a:rPr lang="fr-FR"/>
              <a:t>Sous-titre</a:t>
            </a:r>
          </a:p>
        </p:txBody>
      </p:sp>
      <p:sp>
        <p:nvSpPr>
          <p:cNvPr id="5" name="Table Placeholder 4">
            <a:extLst>
              <a:ext uri="{FF2B5EF4-FFF2-40B4-BE49-F238E27FC236}">
                <a16:creationId xmlns:a16="http://schemas.microsoft.com/office/drawing/2014/main" id="{D32B3164-EFA2-4176-BD97-E09334A1C04D}"/>
              </a:ext>
            </a:extLst>
          </p:cNvPr>
          <p:cNvSpPr>
            <a:spLocks noGrp="1"/>
          </p:cNvSpPr>
          <p:nvPr>
            <p:ph type="tbl" sz="quarter" idx="16"/>
          </p:nvPr>
        </p:nvSpPr>
        <p:spPr>
          <a:xfrm>
            <a:off x="107951" y="1219200"/>
            <a:ext cx="6840000" cy="1620000"/>
          </a:xfrm>
        </p:spPr>
        <p:txBody>
          <a:bodyPr/>
          <a:lstStyle/>
          <a:p>
            <a:r>
              <a:rPr lang="fr-FR"/>
              <a:t>Cliquez sur l'icône pour ajouter un tableau</a:t>
            </a:r>
            <a:endParaRPr lang="en-US"/>
          </a:p>
        </p:txBody>
      </p:sp>
    </p:spTree>
    <p:extLst>
      <p:ext uri="{BB962C8B-B14F-4D97-AF65-F5344CB8AC3E}">
        <p14:creationId xmlns:p14="http://schemas.microsoft.com/office/powerpoint/2010/main" val="2986136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8" name="Titre 7"/>
          <p:cNvSpPr>
            <a:spLocks noGrp="1"/>
          </p:cNvSpPr>
          <p:nvPr>
            <p:ph type="title"/>
          </p:nvPr>
        </p:nvSpPr>
        <p:spPr/>
        <p:txBody>
          <a:bodyPr/>
          <a:lstStyle/>
          <a:p>
            <a:r>
              <a:rPr lang="fr-FR"/>
              <a:t>Modifiez le style du titre</a:t>
            </a:r>
          </a:p>
        </p:txBody>
      </p:sp>
      <p:sp>
        <p:nvSpPr>
          <p:cNvPr id="4" name="Espace réservé du texte 3"/>
          <p:cNvSpPr>
            <a:spLocks noGrp="1"/>
          </p:cNvSpPr>
          <p:nvPr>
            <p:ph type="body" sz="quarter" idx="13" hasCustomPrompt="1"/>
          </p:nvPr>
        </p:nvSpPr>
        <p:spPr>
          <a:xfrm>
            <a:off x="107951" y="502900"/>
            <a:ext cx="8926512" cy="215900"/>
          </a:xfrm>
        </p:spPr>
        <p:txBody>
          <a:bodyPr tIns="0" bIns="0" anchor="ctr"/>
          <a:lstStyle>
            <a:lvl1pPr marL="0" indent="0">
              <a:buFontTx/>
              <a:buNone/>
              <a:defRPr sz="1800" b="0" cap="all" baseline="0">
                <a:solidFill>
                  <a:schemeClr val="tx2"/>
                </a:solidFill>
              </a:defRPr>
            </a:lvl1pPr>
          </a:lstStyle>
          <a:p>
            <a:pPr lvl="0"/>
            <a:r>
              <a:rPr lang="fr-FR"/>
              <a:t>Sous-titre</a:t>
            </a:r>
          </a:p>
        </p:txBody>
      </p:sp>
    </p:spTree>
    <p:extLst>
      <p:ext uri="{BB962C8B-B14F-4D97-AF65-F5344CB8AC3E}">
        <p14:creationId xmlns:p14="http://schemas.microsoft.com/office/powerpoint/2010/main" val="2859503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18" name="Rectangle 17"/>
          <p:cNvSpPr>
            <a:spLocks/>
          </p:cNvSpPr>
          <p:nvPr userDrawn="1"/>
        </p:nvSpPr>
        <p:spPr>
          <a:xfrm>
            <a:off x="120651" y="5097781"/>
            <a:ext cx="20955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itre 2"/>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304414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659AB-1AEB-4140-AA3D-2BA8CD3A18EC}"/>
              </a:ext>
            </a:extLst>
          </p:cNvPr>
          <p:cNvSpPr>
            <a:spLocks noGrp="1"/>
          </p:cNvSpPr>
          <p:nvPr>
            <p:ph type="title" hasCustomPrompt="1"/>
          </p:nvPr>
        </p:nvSpPr>
        <p:spPr>
          <a:xfrm>
            <a:off x="0" y="0"/>
            <a:ext cx="0" cy="0"/>
          </a:xfrm>
        </p:spPr>
        <p:txBody>
          <a:bodyPr/>
          <a:lstStyle>
            <a:lvl1pPr>
              <a:defRPr sz="100">
                <a:noFill/>
              </a:defRPr>
            </a:lvl1pPr>
          </a:lstStyle>
          <a:p>
            <a:r>
              <a:rPr lang="en-US"/>
              <a:t>A</a:t>
            </a:r>
          </a:p>
        </p:txBody>
      </p:sp>
      <p:sp>
        <p:nvSpPr>
          <p:cNvPr id="3" name="Slide Number Placeholder 2">
            <a:extLst>
              <a:ext uri="{FF2B5EF4-FFF2-40B4-BE49-F238E27FC236}">
                <a16:creationId xmlns:a16="http://schemas.microsoft.com/office/drawing/2014/main" id="{44E13AFD-2939-4C1A-81AB-C4EFDB3089B5}"/>
              </a:ext>
            </a:extLst>
          </p:cNvPr>
          <p:cNvSpPr>
            <a:spLocks noGrp="1"/>
          </p:cNvSpPr>
          <p:nvPr>
            <p:ph type="sldNum" sz="quarter" idx="10"/>
          </p:nvPr>
        </p:nvSpPr>
        <p:spPr/>
        <p:txBody>
          <a:bodyPr/>
          <a:lstStyle/>
          <a:p>
            <a:fld id="{304318A0-AD76-4461-B655-8B1A266EB0A2}" type="slidenum">
              <a:rPr lang="fr-FR" smtClean="0"/>
              <a:pPr/>
              <a:t>‹N°›</a:t>
            </a:fld>
            <a:endParaRPr lang="fr-FR"/>
          </a:p>
        </p:txBody>
      </p:sp>
      <p:sp>
        <p:nvSpPr>
          <p:cNvPr id="4" name="TextBox 3">
            <a:extLst>
              <a:ext uri="{FF2B5EF4-FFF2-40B4-BE49-F238E27FC236}">
                <a16:creationId xmlns:a16="http://schemas.microsoft.com/office/drawing/2014/main" id="{8AAEE0FD-53AE-4857-9C31-78DD9C982093}"/>
              </a:ext>
            </a:extLst>
          </p:cNvPr>
          <p:cNvSpPr txBox="1">
            <a:spLocks/>
          </p:cNvSpPr>
          <p:nvPr userDrawn="1"/>
        </p:nvSpPr>
        <p:spPr>
          <a:xfrm>
            <a:off x="120651" y="163176"/>
            <a:ext cx="8841838" cy="320400"/>
          </a:xfrm>
          <a:prstGeom prst="rect">
            <a:avLst/>
          </a:prstGeom>
        </p:spPr>
        <p:txBody>
          <a:bodyPr vert="horz" wrap="square" lIns="91440" tIns="0" rIns="91440" bIns="0" rtlCol="0">
            <a:noAutofit/>
          </a:bodyPr>
          <a:lstStyle/>
          <a:p>
            <a:pPr marL="0" indent="0" algn="l">
              <a:lnSpc>
                <a:spcPct val="90000"/>
              </a:lnSpc>
              <a:buFont typeface="Arial" panose="020B0604020202020204" pitchFamily="34" charset="0"/>
              <a:buNone/>
            </a:pPr>
            <a:r>
              <a:rPr lang="fr-FR" sz="2000" b="1" cap="all" baseline="0" err="1">
                <a:solidFill>
                  <a:schemeClr val="tx2"/>
                </a:solidFill>
                <a:latin typeface="+mj-lt"/>
              </a:rPr>
              <a:t>summary</a:t>
            </a:r>
            <a:endParaRPr lang="en-US" sz="2000" b="1" cap="all" baseline="0" err="1">
              <a:solidFill>
                <a:schemeClr val="tx2"/>
              </a:solidFill>
              <a:latin typeface="+mj-lt"/>
            </a:endParaRPr>
          </a:p>
        </p:txBody>
      </p:sp>
    </p:spTree>
    <p:extLst>
      <p:ext uri="{BB962C8B-B14F-4D97-AF65-F5344CB8AC3E}">
        <p14:creationId xmlns:p14="http://schemas.microsoft.com/office/powerpoint/2010/main" val="23629699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1DDBC-A87F-46A6-A369-34DA12D3AB72}"/>
              </a:ext>
            </a:extLst>
          </p:cNvPr>
          <p:cNvSpPr>
            <a:spLocks noGrp="1"/>
          </p:cNvSpPr>
          <p:nvPr>
            <p:ph type="title"/>
          </p:nvPr>
        </p:nvSpPr>
        <p:spPr>
          <a:xfrm>
            <a:off x="0" y="0"/>
            <a:ext cx="0" cy="0"/>
          </a:xfrm>
        </p:spPr>
        <p:txBody>
          <a:bodyPr/>
          <a:lstStyle>
            <a:lvl1pPr>
              <a:defRPr sz="100">
                <a:noFill/>
              </a:defRPr>
            </a:lvl1pPr>
          </a:lstStyle>
          <a:p>
            <a:r>
              <a:rPr lang="fr-FR"/>
              <a:t>Modifiez le style du titre</a:t>
            </a:r>
            <a:endParaRPr lang="en-US"/>
          </a:p>
        </p:txBody>
      </p:sp>
      <p:sp>
        <p:nvSpPr>
          <p:cNvPr id="3" name="Slide Number Placeholder 2">
            <a:extLst>
              <a:ext uri="{FF2B5EF4-FFF2-40B4-BE49-F238E27FC236}">
                <a16:creationId xmlns:a16="http://schemas.microsoft.com/office/drawing/2014/main" id="{E95AF10A-9E5E-45DC-8100-040A22E9107E}"/>
              </a:ext>
            </a:extLst>
          </p:cNvPr>
          <p:cNvSpPr>
            <a:spLocks noGrp="1"/>
          </p:cNvSpPr>
          <p:nvPr>
            <p:ph type="sldNum" sz="quarter" idx="10"/>
          </p:nvPr>
        </p:nvSpPr>
        <p:spPr/>
        <p:txBody>
          <a:bodyPr/>
          <a:lstStyle/>
          <a:p>
            <a:fld id="{304318A0-AD76-4461-B655-8B1A266EB0A2}" type="slidenum">
              <a:rPr lang="fr-FR" smtClean="0"/>
              <a:pPr/>
              <a:t>‹N°›</a:t>
            </a:fld>
            <a:endParaRPr lang="fr-FR"/>
          </a:p>
        </p:txBody>
      </p:sp>
      <p:sp>
        <p:nvSpPr>
          <p:cNvPr id="4" name="TextBox 3">
            <a:extLst>
              <a:ext uri="{FF2B5EF4-FFF2-40B4-BE49-F238E27FC236}">
                <a16:creationId xmlns:a16="http://schemas.microsoft.com/office/drawing/2014/main" id="{52F25972-CAF3-4A36-AA25-63D37F9A550E}"/>
              </a:ext>
            </a:extLst>
          </p:cNvPr>
          <p:cNvSpPr txBox="1">
            <a:spLocks/>
          </p:cNvSpPr>
          <p:nvPr userDrawn="1"/>
        </p:nvSpPr>
        <p:spPr>
          <a:xfrm>
            <a:off x="120651" y="163176"/>
            <a:ext cx="8841838" cy="320400"/>
          </a:xfrm>
          <a:prstGeom prst="rect">
            <a:avLst/>
          </a:prstGeom>
        </p:spPr>
        <p:txBody>
          <a:bodyPr vert="horz" wrap="square" lIns="91440" tIns="0" rIns="91440" bIns="0" rtlCol="0">
            <a:noAutofit/>
          </a:bodyPr>
          <a:lstStyle/>
          <a:p>
            <a:pPr marL="0" indent="0" algn="l">
              <a:lnSpc>
                <a:spcPct val="90000"/>
              </a:lnSpc>
              <a:buFont typeface="Arial" panose="020B0604020202020204" pitchFamily="34" charset="0"/>
              <a:buNone/>
            </a:pPr>
            <a:r>
              <a:rPr lang="en-US" sz="2000" b="1" cap="all" baseline="0" noProof="0">
                <a:solidFill>
                  <a:schemeClr val="tx2"/>
                </a:solidFill>
                <a:latin typeface="+mj-lt"/>
              </a:rPr>
              <a:t>Agenda</a:t>
            </a:r>
          </a:p>
        </p:txBody>
      </p:sp>
    </p:spTree>
    <p:extLst>
      <p:ext uri="{BB962C8B-B14F-4D97-AF65-F5344CB8AC3E}">
        <p14:creationId xmlns:p14="http://schemas.microsoft.com/office/powerpoint/2010/main" val="323926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9121901" y="4940319"/>
            <a:ext cx="0" cy="15389"/>
          </a:xfrm>
          <a:prstGeom prst="rect">
            <a:avLst/>
          </a:prstGeom>
          <a:ln>
            <a:solidFill>
              <a:schemeClr val="bg1"/>
            </a:solidFill>
          </a:ln>
        </p:spPr>
        <p:txBody>
          <a:bodyPr anchor="b"/>
          <a:lstStyle>
            <a:lvl1pPr>
              <a:defRPr sz="100">
                <a:solidFill>
                  <a:srgbClr val="FFFFFF"/>
                </a:solidFill>
              </a:defRPr>
            </a:lvl1pPr>
          </a:lstStyle>
          <a:p>
            <a:endParaRPr lang="fr-FR"/>
          </a:p>
        </p:txBody>
      </p:sp>
      <p:sp>
        <p:nvSpPr>
          <p:cNvPr id="6" name="Slide Number Placeholder 5"/>
          <p:cNvSpPr>
            <a:spLocks noGrp="1"/>
          </p:cNvSpPr>
          <p:nvPr>
            <p:ph type="sldNum" sz="quarter" idx="12"/>
          </p:nvPr>
        </p:nvSpPr>
        <p:spPr/>
        <p:txBody>
          <a:bodyPr/>
          <a:lstStyle/>
          <a:p>
            <a:fld id="{304318A0-AD76-4461-B655-8B1A266EB0A2}" type="slidenum">
              <a:rPr lang="fr-FR" smtClean="0"/>
              <a:t>‹N°›</a:t>
            </a:fld>
            <a:endParaRPr lang="fr-FR"/>
          </a:p>
        </p:txBody>
      </p:sp>
      <p:sp>
        <p:nvSpPr>
          <p:cNvPr id="18" name="Rectangle 17"/>
          <p:cNvSpPr>
            <a:spLocks/>
          </p:cNvSpPr>
          <p:nvPr userDrawn="1"/>
        </p:nvSpPr>
        <p:spPr>
          <a:xfrm>
            <a:off x="120651" y="5097781"/>
            <a:ext cx="20955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descr="Une image contenant signe, dessin&#10;&#10;Description générée automatiquement">
            <a:extLst>
              <a:ext uri="{FF2B5EF4-FFF2-40B4-BE49-F238E27FC236}">
                <a16:creationId xmlns:a16="http://schemas.microsoft.com/office/drawing/2014/main" id="{0F32829E-2A96-4471-9C40-DF267A53024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9894" y="4621213"/>
            <a:ext cx="904106" cy="427259"/>
          </a:xfrm>
          <a:prstGeom prst="rect">
            <a:avLst/>
          </a:prstGeom>
        </p:spPr>
      </p:pic>
    </p:spTree>
    <p:extLst>
      <p:ext uri="{BB962C8B-B14F-4D97-AF65-F5344CB8AC3E}">
        <p14:creationId xmlns:p14="http://schemas.microsoft.com/office/powerpoint/2010/main" val="2418971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 Storage Layou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0F8CC4C-2C19-4A96-8723-BA56A82D4A0A}"/>
              </a:ext>
            </a:extLst>
          </p:cNvPr>
          <p:cNvSpPr/>
          <p:nvPr userDrawn="1">
            <p:custDataLst>
              <p:tags r:id="rId1"/>
            </p:custDataLst>
          </p:nvPr>
        </p:nvSpPr>
        <p:spPr>
          <a:xfrm>
            <a:off x="417305" y="1131591"/>
            <a:ext cx="8018500" cy="35710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GB" sz="1013"/>
          </a:p>
        </p:txBody>
      </p:sp>
      <p:sp>
        <p:nvSpPr>
          <p:cNvPr id="14" name="Rectangle 13">
            <a:extLst>
              <a:ext uri="{FF2B5EF4-FFF2-40B4-BE49-F238E27FC236}">
                <a16:creationId xmlns:a16="http://schemas.microsoft.com/office/drawing/2014/main" id="{C8844B28-4C87-43C7-9822-C6A6BC4D0E86}"/>
              </a:ext>
            </a:extLst>
          </p:cNvPr>
          <p:cNvSpPr/>
          <p:nvPr userDrawn="1"/>
        </p:nvSpPr>
        <p:spPr>
          <a:xfrm>
            <a:off x="0" y="0"/>
            <a:ext cx="9144000" cy="5143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3" name="ZoneTexte 22">
            <a:hlinkClick r:id="rId12" action="ppaction://hlinksldjump"/>
            <a:extLst>
              <a:ext uri="{FF2B5EF4-FFF2-40B4-BE49-F238E27FC236}">
                <a16:creationId xmlns:a16="http://schemas.microsoft.com/office/drawing/2014/main" id="{8DC93961-92E0-4DFB-A95B-E44D2CECCEF7}"/>
              </a:ext>
            </a:extLst>
          </p:cNvPr>
          <p:cNvSpPr txBox="1"/>
          <p:nvPr userDrawn="1">
            <p:custDataLst>
              <p:tags r:id="rId2"/>
            </p:custDataLst>
          </p:nvPr>
        </p:nvSpPr>
        <p:spPr>
          <a:xfrm>
            <a:off x="8435805" y="1131591"/>
            <a:ext cx="0" cy="2619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fr-FR" sz="1800">
                <a:solidFill>
                  <a:schemeClr val="tx2"/>
                </a:solidFill>
                <a:latin typeface="+mj-lt"/>
              </a:rPr>
              <a:t>A</a:t>
            </a:r>
          </a:p>
        </p:txBody>
      </p:sp>
      <p:sp>
        <p:nvSpPr>
          <p:cNvPr id="24" name="ZoneTexte 17">
            <a:hlinkClick r:id="rId12" action="ppaction://hlinksldjump"/>
            <a:extLst>
              <a:ext uri="{FF2B5EF4-FFF2-40B4-BE49-F238E27FC236}">
                <a16:creationId xmlns:a16="http://schemas.microsoft.com/office/drawing/2014/main" id="{E2355574-B35F-4214-90AA-A3DA52084859}"/>
              </a:ext>
            </a:extLst>
          </p:cNvPr>
          <p:cNvSpPr txBox="1"/>
          <p:nvPr userDrawn="1">
            <p:custDataLst>
              <p:tags r:id="rId3"/>
            </p:custDataLst>
          </p:nvPr>
        </p:nvSpPr>
        <p:spPr bwMode="auto">
          <a:xfrm>
            <a:off x="417305" y="1131591"/>
            <a:ext cx="349200" cy="261900"/>
          </a:xfrm>
          <a:prstGeom prst="roundRect">
            <a:avLst>
              <a:gd name="adj" fmla="val 0"/>
            </a:avLst>
          </a:prstGeom>
          <a:solidFill>
            <a:schemeClr val="tx2"/>
          </a:solidFill>
          <a:ln>
            <a:noFill/>
          </a:ln>
          <a:effectLst/>
        </p:spPr>
        <p:txBody>
          <a:bodyPr vert="horz" wrap="none" lIns="0" tIns="0" rIns="0" bIns="0" numCol="1" rtlCol="0" anchor="ctr" anchorCtr="0" compatLnSpc="1">
            <a:prstTxWarp prst="textNoShape">
              <a:avLst/>
            </a:prstTxWarp>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buSzPct val="60000"/>
              <a:buFont typeface="Garamond" pitchFamily="18" charset="0"/>
            </a:pPr>
            <a:r>
              <a:rPr lang="fr-FR" sz="1800">
                <a:solidFill>
                  <a:schemeClr val="bg1"/>
                </a:solidFill>
                <a:latin typeface="+mj-lt"/>
              </a:rPr>
              <a:t>A</a:t>
            </a:r>
          </a:p>
        </p:txBody>
      </p:sp>
      <p:sp>
        <p:nvSpPr>
          <p:cNvPr id="25" name="ZoneTexte 18">
            <a:hlinkClick r:id="rId12" action="ppaction://hlinksldjump"/>
            <a:extLst>
              <a:ext uri="{FF2B5EF4-FFF2-40B4-BE49-F238E27FC236}">
                <a16:creationId xmlns:a16="http://schemas.microsoft.com/office/drawing/2014/main" id="{68EFCA5F-3191-468C-9D63-DE011C298701}"/>
              </a:ext>
            </a:extLst>
          </p:cNvPr>
          <p:cNvSpPr txBox="1"/>
          <p:nvPr userDrawn="1">
            <p:custDataLst>
              <p:tags r:id="rId4"/>
            </p:custDataLst>
          </p:nvPr>
        </p:nvSpPr>
        <p:spPr>
          <a:xfrm>
            <a:off x="998556" y="1131591"/>
            <a:ext cx="7437249" cy="261900"/>
          </a:xfrm>
          <a:prstGeom prst="rect">
            <a:avLst/>
          </a:prstGeom>
          <a:noFill/>
        </p:spPr>
        <p:txBody>
          <a:bodyPr vert="horz" wrap="square" lIns="36000" tIns="0" rIns="54000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fr-FR" sz="1800">
                <a:solidFill>
                  <a:schemeClr val="tx2"/>
                </a:solidFill>
                <a:latin typeface="+mj-lt"/>
              </a:rPr>
              <a:t>A</a:t>
            </a:r>
          </a:p>
        </p:txBody>
      </p:sp>
      <p:sp>
        <p:nvSpPr>
          <p:cNvPr id="26" name="ZoneTexte 19">
            <a:hlinkClick r:id="rId12" action="ppaction://hlinksldjump"/>
            <a:extLst>
              <a:ext uri="{FF2B5EF4-FFF2-40B4-BE49-F238E27FC236}">
                <a16:creationId xmlns:a16="http://schemas.microsoft.com/office/drawing/2014/main" id="{2CEC6F26-9150-4D69-991E-991B12FF05BC}"/>
              </a:ext>
            </a:extLst>
          </p:cNvPr>
          <p:cNvSpPr txBox="1"/>
          <p:nvPr userDrawn="1">
            <p:custDataLst>
              <p:tags r:id="rId5"/>
            </p:custDataLst>
          </p:nvPr>
        </p:nvSpPr>
        <p:spPr>
          <a:xfrm>
            <a:off x="8435805" y="1563638"/>
            <a:ext cx="0" cy="1800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fr-FR" sz="1000">
                <a:solidFill>
                  <a:schemeClr val="bg1">
                    <a:lumMod val="50000"/>
                  </a:schemeClr>
                </a:solidFill>
                <a:latin typeface="+mj-lt"/>
              </a:rPr>
              <a:t>A</a:t>
            </a:r>
          </a:p>
        </p:txBody>
      </p:sp>
      <p:sp>
        <p:nvSpPr>
          <p:cNvPr id="27" name="ZoneTexte 17">
            <a:hlinkClick r:id="rId12" action="ppaction://hlinksldjump"/>
            <a:extLst>
              <a:ext uri="{FF2B5EF4-FFF2-40B4-BE49-F238E27FC236}">
                <a16:creationId xmlns:a16="http://schemas.microsoft.com/office/drawing/2014/main" id="{49F38294-7C37-4839-83A0-F6778A99A4AD}"/>
              </a:ext>
            </a:extLst>
          </p:cNvPr>
          <p:cNvSpPr txBox="1"/>
          <p:nvPr userDrawn="1">
            <p:custDataLst>
              <p:tags r:id="rId6"/>
            </p:custDataLst>
          </p:nvPr>
        </p:nvSpPr>
        <p:spPr bwMode="auto">
          <a:xfrm>
            <a:off x="417305" y="1563638"/>
            <a:ext cx="349200" cy="180000"/>
          </a:xfrm>
          <a:prstGeom prst="roundRect">
            <a:avLst>
              <a:gd name="adj" fmla="val 0"/>
            </a:avLst>
          </a:prstGeom>
          <a:solidFill>
            <a:schemeClr val="bg1">
              <a:lumMod val="75000"/>
            </a:schemeClr>
          </a:solidFill>
          <a:ln>
            <a:noFill/>
          </a:ln>
          <a:effectLst/>
        </p:spPr>
        <p:txBody>
          <a:bodyPr vert="horz" wrap="none" lIns="0" tIns="0" rIns="0" bIns="0" numCol="1" rtlCol="0" anchor="ctr" anchorCtr="0" compatLnSpc="1">
            <a:prstTxWarp prst="textNoShape">
              <a:avLst/>
            </a:prstTxWarp>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buSzPct val="60000"/>
              <a:buFont typeface="Garamond" pitchFamily="18" charset="0"/>
            </a:pPr>
            <a:r>
              <a:rPr lang="fr-FR" sz="1000">
                <a:solidFill>
                  <a:schemeClr val="bg1"/>
                </a:solidFill>
                <a:latin typeface="+mj-lt"/>
              </a:rPr>
              <a:t>A</a:t>
            </a:r>
          </a:p>
        </p:txBody>
      </p:sp>
      <p:sp>
        <p:nvSpPr>
          <p:cNvPr id="30" name="ZoneTexte 18">
            <a:hlinkClick r:id="rId12" action="ppaction://hlinksldjump"/>
            <a:extLst>
              <a:ext uri="{FF2B5EF4-FFF2-40B4-BE49-F238E27FC236}">
                <a16:creationId xmlns:a16="http://schemas.microsoft.com/office/drawing/2014/main" id="{55915BE6-AADC-477A-9D7A-176212D96D17}"/>
              </a:ext>
            </a:extLst>
          </p:cNvPr>
          <p:cNvSpPr txBox="1"/>
          <p:nvPr userDrawn="1">
            <p:custDataLst>
              <p:tags r:id="rId7"/>
            </p:custDataLst>
          </p:nvPr>
        </p:nvSpPr>
        <p:spPr>
          <a:xfrm>
            <a:off x="998556" y="1563638"/>
            <a:ext cx="7437249" cy="180000"/>
          </a:xfrm>
          <a:prstGeom prst="rect">
            <a:avLst/>
          </a:prstGeom>
          <a:noFill/>
        </p:spPr>
        <p:txBody>
          <a:bodyPr vert="horz" wrap="square" lIns="36000" tIns="0" rIns="54000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fr-FR" sz="1000">
                <a:solidFill>
                  <a:schemeClr val="bg1">
                    <a:lumMod val="50000"/>
                  </a:schemeClr>
                </a:solidFill>
                <a:latin typeface="+mj-lt"/>
              </a:rPr>
              <a:t>A</a:t>
            </a:r>
          </a:p>
        </p:txBody>
      </p:sp>
      <p:sp>
        <p:nvSpPr>
          <p:cNvPr id="31" name="ZoneTexte 19">
            <a:hlinkClick r:id="rId12" action="ppaction://hlinksldjump"/>
            <a:extLst>
              <a:ext uri="{FF2B5EF4-FFF2-40B4-BE49-F238E27FC236}">
                <a16:creationId xmlns:a16="http://schemas.microsoft.com/office/drawing/2014/main" id="{3DA05429-F64A-4DE0-809A-8E0EACD9A0E8}"/>
              </a:ext>
            </a:extLst>
          </p:cNvPr>
          <p:cNvSpPr txBox="1"/>
          <p:nvPr userDrawn="1">
            <p:custDataLst>
              <p:tags r:id="rId8"/>
            </p:custDataLst>
          </p:nvPr>
        </p:nvSpPr>
        <p:spPr>
          <a:xfrm>
            <a:off x="8435805" y="1851670"/>
            <a:ext cx="0" cy="1800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fr-FR" sz="1000">
                <a:solidFill>
                  <a:schemeClr val="bg1">
                    <a:lumMod val="50000"/>
                  </a:schemeClr>
                </a:solidFill>
                <a:latin typeface="+mj-lt"/>
              </a:rPr>
              <a:t>A</a:t>
            </a:r>
          </a:p>
        </p:txBody>
      </p:sp>
      <p:sp>
        <p:nvSpPr>
          <p:cNvPr id="32" name="ZoneTexte 18">
            <a:hlinkClick r:id="rId12" action="ppaction://hlinksldjump"/>
            <a:extLst>
              <a:ext uri="{FF2B5EF4-FFF2-40B4-BE49-F238E27FC236}">
                <a16:creationId xmlns:a16="http://schemas.microsoft.com/office/drawing/2014/main" id="{F40FED4B-8A0B-4B4B-8B8B-501E7E4ABA54}"/>
              </a:ext>
            </a:extLst>
          </p:cNvPr>
          <p:cNvSpPr txBox="1"/>
          <p:nvPr userDrawn="1">
            <p:custDataLst>
              <p:tags r:id="rId9"/>
            </p:custDataLst>
          </p:nvPr>
        </p:nvSpPr>
        <p:spPr>
          <a:xfrm>
            <a:off x="998556" y="1851670"/>
            <a:ext cx="7437249" cy="180000"/>
          </a:xfrm>
          <a:prstGeom prst="rect">
            <a:avLst/>
          </a:prstGeom>
          <a:noFill/>
        </p:spPr>
        <p:txBody>
          <a:bodyPr vert="horz" wrap="square" lIns="36000" tIns="0" rIns="54000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fr-FR" sz="1000">
                <a:solidFill>
                  <a:schemeClr val="bg1">
                    <a:lumMod val="50000"/>
                  </a:schemeClr>
                </a:solidFill>
                <a:latin typeface="+mj-lt"/>
              </a:rPr>
              <a:t>A</a:t>
            </a:r>
          </a:p>
        </p:txBody>
      </p:sp>
      <p:sp>
        <p:nvSpPr>
          <p:cNvPr id="34" name="Rectangle 33">
            <a:extLst>
              <a:ext uri="{FF2B5EF4-FFF2-40B4-BE49-F238E27FC236}">
                <a16:creationId xmlns:a16="http://schemas.microsoft.com/office/drawing/2014/main" id="{8993E0B2-B5B8-4CC0-909E-A3FF43F0456D}"/>
              </a:ext>
            </a:extLst>
          </p:cNvPr>
          <p:cNvSpPr/>
          <p:nvPr userDrawn="1">
            <p:custDataLst>
              <p:tags r:id="rId10"/>
            </p:custDataLst>
          </p:nvPr>
        </p:nvSpPr>
        <p:spPr>
          <a:xfrm>
            <a:off x="0" y="0"/>
            <a:ext cx="9144000" cy="5143500"/>
          </a:xfrm>
          <a:prstGeom prst="rect">
            <a:avLst/>
          </a:prstGeom>
          <a:solidFill>
            <a:srgbClr val="BDBDBD"/>
          </a:solidFill>
          <a:ln>
            <a:solidFill>
              <a:srgbClr val="BDBD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15103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89BBA0D-918D-4D01-9768-CC7F6697BF14}"/>
              </a:ext>
            </a:extLst>
          </p:cNvPr>
          <p:cNvSpPr/>
          <p:nvPr userDrawn="1"/>
        </p:nvSpPr>
        <p:spPr>
          <a:xfrm>
            <a:off x="0" y="0"/>
            <a:ext cx="9144000" cy="5143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5" name="Rectangle 14">
            <a:extLst>
              <a:ext uri="{FF2B5EF4-FFF2-40B4-BE49-F238E27FC236}">
                <a16:creationId xmlns:a16="http://schemas.microsoft.com/office/drawing/2014/main" id="{CE1B1F68-0224-45AB-AF4E-7314CF6C640D}"/>
              </a:ext>
            </a:extLst>
          </p:cNvPr>
          <p:cNvSpPr/>
          <p:nvPr userDrawn="1">
            <p:custDataLst>
              <p:tags r:id="rId1"/>
            </p:custDataLst>
          </p:nvPr>
        </p:nvSpPr>
        <p:spPr>
          <a:xfrm>
            <a:off x="1259631" y="483519"/>
            <a:ext cx="7424435" cy="42191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GB" sz="1013"/>
          </a:p>
        </p:txBody>
      </p:sp>
      <p:sp>
        <p:nvSpPr>
          <p:cNvPr id="22" name="ZoneTexte 79">
            <a:hlinkClick r:id="" action="ppaction://noaction"/>
            <a:extLst>
              <a:ext uri="{FF2B5EF4-FFF2-40B4-BE49-F238E27FC236}">
                <a16:creationId xmlns:a16="http://schemas.microsoft.com/office/drawing/2014/main" id="{88E661D9-B927-4807-BB2F-BB31E8999FE4}"/>
              </a:ext>
            </a:extLst>
          </p:cNvPr>
          <p:cNvSpPr txBox="1">
            <a:spLocks/>
          </p:cNvSpPr>
          <p:nvPr userDrawn="1">
            <p:custDataLst>
              <p:tags r:id="rId2"/>
            </p:custDataLst>
          </p:nvPr>
        </p:nvSpPr>
        <p:spPr>
          <a:xfrm>
            <a:off x="8684066" y="483518"/>
            <a:ext cx="0" cy="21600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1">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fr-FR" sz="100">
                <a:noFill/>
                <a:latin typeface="+mj-lt"/>
              </a:rPr>
              <a:t>A</a:t>
            </a:r>
          </a:p>
        </p:txBody>
      </p:sp>
      <p:sp>
        <p:nvSpPr>
          <p:cNvPr id="26" name="ZoneTexte 18">
            <a:hlinkClick r:id="" action="ppaction://noaction"/>
            <a:extLst>
              <a:ext uri="{FF2B5EF4-FFF2-40B4-BE49-F238E27FC236}">
                <a16:creationId xmlns:a16="http://schemas.microsoft.com/office/drawing/2014/main" id="{E8E0DEFA-22DF-4B8D-BC6D-C26436580A20}"/>
              </a:ext>
            </a:extLst>
          </p:cNvPr>
          <p:cNvSpPr txBox="1"/>
          <p:nvPr userDrawn="1">
            <p:custDataLst>
              <p:tags r:id="rId3"/>
            </p:custDataLst>
          </p:nvPr>
        </p:nvSpPr>
        <p:spPr>
          <a:xfrm>
            <a:off x="8684066" y="3291830"/>
            <a:ext cx="0" cy="2160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fr-FR" sz="1200">
                <a:solidFill>
                  <a:schemeClr val="bg1">
                    <a:lumMod val="50000"/>
                  </a:schemeClr>
                </a:solidFill>
                <a:latin typeface="+mj-lt"/>
              </a:rPr>
              <a:t>A</a:t>
            </a:r>
          </a:p>
        </p:txBody>
      </p:sp>
      <p:sp>
        <p:nvSpPr>
          <p:cNvPr id="27" name="ZoneTexte 25">
            <a:hlinkClick r:id="rId12" action="ppaction://hlinksldjump"/>
            <a:extLst>
              <a:ext uri="{FF2B5EF4-FFF2-40B4-BE49-F238E27FC236}">
                <a16:creationId xmlns:a16="http://schemas.microsoft.com/office/drawing/2014/main" id="{D5D3C967-092E-4107-868B-9D5ED69051A5}"/>
              </a:ext>
            </a:extLst>
          </p:cNvPr>
          <p:cNvSpPr txBox="1">
            <a:spLocks/>
          </p:cNvSpPr>
          <p:nvPr userDrawn="1">
            <p:custDataLst>
              <p:tags r:id="rId4"/>
            </p:custDataLst>
          </p:nvPr>
        </p:nvSpPr>
        <p:spPr bwMode="auto">
          <a:xfrm>
            <a:off x="2807827" y="3291830"/>
            <a:ext cx="252000" cy="252000"/>
          </a:xfrm>
          <a:prstGeom prst="roundRect">
            <a:avLst>
              <a:gd name="adj" fmla="val 0"/>
            </a:avLst>
          </a:prstGeom>
          <a:solidFill>
            <a:schemeClr val="tx2"/>
          </a:solidFill>
          <a:effectLst/>
        </p:spPr>
        <p:txBody>
          <a:bodyPr vert="horz" wrap="none" lIns="0" tIns="0" rIns="0" bIns="0" numCol="1" rtlCol="0" anchor="ctr" anchorCtr="0" compatLnSpc="1">
            <a:prstTxWarp prst="textNoShape">
              <a:avLst/>
            </a:prstTxWarp>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spcBef>
                <a:spcPts val="0"/>
              </a:spcBef>
              <a:buSzPct val="60000"/>
              <a:buFont typeface="Garamond" pitchFamily="18" charset="0"/>
            </a:pPr>
            <a:r>
              <a:rPr lang="fr-FR" sz="1200">
                <a:solidFill>
                  <a:srgbClr val="FFFFFF"/>
                </a:solidFill>
                <a:latin typeface="+mj-lt"/>
              </a:rPr>
              <a:t>A</a:t>
            </a:r>
          </a:p>
        </p:txBody>
      </p:sp>
      <p:sp>
        <p:nvSpPr>
          <p:cNvPr id="28" name="ZoneTexte 20">
            <a:hlinkClick r:id="" action="ppaction://noaction"/>
            <a:extLst>
              <a:ext uri="{FF2B5EF4-FFF2-40B4-BE49-F238E27FC236}">
                <a16:creationId xmlns:a16="http://schemas.microsoft.com/office/drawing/2014/main" id="{38ACF6A8-6C45-44D0-9DE0-3EDA2FDA8F5E}"/>
              </a:ext>
            </a:extLst>
          </p:cNvPr>
          <p:cNvSpPr txBox="1">
            <a:spLocks/>
          </p:cNvSpPr>
          <p:nvPr userDrawn="1">
            <p:custDataLst>
              <p:tags r:id="rId5"/>
            </p:custDataLst>
          </p:nvPr>
        </p:nvSpPr>
        <p:spPr>
          <a:xfrm>
            <a:off x="3347864" y="3291830"/>
            <a:ext cx="5336201" cy="252000"/>
          </a:xfrm>
          <a:prstGeom prst="rect">
            <a:avLst/>
          </a:prstGeom>
          <a:noFill/>
        </p:spPr>
        <p:txBody>
          <a:bodyPr vert="horz" wrap="square" lIns="0" tIns="0" rIns="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fr-FR" sz="1200">
                <a:solidFill>
                  <a:schemeClr val="bg1">
                    <a:lumMod val="50000"/>
                  </a:schemeClr>
                </a:solidFill>
                <a:latin typeface="+mj-lt"/>
              </a:rPr>
              <a:t>A</a:t>
            </a:r>
          </a:p>
        </p:txBody>
      </p:sp>
      <p:sp>
        <p:nvSpPr>
          <p:cNvPr id="29" name="ZoneTexte 18">
            <a:hlinkClick r:id="" action="ppaction://noaction"/>
            <a:extLst>
              <a:ext uri="{FF2B5EF4-FFF2-40B4-BE49-F238E27FC236}">
                <a16:creationId xmlns:a16="http://schemas.microsoft.com/office/drawing/2014/main" id="{E0BB1FDB-8434-456F-B626-F826AAFCF02E}"/>
              </a:ext>
            </a:extLst>
          </p:cNvPr>
          <p:cNvSpPr txBox="1"/>
          <p:nvPr userDrawn="1">
            <p:custDataLst>
              <p:tags r:id="rId6"/>
            </p:custDataLst>
          </p:nvPr>
        </p:nvSpPr>
        <p:spPr>
          <a:xfrm>
            <a:off x="8684066" y="3557322"/>
            <a:ext cx="0" cy="2160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fr-FR" sz="1200">
                <a:solidFill>
                  <a:schemeClr val="bg1">
                    <a:lumMod val="50000"/>
                  </a:schemeClr>
                </a:solidFill>
                <a:latin typeface="+mj-lt"/>
              </a:rPr>
              <a:t>A</a:t>
            </a:r>
          </a:p>
        </p:txBody>
      </p:sp>
      <p:sp>
        <p:nvSpPr>
          <p:cNvPr id="30" name="ZoneTexte 20">
            <a:hlinkClick r:id="" action="ppaction://noaction"/>
            <a:extLst>
              <a:ext uri="{FF2B5EF4-FFF2-40B4-BE49-F238E27FC236}">
                <a16:creationId xmlns:a16="http://schemas.microsoft.com/office/drawing/2014/main" id="{F109218A-C948-46DC-AB93-4B6290864DE5}"/>
              </a:ext>
            </a:extLst>
          </p:cNvPr>
          <p:cNvSpPr txBox="1">
            <a:spLocks/>
          </p:cNvSpPr>
          <p:nvPr userDrawn="1">
            <p:custDataLst>
              <p:tags r:id="rId7"/>
            </p:custDataLst>
          </p:nvPr>
        </p:nvSpPr>
        <p:spPr>
          <a:xfrm>
            <a:off x="3347864" y="3557322"/>
            <a:ext cx="5336201" cy="252000"/>
          </a:xfrm>
          <a:prstGeom prst="rect">
            <a:avLst/>
          </a:prstGeom>
          <a:noFill/>
        </p:spPr>
        <p:txBody>
          <a:bodyPr vert="horz" wrap="square" lIns="0" tIns="0" rIns="0" bIns="0"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fr-FR" sz="1200">
                <a:solidFill>
                  <a:schemeClr val="bg1">
                    <a:lumMod val="50000"/>
                  </a:schemeClr>
                </a:solidFill>
                <a:latin typeface="+mj-lt"/>
              </a:rPr>
              <a:t>A</a:t>
            </a:r>
          </a:p>
        </p:txBody>
      </p:sp>
      <p:sp>
        <p:nvSpPr>
          <p:cNvPr id="31" name="ZoneTexte 24">
            <a:hlinkClick r:id="rId12" action="ppaction://hlinksldjump"/>
            <a:extLst>
              <a:ext uri="{FF2B5EF4-FFF2-40B4-BE49-F238E27FC236}">
                <a16:creationId xmlns:a16="http://schemas.microsoft.com/office/drawing/2014/main" id="{6469FCD8-6FE1-4DD9-A24A-9D3EDB72F655}"/>
              </a:ext>
            </a:extLst>
          </p:cNvPr>
          <p:cNvSpPr txBox="1"/>
          <p:nvPr userDrawn="1">
            <p:custDataLst>
              <p:tags r:id="rId8"/>
            </p:custDataLst>
          </p:nvPr>
        </p:nvSpPr>
        <p:spPr bwMode="auto">
          <a:xfrm>
            <a:off x="1259632" y="483518"/>
            <a:ext cx="1800195" cy="2160000"/>
          </a:xfrm>
          <a:prstGeom prst="roundRect">
            <a:avLst>
              <a:gd name="adj" fmla="val 0"/>
            </a:avLst>
          </a:prstGeom>
          <a:noFill/>
          <a:ln>
            <a:noFill/>
          </a:ln>
          <a:effectLst/>
        </p:spPr>
        <p:txBody>
          <a:bodyPr vert="horz" wrap="none" lIns="0" tIns="540000" rIns="0" bIns="0" numCol="1" rtlCol="0" anchor="b" anchorCtr="0" compatLnSpc="1">
            <a:prstTxWarp prst="textNoShape">
              <a:avLst/>
            </a:prstTxWarp>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buSzPct val="60000"/>
              <a:buFont typeface="Garamond" pitchFamily="18" charset="0"/>
            </a:pPr>
            <a:r>
              <a:rPr lang="fr-FR" sz="7200">
                <a:solidFill>
                  <a:schemeClr val="tx2"/>
                </a:solidFill>
                <a:latin typeface="+mj-lt"/>
              </a:rPr>
              <a:t>A</a:t>
            </a:r>
          </a:p>
        </p:txBody>
      </p:sp>
      <p:sp>
        <p:nvSpPr>
          <p:cNvPr id="33" name="ZoneTexte 27">
            <a:hlinkClick r:id="" action="ppaction://noaction"/>
            <a:extLst>
              <a:ext uri="{FF2B5EF4-FFF2-40B4-BE49-F238E27FC236}">
                <a16:creationId xmlns:a16="http://schemas.microsoft.com/office/drawing/2014/main" id="{1BAA5B33-02D3-406A-A1F9-34F0ADDCBAB6}"/>
              </a:ext>
            </a:extLst>
          </p:cNvPr>
          <p:cNvSpPr txBox="1">
            <a:spLocks/>
          </p:cNvSpPr>
          <p:nvPr userDrawn="1">
            <p:custDataLst>
              <p:tags r:id="rId9"/>
            </p:custDataLst>
          </p:nvPr>
        </p:nvSpPr>
        <p:spPr>
          <a:xfrm>
            <a:off x="3347864" y="483518"/>
            <a:ext cx="5336201" cy="2160000"/>
          </a:xfrm>
          <a:prstGeom prst="rect">
            <a:avLst/>
          </a:prstGeom>
          <a:noFill/>
        </p:spPr>
        <p:txBody>
          <a:bodyPr vert="horz" wrap="square" lIns="0" tIns="0" rIns="0" bIns="118800" rtlCol="0" anchor="b"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fr-FR" sz="3000" cap="all">
                <a:solidFill>
                  <a:schemeClr val="tx2"/>
                </a:solidFill>
                <a:latin typeface="+mj-lt"/>
              </a:rPr>
              <a:t>A</a:t>
            </a:r>
          </a:p>
        </p:txBody>
      </p:sp>
      <p:sp>
        <p:nvSpPr>
          <p:cNvPr id="34" name="Rectangle 33">
            <a:extLst>
              <a:ext uri="{FF2B5EF4-FFF2-40B4-BE49-F238E27FC236}">
                <a16:creationId xmlns:a16="http://schemas.microsoft.com/office/drawing/2014/main" id="{239F2825-EA09-4B28-A28D-3447C8B496B8}"/>
              </a:ext>
            </a:extLst>
          </p:cNvPr>
          <p:cNvSpPr/>
          <p:nvPr userDrawn="1">
            <p:custDataLst>
              <p:tags r:id="rId10"/>
            </p:custDataLst>
          </p:nvPr>
        </p:nvSpPr>
        <p:spPr>
          <a:xfrm>
            <a:off x="0" y="0"/>
            <a:ext cx="9144000" cy="5143500"/>
          </a:xfrm>
          <a:prstGeom prst="rect">
            <a:avLst/>
          </a:prstGeom>
          <a:solidFill>
            <a:srgbClr val="BDBDBD"/>
          </a:solidFill>
          <a:ln>
            <a:solidFill>
              <a:srgbClr val="BDBD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80985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bSection Divider Storage Layout">
    <p:spTree>
      <p:nvGrpSpPr>
        <p:cNvPr id="1" name=""/>
        <p:cNvGrpSpPr/>
        <p:nvPr/>
      </p:nvGrpSpPr>
      <p:grpSpPr>
        <a:xfrm>
          <a:off x="0" y="0"/>
          <a:ext cx="0" cy="0"/>
          <a:chOff x="0" y="0"/>
          <a:chExt cx="0" cy="0"/>
        </a:xfrm>
      </p:grpSpPr>
      <p:sp>
        <p:nvSpPr>
          <p:cNvPr id="13" name="ZoneTexte 12">
            <a:extLst>
              <a:ext uri="{FF2B5EF4-FFF2-40B4-BE49-F238E27FC236}">
                <a16:creationId xmlns:a16="http://schemas.microsoft.com/office/drawing/2014/main" id="{4233CF77-C8F8-471B-9FFA-55663D820C6B}"/>
              </a:ext>
            </a:extLst>
          </p:cNvPr>
          <p:cNvSpPr txBox="1"/>
          <p:nvPr userDrawn="1">
            <p:custDataLst>
              <p:tags r:id="rId1"/>
            </p:custDataLst>
          </p:nvPr>
        </p:nvSpPr>
        <p:spPr>
          <a:xfrm>
            <a:off x="8391818" y="1889285"/>
            <a:ext cx="276038" cy="253916"/>
          </a:xfrm>
          <a:prstGeom prst="rect">
            <a:avLst/>
          </a:prstGeom>
          <a:noFill/>
        </p:spPr>
        <p:txBody>
          <a:bodyPr vert="horz" wrap="square" lIns="0" rIns="0" rtlCol="0" anchor="ctr" anchorCtr="0">
            <a:spAutoFit/>
          </a:bodyPr>
          <a:lstStyle/>
          <a:p>
            <a:pPr algn="ctr" rtl="0" fontAlgn="base">
              <a:spcBef>
                <a:spcPct val="0"/>
              </a:spcBef>
              <a:spcAft>
                <a:spcPct val="0"/>
              </a:spcAft>
            </a:pPr>
            <a:r>
              <a:rPr lang="fr-FR" sz="1050" kern="1200">
                <a:solidFill>
                  <a:srgbClr val="404040"/>
                </a:solidFill>
                <a:latin typeface="Century Gothic" pitchFamily="34" charset="0"/>
                <a:ea typeface="+mn-ea"/>
                <a:cs typeface="Arial" charset="0"/>
              </a:rPr>
              <a:t>1</a:t>
            </a:r>
          </a:p>
        </p:txBody>
      </p:sp>
      <p:sp>
        <p:nvSpPr>
          <p:cNvPr id="14" name="Text Placeholder 4">
            <a:extLst>
              <a:ext uri="{FF2B5EF4-FFF2-40B4-BE49-F238E27FC236}">
                <a16:creationId xmlns:a16="http://schemas.microsoft.com/office/drawing/2014/main" id="{730AC824-CC07-4D99-A82C-D5BEE4C6D5A6}"/>
              </a:ext>
            </a:extLst>
          </p:cNvPr>
          <p:cNvSpPr txBox="1">
            <a:spLocks/>
          </p:cNvSpPr>
          <p:nvPr userDrawn="1">
            <p:custDataLst>
              <p:tags r:id="rId2"/>
            </p:custDataLst>
          </p:nvPr>
        </p:nvSpPr>
        <p:spPr bwMode="auto">
          <a:xfrm>
            <a:off x="269333" y="1227998"/>
            <a:ext cx="349200" cy="261900"/>
          </a:xfrm>
          <a:prstGeom prst="roundRect">
            <a:avLst>
              <a:gd name="adj" fmla="val 6411"/>
            </a:avLst>
          </a:prstGeom>
          <a:gradFill flip="none" rotWithShape="1">
            <a:gsLst>
              <a:gs pos="0">
                <a:srgbClr val="00CEE2"/>
              </a:gs>
              <a:gs pos="100000">
                <a:srgbClr val="0085B7"/>
              </a:gs>
            </a:gsLst>
            <a:lin ang="8100000" scaled="1"/>
            <a:tileRect/>
          </a:gradFill>
          <a:effectLst/>
        </p:spPr>
        <p:txBody>
          <a:bodyPr vert="horz" wrap="square" lIns="162000" tIns="34290" rIns="162000" bIns="34290" numCol="1" anchor="ctr" anchorCtr="0" compatLnSpc="1">
            <a:prstTxWarp prst="textNoShape">
              <a:avLst/>
            </a:prstTxWarp>
            <a:noAutofit/>
          </a:bodyPr>
          <a:lstStyle>
            <a:lvl1pPr algn="l" rtl="0" fontAlgn="base">
              <a:spcBef>
                <a:spcPct val="20000"/>
              </a:spcBef>
              <a:spcAft>
                <a:spcPct val="0"/>
              </a:spcAft>
              <a:buClr>
                <a:srgbClr val="376092"/>
              </a:buClr>
              <a:buSzPct val="80000"/>
              <a:defRPr lang="en-US" sz="1400" b="1" kern="1200" dirty="0">
                <a:solidFill>
                  <a:srgbClr val="376092"/>
                </a:solidFill>
                <a:latin typeface="Garamond" pitchFamily="18" charset="0"/>
                <a:ea typeface="+mj-ea"/>
                <a:cs typeface="+mj-cs"/>
              </a:defRPr>
            </a:lvl1pPr>
            <a:lvl2pPr algn="l" rtl="0" fontAlgn="base">
              <a:spcBef>
                <a:spcPct val="20000"/>
              </a:spcBef>
              <a:spcAft>
                <a:spcPct val="0"/>
              </a:spcAft>
              <a:buClr>
                <a:srgbClr val="376092"/>
              </a:buClr>
              <a:buFont typeface="Arial" charset="0"/>
              <a:defRPr lang="en-US" sz="1400" kern="1200" dirty="0">
                <a:solidFill>
                  <a:schemeClr val="tx1"/>
                </a:solidFill>
                <a:latin typeface="Garamond" pitchFamily="18" charset="0"/>
                <a:ea typeface="+mn-ea"/>
                <a:cs typeface="+mn-cs"/>
              </a:defRPr>
            </a:lvl2pPr>
            <a:lvl3pPr marL="265113" indent="-265113" algn="l" rtl="0" fontAlgn="base">
              <a:spcBef>
                <a:spcPct val="20000"/>
              </a:spcBef>
              <a:spcAft>
                <a:spcPct val="0"/>
              </a:spcAft>
              <a:buClr>
                <a:srgbClr val="376092"/>
              </a:buClr>
              <a:buBlip>
                <a:blip r:embed="rId12"/>
              </a:buBlip>
              <a:defRPr lang="en-US" sz="1400" kern="1200">
                <a:solidFill>
                  <a:schemeClr val="tx1"/>
                </a:solidFill>
                <a:latin typeface="Garamond" pitchFamily="18" charset="0"/>
                <a:ea typeface="+mn-ea"/>
                <a:cs typeface="+mn-cs"/>
              </a:defRPr>
            </a:lvl3pPr>
            <a:lvl4pPr marL="446088" indent="-180975" algn="l" rtl="0" fontAlgn="base">
              <a:spcBef>
                <a:spcPct val="20000"/>
              </a:spcBef>
              <a:spcAft>
                <a:spcPct val="0"/>
              </a:spcAft>
              <a:buFont typeface="Arial" charset="0"/>
              <a:buChar char="–"/>
              <a:defRPr lang="en-US" sz="1400" kern="1200" dirty="0">
                <a:solidFill>
                  <a:schemeClr val="tx1"/>
                </a:solidFill>
                <a:latin typeface="Garamond" pitchFamily="18" charset="0"/>
                <a:ea typeface="+mj-ea"/>
                <a:cs typeface="+mj-cs"/>
              </a:defRPr>
            </a:lvl4pPr>
            <a:lvl5pPr marL="627063" indent="-180975" algn="l" rtl="0" fontAlgn="base">
              <a:spcBef>
                <a:spcPct val="20000"/>
              </a:spcBef>
              <a:spcAft>
                <a:spcPct val="0"/>
              </a:spcAft>
              <a:buClr>
                <a:schemeClr val="tx2"/>
              </a:buClr>
              <a:buFont typeface="Arial" charset="0"/>
              <a:buChar char="•"/>
              <a:defRPr lang="en-US" sz="1400" kern="1200" dirty="0">
                <a:solidFill>
                  <a:schemeClr val="tx1"/>
                </a:solidFill>
                <a:latin typeface="Garamond" pitchFamily="18" charset="0"/>
                <a:ea typeface="+mj-ea"/>
                <a:cs typeface="+mj-cs"/>
              </a:defRPr>
            </a:lvl5pPr>
            <a:lvl6pPr marL="627063" marR="0" indent="180975" algn="l" defTabSz="914400" rtl="0" eaLnBrk="1" fontAlgn="auto" latinLnBrk="0" hangingPunct="1">
              <a:lnSpc>
                <a:spcPct val="100000"/>
              </a:lnSpc>
              <a:spcBef>
                <a:spcPct val="20000"/>
              </a:spcBef>
              <a:spcAft>
                <a:spcPts val="0"/>
              </a:spcAft>
              <a:buClr>
                <a:schemeClr val="tx2"/>
              </a:buClr>
              <a:buSzTx/>
              <a:buFont typeface="Garamond" pitchFamily="18" charset="0"/>
              <a:buChar char="−"/>
              <a:tabLst/>
              <a:defRPr lang="en-US" sz="1400" kern="1200" dirty="0" smtClean="0">
                <a:solidFill>
                  <a:schemeClr val="tx1"/>
                </a:solidFill>
                <a:latin typeface="+mn-lt"/>
                <a:ea typeface="+mn-ea"/>
                <a:cs typeface="+mn-cs"/>
              </a:defRPr>
            </a:lvl6pPr>
            <a:lvl7pPr marL="989013" marR="0" indent="-180975" algn="l" defTabSz="914400" rtl="0" eaLnBrk="1" fontAlgn="auto" latinLnBrk="0" hangingPunct="1">
              <a:lnSpc>
                <a:spcPct val="100000"/>
              </a:lnSpc>
              <a:spcBef>
                <a:spcPct val="20000"/>
              </a:spcBef>
              <a:spcAft>
                <a:spcPts val="0"/>
              </a:spcAft>
              <a:buClr>
                <a:schemeClr val="tx2"/>
              </a:buClr>
              <a:buSzTx/>
              <a:buFont typeface="Garamond" pitchFamily="18" charset="0"/>
              <a:buChar char="−"/>
              <a:tabLst/>
              <a:defRPr lang="en-US" sz="1400" kern="1200" baseline="0" dirty="0" smtClean="0">
                <a:solidFill>
                  <a:schemeClr val="tx1"/>
                </a:solidFill>
                <a:latin typeface="Garamond" pitchFamily="18" charset="0"/>
                <a:ea typeface="+mn-ea"/>
                <a:cs typeface="+mn-cs"/>
              </a:defRPr>
            </a:lvl7pPr>
            <a:lvl8pPr marL="1169988" indent="-180975" algn="l" defTabSz="914400" rtl="0" eaLnBrk="1" latinLnBrk="0" hangingPunct="1">
              <a:spcBef>
                <a:spcPct val="20000"/>
              </a:spcBef>
              <a:buFont typeface="Garamond" pitchFamily="18" charset="0"/>
              <a:buChar char="−"/>
              <a:defRPr lang="en-US" sz="1400" kern="1200" baseline="0" dirty="0" smtClean="0">
                <a:solidFill>
                  <a:schemeClr val="tx1"/>
                </a:solidFill>
                <a:latin typeface="Garamond" pitchFamily="18" charset="0"/>
                <a:ea typeface="+mn-ea"/>
                <a:cs typeface="+mn-cs"/>
              </a:defRPr>
            </a:lvl8pPr>
            <a:lvl9pPr marL="1339850" indent="-169863" algn="l" defTabSz="914400" rtl="0" eaLnBrk="1" latinLnBrk="0" hangingPunct="1">
              <a:spcBef>
                <a:spcPct val="20000"/>
              </a:spcBef>
              <a:buFont typeface="Garamond" pitchFamily="18" charset="0"/>
              <a:buChar char="−"/>
              <a:defRPr lang="en-US" sz="1400" kern="1200" baseline="0" dirty="0" smtClean="0">
                <a:solidFill>
                  <a:schemeClr val="tx1"/>
                </a:solidFill>
                <a:latin typeface="Garamond" pitchFamily="18" charset="0"/>
                <a:ea typeface="+mn-ea"/>
                <a:cs typeface="+mn-cs"/>
              </a:defRPr>
            </a:lvl9pPr>
          </a:lstStyle>
          <a:p>
            <a:pPr algn="ctr">
              <a:buSzPct val="60000"/>
              <a:buFont typeface="Garamond" pitchFamily="18" charset="0"/>
            </a:pPr>
            <a:r>
              <a:rPr lang="fr-FR" sz="1050">
                <a:solidFill>
                  <a:schemeClr val="bg1"/>
                </a:solidFill>
                <a:effectLst>
                  <a:outerShdw blurRad="50800" dist="38100" dir="5400000" algn="t" rotWithShape="0">
                    <a:prstClr val="black">
                      <a:alpha val="40000"/>
                    </a:prstClr>
                  </a:outerShdw>
                </a:effectLst>
                <a:latin typeface="Century Gothic" pitchFamily="34" charset="0"/>
              </a:rPr>
              <a:t>1</a:t>
            </a:r>
          </a:p>
        </p:txBody>
      </p:sp>
      <p:sp>
        <p:nvSpPr>
          <p:cNvPr id="15" name="ZoneTexte 20">
            <a:extLst>
              <a:ext uri="{FF2B5EF4-FFF2-40B4-BE49-F238E27FC236}">
                <a16:creationId xmlns:a16="http://schemas.microsoft.com/office/drawing/2014/main" id="{79EF97C5-D3C6-41B3-8AE3-AE8417A54360}"/>
              </a:ext>
            </a:extLst>
          </p:cNvPr>
          <p:cNvSpPr txBox="1"/>
          <p:nvPr userDrawn="1">
            <p:custDataLst>
              <p:tags r:id="rId3"/>
            </p:custDataLst>
          </p:nvPr>
        </p:nvSpPr>
        <p:spPr>
          <a:xfrm>
            <a:off x="998557" y="1226673"/>
            <a:ext cx="7186220" cy="210404"/>
          </a:xfrm>
          <a:prstGeom prst="rect">
            <a:avLst/>
          </a:prstGeom>
          <a:noFill/>
        </p:spPr>
        <p:txBody>
          <a:bodyPr vert="horz" wrap="square" lIns="0" tIns="27000" rIns="0" bIns="27000" rtlCol="0" anchor="ctr" anchorCtr="0">
            <a:spAutoFit/>
          </a:bodyPr>
          <a:lstStyle/>
          <a:p>
            <a:r>
              <a:rPr lang="fr-FR" sz="1013" b="1">
                <a:solidFill>
                  <a:schemeClr val="tx1">
                    <a:lumMod val="65000"/>
                    <a:lumOff val="35000"/>
                  </a:schemeClr>
                </a:solidFill>
                <a:latin typeface="Century Gothic" pitchFamily="34" charset="0"/>
              </a:rPr>
              <a:t>A</a:t>
            </a:r>
          </a:p>
        </p:txBody>
      </p:sp>
      <p:sp>
        <p:nvSpPr>
          <p:cNvPr id="16" name="Text Placeholder 4">
            <a:extLst>
              <a:ext uri="{FF2B5EF4-FFF2-40B4-BE49-F238E27FC236}">
                <a16:creationId xmlns:a16="http://schemas.microsoft.com/office/drawing/2014/main" id="{C8B31E58-D06C-4CA9-BF6B-F9E657CBF267}"/>
              </a:ext>
            </a:extLst>
          </p:cNvPr>
          <p:cNvSpPr txBox="1">
            <a:spLocks/>
          </p:cNvSpPr>
          <p:nvPr userDrawn="1">
            <p:custDataLst>
              <p:tags r:id="rId4"/>
            </p:custDataLst>
          </p:nvPr>
        </p:nvSpPr>
        <p:spPr bwMode="auto">
          <a:xfrm>
            <a:off x="943278" y="1574164"/>
            <a:ext cx="252000" cy="189000"/>
          </a:xfrm>
          <a:prstGeom prst="roundRect">
            <a:avLst>
              <a:gd name="adj" fmla="val 6411"/>
            </a:avLst>
          </a:prstGeom>
          <a:gradFill flip="none" rotWithShape="1">
            <a:gsLst>
              <a:gs pos="0">
                <a:srgbClr val="00CEE2"/>
              </a:gs>
              <a:gs pos="100000">
                <a:srgbClr val="0085B7"/>
              </a:gs>
            </a:gsLst>
            <a:lin ang="8100000" scaled="1"/>
            <a:tileRect/>
          </a:gradFill>
          <a:effectLst/>
        </p:spPr>
        <p:txBody>
          <a:bodyPr vert="horz" wrap="none" lIns="162000" tIns="34290" rIns="162000" bIns="34290" numCol="1" anchor="ctr" anchorCtr="0" compatLnSpc="1">
            <a:prstTxWarp prst="textNoShape">
              <a:avLst/>
            </a:prstTxWarp>
            <a:noAutofit/>
          </a:bodyPr>
          <a:lstStyle>
            <a:lvl1pPr algn="l" rtl="0" fontAlgn="base">
              <a:spcBef>
                <a:spcPct val="20000"/>
              </a:spcBef>
              <a:spcAft>
                <a:spcPct val="0"/>
              </a:spcAft>
              <a:buClr>
                <a:srgbClr val="376092"/>
              </a:buClr>
              <a:buSzPct val="80000"/>
              <a:defRPr lang="en-US" sz="1400" b="1" kern="1200" dirty="0">
                <a:solidFill>
                  <a:srgbClr val="376092"/>
                </a:solidFill>
                <a:latin typeface="Garamond" pitchFamily="18" charset="0"/>
                <a:ea typeface="+mj-ea"/>
                <a:cs typeface="+mj-cs"/>
              </a:defRPr>
            </a:lvl1pPr>
            <a:lvl2pPr algn="l" rtl="0" fontAlgn="base">
              <a:spcBef>
                <a:spcPct val="20000"/>
              </a:spcBef>
              <a:spcAft>
                <a:spcPct val="0"/>
              </a:spcAft>
              <a:buClr>
                <a:srgbClr val="376092"/>
              </a:buClr>
              <a:buFont typeface="Arial" charset="0"/>
              <a:defRPr lang="en-US" sz="1400" kern="1200" dirty="0">
                <a:solidFill>
                  <a:schemeClr val="tx1"/>
                </a:solidFill>
                <a:latin typeface="Garamond" pitchFamily="18" charset="0"/>
                <a:ea typeface="+mn-ea"/>
                <a:cs typeface="+mn-cs"/>
              </a:defRPr>
            </a:lvl2pPr>
            <a:lvl3pPr marL="265113" indent="-265113" algn="l" rtl="0" fontAlgn="base">
              <a:spcBef>
                <a:spcPct val="20000"/>
              </a:spcBef>
              <a:spcAft>
                <a:spcPct val="0"/>
              </a:spcAft>
              <a:buClr>
                <a:srgbClr val="376092"/>
              </a:buClr>
              <a:buBlip>
                <a:blip r:embed="rId12"/>
              </a:buBlip>
              <a:defRPr lang="en-US" sz="1400" kern="1200">
                <a:solidFill>
                  <a:schemeClr val="tx1"/>
                </a:solidFill>
                <a:latin typeface="Garamond" pitchFamily="18" charset="0"/>
                <a:ea typeface="+mn-ea"/>
                <a:cs typeface="+mn-cs"/>
              </a:defRPr>
            </a:lvl3pPr>
            <a:lvl4pPr marL="446088" indent="-180975" algn="l" rtl="0" fontAlgn="base">
              <a:spcBef>
                <a:spcPct val="20000"/>
              </a:spcBef>
              <a:spcAft>
                <a:spcPct val="0"/>
              </a:spcAft>
              <a:buFont typeface="Arial" charset="0"/>
              <a:buChar char="–"/>
              <a:defRPr lang="en-US" sz="1400" kern="1200" dirty="0">
                <a:solidFill>
                  <a:schemeClr val="tx1"/>
                </a:solidFill>
                <a:latin typeface="Garamond" pitchFamily="18" charset="0"/>
                <a:ea typeface="+mj-ea"/>
                <a:cs typeface="+mj-cs"/>
              </a:defRPr>
            </a:lvl4pPr>
            <a:lvl5pPr marL="627063" indent="-180975" algn="l" rtl="0" fontAlgn="base">
              <a:spcBef>
                <a:spcPct val="20000"/>
              </a:spcBef>
              <a:spcAft>
                <a:spcPct val="0"/>
              </a:spcAft>
              <a:buClr>
                <a:schemeClr val="tx2"/>
              </a:buClr>
              <a:buFont typeface="Arial" charset="0"/>
              <a:buChar char="•"/>
              <a:defRPr lang="en-US" sz="1400" kern="1200" dirty="0">
                <a:solidFill>
                  <a:schemeClr val="tx1"/>
                </a:solidFill>
                <a:latin typeface="Garamond" pitchFamily="18" charset="0"/>
                <a:ea typeface="+mj-ea"/>
                <a:cs typeface="+mj-cs"/>
              </a:defRPr>
            </a:lvl5pPr>
            <a:lvl6pPr marL="627063" marR="0" indent="180975" algn="l" defTabSz="914400" rtl="0" eaLnBrk="1" fontAlgn="auto" latinLnBrk="0" hangingPunct="1">
              <a:lnSpc>
                <a:spcPct val="100000"/>
              </a:lnSpc>
              <a:spcBef>
                <a:spcPct val="20000"/>
              </a:spcBef>
              <a:spcAft>
                <a:spcPts val="0"/>
              </a:spcAft>
              <a:buClr>
                <a:schemeClr val="tx2"/>
              </a:buClr>
              <a:buSzTx/>
              <a:buFont typeface="Garamond" pitchFamily="18" charset="0"/>
              <a:buChar char="−"/>
              <a:tabLst/>
              <a:defRPr lang="en-US" sz="1400" kern="1200" dirty="0" smtClean="0">
                <a:solidFill>
                  <a:schemeClr val="tx1"/>
                </a:solidFill>
                <a:latin typeface="+mn-lt"/>
                <a:ea typeface="+mn-ea"/>
                <a:cs typeface="+mn-cs"/>
              </a:defRPr>
            </a:lvl6pPr>
            <a:lvl7pPr marL="989013" marR="0" indent="-180975" algn="l" defTabSz="914400" rtl="0" eaLnBrk="1" fontAlgn="auto" latinLnBrk="0" hangingPunct="1">
              <a:lnSpc>
                <a:spcPct val="100000"/>
              </a:lnSpc>
              <a:spcBef>
                <a:spcPct val="20000"/>
              </a:spcBef>
              <a:spcAft>
                <a:spcPts val="0"/>
              </a:spcAft>
              <a:buClr>
                <a:schemeClr val="tx2"/>
              </a:buClr>
              <a:buSzTx/>
              <a:buFont typeface="Garamond" pitchFamily="18" charset="0"/>
              <a:buChar char="−"/>
              <a:tabLst/>
              <a:defRPr lang="en-US" sz="1400" kern="1200" baseline="0" dirty="0" smtClean="0">
                <a:solidFill>
                  <a:schemeClr val="tx1"/>
                </a:solidFill>
                <a:latin typeface="Garamond" pitchFamily="18" charset="0"/>
                <a:ea typeface="+mn-ea"/>
                <a:cs typeface="+mn-cs"/>
              </a:defRPr>
            </a:lvl7pPr>
            <a:lvl8pPr marL="1169988" indent="-180975" algn="l" defTabSz="914400" rtl="0" eaLnBrk="1" latinLnBrk="0" hangingPunct="1">
              <a:spcBef>
                <a:spcPct val="20000"/>
              </a:spcBef>
              <a:buFont typeface="Garamond" pitchFamily="18" charset="0"/>
              <a:buChar char="−"/>
              <a:defRPr lang="en-US" sz="1400" kern="1200" baseline="0" dirty="0" smtClean="0">
                <a:solidFill>
                  <a:schemeClr val="tx1"/>
                </a:solidFill>
                <a:latin typeface="Garamond" pitchFamily="18" charset="0"/>
                <a:ea typeface="+mn-ea"/>
                <a:cs typeface="+mn-cs"/>
              </a:defRPr>
            </a:lvl8pPr>
            <a:lvl9pPr marL="1339850" indent="-169863" algn="l" defTabSz="914400" rtl="0" eaLnBrk="1" latinLnBrk="0" hangingPunct="1">
              <a:spcBef>
                <a:spcPct val="20000"/>
              </a:spcBef>
              <a:buFont typeface="Garamond" pitchFamily="18" charset="0"/>
              <a:buChar char="−"/>
              <a:defRPr lang="en-US" sz="1400" kern="1200" baseline="0" dirty="0" smtClean="0">
                <a:solidFill>
                  <a:schemeClr val="tx1"/>
                </a:solidFill>
                <a:latin typeface="Garamond" pitchFamily="18" charset="0"/>
                <a:ea typeface="+mn-ea"/>
                <a:cs typeface="+mn-cs"/>
              </a:defRPr>
            </a:lvl9pPr>
          </a:lstStyle>
          <a:p>
            <a:pPr algn="ctr">
              <a:spcBef>
                <a:spcPts val="0"/>
              </a:spcBef>
              <a:buSzPct val="60000"/>
              <a:buFont typeface="Garamond" pitchFamily="18" charset="0"/>
            </a:pPr>
            <a:r>
              <a:rPr lang="fr-FR" sz="750" i="1">
                <a:solidFill>
                  <a:schemeClr val="bg1"/>
                </a:solidFill>
                <a:effectLst>
                  <a:outerShdw blurRad="50800" dist="38100" dir="5400000" algn="t" rotWithShape="0">
                    <a:prstClr val="black">
                      <a:alpha val="40000"/>
                    </a:prstClr>
                  </a:outerShdw>
                </a:effectLst>
                <a:latin typeface="Century Gothic" pitchFamily="34" charset="0"/>
              </a:rPr>
              <a:t>1.1</a:t>
            </a:r>
          </a:p>
        </p:txBody>
      </p:sp>
      <p:sp>
        <p:nvSpPr>
          <p:cNvPr id="17" name="ZoneTexte 50">
            <a:hlinkClick r:id="" action="ppaction://noaction"/>
            <a:extLst>
              <a:ext uri="{FF2B5EF4-FFF2-40B4-BE49-F238E27FC236}">
                <a16:creationId xmlns:a16="http://schemas.microsoft.com/office/drawing/2014/main" id="{6ACE2521-1FC8-4FF0-A36D-5258B5B72F7A}"/>
              </a:ext>
            </a:extLst>
          </p:cNvPr>
          <p:cNvSpPr txBox="1"/>
          <p:nvPr userDrawn="1">
            <p:custDataLst>
              <p:tags r:id="rId5"/>
            </p:custDataLst>
          </p:nvPr>
        </p:nvSpPr>
        <p:spPr>
          <a:xfrm>
            <a:off x="8356974" y="1308686"/>
            <a:ext cx="276038" cy="277416"/>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rIns="0" rtlCol="0" anchor="t" anchorCtr="1">
            <a:noAutofit/>
          </a:bodyPr>
          <a:lstStyle>
            <a:defPPr>
              <a:defRPr lang="fr-FR"/>
            </a:defPPr>
            <a:lvl1pPr>
              <a:defRPr b="1">
                <a:solidFill>
                  <a:schemeClr val="tx1">
                    <a:lumMod val="65000"/>
                    <a:lumOff val="35000"/>
                  </a:schemeClr>
                </a:solidFill>
                <a:latin typeface="Century Gothic" pitchFamily="34" charset="0"/>
              </a:defRPr>
            </a:lvl1pPr>
          </a:lstStyle>
          <a:p>
            <a:pPr algn="ctr"/>
            <a:r>
              <a:rPr lang="fr-FR" sz="1013"/>
              <a:t>8</a:t>
            </a:r>
          </a:p>
        </p:txBody>
      </p:sp>
      <p:sp>
        <p:nvSpPr>
          <p:cNvPr id="18" name="Rectangle 17">
            <a:extLst>
              <a:ext uri="{FF2B5EF4-FFF2-40B4-BE49-F238E27FC236}">
                <a16:creationId xmlns:a16="http://schemas.microsoft.com/office/drawing/2014/main" id="{D21766CB-3A6B-4DF0-ABB0-D058CB8AF86C}"/>
              </a:ext>
            </a:extLst>
          </p:cNvPr>
          <p:cNvSpPr/>
          <p:nvPr userDrawn="1">
            <p:custDataLst>
              <p:tags r:id="rId6"/>
            </p:custDataLst>
          </p:nvPr>
        </p:nvSpPr>
        <p:spPr>
          <a:xfrm>
            <a:off x="272143" y="1232807"/>
            <a:ext cx="8534400" cy="3469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9" name="ZoneTexte 31">
            <a:extLst>
              <a:ext uri="{FF2B5EF4-FFF2-40B4-BE49-F238E27FC236}">
                <a16:creationId xmlns:a16="http://schemas.microsoft.com/office/drawing/2014/main" id="{CDAEB7D9-419A-4DCF-BCC8-072DB9D28CD8}"/>
              </a:ext>
            </a:extLst>
          </p:cNvPr>
          <p:cNvSpPr txBox="1"/>
          <p:nvPr userDrawn="1">
            <p:custDataLst>
              <p:tags r:id="rId7"/>
            </p:custDataLst>
          </p:nvPr>
        </p:nvSpPr>
        <p:spPr>
          <a:xfrm>
            <a:off x="1548740" y="1586098"/>
            <a:ext cx="6787939" cy="188846"/>
          </a:xfrm>
          <a:prstGeom prst="rect">
            <a:avLst/>
          </a:prstGeom>
          <a:noFill/>
        </p:spPr>
        <p:txBody>
          <a:bodyPr vert="horz" wrap="square" lIns="0" tIns="13500" rIns="0" bIns="13500" rtlCol="0" anchor="ctr" anchorCtr="0">
            <a:spAutoFit/>
          </a:bodyPr>
          <a:lstStyle/>
          <a:p>
            <a:r>
              <a:rPr lang="fr-FR" sz="1050">
                <a:solidFill>
                  <a:srgbClr val="404040"/>
                </a:solidFill>
                <a:latin typeface="Century Gothic" pitchFamily="34" charset="0"/>
              </a:rPr>
              <a:t>A</a:t>
            </a:r>
          </a:p>
        </p:txBody>
      </p:sp>
      <p:sp>
        <p:nvSpPr>
          <p:cNvPr id="20" name="TextBox 20">
            <a:hlinkClick r:id="" action="ppaction://noaction"/>
            <a:extLst>
              <a:ext uri="{FF2B5EF4-FFF2-40B4-BE49-F238E27FC236}">
                <a16:creationId xmlns:a16="http://schemas.microsoft.com/office/drawing/2014/main" id="{34F98481-05A5-44D7-8DAC-9FB89EE09B1E}"/>
              </a:ext>
            </a:extLst>
          </p:cNvPr>
          <p:cNvSpPr txBox="1"/>
          <p:nvPr userDrawn="1">
            <p:custDataLst>
              <p:tags r:id="rId8"/>
            </p:custDataLst>
          </p:nvPr>
        </p:nvSpPr>
        <p:spPr>
          <a:xfrm>
            <a:off x="8356974" y="1500770"/>
            <a:ext cx="274320" cy="20574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rIns="0" rtlCol="0" anchor="t" anchorCtr="1">
            <a:noAutofit/>
          </a:bodyPr>
          <a:lstStyle/>
          <a:p>
            <a:pPr algn="ctr"/>
            <a:r>
              <a:rPr lang="fr-FR" sz="1050" i="1">
                <a:solidFill>
                  <a:srgbClr val="404040"/>
                </a:solidFill>
                <a:latin typeface="Century Gothic" pitchFamily="34" charset="0"/>
              </a:rPr>
              <a:t>4</a:t>
            </a:r>
          </a:p>
        </p:txBody>
      </p:sp>
      <p:sp>
        <p:nvSpPr>
          <p:cNvPr id="21" name="TextBox 21">
            <a:hlinkClick r:id="" action="ppaction://noaction"/>
            <a:extLst>
              <a:ext uri="{FF2B5EF4-FFF2-40B4-BE49-F238E27FC236}">
                <a16:creationId xmlns:a16="http://schemas.microsoft.com/office/drawing/2014/main" id="{4816D59A-7D5E-476C-B500-6D52E8ED62DE}"/>
              </a:ext>
            </a:extLst>
          </p:cNvPr>
          <p:cNvSpPr txBox="1"/>
          <p:nvPr userDrawn="1">
            <p:custDataLst>
              <p:tags r:id="rId9"/>
            </p:custDataLst>
          </p:nvPr>
        </p:nvSpPr>
        <p:spPr>
          <a:xfrm>
            <a:off x="998557" y="1544928"/>
            <a:ext cx="7186220" cy="161583"/>
          </a:xfrm>
          <a:prstGeom prst="rect">
            <a:avLst/>
          </a:prstGeom>
          <a:noFill/>
        </p:spPr>
        <p:txBody>
          <a:bodyPr vert="horz" wrap="square" lIns="0" tIns="0" rIns="0" bIns="0" rtlCol="0">
            <a:spAutoFit/>
          </a:bodyPr>
          <a:lstStyle/>
          <a:p>
            <a:r>
              <a:rPr lang="fr-FR" sz="1050" i="1">
                <a:latin typeface="Garamond" pitchFamily="18" charset="0"/>
              </a:rPr>
              <a:t>A</a:t>
            </a:r>
          </a:p>
        </p:txBody>
      </p:sp>
      <p:sp>
        <p:nvSpPr>
          <p:cNvPr id="22" name="Rectangle 21">
            <a:extLst>
              <a:ext uri="{FF2B5EF4-FFF2-40B4-BE49-F238E27FC236}">
                <a16:creationId xmlns:a16="http://schemas.microsoft.com/office/drawing/2014/main" id="{60EDA18A-266B-4DEE-BFCE-DF84FBE24B16}"/>
              </a:ext>
            </a:extLst>
          </p:cNvPr>
          <p:cNvSpPr/>
          <p:nvPr userDrawn="1"/>
        </p:nvSpPr>
        <p:spPr>
          <a:xfrm>
            <a:off x="0" y="0"/>
            <a:ext cx="9144000" cy="5143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34" name="Rectangle 33">
            <a:extLst>
              <a:ext uri="{FF2B5EF4-FFF2-40B4-BE49-F238E27FC236}">
                <a16:creationId xmlns:a16="http://schemas.microsoft.com/office/drawing/2014/main" id="{A8F9361A-8383-4FA6-993B-8389ADA075D6}"/>
              </a:ext>
            </a:extLst>
          </p:cNvPr>
          <p:cNvSpPr/>
          <p:nvPr userDrawn="1">
            <p:custDataLst>
              <p:tags r:id="rId10"/>
            </p:custDataLst>
          </p:nvPr>
        </p:nvSpPr>
        <p:spPr>
          <a:xfrm>
            <a:off x="0" y="0"/>
            <a:ext cx="9144000" cy="5143500"/>
          </a:xfrm>
          <a:prstGeom prst="rect">
            <a:avLst/>
          </a:prstGeom>
          <a:solidFill>
            <a:srgbClr val="BDBDBD"/>
          </a:solidFill>
          <a:ln>
            <a:solidFill>
              <a:srgbClr val="BDBD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0054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E3AB21F-460E-4F48-BB3F-EAD00951899C}"/>
              </a:ext>
            </a:extLst>
          </p:cNvPr>
          <p:cNvSpPr/>
          <p:nvPr userDrawn="1">
            <p:custDataLst>
              <p:tags r:id="rId1"/>
            </p:custDataLst>
          </p:nvPr>
        </p:nvSpPr>
        <p:spPr>
          <a:xfrm>
            <a:off x="0" y="0"/>
            <a:ext cx="9144000" cy="5143500"/>
          </a:xfrm>
          <a:prstGeom prst="rect">
            <a:avLst/>
          </a:prstGeom>
          <a:solidFill>
            <a:srgbClr val="BDBDBD"/>
          </a:solidFill>
          <a:ln>
            <a:solidFill>
              <a:srgbClr val="BDBD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0958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5.png"/><Relationship Id="rId5" Type="http://schemas.openxmlformats.org/officeDocument/2006/relationships/theme" Target="../theme/theme2.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951" y="163176"/>
            <a:ext cx="8926512" cy="320400"/>
          </a:xfrm>
          <a:prstGeom prst="rect">
            <a:avLst/>
          </a:prstGeom>
        </p:spPr>
        <p:txBody>
          <a:bodyPr vert="horz" lIns="91440" tIns="0" rIns="91440" bIns="0" rtlCol="0" anchor="t">
            <a:noAutofit/>
          </a:bodyPr>
          <a:lstStyle/>
          <a:p>
            <a:r>
              <a:rPr lang="fr-FR"/>
              <a:t>Modifiez le style du titre</a:t>
            </a:r>
            <a:endParaRPr lang="en-US"/>
          </a:p>
        </p:txBody>
      </p:sp>
      <p:sp>
        <p:nvSpPr>
          <p:cNvPr id="3" name="Text Placeholder 2"/>
          <p:cNvSpPr>
            <a:spLocks noGrp="1"/>
          </p:cNvSpPr>
          <p:nvPr>
            <p:ph type="body" idx="1"/>
          </p:nvPr>
        </p:nvSpPr>
        <p:spPr>
          <a:xfrm>
            <a:off x="107951" y="914400"/>
            <a:ext cx="8926512" cy="3619500"/>
          </a:xfrm>
          <a:prstGeom prst="rect">
            <a:avLst/>
          </a:prstGeom>
        </p:spPr>
        <p:txBody>
          <a:bodyPr vert="horz" lIns="91440" tIns="45720" rIns="91440" bIns="45720" rtlCol="0">
            <a:noAutofit/>
          </a:bodyPr>
          <a:lstStyle/>
          <a:p>
            <a:pPr lvl="0"/>
            <a:r>
              <a:rPr lang="fr-FR" err="1"/>
              <a:t>ModifieR</a:t>
            </a:r>
            <a:r>
              <a:rPr lang="fr-FR"/>
              <a:t> les styles du texte du masque</a:t>
            </a:r>
          </a:p>
          <a:p>
            <a:pPr lvl="1"/>
            <a:r>
              <a:rPr lang="fr-FR"/>
              <a:t>Deuxième niveau</a:t>
            </a:r>
          </a:p>
          <a:p>
            <a:pPr lvl="2"/>
            <a:r>
              <a:rPr lang="fr-FR"/>
              <a:t>Troisième niveau</a:t>
            </a:r>
          </a:p>
          <a:p>
            <a:pPr lvl="3"/>
            <a:r>
              <a:rPr lang="fr-FR"/>
              <a:t>Quatrième niveau</a:t>
            </a:r>
          </a:p>
          <a:p>
            <a:pPr lvl="4"/>
            <a:r>
              <a:rPr lang="fr-FR"/>
              <a:t>Cinquième niveau</a:t>
            </a:r>
          </a:p>
          <a:p>
            <a:pPr lvl="5"/>
            <a:r>
              <a:rPr lang="fr-FR"/>
              <a:t>Sixième niveau</a:t>
            </a:r>
          </a:p>
          <a:p>
            <a:pPr lvl="6"/>
            <a:r>
              <a:rPr lang="fr-FR"/>
              <a:t>Septième niveau</a:t>
            </a:r>
          </a:p>
          <a:p>
            <a:pPr lvl="7"/>
            <a:r>
              <a:rPr lang="fr-FR"/>
              <a:t>Huitième niveau</a:t>
            </a:r>
          </a:p>
          <a:p>
            <a:pPr lvl="8"/>
            <a:r>
              <a:rPr lang="fr-FR"/>
              <a:t>Neuvième niveau</a:t>
            </a:r>
            <a:endParaRPr lang="en-US"/>
          </a:p>
        </p:txBody>
      </p:sp>
      <p:sp>
        <p:nvSpPr>
          <p:cNvPr id="6" name="Slide Number Placeholder 5"/>
          <p:cNvSpPr>
            <a:spLocks noGrp="1"/>
          </p:cNvSpPr>
          <p:nvPr>
            <p:ph type="sldNum" sz="quarter" idx="4"/>
          </p:nvPr>
        </p:nvSpPr>
        <p:spPr>
          <a:xfrm>
            <a:off x="120651" y="4948014"/>
            <a:ext cx="209550" cy="195486"/>
          </a:xfrm>
          <a:prstGeom prst="rect">
            <a:avLst/>
          </a:prstGeom>
          <a:solidFill>
            <a:schemeClr val="bg1"/>
          </a:solidFill>
        </p:spPr>
        <p:txBody>
          <a:bodyPr vert="horz" lIns="0" tIns="0" rIns="0" bIns="0" rtlCol="0" anchor="ctr"/>
          <a:lstStyle>
            <a:lvl1pPr algn="ctr">
              <a:defRPr sz="800">
                <a:solidFill>
                  <a:srgbClr val="808080"/>
                </a:solidFill>
              </a:defRPr>
            </a:lvl1pPr>
          </a:lstStyle>
          <a:p>
            <a:fld id="{304318A0-AD76-4461-B655-8B1A266EB0A2}" type="slidenum">
              <a:rPr lang="fr-FR" smtClean="0"/>
              <a:pPr/>
              <a:t>‹N°›</a:t>
            </a:fld>
            <a:endParaRPr lang="fr-FR"/>
          </a:p>
        </p:txBody>
      </p:sp>
      <p:sp>
        <p:nvSpPr>
          <p:cNvPr id="7" name="Rectangle 6"/>
          <p:cNvSpPr>
            <a:spLocks/>
          </p:cNvSpPr>
          <p:nvPr userDrawn="1"/>
        </p:nvSpPr>
        <p:spPr>
          <a:xfrm>
            <a:off x="1" y="5114700"/>
            <a:ext cx="9144000" cy="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charset="0"/>
            </a:endParaRPr>
          </a:p>
        </p:txBody>
      </p:sp>
      <p:sp>
        <p:nvSpPr>
          <p:cNvPr id="18" name="Rectangle 17"/>
          <p:cNvSpPr>
            <a:spLocks/>
          </p:cNvSpPr>
          <p:nvPr userDrawn="1"/>
        </p:nvSpPr>
        <p:spPr>
          <a:xfrm>
            <a:off x="120651" y="5097781"/>
            <a:ext cx="20955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descr="Une image contenant signe, dessin&#10;&#10;Description générée automatiquement">
            <a:extLst>
              <a:ext uri="{FF2B5EF4-FFF2-40B4-BE49-F238E27FC236}">
                <a16:creationId xmlns:a16="http://schemas.microsoft.com/office/drawing/2014/main" id="{9398D668-13FE-4C49-9948-73BF05E50BC7}"/>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239894" y="4621213"/>
            <a:ext cx="904106" cy="427259"/>
          </a:xfrm>
          <a:prstGeom prst="rect">
            <a:avLst/>
          </a:prstGeom>
        </p:spPr>
      </p:pic>
    </p:spTree>
    <p:extLst>
      <p:ext uri="{BB962C8B-B14F-4D97-AF65-F5344CB8AC3E}">
        <p14:creationId xmlns:p14="http://schemas.microsoft.com/office/powerpoint/2010/main" val="1792408199"/>
      </p:ext>
    </p:extLst>
  </p:cSld>
  <p:clrMap bg1="lt1" tx1="dk1" bg2="lt2" tx2="dk2" accent1="accent1" accent2="accent2" accent3="accent3" accent4="accent4" accent5="accent5" accent6="accent6" hlink="hlink" folHlink="folHlink"/>
  <p:sldLayoutIdLst>
    <p:sldLayoutId id="2147483661" r:id="rId1"/>
    <p:sldLayoutId id="2147483747" r:id="rId2"/>
    <p:sldLayoutId id="2147483746" r:id="rId3"/>
    <p:sldLayoutId id="2147483662" r:id="rId4"/>
    <p:sldLayoutId id="2147483674" r:id="rId5"/>
    <p:sldLayoutId id="2147483675" r:id="rId6"/>
    <p:sldLayoutId id="2147483676" r:id="rId7"/>
    <p:sldLayoutId id="2147483677" r:id="rId8"/>
    <p:sldLayoutId id="2147483744" r:id="rId9"/>
    <p:sldLayoutId id="2147483745" r:id="rId10"/>
    <p:sldLayoutId id="2147483708" r:id="rId11"/>
    <p:sldLayoutId id="2147483667" r:id="rId12"/>
    <p:sldLayoutId id="2147483742" r:id="rId13"/>
    <p:sldLayoutId id="2147483743" r:id="rId14"/>
    <p:sldLayoutId id="2147483668" r:id="rId15"/>
  </p:sldLayoutIdLst>
  <p:hf hdr="0" dt="0"/>
  <p:txStyles>
    <p:titleStyle>
      <a:lvl1pPr algn="l" defTabSz="685800" rtl="0" eaLnBrk="1" latinLnBrk="0" hangingPunct="1">
        <a:lnSpc>
          <a:spcPct val="90000"/>
        </a:lnSpc>
        <a:spcBef>
          <a:spcPct val="0"/>
        </a:spcBef>
        <a:buNone/>
        <a:defRPr sz="2000" b="1" kern="1200" cap="all" baseline="0">
          <a:solidFill>
            <a:schemeClr val="tx2"/>
          </a:solidFill>
          <a:latin typeface="+mj-lt"/>
          <a:ea typeface="+mj-ea"/>
          <a:cs typeface="+mj-cs"/>
        </a:defRPr>
      </a:lvl1pPr>
    </p:titleStyle>
    <p:body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sz="1000" b="1" kern="1200" cap="all" baseline="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sz="1000" b="1" kern="120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sz="1000" kern="120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sz="1000" b="1" i="0" kern="120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8" userDrawn="1">
          <p15:clr>
            <a:srgbClr val="F26B43"/>
          </p15:clr>
        </p15:guide>
        <p15:guide id="2" pos="5691" userDrawn="1">
          <p15:clr>
            <a:srgbClr val="F26B43"/>
          </p15:clr>
        </p15:guide>
        <p15:guide id="3" pos="1889" userDrawn="1">
          <p15:clr>
            <a:srgbClr val="F26B43"/>
          </p15:clr>
        </p15:guide>
        <p15:guide id="4" pos="1969" userDrawn="1">
          <p15:clr>
            <a:srgbClr val="F26B43"/>
          </p15:clr>
        </p15:guide>
        <p15:guide id="5" pos="3790" userDrawn="1">
          <p15:clr>
            <a:srgbClr val="F26B43"/>
          </p15:clr>
        </p15:guide>
        <p15:guide id="6" pos="3870" userDrawn="1">
          <p15:clr>
            <a:srgbClr val="F26B43"/>
          </p15:clr>
        </p15:guide>
        <p15:guide id="7" orient="horz" pos="576" userDrawn="1">
          <p15:clr>
            <a:srgbClr val="F26B43"/>
          </p15:clr>
        </p15:guide>
        <p15:guide id="8" orient="horz" pos="2856" userDrawn="1">
          <p15:clr>
            <a:srgbClr val="F26B43"/>
          </p15:clr>
        </p15:guide>
        <p15:guide id="9" orient="horz" pos="1676" userDrawn="1">
          <p15:clr>
            <a:srgbClr val="F26B43"/>
          </p15:clr>
        </p15:guide>
        <p15:guide id="10" orient="horz" pos="175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546528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Lst>
  <p:hf hdr="0" dt="0"/>
  <p:txStyles>
    <p:titleStyle>
      <a:lvl1pPr algn="l" rtl="0" fontAlgn="base">
        <a:spcBef>
          <a:spcPct val="0"/>
        </a:spcBef>
        <a:spcAft>
          <a:spcPct val="0"/>
        </a:spcAft>
        <a:defRPr sz="1800" b="1" kern="1200">
          <a:solidFill>
            <a:srgbClr val="376092"/>
          </a:solidFill>
          <a:latin typeface="Garamond" pitchFamily="18" charset="0"/>
          <a:ea typeface="+mj-ea"/>
          <a:cs typeface="+mj-cs"/>
        </a:defRPr>
      </a:lvl1pPr>
      <a:lvl2pPr algn="l" rtl="0" fontAlgn="base">
        <a:spcBef>
          <a:spcPct val="0"/>
        </a:spcBef>
        <a:spcAft>
          <a:spcPct val="0"/>
        </a:spcAft>
        <a:defRPr sz="1800" b="1">
          <a:solidFill>
            <a:srgbClr val="376092"/>
          </a:solidFill>
          <a:latin typeface="Garamond" pitchFamily="18" charset="0"/>
        </a:defRPr>
      </a:lvl2pPr>
      <a:lvl3pPr algn="l" rtl="0" fontAlgn="base">
        <a:spcBef>
          <a:spcPct val="0"/>
        </a:spcBef>
        <a:spcAft>
          <a:spcPct val="0"/>
        </a:spcAft>
        <a:defRPr sz="1800" b="1">
          <a:solidFill>
            <a:srgbClr val="376092"/>
          </a:solidFill>
          <a:latin typeface="Garamond" pitchFamily="18" charset="0"/>
        </a:defRPr>
      </a:lvl3pPr>
      <a:lvl4pPr algn="l" rtl="0" fontAlgn="base">
        <a:spcBef>
          <a:spcPct val="0"/>
        </a:spcBef>
        <a:spcAft>
          <a:spcPct val="0"/>
        </a:spcAft>
        <a:defRPr sz="1800" b="1">
          <a:solidFill>
            <a:srgbClr val="376092"/>
          </a:solidFill>
          <a:latin typeface="Garamond" pitchFamily="18" charset="0"/>
        </a:defRPr>
      </a:lvl4pPr>
      <a:lvl5pPr algn="l" rtl="0" fontAlgn="base">
        <a:spcBef>
          <a:spcPct val="0"/>
        </a:spcBef>
        <a:spcAft>
          <a:spcPct val="0"/>
        </a:spcAft>
        <a:defRPr sz="1800" b="1">
          <a:solidFill>
            <a:srgbClr val="376092"/>
          </a:solidFill>
          <a:latin typeface="Garamond" pitchFamily="18" charset="0"/>
        </a:defRPr>
      </a:lvl5pPr>
      <a:lvl6pPr marL="342900" algn="l" rtl="0" fontAlgn="base">
        <a:spcBef>
          <a:spcPct val="0"/>
        </a:spcBef>
        <a:spcAft>
          <a:spcPct val="0"/>
        </a:spcAft>
        <a:defRPr sz="1800" b="1">
          <a:solidFill>
            <a:srgbClr val="376092"/>
          </a:solidFill>
          <a:latin typeface="Garamond" pitchFamily="18" charset="0"/>
        </a:defRPr>
      </a:lvl6pPr>
      <a:lvl7pPr marL="685800" algn="l" rtl="0" fontAlgn="base">
        <a:spcBef>
          <a:spcPct val="0"/>
        </a:spcBef>
        <a:spcAft>
          <a:spcPct val="0"/>
        </a:spcAft>
        <a:defRPr sz="1800" b="1">
          <a:solidFill>
            <a:srgbClr val="376092"/>
          </a:solidFill>
          <a:latin typeface="Garamond" pitchFamily="18" charset="0"/>
        </a:defRPr>
      </a:lvl7pPr>
      <a:lvl8pPr marL="1028700" algn="l" rtl="0" fontAlgn="base">
        <a:spcBef>
          <a:spcPct val="0"/>
        </a:spcBef>
        <a:spcAft>
          <a:spcPct val="0"/>
        </a:spcAft>
        <a:defRPr sz="1800" b="1">
          <a:solidFill>
            <a:srgbClr val="376092"/>
          </a:solidFill>
          <a:latin typeface="Garamond" pitchFamily="18" charset="0"/>
        </a:defRPr>
      </a:lvl8pPr>
      <a:lvl9pPr marL="1371600" algn="l" rtl="0" fontAlgn="base">
        <a:spcBef>
          <a:spcPct val="0"/>
        </a:spcBef>
        <a:spcAft>
          <a:spcPct val="0"/>
        </a:spcAft>
        <a:defRPr sz="1800" b="1">
          <a:solidFill>
            <a:srgbClr val="376092"/>
          </a:solidFill>
          <a:latin typeface="Garamond" pitchFamily="18" charset="0"/>
        </a:defRPr>
      </a:lvl9pPr>
    </p:titleStyle>
    <p:bodyStyle>
      <a:lvl1pPr algn="l" rtl="0" fontAlgn="base">
        <a:spcBef>
          <a:spcPct val="20000"/>
        </a:spcBef>
        <a:spcAft>
          <a:spcPct val="0"/>
        </a:spcAft>
        <a:buClr>
          <a:srgbClr val="376092"/>
        </a:buClr>
        <a:buSzPct val="80000"/>
        <a:defRPr lang="en-US" sz="1050" b="1" kern="1200" dirty="0">
          <a:solidFill>
            <a:srgbClr val="376092"/>
          </a:solidFill>
          <a:latin typeface="Garamond" pitchFamily="18" charset="0"/>
          <a:ea typeface="+mj-ea"/>
          <a:cs typeface="+mj-cs"/>
        </a:defRPr>
      </a:lvl1pPr>
      <a:lvl2pPr algn="l" rtl="0" fontAlgn="base">
        <a:spcBef>
          <a:spcPct val="20000"/>
        </a:spcBef>
        <a:spcAft>
          <a:spcPct val="0"/>
        </a:spcAft>
        <a:buClr>
          <a:srgbClr val="376092"/>
        </a:buClr>
        <a:buFont typeface="Arial" charset="0"/>
        <a:defRPr lang="en-US" sz="1050" kern="1200" dirty="0">
          <a:solidFill>
            <a:schemeClr val="tx1"/>
          </a:solidFill>
          <a:latin typeface="Garamond" pitchFamily="18" charset="0"/>
          <a:ea typeface="+mn-ea"/>
          <a:cs typeface="+mn-cs"/>
        </a:defRPr>
      </a:lvl2pPr>
      <a:lvl3pPr marL="198835" indent="-198835" algn="l" rtl="0" fontAlgn="base">
        <a:spcBef>
          <a:spcPct val="20000"/>
        </a:spcBef>
        <a:spcAft>
          <a:spcPct val="0"/>
        </a:spcAft>
        <a:buClr>
          <a:srgbClr val="376092"/>
        </a:buClr>
        <a:buBlip>
          <a:blip r:embed="rId6"/>
        </a:buBlip>
        <a:defRPr lang="en-US" sz="1050" kern="1200">
          <a:solidFill>
            <a:schemeClr val="tx1"/>
          </a:solidFill>
          <a:latin typeface="Garamond" pitchFamily="18" charset="0"/>
          <a:ea typeface="+mn-ea"/>
          <a:cs typeface="+mn-cs"/>
        </a:defRPr>
      </a:lvl3pPr>
      <a:lvl4pPr marL="334566" indent="-135731" algn="l" rtl="0" fontAlgn="base">
        <a:spcBef>
          <a:spcPct val="20000"/>
        </a:spcBef>
        <a:spcAft>
          <a:spcPct val="0"/>
        </a:spcAft>
        <a:buFont typeface="Arial" charset="0"/>
        <a:buChar char="–"/>
        <a:defRPr lang="en-US" sz="1050" kern="1200" dirty="0">
          <a:solidFill>
            <a:schemeClr val="tx1"/>
          </a:solidFill>
          <a:latin typeface="Garamond" pitchFamily="18" charset="0"/>
          <a:ea typeface="+mj-ea"/>
          <a:cs typeface="+mj-cs"/>
        </a:defRPr>
      </a:lvl4pPr>
      <a:lvl5pPr marL="470297" indent="-135731" algn="l" rtl="0" fontAlgn="base">
        <a:spcBef>
          <a:spcPct val="20000"/>
        </a:spcBef>
        <a:spcAft>
          <a:spcPct val="0"/>
        </a:spcAft>
        <a:buClr>
          <a:schemeClr val="tx2"/>
        </a:buClr>
        <a:buFont typeface="Arial" charset="0"/>
        <a:buChar char="•"/>
        <a:defRPr lang="en-US" sz="1050" kern="1200" dirty="0">
          <a:solidFill>
            <a:schemeClr val="tx1"/>
          </a:solidFill>
          <a:latin typeface="Garamond" pitchFamily="18" charset="0"/>
          <a:ea typeface="+mj-ea"/>
          <a:cs typeface="+mj-cs"/>
        </a:defRPr>
      </a:lvl5pPr>
      <a:lvl6pPr marL="470297" marR="0" indent="135731" algn="l" defTabSz="685800" rtl="0" eaLnBrk="1" fontAlgn="auto" latinLnBrk="0" hangingPunct="1">
        <a:lnSpc>
          <a:spcPct val="100000"/>
        </a:lnSpc>
        <a:spcBef>
          <a:spcPct val="20000"/>
        </a:spcBef>
        <a:spcAft>
          <a:spcPts val="0"/>
        </a:spcAft>
        <a:buClr>
          <a:schemeClr val="tx2"/>
        </a:buClr>
        <a:buSzTx/>
        <a:buFont typeface="Garamond" pitchFamily="18" charset="0"/>
        <a:buChar char="−"/>
        <a:tabLst/>
        <a:defRPr lang="en-US" sz="1050" kern="1200" dirty="0" smtClean="0">
          <a:solidFill>
            <a:schemeClr val="tx1"/>
          </a:solidFill>
          <a:latin typeface="+mn-lt"/>
          <a:ea typeface="+mn-ea"/>
          <a:cs typeface="+mn-cs"/>
        </a:defRPr>
      </a:lvl6pPr>
      <a:lvl7pPr marL="741760" marR="0" indent="-135731" algn="l" defTabSz="685800" rtl="0" eaLnBrk="1" fontAlgn="auto" latinLnBrk="0" hangingPunct="1">
        <a:lnSpc>
          <a:spcPct val="100000"/>
        </a:lnSpc>
        <a:spcBef>
          <a:spcPct val="20000"/>
        </a:spcBef>
        <a:spcAft>
          <a:spcPts val="0"/>
        </a:spcAft>
        <a:buClr>
          <a:schemeClr val="tx2"/>
        </a:buClr>
        <a:buSzTx/>
        <a:buFont typeface="Garamond" pitchFamily="18" charset="0"/>
        <a:buChar char="−"/>
        <a:tabLst/>
        <a:defRPr lang="en-US" sz="1050" kern="1200" baseline="0" dirty="0" smtClean="0">
          <a:solidFill>
            <a:schemeClr val="tx1"/>
          </a:solidFill>
          <a:latin typeface="Garamond" pitchFamily="18" charset="0"/>
          <a:ea typeface="+mn-ea"/>
          <a:cs typeface="+mn-cs"/>
        </a:defRPr>
      </a:lvl7pPr>
      <a:lvl8pPr marL="877491" indent="-135731" algn="l" defTabSz="685800" rtl="0" eaLnBrk="1" latinLnBrk="0" hangingPunct="1">
        <a:spcBef>
          <a:spcPct val="20000"/>
        </a:spcBef>
        <a:buFont typeface="Garamond" pitchFamily="18" charset="0"/>
        <a:buChar char="−"/>
        <a:defRPr lang="en-US" sz="1050" kern="1200" baseline="0" dirty="0" smtClean="0">
          <a:solidFill>
            <a:schemeClr val="tx1"/>
          </a:solidFill>
          <a:latin typeface="Garamond" pitchFamily="18" charset="0"/>
          <a:ea typeface="+mn-ea"/>
          <a:cs typeface="+mn-cs"/>
        </a:defRPr>
      </a:lvl8pPr>
      <a:lvl9pPr marL="1004888" indent="-127397" algn="l" defTabSz="685800" rtl="0" eaLnBrk="1" latinLnBrk="0" hangingPunct="1">
        <a:spcBef>
          <a:spcPct val="20000"/>
        </a:spcBef>
        <a:buFont typeface="Garamond" pitchFamily="18" charset="0"/>
        <a:buChar char="−"/>
        <a:defRPr lang="en-US" sz="1050" kern="1200" baseline="0" dirty="0" smtClean="0">
          <a:solidFill>
            <a:schemeClr val="tx1"/>
          </a:solidFill>
          <a:latin typeface="Garamond" pitchFamily="18" charset="0"/>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slide" Target="slide18.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slide" Target="slide3.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slideLayout" Target="../slideLayouts/slideLayout13.xml"/><Relationship Id="rId5" Type="http://schemas.openxmlformats.org/officeDocument/2006/relationships/tags" Target="../tags/tag3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slide" Target="slide28.xml"/></Relationships>
</file>

<file path=ppt/slides/_rels/slide3.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 Target="slide3.xml"/><Relationship Id="rId5" Type="http://schemas.openxmlformats.org/officeDocument/2006/relationships/slideLayout" Target="../slideLayouts/slideLayout15.xml"/><Relationship Id="rId4" Type="http://schemas.openxmlformats.org/officeDocument/2006/relationships/tags" Target="../tags/tag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6.png"/><Relationship Id="rId18" Type="http://schemas.openxmlformats.org/officeDocument/2006/relationships/image" Target="../media/image18.png"/><Relationship Id="rId3" Type="http://schemas.openxmlformats.org/officeDocument/2006/relationships/tags" Target="../tags/tag54.xml"/><Relationship Id="rId7" Type="http://schemas.openxmlformats.org/officeDocument/2006/relationships/notesSlide" Target="../notesSlides/notesSlide1.xml"/><Relationship Id="rId12" Type="http://schemas.openxmlformats.org/officeDocument/2006/relationships/image" Target="../media/image13.jpeg"/><Relationship Id="rId17" Type="http://schemas.openxmlformats.org/officeDocument/2006/relationships/image" Target="../media/image17.png"/><Relationship Id="rId2" Type="http://schemas.openxmlformats.org/officeDocument/2006/relationships/tags" Target="../tags/tag53.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tags" Target="../tags/tag52.xml"/><Relationship Id="rId6" Type="http://schemas.openxmlformats.org/officeDocument/2006/relationships/slideLayout" Target="../slideLayouts/slideLayout7.xml"/><Relationship Id="rId11" Type="http://schemas.openxmlformats.org/officeDocument/2006/relationships/image" Target="../media/image1.png"/><Relationship Id="rId5" Type="http://schemas.openxmlformats.org/officeDocument/2006/relationships/tags" Target="../tags/tag56.xml"/><Relationship Id="rId15" Type="http://schemas.openxmlformats.org/officeDocument/2006/relationships/image" Target="../media/image15.png"/><Relationship Id="rId10" Type="http://schemas.openxmlformats.org/officeDocument/2006/relationships/image" Target="../media/image12.png"/><Relationship Id="rId19" Type="http://schemas.openxmlformats.org/officeDocument/2006/relationships/image" Target="../media/image19.png"/><Relationship Id="rId4" Type="http://schemas.openxmlformats.org/officeDocument/2006/relationships/tags" Target="../tags/tag55.xml"/><Relationship Id="rId9" Type="http://schemas.openxmlformats.org/officeDocument/2006/relationships/image" Target="../media/image11.emf"/><Relationship Id="rId1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0.xml"/><Relationship Id="rId1" Type="http://schemas.openxmlformats.org/officeDocument/2006/relationships/tags" Target="../tags/tag59.xml"/><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image" Target="../media/image25.emf"/></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26.emf"/><Relationship Id="rId4"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27.emf"/><Relationship Id="rId4"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3" Type="http://schemas.openxmlformats.org/officeDocument/2006/relationships/tags" Target="../tags/tag71.xml"/><Relationship Id="rId7" Type="http://schemas.openxmlformats.org/officeDocument/2006/relationships/slide" Target="slide18.xml"/><Relationship Id="rId2" Type="http://schemas.openxmlformats.org/officeDocument/2006/relationships/tags" Target="../tags/tag70.xml"/><Relationship Id="rId1" Type="http://schemas.openxmlformats.org/officeDocument/2006/relationships/themeOverride" Target="../theme/themeOverride1.xml"/><Relationship Id="rId6" Type="http://schemas.openxmlformats.org/officeDocument/2006/relationships/slideLayout" Target="../slideLayouts/slideLayout15.xml"/><Relationship Id="rId5" Type="http://schemas.openxmlformats.org/officeDocument/2006/relationships/tags" Target="../tags/tag73.xml"/><Relationship Id="rId4" Type="http://schemas.openxmlformats.org/officeDocument/2006/relationships/tags" Target="../tags/tag72.xml"/></Relationships>
</file>

<file path=ppt/slides/_rels/slide19.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hemeOverride" Target="../theme/themeOverride2.xml"/><Relationship Id="rId5" Type="http://schemas.openxmlformats.org/officeDocument/2006/relationships/image" Target="../media/image28.emf"/><Relationship Id="rId4"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hemeOverride" Target="../theme/themeOverride3.xml"/><Relationship Id="rId6" Type="http://schemas.openxmlformats.org/officeDocument/2006/relationships/image" Target="../media/image29.emf"/><Relationship Id="rId5" Type="http://schemas.openxmlformats.org/officeDocument/2006/relationships/notesSlide" Target="../notesSlides/notesSlide4.xml"/><Relationship Id="rId4"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hemeOverride" Target="../theme/themeOverride4.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80.xml"/><Relationship Id="rId1" Type="http://schemas.openxmlformats.org/officeDocument/2006/relationships/themeOverride" Target="../theme/themeOverride5.xml"/><Relationship Id="rId4" Type="http://schemas.openxmlformats.org/officeDocument/2006/relationships/image" Target="../media/image32.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81.xml"/><Relationship Id="rId1" Type="http://schemas.openxmlformats.org/officeDocument/2006/relationships/themeOverride" Target="../theme/themeOverride6.xml"/><Relationship Id="rId4" Type="http://schemas.openxmlformats.org/officeDocument/2006/relationships/image" Target="../media/image33.emf"/></Relationships>
</file>

<file path=ppt/slides/_rels/slide24.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hemeOverride" Target="../theme/themeOverride7.xml"/><Relationship Id="rId5" Type="http://schemas.openxmlformats.org/officeDocument/2006/relationships/image" Target="../media/image34.emf"/><Relationship Id="rId4"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4.xml"/><Relationship Id="rId1" Type="http://schemas.openxmlformats.org/officeDocument/2006/relationships/themeOverride" Target="../theme/themeOverride8.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5.xml"/><Relationship Id="rId1" Type="http://schemas.openxmlformats.org/officeDocument/2006/relationships/themeOverride" Target="../theme/themeOverride9.xml"/></Relationships>
</file>

<file path=ppt/slides/_rels/slide27.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emf"/><Relationship Id="rId3" Type="http://schemas.openxmlformats.org/officeDocument/2006/relationships/slideLayout" Target="../slideLayouts/slideLayout11.xml"/><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tags" Target="../tags/tag86.xml"/><Relationship Id="rId1" Type="http://schemas.openxmlformats.org/officeDocument/2006/relationships/themeOverride" Target="../theme/themeOverride10.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tags" Target="../tags/tag88.xml"/><Relationship Id="rId7" Type="http://schemas.openxmlformats.org/officeDocument/2006/relationships/slide" Target="slide28.xml"/><Relationship Id="rId2" Type="http://schemas.openxmlformats.org/officeDocument/2006/relationships/tags" Target="../tags/tag87.xml"/><Relationship Id="rId1" Type="http://schemas.openxmlformats.org/officeDocument/2006/relationships/themeOverride" Target="../theme/themeOverride11.xml"/><Relationship Id="rId6" Type="http://schemas.openxmlformats.org/officeDocument/2006/relationships/slideLayout" Target="../slideLayouts/slideLayout15.xml"/><Relationship Id="rId5" Type="http://schemas.openxmlformats.org/officeDocument/2006/relationships/tags" Target="../tags/tag90.xml"/><Relationship Id="rId4" Type="http://schemas.openxmlformats.org/officeDocument/2006/relationships/tags" Target="../tags/tag89.xml"/></Relationships>
</file>

<file path=ppt/slides/_rels/slide29.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hemeOverride" Target="../theme/themeOverride12.xml"/><Relationship Id="rId5" Type="http://schemas.openxmlformats.org/officeDocument/2006/relationships/image" Target="../media/image45.emf"/><Relationship Id="rId4"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hemeOverride" Target="../theme/themeOverride13.xml"/><Relationship Id="rId6" Type="http://schemas.openxmlformats.org/officeDocument/2006/relationships/image" Target="../media/image47.emf"/><Relationship Id="rId5" Type="http://schemas.openxmlformats.org/officeDocument/2006/relationships/image" Target="../media/image46.emf"/><Relationship Id="rId4"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5.xml"/><Relationship Id="rId1" Type="http://schemas.openxmlformats.org/officeDocument/2006/relationships/themeOverride" Target="../theme/themeOverride14.xml"/><Relationship Id="rId5" Type="http://schemas.openxmlformats.org/officeDocument/2006/relationships/image" Target="../media/image48.emf"/><Relationship Id="rId4" Type="http://schemas.openxmlformats.org/officeDocument/2006/relationships/notesSlide" Target="../notesSlides/notesSlide5.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6.xml"/><Relationship Id="rId1" Type="http://schemas.openxmlformats.org/officeDocument/2006/relationships/themeOverride" Target="../theme/themeOverride15.xml"/><Relationship Id="rId5" Type="http://schemas.openxmlformats.org/officeDocument/2006/relationships/image" Target="../media/image49.emf"/><Relationship Id="rId4" Type="http://schemas.openxmlformats.org/officeDocument/2006/relationships/notesSlide" Target="../notesSlides/notesSlide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7.xml"/><Relationship Id="rId1" Type="http://schemas.openxmlformats.org/officeDocument/2006/relationships/themeOverride" Target="../theme/themeOverride16.xml"/><Relationship Id="rId4" Type="http://schemas.openxmlformats.org/officeDocument/2006/relationships/image" Target="../media/image50.emf"/></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8.xml"/><Relationship Id="rId1" Type="http://schemas.openxmlformats.org/officeDocument/2006/relationships/themeOverride" Target="../theme/themeOverride17.xml"/><Relationship Id="rId4" Type="http://schemas.openxmlformats.org/officeDocument/2006/relationships/image" Target="../media/image51.e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D1AEA718-03C7-491D-AA86-44C48862262D}"/>
              </a:ext>
            </a:extLst>
          </p:cNvPr>
          <p:cNvSpPr>
            <a:spLocks noGrp="1"/>
          </p:cNvSpPr>
          <p:nvPr>
            <p:ph type="body" sz="quarter" idx="10"/>
          </p:nvPr>
        </p:nvSpPr>
        <p:spPr>
          <a:xfrm>
            <a:off x="3995936" y="2071217"/>
            <a:ext cx="3446232" cy="500533"/>
          </a:xfrm>
        </p:spPr>
        <p:txBody>
          <a:bodyPr/>
          <a:lstStyle/>
          <a:p>
            <a:pPr algn="r"/>
            <a:r>
              <a:rPr lang="en-US"/>
              <a:t>First Half 2023 results</a:t>
            </a:r>
          </a:p>
        </p:txBody>
      </p:sp>
      <p:sp>
        <p:nvSpPr>
          <p:cNvPr id="30" name="Text Placeholder 29">
            <a:extLst>
              <a:ext uri="{FF2B5EF4-FFF2-40B4-BE49-F238E27FC236}">
                <a16:creationId xmlns:a16="http://schemas.microsoft.com/office/drawing/2014/main" id="{1DAFB25D-BE16-442D-BECD-91C53D200114}"/>
              </a:ext>
            </a:extLst>
          </p:cNvPr>
          <p:cNvSpPr>
            <a:spLocks noGrp="1"/>
          </p:cNvSpPr>
          <p:nvPr>
            <p:ph type="body" sz="quarter" idx="11"/>
          </p:nvPr>
        </p:nvSpPr>
        <p:spPr>
          <a:xfrm>
            <a:off x="4867172" y="4545766"/>
            <a:ext cx="2574996" cy="184666"/>
          </a:xfrm>
        </p:spPr>
        <p:txBody>
          <a:bodyPr/>
          <a:lstStyle/>
          <a:p>
            <a:pPr algn="r"/>
            <a:r>
              <a:rPr lang="en-US"/>
              <a:t>July 28, 2023</a:t>
            </a:r>
          </a:p>
        </p:txBody>
      </p:sp>
    </p:spTree>
    <p:extLst>
      <p:ext uri="{BB962C8B-B14F-4D97-AF65-F5344CB8AC3E}">
        <p14:creationId xmlns:p14="http://schemas.microsoft.com/office/powerpoint/2010/main" val="2765381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9A62-3B78-49F1-BFBE-0B04F5EE2B69}"/>
              </a:ext>
            </a:extLst>
          </p:cNvPr>
          <p:cNvSpPr>
            <a:spLocks noGrp="1"/>
          </p:cNvSpPr>
          <p:nvPr>
            <p:ph type="title"/>
          </p:nvPr>
        </p:nvSpPr>
        <p:spPr/>
        <p:txBody>
          <a:bodyPr/>
          <a:lstStyle/>
          <a:p>
            <a:endParaRPr lang="en-US"/>
          </a:p>
        </p:txBody>
      </p:sp>
      <p:sp>
        <p:nvSpPr>
          <p:cNvPr id="45" name="ZoneTexte 44">
            <a:hlinkClick r:id="rId12" action="ppaction://hlinksldjump"/>
            <a:extLst>
              <a:ext uri="{FF2B5EF4-FFF2-40B4-BE49-F238E27FC236}">
                <a16:creationId xmlns:a16="http://schemas.microsoft.com/office/drawing/2014/main" id="{377EC49B-AD84-4686-9347-481A82FDB155}"/>
              </a:ext>
            </a:extLst>
          </p:cNvPr>
          <p:cNvSpPr txBox="1"/>
          <p:nvPr>
            <p:custDataLst>
              <p:tags r:id="rId2"/>
            </p:custDataLst>
          </p:nvPr>
        </p:nvSpPr>
        <p:spPr>
          <a:xfrm>
            <a:off x="998556" y="1131591"/>
            <a:ext cx="7437249" cy="261900"/>
          </a:xfrm>
          <a:prstGeom prst="rect">
            <a:avLst/>
          </a:prstGeom>
          <a:noFill/>
        </p:spPr>
        <p:txBody>
          <a:bodyPr vert="horz" wrap="square" lIns="36000" tIns="0" rIns="540000" bIns="0" rtlCol="0" anchor="ctr" anchorCtr="0">
            <a:noAutofit/>
          </a:bodyPr>
          <a:lstStyle/>
          <a:p>
            <a:pPr algn="l"/>
            <a:r>
              <a:rPr lang="fr-FR" sz="1800">
                <a:solidFill>
                  <a:schemeClr val="tx2"/>
                </a:solidFill>
                <a:latin typeface="+mj-lt"/>
              </a:rPr>
              <a:t>Summary</a:t>
            </a:r>
          </a:p>
        </p:txBody>
      </p:sp>
      <p:sp>
        <p:nvSpPr>
          <p:cNvPr id="46" name="ZoneTexte 45">
            <a:hlinkClick r:id="rId13" action="ppaction://hlinksldjump"/>
            <a:extLst>
              <a:ext uri="{FF2B5EF4-FFF2-40B4-BE49-F238E27FC236}">
                <a16:creationId xmlns:a16="http://schemas.microsoft.com/office/drawing/2014/main" id="{41FCF2CD-87E3-4496-83F7-475EC388E35F}"/>
              </a:ext>
            </a:extLst>
          </p:cNvPr>
          <p:cNvSpPr txBox="1"/>
          <p:nvPr>
            <p:custDataLst>
              <p:tags r:id="rId3"/>
            </p:custDataLst>
          </p:nvPr>
        </p:nvSpPr>
        <p:spPr>
          <a:xfrm>
            <a:off x="998556" y="1463201"/>
            <a:ext cx="7437249" cy="261900"/>
          </a:xfrm>
          <a:prstGeom prst="rect">
            <a:avLst/>
          </a:prstGeom>
          <a:noFill/>
        </p:spPr>
        <p:txBody>
          <a:bodyPr vert="horz" wrap="square" lIns="36000" tIns="0" rIns="540000" bIns="0" rtlCol="0" anchor="ctr" anchorCtr="0">
            <a:noAutofit/>
          </a:bodyPr>
          <a:lstStyle/>
          <a:p>
            <a:pPr algn="l"/>
            <a:r>
              <a:rPr lang="fr-FR" sz="1800">
                <a:solidFill>
                  <a:schemeClr val="tx2"/>
                </a:solidFill>
                <a:latin typeface="+mj-lt"/>
              </a:rPr>
              <a:t>Business review</a:t>
            </a:r>
          </a:p>
        </p:txBody>
      </p:sp>
      <p:sp>
        <p:nvSpPr>
          <p:cNvPr id="47" name="ZoneTexte 46">
            <a:hlinkClick r:id="rId14" action="ppaction://hlinksldjump"/>
            <a:extLst>
              <a:ext uri="{FF2B5EF4-FFF2-40B4-BE49-F238E27FC236}">
                <a16:creationId xmlns:a16="http://schemas.microsoft.com/office/drawing/2014/main" id="{5788B889-BD3B-478B-B759-14F5E45E30F1}"/>
              </a:ext>
            </a:extLst>
          </p:cNvPr>
          <p:cNvSpPr txBox="1"/>
          <p:nvPr>
            <p:custDataLst>
              <p:tags r:id="rId4"/>
            </p:custDataLst>
          </p:nvPr>
        </p:nvSpPr>
        <p:spPr>
          <a:xfrm>
            <a:off x="998556" y="1794811"/>
            <a:ext cx="7437249" cy="261900"/>
          </a:xfrm>
          <a:prstGeom prst="rect">
            <a:avLst/>
          </a:prstGeom>
          <a:noFill/>
        </p:spPr>
        <p:txBody>
          <a:bodyPr vert="horz" wrap="square" lIns="36000" tIns="0" rIns="540000" bIns="0" rtlCol="0" anchor="ctr" anchorCtr="0">
            <a:noAutofit/>
          </a:bodyPr>
          <a:lstStyle/>
          <a:p>
            <a:pPr algn="l"/>
            <a:r>
              <a:rPr lang="fr-FR" sz="1800">
                <a:solidFill>
                  <a:schemeClr val="tx2"/>
                </a:solidFill>
                <a:latin typeface="+mj-lt"/>
              </a:rPr>
              <a:t>Appendices</a:t>
            </a:r>
          </a:p>
        </p:txBody>
      </p:sp>
      <p:sp>
        <p:nvSpPr>
          <p:cNvPr id="48" name="ZoneTexte 47">
            <a:hlinkClick r:id="rId12" action="ppaction://hlinksldjump"/>
            <a:extLst>
              <a:ext uri="{FF2B5EF4-FFF2-40B4-BE49-F238E27FC236}">
                <a16:creationId xmlns:a16="http://schemas.microsoft.com/office/drawing/2014/main" id="{3F48DA20-6987-4F68-8482-2E5D17369B0D}"/>
              </a:ext>
            </a:extLst>
          </p:cNvPr>
          <p:cNvSpPr txBox="1"/>
          <p:nvPr>
            <p:custDataLst>
              <p:tags r:id="rId5"/>
            </p:custDataLst>
          </p:nvPr>
        </p:nvSpPr>
        <p:spPr bwMode="auto">
          <a:xfrm>
            <a:off x="417305" y="1131591"/>
            <a:ext cx="349200" cy="261900"/>
          </a:xfrm>
          <a:prstGeom prst="roundRect">
            <a:avLst>
              <a:gd name="adj" fmla="val 0"/>
            </a:avLst>
          </a:prstGeom>
          <a:solidFill>
            <a:schemeClr val="tx2"/>
          </a:solidFill>
          <a:ln>
            <a:noFill/>
          </a:ln>
          <a:effectLst/>
        </p:spPr>
        <p:txBody>
          <a:bodyPr vert="horz" wrap="none" lIns="0" tIns="0" rIns="0" bIns="0" numCol="1" rtlCol="0" anchor="ctr" anchorCtr="0" compatLnSpc="1">
            <a:prstTxWarp prst="textNoShape">
              <a:avLst/>
            </a:prstTxWarp>
            <a:noAutofit/>
          </a:bodyPr>
          <a:lstStyle/>
          <a:p>
            <a:pPr algn="ctr">
              <a:buSzPct val="60000"/>
              <a:buFont typeface="Garamond" pitchFamily="18" charset="0"/>
            </a:pPr>
            <a:r>
              <a:rPr lang="fr-FR" sz="1800">
                <a:solidFill>
                  <a:schemeClr val="bg1"/>
                </a:solidFill>
                <a:latin typeface="+mj-lt"/>
              </a:rPr>
              <a:t>1</a:t>
            </a:r>
          </a:p>
        </p:txBody>
      </p:sp>
      <p:sp>
        <p:nvSpPr>
          <p:cNvPr id="49" name="ZoneTexte 48">
            <a:hlinkClick r:id="rId13" action="ppaction://hlinksldjump"/>
            <a:extLst>
              <a:ext uri="{FF2B5EF4-FFF2-40B4-BE49-F238E27FC236}">
                <a16:creationId xmlns:a16="http://schemas.microsoft.com/office/drawing/2014/main" id="{2CEE6553-C610-4138-A12E-7271045300CC}"/>
              </a:ext>
            </a:extLst>
          </p:cNvPr>
          <p:cNvSpPr txBox="1"/>
          <p:nvPr>
            <p:custDataLst>
              <p:tags r:id="rId6"/>
            </p:custDataLst>
          </p:nvPr>
        </p:nvSpPr>
        <p:spPr bwMode="auto">
          <a:xfrm>
            <a:off x="417305" y="1463201"/>
            <a:ext cx="349200" cy="261900"/>
          </a:xfrm>
          <a:prstGeom prst="roundRect">
            <a:avLst>
              <a:gd name="adj" fmla="val 0"/>
            </a:avLst>
          </a:prstGeom>
          <a:solidFill>
            <a:schemeClr val="tx2"/>
          </a:solidFill>
          <a:ln>
            <a:noFill/>
          </a:ln>
          <a:effectLst/>
        </p:spPr>
        <p:txBody>
          <a:bodyPr vert="horz" wrap="none" lIns="0" tIns="0" rIns="0" bIns="0" numCol="1" rtlCol="0" anchor="ctr" anchorCtr="0" compatLnSpc="1">
            <a:prstTxWarp prst="textNoShape">
              <a:avLst/>
            </a:prstTxWarp>
            <a:noAutofit/>
          </a:bodyPr>
          <a:lstStyle/>
          <a:p>
            <a:pPr algn="ctr">
              <a:buSzPct val="60000"/>
              <a:buFont typeface="Garamond" pitchFamily="18" charset="0"/>
            </a:pPr>
            <a:r>
              <a:rPr lang="fr-FR" sz="1800">
                <a:solidFill>
                  <a:schemeClr val="bg1"/>
                </a:solidFill>
                <a:latin typeface="+mj-lt"/>
              </a:rPr>
              <a:t>2</a:t>
            </a:r>
          </a:p>
        </p:txBody>
      </p:sp>
      <p:sp>
        <p:nvSpPr>
          <p:cNvPr id="50" name="ZoneTexte 49">
            <a:hlinkClick r:id="rId14" action="ppaction://hlinksldjump"/>
            <a:extLst>
              <a:ext uri="{FF2B5EF4-FFF2-40B4-BE49-F238E27FC236}">
                <a16:creationId xmlns:a16="http://schemas.microsoft.com/office/drawing/2014/main" id="{DE1251EF-9F03-45B7-BE23-3F942F6EB3C9}"/>
              </a:ext>
            </a:extLst>
          </p:cNvPr>
          <p:cNvSpPr txBox="1"/>
          <p:nvPr>
            <p:custDataLst>
              <p:tags r:id="rId7"/>
            </p:custDataLst>
          </p:nvPr>
        </p:nvSpPr>
        <p:spPr bwMode="auto">
          <a:xfrm>
            <a:off x="417305" y="1794811"/>
            <a:ext cx="349200" cy="261900"/>
          </a:xfrm>
          <a:prstGeom prst="roundRect">
            <a:avLst>
              <a:gd name="adj" fmla="val 0"/>
            </a:avLst>
          </a:prstGeom>
          <a:solidFill>
            <a:schemeClr val="tx2"/>
          </a:solidFill>
          <a:ln>
            <a:noFill/>
          </a:ln>
          <a:effectLst/>
        </p:spPr>
        <p:txBody>
          <a:bodyPr vert="horz" wrap="none" lIns="0" tIns="0" rIns="0" bIns="0" numCol="1" rtlCol="0" anchor="ctr" anchorCtr="0" compatLnSpc="1">
            <a:prstTxWarp prst="textNoShape">
              <a:avLst/>
            </a:prstTxWarp>
            <a:noAutofit/>
          </a:bodyPr>
          <a:lstStyle/>
          <a:p>
            <a:pPr algn="ctr">
              <a:buSzPct val="60000"/>
              <a:buFont typeface="Garamond" pitchFamily="18" charset="0"/>
            </a:pPr>
            <a:r>
              <a:rPr lang="fr-FR" sz="1800">
                <a:solidFill>
                  <a:schemeClr val="bg1"/>
                </a:solidFill>
                <a:latin typeface="+mj-lt"/>
              </a:rPr>
              <a:t>3</a:t>
            </a:r>
          </a:p>
        </p:txBody>
      </p:sp>
      <p:sp>
        <p:nvSpPr>
          <p:cNvPr id="51" name="ZoneTexte 50">
            <a:hlinkClick r:id="rId12" action="ppaction://hlinksldjump"/>
            <a:extLst>
              <a:ext uri="{FF2B5EF4-FFF2-40B4-BE49-F238E27FC236}">
                <a16:creationId xmlns:a16="http://schemas.microsoft.com/office/drawing/2014/main" id="{06EB44EF-828F-4971-89CE-940AD8A7B996}"/>
              </a:ext>
            </a:extLst>
          </p:cNvPr>
          <p:cNvSpPr txBox="1"/>
          <p:nvPr>
            <p:custDataLst>
              <p:tags r:id="rId8"/>
            </p:custDataLst>
          </p:nvPr>
        </p:nvSpPr>
        <p:spPr>
          <a:xfrm>
            <a:off x="8435805" y="1131591"/>
            <a:ext cx="0" cy="2619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0">
            <a:noAutofit/>
          </a:bodyPr>
          <a:lstStyle/>
          <a:p>
            <a:pPr algn="r"/>
            <a:r>
              <a:rPr lang="fr-FR" sz="1800">
                <a:solidFill>
                  <a:schemeClr val="tx2"/>
                </a:solidFill>
                <a:latin typeface="+mj-lt"/>
              </a:rPr>
              <a:t>3</a:t>
            </a:r>
          </a:p>
        </p:txBody>
      </p:sp>
      <p:sp>
        <p:nvSpPr>
          <p:cNvPr id="52" name="ZoneTexte 51">
            <a:hlinkClick r:id="rId13" action="ppaction://hlinksldjump"/>
            <a:extLst>
              <a:ext uri="{FF2B5EF4-FFF2-40B4-BE49-F238E27FC236}">
                <a16:creationId xmlns:a16="http://schemas.microsoft.com/office/drawing/2014/main" id="{6B169C98-C794-462C-8E4C-D476B3D1BD0F}"/>
              </a:ext>
            </a:extLst>
          </p:cNvPr>
          <p:cNvSpPr txBox="1"/>
          <p:nvPr>
            <p:custDataLst>
              <p:tags r:id="rId9"/>
            </p:custDataLst>
          </p:nvPr>
        </p:nvSpPr>
        <p:spPr>
          <a:xfrm>
            <a:off x="8435805" y="1463201"/>
            <a:ext cx="0" cy="2619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0">
            <a:noAutofit/>
          </a:bodyPr>
          <a:lstStyle/>
          <a:p>
            <a:pPr algn="r"/>
            <a:r>
              <a:rPr lang="fr-FR" sz="1800">
                <a:solidFill>
                  <a:schemeClr val="tx2"/>
                </a:solidFill>
                <a:latin typeface="+mj-lt"/>
              </a:rPr>
              <a:t>18</a:t>
            </a:r>
          </a:p>
        </p:txBody>
      </p:sp>
      <p:sp>
        <p:nvSpPr>
          <p:cNvPr id="53" name="ZoneTexte 52">
            <a:hlinkClick r:id="rId14" action="ppaction://hlinksldjump"/>
            <a:extLst>
              <a:ext uri="{FF2B5EF4-FFF2-40B4-BE49-F238E27FC236}">
                <a16:creationId xmlns:a16="http://schemas.microsoft.com/office/drawing/2014/main" id="{D9BAC810-591E-4237-BF3E-BB5B62998A5D}"/>
              </a:ext>
            </a:extLst>
          </p:cNvPr>
          <p:cNvSpPr txBox="1"/>
          <p:nvPr>
            <p:custDataLst>
              <p:tags r:id="rId10"/>
            </p:custDataLst>
          </p:nvPr>
        </p:nvSpPr>
        <p:spPr>
          <a:xfrm>
            <a:off x="8435805" y="1794811"/>
            <a:ext cx="0" cy="2619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0">
            <a:noAutofit/>
          </a:bodyPr>
          <a:lstStyle/>
          <a:p>
            <a:pPr algn="r"/>
            <a:r>
              <a:rPr lang="fr-FR" sz="1800">
                <a:solidFill>
                  <a:schemeClr val="tx2"/>
                </a:solidFill>
                <a:latin typeface="+mj-lt"/>
              </a:rPr>
              <a:t>28</a:t>
            </a:r>
          </a:p>
        </p:txBody>
      </p:sp>
      <p:sp>
        <p:nvSpPr>
          <p:cNvPr id="54" name="Espace réservé du numéro de diapositive 53">
            <a:extLst>
              <a:ext uri="{FF2B5EF4-FFF2-40B4-BE49-F238E27FC236}">
                <a16:creationId xmlns:a16="http://schemas.microsoft.com/office/drawing/2014/main" id="{E3272FB8-1954-40DC-BF78-3971D98218EA}"/>
              </a:ext>
            </a:extLst>
          </p:cNvPr>
          <p:cNvSpPr>
            <a:spLocks noGrp="1"/>
          </p:cNvSpPr>
          <p:nvPr>
            <p:ph type="sldNum" sz="quarter" idx="10"/>
          </p:nvPr>
        </p:nvSpPr>
        <p:spPr/>
        <p:txBody>
          <a:bodyPr/>
          <a:lstStyle/>
          <a:p>
            <a:fld id="{304318A0-AD76-4461-B655-8B1A266EB0A2}" type="slidenum">
              <a:rPr lang="fr-FR" smtClean="0"/>
              <a:pPr/>
              <a:t>2</a:t>
            </a:fld>
            <a:endParaRPr lang="fr-FR"/>
          </a:p>
        </p:txBody>
      </p:sp>
    </p:spTree>
    <p:custDataLst>
      <p:tags r:id="rId1"/>
    </p:custDataLst>
    <p:extLst>
      <p:ext uri="{BB962C8B-B14F-4D97-AF65-F5344CB8AC3E}">
        <p14:creationId xmlns:p14="http://schemas.microsoft.com/office/powerpoint/2010/main" val="46979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9E2674F8-7777-409F-B387-0B616EB696F6}"/>
              </a:ext>
            </a:extLst>
          </p:cNvPr>
          <p:cNvSpPr>
            <a:spLocks noGrp="1"/>
          </p:cNvSpPr>
          <p:nvPr>
            <p:ph type="ftr" sz="quarter" idx="11"/>
          </p:nvPr>
        </p:nvSpPr>
        <p:spPr/>
        <p:txBody>
          <a:bodyPr/>
          <a:lstStyle/>
          <a:p>
            <a:endParaRPr lang="fr-FR"/>
          </a:p>
        </p:txBody>
      </p:sp>
      <p:sp>
        <p:nvSpPr>
          <p:cNvPr id="16" name="ZoneTexte 15">
            <a:hlinkClick r:id="rId6" action="ppaction://hlinksldjump"/>
            <a:extLst>
              <a:ext uri="{FF2B5EF4-FFF2-40B4-BE49-F238E27FC236}">
                <a16:creationId xmlns:a16="http://schemas.microsoft.com/office/drawing/2014/main" id="{D234646B-FB47-4D71-9E02-88E0E5C1B367}"/>
              </a:ext>
            </a:extLst>
          </p:cNvPr>
          <p:cNvSpPr txBox="1"/>
          <p:nvPr>
            <p:custDataLst>
              <p:tags r:id="rId2"/>
            </p:custDataLst>
          </p:nvPr>
        </p:nvSpPr>
        <p:spPr>
          <a:xfrm>
            <a:off x="3347864" y="483519"/>
            <a:ext cx="5336201" cy="2160000"/>
          </a:xfrm>
          <a:prstGeom prst="rect">
            <a:avLst/>
          </a:prstGeom>
          <a:noFill/>
        </p:spPr>
        <p:txBody>
          <a:bodyPr vert="horz" wrap="square" lIns="0" tIns="0" rIns="0" bIns="118800" rtlCol="0" anchor="b" anchorCtr="0">
            <a:noAutofit/>
          </a:bodyPr>
          <a:lstStyle/>
          <a:p>
            <a:pPr algn="l"/>
            <a:r>
              <a:rPr lang="fr-FR" sz="3000" cap="all">
                <a:solidFill>
                  <a:schemeClr val="tx2"/>
                </a:solidFill>
                <a:latin typeface="+mj-lt"/>
              </a:rPr>
              <a:t>Summary</a:t>
            </a:r>
          </a:p>
        </p:txBody>
      </p:sp>
      <p:sp>
        <p:nvSpPr>
          <p:cNvPr id="17" name="ZoneTexte 16">
            <a:hlinkClick r:id="rId6" action="ppaction://hlinksldjump"/>
            <a:extLst>
              <a:ext uri="{FF2B5EF4-FFF2-40B4-BE49-F238E27FC236}">
                <a16:creationId xmlns:a16="http://schemas.microsoft.com/office/drawing/2014/main" id="{CFDC76BD-0FFE-490F-ABEC-D7E418139D94}"/>
              </a:ext>
            </a:extLst>
          </p:cNvPr>
          <p:cNvSpPr txBox="1"/>
          <p:nvPr>
            <p:custDataLst>
              <p:tags r:id="rId3"/>
            </p:custDataLst>
          </p:nvPr>
        </p:nvSpPr>
        <p:spPr bwMode="auto">
          <a:xfrm>
            <a:off x="1259632" y="483519"/>
            <a:ext cx="1800195" cy="2160000"/>
          </a:xfrm>
          <a:prstGeom prst="roundRect">
            <a:avLst>
              <a:gd name="adj" fmla="val 0"/>
            </a:avLst>
          </a:prstGeom>
          <a:noFill/>
          <a:ln>
            <a:noFill/>
          </a:ln>
          <a:effectLst/>
        </p:spPr>
        <p:txBody>
          <a:bodyPr vert="horz" wrap="none" lIns="0" tIns="540000" rIns="0" bIns="0" numCol="1" rtlCol="0" anchor="b" anchorCtr="0" compatLnSpc="1">
            <a:prstTxWarp prst="textNoShape">
              <a:avLst/>
            </a:prstTxWarp>
            <a:noAutofit/>
          </a:bodyPr>
          <a:lstStyle/>
          <a:p>
            <a:pPr algn="r">
              <a:buSzPct val="60000"/>
              <a:buFont typeface="Garamond" pitchFamily="18" charset="0"/>
            </a:pPr>
            <a:r>
              <a:rPr lang="fr-FR" sz="7200">
                <a:solidFill>
                  <a:schemeClr val="tx2"/>
                </a:solidFill>
                <a:latin typeface="+mj-lt"/>
              </a:rPr>
              <a:t>1</a:t>
            </a:r>
          </a:p>
        </p:txBody>
      </p:sp>
      <p:sp>
        <p:nvSpPr>
          <p:cNvPr id="18" name="ZoneTexte 17">
            <a:hlinkClick r:id="rId6" action="ppaction://hlinksldjump"/>
            <a:extLst>
              <a:ext uri="{FF2B5EF4-FFF2-40B4-BE49-F238E27FC236}">
                <a16:creationId xmlns:a16="http://schemas.microsoft.com/office/drawing/2014/main" id="{9CC384FD-9728-446F-9BA8-8DCDACD78608}"/>
              </a:ext>
            </a:extLst>
          </p:cNvPr>
          <p:cNvSpPr txBox="1"/>
          <p:nvPr>
            <p:custDataLst>
              <p:tags r:id="rId4"/>
            </p:custDataLst>
          </p:nvPr>
        </p:nvSpPr>
        <p:spPr>
          <a:xfrm>
            <a:off x="8684066" y="483519"/>
            <a:ext cx="0" cy="21600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1">
            <a:noAutofit/>
          </a:bodyPr>
          <a:lstStyle/>
          <a:p>
            <a:pPr algn="ctr"/>
            <a:r>
              <a:rPr lang="fr-FR" sz="100">
                <a:noFill/>
                <a:latin typeface="+mj-lt"/>
              </a:rPr>
              <a:t>3</a:t>
            </a:r>
          </a:p>
        </p:txBody>
      </p:sp>
      <p:sp>
        <p:nvSpPr>
          <p:cNvPr id="22" name="Espace réservé du numéro de diapositive 21">
            <a:extLst>
              <a:ext uri="{FF2B5EF4-FFF2-40B4-BE49-F238E27FC236}">
                <a16:creationId xmlns:a16="http://schemas.microsoft.com/office/drawing/2014/main" id="{707AD56B-5123-4500-98E0-661F7773621D}"/>
              </a:ext>
            </a:extLst>
          </p:cNvPr>
          <p:cNvSpPr>
            <a:spLocks noGrp="1"/>
          </p:cNvSpPr>
          <p:nvPr>
            <p:ph type="sldNum" sz="quarter" idx="12"/>
          </p:nvPr>
        </p:nvSpPr>
        <p:spPr/>
        <p:txBody>
          <a:bodyPr/>
          <a:lstStyle/>
          <a:p>
            <a:fld id="{304318A0-AD76-4461-B655-8B1A266EB0A2}" type="slidenum">
              <a:rPr lang="fr-FR" smtClean="0"/>
              <a:t>3</a:t>
            </a:fld>
            <a:endParaRPr lang="fr-FR"/>
          </a:p>
        </p:txBody>
      </p:sp>
    </p:spTree>
    <p:custDataLst>
      <p:tags r:id="rId1"/>
    </p:custDataLst>
    <p:extLst>
      <p:ext uri="{BB962C8B-B14F-4D97-AF65-F5344CB8AC3E}">
        <p14:creationId xmlns:p14="http://schemas.microsoft.com/office/powerpoint/2010/main" val="173342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2">
            <a:extLst>
              <a:ext uri="{FF2B5EF4-FFF2-40B4-BE49-F238E27FC236}">
                <a16:creationId xmlns:a16="http://schemas.microsoft.com/office/drawing/2014/main" id="{E0A306AE-DC24-4D74-B0E1-619294245ADC}"/>
              </a:ext>
            </a:extLst>
          </p:cNvPr>
          <p:cNvSpPr txBox="1">
            <a:spLocks/>
          </p:cNvSpPr>
          <p:nvPr/>
        </p:nvSpPr>
        <p:spPr>
          <a:xfrm>
            <a:off x="120651" y="4948014"/>
            <a:ext cx="209550" cy="195486"/>
          </a:xfrm>
          <a:prstGeom prst="rect">
            <a:avLst/>
          </a:prstGeom>
          <a:solidFill>
            <a:schemeClr val="bg1"/>
          </a:solidFill>
        </p:spPr>
        <p:txBody>
          <a:bodyPr vert="horz" lIns="0" tIns="0" rIns="0" bIns="0" rtlCol="0" anchor="ctr"/>
          <a:lstStyle>
            <a:defPPr>
              <a:defRPr lang="en-US"/>
            </a:defPPr>
            <a:lvl1pPr marL="0" algn="ctr" defTabSz="685800" rtl="0" eaLnBrk="1" latinLnBrk="0" hangingPunct="1">
              <a:defRPr sz="800" kern="1200">
                <a:solidFill>
                  <a:srgbClr val="808080"/>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304318A0-AD76-4461-B655-8B1A266EB0A2}" type="slidenum">
              <a:rPr lang="fr-FR" smtClean="0"/>
              <a:pPr/>
              <a:t>4</a:t>
            </a:fld>
            <a:endParaRPr lang="fr-FR"/>
          </a:p>
        </p:txBody>
      </p:sp>
      <p:sp>
        <p:nvSpPr>
          <p:cNvPr id="21" name="Title 15">
            <a:extLst>
              <a:ext uri="{FF2B5EF4-FFF2-40B4-BE49-F238E27FC236}">
                <a16:creationId xmlns:a16="http://schemas.microsoft.com/office/drawing/2014/main" id="{9046F2A6-2528-4C42-9A63-4087F4D784DB}"/>
              </a:ext>
            </a:extLst>
          </p:cNvPr>
          <p:cNvSpPr txBox="1">
            <a:spLocks/>
          </p:cNvSpPr>
          <p:nvPr/>
        </p:nvSpPr>
        <p:spPr>
          <a:xfrm>
            <a:off x="108744" y="118989"/>
            <a:ext cx="8926512" cy="320400"/>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b="1" kern="1200" cap="all" baseline="0">
                <a:solidFill>
                  <a:schemeClr val="tx2"/>
                </a:solidFill>
                <a:latin typeface="+mj-lt"/>
                <a:ea typeface="+mj-ea"/>
                <a:cs typeface="+mj-cs"/>
              </a:defRPr>
            </a:lvl1pPr>
          </a:lstStyle>
          <a:p>
            <a:r>
              <a:rPr lang="en-US" sz="1800"/>
              <a:t>Summary of H1 2023 results</a:t>
            </a:r>
            <a:endParaRPr lang="en-US" sz="1800" baseline="30000"/>
          </a:p>
        </p:txBody>
      </p:sp>
      <p:sp>
        <p:nvSpPr>
          <p:cNvPr id="23" name="Rectangle 22">
            <a:extLst>
              <a:ext uri="{FF2B5EF4-FFF2-40B4-BE49-F238E27FC236}">
                <a16:creationId xmlns:a16="http://schemas.microsoft.com/office/drawing/2014/main" id="{40C29357-5E14-43B4-A04E-C6D68D61FC9C}"/>
              </a:ext>
            </a:extLst>
          </p:cNvPr>
          <p:cNvSpPr/>
          <p:nvPr/>
        </p:nvSpPr>
        <p:spPr>
          <a:xfrm>
            <a:off x="1041223" y="603674"/>
            <a:ext cx="6568889" cy="461665"/>
          </a:xfrm>
          <a:prstGeom prst="rect">
            <a:avLst/>
          </a:prstGeom>
        </p:spPr>
        <p:txBody>
          <a:bodyPr wrap="square">
            <a:spAutoFit/>
          </a:bodyPr>
          <a:lstStyle/>
          <a:p>
            <a:pPr marL="92075" lvl="1" algn="ctr">
              <a:spcBef>
                <a:spcPts val="600"/>
              </a:spcBef>
              <a:buClr>
                <a:srgbClr val="3A75C4"/>
              </a:buClr>
              <a:buSzPct val="100000"/>
              <a:defRPr/>
            </a:pPr>
            <a:r>
              <a:rPr lang="en-US" sz="1200" b="1">
                <a:solidFill>
                  <a:srgbClr val="3A75C4"/>
                </a:solidFill>
                <a:latin typeface="Arial" panose="020B0604020202020204" pitchFamily="34" charset="0"/>
                <a:ea typeface="Tahoma" pitchFamily="34" charset="0"/>
                <a:cs typeface="Arial" panose="020B0604020202020204" pitchFamily="34" charset="0"/>
              </a:rPr>
              <a:t>Good results from all of the Group’s activities after an exceptional first half 2022 and major changes in scope</a:t>
            </a:r>
          </a:p>
        </p:txBody>
      </p:sp>
      <p:sp>
        <p:nvSpPr>
          <p:cNvPr id="2" name="Rectangle 1">
            <a:extLst>
              <a:ext uri="{FF2B5EF4-FFF2-40B4-BE49-F238E27FC236}">
                <a16:creationId xmlns:a16="http://schemas.microsoft.com/office/drawing/2014/main" id="{19902D2A-2999-407D-98A2-207A34BCFEF0}"/>
              </a:ext>
            </a:extLst>
          </p:cNvPr>
          <p:cNvSpPr/>
          <p:nvPr/>
        </p:nvSpPr>
        <p:spPr>
          <a:xfrm>
            <a:off x="106469" y="495686"/>
            <a:ext cx="8702838" cy="4020280"/>
          </a:xfrm>
          <a:prstGeom prst="rect">
            <a:avLst/>
          </a:prstGeom>
          <a:noFill/>
          <a:ln w="12700">
            <a:solidFill>
              <a:srgbClr val="3A75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100">
              <a:latin typeface="+mj-lt"/>
            </a:endParaRPr>
          </a:p>
        </p:txBody>
      </p:sp>
      <p:sp>
        <p:nvSpPr>
          <p:cNvPr id="14" name="ZoneTexte 13">
            <a:extLst>
              <a:ext uri="{FF2B5EF4-FFF2-40B4-BE49-F238E27FC236}">
                <a16:creationId xmlns:a16="http://schemas.microsoft.com/office/drawing/2014/main" id="{2AA19895-EFD2-4A8A-90EF-200BE46909E8}"/>
              </a:ext>
            </a:extLst>
          </p:cNvPr>
          <p:cNvSpPr txBox="1"/>
          <p:nvPr/>
        </p:nvSpPr>
        <p:spPr>
          <a:xfrm>
            <a:off x="147069" y="1221090"/>
            <a:ext cx="4112874" cy="3202223"/>
          </a:xfrm>
          <a:prstGeom prst="rect">
            <a:avLst/>
          </a:prstGeom>
          <a:noFill/>
          <a:ln>
            <a:noFill/>
          </a:ln>
        </p:spPr>
        <p:txBody>
          <a:bodyPr wrap="square" lIns="91440" tIns="45720" rIns="91440" bIns="45720" anchor="t">
            <a:spAutoFit/>
          </a:bodyPr>
          <a:lstStyle/>
          <a:p>
            <a:pPr marL="342900" marR="161925" lvl="0" indent="-342900" algn="just">
              <a:lnSpc>
                <a:spcPct val="107000"/>
              </a:lnSpc>
              <a:spcAft>
                <a:spcPts val="300"/>
              </a:spcAft>
              <a:buClr>
                <a:srgbClr val="3A75C4"/>
              </a:buClr>
              <a:buSzPts val="1300"/>
              <a:buFont typeface="Wingdings" panose="05000000000000000000" pitchFamily="2" charset="2"/>
              <a:buChar char="§"/>
              <a:tabLst>
                <a:tab pos="457200" algn="l"/>
              </a:tabLst>
            </a:pPr>
            <a:r>
              <a:rPr lang="en-US" sz="1000">
                <a:latin typeface="Arial" panose="020B0604020202020204" pitchFamily="34" charset="0"/>
                <a:cs typeface="Arial" panose="020B0604020202020204" pitchFamily="34" charset="0"/>
              </a:rPr>
              <a:t>In accordance with IFRS 5 and to ensure the comparability of results, reclassifications into discontinued operations or held for sale include: </a:t>
            </a:r>
          </a:p>
          <a:p>
            <a:pPr marL="361950" marR="161925" lvl="0" indent="-361950" algn="just">
              <a:lnSpc>
                <a:spcPct val="107000"/>
              </a:lnSpc>
              <a:spcAft>
                <a:spcPts val="300"/>
              </a:spcAft>
              <a:buClr>
                <a:srgbClr val="3A75C4"/>
              </a:buClr>
              <a:buSzPts val="1300"/>
              <a:tabLst>
                <a:tab pos="360363" algn="l"/>
                <a:tab pos="539750" algn="l"/>
              </a:tabLst>
            </a:pP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i</a:t>
            </a:r>
            <a:r>
              <a:rPr lang="en-US" sz="1000">
                <a:latin typeface="Arial" panose="020B0604020202020204" pitchFamily="34" charset="0"/>
                <a:cs typeface="Arial" panose="020B0604020202020204" pitchFamily="34" charset="0"/>
              </a:rPr>
              <a:t>) Bolloré Africa Logistics for the 2022 financial year (activity sold on December 21, 2022);</a:t>
            </a:r>
          </a:p>
          <a:p>
            <a:pPr marL="361950" marR="161925" lvl="0" algn="just">
              <a:lnSpc>
                <a:spcPct val="107000"/>
              </a:lnSpc>
              <a:spcAft>
                <a:spcPts val="300"/>
              </a:spcAft>
              <a:buClr>
                <a:srgbClr val="3A75C4"/>
              </a:buClr>
              <a:buSzPts val="1300"/>
              <a:tabLst>
                <a:tab pos="360363" algn="l"/>
                <a:tab pos="539750" algn="l"/>
              </a:tabLst>
            </a:pPr>
            <a:r>
              <a:rPr lang="en-US" sz="1000">
                <a:latin typeface="Arial" panose="020B0604020202020204" pitchFamily="34" charset="0"/>
                <a:cs typeface="Arial" panose="020B0604020202020204" pitchFamily="34" charset="0"/>
              </a:rPr>
              <a:t>(ii) Editis for the 2022 and 2023 financial years (as of June 21, 2023, Editis was deconsolidated, following the loss of control); </a:t>
            </a:r>
          </a:p>
          <a:p>
            <a:pPr marL="361950" marR="161925" lvl="0" algn="just">
              <a:lnSpc>
                <a:spcPct val="107000"/>
              </a:lnSpc>
              <a:spcAft>
                <a:spcPts val="300"/>
              </a:spcAft>
              <a:buClr>
                <a:srgbClr val="3A75C4"/>
              </a:buClr>
              <a:buSzPts val="1300"/>
              <a:tabLst>
                <a:tab pos="360363" algn="l"/>
                <a:tab pos="539750" algn="l"/>
              </a:tabLst>
            </a:pPr>
            <a:r>
              <a:rPr lang="en-US" sz="1000">
                <a:latin typeface="Arial" panose="020B0604020202020204" pitchFamily="34" charset="0"/>
                <a:cs typeface="Arial" panose="020B0604020202020204" pitchFamily="34" charset="0"/>
              </a:rPr>
              <a:t>(iii) Bolloré Logistics for the 2022 and 2023 financial years (activity intended to be sold since May 8, 2023).</a:t>
            </a:r>
          </a:p>
          <a:p>
            <a:pPr marL="342900" marR="161925" lvl="0" indent="-342900">
              <a:lnSpc>
                <a:spcPct val="107000"/>
              </a:lnSpc>
              <a:spcBef>
                <a:spcPts val="600"/>
              </a:spcBef>
              <a:spcAft>
                <a:spcPts val="1200"/>
              </a:spcAft>
              <a:buClr>
                <a:srgbClr val="3A75C4"/>
              </a:buClr>
              <a:buSzPts val="1300"/>
              <a:buFont typeface="Wingdings" panose="05000000000000000000" pitchFamily="2" charset="2"/>
              <a:buChar char="§"/>
              <a:tabLst>
                <a:tab pos="457200" algn="l"/>
              </a:tabLst>
            </a:pPr>
            <a:r>
              <a:rPr lang="en-GB" sz="1000" b="1">
                <a:ea typeface="SimSun" panose="02010600030101010101" pitchFamily="2" charset="-122"/>
                <a:cs typeface="Times New Roman" panose="02020603050405020304" pitchFamily="18" charset="0"/>
              </a:rPr>
              <a:t>Consolidated revenue in the first half of 2023: €6,231m,   - 3.2%</a:t>
            </a:r>
            <a:r>
              <a:rPr lang="en-GB" sz="1000" baseline="30000">
                <a:ea typeface="SimSun" panose="02010600030101010101" pitchFamily="2" charset="-122"/>
                <a:cs typeface="Times New Roman" panose="02020603050405020304" pitchFamily="18" charset="0"/>
              </a:rPr>
              <a:t>(1)</a:t>
            </a:r>
            <a:r>
              <a:rPr lang="en-US" sz="1000">
                <a:ea typeface="SimSun" panose="02010600030101010101" pitchFamily="2" charset="-122"/>
                <a:cs typeface="Times New Roman" panose="02020603050405020304" pitchFamily="18" charset="0"/>
              </a:rPr>
              <a:t>.</a:t>
            </a:r>
            <a:endParaRPr lang="en-GB" sz="1000" baseline="30000">
              <a:ea typeface="SimSun" panose="02010600030101010101" pitchFamily="2" charset="-122"/>
              <a:cs typeface="Times New Roman" panose="02020603050405020304" pitchFamily="18" charset="0"/>
            </a:endParaRPr>
          </a:p>
          <a:p>
            <a:pPr marL="342900" marR="161925" lvl="0" indent="-342900" algn="just">
              <a:lnSpc>
                <a:spcPct val="107000"/>
              </a:lnSpc>
              <a:spcAft>
                <a:spcPts val="800"/>
              </a:spcAft>
              <a:buClr>
                <a:srgbClr val="3A75C4"/>
              </a:buClr>
              <a:buSzPts val="1300"/>
              <a:buFont typeface="Wingdings" panose="05000000000000000000" pitchFamily="2" charset="2"/>
              <a:buChar char="§"/>
              <a:tabLst>
                <a:tab pos="457200" algn="l"/>
              </a:tabLst>
            </a:pPr>
            <a:r>
              <a:rPr lang="en-GB" sz="1000" b="1">
                <a:ea typeface="SimSun" panose="02010600030101010101" pitchFamily="2" charset="-122"/>
                <a:cs typeface="Times New Roman" panose="02020603050405020304" pitchFamily="18" charset="0"/>
              </a:rPr>
              <a:t>Adjusted operating income (EBITA</a:t>
            </a:r>
            <a:r>
              <a:rPr lang="en-GB" sz="1000" baseline="30000">
                <a:ea typeface="SimSun" panose="02010600030101010101" pitchFamily="2" charset="-122"/>
                <a:cs typeface="Times New Roman" panose="02020603050405020304" pitchFamily="18" charset="0"/>
              </a:rPr>
              <a:t>(2)(3)</a:t>
            </a:r>
            <a:r>
              <a:rPr lang="en-GB" sz="1000" b="1">
                <a:ea typeface="SimSun" panose="02010600030101010101" pitchFamily="2" charset="-122"/>
                <a:cs typeface="Times New Roman" panose="02020603050405020304" pitchFamily="18" charset="0"/>
              </a:rPr>
              <a:t>): €462m, -15.0%</a:t>
            </a:r>
            <a:r>
              <a:rPr lang="en-GB" sz="1000" baseline="30000">
                <a:ea typeface="SimSun" panose="02010600030101010101" pitchFamily="2" charset="-122"/>
                <a:cs typeface="Times New Roman" panose="02020603050405020304" pitchFamily="18" charset="0"/>
              </a:rPr>
              <a:t>(1)</a:t>
            </a:r>
            <a:r>
              <a:rPr lang="en-GB" sz="1000">
                <a:ea typeface="SimSun" panose="02010600030101010101" pitchFamily="2" charset="-122"/>
                <a:cs typeface="Times New Roman" panose="02020603050405020304" pitchFamily="18" charset="0"/>
              </a:rPr>
              <a:t>, impacted </a:t>
            </a:r>
            <a:r>
              <a:rPr lang="en-US" sz="1000">
                <a:ea typeface="SimSun" panose="02010600030101010101" pitchFamily="2" charset="-122"/>
                <a:cs typeface="Times New Roman" panose="02020603050405020304" pitchFamily="18" charset="0"/>
              </a:rPr>
              <a:t>by the slowdown in oil logistics after an exceptional first half 2022 and the decline in UMG’s contribution.</a:t>
            </a:r>
            <a:endParaRPr lang="en-GB" sz="1000">
              <a:highlight>
                <a:srgbClr val="FFFF00"/>
              </a:highlight>
              <a:ea typeface="SimSun" panose="02010600030101010101" pitchFamily="2" charset="-122"/>
              <a:cs typeface="Times New Roman" panose="02020603050405020304" pitchFamily="18" charset="0"/>
            </a:endParaRPr>
          </a:p>
          <a:p>
            <a:pPr marL="355600" marR="161925" lvl="1" algn="just">
              <a:lnSpc>
                <a:spcPct val="107000"/>
              </a:lnSpc>
              <a:buClr>
                <a:srgbClr val="3A75C4"/>
              </a:buClr>
              <a:buSzPts val="1300"/>
              <a:tabLst>
                <a:tab pos="542925" algn="l"/>
              </a:tabLst>
            </a:pPr>
            <a:endParaRPr lang="fr-FR" sz="1000">
              <a:effectLst/>
              <a:ea typeface="Times New Roman" panose="02020603050405020304" pitchFamily="18" charset="0"/>
            </a:endParaRPr>
          </a:p>
        </p:txBody>
      </p:sp>
      <p:sp>
        <p:nvSpPr>
          <p:cNvPr id="15" name="ZoneTexte 14">
            <a:extLst>
              <a:ext uri="{FF2B5EF4-FFF2-40B4-BE49-F238E27FC236}">
                <a16:creationId xmlns:a16="http://schemas.microsoft.com/office/drawing/2014/main" id="{0A48F990-B02B-427F-90EC-F8AD8C97108A}"/>
              </a:ext>
            </a:extLst>
          </p:cNvPr>
          <p:cNvSpPr txBox="1"/>
          <p:nvPr/>
        </p:nvSpPr>
        <p:spPr>
          <a:xfrm>
            <a:off x="4473126" y="1221090"/>
            <a:ext cx="4374216" cy="2785186"/>
          </a:xfrm>
          <a:prstGeom prst="rect">
            <a:avLst/>
          </a:prstGeom>
          <a:noFill/>
          <a:ln>
            <a:noFill/>
          </a:ln>
        </p:spPr>
        <p:txBody>
          <a:bodyPr wrap="square">
            <a:spAutoFit/>
          </a:bodyPr>
          <a:lstStyle/>
          <a:p>
            <a:pPr marR="161925" lvl="1" indent="-342900" algn="just">
              <a:lnSpc>
                <a:spcPct val="107000"/>
              </a:lnSpc>
              <a:spcBef>
                <a:spcPts val="800"/>
              </a:spcBef>
              <a:spcAft>
                <a:spcPts val="300"/>
              </a:spcAft>
              <a:buClr>
                <a:srgbClr val="3A75C4"/>
              </a:buClr>
              <a:buSzPts val="1300"/>
              <a:buFont typeface="Wingdings" panose="05000000000000000000" pitchFamily="2" charset="2"/>
              <a:buChar char="§"/>
              <a:tabLst>
                <a:tab pos="457200" algn="l"/>
              </a:tabLst>
              <a:defRPr/>
            </a:pPr>
            <a:r>
              <a:rPr lang="en-GB" sz="1000" b="1">
                <a:ea typeface="SimSun" panose="02010600030101010101" pitchFamily="2" charset="-122"/>
                <a:cs typeface="Times New Roman" panose="02020603050405020304" pitchFamily="18" charset="0"/>
              </a:rPr>
              <a:t>Net income: €235m</a:t>
            </a:r>
            <a:r>
              <a:rPr lang="en-GB" sz="1000">
                <a:ea typeface="SimSun" panose="02010600030101010101" pitchFamily="2" charset="-122"/>
                <a:cs typeface="Times New Roman" panose="02020603050405020304" pitchFamily="18" charset="0"/>
              </a:rPr>
              <a:t>, </a:t>
            </a:r>
            <a:r>
              <a:rPr lang="en-US" sz="1000">
                <a:ea typeface="SimSun" panose="02010600030101010101" pitchFamily="2" charset="-122"/>
                <a:cs typeface="Times New Roman" panose="02020603050405020304" pitchFamily="18" charset="0"/>
              </a:rPr>
              <a:t>compared to €947m in the first half of 2022, which included the capital gain on the contribution of the stake in Banijay Holdings Group to FL Entertainment (€526m) and the contribution of Bolloré Africa Logistics.</a:t>
            </a:r>
            <a:r>
              <a:rPr lang="en-GB" sz="1000" b="1">
                <a:ea typeface="SimSun" panose="02010600030101010101" pitchFamily="2" charset="-122"/>
                <a:cs typeface="Times New Roman" panose="02020603050405020304" pitchFamily="18" charset="0"/>
              </a:rPr>
              <a:t> </a:t>
            </a:r>
          </a:p>
          <a:p>
            <a:pPr marR="161925" lvl="1" indent="-342900" algn="just">
              <a:lnSpc>
                <a:spcPct val="107000"/>
              </a:lnSpc>
              <a:spcBef>
                <a:spcPts val="800"/>
              </a:spcBef>
              <a:spcAft>
                <a:spcPts val="300"/>
              </a:spcAft>
              <a:buClr>
                <a:srgbClr val="3A75C4"/>
              </a:buClr>
              <a:buSzPts val="1300"/>
              <a:buFont typeface="Wingdings" panose="05000000000000000000" pitchFamily="2" charset="2"/>
              <a:buChar char="§"/>
              <a:tabLst>
                <a:tab pos="457200" algn="l"/>
              </a:tabLst>
              <a:defRPr/>
            </a:pPr>
            <a:r>
              <a:rPr lang="en-GB" sz="1000" b="1">
                <a:ea typeface="SimSun" panose="02010600030101010101" pitchFamily="2" charset="-122"/>
                <a:cs typeface="Times New Roman" panose="02020603050405020304" pitchFamily="18" charset="0"/>
              </a:rPr>
              <a:t>Net income Group share: €114m, -80%.</a:t>
            </a:r>
          </a:p>
          <a:p>
            <a:pPr marR="161925" lvl="1" indent="-342900" algn="just">
              <a:lnSpc>
                <a:spcPct val="107000"/>
              </a:lnSpc>
              <a:spcBef>
                <a:spcPts val="800"/>
              </a:spcBef>
              <a:spcAft>
                <a:spcPts val="300"/>
              </a:spcAft>
              <a:buClr>
                <a:srgbClr val="3A75C4"/>
              </a:buClr>
              <a:buSzPts val="1300"/>
              <a:buFont typeface="Wingdings" panose="05000000000000000000" pitchFamily="2" charset="2"/>
              <a:buChar char="§"/>
              <a:tabLst>
                <a:tab pos="457200" algn="l"/>
              </a:tabLst>
              <a:defRPr/>
            </a:pPr>
            <a:r>
              <a:rPr lang="en-US" sz="1000" b="1">
                <a:ea typeface="SimSun" panose="02010600030101010101" pitchFamily="2" charset="-122"/>
                <a:cs typeface="Times New Roman" panose="02020603050405020304" pitchFamily="18" charset="0"/>
              </a:rPr>
              <a:t>Net debt: €82 million as of June 30, 2023,</a:t>
            </a:r>
            <a:r>
              <a:rPr lang="en-US" sz="1000">
                <a:ea typeface="SimSun" panose="02010600030101010101" pitchFamily="2" charset="-122"/>
                <a:cs typeface="Times New Roman" panose="02020603050405020304" pitchFamily="18" charset="0"/>
              </a:rPr>
              <a:t> compared to a net cash position of €1,207 million as of December 31, 2022, attributable to the increase in Vivendi's debt and </a:t>
            </a:r>
            <a:r>
              <a:rPr lang="en-US" sz="1000" err="1">
                <a:ea typeface="SimSun" panose="02010600030101010101" pitchFamily="2" charset="-122"/>
                <a:cs typeface="Times New Roman" panose="02020603050405020304" pitchFamily="18" charset="0"/>
              </a:rPr>
              <a:t>Bolloré’s</a:t>
            </a:r>
            <a:r>
              <a:rPr lang="en-US" sz="1000">
                <a:ea typeface="SimSun" panose="02010600030101010101" pitchFamily="2" charset="-122"/>
                <a:cs typeface="Times New Roman" panose="02020603050405020304" pitchFamily="18" charset="0"/>
              </a:rPr>
              <a:t> simplified cash tender offer on its own shares</a:t>
            </a:r>
            <a:r>
              <a:rPr lang="en-GB" sz="1000">
                <a:ea typeface="SimSun" panose="02010600030101010101" pitchFamily="2" charset="-122"/>
                <a:cs typeface="Times New Roman" panose="02020603050405020304" pitchFamily="18" charset="0"/>
              </a:rPr>
              <a:t>. </a:t>
            </a:r>
          </a:p>
          <a:p>
            <a:pPr marR="161925" lvl="1" indent="-342900" algn="just">
              <a:lnSpc>
                <a:spcPct val="107000"/>
              </a:lnSpc>
              <a:spcBef>
                <a:spcPts val="800"/>
              </a:spcBef>
              <a:spcAft>
                <a:spcPts val="300"/>
              </a:spcAft>
              <a:buClr>
                <a:srgbClr val="3A75C4"/>
              </a:buClr>
              <a:buSzPts val="1300"/>
              <a:buFont typeface="Wingdings" panose="05000000000000000000" pitchFamily="2" charset="2"/>
              <a:buChar char="§"/>
              <a:tabLst>
                <a:tab pos="457200" algn="l"/>
              </a:tabLst>
              <a:defRPr/>
            </a:pPr>
            <a:r>
              <a:rPr lang="en-GB" sz="1000" b="1">
                <a:ea typeface="SimSun" panose="02010600030101010101" pitchFamily="2" charset="-122"/>
                <a:cs typeface="Times New Roman" panose="02020603050405020304" pitchFamily="18" charset="0"/>
              </a:rPr>
              <a:t>Group liquidity: €11bn </a:t>
            </a:r>
            <a:r>
              <a:rPr lang="en-GB" sz="1000">
                <a:ea typeface="SimSun" panose="02010600030101010101" pitchFamily="2" charset="-122"/>
                <a:cs typeface="Times New Roman" panose="02020603050405020304" pitchFamily="18" charset="0"/>
              </a:rPr>
              <a:t>in cash and confirmed credit lines a</a:t>
            </a:r>
            <a:r>
              <a:rPr lang="en-US" sz="1000">
                <a:ea typeface="SimSun" panose="02010600030101010101" pitchFamily="2" charset="-122"/>
                <a:cs typeface="Times New Roman" panose="02020603050405020304" pitchFamily="18" charset="0"/>
              </a:rPr>
              <a:t>s of June 30, 2023, including €7bn at Bolloré level</a:t>
            </a:r>
            <a:r>
              <a:rPr lang="en-GB" sz="1000">
                <a:ea typeface="SimSun" panose="02010600030101010101" pitchFamily="2" charset="-122"/>
                <a:cs typeface="Times New Roman" panose="02020603050405020304" pitchFamily="18" charset="0"/>
              </a:rPr>
              <a:t>.</a:t>
            </a:r>
          </a:p>
          <a:p>
            <a:pPr marR="161925" lvl="1" indent="-342900" algn="just">
              <a:lnSpc>
                <a:spcPct val="107000"/>
              </a:lnSpc>
              <a:spcBef>
                <a:spcPts val="800"/>
              </a:spcBef>
              <a:spcAft>
                <a:spcPts val="300"/>
              </a:spcAft>
              <a:buClr>
                <a:srgbClr val="3A75C4"/>
              </a:buClr>
              <a:buSzPts val="1300"/>
              <a:buFont typeface="Wingdings" panose="05000000000000000000" pitchFamily="2" charset="2"/>
              <a:buChar char="§"/>
              <a:tabLst>
                <a:tab pos="457200" algn="l"/>
              </a:tabLst>
              <a:defRPr/>
            </a:pPr>
            <a:r>
              <a:rPr lang="en-GB" sz="1000" b="1">
                <a:ea typeface="SimSun" panose="02010600030101010101" pitchFamily="2" charset="-122"/>
                <a:cs typeface="Times New Roman" panose="02020603050405020304" pitchFamily="18" charset="0"/>
              </a:rPr>
              <a:t>Interim dividend: €0.02 per share </a:t>
            </a:r>
            <a:r>
              <a:rPr lang="en-GB" sz="1000">
                <a:solidFill>
                  <a:srgbClr val="000000"/>
                </a:solidFill>
                <a:ea typeface="SimSun" panose="02010600030101010101" pitchFamily="2" charset="-122"/>
                <a:cs typeface="Times New Roman" panose="02020603050405020304" pitchFamily="18" charset="0"/>
              </a:rPr>
              <a:t>(€57m), </a:t>
            </a:r>
            <a:r>
              <a:rPr lang="en-US" sz="1000">
                <a:solidFill>
                  <a:srgbClr val="000000"/>
                </a:solidFill>
                <a:ea typeface="SimSun" panose="02010600030101010101" pitchFamily="2" charset="-122"/>
                <a:cs typeface="Times New Roman" panose="02020603050405020304" pitchFamily="18" charset="0"/>
              </a:rPr>
              <a:t>payable in cash on September 7, 2023</a:t>
            </a:r>
            <a:r>
              <a:rPr lang="en-GB" sz="1000">
                <a:solidFill>
                  <a:srgbClr val="000000"/>
                </a:solidFill>
                <a:ea typeface="SimSun" panose="02010600030101010101" pitchFamily="2" charset="-122"/>
                <a:cs typeface="Times New Roman" panose="02020603050405020304" pitchFamily="18" charset="0"/>
              </a:rPr>
              <a:t>.</a:t>
            </a:r>
          </a:p>
        </p:txBody>
      </p:sp>
      <p:sp>
        <p:nvSpPr>
          <p:cNvPr id="16" name="Rectangle 15">
            <a:extLst>
              <a:ext uri="{FF2B5EF4-FFF2-40B4-BE49-F238E27FC236}">
                <a16:creationId xmlns:a16="http://schemas.microsoft.com/office/drawing/2014/main" id="{9827FA19-D19E-452C-8978-E07384C4C2A1}"/>
              </a:ext>
            </a:extLst>
          </p:cNvPr>
          <p:cNvSpPr/>
          <p:nvPr/>
        </p:nvSpPr>
        <p:spPr>
          <a:xfrm>
            <a:off x="184285" y="4578682"/>
            <a:ext cx="8568951" cy="369332"/>
          </a:xfrm>
          <a:prstGeom prst="rect">
            <a:avLst/>
          </a:prstGeom>
        </p:spPr>
        <p:txBody>
          <a:bodyPr wrap="square">
            <a:spAutoFit/>
          </a:bodyPr>
          <a:lstStyle/>
          <a:p>
            <a:pPr marL="228600" indent="-228600">
              <a:buFontTx/>
              <a:buAutoNum type="arabicParenBoth"/>
              <a:tabLst>
                <a:tab pos="269875" algn="l"/>
              </a:tabLst>
            </a:pPr>
            <a:r>
              <a:rPr lang="en-GB" sz="600">
                <a:latin typeface="Arial" panose="020B0604020202020204" pitchFamily="34" charset="0"/>
                <a:cs typeface="Arial" panose="020B0604020202020204" pitchFamily="34" charset="0"/>
              </a:rPr>
              <a:t>At constant scope and exchange rates.</a:t>
            </a:r>
          </a:p>
          <a:p>
            <a:pPr marL="228600" indent="-228600">
              <a:buAutoNum type="arabicParenBoth"/>
              <a:tabLst>
                <a:tab pos="269875" algn="l"/>
              </a:tabLst>
            </a:pPr>
            <a:r>
              <a:rPr lang="en-US" sz="600">
                <a:latin typeface="Arial" panose="020B0604020202020204" pitchFamily="34" charset="0"/>
                <a:cs typeface="Arial" panose="020B0604020202020204" pitchFamily="34" charset="0"/>
              </a:rPr>
              <a:t>See glossary.</a:t>
            </a:r>
          </a:p>
          <a:p>
            <a:pPr marL="228600" indent="-228600">
              <a:buAutoNum type="arabicParenBoth"/>
              <a:tabLst>
                <a:tab pos="269875" algn="l"/>
              </a:tabLst>
            </a:pPr>
            <a:r>
              <a:rPr lang="en-GB" sz="600">
                <a:latin typeface="Arial" panose="020B0604020202020204" pitchFamily="34" charset="0"/>
                <a:cs typeface="Arial" panose="020B0604020202020204" pitchFamily="34" charset="0"/>
              </a:rPr>
              <a:t>Including contributions from equity-accounted operating companies at Vivendi (UMG (€39m) and Lagardère (€26m): </a:t>
            </a:r>
            <a:r>
              <a:rPr lang="en-GB" sz="600" b="1">
                <a:latin typeface="Arial" panose="020B0604020202020204" pitchFamily="34" charset="0"/>
                <a:cs typeface="Arial" panose="020B0604020202020204" pitchFamily="34" charset="0"/>
              </a:rPr>
              <a:t>+€65m</a:t>
            </a:r>
            <a:r>
              <a:rPr lang="en-GB" sz="600">
                <a:latin typeface="Arial" panose="020B0604020202020204" pitchFamily="34" charset="0"/>
                <a:cs typeface="Arial" panose="020B0604020202020204" pitchFamily="34" charset="0"/>
              </a:rPr>
              <a:t>) and contribution of UMG’s equity-accounted operating company at Bolloré: </a:t>
            </a:r>
            <a:r>
              <a:rPr lang="en-GB" sz="600" b="1">
                <a:latin typeface="Arial" panose="020B0604020202020204" pitchFamily="34" charset="0"/>
                <a:cs typeface="Arial" panose="020B0604020202020204" pitchFamily="34" charset="0"/>
              </a:rPr>
              <a:t>+€70m.</a:t>
            </a:r>
          </a:p>
        </p:txBody>
      </p:sp>
      <p:sp>
        <p:nvSpPr>
          <p:cNvPr id="5" name="Espace réservé du numéro de diapositive 4">
            <a:extLst>
              <a:ext uri="{FF2B5EF4-FFF2-40B4-BE49-F238E27FC236}">
                <a16:creationId xmlns:a16="http://schemas.microsoft.com/office/drawing/2014/main" id="{8B47B3A4-AC82-4303-B2A8-6278ADEC5A58}"/>
              </a:ext>
            </a:extLst>
          </p:cNvPr>
          <p:cNvSpPr>
            <a:spLocks noGrp="1"/>
          </p:cNvSpPr>
          <p:nvPr>
            <p:ph type="sldNum" sz="quarter" idx="12"/>
          </p:nvPr>
        </p:nvSpPr>
        <p:spPr/>
        <p:txBody>
          <a:bodyPr/>
          <a:lstStyle/>
          <a:p>
            <a:fld id="{304318A0-AD76-4461-B655-8B1A266EB0A2}" type="slidenum">
              <a:rPr lang="fr-FR" smtClean="0"/>
              <a:t>4</a:t>
            </a:fld>
            <a:endParaRPr lang="fr-FR"/>
          </a:p>
        </p:txBody>
      </p:sp>
    </p:spTree>
    <p:extLst>
      <p:ext uri="{BB962C8B-B14F-4D97-AF65-F5344CB8AC3E}">
        <p14:creationId xmlns:p14="http://schemas.microsoft.com/office/powerpoint/2010/main" val="4200832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67727E00-6C7A-434A-B2C8-0E1E8DC00B65}"/>
              </a:ext>
            </a:extLst>
          </p:cNvPr>
          <p:cNvSpPr>
            <a:spLocks noGrp="1"/>
          </p:cNvSpPr>
          <p:nvPr>
            <p:ph type="title"/>
          </p:nvPr>
        </p:nvSpPr>
        <p:spPr>
          <a:xfrm>
            <a:off x="107951" y="163176"/>
            <a:ext cx="8926512" cy="320400"/>
          </a:xfrm>
        </p:spPr>
        <p:txBody>
          <a:bodyPr/>
          <a:lstStyle/>
          <a:p>
            <a:r>
              <a:rPr lang="en-US" sz="1800"/>
              <a:t>SIGNING OF THE SHARE PURCHASE AGREEMENT FOR THE SALE OF 100% of Bollore Logistics to CMA CGM</a:t>
            </a:r>
          </a:p>
        </p:txBody>
      </p:sp>
      <p:sp>
        <p:nvSpPr>
          <p:cNvPr id="7" name="Espace réservé du contenu 8">
            <a:extLst>
              <a:ext uri="{FF2B5EF4-FFF2-40B4-BE49-F238E27FC236}">
                <a16:creationId xmlns:a16="http://schemas.microsoft.com/office/drawing/2014/main" id="{F5C234EC-D93D-4F15-A077-332E3753FEDC}"/>
              </a:ext>
            </a:extLst>
          </p:cNvPr>
          <p:cNvSpPr txBox="1">
            <a:spLocks/>
          </p:cNvSpPr>
          <p:nvPr/>
        </p:nvSpPr>
        <p:spPr>
          <a:xfrm>
            <a:off x="120651" y="987574"/>
            <a:ext cx="8501975" cy="3349656"/>
          </a:xfrm>
          <a:prstGeom prst="rect">
            <a:avLst/>
          </a:prstGeom>
          <a:noFill/>
        </p:spPr>
        <p:txBody>
          <a:bodyPr vert="horz" lIns="91440" tIns="45720" rIns="91440" bIns="45720" rtlCol="0">
            <a:noAutofit/>
          </a:bodyPr>
          <a:lstStyle>
            <a:lvl1pPr marL="180000" indent="-180000" algn="l" defTabSz="685800" rtl="0" eaLnBrk="1" latinLnBrk="0" hangingPunct="1">
              <a:lnSpc>
                <a:spcPct val="100000"/>
              </a:lnSpc>
              <a:spcBef>
                <a:spcPts val="0"/>
              </a:spcBef>
              <a:spcAft>
                <a:spcPts val="300"/>
              </a:spcAft>
              <a:buSzPct val="110000"/>
              <a:buFontTx/>
              <a:buBlip>
                <a:blip r:embed="rId2"/>
              </a:buBlip>
              <a:defRPr lang="fr-FR" sz="1200" b="1" kern="1200" smtClean="0">
                <a:solidFill>
                  <a:srgbClr val="0080C6"/>
                </a:solidFill>
                <a:latin typeface="+mj-lt"/>
                <a:ea typeface="+mn-ea"/>
                <a:cs typeface="+mn-cs"/>
              </a:defRPr>
            </a:lvl1pPr>
            <a:lvl2pPr marL="360000" indent="-180000" algn="l" defTabSz="685800" rtl="0" eaLnBrk="1" latinLnBrk="0" hangingPunct="1">
              <a:lnSpc>
                <a:spcPct val="100000"/>
              </a:lnSpc>
              <a:spcBef>
                <a:spcPts val="0"/>
              </a:spcBef>
              <a:spcAft>
                <a:spcPts val="300"/>
              </a:spcAft>
              <a:buClr>
                <a:srgbClr val="808080"/>
              </a:buClr>
              <a:buFont typeface="Wingdings" panose="05000000000000000000" pitchFamily="2" charset="2"/>
              <a:buChar char="§"/>
              <a:defRPr lang="fr-FR" sz="1100" kern="1200" smtClean="0">
                <a:solidFill>
                  <a:srgbClr val="808080"/>
                </a:solidFill>
                <a:latin typeface="+mj-lt"/>
                <a:ea typeface="+mn-ea"/>
                <a:cs typeface="+mn-cs"/>
              </a:defRPr>
            </a:lvl2pPr>
            <a:lvl3pPr marL="576000" indent="-180000" algn="l" defTabSz="685800" rtl="0" eaLnBrk="1" latinLnBrk="0" hangingPunct="1">
              <a:lnSpc>
                <a:spcPct val="100000"/>
              </a:lnSpc>
              <a:spcBef>
                <a:spcPts val="0"/>
              </a:spcBef>
              <a:spcAft>
                <a:spcPts val="300"/>
              </a:spcAft>
              <a:buClr>
                <a:srgbClr val="808080"/>
              </a:buClr>
              <a:buFont typeface="Calibri Light" panose="020F0302020204030204" pitchFamily="34" charset="0"/>
              <a:buChar char="‐"/>
              <a:defRPr lang="fr-FR" sz="1000" kern="1200" smtClean="0">
                <a:solidFill>
                  <a:schemeClr val="bg2"/>
                </a:solidFill>
                <a:latin typeface="+mj-lt"/>
                <a:ea typeface="+mn-ea"/>
                <a:cs typeface="+mn-cs"/>
              </a:defRPr>
            </a:lvl3pPr>
            <a:lvl4pPr marL="576000" indent="-180000" algn="l" defTabSz="685800" rtl="0" eaLnBrk="1" latinLnBrk="0" hangingPunct="1">
              <a:lnSpc>
                <a:spcPct val="100000"/>
              </a:lnSpc>
              <a:spcBef>
                <a:spcPts val="0"/>
              </a:spcBef>
              <a:spcAft>
                <a:spcPts val="300"/>
              </a:spcAft>
              <a:buClr>
                <a:srgbClr val="808080"/>
              </a:buClr>
              <a:buFont typeface="Calibri Light" panose="020F0302020204030204" pitchFamily="34" charset="0"/>
              <a:buChar char="‐"/>
              <a:defRPr lang="fr-FR" sz="1000" i="0" kern="1200" smtClean="0">
                <a:solidFill>
                  <a:schemeClr val="bg2"/>
                </a:solidFill>
                <a:latin typeface="+mj-lt"/>
                <a:ea typeface="+mn-ea"/>
                <a:cs typeface="+mn-cs"/>
              </a:defRPr>
            </a:lvl4pPr>
            <a:lvl5pPr marL="576000" indent="-180000" algn="l" defTabSz="685800" rtl="0" eaLnBrk="1" latinLnBrk="0" hangingPunct="1">
              <a:lnSpc>
                <a:spcPct val="100000"/>
              </a:lnSpc>
              <a:spcBef>
                <a:spcPts val="0"/>
              </a:spcBef>
              <a:spcAft>
                <a:spcPts val="300"/>
              </a:spcAft>
              <a:buClr>
                <a:srgbClr val="808080"/>
              </a:buClr>
              <a:buFont typeface="Calibri Light" panose="020F0302020204030204" pitchFamily="34" charset="0"/>
              <a:buChar char="‐"/>
              <a:defRPr lang="fr-FR" sz="1000" i="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61950" lvl="2" indent="-184150" algn="just">
              <a:spcBef>
                <a:spcPts val="600"/>
              </a:spcBef>
              <a:spcAft>
                <a:spcPts val="0"/>
              </a:spcAft>
              <a:buClr>
                <a:srgbClr val="595959"/>
              </a:buClr>
              <a:buSzPct val="70000"/>
              <a:buFont typeface="Wingdings" panose="05000000000000000000" pitchFamily="2" charset="2"/>
              <a:buChar char="§"/>
              <a:defRPr/>
            </a:pPr>
            <a:r>
              <a:rPr lang="en-US">
                <a:solidFill>
                  <a:schemeClr val="tx1"/>
                </a:solidFill>
                <a:latin typeface="Arial" panose="020B0604020202020204" pitchFamily="34" charset="0"/>
                <a:cs typeface="Arial" panose="020B0604020202020204" pitchFamily="34" charset="0"/>
              </a:rPr>
              <a:t>On July 11, 2023, the Bolloré Group announced that it had signed the share purchase agreement to sell 100% of Bolloré Logistics to the CMA CGM Group. The Bolloré Group’s signing of this agreement follows completion of the information and consultation procedures with the relevant staff representative bodies and the exercise by the Bolloré Group of the put option received on 8 May 2023.</a:t>
            </a:r>
          </a:p>
          <a:p>
            <a:pPr marL="361950" lvl="2" indent="-184150" algn="just">
              <a:spcBef>
                <a:spcPts val="600"/>
              </a:spcBef>
              <a:spcAft>
                <a:spcPts val="0"/>
              </a:spcAft>
              <a:buClr>
                <a:srgbClr val="595959"/>
              </a:buClr>
              <a:buSzPct val="70000"/>
              <a:buFont typeface="Wingdings" panose="05000000000000000000" pitchFamily="2" charset="2"/>
              <a:buChar char="§"/>
              <a:defRPr/>
            </a:pPr>
            <a:r>
              <a:rPr lang="en-US">
                <a:solidFill>
                  <a:schemeClr val="tx1"/>
                </a:solidFill>
                <a:latin typeface="Arial" panose="020B0604020202020204" pitchFamily="34" charset="0"/>
                <a:cs typeface="Arial" panose="020B0604020202020204" pitchFamily="34" charset="0"/>
              </a:rPr>
              <a:t>As indicated in the press release dated 8 May 2023, the purchase price would amount to 4.650 billion euros, prior to calculating debt and cash on the completion date.</a:t>
            </a:r>
          </a:p>
          <a:p>
            <a:pPr marL="361950" lvl="2" indent="-184150" algn="just">
              <a:spcBef>
                <a:spcPts val="600"/>
              </a:spcBef>
              <a:spcAft>
                <a:spcPts val="0"/>
              </a:spcAft>
              <a:buClr>
                <a:srgbClr val="595959"/>
              </a:buClr>
              <a:buSzPct val="70000"/>
              <a:buFont typeface="Wingdings" panose="05000000000000000000" pitchFamily="2" charset="2"/>
              <a:buChar char="§"/>
              <a:defRPr/>
            </a:pPr>
            <a:r>
              <a:rPr lang="en-US">
                <a:solidFill>
                  <a:schemeClr val="tx1"/>
                </a:solidFill>
                <a:latin typeface="Arial" panose="020B0604020202020204" pitchFamily="34" charset="0"/>
                <a:cs typeface="Arial" panose="020B0604020202020204" pitchFamily="34" charset="0"/>
              </a:rPr>
              <a:t>The completion of the sale remains subject to obtaining antitrust and foreign investment clearances in the relevant jurisdictions. </a:t>
            </a:r>
          </a:p>
          <a:p>
            <a:pPr marL="361950" lvl="2" indent="-184150" algn="just">
              <a:spcBef>
                <a:spcPts val="600"/>
              </a:spcBef>
              <a:spcAft>
                <a:spcPts val="0"/>
              </a:spcAft>
              <a:buClr>
                <a:srgbClr val="595959"/>
              </a:buClr>
              <a:buSzPct val="70000"/>
              <a:buFont typeface="Wingdings" panose="05000000000000000000" pitchFamily="2" charset="2"/>
              <a:buChar char="§"/>
              <a:defRPr/>
            </a:pPr>
            <a:r>
              <a:rPr lang="en-US">
                <a:solidFill>
                  <a:schemeClr val="tx1"/>
                </a:solidFill>
                <a:latin typeface="Arial" panose="020B0604020202020204" pitchFamily="34" charset="0"/>
                <a:cs typeface="Arial" panose="020B0604020202020204" pitchFamily="34" charset="0"/>
              </a:rPr>
              <a:t>The Bolloré Group confirms the implementation of the contingent earn-out mechanism of €0.25 for each Bolloré SE share tendered to the simplified cash tender offer of Bolloré SE on its own shares, closed on 30 May 2023. This contingent earn-out will be paid if the sale of Bolloré Logistics is completed pursuant to agreed terms.</a:t>
            </a:r>
          </a:p>
          <a:p>
            <a:pPr marL="361950" lvl="2" indent="-184150" algn="just">
              <a:spcBef>
                <a:spcPts val="600"/>
              </a:spcBef>
              <a:spcAft>
                <a:spcPts val="0"/>
              </a:spcAft>
              <a:buClr>
                <a:srgbClr val="595959"/>
              </a:buClr>
              <a:buSzPct val="70000"/>
              <a:buFont typeface="Wingdings" panose="05000000000000000000" pitchFamily="2" charset="2"/>
              <a:buChar char="§"/>
              <a:defRPr/>
            </a:pPr>
            <a:r>
              <a:rPr lang="en-US">
                <a:solidFill>
                  <a:schemeClr val="tx1"/>
                </a:solidFill>
                <a:latin typeface="Arial" panose="020B0604020202020204" pitchFamily="34" charset="0"/>
                <a:cs typeface="Arial" panose="020B0604020202020204" pitchFamily="34" charset="0"/>
              </a:rPr>
              <a:t>Bolloré Logistics has been reclassified as an activity held for sale (in accordance with IFRS 5).</a:t>
            </a:r>
          </a:p>
          <a:p>
            <a:pPr marL="361950" lvl="2" indent="-184150" algn="just">
              <a:spcBef>
                <a:spcPts val="600"/>
              </a:spcBef>
              <a:spcAft>
                <a:spcPts val="0"/>
              </a:spcAft>
              <a:buClr>
                <a:srgbClr val="595959"/>
              </a:buClr>
              <a:buSzPct val="70000"/>
              <a:buFont typeface="Wingdings" panose="05000000000000000000" pitchFamily="2" charset="2"/>
              <a:buChar char="§"/>
              <a:defRPr/>
            </a:pPr>
            <a:endParaRPr kumimoji="0" lang="fr-FR" sz="10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062C4CEE-5D5B-4025-A27E-4CC7C150C2D7}"/>
              </a:ext>
            </a:extLst>
          </p:cNvPr>
          <p:cNvSpPr>
            <a:spLocks noGrp="1"/>
          </p:cNvSpPr>
          <p:nvPr>
            <p:ph type="sldNum" sz="quarter" idx="12"/>
          </p:nvPr>
        </p:nvSpPr>
        <p:spPr/>
        <p:txBody>
          <a:bodyPr/>
          <a:lstStyle/>
          <a:p>
            <a:fld id="{304318A0-AD76-4461-B655-8B1A266EB0A2}" type="slidenum">
              <a:rPr lang="fr-FR" smtClean="0"/>
              <a:t>5</a:t>
            </a:fld>
            <a:endParaRPr lang="fr-FR"/>
          </a:p>
        </p:txBody>
      </p:sp>
    </p:spTree>
    <p:extLst>
      <p:ext uri="{BB962C8B-B14F-4D97-AF65-F5344CB8AC3E}">
        <p14:creationId xmlns:p14="http://schemas.microsoft.com/office/powerpoint/2010/main" val="2984003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contenu 8">
            <a:extLst>
              <a:ext uri="{FF2B5EF4-FFF2-40B4-BE49-F238E27FC236}">
                <a16:creationId xmlns:a16="http://schemas.microsoft.com/office/drawing/2014/main" id="{6409F76F-2128-4BC8-A285-D06A78B01AB0}"/>
              </a:ext>
            </a:extLst>
          </p:cNvPr>
          <p:cNvSpPr txBox="1">
            <a:spLocks/>
          </p:cNvSpPr>
          <p:nvPr/>
        </p:nvSpPr>
        <p:spPr>
          <a:xfrm>
            <a:off x="104895" y="811836"/>
            <a:ext cx="8667809" cy="3488105"/>
          </a:xfrm>
          <a:prstGeom prst="rect">
            <a:avLst/>
          </a:prstGeom>
          <a:noFill/>
        </p:spPr>
        <p:txBody>
          <a:bodyPr vert="horz" lIns="91440" tIns="45720" rIns="91440" bIns="45720" rtlCol="0">
            <a:noAutofit/>
          </a:bodyPr>
          <a:lstStyle>
            <a:lvl1pPr marL="180000" indent="-180000" algn="l" defTabSz="685800" rtl="0" eaLnBrk="1" latinLnBrk="0" hangingPunct="1">
              <a:lnSpc>
                <a:spcPct val="100000"/>
              </a:lnSpc>
              <a:spcBef>
                <a:spcPts val="0"/>
              </a:spcBef>
              <a:spcAft>
                <a:spcPts val="300"/>
              </a:spcAft>
              <a:buSzPct val="110000"/>
              <a:buFontTx/>
              <a:buBlip>
                <a:blip r:embed="rId2"/>
              </a:buBlip>
              <a:defRPr lang="fr-FR" sz="1200" b="1" kern="1200" smtClean="0">
                <a:solidFill>
                  <a:srgbClr val="0080C6"/>
                </a:solidFill>
                <a:latin typeface="+mj-lt"/>
                <a:ea typeface="+mn-ea"/>
                <a:cs typeface="+mn-cs"/>
              </a:defRPr>
            </a:lvl1pPr>
            <a:lvl2pPr marL="360000" indent="-180000" algn="l" defTabSz="685800" rtl="0" eaLnBrk="1" latinLnBrk="0" hangingPunct="1">
              <a:lnSpc>
                <a:spcPct val="100000"/>
              </a:lnSpc>
              <a:spcBef>
                <a:spcPts val="0"/>
              </a:spcBef>
              <a:spcAft>
                <a:spcPts val="300"/>
              </a:spcAft>
              <a:buClr>
                <a:srgbClr val="808080"/>
              </a:buClr>
              <a:buFont typeface="Wingdings" panose="05000000000000000000" pitchFamily="2" charset="2"/>
              <a:buChar char="§"/>
              <a:defRPr lang="fr-FR" sz="1100" kern="1200" smtClean="0">
                <a:solidFill>
                  <a:srgbClr val="808080"/>
                </a:solidFill>
                <a:latin typeface="+mj-lt"/>
                <a:ea typeface="+mn-ea"/>
                <a:cs typeface="+mn-cs"/>
              </a:defRPr>
            </a:lvl2pPr>
            <a:lvl3pPr marL="576000" indent="-180000" algn="l" defTabSz="685800" rtl="0" eaLnBrk="1" latinLnBrk="0" hangingPunct="1">
              <a:lnSpc>
                <a:spcPct val="100000"/>
              </a:lnSpc>
              <a:spcBef>
                <a:spcPts val="0"/>
              </a:spcBef>
              <a:spcAft>
                <a:spcPts val="300"/>
              </a:spcAft>
              <a:buClr>
                <a:srgbClr val="808080"/>
              </a:buClr>
              <a:buFont typeface="Calibri Light" panose="020F0302020204030204" pitchFamily="34" charset="0"/>
              <a:buChar char="‐"/>
              <a:defRPr lang="fr-FR" sz="1000" kern="1200" smtClean="0">
                <a:solidFill>
                  <a:schemeClr val="bg2"/>
                </a:solidFill>
                <a:latin typeface="+mj-lt"/>
                <a:ea typeface="+mn-ea"/>
                <a:cs typeface="+mn-cs"/>
              </a:defRPr>
            </a:lvl3pPr>
            <a:lvl4pPr marL="576000" indent="-180000" algn="l" defTabSz="685800" rtl="0" eaLnBrk="1" latinLnBrk="0" hangingPunct="1">
              <a:lnSpc>
                <a:spcPct val="100000"/>
              </a:lnSpc>
              <a:spcBef>
                <a:spcPts val="0"/>
              </a:spcBef>
              <a:spcAft>
                <a:spcPts val="300"/>
              </a:spcAft>
              <a:buClr>
                <a:srgbClr val="808080"/>
              </a:buClr>
              <a:buFont typeface="Calibri Light" panose="020F0302020204030204" pitchFamily="34" charset="0"/>
              <a:buChar char="‐"/>
              <a:defRPr lang="fr-FR" sz="1000" i="0" kern="1200" smtClean="0">
                <a:solidFill>
                  <a:schemeClr val="bg2"/>
                </a:solidFill>
                <a:latin typeface="+mj-lt"/>
                <a:ea typeface="+mn-ea"/>
                <a:cs typeface="+mn-cs"/>
              </a:defRPr>
            </a:lvl4pPr>
            <a:lvl5pPr marL="576000" indent="-180000" algn="l" defTabSz="685800" rtl="0" eaLnBrk="1" latinLnBrk="0" hangingPunct="1">
              <a:lnSpc>
                <a:spcPct val="100000"/>
              </a:lnSpc>
              <a:spcBef>
                <a:spcPts val="0"/>
              </a:spcBef>
              <a:spcAft>
                <a:spcPts val="300"/>
              </a:spcAft>
              <a:buClr>
                <a:srgbClr val="808080"/>
              </a:buClr>
              <a:buFont typeface="Calibri Light" panose="020F0302020204030204" pitchFamily="34" charset="0"/>
              <a:buChar char="‐"/>
              <a:defRPr lang="fr-FR" sz="1000" i="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80000" lvl="3" algn="just">
              <a:spcBef>
                <a:spcPts val="300"/>
              </a:spcBef>
              <a:spcAft>
                <a:spcPts val="100"/>
              </a:spcAft>
              <a:buClr>
                <a:schemeClr val="tx2"/>
              </a:buClr>
              <a:buSzPct val="90000"/>
              <a:buFont typeface="Wingdings" panose="05000000000000000000" pitchFamily="2" charset="2"/>
              <a:buChar char="§"/>
              <a:defRPr/>
            </a:pPr>
            <a:r>
              <a:rPr lang="en-US" b="1">
                <a:solidFill>
                  <a:schemeClr val="tx1"/>
                </a:solidFill>
                <a:latin typeface="+mn-lt"/>
              </a:rPr>
              <a:t>Simplified cash tender offer of Bolloré SE on its own shares</a:t>
            </a:r>
            <a:endParaRPr lang="fr-FR" b="1">
              <a:solidFill>
                <a:schemeClr val="tx1"/>
              </a:solidFill>
              <a:latin typeface="+mn-lt"/>
            </a:endParaRPr>
          </a:p>
          <a:p>
            <a:pPr marL="361950" lvl="2" indent="-184150" algn="just">
              <a:spcBef>
                <a:spcPts val="600"/>
              </a:spcBef>
              <a:spcAft>
                <a:spcPts val="600"/>
              </a:spcAft>
              <a:buClr>
                <a:srgbClr val="595959"/>
              </a:buClr>
              <a:buSzPct val="70000"/>
              <a:buFont typeface="Wingdings" panose="05000000000000000000" pitchFamily="2" charset="2"/>
              <a:buChar char="§"/>
              <a:defRPr/>
            </a:pPr>
            <a:r>
              <a:rPr lang="en-US">
                <a:solidFill>
                  <a:schemeClr val="tx1"/>
                </a:solidFill>
                <a:latin typeface="Arial" panose="020B0604020202020204" pitchFamily="34" charset="0"/>
                <a:cs typeface="Arial" panose="020B0604020202020204" pitchFamily="34" charset="0"/>
              </a:rPr>
              <a:t>The simplified cash tender offer launched by Bolloré SE on its own shares at a price of €5.75 per share closed on May 30, 2023, and the settlement-delivery took place on June 7, 2023. </a:t>
            </a:r>
          </a:p>
          <a:p>
            <a:pPr marL="361950" lvl="2" indent="-184150" algn="just">
              <a:spcBef>
                <a:spcPts val="600"/>
              </a:spcBef>
              <a:spcAft>
                <a:spcPts val="600"/>
              </a:spcAft>
              <a:buClr>
                <a:srgbClr val="595959"/>
              </a:buClr>
              <a:buSzPct val="70000"/>
              <a:buFont typeface="Wingdings" panose="05000000000000000000" pitchFamily="2" charset="2"/>
              <a:buChar char="§"/>
              <a:defRPr/>
            </a:pPr>
            <a:r>
              <a:rPr lang="en-US">
                <a:solidFill>
                  <a:schemeClr val="tx1"/>
                </a:solidFill>
                <a:latin typeface="Arial" panose="020B0604020202020204" pitchFamily="34" charset="0"/>
                <a:cs typeface="Arial" panose="020B0604020202020204" pitchFamily="34" charset="0"/>
              </a:rPr>
              <a:t>99.1 million shares were tendered to the Offer, representing 34.33% of the shares concerned by the Offer and 3.36% of Bolloré SE's share capital, i.e. an amount of €570 million.</a:t>
            </a:r>
          </a:p>
          <a:p>
            <a:pPr marL="361950" lvl="2" indent="-184150" algn="just">
              <a:spcBef>
                <a:spcPts val="600"/>
              </a:spcBef>
              <a:spcAft>
                <a:spcPts val="600"/>
              </a:spcAft>
              <a:buClr>
                <a:srgbClr val="595959"/>
              </a:buClr>
              <a:buSzPct val="70000"/>
              <a:buFont typeface="Wingdings" panose="05000000000000000000" pitchFamily="2" charset="2"/>
              <a:buChar char="§"/>
              <a:defRPr/>
            </a:pPr>
            <a:r>
              <a:rPr lang="fr-FR">
                <a:solidFill>
                  <a:schemeClr val="tx1"/>
                </a:solidFill>
                <a:latin typeface="Arial" panose="020B0604020202020204" pitchFamily="34" charset="0"/>
                <a:cs typeface="Arial" panose="020B0604020202020204" pitchFamily="34" charset="0"/>
              </a:rPr>
              <a:t>The</a:t>
            </a:r>
            <a:r>
              <a:rPr lang="en-US">
                <a:solidFill>
                  <a:schemeClr val="tx1"/>
                </a:solidFill>
                <a:latin typeface="Arial" panose="020B0604020202020204" pitchFamily="34" charset="0"/>
                <a:cs typeface="Arial" panose="020B0604020202020204" pitchFamily="34" charset="0"/>
              </a:rPr>
              <a:t> contingent €0.25 earn-out per Bolloré SE share tendered to the Offer will be paid if the if the sale of Bolloré Logistics to CMA CGM takes place in accordance with the transaction terms agreed</a:t>
            </a:r>
            <a:r>
              <a:rPr lang="en-US" baseline="30000">
                <a:solidFill>
                  <a:schemeClr val="tx1"/>
                </a:solidFill>
                <a:latin typeface="Arial" panose="020B0604020202020204" pitchFamily="34" charset="0"/>
                <a:cs typeface="Arial" panose="020B0604020202020204" pitchFamily="34" charset="0"/>
              </a:rPr>
              <a:t> (1)</a:t>
            </a:r>
            <a:r>
              <a:rPr lang="en-US">
                <a:solidFill>
                  <a:schemeClr val="tx1"/>
                </a:solidFill>
                <a:latin typeface="Arial" panose="020B0604020202020204" pitchFamily="34" charset="0"/>
                <a:cs typeface="Arial" panose="020B0604020202020204" pitchFamily="34" charset="0"/>
              </a:rPr>
              <a:t>. This contingent consideration represents an amount of €25 million.</a:t>
            </a:r>
            <a:endParaRPr lang="fr-FR">
              <a:solidFill>
                <a:schemeClr val="tx1"/>
              </a:solidFill>
              <a:latin typeface="Arial" panose="020B0604020202020204" pitchFamily="34" charset="0"/>
              <a:cs typeface="Arial" panose="020B0604020202020204" pitchFamily="34" charset="0"/>
            </a:endParaRPr>
          </a:p>
          <a:p>
            <a:pPr marL="180000" lvl="3" algn="just">
              <a:spcBef>
                <a:spcPts val="300"/>
              </a:spcBef>
              <a:spcAft>
                <a:spcPts val="100"/>
              </a:spcAft>
              <a:buClr>
                <a:schemeClr val="tx2"/>
              </a:buClr>
              <a:buSzPct val="90000"/>
              <a:buFont typeface="Wingdings" panose="05000000000000000000" pitchFamily="2" charset="2"/>
              <a:buChar char="§"/>
              <a:defRPr/>
            </a:pPr>
            <a:endParaRPr lang="en-US" b="1">
              <a:solidFill>
                <a:schemeClr val="tx1"/>
              </a:solidFill>
              <a:latin typeface="+mn-lt"/>
            </a:endParaRPr>
          </a:p>
          <a:p>
            <a:pPr marL="180000" lvl="3" algn="just">
              <a:spcBef>
                <a:spcPts val="300"/>
              </a:spcBef>
              <a:spcAft>
                <a:spcPts val="100"/>
              </a:spcAft>
              <a:buClr>
                <a:schemeClr val="tx2"/>
              </a:buClr>
              <a:buSzPct val="90000"/>
              <a:buFont typeface="Wingdings" panose="05000000000000000000" pitchFamily="2" charset="2"/>
              <a:buChar char="§"/>
              <a:defRPr/>
            </a:pPr>
            <a:r>
              <a:rPr lang="en-US" b="1">
                <a:solidFill>
                  <a:schemeClr val="tx1"/>
                </a:solidFill>
                <a:latin typeface="+mn-lt"/>
              </a:rPr>
              <a:t>Sale of Vivendi shares</a:t>
            </a:r>
          </a:p>
          <a:p>
            <a:pPr marL="361950" lvl="2" indent="-184150" algn="just">
              <a:spcBef>
                <a:spcPts val="600"/>
              </a:spcBef>
              <a:spcAft>
                <a:spcPts val="600"/>
              </a:spcAft>
              <a:buClr>
                <a:srgbClr val="595959"/>
              </a:buClr>
              <a:buSzPct val="70000"/>
              <a:buFont typeface="Wingdings" panose="05000000000000000000" pitchFamily="2" charset="2"/>
              <a:buChar char="§"/>
              <a:defRPr/>
            </a:pPr>
            <a:r>
              <a:rPr lang="en-US">
                <a:solidFill>
                  <a:schemeClr val="tx1"/>
                </a:solidFill>
                <a:latin typeface="Arial" panose="020B0604020202020204" pitchFamily="34" charset="0"/>
                <a:cs typeface="Arial" panose="020B0604020202020204" pitchFamily="34" charset="0"/>
              </a:rPr>
              <a:t>In May 2023, in view of the share cancellations to be carried out by Vivendi, and in order not to exceed the 30% threshold that would trigger a public offer on Vivendi, the Bolloré Group through Compagnie de Cornouaille sold 18.6 million of Vivendi shares on the stock market for €177 million.</a:t>
            </a:r>
          </a:p>
          <a:p>
            <a:pPr marL="361950" lvl="2" indent="-184150" algn="just">
              <a:spcBef>
                <a:spcPts val="600"/>
              </a:spcBef>
              <a:spcAft>
                <a:spcPts val="600"/>
              </a:spcAft>
              <a:buClr>
                <a:srgbClr val="595959"/>
              </a:buClr>
              <a:buSzPct val="70000"/>
              <a:buFont typeface="Wingdings" panose="05000000000000000000" pitchFamily="2" charset="2"/>
              <a:buChar char="§"/>
              <a:defRPr/>
            </a:pPr>
            <a:r>
              <a:rPr lang="en-US">
                <a:solidFill>
                  <a:schemeClr val="tx1"/>
                </a:solidFill>
                <a:latin typeface="Arial" panose="020B0604020202020204" pitchFamily="34" charset="0"/>
                <a:cs typeface="Arial" panose="020B0604020202020204" pitchFamily="34" charset="0"/>
              </a:rPr>
              <a:t>Following these disposals and the share cancellations carried out by Vivendi, the Bolloré Group</a:t>
            </a:r>
            <a:r>
              <a:rPr lang="en-US" baseline="30000">
                <a:solidFill>
                  <a:schemeClr val="tx1"/>
                </a:solidFill>
                <a:latin typeface="Arial" panose="020B0604020202020204" pitchFamily="34" charset="0"/>
                <a:cs typeface="Arial" panose="020B0604020202020204" pitchFamily="34" charset="0"/>
              </a:rPr>
              <a:t>(2)</a:t>
            </a:r>
            <a:r>
              <a:rPr lang="en-US">
                <a:solidFill>
                  <a:schemeClr val="tx1"/>
                </a:solidFill>
                <a:latin typeface="Arial" panose="020B0604020202020204" pitchFamily="34" charset="0"/>
                <a:cs typeface="Arial" panose="020B0604020202020204" pitchFamily="34" charset="0"/>
              </a:rPr>
              <a:t> holds 308 million Vivendi shares representing 29.9% of its capital.</a:t>
            </a:r>
            <a:endParaRPr lang="fr-FR" sz="900">
              <a:solidFill>
                <a:schemeClr val="tx1"/>
              </a:solidFill>
              <a:latin typeface="+mn-lt"/>
              <a:cs typeface="Arial" panose="020B0604020202020204" pitchFamily="34" charset="0"/>
            </a:endParaRPr>
          </a:p>
          <a:p>
            <a:pPr marL="361950" lvl="2" indent="-184150" algn="just">
              <a:spcBef>
                <a:spcPts val="600"/>
              </a:spcBef>
              <a:spcAft>
                <a:spcPts val="600"/>
              </a:spcAft>
              <a:buClr>
                <a:srgbClr val="595959"/>
              </a:buClr>
              <a:buSzPct val="70000"/>
              <a:buFont typeface="Wingdings" panose="05000000000000000000" pitchFamily="2" charset="2"/>
              <a:buChar char="§"/>
              <a:defRPr/>
            </a:pPr>
            <a:endParaRPr lang="fr-FR">
              <a:solidFill>
                <a:schemeClr val="tx1"/>
              </a:solidFill>
              <a:latin typeface="Arial" panose="020B0604020202020204" pitchFamily="34" charset="0"/>
              <a:ea typeface="Tahoma" pitchFamily="34" charset="0"/>
              <a:cs typeface="Arial" panose="020B0604020202020204" pitchFamily="34" charset="0"/>
            </a:endParaRPr>
          </a:p>
          <a:p>
            <a:pPr marL="177800" lvl="2" indent="0" algn="just">
              <a:spcAft>
                <a:spcPts val="0"/>
              </a:spcAft>
              <a:buClr>
                <a:srgbClr val="595959"/>
              </a:buClr>
              <a:buSzPct val="70000"/>
              <a:buNone/>
              <a:defRPr/>
            </a:pPr>
            <a:endParaRPr kumimoji="0" lang="fr-FR" sz="10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6" name="Title 15">
            <a:extLst>
              <a:ext uri="{FF2B5EF4-FFF2-40B4-BE49-F238E27FC236}">
                <a16:creationId xmlns:a16="http://schemas.microsoft.com/office/drawing/2014/main" id="{67727E00-6C7A-434A-B2C8-0E1E8DC00B65}"/>
              </a:ext>
            </a:extLst>
          </p:cNvPr>
          <p:cNvSpPr>
            <a:spLocks noGrp="1"/>
          </p:cNvSpPr>
          <p:nvPr>
            <p:ph type="title"/>
          </p:nvPr>
        </p:nvSpPr>
        <p:spPr/>
        <p:txBody>
          <a:bodyPr/>
          <a:lstStyle/>
          <a:p>
            <a:r>
              <a:rPr lang="en-US" sz="1800"/>
              <a:t>Transactions on Bolloré and vivendi shares</a:t>
            </a:r>
          </a:p>
        </p:txBody>
      </p:sp>
      <p:sp>
        <p:nvSpPr>
          <p:cNvPr id="15" name="ZoneTexte 14">
            <a:extLst>
              <a:ext uri="{FF2B5EF4-FFF2-40B4-BE49-F238E27FC236}">
                <a16:creationId xmlns:a16="http://schemas.microsoft.com/office/drawing/2014/main" id="{F89BA525-D589-4A60-9054-6CB288476369}"/>
              </a:ext>
            </a:extLst>
          </p:cNvPr>
          <p:cNvSpPr txBox="1"/>
          <p:nvPr/>
        </p:nvSpPr>
        <p:spPr>
          <a:xfrm>
            <a:off x="330201" y="4619753"/>
            <a:ext cx="8202239" cy="475695"/>
          </a:xfrm>
          <a:prstGeom prst="rect">
            <a:avLst/>
          </a:prstGeom>
        </p:spPr>
        <p:txBody>
          <a:bodyPr vert="horz" wrap="square" lIns="91440" tIns="45720" rIns="91440" bIns="45720" rtlCol="0">
            <a:noAutofit/>
          </a:bodyPr>
          <a:lstStyle/>
          <a:p>
            <a:pPr marL="228600" indent="-228600">
              <a:buAutoNum type="arabicParenBoth"/>
            </a:pPr>
            <a:r>
              <a:rPr lang="en-US" sz="600">
                <a:latin typeface="Arial" panose="020B0604020202020204" pitchFamily="34" charset="0"/>
                <a:cs typeface="Arial" panose="020B0604020202020204" pitchFamily="34" charset="0"/>
              </a:rPr>
              <a:t>See the press release of April 18,2023 entitled “Exclusive negotiations with the CMA CGM Group regarding the sale of Bolloré Logistics – Proposed €0.25 earn-out to be added to the price of the simplified tender offer currently under review”.</a:t>
            </a:r>
          </a:p>
          <a:p>
            <a:pPr marL="228600" indent="-228600">
              <a:buAutoNum type="arabicParenBoth"/>
            </a:pPr>
            <a:r>
              <a:rPr lang="en-US" sz="600">
                <a:latin typeface="Arial" panose="020B0604020202020204" pitchFamily="34" charset="0"/>
                <a:cs typeface="Arial" panose="020B0604020202020204" pitchFamily="34" charset="0"/>
              </a:rPr>
              <a:t>Including shares held by Compagnie de l’Odet.</a:t>
            </a:r>
          </a:p>
        </p:txBody>
      </p:sp>
      <p:sp>
        <p:nvSpPr>
          <p:cNvPr id="4" name="Espace réservé du numéro de diapositive 3">
            <a:extLst>
              <a:ext uri="{FF2B5EF4-FFF2-40B4-BE49-F238E27FC236}">
                <a16:creationId xmlns:a16="http://schemas.microsoft.com/office/drawing/2014/main" id="{CF66BF02-D562-47D5-A8B7-D1F0976F97C8}"/>
              </a:ext>
            </a:extLst>
          </p:cNvPr>
          <p:cNvSpPr>
            <a:spLocks noGrp="1"/>
          </p:cNvSpPr>
          <p:nvPr>
            <p:ph type="sldNum" sz="quarter" idx="12"/>
          </p:nvPr>
        </p:nvSpPr>
        <p:spPr/>
        <p:txBody>
          <a:bodyPr/>
          <a:lstStyle/>
          <a:p>
            <a:fld id="{304318A0-AD76-4461-B655-8B1A266EB0A2}" type="slidenum">
              <a:rPr lang="fr-FR" smtClean="0"/>
              <a:t>6</a:t>
            </a:fld>
            <a:endParaRPr lang="fr-FR"/>
          </a:p>
        </p:txBody>
      </p:sp>
    </p:spTree>
    <p:extLst>
      <p:ext uri="{BB962C8B-B14F-4D97-AF65-F5344CB8AC3E}">
        <p14:creationId xmlns:p14="http://schemas.microsoft.com/office/powerpoint/2010/main" val="283122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C726B396-E19D-4AB2-9DF4-3C7D4B54259F}"/>
              </a:ext>
            </a:extLst>
          </p:cNvPr>
          <p:cNvSpPr>
            <a:spLocks noGrp="1"/>
          </p:cNvSpPr>
          <p:nvPr>
            <p:ph sz="quarter" idx="14"/>
          </p:nvPr>
        </p:nvSpPr>
        <p:spPr>
          <a:xfrm>
            <a:off x="52410" y="987574"/>
            <a:ext cx="8627813" cy="3312368"/>
          </a:xfrm>
        </p:spPr>
        <p:txBody>
          <a:bodyPr/>
          <a:lstStyle/>
          <a:p>
            <a:pPr lvl="3" algn="just">
              <a:defRPr/>
            </a:pPr>
            <a:r>
              <a:rPr lang="en-US"/>
              <a:t>Vivendi received approval from the European Commission to complete its proposed transaction with Lagardère</a:t>
            </a:r>
            <a:r>
              <a:rPr lang="en-US" baseline="30000"/>
              <a:t>(1)</a:t>
            </a:r>
            <a:r>
              <a:rPr lang="en-US">
                <a:latin typeface="Arial" panose="020B0604020202020204" pitchFamily="34" charset="0"/>
                <a:ea typeface="Tahoma" pitchFamily="34" charset="0"/>
                <a:cs typeface="Arial" panose="020B0604020202020204" pitchFamily="34" charset="0"/>
              </a:rPr>
              <a:t>. </a:t>
            </a:r>
            <a:r>
              <a:rPr lang="en-US" b="0">
                <a:latin typeface="Arial" panose="020B0604020202020204" pitchFamily="34" charset="0"/>
                <a:ea typeface="Tahoma" pitchFamily="34" charset="0"/>
                <a:cs typeface="Arial" panose="020B0604020202020204" pitchFamily="34" charset="0"/>
              </a:rPr>
              <a:t>This approval is contingent upon the completion of Vivendi’s two proposed commitments to sell Editis and the Gala magazine.</a:t>
            </a:r>
          </a:p>
          <a:p>
            <a:pPr marL="536575" lvl="2" indent="-184150" algn="just">
              <a:spcBef>
                <a:spcPts val="600"/>
              </a:spcBef>
              <a:spcAft>
                <a:spcPts val="600"/>
              </a:spcAft>
              <a:buClr>
                <a:srgbClr val="595959"/>
              </a:buClr>
              <a:buSzPct val="70000"/>
              <a:buFont typeface="Wingdings" panose="05000000000000000000" pitchFamily="2" charset="2"/>
              <a:buChar char="§"/>
              <a:defRPr/>
            </a:pPr>
            <a:r>
              <a:rPr lang="en-US">
                <a:latin typeface="Arial" panose="020B0604020202020204" pitchFamily="34" charset="0"/>
                <a:ea typeface="Tahoma" pitchFamily="34" charset="0"/>
                <a:cs typeface="Arial" panose="020B0604020202020204" pitchFamily="34" charset="0"/>
              </a:rPr>
              <a:t>On June 16, 2023, following the opinion received from the Vivendi and Editis employee representative bodies, Vivendi signed the agreement with the IMI group for the sale of 100% of the share capital of Editis. The transaction remains subject to IMI obtaining the required merger control clearances in the relevant jurisdictions. </a:t>
            </a:r>
          </a:p>
          <a:p>
            <a:pPr marL="536575" lvl="2" indent="-184150" algn="just">
              <a:spcBef>
                <a:spcPts val="600"/>
              </a:spcBef>
              <a:spcAft>
                <a:spcPts val="600"/>
              </a:spcAft>
              <a:buClr>
                <a:srgbClr val="595959"/>
              </a:buClr>
              <a:buSzPct val="70000"/>
              <a:buFont typeface="Wingdings" panose="05000000000000000000" pitchFamily="2" charset="2"/>
              <a:buChar char="§"/>
              <a:defRPr/>
            </a:pPr>
            <a:r>
              <a:rPr lang="en-US">
                <a:latin typeface="Arial" panose="020B0604020202020204" pitchFamily="34" charset="0"/>
                <a:ea typeface="Tahoma" pitchFamily="34" charset="0"/>
                <a:cs typeface="Arial" panose="020B0604020202020204" pitchFamily="34" charset="0"/>
              </a:rPr>
              <a:t>On July 27, 2023, Vivendi announced the conclusion of a put option agreement by Prisma Media with Figaro Group for the sale of Gala magazine. This agreement is subject to the information and consultation procedures involving the relevant employee representative bodies. </a:t>
            </a:r>
          </a:p>
          <a:p>
            <a:pPr marL="536575" lvl="2" indent="-184150" algn="just">
              <a:spcBef>
                <a:spcPts val="600"/>
              </a:spcBef>
              <a:spcAft>
                <a:spcPts val="600"/>
              </a:spcAft>
              <a:buClr>
                <a:srgbClr val="595959"/>
              </a:buClr>
              <a:buSzPct val="70000"/>
              <a:buFont typeface="Wingdings" panose="05000000000000000000" pitchFamily="2" charset="2"/>
              <a:buChar char="§"/>
              <a:defRPr/>
            </a:pPr>
            <a:r>
              <a:rPr lang="en-US">
                <a:latin typeface="Arial" panose="020B0604020202020204" pitchFamily="34" charset="0"/>
                <a:ea typeface="Tahoma" pitchFamily="34" charset="0"/>
                <a:cs typeface="Arial" panose="020B0604020202020204" pitchFamily="34" charset="0"/>
              </a:rPr>
              <a:t>The two buyers, IMI and Figaro Group, must be approved by the European Commission as suitable purchasers. The completion of these transactions is expected by October 2023.</a:t>
            </a:r>
          </a:p>
          <a:p>
            <a:pPr marL="536575" lvl="2" indent="-184150" algn="just">
              <a:spcBef>
                <a:spcPts val="600"/>
              </a:spcBef>
              <a:spcAft>
                <a:spcPts val="600"/>
              </a:spcAft>
              <a:buClr>
                <a:srgbClr val="595959"/>
              </a:buClr>
              <a:buSzPct val="70000"/>
              <a:buFont typeface="Wingdings" panose="05000000000000000000" pitchFamily="2" charset="2"/>
              <a:buChar char="§"/>
              <a:defRPr/>
            </a:pPr>
            <a:endParaRPr lang="fr-FR">
              <a:latin typeface="Arial" panose="020B0604020202020204" pitchFamily="34" charset="0"/>
              <a:ea typeface="Tahoma" pitchFamily="34" charset="0"/>
              <a:cs typeface="Arial" panose="020B0604020202020204" pitchFamily="34" charset="0"/>
            </a:endParaRPr>
          </a:p>
        </p:txBody>
      </p:sp>
      <p:sp>
        <p:nvSpPr>
          <p:cNvPr id="3" name="Titre 2">
            <a:extLst>
              <a:ext uri="{FF2B5EF4-FFF2-40B4-BE49-F238E27FC236}">
                <a16:creationId xmlns:a16="http://schemas.microsoft.com/office/drawing/2014/main" id="{ED18742D-5DF8-46EA-8FB7-813DF941FB7F}"/>
              </a:ext>
            </a:extLst>
          </p:cNvPr>
          <p:cNvSpPr>
            <a:spLocks noGrp="1"/>
          </p:cNvSpPr>
          <p:nvPr>
            <p:ph type="title"/>
          </p:nvPr>
        </p:nvSpPr>
        <p:spPr>
          <a:xfrm>
            <a:off x="107951" y="163176"/>
            <a:ext cx="8926512" cy="320400"/>
          </a:xfrm>
        </p:spPr>
        <p:txBody>
          <a:bodyPr/>
          <a:lstStyle/>
          <a:p>
            <a:r>
              <a:rPr lang="en-US" sz="1800"/>
              <a:t>proposed Vivendi / Lagardère transaction</a:t>
            </a:r>
            <a:endParaRPr lang="en-US" sz="1800">
              <a:highlight>
                <a:srgbClr val="00FFFF"/>
              </a:highlight>
            </a:endParaRPr>
          </a:p>
        </p:txBody>
      </p:sp>
      <p:sp>
        <p:nvSpPr>
          <p:cNvPr id="7" name="ZoneTexte 6">
            <a:extLst>
              <a:ext uri="{FF2B5EF4-FFF2-40B4-BE49-F238E27FC236}">
                <a16:creationId xmlns:a16="http://schemas.microsoft.com/office/drawing/2014/main" id="{D3AB7489-6895-44D9-BE3C-B554D0079C93}"/>
              </a:ext>
            </a:extLst>
          </p:cNvPr>
          <p:cNvSpPr txBox="1"/>
          <p:nvPr/>
        </p:nvSpPr>
        <p:spPr>
          <a:xfrm>
            <a:off x="225426" y="4587974"/>
            <a:ext cx="7948081" cy="424428"/>
          </a:xfrm>
          <a:prstGeom prst="rect">
            <a:avLst/>
          </a:prstGeom>
        </p:spPr>
        <p:txBody>
          <a:bodyPr vert="horz" wrap="square" lIns="91440" tIns="45720" rIns="91440" bIns="45720" rtlCol="0">
            <a:noAutofit/>
          </a:bodyPr>
          <a:lstStyle/>
          <a:p>
            <a:pPr marL="228600" indent="-228600">
              <a:buAutoNum type="arabicParenBoth"/>
            </a:pPr>
            <a:r>
              <a:rPr lang="en-US" sz="600">
                <a:latin typeface="Arial" panose="020B0604020202020204" pitchFamily="34" charset="0"/>
                <a:cs typeface="Arial" panose="020B0604020202020204" pitchFamily="34" charset="0"/>
              </a:rPr>
              <a:t>On 30 June 2023, following the exercise of 222,789 selling rights since January 1</a:t>
            </a:r>
            <a:r>
              <a:rPr lang="en-US" sz="600" baseline="30000">
                <a:latin typeface="Arial" panose="020B0604020202020204" pitchFamily="34" charset="0"/>
                <a:cs typeface="Arial" panose="020B0604020202020204" pitchFamily="34" charset="0"/>
              </a:rPr>
              <a:t>st</a:t>
            </a:r>
            <a:r>
              <a:rPr lang="en-US" sz="600">
                <a:latin typeface="Arial" panose="020B0604020202020204" pitchFamily="34" charset="0"/>
                <a:cs typeface="Arial" panose="020B0604020202020204" pitchFamily="34" charset="0"/>
              </a:rPr>
              <a:t>, Vivendi held 81.64 million Lagardère shares, representing 57.85% of Lagardère’s share capital and 48.91% of theoretical voting rights. Pending the approval of Lagardère’s acquisition of controlling interests by the competition authorities and in accordance with Article 7(2) of Regulation (EC) 139/2004 on the control of concentrations between undertakings, Vivendi has only 22.99% of voting rights. As of June 30, 2023, 30,439,017 selling rights can be exercised at the unit price of €24.10 until December 15, 2023 inclusive, representing an off-balance sheet commitment of €734 million at Vivendi and relating to 21.57% of the capital of Lagardère.</a:t>
            </a:r>
          </a:p>
        </p:txBody>
      </p:sp>
      <p:sp>
        <p:nvSpPr>
          <p:cNvPr id="6" name="Espace réservé du numéro de diapositive 5">
            <a:extLst>
              <a:ext uri="{FF2B5EF4-FFF2-40B4-BE49-F238E27FC236}">
                <a16:creationId xmlns:a16="http://schemas.microsoft.com/office/drawing/2014/main" id="{3ED04451-2D17-4C49-BA3A-E48E85E2B557}"/>
              </a:ext>
            </a:extLst>
          </p:cNvPr>
          <p:cNvSpPr>
            <a:spLocks noGrp="1"/>
          </p:cNvSpPr>
          <p:nvPr>
            <p:ph type="sldNum" sz="quarter" idx="12"/>
          </p:nvPr>
        </p:nvSpPr>
        <p:spPr/>
        <p:txBody>
          <a:bodyPr/>
          <a:lstStyle/>
          <a:p>
            <a:fld id="{304318A0-AD76-4461-B655-8B1A266EB0A2}" type="slidenum">
              <a:rPr lang="fr-FR" smtClean="0"/>
              <a:t>7</a:t>
            </a:fld>
            <a:endParaRPr lang="fr-FR"/>
          </a:p>
        </p:txBody>
      </p:sp>
    </p:spTree>
    <p:extLst>
      <p:ext uri="{BB962C8B-B14F-4D97-AF65-F5344CB8AC3E}">
        <p14:creationId xmlns:p14="http://schemas.microsoft.com/office/powerpoint/2010/main" val="938944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20651" y="163176"/>
            <a:ext cx="6251549" cy="320400"/>
          </a:xfrm>
        </p:spPr>
        <p:txBody>
          <a:bodyPr vert="horz" lIns="91440" tIns="0" rIns="91440" bIns="0" rtlCol="0" anchor="t">
            <a:noAutofit/>
          </a:bodyPr>
          <a:lstStyle/>
          <a:p>
            <a:r>
              <a:rPr lang="en-GB" sz="1800"/>
              <a:t>Change in stock market price</a:t>
            </a:r>
            <a:endParaRPr lang="fr-FR" sz="1800"/>
          </a:p>
        </p:txBody>
      </p:sp>
      <p:sp>
        <p:nvSpPr>
          <p:cNvPr id="14" name="Espace réservé du texte 13"/>
          <p:cNvSpPr>
            <a:spLocks noGrp="1"/>
          </p:cNvSpPr>
          <p:nvPr>
            <p:ph type="body" sz="quarter" idx="13"/>
          </p:nvPr>
        </p:nvSpPr>
        <p:spPr>
          <a:xfrm>
            <a:off x="120651" y="502900"/>
            <a:ext cx="6251549" cy="215900"/>
          </a:xfrm>
        </p:spPr>
        <p:txBody>
          <a:bodyPr vert="horz" lIns="91440" tIns="0" rIns="91440" bIns="0" rtlCol="0" anchor="ctr">
            <a:normAutofit fontScale="92500" lnSpcReduction="20000"/>
          </a:bodyPr>
          <a:lstStyle/>
          <a:p>
            <a:endParaRPr lang="fr-FR">
              <a:solidFill>
                <a:srgbClr val="3A75C4"/>
              </a:solidFill>
              <a:latin typeface="Arial" panose="020B0604020202020204" pitchFamily="34" charset="0"/>
              <a:cs typeface="Arial" panose="020B0604020202020204" pitchFamily="34" charset="0"/>
            </a:endParaRPr>
          </a:p>
        </p:txBody>
      </p:sp>
      <p:sp>
        <p:nvSpPr>
          <p:cNvPr id="17" name="Rectangle 16"/>
          <p:cNvSpPr>
            <a:spLocks/>
          </p:cNvSpPr>
          <p:nvPr/>
        </p:nvSpPr>
        <p:spPr>
          <a:xfrm>
            <a:off x="120651" y="909876"/>
            <a:ext cx="6251549" cy="198189"/>
          </a:xfrm>
          <a:prstGeom prst="rect">
            <a:avLst/>
          </a:prstGeom>
          <a:noFill/>
        </p:spPr>
        <p:txBody>
          <a:bodyPr vert="horz" lIns="91440" tIns="45720" rIns="91440" bIns="45720" rtlCol="0">
            <a:noAutofit/>
          </a:bodyPr>
          <a:lstStyle/>
          <a:p>
            <a:pPr>
              <a:spcAft>
                <a:spcPts val="300"/>
              </a:spcAft>
              <a:buSzPct val="110000"/>
            </a:pPr>
            <a:r>
              <a:rPr lang="en-US" sz="1000" b="1" cap="all" dirty="0">
                <a:solidFill>
                  <a:srgbClr val="3A75C4"/>
                </a:solidFill>
                <a:latin typeface="+mj-lt"/>
              </a:rPr>
              <a:t>Price </a:t>
            </a:r>
            <a:r>
              <a:rPr lang="en-US" sz="1000" b="1" cap="all">
                <a:solidFill>
                  <a:srgbClr val="3A75C4"/>
                </a:solidFill>
                <a:latin typeface="+mj-lt"/>
              </a:rPr>
              <a:t>at 07</a:t>
            </a:r>
            <a:r>
              <a:rPr lang="fr-FR" sz="1000" b="1" cap="all">
                <a:solidFill>
                  <a:srgbClr val="3A75C4"/>
                </a:solidFill>
                <a:latin typeface="+mj-lt"/>
              </a:rPr>
              <a:t>/27/2023</a:t>
            </a:r>
            <a:r>
              <a:rPr lang="fr-FR" sz="1000" b="1" cap="all" dirty="0">
                <a:solidFill>
                  <a:srgbClr val="3A75C4"/>
                </a:solidFill>
                <a:latin typeface="+mj-lt"/>
              </a:rPr>
              <a:t>: €6.06 | </a:t>
            </a:r>
            <a:r>
              <a:rPr lang="en-US" sz="1000" b="1" cap="all" dirty="0">
                <a:solidFill>
                  <a:srgbClr val="3A75C4"/>
                </a:solidFill>
                <a:latin typeface="+mj-lt"/>
              </a:rPr>
              <a:t>MARKET CAPITALIZATION</a:t>
            </a:r>
            <a:r>
              <a:rPr lang="fr-FR" sz="1000" b="1" cap="all" dirty="0">
                <a:solidFill>
                  <a:srgbClr val="3A75C4"/>
                </a:solidFill>
                <a:latin typeface="+mj-lt"/>
              </a:rPr>
              <a:t>: €17.9 billion</a:t>
            </a:r>
          </a:p>
        </p:txBody>
      </p:sp>
      <p:sp>
        <p:nvSpPr>
          <p:cNvPr id="23" name="Text Box 112"/>
          <p:cNvSpPr txBox="1">
            <a:spLocks noChangeArrowheads="1"/>
          </p:cNvSpPr>
          <p:nvPr/>
        </p:nvSpPr>
        <p:spPr bwMode="auto">
          <a:xfrm>
            <a:off x="323528" y="4824020"/>
            <a:ext cx="5667050" cy="170008"/>
          </a:xfrm>
          <a:prstGeom prst="rect">
            <a:avLst/>
          </a:prstGeom>
          <a:noFill/>
          <a:ln>
            <a:noFill/>
          </a:ln>
          <a:effectLst/>
        </p:spPr>
        <p:txBody>
          <a:bodyPr wrap="square" lIns="76926" tIns="38462" rIns="76926" bIns="38462">
            <a:spAutoFit/>
          </a:bodyPr>
          <a:lstStyle>
            <a:defPPr>
              <a:defRPr lang="en-US"/>
            </a:defPPr>
            <a:lvl1pPr indent="0" defTabSz="857250">
              <a:defRPr sz="600">
                <a:solidFill>
                  <a:schemeClr val="tx1">
                    <a:lumMod val="50000"/>
                    <a:lumOff val="50000"/>
                  </a:schemeClr>
                </a:solidFill>
                <a:latin typeface="Arial  "/>
              </a:defRPr>
            </a:lvl1pPr>
            <a:lvl2pPr marL="742950" indent="-285750" defTabSz="857250" eaLnBrk="0" hangingPunct="0">
              <a:defRPr sz="2200">
                <a:latin typeface="Times New Roman" pitchFamily="18" charset="0"/>
              </a:defRPr>
            </a:lvl2pPr>
            <a:lvl3pPr marL="1143000" indent="-228600" defTabSz="857250" eaLnBrk="0" hangingPunct="0">
              <a:defRPr sz="2200">
                <a:latin typeface="Times New Roman" pitchFamily="18" charset="0"/>
              </a:defRPr>
            </a:lvl3pPr>
            <a:lvl4pPr marL="1600200" indent="-228600" defTabSz="857250" eaLnBrk="0" hangingPunct="0">
              <a:defRPr sz="2200">
                <a:latin typeface="Times New Roman" pitchFamily="18" charset="0"/>
              </a:defRPr>
            </a:lvl4pPr>
            <a:lvl5pPr marL="2057400" indent="-228600" defTabSz="857250" eaLnBrk="0" hangingPunct="0">
              <a:defRPr sz="2200">
                <a:latin typeface="Times New Roman" pitchFamily="18" charset="0"/>
              </a:defRPr>
            </a:lvl5pPr>
            <a:lvl6pPr marL="2514600" indent="-228600" defTabSz="857250" eaLnBrk="0" fontAlgn="base" hangingPunct="0">
              <a:spcBef>
                <a:spcPct val="50000"/>
              </a:spcBef>
              <a:spcAft>
                <a:spcPct val="0"/>
              </a:spcAft>
              <a:defRPr sz="2200">
                <a:latin typeface="Times New Roman" pitchFamily="18" charset="0"/>
              </a:defRPr>
            </a:lvl6pPr>
            <a:lvl7pPr marL="2971800" indent="-228600" defTabSz="857250" eaLnBrk="0" fontAlgn="base" hangingPunct="0">
              <a:spcBef>
                <a:spcPct val="50000"/>
              </a:spcBef>
              <a:spcAft>
                <a:spcPct val="0"/>
              </a:spcAft>
              <a:defRPr sz="2200">
                <a:latin typeface="Times New Roman" pitchFamily="18" charset="0"/>
              </a:defRPr>
            </a:lvl7pPr>
            <a:lvl8pPr marL="3429000" indent="-228600" defTabSz="857250" eaLnBrk="0" fontAlgn="base" hangingPunct="0">
              <a:spcBef>
                <a:spcPct val="50000"/>
              </a:spcBef>
              <a:spcAft>
                <a:spcPct val="0"/>
              </a:spcAft>
              <a:defRPr sz="2200">
                <a:latin typeface="Times New Roman" pitchFamily="18" charset="0"/>
              </a:defRPr>
            </a:lvl8pPr>
            <a:lvl9pPr marL="3886200" indent="-228600" defTabSz="857250" eaLnBrk="0" fontAlgn="base" hangingPunct="0">
              <a:spcBef>
                <a:spcPct val="50000"/>
              </a:spcBef>
              <a:spcAft>
                <a:spcPct val="0"/>
              </a:spcAft>
              <a:defRPr sz="2200">
                <a:latin typeface="Times New Roman" pitchFamily="18" charset="0"/>
              </a:defRPr>
            </a:lvl9pPr>
          </a:lstStyle>
          <a:p>
            <a:r>
              <a:rPr lang="fr-FR">
                <a:solidFill>
                  <a:schemeClr val="tx1"/>
                </a:solidFill>
              </a:rPr>
              <a:t>Source: </a:t>
            </a:r>
            <a:r>
              <a:rPr lang="fr-FR" err="1">
                <a:solidFill>
                  <a:schemeClr val="tx1"/>
                </a:solidFill>
              </a:rPr>
              <a:t>Refinitiv</a:t>
            </a:r>
            <a:endParaRPr lang="en-US">
              <a:solidFill>
                <a:schemeClr val="tx1"/>
              </a:solidFill>
            </a:endParaRPr>
          </a:p>
        </p:txBody>
      </p:sp>
      <p:pic>
        <p:nvPicPr>
          <p:cNvPr id="5" name="Image 4">
            <a:extLst>
              <a:ext uri="{FF2B5EF4-FFF2-40B4-BE49-F238E27FC236}">
                <a16:creationId xmlns:a16="http://schemas.microsoft.com/office/drawing/2014/main" id="{115581A5-A49A-499D-8A78-4E084EA9765B}"/>
              </a:ext>
            </a:extLst>
          </p:cNvPr>
          <p:cNvPicPr>
            <a:picLocks noChangeAspect="1"/>
          </p:cNvPicPr>
          <p:nvPr>
            <p:custDataLst>
              <p:tags r:id="rId2"/>
            </p:custDataLst>
          </p:nvPr>
        </p:nvPicPr>
        <p:blipFill>
          <a:blip r:embed="rId5"/>
          <a:stretch>
            <a:fillRect/>
          </a:stretch>
        </p:blipFill>
        <p:spPr>
          <a:xfrm>
            <a:off x="1" y="1275607"/>
            <a:ext cx="6864350" cy="3423442"/>
          </a:xfrm>
          <a:prstGeom prst="rect">
            <a:avLst/>
          </a:prstGeom>
        </p:spPr>
      </p:pic>
      <p:pic>
        <p:nvPicPr>
          <p:cNvPr id="8" name="Image 7">
            <a:extLst>
              <a:ext uri="{FF2B5EF4-FFF2-40B4-BE49-F238E27FC236}">
                <a16:creationId xmlns:a16="http://schemas.microsoft.com/office/drawing/2014/main" id="{6F2BB05F-EEAB-4F80-95A2-10626B444D36}"/>
              </a:ext>
            </a:extLst>
          </p:cNvPr>
          <p:cNvPicPr>
            <a:picLocks noChangeAspect="1"/>
          </p:cNvPicPr>
          <p:nvPr>
            <p:custDataLst>
              <p:tags r:id="rId3"/>
            </p:custDataLst>
          </p:nvPr>
        </p:nvPicPr>
        <p:blipFill>
          <a:blip r:embed="rId6"/>
          <a:stretch>
            <a:fillRect/>
          </a:stretch>
        </p:blipFill>
        <p:spPr>
          <a:xfrm>
            <a:off x="7335192" y="909876"/>
            <a:ext cx="1688157" cy="625398"/>
          </a:xfrm>
          <a:prstGeom prst="rect">
            <a:avLst/>
          </a:prstGeom>
        </p:spPr>
      </p:pic>
      <p:sp>
        <p:nvSpPr>
          <p:cNvPr id="4" name="Espace réservé du numéro de diapositive 3">
            <a:extLst>
              <a:ext uri="{FF2B5EF4-FFF2-40B4-BE49-F238E27FC236}">
                <a16:creationId xmlns:a16="http://schemas.microsoft.com/office/drawing/2014/main" id="{1883EAF9-D182-4A15-8C08-F7A7CD3FE8E1}"/>
              </a:ext>
            </a:extLst>
          </p:cNvPr>
          <p:cNvSpPr>
            <a:spLocks noGrp="1"/>
          </p:cNvSpPr>
          <p:nvPr>
            <p:ph type="sldNum" sz="quarter" idx="12"/>
          </p:nvPr>
        </p:nvSpPr>
        <p:spPr/>
        <p:txBody>
          <a:bodyPr/>
          <a:lstStyle/>
          <a:p>
            <a:fld id="{304318A0-AD76-4461-B655-8B1A266EB0A2}" type="slidenum">
              <a:rPr lang="fr-FR" smtClean="0"/>
              <a:t>8</a:t>
            </a:fld>
            <a:endParaRPr lang="fr-FR"/>
          </a:p>
        </p:txBody>
      </p:sp>
    </p:spTree>
    <p:custDataLst>
      <p:tags r:id="rId1"/>
    </p:custDataLst>
    <p:extLst>
      <p:ext uri="{BB962C8B-B14F-4D97-AF65-F5344CB8AC3E}">
        <p14:creationId xmlns:p14="http://schemas.microsoft.com/office/powerpoint/2010/main" val="1702407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C26432BD-4F47-4C6E-8261-5FE1DA5C43BB}"/>
              </a:ext>
            </a:extLst>
          </p:cNvPr>
          <p:cNvSpPr>
            <a:spLocks noGrp="1"/>
          </p:cNvSpPr>
          <p:nvPr>
            <p:ph type="title"/>
          </p:nvPr>
        </p:nvSpPr>
        <p:spPr>
          <a:xfrm>
            <a:off x="107951" y="163176"/>
            <a:ext cx="8926512" cy="320400"/>
          </a:xfrm>
        </p:spPr>
        <p:txBody>
          <a:bodyPr/>
          <a:lstStyle/>
          <a:p>
            <a:r>
              <a:rPr lang="en-GB" sz="1800"/>
              <a:t>Group structure</a:t>
            </a:r>
            <a:endParaRPr lang="fr-FR" sz="1800"/>
          </a:p>
        </p:txBody>
      </p:sp>
      <p:sp>
        <p:nvSpPr>
          <p:cNvPr id="4" name="Espace réservé du contenu 3">
            <a:extLst>
              <a:ext uri="{FF2B5EF4-FFF2-40B4-BE49-F238E27FC236}">
                <a16:creationId xmlns:a16="http://schemas.microsoft.com/office/drawing/2014/main" id="{FAE90EE4-DA19-4260-B2CF-C83C98BBAF20}"/>
              </a:ext>
            </a:extLst>
          </p:cNvPr>
          <p:cNvSpPr>
            <a:spLocks noGrp="1"/>
          </p:cNvSpPr>
          <p:nvPr>
            <p:ph sz="quarter" idx="13"/>
          </p:nvPr>
        </p:nvSpPr>
        <p:spPr>
          <a:xfrm>
            <a:off x="107503" y="791990"/>
            <a:ext cx="8549935" cy="252000"/>
          </a:xfrm>
          <a:noFill/>
        </p:spPr>
        <p:txBody>
          <a:bodyPr/>
          <a:lstStyle/>
          <a:p>
            <a:r>
              <a:rPr lang="en-GB">
                <a:solidFill>
                  <a:srgbClr val="3A75C4"/>
                </a:solidFill>
              </a:rPr>
              <a:t>ECONOMIC organisation CHART on </a:t>
            </a:r>
            <a:r>
              <a:rPr lang="fr-FR">
                <a:solidFill>
                  <a:srgbClr val="3A75C4"/>
                </a:solidFill>
              </a:rPr>
              <a:t>06/30/2023 </a:t>
            </a:r>
            <a:r>
              <a:rPr lang="en-GB">
                <a:solidFill>
                  <a:srgbClr val="3A75C4"/>
                </a:solidFill>
              </a:rPr>
              <a:t>(as % of share capital)</a:t>
            </a:r>
            <a:endParaRPr lang="fr-FR">
              <a:solidFill>
                <a:srgbClr val="3A75C4"/>
              </a:solidFill>
            </a:endParaRPr>
          </a:p>
        </p:txBody>
      </p:sp>
      <p:sp>
        <p:nvSpPr>
          <p:cNvPr id="11" name="Rectangle 10">
            <a:extLst>
              <a:ext uri="{FF2B5EF4-FFF2-40B4-BE49-F238E27FC236}">
                <a16:creationId xmlns:a16="http://schemas.microsoft.com/office/drawing/2014/main" id="{5044A572-5752-4933-9501-698943E8A2E0}"/>
              </a:ext>
            </a:extLst>
          </p:cNvPr>
          <p:cNvSpPr/>
          <p:nvPr/>
        </p:nvSpPr>
        <p:spPr>
          <a:xfrm>
            <a:off x="3416595" y="1218309"/>
            <a:ext cx="2179227" cy="288000"/>
          </a:xfrm>
          <a:prstGeom prst="rect">
            <a:avLst/>
          </a:prstGeom>
          <a:noFill/>
          <a:ln w="9525">
            <a:solidFill>
              <a:srgbClr val="3A75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050" b="1">
                <a:solidFill>
                  <a:srgbClr val="0070C0"/>
                </a:solidFill>
                <a:latin typeface="Arial" panose="020B0604020202020204" pitchFamily="34" charset="0"/>
                <a:cs typeface="Arial" panose="020B0604020202020204" pitchFamily="34" charset="0"/>
              </a:rPr>
              <a:t>Compagnie de l’Odet</a:t>
            </a:r>
          </a:p>
        </p:txBody>
      </p:sp>
      <p:sp>
        <p:nvSpPr>
          <p:cNvPr id="12" name="Rectangle 11">
            <a:extLst>
              <a:ext uri="{FF2B5EF4-FFF2-40B4-BE49-F238E27FC236}">
                <a16:creationId xmlns:a16="http://schemas.microsoft.com/office/drawing/2014/main" id="{FEAB104A-8A89-4B1E-8886-4D914BCB7CC1}"/>
              </a:ext>
            </a:extLst>
          </p:cNvPr>
          <p:cNvSpPr/>
          <p:nvPr/>
        </p:nvSpPr>
        <p:spPr>
          <a:xfrm>
            <a:off x="3416595" y="1704233"/>
            <a:ext cx="2179227" cy="288000"/>
          </a:xfrm>
          <a:prstGeom prst="rect">
            <a:avLst/>
          </a:prstGeom>
          <a:noFill/>
          <a:ln w="9525">
            <a:solidFill>
              <a:srgbClr val="3A75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050" b="1">
                <a:solidFill>
                  <a:srgbClr val="0070C0"/>
                </a:solidFill>
                <a:latin typeface="Arial" panose="020B0604020202020204" pitchFamily="34" charset="0"/>
                <a:cs typeface="Arial" panose="020B0604020202020204" pitchFamily="34" charset="0"/>
              </a:rPr>
              <a:t>Bolloré SE</a:t>
            </a:r>
          </a:p>
        </p:txBody>
      </p:sp>
      <p:cxnSp>
        <p:nvCxnSpPr>
          <p:cNvPr id="13" name="Connecteur droit avec flèche 12">
            <a:extLst>
              <a:ext uri="{FF2B5EF4-FFF2-40B4-BE49-F238E27FC236}">
                <a16:creationId xmlns:a16="http://schemas.microsoft.com/office/drawing/2014/main" id="{EFE8507B-6A81-456D-AF66-24F331F08338}"/>
              </a:ext>
            </a:extLst>
          </p:cNvPr>
          <p:cNvCxnSpPr>
            <a:cxnSpLocks/>
            <a:stCxn id="11" idx="2"/>
            <a:endCxn id="12" idx="0"/>
          </p:cNvCxnSpPr>
          <p:nvPr/>
        </p:nvCxnSpPr>
        <p:spPr>
          <a:xfrm>
            <a:off x="4506209" y="1506309"/>
            <a:ext cx="0" cy="197924"/>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10E0C034-F117-4223-83F9-D220144135BD}"/>
              </a:ext>
            </a:extLst>
          </p:cNvPr>
          <p:cNvSpPr txBox="1"/>
          <p:nvPr/>
        </p:nvSpPr>
        <p:spPr>
          <a:xfrm>
            <a:off x="4581007" y="1504239"/>
            <a:ext cx="914400" cy="234479"/>
          </a:xfrm>
          <a:prstGeom prst="rect">
            <a:avLst/>
          </a:prstGeom>
        </p:spPr>
        <p:txBody>
          <a:bodyPr vert="horz" wrap="none" lIns="91440" tIns="45720" rIns="91440" bIns="45720" rtlCol="0">
            <a:noAutofit/>
          </a:bodyPr>
          <a:lstStyle/>
          <a:p>
            <a:r>
              <a:rPr lang="fr-FR" sz="700">
                <a:latin typeface="Arial" panose="020B0604020202020204" pitchFamily="34" charset="0"/>
                <a:cs typeface="Arial" panose="020B0604020202020204" pitchFamily="34" charset="0"/>
              </a:rPr>
              <a:t>70.8 %</a:t>
            </a:r>
            <a:r>
              <a:rPr lang="fr-FR" sz="700" baseline="30000">
                <a:latin typeface="Arial" panose="020B0604020202020204" pitchFamily="34" charset="0"/>
                <a:cs typeface="Arial" panose="020B0604020202020204" pitchFamily="34" charset="0"/>
              </a:rPr>
              <a:t>(3)</a:t>
            </a:r>
          </a:p>
        </p:txBody>
      </p:sp>
      <p:cxnSp>
        <p:nvCxnSpPr>
          <p:cNvPr id="15" name="Connecteur droit avec flèche 14">
            <a:extLst>
              <a:ext uri="{FF2B5EF4-FFF2-40B4-BE49-F238E27FC236}">
                <a16:creationId xmlns:a16="http://schemas.microsoft.com/office/drawing/2014/main" id="{C1FB551A-6932-4B14-8891-3AD29920BC9E}"/>
              </a:ext>
            </a:extLst>
          </p:cNvPr>
          <p:cNvCxnSpPr>
            <a:cxnSpLocks/>
          </p:cNvCxnSpPr>
          <p:nvPr/>
        </p:nvCxnSpPr>
        <p:spPr>
          <a:xfrm>
            <a:off x="4503787" y="1994571"/>
            <a:ext cx="0" cy="125623"/>
          </a:xfrm>
          <a:prstGeom prst="straightConnector1">
            <a:avLst/>
          </a:prstGeom>
          <a:ln>
            <a:solidFill>
              <a:schemeClr val="bg1">
                <a:lumMod val="65000"/>
              </a:schemeClr>
            </a:solidFill>
            <a:tailEnd type="none"/>
          </a:ln>
        </p:spPr>
        <p:style>
          <a:lnRef idx="1">
            <a:schemeClr val="accent1"/>
          </a:lnRef>
          <a:fillRef idx="0">
            <a:schemeClr val="accent1"/>
          </a:fillRef>
          <a:effectRef idx="0">
            <a:schemeClr val="accent1"/>
          </a:effectRef>
          <a:fontRef idx="minor">
            <a:schemeClr val="tx1"/>
          </a:fontRef>
        </p:style>
      </p:cxnSp>
      <p:sp>
        <p:nvSpPr>
          <p:cNvPr id="16" name="ZoneTexte 7">
            <a:extLst>
              <a:ext uri="{FF2B5EF4-FFF2-40B4-BE49-F238E27FC236}">
                <a16:creationId xmlns:a16="http://schemas.microsoft.com/office/drawing/2014/main" id="{5FF29733-FCD0-446A-95BF-5DEFB10EC5CC}"/>
              </a:ext>
            </a:extLst>
          </p:cNvPr>
          <p:cNvSpPr txBox="1"/>
          <p:nvPr/>
        </p:nvSpPr>
        <p:spPr>
          <a:xfrm>
            <a:off x="218406" y="1081380"/>
            <a:ext cx="2940230" cy="108916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fr-FR" sz="700" b="0" i="0" baseline="0">
                <a:solidFill>
                  <a:schemeClr val="tx1"/>
                </a:solidFill>
                <a:effectLst/>
                <a:latin typeface="Arial" panose="020B0604020202020204" pitchFamily="34" charset="0"/>
                <a:cs typeface="Arial" panose="020B0604020202020204" pitchFamily="34" charset="0"/>
              </a:rPr>
              <a:t>Sofibol et holdings</a:t>
            </a:r>
            <a:r>
              <a:rPr lang="fr-FR" sz="700" baseline="30000">
                <a:solidFill>
                  <a:schemeClr val="tx1"/>
                </a:solidFill>
                <a:latin typeface="Arial" panose="020B0604020202020204" pitchFamily="34" charset="0"/>
                <a:cs typeface="Arial" panose="020B0604020202020204" pitchFamily="34" charset="0"/>
              </a:rPr>
              <a:t>(1)</a:t>
            </a:r>
            <a:r>
              <a:rPr lang="fr-FR" sz="700" b="0" i="0" baseline="0">
                <a:solidFill>
                  <a:schemeClr val="tx1"/>
                </a:solidFill>
                <a:effectLst/>
                <a:latin typeface="Arial" panose="020B0604020202020204" pitchFamily="34" charset="0"/>
                <a:cs typeface="Arial" panose="020B0604020202020204" pitchFamily="34" charset="0"/>
              </a:rPr>
              <a:t>: 57.1 %</a:t>
            </a:r>
          </a:p>
          <a:p>
            <a:r>
              <a:rPr lang="fr-FR" sz="700" b="0" i="0" baseline="0">
                <a:solidFill>
                  <a:schemeClr val="tx1"/>
                </a:solidFill>
                <a:effectLst/>
                <a:latin typeface="Arial" panose="020B0604020202020204" pitchFamily="34" charset="0"/>
                <a:cs typeface="Arial" panose="020B0604020202020204" pitchFamily="34" charset="0"/>
              </a:rPr>
              <a:t>Compagnie du Cambodge</a:t>
            </a:r>
            <a:r>
              <a:rPr lang="fr-FR" sz="700" baseline="30000">
                <a:solidFill>
                  <a:schemeClr val="tx1"/>
                </a:solidFill>
                <a:latin typeface="Arial" panose="020B0604020202020204" pitchFamily="34" charset="0"/>
                <a:cs typeface="Arial" panose="020B0604020202020204" pitchFamily="34" charset="0"/>
              </a:rPr>
              <a:t>(2)</a:t>
            </a:r>
            <a:r>
              <a:rPr lang="fr-FR" sz="700" b="0" i="0" baseline="0">
                <a:solidFill>
                  <a:schemeClr val="tx1"/>
                </a:solidFill>
                <a:effectLst/>
                <a:latin typeface="Arial" panose="020B0604020202020204" pitchFamily="34" charset="0"/>
                <a:cs typeface="Arial" panose="020B0604020202020204" pitchFamily="34" charset="0"/>
              </a:rPr>
              <a:t>: 19.1 %</a:t>
            </a:r>
          </a:p>
          <a:p>
            <a:r>
              <a:rPr lang="fr-FR" sz="700" b="0" i="0" baseline="0">
                <a:solidFill>
                  <a:schemeClr val="tx1"/>
                </a:solidFill>
                <a:effectLst/>
                <a:latin typeface="Arial" panose="020B0604020202020204" pitchFamily="34" charset="0"/>
                <a:cs typeface="Arial" panose="020B0604020202020204" pitchFamily="34" charset="0"/>
              </a:rPr>
              <a:t>Société Industrielle et Financière de l'Artois</a:t>
            </a:r>
            <a:r>
              <a:rPr lang="fr-FR" sz="700" baseline="30000">
                <a:solidFill>
                  <a:schemeClr val="tx1"/>
                </a:solidFill>
                <a:latin typeface="Arial" panose="020B0604020202020204" pitchFamily="34" charset="0"/>
                <a:cs typeface="Arial" panose="020B0604020202020204" pitchFamily="34" charset="0"/>
              </a:rPr>
              <a:t>(2)</a:t>
            </a:r>
            <a:r>
              <a:rPr lang="fr-FR" sz="700" b="0" i="0" baseline="0">
                <a:solidFill>
                  <a:schemeClr val="tx1"/>
                </a:solidFill>
                <a:effectLst/>
                <a:latin typeface="Arial" panose="020B0604020202020204" pitchFamily="34" charset="0"/>
                <a:cs typeface="Arial" panose="020B0604020202020204" pitchFamily="34" charset="0"/>
              </a:rPr>
              <a:t>: 5.6 %</a:t>
            </a:r>
            <a:endParaRPr lang="fr-FR" sz="700">
              <a:solidFill>
                <a:schemeClr val="tx1"/>
              </a:solidFill>
              <a:effectLst/>
              <a:latin typeface="Arial" panose="020B0604020202020204" pitchFamily="34" charset="0"/>
              <a:cs typeface="Arial" panose="020B0604020202020204" pitchFamily="34" charset="0"/>
            </a:endParaRPr>
          </a:p>
          <a:p>
            <a:r>
              <a:rPr lang="fr-FR" sz="700" b="0" i="0" baseline="0">
                <a:solidFill>
                  <a:schemeClr val="tx1"/>
                </a:solidFill>
                <a:effectLst/>
                <a:latin typeface="Arial" panose="020B0604020202020204" pitchFamily="34" charset="0"/>
                <a:cs typeface="Arial" panose="020B0604020202020204" pitchFamily="34" charset="0"/>
              </a:rPr>
              <a:t>Financière Moncey</a:t>
            </a:r>
            <a:r>
              <a:rPr lang="fr-FR" sz="700" baseline="30000">
                <a:solidFill>
                  <a:schemeClr val="tx1"/>
                </a:solidFill>
                <a:latin typeface="Arial" panose="020B0604020202020204" pitchFamily="34" charset="0"/>
                <a:cs typeface="Arial" panose="020B0604020202020204" pitchFamily="34" charset="0"/>
              </a:rPr>
              <a:t>(2)</a:t>
            </a:r>
            <a:r>
              <a:rPr lang="fr-FR" sz="700" b="0" i="0" baseline="0">
                <a:solidFill>
                  <a:schemeClr val="tx1"/>
                </a:solidFill>
                <a:effectLst/>
                <a:latin typeface="Arial" panose="020B0604020202020204" pitchFamily="34" charset="0"/>
                <a:cs typeface="Arial" panose="020B0604020202020204" pitchFamily="34" charset="0"/>
              </a:rPr>
              <a:t>: 4.9 % </a:t>
            </a:r>
            <a:endParaRPr lang="fr-FR" sz="700">
              <a:solidFill>
                <a:schemeClr val="tx1"/>
              </a:solidFill>
              <a:effectLst/>
              <a:latin typeface="Arial" panose="020B0604020202020204" pitchFamily="34" charset="0"/>
              <a:cs typeface="Arial" panose="020B0604020202020204" pitchFamily="34" charset="0"/>
            </a:endParaRPr>
          </a:p>
          <a:p>
            <a:r>
              <a:rPr lang="fr-FR" sz="700" b="0" i="0" baseline="0">
                <a:solidFill>
                  <a:schemeClr val="tx1"/>
                </a:solidFill>
                <a:effectLst/>
                <a:latin typeface="Arial" panose="020B0604020202020204" pitchFamily="34" charset="0"/>
                <a:cs typeface="Arial" panose="020B0604020202020204" pitchFamily="34" charset="0"/>
              </a:rPr>
              <a:t>Imperial </a:t>
            </a:r>
            <a:r>
              <a:rPr lang="fr-FR" sz="700" b="0" i="0" baseline="0" err="1">
                <a:solidFill>
                  <a:schemeClr val="tx1"/>
                </a:solidFill>
                <a:effectLst/>
                <a:latin typeface="Arial" panose="020B0604020202020204" pitchFamily="34" charset="0"/>
                <a:cs typeface="Arial" panose="020B0604020202020204" pitchFamily="34" charset="0"/>
              </a:rPr>
              <a:t>Mediterranean</a:t>
            </a:r>
            <a:r>
              <a:rPr lang="fr-FR" sz="700" baseline="30000">
                <a:solidFill>
                  <a:schemeClr val="tx1"/>
                </a:solidFill>
                <a:latin typeface="Arial" panose="020B0604020202020204" pitchFamily="34" charset="0"/>
                <a:cs typeface="Arial" panose="020B0604020202020204" pitchFamily="34" charset="0"/>
              </a:rPr>
              <a:t>(2)</a:t>
            </a:r>
            <a:r>
              <a:rPr lang="fr-FR" sz="700" b="0" i="0" baseline="0">
                <a:solidFill>
                  <a:schemeClr val="tx1"/>
                </a:solidFill>
                <a:effectLst/>
                <a:latin typeface="Arial" panose="020B0604020202020204" pitchFamily="34" charset="0"/>
                <a:cs typeface="Arial" panose="020B0604020202020204" pitchFamily="34" charset="0"/>
              </a:rPr>
              <a:t>: 3.6 %</a:t>
            </a:r>
            <a:endParaRPr lang="fr-FR" sz="700">
              <a:solidFill>
                <a:schemeClr val="tx1"/>
              </a:solidFill>
              <a:effectLst/>
              <a:latin typeface="Arial" panose="020B0604020202020204" pitchFamily="34" charset="0"/>
              <a:cs typeface="Arial" panose="020B0604020202020204" pitchFamily="34" charset="0"/>
            </a:endParaRPr>
          </a:p>
          <a:p>
            <a:r>
              <a:rPr lang="fr-FR" sz="700" b="0" i="0" baseline="0">
                <a:solidFill>
                  <a:schemeClr val="tx1"/>
                </a:solidFill>
                <a:effectLst/>
                <a:latin typeface="Arial" panose="020B0604020202020204" pitchFamily="34" charset="0"/>
                <a:cs typeface="Arial" panose="020B0604020202020204" pitchFamily="34" charset="0"/>
              </a:rPr>
              <a:t>Nord-Sumatra Investissements</a:t>
            </a:r>
            <a:r>
              <a:rPr lang="fr-FR" sz="700" baseline="30000">
                <a:solidFill>
                  <a:schemeClr val="tx1"/>
                </a:solidFill>
                <a:latin typeface="Arial" panose="020B0604020202020204" pitchFamily="34" charset="0"/>
                <a:cs typeface="Arial" panose="020B0604020202020204" pitchFamily="34" charset="0"/>
              </a:rPr>
              <a:t>(2)</a:t>
            </a:r>
            <a:r>
              <a:rPr lang="fr-FR" sz="700" b="0" i="0" baseline="0">
                <a:solidFill>
                  <a:schemeClr val="tx1"/>
                </a:solidFill>
                <a:effectLst/>
                <a:latin typeface="Arial" panose="020B0604020202020204" pitchFamily="34" charset="0"/>
                <a:cs typeface="Arial" panose="020B0604020202020204" pitchFamily="34" charset="0"/>
              </a:rPr>
              <a:t>: 2.3 %</a:t>
            </a:r>
            <a:endParaRPr lang="fr-FR" sz="700">
              <a:solidFill>
                <a:schemeClr val="tx1"/>
              </a:solidFill>
              <a:effectLst/>
              <a:latin typeface="Arial" panose="020B0604020202020204" pitchFamily="34" charset="0"/>
              <a:cs typeface="Arial" panose="020B0604020202020204" pitchFamily="34" charset="0"/>
            </a:endParaRPr>
          </a:p>
        </p:txBody>
      </p:sp>
      <p:sp>
        <p:nvSpPr>
          <p:cNvPr id="17" name="Parenthèse fermante 16">
            <a:extLst>
              <a:ext uri="{FF2B5EF4-FFF2-40B4-BE49-F238E27FC236}">
                <a16:creationId xmlns:a16="http://schemas.microsoft.com/office/drawing/2014/main" id="{14E0D332-84D6-472D-8CFF-E02F9C7D29A7}"/>
              </a:ext>
            </a:extLst>
          </p:cNvPr>
          <p:cNvSpPr/>
          <p:nvPr/>
        </p:nvSpPr>
        <p:spPr>
          <a:xfrm>
            <a:off x="2539532" y="1063628"/>
            <a:ext cx="30997" cy="753676"/>
          </a:xfrm>
          <a:prstGeom prst="rightBracket">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t"/>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fr-FR" sz="1050">
              <a:latin typeface="Arial" panose="020B0604020202020204" pitchFamily="34" charset="0"/>
              <a:cs typeface="Arial" panose="020B0604020202020204" pitchFamily="34" charset="0"/>
            </a:endParaRPr>
          </a:p>
        </p:txBody>
      </p:sp>
      <p:cxnSp>
        <p:nvCxnSpPr>
          <p:cNvPr id="18" name="Connecteur droit avec flèche 17">
            <a:extLst>
              <a:ext uri="{FF2B5EF4-FFF2-40B4-BE49-F238E27FC236}">
                <a16:creationId xmlns:a16="http://schemas.microsoft.com/office/drawing/2014/main" id="{EFBFC7F3-B02C-4EBF-81C6-F9504549309C}"/>
              </a:ext>
            </a:extLst>
          </p:cNvPr>
          <p:cNvCxnSpPr>
            <a:cxnSpLocks/>
            <a:endCxn id="11" idx="1"/>
          </p:cNvCxnSpPr>
          <p:nvPr/>
        </p:nvCxnSpPr>
        <p:spPr>
          <a:xfrm flipV="1">
            <a:off x="2571804" y="1362309"/>
            <a:ext cx="844791" cy="14288"/>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009377BE-D73A-4CDA-9EBA-E337C58B9A5B}"/>
              </a:ext>
            </a:extLst>
          </p:cNvPr>
          <p:cNvSpPr txBox="1"/>
          <p:nvPr/>
        </p:nvSpPr>
        <p:spPr>
          <a:xfrm>
            <a:off x="2744592" y="1174647"/>
            <a:ext cx="568074" cy="234479"/>
          </a:xfrm>
          <a:prstGeom prst="rect">
            <a:avLst/>
          </a:prstGeom>
        </p:spPr>
        <p:txBody>
          <a:bodyPr vert="horz" wrap="none" lIns="91440" tIns="45720" rIns="91440" bIns="45720" rtlCol="0">
            <a:noAutofit/>
          </a:bodyPr>
          <a:lstStyle/>
          <a:p>
            <a:r>
              <a:rPr lang="fr-FR" sz="700">
                <a:latin typeface="Arial" panose="020B0604020202020204" pitchFamily="34" charset="0"/>
                <a:cs typeface="Arial" panose="020B0604020202020204" pitchFamily="34" charset="0"/>
              </a:rPr>
              <a:t>92.7 %</a:t>
            </a:r>
          </a:p>
        </p:txBody>
      </p:sp>
      <p:sp>
        <p:nvSpPr>
          <p:cNvPr id="21" name="ZoneTexte 20">
            <a:extLst>
              <a:ext uri="{FF2B5EF4-FFF2-40B4-BE49-F238E27FC236}">
                <a16:creationId xmlns:a16="http://schemas.microsoft.com/office/drawing/2014/main" id="{D9569371-B1C0-481F-8AC4-4B294E2F08B4}"/>
              </a:ext>
            </a:extLst>
          </p:cNvPr>
          <p:cNvSpPr txBox="1"/>
          <p:nvPr/>
        </p:nvSpPr>
        <p:spPr>
          <a:xfrm>
            <a:off x="5965589" y="2294641"/>
            <a:ext cx="2658331" cy="236598"/>
          </a:xfrm>
          <a:prstGeom prst="rect">
            <a:avLst/>
          </a:prstGeom>
          <a:solidFill>
            <a:srgbClr val="0095DB"/>
          </a:solidFill>
        </p:spPr>
        <p:txBody>
          <a:bodyPr vert="horz" wrap="none" lIns="91440" tIns="45720" rIns="91440" bIns="45720" rtlCol="0">
            <a:noAutofit/>
          </a:bodyPr>
          <a:lstStyle/>
          <a:p>
            <a:pPr algn="ctr"/>
            <a:r>
              <a:rPr lang="fr-FR" sz="1000" b="1">
                <a:solidFill>
                  <a:schemeClr val="bg1"/>
                </a:solidFill>
                <a:latin typeface="Arial" panose="020B0604020202020204" pitchFamily="34" charset="0"/>
                <a:cs typeface="Arial" panose="020B0604020202020204" pitchFamily="34" charset="0"/>
              </a:rPr>
              <a:t>INDUSTRY</a:t>
            </a:r>
          </a:p>
        </p:txBody>
      </p:sp>
      <p:sp>
        <p:nvSpPr>
          <p:cNvPr id="25" name="Rectangle 24">
            <a:extLst>
              <a:ext uri="{FF2B5EF4-FFF2-40B4-BE49-F238E27FC236}">
                <a16:creationId xmlns:a16="http://schemas.microsoft.com/office/drawing/2014/main" id="{088D3EB4-3F1A-41AE-8822-65ED0696634D}"/>
              </a:ext>
            </a:extLst>
          </p:cNvPr>
          <p:cNvSpPr/>
          <p:nvPr/>
        </p:nvSpPr>
        <p:spPr>
          <a:xfrm>
            <a:off x="6171599" y="3300242"/>
            <a:ext cx="2261371" cy="255600"/>
          </a:xfrm>
          <a:prstGeom prst="rect">
            <a:avLst/>
          </a:prstGeom>
          <a:solidFill>
            <a:schemeClr val="bg1"/>
          </a:solidFill>
          <a:ln w="6350">
            <a:solidFill>
              <a:srgbClr val="0095D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a:solidFill>
                  <a:srgbClr val="0095DB"/>
                </a:solidFill>
                <a:latin typeface="Arial" panose="020B0604020202020204" pitchFamily="34" charset="0"/>
                <a:cs typeface="Arial" panose="020B0604020202020204" pitchFamily="34" charset="0"/>
              </a:rPr>
              <a:t>Systems</a:t>
            </a:r>
          </a:p>
        </p:txBody>
      </p:sp>
      <p:sp>
        <p:nvSpPr>
          <p:cNvPr id="28" name="Rectangle 27">
            <a:extLst>
              <a:ext uri="{FF2B5EF4-FFF2-40B4-BE49-F238E27FC236}">
                <a16:creationId xmlns:a16="http://schemas.microsoft.com/office/drawing/2014/main" id="{6538088F-B5F8-4711-93A1-FC089820B22C}"/>
              </a:ext>
            </a:extLst>
          </p:cNvPr>
          <p:cNvSpPr/>
          <p:nvPr/>
        </p:nvSpPr>
        <p:spPr>
          <a:xfrm>
            <a:off x="5965588" y="2299768"/>
            <a:ext cx="2658332" cy="1362746"/>
          </a:xfrm>
          <a:prstGeom prst="rect">
            <a:avLst/>
          </a:prstGeom>
          <a:noFill/>
          <a:ln w="12700">
            <a:solidFill>
              <a:srgbClr val="00A1E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900" err="1">
              <a:solidFill>
                <a:srgbClr val="1C8CA6"/>
              </a:solidFill>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0C0E6C5C-BB9D-457E-ACB9-D5E9F9F9DD41}"/>
              </a:ext>
            </a:extLst>
          </p:cNvPr>
          <p:cNvSpPr/>
          <p:nvPr/>
        </p:nvSpPr>
        <p:spPr>
          <a:xfrm>
            <a:off x="363383" y="2299762"/>
            <a:ext cx="2656800" cy="647983"/>
          </a:xfrm>
          <a:prstGeom prst="rect">
            <a:avLst/>
          </a:prstGeom>
          <a:noFill/>
          <a:ln w="12700">
            <a:solidFill>
              <a:srgbClr val="0D89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900" err="1">
              <a:solidFill>
                <a:srgbClr val="1C8CA6"/>
              </a:solidFill>
              <a:latin typeface="Arial" panose="020B0604020202020204" pitchFamily="34" charset="0"/>
              <a:cs typeface="Arial" panose="020B0604020202020204" pitchFamily="34" charset="0"/>
            </a:endParaRPr>
          </a:p>
        </p:txBody>
      </p:sp>
      <p:sp>
        <p:nvSpPr>
          <p:cNvPr id="31" name="ZoneTexte 30">
            <a:extLst>
              <a:ext uri="{FF2B5EF4-FFF2-40B4-BE49-F238E27FC236}">
                <a16:creationId xmlns:a16="http://schemas.microsoft.com/office/drawing/2014/main" id="{5A3EBC17-B731-4E96-9DFC-98A30882329B}"/>
              </a:ext>
            </a:extLst>
          </p:cNvPr>
          <p:cNvSpPr txBox="1"/>
          <p:nvPr/>
        </p:nvSpPr>
        <p:spPr>
          <a:xfrm>
            <a:off x="363383" y="2294641"/>
            <a:ext cx="2656800" cy="236597"/>
          </a:xfrm>
          <a:prstGeom prst="rect">
            <a:avLst/>
          </a:prstGeom>
          <a:solidFill>
            <a:srgbClr val="0D89A6"/>
          </a:solidFill>
        </p:spPr>
        <p:txBody>
          <a:bodyPr vert="horz" wrap="none" lIns="91440" tIns="45720" rIns="91440" bIns="45720" rtlCol="0">
            <a:noAutofit/>
          </a:bodyPr>
          <a:lstStyle/>
          <a:p>
            <a:pPr algn="ctr"/>
            <a:r>
              <a:rPr lang="fr-FR" sz="1000" b="1">
                <a:solidFill>
                  <a:schemeClr val="bg1"/>
                </a:solidFill>
                <a:latin typeface="Arial" panose="020B0604020202020204" pitchFamily="34" charset="0"/>
                <a:cs typeface="Arial" panose="020B0604020202020204" pitchFamily="34" charset="0"/>
              </a:rPr>
              <a:t>OIL LOGISTICS</a:t>
            </a:r>
          </a:p>
        </p:txBody>
      </p:sp>
      <p:sp>
        <p:nvSpPr>
          <p:cNvPr id="35" name="Rectangle 34">
            <a:extLst>
              <a:ext uri="{FF2B5EF4-FFF2-40B4-BE49-F238E27FC236}">
                <a16:creationId xmlns:a16="http://schemas.microsoft.com/office/drawing/2014/main" id="{DB2B5134-456B-4D09-A5D1-8E1A68725119}"/>
              </a:ext>
            </a:extLst>
          </p:cNvPr>
          <p:cNvSpPr/>
          <p:nvPr/>
        </p:nvSpPr>
        <p:spPr>
          <a:xfrm>
            <a:off x="651081" y="2555751"/>
            <a:ext cx="2260800" cy="324000"/>
          </a:xfrm>
          <a:prstGeom prst="rect">
            <a:avLst/>
          </a:prstGeom>
          <a:solidFill>
            <a:schemeClr val="bg1"/>
          </a:solidFill>
          <a:ln w="6350">
            <a:solidFill>
              <a:srgbClr val="0D89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a:solidFill>
                  <a:srgbClr val="0D89A6"/>
                </a:solidFill>
                <a:latin typeface="Arial" panose="020B0604020202020204" pitchFamily="34" charset="0"/>
                <a:cs typeface="Arial" panose="020B0604020202020204" pitchFamily="34" charset="0"/>
              </a:rPr>
              <a:t>Bolloré Energy</a:t>
            </a:r>
          </a:p>
        </p:txBody>
      </p:sp>
      <p:sp>
        <p:nvSpPr>
          <p:cNvPr id="38" name="Rectangle 37">
            <a:extLst>
              <a:ext uri="{FF2B5EF4-FFF2-40B4-BE49-F238E27FC236}">
                <a16:creationId xmlns:a16="http://schemas.microsoft.com/office/drawing/2014/main" id="{F7E749B1-DE5E-4092-8B80-C3A398D29D91}"/>
              </a:ext>
            </a:extLst>
          </p:cNvPr>
          <p:cNvSpPr/>
          <p:nvPr/>
        </p:nvSpPr>
        <p:spPr>
          <a:xfrm>
            <a:off x="3176397" y="2299763"/>
            <a:ext cx="2656800" cy="1362746"/>
          </a:xfrm>
          <a:prstGeom prst="rect">
            <a:avLst/>
          </a:prstGeom>
          <a:noFill/>
          <a:ln w="12700">
            <a:solidFill>
              <a:srgbClr val="84026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900" err="1">
              <a:solidFill>
                <a:srgbClr val="1C8CA6"/>
              </a:solidFill>
              <a:latin typeface="Arial" panose="020B0604020202020204" pitchFamily="34" charset="0"/>
              <a:cs typeface="Arial" panose="020B0604020202020204" pitchFamily="34" charset="0"/>
            </a:endParaRPr>
          </a:p>
        </p:txBody>
      </p:sp>
      <p:sp>
        <p:nvSpPr>
          <p:cNvPr id="39" name="ZoneTexte 38">
            <a:extLst>
              <a:ext uri="{FF2B5EF4-FFF2-40B4-BE49-F238E27FC236}">
                <a16:creationId xmlns:a16="http://schemas.microsoft.com/office/drawing/2014/main" id="{A8BDA4EE-1DA6-4DFA-847E-EE9F5668D84E}"/>
              </a:ext>
            </a:extLst>
          </p:cNvPr>
          <p:cNvSpPr txBox="1"/>
          <p:nvPr/>
        </p:nvSpPr>
        <p:spPr>
          <a:xfrm>
            <a:off x="3182748" y="2294641"/>
            <a:ext cx="2656800" cy="236597"/>
          </a:xfrm>
          <a:prstGeom prst="rect">
            <a:avLst/>
          </a:prstGeom>
          <a:solidFill>
            <a:srgbClr val="7A1F5E"/>
          </a:solidFill>
          <a:ln w="6350">
            <a:noFill/>
          </a:ln>
        </p:spPr>
        <p:txBody>
          <a:bodyPr vert="horz" wrap="none" lIns="91440" tIns="45720" rIns="91440" bIns="45720" rtlCol="0">
            <a:noAutofit/>
          </a:bodyPr>
          <a:lstStyle/>
          <a:p>
            <a:pPr algn="ctr"/>
            <a:r>
              <a:rPr lang="fr-FR" sz="1000" b="1">
                <a:solidFill>
                  <a:schemeClr val="bg1"/>
                </a:solidFill>
                <a:highlight>
                  <a:srgbClr val="7A1F5E"/>
                </a:highlight>
                <a:latin typeface="Arial" panose="020B0604020202020204" pitchFamily="34" charset="0"/>
                <a:cs typeface="Arial" panose="020B0604020202020204" pitchFamily="34" charset="0"/>
              </a:rPr>
              <a:t>COMMUNICATIONS</a:t>
            </a:r>
          </a:p>
        </p:txBody>
      </p:sp>
      <p:sp>
        <p:nvSpPr>
          <p:cNvPr id="40" name="Rectangle 39">
            <a:extLst>
              <a:ext uri="{FF2B5EF4-FFF2-40B4-BE49-F238E27FC236}">
                <a16:creationId xmlns:a16="http://schemas.microsoft.com/office/drawing/2014/main" id="{88A7CE45-A9E7-441C-B7A6-885447FE6AC0}"/>
              </a:ext>
            </a:extLst>
          </p:cNvPr>
          <p:cNvSpPr/>
          <p:nvPr/>
        </p:nvSpPr>
        <p:spPr>
          <a:xfrm>
            <a:off x="3382955" y="2606009"/>
            <a:ext cx="2260800" cy="433035"/>
          </a:xfrm>
          <a:prstGeom prst="rect">
            <a:avLst/>
          </a:prstGeom>
          <a:solidFill>
            <a:schemeClr val="bg1"/>
          </a:solidFill>
          <a:ln w="9525">
            <a:solidFill>
              <a:srgbClr val="7A1F5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a:solidFill>
                  <a:srgbClr val="7A1F5E"/>
                </a:solidFill>
                <a:latin typeface="Arial" panose="020B0604020202020204" pitchFamily="34" charset="0"/>
                <a:cs typeface="Arial" panose="020B0604020202020204" pitchFamily="34" charset="0"/>
              </a:rPr>
              <a:t>Vivendi SE (29.6 %)</a:t>
            </a:r>
            <a:r>
              <a:rPr lang="fr-FR" sz="900" b="1" baseline="30000">
                <a:solidFill>
                  <a:srgbClr val="7A1F5E"/>
                </a:solidFill>
                <a:latin typeface="Arial" panose="020B0604020202020204" pitchFamily="34" charset="0"/>
                <a:cs typeface="Arial" panose="020B0604020202020204" pitchFamily="34" charset="0"/>
              </a:rPr>
              <a:t>(4)</a:t>
            </a:r>
            <a:r>
              <a:rPr lang="fr-FR" sz="900" b="1">
                <a:solidFill>
                  <a:srgbClr val="7A1F5E"/>
                </a:solidFill>
                <a:latin typeface="Arial" panose="020B0604020202020204" pitchFamily="34" charset="0"/>
                <a:cs typeface="Arial" panose="020B0604020202020204" pitchFamily="34" charset="0"/>
              </a:rPr>
              <a:t> </a:t>
            </a:r>
          </a:p>
        </p:txBody>
      </p:sp>
      <p:sp>
        <p:nvSpPr>
          <p:cNvPr id="46" name="Rectangle 45">
            <a:extLst>
              <a:ext uri="{FF2B5EF4-FFF2-40B4-BE49-F238E27FC236}">
                <a16:creationId xmlns:a16="http://schemas.microsoft.com/office/drawing/2014/main" id="{CE9FEE24-529A-49A6-B86D-5E53AEC2DB25}"/>
              </a:ext>
            </a:extLst>
          </p:cNvPr>
          <p:cNvSpPr/>
          <p:nvPr/>
        </p:nvSpPr>
        <p:spPr>
          <a:xfrm>
            <a:off x="5965200" y="3747112"/>
            <a:ext cx="2656024" cy="433553"/>
          </a:xfrm>
          <a:prstGeom prst="rect">
            <a:avLst/>
          </a:prstGeom>
          <a:noFill/>
          <a:ln w="12700">
            <a:solidFill>
              <a:srgbClr val="5C82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900" err="1">
              <a:solidFill>
                <a:srgbClr val="1C8CA6"/>
              </a:solidFill>
              <a:latin typeface="Arial" panose="020B0604020202020204" pitchFamily="34" charset="0"/>
              <a:cs typeface="Arial" panose="020B0604020202020204" pitchFamily="34" charset="0"/>
            </a:endParaRPr>
          </a:p>
        </p:txBody>
      </p:sp>
      <p:sp>
        <p:nvSpPr>
          <p:cNvPr id="47" name="ZoneTexte 46">
            <a:extLst>
              <a:ext uri="{FF2B5EF4-FFF2-40B4-BE49-F238E27FC236}">
                <a16:creationId xmlns:a16="http://schemas.microsoft.com/office/drawing/2014/main" id="{2C4B451F-8A0A-412F-B31F-944C931E8C70}"/>
              </a:ext>
            </a:extLst>
          </p:cNvPr>
          <p:cNvSpPr txBox="1"/>
          <p:nvPr/>
        </p:nvSpPr>
        <p:spPr>
          <a:xfrm>
            <a:off x="5965200" y="3755232"/>
            <a:ext cx="2656024" cy="221708"/>
          </a:xfrm>
          <a:prstGeom prst="rect">
            <a:avLst/>
          </a:prstGeom>
          <a:solidFill>
            <a:srgbClr val="5C82A0"/>
          </a:solidFill>
          <a:ln w="9525">
            <a:noFill/>
          </a:ln>
        </p:spPr>
        <p:txBody>
          <a:bodyPr vert="horz" wrap="none" lIns="91440" tIns="45720" rIns="91440" bIns="45720" rtlCol="0">
            <a:noAutofit/>
          </a:bodyPr>
          <a:lstStyle/>
          <a:p>
            <a:pPr algn="ctr"/>
            <a:r>
              <a:rPr lang="fr-FR" sz="1000" b="1">
                <a:solidFill>
                  <a:schemeClr val="bg1"/>
                </a:solidFill>
                <a:latin typeface="Arial" panose="020B0604020202020204" pitchFamily="34" charset="0"/>
                <a:cs typeface="Arial" panose="020B0604020202020204" pitchFamily="34" charset="0"/>
              </a:rPr>
              <a:t>OTHER ASSETS</a:t>
            </a:r>
          </a:p>
        </p:txBody>
      </p:sp>
      <p:sp>
        <p:nvSpPr>
          <p:cNvPr id="48" name="Rectangle 47">
            <a:extLst>
              <a:ext uri="{FF2B5EF4-FFF2-40B4-BE49-F238E27FC236}">
                <a16:creationId xmlns:a16="http://schemas.microsoft.com/office/drawing/2014/main" id="{42CF252F-6113-4514-8923-58A071220273}"/>
              </a:ext>
            </a:extLst>
          </p:cNvPr>
          <p:cNvSpPr/>
          <p:nvPr/>
        </p:nvSpPr>
        <p:spPr>
          <a:xfrm>
            <a:off x="6374224" y="3984027"/>
            <a:ext cx="2014200" cy="1648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a:solidFill>
                  <a:srgbClr val="5C82A0"/>
                </a:solidFill>
                <a:latin typeface="Arial" panose="020B0604020202020204" pitchFamily="34" charset="0"/>
                <a:cs typeface="Arial" panose="020B0604020202020204" pitchFamily="34" charset="0"/>
              </a:rPr>
              <a:t>Portfolio of </a:t>
            </a:r>
            <a:r>
              <a:rPr lang="fr-FR" sz="900" b="1" err="1">
                <a:solidFill>
                  <a:srgbClr val="5C82A0"/>
                </a:solidFill>
                <a:latin typeface="Arial" panose="020B0604020202020204" pitchFamily="34" charset="0"/>
                <a:cs typeface="Arial" panose="020B0604020202020204" pitchFamily="34" charset="0"/>
              </a:rPr>
              <a:t>equity</a:t>
            </a:r>
            <a:r>
              <a:rPr lang="fr-FR" sz="900" b="1">
                <a:solidFill>
                  <a:srgbClr val="5C82A0"/>
                </a:solidFill>
                <a:latin typeface="Arial" panose="020B0604020202020204" pitchFamily="34" charset="0"/>
                <a:cs typeface="Arial" panose="020B0604020202020204" pitchFamily="34" charset="0"/>
              </a:rPr>
              <a:t> </a:t>
            </a:r>
            <a:r>
              <a:rPr lang="fr-FR" sz="900" b="1" err="1">
                <a:solidFill>
                  <a:srgbClr val="5C82A0"/>
                </a:solidFill>
                <a:latin typeface="Arial" panose="020B0604020202020204" pitchFamily="34" charset="0"/>
                <a:cs typeface="Arial" panose="020B0604020202020204" pitchFamily="34" charset="0"/>
              </a:rPr>
              <a:t>investments</a:t>
            </a:r>
            <a:endParaRPr lang="fr-FR" sz="900" b="1">
              <a:solidFill>
                <a:srgbClr val="5C82A0"/>
              </a:solidFill>
              <a:latin typeface="Arial" panose="020B0604020202020204" pitchFamily="34" charset="0"/>
              <a:cs typeface="Arial" panose="020B0604020202020204" pitchFamily="34" charset="0"/>
            </a:endParaRPr>
          </a:p>
        </p:txBody>
      </p:sp>
      <p:cxnSp>
        <p:nvCxnSpPr>
          <p:cNvPr id="49" name="Connecteur droit 48">
            <a:extLst>
              <a:ext uri="{FF2B5EF4-FFF2-40B4-BE49-F238E27FC236}">
                <a16:creationId xmlns:a16="http://schemas.microsoft.com/office/drawing/2014/main" id="{C98F7B9A-8F8D-4495-BF3A-CEA0EC7B75E2}"/>
              </a:ext>
            </a:extLst>
          </p:cNvPr>
          <p:cNvCxnSpPr>
            <a:cxnSpLocks/>
          </p:cNvCxnSpPr>
          <p:nvPr/>
        </p:nvCxnSpPr>
        <p:spPr>
          <a:xfrm flipV="1">
            <a:off x="330201" y="2142983"/>
            <a:ext cx="8327237" cy="27561"/>
          </a:xfrm>
          <a:prstGeom prst="line">
            <a:avLst/>
          </a:prstGeom>
          <a:ln w="15875">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50" name="ZoneTexte 49">
            <a:extLst>
              <a:ext uri="{FF2B5EF4-FFF2-40B4-BE49-F238E27FC236}">
                <a16:creationId xmlns:a16="http://schemas.microsoft.com/office/drawing/2014/main" id="{BA50312D-D648-4301-A743-57B3D60FFCB8}"/>
              </a:ext>
            </a:extLst>
          </p:cNvPr>
          <p:cNvSpPr txBox="1"/>
          <p:nvPr/>
        </p:nvSpPr>
        <p:spPr>
          <a:xfrm>
            <a:off x="330201" y="4372040"/>
            <a:ext cx="8412355" cy="760370"/>
          </a:xfrm>
          <a:prstGeom prst="rect">
            <a:avLst/>
          </a:prstGeom>
        </p:spPr>
        <p:txBody>
          <a:bodyPr vert="horz" wrap="square" lIns="91440" tIns="45720" rIns="91440" bIns="45720" rtlCol="0">
            <a:noAutofit/>
          </a:bodyPr>
          <a:lstStyle/>
          <a:p>
            <a:pPr marL="180975" indent="-180975">
              <a:tabLst>
                <a:tab pos="268288" algn="l"/>
              </a:tabLst>
            </a:pPr>
            <a:r>
              <a:rPr lang="fr-FR" sz="600">
                <a:latin typeface="Arial" panose="020B0604020202020204" pitchFamily="34" charset="0"/>
                <a:cs typeface="Arial" panose="020B0604020202020204" pitchFamily="34" charset="0"/>
              </a:rPr>
              <a:t>(*)	</a:t>
            </a:r>
            <a:r>
              <a:rPr lang="en-US" sz="600">
                <a:latin typeface="Arial" panose="020B0604020202020204" pitchFamily="34" charset="0"/>
                <a:cs typeface="Arial" panose="020B0604020202020204" pitchFamily="34" charset="0"/>
              </a:rPr>
              <a:t>The Bolloré Africa Logistics activity was sold on December 21, 2022 and the rest of the Group's Transport and Logistics activities, intended to be sold since May 8, 2023, have been restated in the Group's consolidated financial statements in accordance with IFRS 5.</a:t>
            </a:r>
            <a:endParaRPr lang="fr-FR" sz="600">
              <a:latin typeface="Arial" panose="020B0604020202020204" pitchFamily="34" charset="0"/>
              <a:cs typeface="Arial" panose="020B0604020202020204" pitchFamily="34" charset="0"/>
            </a:endParaRPr>
          </a:p>
          <a:p>
            <a:pPr marL="228600" indent="-228600">
              <a:buAutoNum type="arabicParenBoth"/>
            </a:pPr>
            <a:r>
              <a:rPr lang="en-GB" sz="600">
                <a:latin typeface="Arial" panose="020B0604020202020204" pitchFamily="34" charset="0"/>
                <a:cs typeface="Arial" panose="020B0604020202020204" pitchFamily="34" charset="0"/>
              </a:rPr>
              <a:t>Directly by Sofibol and holdings controlled by Bolloré Participations SE (Bolloré family).</a:t>
            </a:r>
          </a:p>
          <a:p>
            <a:pPr marL="228600" indent="-228600" algn="l">
              <a:buAutoNum type="arabicParenBoth"/>
            </a:pPr>
            <a:r>
              <a:rPr lang="en-GB" sz="600">
                <a:latin typeface="Arial" panose="020B0604020202020204" pitchFamily="34" charset="0"/>
                <a:cs typeface="Arial" panose="020B0604020202020204" pitchFamily="34" charset="0"/>
              </a:rPr>
              <a:t>Companies controlled by Bolloré SE.</a:t>
            </a:r>
          </a:p>
          <a:p>
            <a:pPr marL="228600" indent="-228600">
              <a:buAutoNum type="arabicParenBoth"/>
            </a:pPr>
            <a:r>
              <a:rPr lang="en-GB" sz="600">
                <a:latin typeface="Arial" panose="020B0604020202020204" pitchFamily="34" charset="0"/>
                <a:cs typeface="Arial" panose="020B0604020202020204" pitchFamily="34" charset="0"/>
              </a:rPr>
              <a:t>Including 0.5% by Bolloré SE subsidiaries and 3.4% of treasury shares.</a:t>
            </a:r>
          </a:p>
          <a:p>
            <a:pPr marL="228600" indent="-228600" algn="l">
              <a:buAutoNum type="arabicParenBoth"/>
            </a:pPr>
            <a:r>
              <a:rPr lang="en-GB" sz="600">
                <a:latin typeface="Arial" panose="020B0604020202020204" pitchFamily="34" charset="0"/>
                <a:cs typeface="Arial" panose="020B0604020202020204" pitchFamily="34" charset="0"/>
              </a:rPr>
              <a:t>29.0% by Compagnie de Cornouaille, a wholly-owned subsidiary of Bolloré SE and 0.5% by Compagnie de l’Odet.</a:t>
            </a:r>
          </a:p>
          <a:p>
            <a:pPr marL="228600" indent="-228600">
              <a:buAutoNum type="arabicParenBoth"/>
            </a:pPr>
            <a:r>
              <a:rPr lang="en-GB" sz="600">
                <a:latin typeface="Arial" panose="020B0604020202020204" pitchFamily="34" charset="0"/>
                <a:cs typeface="Arial" panose="020B0604020202020204" pitchFamily="34" charset="0"/>
              </a:rPr>
              <a:t>18.10% by Compagnie de Cornouaille, a wholly-owned subsidiary of Bolloré SE, 0.33% by Compagnie de l’Odet and 9.98% by Vivendi SE.</a:t>
            </a:r>
          </a:p>
        </p:txBody>
      </p:sp>
      <p:sp>
        <p:nvSpPr>
          <p:cNvPr id="53" name="ZoneTexte 52">
            <a:extLst>
              <a:ext uri="{FF2B5EF4-FFF2-40B4-BE49-F238E27FC236}">
                <a16:creationId xmlns:a16="http://schemas.microsoft.com/office/drawing/2014/main" id="{10A7FE6A-A000-4243-A301-2F9939F80E48}"/>
              </a:ext>
            </a:extLst>
          </p:cNvPr>
          <p:cNvSpPr txBox="1"/>
          <p:nvPr/>
        </p:nvSpPr>
        <p:spPr>
          <a:xfrm>
            <a:off x="3383040" y="3154836"/>
            <a:ext cx="2260800" cy="401007"/>
          </a:xfrm>
          <a:prstGeom prst="rect">
            <a:avLst/>
          </a:prstGeom>
          <a:solidFill>
            <a:schemeClr val="bg1"/>
          </a:solidFill>
          <a:ln w="9525">
            <a:solidFill>
              <a:srgbClr val="7A1F5E"/>
            </a:solidFill>
          </a:ln>
        </p:spPr>
        <p:txBody>
          <a:bodyPr vert="horz" wrap="none" lIns="91440" tIns="45720" rIns="91440" bIns="45720" rtlCol="0">
            <a:noAutofit/>
          </a:bodyPr>
          <a:lstStyle/>
          <a:p>
            <a:pPr algn="ctr"/>
            <a:r>
              <a:rPr lang="fr-FR" sz="900" b="1">
                <a:solidFill>
                  <a:srgbClr val="7A1F5E"/>
                </a:solidFill>
                <a:latin typeface="Arial" panose="020B0604020202020204" pitchFamily="34" charset="0"/>
                <a:cs typeface="Arial" panose="020B0604020202020204" pitchFamily="34" charset="0"/>
              </a:rPr>
              <a:t>Universal Music Group (28.4 %)</a:t>
            </a:r>
            <a:r>
              <a:rPr lang="fr-FR" sz="900" b="1" baseline="30000">
                <a:solidFill>
                  <a:srgbClr val="7A1F5E"/>
                </a:solidFill>
                <a:latin typeface="Arial" panose="020B0604020202020204" pitchFamily="34" charset="0"/>
                <a:cs typeface="Arial" panose="020B0604020202020204" pitchFamily="34" charset="0"/>
              </a:rPr>
              <a:t>(5)</a:t>
            </a:r>
          </a:p>
        </p:txBody>
      </p:sp>
      <p:sp>
        <p:nvSpPr>
          <p:cNvPr id="43" name="Rectangle 42">
            <a:extLst>
              <a:ext uri="{FF2B5EF4-FFF2-40B4-BE49-F238E27FC236}">
                <a16:creationId xmlns:a16="http://schemas.microsoft.com/office/drawing/2014/main" id="{B610DBF8-466E-43BC-BA1A-AFA2936F47C5}"/>
              </a:ext>
            </a:extLst>
          </p:cNvPr>
          <p:cNvSpPr/>
          <p:nvPr/>
        </p:nvSpPr>
        <p:spPr>
          <a:xfrm>
            <a:off x="6171599" y="2962201"/>
            <a:ext cx="2261371" cy="255600"/>
          </a:xfrm>
          <a:prstGeom prst="rect">
            <a:avLst/>
          </a:prstGeom>
          <a:solidFill>
            <a:schemeClr val="bg1"/>
          </a:solidFill>
          <a:ln w="6350">
            <a:solidFill>
              <a:srgbClr val="0095D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a:solidFill>
                  <a:srgbClr val="0095DB"/>
                </a:solidFill>
                <a:latin typeface="Arial" panose="020B0604020202020204" pitchFamily="34" charset="0"/>
                <a:cs typeface="Arial" panose="020B0604020202020204" pitchFamily="34" charset="0"/>
              </a:rPr>
              <a:t>Films</a:t>
            </a:r>
          </a:p>
        </p:txBody>
      </p:sp>
      <p:sp>
        <p:nvSpPr>
          <p:cNvPr id="45" name="Rectangle 44">
            <a:extLst>
              <a:ext uri="{FF2B5EF4-FFF2-40B4-BE49-F238E27FC236}">
                <a16:creationId xmlns:a16="http://schemas.microsoft.com/office/drawing/2014/main" id="{2ADF277D-FA38-42D0-8C4F-34EAAEBC7762}"/>
              </a:ext>
            </a:extLst>
          </p:cNvPr>
          <p:cNvSpPr/>
          <p:nvPr/>
        </p:nvSpPr>
        <p:spPr>
          <a:xfrm>
            <a:off x="6171599" y="2624159"/>
            <a:ext cx="2261371" cy="255600"/>
          </a:xfrm>
          <a:prstGeom prst="rect">
            <a:avLst/>
          </a:prstGeom>
          <a:solidFill>
            <a:schemeClr val="bg1"/>
          </a:solidFill>
          <a:ln w="6350">
            <a:solidFill>
              <a:srgbClr val="0095D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a:solidFill>
                  <a:srgbClr val="0095DB"/>
                </a:solidFill>
                <a:latin typeface="Arial" panose="020B0604020202020204" pitchFamily="34" charset="0"/>
                <a:cs typeface="Arial" panose="020B0604020202020204" pitchFamily="34" charset="0"/>
              </a:rPr>
              <a:t>Blue</a:t>
            </a:r>
          </a:p>
        </p:txBody>
      </p:sp>
      <p:sp>
        <p:nvSpPr>
          <p:cNvPr id="54" name="ZoneTexte 53">
            <a:extLst>
              <a:ext uri="{FF2B5EF4-FFF2-40B4-BE49-F238E27FC236}">
                <a16:creationId xmlns:a16="http://schemas.microsoft.com/office/drawing/2014/main" id="{5FD22681-4B23-4538-86EC-E560BF4FAE8D}"/>
              </a:ext>
            </a:extLst>
          </p:cNvPr>
          <p:cNvSpPr txBox="1"/>
          <p:nvPr/>
        </p:nvSpPr>
        <p:spPr>
          <a:xfrm>
            <a:off x="363383" y="3007338"/>
            <a:ext cx="2656800" cy="236597"/>
          </a:xfrm>
          <a:prstGeom prst="rect">
            <a:avLst/>
          </a:prstGeom>
          <a:solidFill>
            <a:schemeClr val="bg1">
              <a:lumMod val="75000"/>
            </a:schemeClr>
          </a:solidFill>
        </p:spPr>
        <p:txBody>
          <a:bodyPr vert="horz" wrap="none" lIns="91440" tIns="45720" rIns="91440" bIns="45720" rtlCol="0">
            <a:noAutofit/>
          </a:bodyPr>
          <a:lstStyle/>
          <a:p>
            <a:pPr algn="ctr"/>
            <a:r>
              <a:rPr lang="fr-FR" sz="1000" b="1">
                <a:solidFill>
                  <a:schemeClr val="bg1"/>
                </a:solidFill>
                <a:latin typeface="Arial" panose="020B0604020202020204" pitchFamily="34" charset="0"/>
                <a:cs typeface="Arial" panose="020B0604020202020204" pitchFamily="34" charset="0"/>
              </a:rPr>
              <a:t>TRANSPORTATION AND LOGISTICS*</a:t>
            </a:r>
          </a:p>
        </p:txBody>
      </p:sp>
      <p:sp>
        <p:nvSpPr>
          <p:cNvPr id="55" name="Rectangle 54">
            <a:extLst>
              <a:ext uri="{FF2B5EF4-FFF2-40B4-BE49-F238E27FC236}">
                <a16:creationId xmlns:a16="http://schemas.microsoft.com/office/drawing/2014/main" id="{45CBF812-BD7F-43B8-9444-98AB9EF48CCE}"/>
              </a:ext>
            </a:extLst>
          </p:cNvPr>
          <p:cNvSpPr/>
          <p:nvPr/>
        </p:nvSpPr>
        <p:spPr>
          <a:xfrm>
            <a:off x="651081" y="3272935"/>
            <a:ext cx="2260800" cy="324000"/>
          </a:xfrm>
          <a:prstGeom prst="rect">
            <a:avLst/>
          </a:prstGeom>
          <a:solidFill>
            <a:schemeClr val="bg1">
              <a:lumMod val="95000"/>
            </a:schemeClr>
          </a:solidFill>
          <a:ln w="6350">
            <a:solidFill>
              <a:srgbClr val="0D89A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a:solidFill>
                  <a:srgbClr val="0D89A6"/>
                </a:solidFill>
                <a:latin typeface="Arial" panose="020B0604020202020204" pitchFamily="34" charset="0"/>
                <a:cs typeface="Arial" panose="020B0604020202020204" pitchFamily="34" charset="0"/>
              </a:rPr>
              <a:t>Bolloré Logistics </a:t>
            </a:r>
          </a:p>
          <a:p>
            <a:pPr algn="ctr"/>
            <a:r>
              <a:rPr lang="fr-FR" sz="900" b="1">
                <a:solidFill>
                  <a:srgbClr val="0D89A6"/>
                </a:solidFill>
                <a:latin typeface="Arial" panose="020B0604020202020204" pitchFamily="34" charset="0"/>
                <a:cs typeface="Arial" panose="020B0604020202020204" pitchFamily="34" charset="0"/>
              </a:rPr>
              <a:t>(in the process of </a:t>
            </a:r>
            <a:r>
              <a:rPr lang="fr-FR" sz="900" b="1" err="1">
                <a:solidFill>
                  <a:srgbClr val="0D89A6"/>
                </a:solidFill>
                <a:latin typeface="Arial" panose="020B0604020202020204" pitchFamily="34" charset="0"/>
                <a:cs typeface="Arial" panose="020B0604020202020204" pitchFamily="34" charset="0"/>
              </a:rPr>
              <a:t>being</a:t>
            </a:r>
            <a:r>
              <a:rPr lang="fr-FR" sz="900" b="1">
                <a:solidFill>
                  <a:srgbClr val="0D89A6"/>
                </a:solidFill>
                <a:latin typeface="Arial" panose="020B0604020202020204" pitchFamily="34" charset="0"/>
                <a:cs typeface="Arial" panose="020B0604020202020204" pitchFamily="34" charset="0"/>
              </a:rPr>
              <a:t> </a:t>
            </a:r>
            <a:r>
              <a:rPr lang="fr-FR" sz="900" b="1" err="1">
                <a:solidFill>
                  <a:srgbClr val="0D89A6"/>
                </a:solidFill>
                <a:latin typeface="Arial" panose="020B0604020202020204" pitchFamily="34" charset="0"/>
                <a:cs typeface="Arial" panose="020B0604020202020204" pitchFamily="34" charset="0"/>
              </a:rPr>
              <a:t>sold</a:t>
            </a:r>
            <a:r>
              <a:rPr lang="fr-FR" sz="900" b="1">
                <a:solidFill>
                  <a:srgbClr val="0D89A6"/>
                </a:solidFill>
                <a:latin typeface="Arial" panose="020B0604020202020204" pitchFamily="34" charset="0"/>
                <a:cs typeface="Arial" panose="020B0604020202020204" pitchFamily="34" charset="0"/>
              </a:rPr>
              <a:t>)</a:t>
            </a:r>
          </a:p>
        </p:txBody>
      </p:sp>
      <p:sp>
        <p:nvSpPr>
          <p:cNvPr id="56" name="Rectangle 55">
            <a:extLst>
              <a:ext uri="{FF2B5EF4-FFF2-40B4-BE49-F238E27FC236}">
                <a16:creationId xmlns:a16="http://schemas.microsoft.com/office/drawing/2014/main" id="{49A76D2F-DC12-45C4-A1E1-416C5959948C}"/>
              </a:ext>
            </a:extLst>
          </p:cNvPr>
          <p:cNvSpPr/>
          <p:nvPr/>
        </p:nvSpPr>
        <p:spPr>
          <a:xfrm>
            <a:off x="371829" y="3007513"/>
            <a:ext cx="2656800" cy="647983"/>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900">
              <a:solidFill>
                <a:srgbClr val="1C8CA6"/>
              </a:solidFill>
              <a:latin typeface="Arial" panose="020B0604020202020204" pitchFamily="34" charset="0"/>
              <a:cs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id="{8750BCEA-6605-474D-B825-5C00C2623339}"/>
              </a:ext>
            </a:extLst>
          </p:cNvPr>
          <p:cNvSpPr>
            <a:spLocks noGrp="1"/>
          </p:cNvSpPr>
          <p:nvPr>
            <p:ph type="sldNum" sz="quarter" idx="12"/>
          </p:nvPr>
        </p:nvSpPr>
        <p:spPr/>
        <p:txBody>
          <a:bodyPr/>
          <a:lstStyle/>
          <a:p>
            <a:fld id="{304318A0-AD76-4461-B655-8B1A266EB0A2}" type="slidenum">
              <a:rPr lang="fr-FR" smtClean="0"/>
              <a:t>9</a:t>
            </a:fld>
            <a:endParaRPr lang="fr-FR"/>
          </a:p>
        </p:txBody>
      </p:sp>
    </p:spTree>
    <p:extLst>
      <p:ext uri="{BB962C8B-B14F-4D97-AF65-F5344CB8AC3E}">
        <p14:creationId xmlns:p14="http://schemas.microsoft.com/office/powerpoint/2010/main" val="1030138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20651" y="163176"/>
            <a:ext cx="6251549" cy="320400"/>
          </a:xfrm>
        </p:spPr>
        <p:txBody>
          <a:bodyPr vert="horz" lIns="91440" tIns="0" rIns="91440" bIns="0" rtlCol="0" anchor="t">
            <a:noAutofit/>
          </a:bodyPr>
          <a:lstStyle/>
          <a:p>
            <a:r>
              <a:rPr lang="en-US" sz="1800"/>
              <a:t>First half 2023 Results</a:t>
            </a:r>
          </a:p>
        </p:txBody>
      </p:sp>
      <p:sp>
        <p:nvSpPr>
          <p:cNvPr id="14" name="Espace réservé du texte 13"/>
          <p:cNvSpPr>
            <a:spLocks noGrp="1"/>
          </p:cNvSpPr>
          <p:nvPr>
            <p:ph type="body" sz="quarter" idx="13"/>
          </p:nvPr>
        </p:nvSpPr>
        <p:spPr>
          <a:xfrm>
            <a:off x="120651" y="502900"/>
            <a:ext cx="6251549" cy="215900"/>
          </a:xfrm>
        </p:spPr>
        <p:txBody>
          <a:bodyPr>
            <a:normAutofit fontScale="92500" lnSpcReduction="20000"/>
          </a:bodyPr>
          <a:lstStyle/>
          <a:p>
            <a:endParaRPr lang="en-US"/>
          </a:p>
        </p:txBody>
      </p:sp>
      <p:sp>
        <p:nvSpPr>
          <p:cNvPr id="6" name="ZoneTexte 5"/>
          <p:cNvSpPr txBox="1"/>
          <p:nvPr/>
        </p:nvSpPr>
        <p:spPr>
          <a:xfrm>
            <a:off x="4716016" y="4443958"/>
            <a:ext cx="1224136" cy="99285"/>
          </a:xfrm>
          <a:prstGeom prst="rect">
            <a:avLst/>
          </a:prstGeom>
        </p:spPr>
        <p:txBody>
          <a:bodyPr vert="horz" wrap="square" lIns="91440" tIns="45720" rIns="91440" bIns="45720" rtlCol="0">
            <a:noAutofit/>
          </a:bodyPr>
          <a:lstStyle/>
          <a:p>
            <a:pPr algn="l"/>
            <a:endParaRPr lang="en-US" sz="1200" b="1">
              <a:solidFill>
                <a:srgbClr val="007BC0"/>
              </a:solidFill>
              <a:latin typeface="+mj-lt"/>
            </a:endParaRPr>
          </a:p>
        </p:txBody>
      </p:sp>
      <p:sp>
        <p:nvSpPr>
          <p:cNvPr id="8" name="Rectangle 7">
            <a:extLst>
              <a:ext uri="{FF2B5EF4-FFF2-40B4-BE49-F238E27FC236}">
                <a16:creationId xmlns:a16="http://schemas.microsoft.com/office/drawing/2014/main" id="{1971F676-C40F-4AE2-B80A-875BB6C21222}"/>
              </a:ext>
            </a:extLst>
          </p:cNvPr>
          <p:cNvSpPr/>
          <p:nvPr/>
        </p:nvSpPr>
        <p:spPr>
          <a:xfrm>
            <a:off x="229331" y="4293118"/>
            <a:ext cx="8323950" cy="630942"/>
          </a:xfrm>
          <a:prstGeom prst="rect">
            <a:avLst/>
          </a:prstGeom>
        </p:spPr>
        <p:txBody>
          <a:bodyPr wrap="square">
            <a:spAutoFit/>
          </a:bodyPr>
          <a:lstStyle/>
          <a:p>
            <a:pPr marL="177800" indent="-177800">
              <a:spcBef>
                <a:spcPts val="300"/>
              </a:spcBef>
            </a:pPr>
            <a:r>
              <a:rPr lang="en-US" sz="600">
                <a:latin typeface="Arial" panose="020B0604020202020204" pitchFamily="34" charset="0"/>
                <a:cs typeface="Arial" panose="020B0604020202020204" pitchFamily="34" charset="0"/>
              </a:rPr>
              <a:t>(*)     In accordance with IFRS 5 and to ensure the comparability of results, reclassifications into discontinued operations or held for sale include: (</a:t>
            </a:r>
            <a:r>
              <a:rPr lang="en-US" sz="600" err="1">
                <a:latin typeface="Arial" panose="020B0604020202020204" pitchFamily="34" charset="0"/>
                <a:cs typeface="Arial" panose="020B0604020202020204" pitchFamily="34" charset="0"/>
              </a:rPr>
              <a:t>i</a:t>
            </a:r>
            <a:r>
              <a:rPr lang="en-US" sz="600">
                <a:latin typeface="Arial" panose="020B0604020202020204" pitchFamily="34" charset="0"/>
                <a:cs typeface="Arial" panose="020B0604020202020204" pitchFamily="34" charset="0"/>
              </a:rPr>
              <a:t>) Bolloré Africa Logistics for the 2022 financial year (activity sold on December 21, 2022); (ii) Editis for the 2022 and 2023 financial years (as of June 21, 2023, Editis is deconsolidated, following the loss of control); (iii) Bolloré Logistics for the 2022 and 2023 financial years (activity intended to be sold since May 8, 2023).</a:t>
            </a:r>
            <a:endParaRPr lang="en-US" sz="600">
              <a:highlight>
                <a:srgbClr val="FFFF00"/>
              </a:highlight>
              <a:latin typeface="Arial" panose="020B0604020202020204" pitchFamily="34" charset="0"/>
              <a:cs typeface="Arial" panose="020B0604020202020204" pitchFamily="34" charset="0"/>
            </a:endParaRPr>
          </a:p>
          <a:p>
            <a:pPr marL="180975" indent="-180975">
              <a:spcBef>
                <a:spcPts val="300"/>
              </a:spcBef>
              <a:buAutoNum type="arabicParenBoth"/>
              <a:tabLst>
                <a:tab pos="177800" algn="l"/>
              </a:tabLst>
            </a:pPr>
            <a:r>
              <a:rPr lang="en-US" sz="600">
                <a:latin typeface="Arial" panose="020B0604020202020204" pitchFamily="34" charset="0"/>
                <a:cs typeface="Arial" panose="020B0604020202020204" pitchFamily="34" charset="0"/>
              </a:rPr>
              <a:t>Adjusted operating income (EBITA): see glossary</a:t>
            </a:r>
          </a:p>
          <a:p>
            <a:pPr marL="180975" indent="-180975">
              <a:spcBef>
                <a:spcPts val="300"/>
              </a:spcBef>
              <a:buAutoNum type="arabicParenBoth"/>
              <a:tabLst>
                <a:tab pos="177800" algn="l"/>
              </a:tabLst>
            </a:pPr>
            <a:r>
              <a:rPr lang="en-US" sz="600">
                <a:latin typeface="Arial" panose="020B0604020202020204" pitchFamily="34" charset="0"/>
                <a:cs typeface="Arial" panose="020B0604020202020204" pitchFamily="34" charset="0"/>
              </a:rPr>
              <a:t>Including for the first half of 2023, the contributions of UMG (€26 million) and Lagardère (€26 million) accounted for using the operating equity method at Vivendi and the contribution of UMG accounted for using the operating equity method at Bolloré (€46 million), compared to €126 million in the first half of 2022.</a:t>
            </a:r>
          </a:p>
        </p:txBody>
      </p:sp>
      <p:pic>
        <p:nvPicPr>
          <p:cNvPr id="9" name="Image 8">
            <a:extLst>
              <a:ext uri="{FF2B5EF4-FFF2-40B4-BE49-F238E27FC236}">
                <a16:creationId xmlns:a16="http://schemas.microsoft.com/office/drawing/2014/main" id="{9AC93A35-302D-49A3-95CD-B9AD6611C6EF}"/>
              </a:ext>
            </a:extLst>
          </p:cNvPr>
          <p:cNvPicPr>
            <a:picLocks noChangeAspect="1"/>
          </p:cNvPicPr>
          <p:nvPr>
            <p:custDataLst>
              <p:tags r:id="rId2"/>
            </p:custDataLst>
          </p:nvPr>
        </p:nvPicPr>
        <p:blipFill>
          <a:blip r:embed="rId4"/>
          <a:stretch>
            <a:fillRect/>
          </a:stretch>
        </p:blipFill>
        <p:spPr>
          <a:xfrm>
            <a:off x="330200" y="886307"/>
            <a:ext cx="6350963" cy="3269619"/>
          </a:xfrm>
          <a:prstGeom prst="rect">
            <a:avLst/>
          </a:prstGeom>
        </p:spPr>
      </p:pic>
      <p:sp>
        <p:nvSpPr>
          <p:cNvPr id="3" name="Espace réservé du numéro de diapositive 2">
            <a:extLst>
              <a:ext uri="{FF2B5EF4-FFF2-40B4-BE49-F238E27FC236}">
                <a16:creationId xmlns:a16="http://schemas.microsoft.com/office/drawing/2014/main" id="{440E289D-435E-4EBA-9C10-86F9B30AEE0D}"/>
              </a:ext>
            </a:extLst>
          </p:cNvPr>
          <p:cNvSpPr>
            <a:spLocks noGrp="1"/>
          </p:cNvSpPr>
          <p:nvPr>
            <p:ph type="sldNum" sz="quarter" idx="12"/>
          </p:nvPr>
        </p:nvSpPr>
        <p:spPr/>
        <p:txBody>
          <a:bodyPr/>
          <a:lstStyle/>
          <a:p>
            <a:fld id="{304318A0-AD76-4461-B655-8B1A266EB0A2}" type="slidenum">
              <a:rPr lang="fr-FR" smtClean="0"/>
              <a:t>10</a:t>
            </a:fld>
            <a:endParaRPr lang="fr-FR"/>
          </a:p>
        </p:txBody>
      </p:sp>
    </p:spTree>
    <p:custDataLst>
      <p:tags r:id="rId1"/>
    </p:custDataLst>
    <p:extLst>
      <p:ext uri="{BB962C8B-B14F-4D97-AF65-F5344CB8AC3E}">
        <p14:creationId xmlns:p14="http://schemas.microsoft.com/office/powerpoint/2010/main" val="2675288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ZoneTexte 61">
            <a:extLst>
              <a:ext uri="{FF2B5EF4-FFF2-40B4-BE49-F238E27FC236}">
                <a16:creationId xmlns:a16="http://schemas.microsoft.com/office/drawing/2014/main" id="{5998CFB7-1745-47E8-8BDA-E18A09A420B9}"/>
              </a:ext>
            </a:extLst>
          </p:cNvPr>
          <p:cNvSpPr txBox="1"/>
          <p:nvPr/>
        </p:nvSpPr>
        <p:spPr>
          <a:xfrm>
            <a:off x="4905829" y="4511730"/>
            <a:ext cx="1956139" cy="551628"/>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noAutofit/>
          </a:bodyPr>
          <a:lstStyle/>
          <a:p>
            <a:pPr>
              <a:defRPr/>
            </a:pPr>
            <a:r>
              <a:rPr lang="fr-FR" sz="700" b="1">
                <a:solidFill>
                  <a:srgbClr val="3A75C4"/>
                </a:solidFill>
                <a:latin typeface="Arial" panose="020B0604020202020204" pitchFamily="34" charset="0"/>
                <a:cs typeface="Arial" panose="020B0604020202020204" pitchFamily="34" charset="0"/>
              </a:rPr>
              <a:t>ECOVADIS</a:t>
            </a:r>
            <a:r>
              <a:rPr lang="fr-FR" sz="700" b="1">
                <a:solidFill>
                  <a:prstClr val="black"/>
                </a:solidFill>
                <a:latin typeface="Arial" panose="020B0604020202020204" pitchFamily="34" charset="0"/>
                <a:cs typeface="Arial" panose="020B0604020202020204" pitchFamily="34" charset="0"/>
              </a:rPr>
              <a:t> - Bolloré </a:t>
            </a:r>
            <a:r>
              <a:rPr lang="fr-FR" sz="700" b="1" err="1">
                <a:solidFill>
                  <a:prstClr val="black"/>
                </a:solidFill>
                <a:latin typeface="Arial" panose="020B0604020202020204" pitchFamily="34" charset="0"/>
                <a:cs typeface="Arial" panose="020B0604020202020204" pitchFamily="34" charset="0"/>
              </a:rPr>
              <a:t>Logistics</a:t>
            </a:r>
            <a:r>
              <a:rPr lang="fr-FR" sz="700" b="1">
                <a:solidFill>
                  <a:prstClr val="black"/>
                </a:solidFill>
                <a:latin typeface="Arial" panose="020B0604020202020204" pitchFamily="34" charset="0"/>
                <a:cs typeface="Arial" panose="020B0604020202020204" pitchFamily="34" charset="0"/>
              </a:rPr>
              <a:t> : </a:t>
            </a:r>
          </a:p>
          <a:p>
            <a:pPr>
              <a:defRPr/>
            </a:pPr>
            <a:r>
              <a:rPr lang="fr-FR" sz="700" b="1">
                <a:solidFill>
                  <a:prstClr val="black"/>
                </a:solidFill>
                <a:latin typeface="Arial" panose="020B0604020202020204" pitchFamily="34" charset="0"/>
                <a:cs typeface="Arial" panose="020B0604020202020204" pitchFamily="34" charset="0"/>
              </a:rPr>
              <a:t>Platinum Medal</a:t>
            </a:r>
            <a:br>
              <a:rPr lang="fr-FR" sz="700" b="1">
                <a:solidFill>
                  <a:prstClr val="black"/>
                </a:solidFill>
                <a:latin typeface="Arial" panose="020B0604020202020204" pitchFamily="34" charset="0"/>
                <a:cs typeface="Arial" panose="020B0604020202020204" pitchFamily="34" charset="0"/>
              </a:rPr>
            </a:br>
            <a:endParaRPr lang="fr-FR" sz="700" b="1">
              <a:solidFill>
                <a:prstClr val="black"/>
              </a:solidFill>
              <a:latin typeface="Arial" panose="020B0604020202020204" pitchFamily="34" charset="0"/>
              <a:cs typeface="Arial" panose="020B0604020202020204" pitchFamily="34" charset="0"/>
            </a:endParaRPr>
          </a:p>
          <a:p>
            <a:pPr>
              <a:defRPr/>
            </a:pPr>
            <a:r>
              <a:rPr lang="fr-FR" sz="700">
                <a:solidFill>
                  <a:schemeClr val="tx1"/>
                </a:solidFill>
                <a:latin typeface="Arial" panose="020B0604020202020204" pitchFamily="34" charset="0"/>
                <a:cs typeface="Arial" panose="020B0604020202020204" pitchFamily="34" charset="0"/>
              </a:rPr>
              <a:t>Score = </a:t>
            </a:r>
            <a:r>
              <a:rPr lang="fr-FR" sz="700" b="1">
                <a:solidFill>
                  <a:srgbClr val="3A75C4"/>
                </a:solidFill>
                <a:latin typeface="Arial" panose="020B0604020202020204" pitchFamily="34" charset="0"/>
                <a:cs typeface="Arial" panose="020B0604020202020204" pitchFamily="34" charset="0"/>
              </a:rPr>
              <a:t>80/100 </a:t>
            </a:r>
            <a:endParaRPr lang="fr-FR" sz="600" b="1">
              <a:solidFill>
                <a:srgbClr val="3A75C4"/>
              </a:solidFill>
              <a:latin typeface="Arial" panose="020B0604020202020204" pitchFamily="34" charset="0"/>
              <a:cs typeface="Arial" panose="020B0604020202020204" pitchFamily="34" charset="0"/>
            </a:endParaRPr>
          </a:p>
          <a:p>
            <a:pPr>
              <a:defRPr/>
            </a:pPr>
            <a:endParaRPr lang="fr-FR" sz="800" b="1">
              <a:solidFill>
                <a:prstClr val="black"/>
              </a:solidFill>
              <a:latin typeface="Arial" panose="020B0604020202020204" pitchFamily="34" charset="0"/>
              <a:cs typeface="Arial" panose="020B0604020202020204" pitchFamily="34" charset="0"/>
            </a:endParaRPr>
          </a:p>
          <a:p>
            <a:pPr>
              <a:defRPr/>
            </a:pPr>
            <a:endParaRPr lang="fr-FR" sz="800" b="1">
              <a:solidFill>
                <a:prstClr val="black"/>
              </a:solidFill>
              <a:latin typeface="Arial" panose="020B0604020202020204" pitchFamily="34" charset="0"/>
              <a:cs typeface="Arial" panose="020B0604020202020204" pitchFamily="34" charset="0"/>
            </a:endParaRPr>
          </a:p>
        </p:txBody>
      </p:sp>
      <p:sp>
        <p:nvSpPr>
          <p:cNvPr id="7" name="Titre 6"/>
          <p:cNvSpPr>
            <a:spLocks noGrp="1"/>
          </p:cNvSpPr>
          <p:nvPr>
            <p:ph type="title"/>
          </p:nvPr>
        </p:nvSpPr>
        <p:spPr>
          <a:xfrm>
            <a:off x="49165" y="100540"/>
            <a:ext cx="8926512" cy="320400"/>
          </a:xfrm>
        </p:spPr>
        <p:txBody>
          <a:bodyPr/>
          <a:lstStyle/>
          <a:p>
            <a:r>
              <a:rPr lang="fr-FR" sz="1800"/>
              <a:t>ESG PERFORMANCE</a:t>
            </a:r>
          </a:p>
        </p:txBody>
      </p:sp>
      <p:sp>
        <p:nvSpPr>
          <p:cNvPr id="20" name="ZoneTexte 19">
            <a:extLst>
              <a:ext uri="{FF2B5EF4-FFF2-40B4-BE49-F238E27FC236}">
                <a16:creationId xmlns:a16="http://schemas.microsoft.com/office/drawing/2014/main" id="{48984580-13AC-41AB-AADD-BF7C94C4E948}"/>
              </a:ext>
            </a:extLst>
          </p:cNvPr>
          <p:cNvSpPr txBox="1"/>
          <p:nvPr/>
        </p:nvSpPr>
        <p:spPr>
          <a:xfrm>
            <a:off x="114726" y="628797"/>
            <a:ext cx="4314277" cy="977191"/>
          </a:xfrm>
          <a:prstGeom prst="rect">
            <a:avLst/>
          </a:prstGeom>
          <a:noFill/>
        </p:spPr>
        <p:txBody>
          <a:bodyPr wrap="square" rtlCol="0">
            <a:spAutoFit/>
          </a:bodyPr>
          <a:lstStyle/>
          <a:p>
            <a:pPr marL="0" lvl="1" indent="0" algn="just">
              <a:spcAft>
                <a:spcPts val="300"/>
              </a:spcAft>
              <a:buClr>
                <a:srgbClr val="3A75C4"/>
              </a:buClr>
              <a:buSzPct val="70000"/>
              <a:buFontTx/>
              <a:buNone/>
              <a:defRPr/>
            </a:pPr>
            <a:r>
              <a:rPr lang="fr-FR" sz="1000" b="1" err="1">
                <a:latin typeface="Arial" panose="020B0604020202020204" pitchFamily="34" charset="0"/>
                <a:ea typeface="Tahoma" pitchFamily="34" charset="0"/>
                <a:cs typeface="Arial" panose="020B0604020202020204" pitchFamily="34" charset="0"/>
              </a:rPr>
              <a:t>Climate</a:t>
            </a:r>
            <a:endParaRPr lang="fr-FR" sz="1000" b="1">
              <a:latin typeface="Arial" panose="020B0604020202020204" pitchFamily="34" charset="0"/>
              <a:ea typeface="Tahoma" pitchFamily="34" charset="0"/>
              <a:cs typeface="Arial" panose="020B0604020202020204" pitchFamily="34" charset="0"/>
            </a:endParaRPr>
          </a:p>
          <a:p>
            <a:pPr marL="180975" lvl="1" indent="-180975" algn="just">
              <a:spcAft>
                <a:spcPts val="300"/>
              </a:spcAft>
              <a:buClr>
                <a:srgbClr val="3A75C4"/>
              </a:buClr>
              <a:buSzPct val="70000"/>
              <a:buFont typeface="Wingdings" panose="05000000000000000000" pitchFamily="2" charset="2"/>
              <a:buChar char="§"/>
              <a:defRPr/>
            </a:pPr>
            <a:r>
              <a:rPr lang="en-US" sz="1000">
                <a:latin typeface="Arial" panose="020B0604020202020204" pitchFamily="34" charset="0"/>
                <a:ea typeface="Tahoma" pitchFamily="34" charset="0"/>
                <a:cs typeface="Arial" panose="020B0604020202020204" pitchFamily="34" charset="0"/>
              </a:rPr>
              <a:t>1</a:t>
            </a:r>
            <a:r>
              <a:rPr lang="en-US" sz="1000" baseline="30000">
                <a:latin typeface="Arial" panose="020B0604020202020204" pitchFamily="34" charset="0"/>
                <a:ea typeface="Tahoma" pitchFamily="34" charset="0"/>
                <a:cs typeface="Arial" panose="020B0604020202020204" pitchFamily="34" charset="0"/>
              </a:rPr>
              <a:t>st</a:t>
            </a:r>
            <a:r>
              <a:rPr lang="en-US" sz="1000">
                <a:latin typeface="Arial" panose="020B0604020202020204" pitchFamily="34" charset="0"/>
                <a:ea typeface="Tahoma" pitchFamily="34" charset="0"/>
                <a:cs typeface="Arial" panose="020B0604020202020204" pitchFamily="34" charset="0"/>
              </a:rPr>
              <a:t> half 2023: work on defining a climate strategy</a:t>
            </a:r>
            <a:r>
              <a:rPr lang="fr-FR" sz="1000">
                <a:latin typeface="Arial" panose="020B0604020202020204" pitchFamily="34" charset="0"/>
                <a:ea typeface="Tahoma" pitchFamily="34" charset="0"/>
                <a:cs typeface="Arial" panose="020B0604020202020204" pitchFamily="34" charset="0"/>
              </a:rPr>
              <a:t>.</a:t>
            </a:r>
          </a:p>
          <a:p>
            <a:pPr marL="0" lvl="1" algn="just">
              <a:spcAft>
                <a:spcPts val="300"/>
              </a:spcAft>
              <a:buClr>
                <a:srgbClr val="3A75C4"/>
              </a:buClr>
              <a:buSzPct val="70000"/>
              <a:defRPr/>
            </a:pPr>
            <a:r>
              <a:rPr lang="fr-FR" sz="1000" b="1" err="1">
                <a:latin typeface="Arial" panose="020B0604020202020204" pitchFamily="34" charset="0"/>
                <a:ea typeface="Tahoma" pitchFamily="34" charset="0"/>
                <a:cs typeface="Arial" panose="020B0604020202020204" pitchFamily="34" charset="0"/>
              </a:rPr>
              <a:t>Taxonomy</a:t>
            </a:r>
            <a:endParaRPr lang="fr-FR" sz="1000" b="1">
              <a:latin typeface="Arial" panose="020B0604020202020204" pitchFamily="34" charset="0"/>
              <a:ea typeface="Tahoma" pitchFamily="34" charset="0"/>
              <a:cs typeface="Arial" panose="020B0604020202020204" pitchFamily="34" charset="0"/>
            </a:endParaRPr>
          </a:p>
          <a:p>
            <a:pPr marL="180975" lvl="1" indent="-180975" algn="just">
              <a:spcAft>
                <a:spcPts val="300"/>
              </a:spcAft>
              <a:buClr>
                <a:srgbClr val="3A75C4"/>
              </a:buClr>
              <a:buSzPct val="70000"/>
              <a:buFont typeface="Wingdings" panose="05000000000000000000" pitchFamily="2" charset="2"/>
              <a:buChar char="§"/>
              <a:defRPr/>
            </a:pPr>
            <a:r>
              <a:rPr lang="en-US" sz="1000">
                <a:latin typeface="Arial" panose="020B0604020202020204" pitchFamily="34" charset="0"/>
                <a:ea typeface="Tahoma" pitchFamily="34" charset="0"/>
                <a:cs typeface="Arial" panose="020B0604020202020204" pitchFamily="34" charset="0"/>
              </a:rPr>
              <a:t>Publication of indicators of eligible and aligned activities according to the taxonomy regulation in the Non-financial performance statement</a:t>
            </a:r>
            <a:r>
              <a:rPr lang="fr-FR" sz="1000">
                <a:latin typeface="Arial" panose="020B0604020202020204" pitchFamily="34" charset="0"/>
                <a:ea typeface="Tahoma" pitchFamily="34" charset="0"/>
                <a:cs typeface="Arial" panose="020B0604020202020204" pitchFamily="34" charset="0"/>
              </a:rPr>
              <a:t>. </a:t>
            </a:r>
          </a:p>
        </p:txBody>
      </p:sp>
      <p:grpSp>
        <p:nvGrpSpPr>
          <p:cNvPr id="4" name="Groupe 3">
            <a:extLst>
              <a:ext uri="{FF2B5EF4-FFF2-40B4-BE49-F238E27FC236}">
                <a16:creationId xmlns:a16="http://schemas.microsoft.com/office/drawing/2014/main" id="{F3ADAF43-0FCC-4CCE-8871-E37F7D8AB8AB}"/>
              </a:ext>
            </a:extLst>
          </p:cNvPr>
          <p:cNvGrpSpPr/>
          <p:nvPr/>
        </p:nvGrpSpPr>
        <p:grpSpPr>
          <a:xfrm>
            <a:off x="120651" y="4650222"/>
            <a:ext cx="4081267" cy="336401"/>
            <a:chOff x="180277" y="4497762"/>
            <a:chExt cx="4440765" cy="378029"/>
          </a:xfrm>
        </p:grpSpPr>
        <p:pic>
          <p:nvPicPr>
            <p:cNvPr id="11" name="Image 10">
              <a:extLst>
                <a:ext uri="{FF2B5EF4-FFF2-40B4-BE49-F238E27FC236}">
                  <a16:creationId xmlns:a16="http://schemas.microsoft.com/office/drawing/2014/main" id="{1B41CE3E-4460-424A-9D34-718E1003712C}"/>
                </a:ext>
              </a:extLst>
            </p:cNvPr>
            <p:cNvPicPr>
              <a:picLocks noChangeAspect="1"/>
            </p:cNvPicPr>
            <p:nvPr/>
          </p:nvPicPr>
          <p:blipFill>
            <a:blip r:embed="rId8"/>
            <a:stretch>
              <a:fillRect/>
            </a:stretch>
          </p:blipFill>
          <p:spPr>
            <a:xfrm>
              <a:off x="2296466" y="4497762"/>
              <a:ext cx="381451" cy="337133"/>
            </a:xfrm>
            <a:prstGeom prst="rect">
              <a:avLst/>
            </a:prstGeom>
          </p:spPr>
        </p:pic>
        <p:sp>
          <p:nvSpPr>
            <p:cNvPr id="13" name="Titre 3">
              <a:extLst>
                <a:ext uri="{FF2B5EF4-FFF2-40B4-BE49-F238E27FC236}">
                  <a16:creationId xmlns:a16="http://schemas.microsoft.com/office/drawing/2014/main" id="{C89B02BC-048D-4F0C-B1C4-83D06998D23A}"/>
                </a:ext>
              </a:extLst>
            </p:cNvPr>
            <p:cNvSpPr txBox="1">
              <a:spLocks/>
            </p:cNvSpPr>
            <p:nvPr/>
          </p:nvSpPr>
          <p:spPr>
            <a:xfrm>
              <a:off x="2730020" y="4497762"/>
              <a:ext cx="1891022" cy="37802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just" defTabSz="914400" rtl="0" eaLnBrk="1" fontAlgn="auto" latinLnBrk="0" hangingPunct="1">
                <a:lnSpc>
                  <a:spcPct val="90000"/>
                </a:lnSpc>
                <a:spcBef>
                  <a:spcPct val="0"/>
                </a:spcBef>
                <a:spcAft>
                  <a:spcPts val="0"/>
                </a:spcAft>
                <a:buClrTx/>
                <a:buSzTx/>
                <a:buFontTx/>
                <a:buNone/>
                <a:tabLst/>
                <a:defRPr/>
              </a:pPr>
              <a:r>
                <a:rPr kumimoji="0" lang="en-US" sz="700" b="1" i="0" u="none" strike="noStrike" kern="1200" cap="none" spc="0" normalizeH="0" baseline="0" noProof="0">
                  <a:ln>
                    <a:noFill/>
                  </a:ln>
                  <a:effectLst/>
                  <a:uLnTx/>
                  <a:uFillTx/>
                  <a:latin typeface="Arial" panose="020B0604020202020204" pitchFamily="34" charset="0"/>
                  <a:ea typeface="+mj-ea"/>
                  <a:cs typeface="Arial" panose="020B0604020202020204" pitchFamily="34" charset="0"/>
                </a:rPr>
                <a:t>Signatory of the Global Compact </a:t>
              </a:r>
              <a:r>
                <a:rPr kumimoji="0" lang="en-US" sz="700" i="0" u="none" strike="noStrike" kern="1200" cap="none" spc="0" normalizeH="0" baseline="0" noProof="0">
                  <a:ln>
                    <a:noFill/>
                  </a:ln>
                  <a:effectLst/>
                  <a:uLnTx/>
                  <a:uFillTx/>
                  <a:latin typeface="Arial" panose="020B0604020202020204" pitchFamily="34" charset="0"/>
                  <a:ea typeface="+mj-ea"/>
                  <a:cs typeface="Arial" panose="020B0604020202020204" pitchFamily="34" charset="0"/>
                </a:rPr>
                <a:t>for more than 15 years </a:t>
              </a:r>
            </a:p>
            <a:p>
              <a:pPr marL="0" marR="0" lvl="0" indent="0" algn="just" defTabSz="914400" rtl="0" eaLnBrk="1" fontAlgn="auto" latinLnBrk="0" hangingPunct="1">
                <a:lnSpc>
                  <a:spcPct val="90000"/>
                </a:lnSpc>
                <a:spcBef>
                  <a:spcPct val="0"/>
                </a:spcBef>
                <a:spcAft>
                  <a:spcPts val="0"/>
                </a:spcAft>
                <a:buClrTx/>
                <a:buSzTx/>
                <a:buFontTx/>
                <a:buNone/>
                <a:tabLst/>
                <a:defRPr/>
              </a:pPr>
              <a:r>
                <a:rPr kumimoji="0" lang="en-US" sz="700" b="1" i="0" u="none" strike="noStrike" kern="1200" cap="none" spc="0" normalizeH="0" baseline="0" noProof="0">
                  <a:ln>
                    <a:noFill/>
                  </a:ln>
                  <a:effectLst/>
                  <a:uLnTx/>
                  <a:uFillTx/>
                  <a:latin typeface="Arial" panose="020B0604020202020204" pitchFamily="34" charset="0"/>
                  <a:ea typeface="+mj-ea"/>
                  <a:cs typeface="Arial" panose="020B0604020202020204" pitchFamily="34" charset="0"/>
                </a:rPr>
                <a:t>Communication on Progress: Level advanced</a:t>
              </a:r>
              <a:endParaRPr kumimoji="0" lang="fr-FR" sz="700" b="1" i="0" u="none" strike="noStrike" kern="1200" cap="none" spc="0" normalizeH="0" baseline="0" noProof="0">
                <a:ln>
                  <a:noFill/>
                </a:ln>
                <a:effectLst/>
                <a:uLnTx/>
                <a:uFillTx/>
                <a:latin typeface="Arial" panose="020B0604020202020204" pitchFamily="34" charset="0"/>
                <a:ea typeface="+mj-ea"/>
                <a:cs typeface="Arial" panose="020B0604020202020204" pitchFamily="34" charset="0"/>
              </a:endParaRPr>
            </a:p>
          </p:txBody>
        </p:sp>
        <p:pic>
          <p:nvPicPr>
            <p:cNvPr id="14" name="Image 13">
              <a:extLst>
                <a:ext uri="{FF2B5EF4-FFF2-40B4-BE49-F238E27FC236}">
                  <a16:creationId xmlns:a16="http://schemas.microsoft.com/office/drawing/2014/main" id="{9B774802-2125-4D8A-8130-543EF661486D}"/>
                </a:ext>
              </a:extLst>
            </p:cNvPr>
            <p:cNvPicPr>
              <a:picLocks noChangeAspect="1"/>
            </p:cNvPicPr>
            <p:nvPr/>
          </p:nvPicPr>
          <p:blipFill>
            <a:blip r:embed="rId9"/>
            <a:stretch>
              <a:fillRect/>
            </a:stretch>
          </p:blipFill>
          <p:spPr>
            <a:xfrm>
              <a:off x="180277" y="4538786"/>
              <a:ext cx="509398" cy="245516"/>
            </a:xfrm>
            <a:prstGeom prst="rect">
              <a:avLst/>
            </a:prstGeom>
          </p:spPr>
        </p:pic>
        <p:sp>
          <p:nvSpPr>
            <p:cNvPr id="21" name="Titre 3">
              <a:extLst>
                <a:ext uri="{FF2B5EF4-FFF2-40B4-BE49-F238E27FC236}">
                  <a16:creationId xmlns:a16="http://schemas.microsoft.com/office/drawing/2014/main" id="{3DE5EBFF-310A-43FB-9781-F28700F389A3}"/>
                </a:ext>
              </a:extLst>
            </p:cNvPr>
            <p:cNvSpPr txBox="1">
              <a:spLocks/>
            </p:cNvSpPr>
            <p:nvPr/>
          </p:nvSpPr>
          <p:spPr>
            <a:xfrm>
              <a:off x="659624" y="4528278"/>
              <a:ext cx="1538946" cy="335581"/>
            </a:xfrm>
            <a:prstGeom prst="rect">
              <a:avLst/>
            </a:prstGeom>
          </p:spPr>
          <p:txBody>
            <a:bodyPr vert="horz" lIns="68580" tIns="34290" rIns="68580" bIns="34290" rtlCol="0" anchor="ctr">
              <a:noAutofit/>
            </a:bodyPr>
            <a:lstStyle>
              <a:defPPr>
                <a:defRPr lang="en-US"/>
              </a:defPPr>
              <a:lvl1pPr marR="0" lvl="0" indent="0" defTabSz="914400" fontAlgn="auto">
                <a:lnSpc>
                  <a:spcPct val="90000"/>
                </a:lnSpc>
                <a:spcBef>
                  <a:spcPct val="0"/>
                </a:spcBef>
                <a:spcAft>
                  <a:spcPts val="0"/>
                </a:spcAft>
                <a:buClrTx/>
                <a:buSzTx/>
                <a:buFontTx/>
                <a:buNone/>
                <a:tabLst/>
                <a:defRPr kumimoji="0" sz="700" b="0" i="0" u="none" strike="noStrike" cap="none" spc="0" normalizeH="0" baseline="0">
                  <a:ln>
                    <a:noFill/>
                  </a:ln>
                  <a:effectLst/>
                  <a:uLnTx/>
                  <a:uFillTx/>
                  <a:latin typeface="Arial" panose="020B0604020202020204" pitchFamily="34" charset="0"/>
                  <a:ea typeface="+mj-ea"/>
                  <a:cs typeface="Arial" panose="020B0604020202020204" pitchFamily="34" charset="0"/>
                </a:defRPr>
              </a:lvl1pPr>
            </a:lstStyle>
            <a:p>
              <a:pPr algn="just"/>
              <a:r>
                <a:rPr lang="en-US" b="1"/>
                <a:t>Commitments in line with the SDGs: </a:t>
              </a:r>
              <a:r>
                <a:rPr lang="en-US"/>
                <a:t>positive impact on 64 of 169 targets</a:t>
              </a:r>
              <a:r>
                <a:rPr lang="fr-FR"/>
                <a:t>.</a:t>
              </a:r>
            </a:p>
          </p:txBody>
        </p:sp>
      </p:grpSp>
      <p:sp>
        <p:nvSpPr>
          <p:cNvPr id="40" name="Rectangle 39">
            <a:extLst>
              <a:ext uri="{FF2B5EF4-FFF2-40B4-BE49-F238E27FC236}">
                <a16:creationId xmlns:a16="http://schemas.microsoft.com/office/drawing/2014/main" id="{F15AD3A3-CDBE-4F60-9E8F-C88BBB238800}"/>
              </a:ext>
            </a:extLst>
          </p:cNvPr>
          <p:cNvSpPr>
            <a:spLocks/>
          </p:cNvSpPr>
          <p:nvPr>
            <p:custDataLst>
              <p:tags r:id="rId2"/>
            </p:custDataLst>
          </p:nvPr>
        </p:nvSpPr>
        <p:spPr>
          <a:xfrm>
            <a:off x="108190" y="385365"/>
            <a:ext cx="4106192" cy="241200"/>
          </a:xfrm>
          <a:prstGeom prst="rect">
            <a:avLst/>
          </a:prstGeom>
          <a:noFill/>
        </p:spPr>
        <p:txBody>
          <a:bodyPr vert="horz" lIns="91440" tIns="45720" rIns="91440" bIns="45720" rtlCol="0" anchor="ctr">
            <a:noAutofit/>
          </a:bodyPr>
          <a:lstStyle/>
          <a:p>
            <a:pPr>
              <a:spcAft>
                <a:spcPts val="300"/>
              </a:spcAft>
              <a:buSzPct val="110000"/>
            </a:pPr>
            <a:r>
              <a:rPr lang="fr-FR" sz="900" b="1" cap="all">
                <a:solidFill>
                  <a:srgbClr val="3A75C4"/>
                </a:solidFill>
                <a:latin typeface="+mj-lt"/>
              </a:rPr>
              <a:t>ENVIRONMENT</a:t>
            </a:r>
          </a:p>
        </p:txBody>
      </p:sp>
      <p:sp>
        <p:nvSpPr>
          <p:cNvPr id="67" name="Rectangle 66">
            <a:extLst>
              <a:ext uri="{FF2B5EF4-FFF2-40B4-BE49-F238E27FC236}">
                <a16:creationId xmlns:a16="http://schemas.microsoft.com/office/drawing/2014/main" id="{7D7F4B72-268B-4BA4-8789-4F4DB834DB3D}"/>
              </a:ext>
            </a:extLst>
          </p:cNvPr>
          <p:cNvSpPr>
            <a:spLocks/>
          </p:cNvSpPr>
          <p:nvPr>
            <p:custDataLst>
              <p:tags r:id="rId3"/>
            </p:custDataLst>
          </p:nvPr>
        </p:nvSpPr>
        <p:spPr>
          <a:xfrm>
            <a:off x="4832560" y="383320"/>
            <a:ext cx="4006800" cy="241200"/>
          </a:xfrm>
          <a:prstGeom prst="rect">
            <a:avLst/>
          </a:prstGeom>
          <a:noFill/>
        </p:spPr>
        <p:txBody>
          <a:bodyPr vert="horz" lIns="91440" tIns="45720" rIns="91440" bIns="45720" rtlCol="0" anchor="ctr">
            <a:noAutofit/>
          </a:bodyPr>
          <a:lstStyle/>
          <a:p>
            <a:pPr>
              <a:spcAft>
                <a:spcPts val="300"/>
              </a:spcAft>
              <a:buSzPct val="110000"/>
            </a:pPr>
            <a:r>
              <a:rPr lang="en-US" sz="900" b="1" cap="all">
                <a:solidFill>
                  <a:srgbClr val="3A75C4"/>
                </a:solidFill>
                <a:latin typeface="+mj-lt"/>
              </a:rPr>
              <a:t>Active dialogue with rating agencies</a:t>
            </a:r>
          </a:p>
        </p:txBody>
      </p:sp>
      <p:cxnSp>
        <p:nvCxnSpPr>
          <p:cNvPr id="74" name="Connecteur droit 73">
            <a:extLst>
              <a:ext uri="{FF2B5EF4-FFF2-40B4-BE49-F238E27FC236}">
                <a16:creationId xmlns:a16="http://schemas.microsoft.com/office/drawing/2014/main" id="{D253C20C-A03F-4012-B995-8E97062EC513}"/>
              </a:ext>
            </a:extLst>
          </p:cNvPr>
          <p:cNvCxnSpPr>
            <a:cxnSpLocks/>
          </p:cNvCxnSpPr>
          <p:nvPr/>
        </p:nvCxnSpPr>
        <p:spPr>
          <a:xfrm>
            <a:off x="8833841" y="946455"/>
            <a:ext cx="0"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70" name="ZoneTexte 69">
            <a:extLst>
              <a:ext uri="{FF2B5EF4-FFF2-40B4-BE49-F238E27FC236}">
                <a16:creationId xmlns:a16="http://schemas.microsoft.com/office/drawing/2014/main" id="{95BDDB7A-DDCE-413D-B3C3-42DC8BB33C6C}"/>
              </a:ext>
            </a:extLst>
          </p:cNvPr>
          <p:cNvSpPr txBox="1"/>
          <p:nvPr/>
        </p:nvSpPr>
        <p:spPr>
          <a:xfrm>
            <a:off x="4917233" y="1008580"/>
            <a:ext cx="1986486" cy="646331"/>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a:defRPr/>
            </a:pPr>
            <a:r>
              <a:rPr lang="fr-FR" sz="700" b="1" err="1">
                <a:solidFill>
                  <a:prstClr val="black"/>
                </a:solidFill>
                <a:latin typeface="Arial" panose="020B0604020202020204" pitchFamily="34" charset="0"/>
                <a:cs typeface="Arial" panose="020B0604020202020204" pitchFamily="34" charset="0"/>
              </a:rPr>
              <a:t>Environment</a:t>
            </a:r>
            <a:r>
              <a:rPr lang="fr-FR" sz="700" b="1">
                <a:solidFill>
                  <a:prstClr val="black"/>
                </a:solidFill>
                <a:latin typeface="Arial" panose="020B0604020202020204" pitchFamily="34" charset="0"/>
                <a:cs typeface="Arial" panose="020B0604020202020204" pitchFamily="34" charset="0"/>
              </a:rPr>
              <a:t> score =</a:t>
            </a:r>
            <a:r>
              <a:rPr lang="fr-FR" sz="700" b="1">
                <a:solidFill>
                  <a:srgbClr val="4472C4"/>
                </a:solidFill>
                <a:latin typeface="Arial" panose="020B0604020202020204" pitchFamily="34" charset="0"/>
                <a:cs typeface="Arial" panose="020B0604020202020204" pitchFamily="34" charset="0"/>
              </a:rPr>
              <a:t> </a:t>
            </a:r>
            <a:r>
              <a:rPr lang="fr-FR" sz="700" b="1">
                <a:solidFill>
                  <a:srgbClr val="00B050"/>
                </a:solidFill>
                <a:latin typeface="Arial" panose="020B0604020202020204" pitchFamily="34" charset="0"/>
                <a:cs typeface="Arial" panose="020B0604020202020204" pitchFamily="34" charset="0"/>
              </a:rPr>
              <a:t>1 </a:t>
            </a:r>
          </a:p>
          <a:p>
            <a:pPr>
              <a:defRPr/>
            </a:pPr>
            <a:r>
              <a:rPr lang="fr-FR" sz="700" b="1">
                <a:solidFill>
                  <a:schemeClr val="tx1"/>
                </a:solidFill>
                <a:latin typeface="Arial" panose="020B0604020202020204" pitchFamily="34" charset="0"/>
                <a:cs typeface="Arial" panose="020B0604020202020204" pitchFamily="34" charset="0"/>
              </a:rPr>
              <a:t>Social score = </a:t>
            </a:r>
            <a:r>
              <a:rPr lang="fr-FR" sz="700" b="1">
                <a:solidFill>
                  <a:srgbClr val="00B050"/>
                </a:solidFill>
                <a:latin typeface="Arial" panose="020B0604020202020204" pitchFamily="34" charset="0"/>
                <a:cs typeface="Arial" panose="020B0604020202020204" pitchFamily="34" charset="0"/>
              </a:rPr>
              <a:t>1</a:t>
            </a:r>
          </a:p>
          <a:p>
            <a:pPr>
              <a:defRPr/>
            </a:pPr>
            <a:r>
              <a:rPr lang="fr-FR" sz="700">
                <a:solidFill>
                  <a:schemeClr val="tx2"/>
                </a:solidFill>
                <a:latin typeface="Arial" panose="020B0604020202020204" pitchFamily="34" charset="0"/>
                <a:cs typeface="Arial" panose="020B0604020202020204" pitchFamily="34" charset="0"/>
              </a:rPr>
              <a:t>(</a:t>
            </a:r>
            <a:r>
              <a:rPr lang="en-US" sz="700">
                <a:solidFill>
                  <a:schemeClr val="tx2"/>
                </a:solidFill>
                <a:latin typeface="Arial" panose="020B0604020202020204" pitchFamily="34" charset="0"/>
                <a:cs typeface="Arial" panose="020B0604020202020204" pitchFamily="34" charset="0"/>
              </a:rPr>
              <a:t>High transparency because close to 1</a:t>
            </a:r>
            <a:r>
              <a:rPr lang="fr-FR" sz="700">
                <a:solidFill>
                  <a:schemeClr val="tx2"/>
                </a:solidFill>
                <a:latin typeface="Arial" panose="020B0604020202020204" pitchFamily="34" charset="0"/>
                <a:cs typeface="Arial" panose="020B0604020202020204" pitchFamily="34" charset="0"/>
              </a:rPr>
              <a:t>)</a:t>
            </a:r>
          </a:p>
          <a:p>
            <a:pPr>
              <a:defRPr/>
            </a:pPr>
            <a:endParaRPr lang="fr-FR" sz="100">
              <a:solidFill>
                <a:schemeClr val="tx2"/>
              </a:solidFill>
              <a:latin typeface="Arial" panose="020B0604020202020204" pitchFamily="34" charset="0"/>
              <a:cs typeface="Arial" panose="020B0604020202020204" pitchFamily="34" charset="0"/>
            </a:endParaRPr>
          </a:p>
          <a:p>
            <a:pPr>
              <a:defRPr/>
            </a:pPr>
            <a:r>
              <a:rPr lang="fr-FR" sz="700" b="1" err="1">
                <a:solidFill>
                  <a:prstClr val="black"/>
                </a:solidFill>
                <a:latin typeface="Arial" panose="020B0604020202020204" pitchFamily="34" charset="0"/>
                <a:cs typeface="Arial" panose="020B0604020202020204" pitchFamily="34" charset="0"/>
              </a:rPr>
              <a:t>Governance</a:t>
            </a:r>
            <a:r>
              <a:rPr lang="fr-FR" sz="700" b="1">
                <a:solidFill>
                  <a:prstClr val="black"/>
                </a:solidFill>
                <a:latin typeface="Arial" panose="020B0604020202020204" pitchFamily="34" charset="0"/>
                <a:cs typeface="Arial" panose="020B0604020202020204" pitchFamily="34" charset="0"/>
              </a:rPr>
              <a:t> score =</a:t>
            </a:r>
            <a:r>
              <a:rPr lang="fr-FR" sz="700">
                <a:solidFill>
                  <a:prstClr val="black"/>
                </a:solidFill>
                <a:latin typeface="Arial" panose="020B0604020202020204" pitchFamily="34" charset="0"/>
                <a:cs typeface="Arial" panose="020B0604020202020204" pitchFamily="34" charset="0"/>
              </a:rPr>
              <a:t> </a:t>
            </a:r>
            <a:r>
              <a:rPr lang="fr-FR" sz="700" b="1">
                <a:solidFill>
                  <a:srgbClr val="FC9204"/>
                </a:solidFill>
                <a:latin typeface="Arial" panose="020B0604020202020204" pitchFamily="34" charset="0"/>
                <a:cs typeface="Arial" panose="020B0604020202020204" pitchFamily="34" charset="0"/>
              </a:rPr>
              <a:t>9</a:t>
            </a:r>
            <a:endParaRPr lang="fr-FR" sz="700" b="1">
              <a:solidFill>
                <a:srgbClr val="FFC000"/>
              </a:solidFill>
              <a:latin typeface="Arial" panose="020B0604020202020204" pitchFamily="34" charset="0"/>
              <a:cs typeface="Arial" panose="020B0604020202020204" pitchFamily="34" charset="0"/>
            </a:endParaRPr>
          </a:p>
          <a:p>
            <a:pPr>
              <a:defRPr/>
            </a:pPr>
            <a:r>
              <a:rPr lang="fr-FR" sz="700">
                <a:solidFill>
                  <a:schemeClr val="tx2"/>
                </a:solidFill>
                <a:latin typeface="Arial" panose="020B0604020202020204" pitchFamily="34" charset="0"/>
                <a:cs typeface="Arial" panose="020B0604020202020204" pitchFamily="34" charset="0"/>
              </a:rPr>
              <a:t>(</a:t>
            </a:r>
            <a:r>
              <a:rPr lang="en-US" sz="700">
                <a:solidFill>
                  <a:schemeClr val="tx2"/>
                </a:solidFill>
                <a:latin typeface="Arial" panose="020B0604020202020204" pitchFamily="34" charset="0"/>
                <a:cs typeface="Arial" panose="020B0604020202020204" pitchFamily="34" charset="0"/>
              </a:rPr>
              <a:t>Moderate risk because close to 10</a:t>
            </a:r>
            <a:r>
              <a:rPr lang="fr-FR" sz="700">
                <a:solidFill>
                  <a:schemeClr val="tx2"/>
                </a:solidFill>
                <a:latin typeface="Arial" panose="020B0604020202020204" pitchFamily="34" charset="0"/>
                <a:cs typeface="Arial" panose="020B0604020202020204" pitchFamily="34" charset="0"/>
              </a:rPr>
              <a:t>)</a:t>
            </a:r>
            <a:endParaRPr lang="fr-FR" sz="700">
              <a:solidFill>
                <a:schemeClr val="tx1"/>
              </a:solidFill>
              <a:latin typeface="Arial" panose="020B0604020202020204" pitchFamily="34" charset="0"/>
              <a:cs typeface="Arial" panose="020B0604020202020204" pitchFamily="34" charset="0"/>
            </a:endParaRPr>
          </a:p>
        </p:txBody>
      </p:sp>
      <p:sp>
        <p:nvSpPr>
          <p:cNvPr id="71" name="ZoneTexte 70">
            <a:extLst>
              <a:ext uri="{FF2B5EF4-FFF2-40B4-BE49-F238E27FC236}">
                <a16:creationId xmlns:a16="http://schemas.microsoft.com/office/drawing/2014/main" id="{461988F7-E36F-477E-8388-B297AEEEDA65}"/>
              </a:ext>
            </a:extLst>
          </p:cNvPr>
          <p:cNvSpPr txBox="1"/>
          <p:nvPr/>
        </p:nvSpPr>
        <p:spPr>
          <a:xfrm>
            <a:off x="7013586" y="1007449"/>
            <a:ext cx="1820255" cy="652996"/>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noAutofit/>
          </a:bodyPr>
          <a:lstStyle/>
          <a:p>
            <a:pPr>
              <a:defRPr/>
            </a:pPr>
            <a:r>
              <a:rPr lang="fr-FR" sz="700" b="1">
                <a:solidFill>
                  <a:prstClr val="black"/>
                </a:solidFill>
                <a:latin typeface="Arial" panose="020B0604020202020204" pitchFamily="34" charset="0"/>
                <a:cs typeface="Arial" panose="020B0604020202020204" pitchFamily="34" charset="0"/>
              </a:rPr>
              <a:t>ESG Global score = </a:t>
            </a:r>
            <a:r>
              <a:rPr lang="fr-FR" sz="700" b="1">
                <a:solidFill>
                  <a:srgbClr val="4472C4"/>
                </a:solidFill>
                <a:latin typeface="Arial" panose="020B0604020202020204" pitchFamily="34" charset="0"/>
                <a:cs typeface="Arial" panose="020B0604020202020204" pitchFamily="34" charset="0"/>
              </a:rPr>
              <a:t>48/100</a:t>
            </a:r>
            <a:endParaRPr lang="fr-FR" sz="600" b="1">
              <a:solidFill>
                <a:srgbClr val="4472C4"/>
              </a:solidFill>
              <a:latin typeface="Arial" panose="020B0604020202020204" pitchFamily="34" charset="0"/>
              <a:cs typeface="Arial" panose="020B0604020202020204" pitchFamily="34" charset="0"/>
            </a:endParaRPr>
          </a:p>
          <a:p>
            <a:pPr>
              <a:defRPr/>
            </a:pPr>
            <a:endParaRPr lang="fr-FR" sz="1000">
              <a:solidFill>
                <a:prstClr val="black"/>
              </a:solidFill>
              <a:highlight>
                <a:srgbClr val="FFFF00"/>
              </a:highlight>
              <a:latin typeface="Arial" panose="020B0604020202020204" pitchFamily="34" charset="0"/>
              <a:cs typeface="Arial" panose="020B0604020202020204" pitchFamily="34" charset="0"/>
            </a:endParaRPr>
          </a:p>
          <a:p>
            <a:pPr marL="228600" indent="-228600">
              <a:buFont typeface="Wingdings" panose="05000000000000000000" pitchFamily="2" charset="2"/>
              <a:buChar char="Ø"/>
              <a:defRPr/>
            </a:pPr>
            <a:r>
              <a:rPr lang="fr-FR" sz="700">
                <a:solidFill>
                  <a:prstClr val="black"/>
                </a:solidFill>
                <a:latin typeface="Arial" panose="020B0604020202020204" pitchFamily="34" charset="0"/>
                <a:cs typeface="Arial" panose="020B0604020202020204" pitchFamily="34" charset="0"/>
              </a:rPr>
              <a:t>vs. 46/100 in 2021</a:t>
            </a:r>
            <a:endParaRPr lang="fr-FR" sz="800">
              <a:solidFill>
                <a:prstClr val="black"/>
              </a:solidFill>
              <a:latin typeface="Arial" panose="020B0604020202020204" pitchFamily="34" charset="0"/>
              <a:cs typeface="Arial" panose="020B0604020202020204" pitchFamily="34" charset="0"/>
            </a:endParaRPr>
          </a:p>
        </p:txBody>
      </p:sp>
      <p:sp>
        <p:nvSpPr>
          <p:cNvPr id="80" name="ZoneTexte 79">
            <a:extLst>
              <a:ext uri="{FF2B5EF4-FFF2-40B4-BE49-F238E27FC236}">
                <a16:creationId xmlns:a16="http://schemas.microsoft.com/office/drawing/2014/main" id="{DF64ED50-13F2-423A-903C-27CA88E4D28B}"/>
              </a:ext>
            </a:extLst>
          </p:cNvPr>
          <p:cNvSpPr txBox="1"/>
          <p:nvPr/>
        </p:nvSpPr>
        <p:spPr>
          <a:xfrm>
            <a:off x="7013586" y="2239760"/>
            <a:ext cx="1796482" cy="770443"/>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defRPr/>
            </a:pPr>
            <a:r>
              <a:rPr lang="fr-FR" sz="700" b="1">
                <a:solidFill>
                  <a:prstClr val="black"/>
                </a:solidFill>
                <a:latin typeface="Arial" panose="020B0604020202020204" pitchFamily="34" charset="0"/>
                <a:cs typeface="Arial" panose="020B0604020202020204" pitchFamily="34" charset="0"/>
              </a:rPr>
              <a:t>ESG Global score =</a:t>
            </a:r>
            <a:r>
              <a:rPr lang="fr-FR" sz="700">
                <a:solidFill>
                  <a:prstClr val="black"/>
                </a:solidFill>
                <a:latin typeface="Arial" panose="020B0604020202020204" pitchFamily="34" charset="0"/>
                <a:cs typeface="Arial" panose="020B0604020202020204" pitchFamily="34" charset="0"/>
              </a:rPr>
              <a:t> </a:t>
            </a:r>
            <a:r>
              <a:rPr lang="fr-FR" sz="700" b="1">
                <a:solidFill>
                  <a:srgbClr val="4472C4"/>
                </a:solidFill>
                <a:latin typeface="Arial" panose="020B0604020202020204" pitchFamily="34" charset="0"/>
                <a:cs typeface="Arial" panose="020B0604020202020204" pitchFamily="34" charset="0"/>
              </a:rPr>
              <a:t>54/100</a:t>
            </a:r>
          </a:p>
          <a:p>
            <a:pPr>
              <a:defRPr/>
            </a:pPr>
            <a:r>
              <a:rPr lang="fr-FR" sz="700" b="1" err="1">
                <a:solidFill>
                  <a:schemeClr val="tx2"/>
                </a:solidFill>
                <a:latin typeface="Arial" panose="020B0604020202020204" pitchFamily="34" charset="0"/>
                <a:cs typeface="Arial" panose="020B0604020202020204" pitchFamily="34" charset="0"/>
              </a:rPr>
              <a:t>Robust</a:t>
            </a:r>
            <a:r>
              <a:rPr lang="fr-FR" sz="700" b="1">
                <a:solidFill>
                  <a:schemeClr val="tx2"/>
                </a:solidFill>
                <a:latin typeface="Arial" panose="020B0604020202020204" pitchFamily="34" charset="0"/>
                <a:cs typeface="Arial" panose="020B0604020202020204" pitchFamily="34" charset="0"/>
              </a:rPr>
              <a:t> </a:t>
            </a:r>
            <a:r>
              <a:rPr lang="fr-FR" sz="700" b="1" err="1">
                <a:solidFill>
                  <a:schemeClr val="tx2"/>
                </a:solidFill>
                <a:latin typeface="Arial" panose="020B0604020202020204" pitchFamily="34" charset="0"/>
                <a:cs typeface="Arial" panose="020B0604020202020204" pitchFamily="34" charset="0"/>
              </a:rPr>
              <a:t>Level</a:t>
            </a:r>
            <a:endParaRPr lang="fr-FR" sz="700" b="1">
              <a:solidFill>
                <a:schemeClr val="tx2"/>
              </a:solidFill>
              <a:latin typeface="Arial" panose="020B0604020202020204" pitchFamily="34" charset="0"/>
              <a:cs typeface="Arial" panose="020B0604020202020204" pitchFamily="34" charset="0"/>
            </a:endParaRPr>
          </a:p>
          <a:p>
            <a:pPr>
              <a:defRPr/>
            </a:pPr>
            <a:endParaRPr lang="fr-FR" sz="700">
              <a:solidFill>
                <a:schemeClr val="tx1"/>
              </a:solidFill>
              <a:latin typeface="Arial" panose="020B0604020202020204" pitchFamily="34" charset="0"/>
              <a:cs typeface="Arial" panose="020B0604020202020204" pitchFamily="34" charset="0"/>
            </a:endParaRPr>
          </a:p>
          <a:p>
            <a:pPr marL="171450" indent="-171450">
              <a:buFont typeface="Wingdings" panose="05000000000000000000" pitchFamily="2" charset="2"/>
              <a:buChar char="Ø"/>
              <a:defRPr/>
            </a:pPr>
            <a:r>
              <a:rPr lang="fr-FR" sz="700">
                <a:solidFill>
                  <a:schemeClr val="tx1"/>
                </a:solidFill>
                <a:latin typeface="Arial" panose="020B0604020202020204" pitchFamily="34" charset="0"/>
                <a:cs typeface="Arial" panose="020B0604020202020204" pitchFamily="34" charset="0"/>
              </a:rPr>
              <a:t>Vs. 53/100 in 2021</a:t>
            </a:r>
          </a:p>
          <a:p>
            <a:pPr marL="171450" indent="-171450">
              <a:buFont typeface="Wingdings" panose="05000000000000000000" pitchFamily="2" charset="2"/>
              <a:buChar char="Ø"/>
              <a:defRPr/>
            </a:pPr>
            <a:r>
              <a:rPr lang="fr-FR" sz="700">
                <a:solidFill>
                  <a:schemeClr val="tx1"/>
                </a:solidFill>
                <a:latin typeface="Arial" panose="020B0604020202020204" pitchFamily="34" charset="0"/>
                <a:cs typeface="Arial" panose="020B0604020202020204" pitchFamily="34" charset="0"/>
              </a:rPr>
              <a:t>Rank in </a:t>
            </a:r>
            <a:r>
              <a:rPr lang="fr-FR" sz="700" err="1">
                <a:solidFill>
                  <a:schemeClr val="tx1"/>
                </a:solidFill>
                <a:latin typeface="Arial" panose="020B0604020202020204" pitchFamily="34" charset="0"/>
                <a:cs typeface="Arial" panose="020B0604020202020204" pitchFamily="34" charset="0"/>
              </a:rPr>
              <a:t>sector</a:t>
            </a:r>
            <a:r>
              <a:rPr lang="fr-FR" sz="700">
                <a:solidFill>
                  <a:schemeClr val="tx1"/>
                </a:solidFill>
                <a:latin typeface="Arial" panose="020B0604020202020204" pitchFamily="34" charset="0"/>
                <a:cs typeface="Arial" panose="020B0604020202020204" pitchFamily="34" charset="0"/>
              </a:rPr>
              <a:t>: Not </a:t>
            </a:r>
            <a:r>
              <a:rPr lang="fr-FR" sz="700" err="1">
                <a:solidFill>
                  <a:schemeClr val="tx1"/>
                </a:solidFill>
                <a:latin typeface="Arial" panose="020B0604020202020204" pitchFamily="34" charset="0"/>
                <a:cs typeface="Arial" panose="020B0604020202020204" pitchFamily="34" charset="0"/>
              </a:rPr>
              <a:t>yet</a:t>
            </a:r>
            <a:r>
              <a:rPr lang="fr-FR" sz="700">
                <a:solidFill>
                  <a:schemeClr val="tx1"/>
                </a:solidFill>
                <a:latin typeface="Arial" panose="020B0604020202020204" pitchFamily="34" charset="0"/>
                <a:cs typeface="Arial" panose="020B0604020202020204" pitchFamily="34" charset="0"/>
              </a:rPr>
              <a:t> </a:t>
            </a:r>
          </a:p>
          <a:p>
            <a:pPr>
              <a:defRPr/>
            </a:pPr>
            <a:r>
              <a:rPr lang="fr-FR" sz="700" err="1">
                <a:solidFill>
                  <a:schemeClr val="tx1"/>
                </a:solidFill>
                <a:latin typeface="Arial" panose="020B0604020202020204" pitchFamily="34" charset="0"/>
                <a:cs typeface="Arial" panose="020B0604020202020204" pitchFamily="34" charset="0"/>
              </a:rPr>
              <a:t>disclosed</a:t>
            </a:r>
            <a:r>
              <a:rPr lang="fr-FR" sz="700">
                <a:solidFill>
                  <a:schemeClr val="tx1"/>
                </a:solidFill>
                <a:latin typeface="Arial" panose="020B0604020202020204" pitchFamily="34" charset="0"/>
                <a:cs typeface="Arial" panose="020B0604020202020204" pitchFamily="34" charset="0"/>
              </a:rPr>
              <a:t> by Moody’s</a:t>
            </a:r>
          </a:p>
          <a:p>
            <a:pPr>
              <a:defRPr/>
            </a:pPr>
            <a:endParaRPr lang="fr-FR" sz="700">
              <a:solidFill>
                <a:schemeClr val="tx1"/>
              </a:solidFill>
              <a:latin typeface="Arial" panose="020B0604020202020204" pitchFamily="34" charset="0"/>
              <a:cs typeface="Arial" panose="020B0604020202020204" pitchFamily="34" charset="0"/>
            </a:endParaRPr>
          </a:p>
        </p:txBody>
      </p:sp>
      <p:sp>
        <p:nvSpPr>
          <p:cNvPr id="81" name="ZoneTexte 80">
            <a:extLst>
              <a:ext uri="{FF2B5EF4-FFF2-40B4-BE49-F238E27FC236}">
                <a16:creationId xmlns:a16="http://schemas.microsoft.com/office/drawing/2014/main" id="{3998CAD0-E123-43BE-8698-D2FCFF8B9BF2}"/>
              </a:ext>
            </a:extLst>
          </p:cNvPr>
          <p:cNvSpPr txBox="1"/>
          <p:nvPr/>
        </p:nvSpPr>
        <p:spPr>
          <a:xfrm>
            <a:off x="4917047" y="2242216"/>
            <a:ext cx="1982151" cy="800219"/>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a:defRPr/>
            </a:pPr>
            <a:r>
              <a:rPr lang="fr-FR" sz="700" b="1">
                <a:solidFill>
                  <a:prstClr val="black"/>
                </a:solidFill>
                <a:latin typeface="Arial" panose="020B0604020202020204" pitchFamily="34" charset="0"/>
                <a:cs typeface="Arial" panose="020B0604020202020204" pitchFamily="34" charset="0"/>
              </a:rPr>
              <a:t>« </a:t>
            </a:r>
            <a:r>
              <a:rPr lang="fr-FR" sz="700" b="1" err="1">
                <a:solidFill>
                  <a:prstClr val="black"/>
                </a:solidFill>
                <a:latin typeface="Arial" panose="020B0604020202020204" pitchFamily="34" charset="0"/>
                <a:cs typeface="Arial" panose="020B0604020202020204" pitchFamily="34" charset="0"/>
              </a:rPr>
              <a:t>Climate</a:t>
            </a:r>
            <a:r>
              <a:rPr lang="fr-FR" sz="700" b="1">
                <a:solidFill>
                  <a:prstClr val="black"/>
                </a:solidFill>
                <a:latin typeface="Arial" panose="020B0604020202020204" pitchFamily="34" charset="0"/>
                <a:cs typeface="Arial" panose="020B0604020202020204" pitchFamily="34" charset="0"/>
              </a:rPr>
              <a:t> Change » score = </a:t>
            </a:r>
            <a:r>
              <a:rPr lang="fr-FR" sz="700" b="1">
                <a:solidFill>
                  <a:srgbClr val="4472C4"/>
                </a:solidFill>
                <a:latin typeface="Arial" panose="020B0604020202020204" pitchFamily="34" charset="0"/>
                <a:cs typeface="Arial" panose="020B0604020202020204" pitchFamily="34" charset="0"/>
              </a:rPr>
              <a:t>B</a:t>
            </a:r>
          </a:p>
          <a:p>
            <a:pPr marL="171450" indent="-171450">
              <a:buFont typeface="Wingdings" panose="05000000000000000000" pitchFamily="2" charset="2"/>
              <a:buChar char="Ø"/>
              <a:defRPr/>
            </a:pPr>
            <a:r>
              <a:rPr lang="fr-FR" sz="700">
                <a:solidFill>
                  <a:schemeClr val="tx1"/>
                </a:solidFill>
                <a:latin typeface="Arial" panose="020B0604020202020204" pitchFamily="34" charset="0"/>
                <a:cs typeface="Arial" panose="020B0604020202020204" pitchFamily="34" charset="0"/>
              </a:rPr>
              <a:t>vs. score A- in 2021</a:t>
            </a:r>
          </a:p>
          <a:p>
            <a:pPr>
              <a:defRPr/>
            </a:pPr>
            <a:endParaRPr lang="fr-FR" sz="300">
              <a:solidFill>
                <a:schemeClr val="tx1"/>
              </a:solidFill>
              <a:latin typeface="Arial" panose="020B0604020202020204" pitchFamily="34" charset="0"/>
              <a:cs typeface="Arial" panose="020B0604020202020204" pitchFamily="34" charset="0"/>
            </a:endParaRPr>
          </a:p>
          <a:p>
            <a:pPr marL="171450" indent="-171450">
              <a:buFont typeface="Wingdings" panose="05000000000000000000" pitchFamily="2" charset="2"/>
              <a:buChar char="Ø"/>
              <a:defRPr/>
            </a:pPr>
            <a:endParaRPr lang="fr-FR" sz="100">
              <a:solidFill>
                <a:schemeClr val="tx1"/>
              </a:solidFill>
              <a:latin typeface="Arial" panose="020B0604020202020204" pitchFamily="34" charset="0"/>
              <a:cs typeface="Arial" panose="020B0604020202020204" pitchFamily="34" charset="0"/>
            </a:endParaRPr>
          </a:p>
          <a:p>
            <a:pPr marL="128588" indent="-128588">
              <a:buFont typeface="Wingdings" panose="05000000000000000000" pitchFamily="2" charset="2"/>
              <a:buChar char="à"/>
              <a:defRPr/>
            </a:pPr>
            <a:r>
              <a:rPr lang="fr-FR" sz="700" err="1">
                <a:solidFill>
                  <a:srgbClr val="4472C4"/>
                </a:solidFill>
                <a:latin typeface="Arial" panose="020B0604020202020204" pitchFamily="34" charset="0"/>
                <a:cs typeface="Arial" panose="020B0604020202020204" pitchFamily="34" charset="0"/>
              </a:rPr>
              <a:t>Scale</a:t>
            </a:r>
            <a:r>
              <a:rPr lang="fr-FR" sz="700">
                <a:solidFill>
                  <a:srgbClr val="4472C4"/>
                </a:solidFill>
                <a:latin typeface="Arial" panose="020B0604020202020204" pitchFamily="34" charset="0"/>
                <a:cs typeface="Arial" panose="020B0604020202020204" pitchFamily="34" charset="0"/>
              </a:rPr>
              <a:t> </a:t>
            </a:r>
            <a:r>
              <a:rPr lang="fr-FR" sz="700" err="1">
                <a:solidFill>
                  <a:srgbClr val="4472C4"/>
                </a:solidFill>
                <a:latin typeface="Arial" panose="020B0604020202020204" pitchFamily="34" charset="0"/>
                <a:cs typeface="Arial" panose="020B0604020202020204" pitchFamily="34" charset="0"/>
              </a:rPr>
              <a:t>from</a:t>
            </a:r>
            <a:r>
              <a:rPr lang="fr-FR" sz="700">
                <a:solidFill>
                  <a:srgbClr val="4472C4"/>
                </a:solidFill>
                <a:latin typeface="Arial" panose="020B0604020202020204" pitchFamily="34" charset="0"/>
                <a:cs typeface="Arial" panose="020B0604020202020204" pitchFamily="34" charset="0"/>
              </a:rPr>
              <a:t> A à D-  </a:t>
            </a:r>
          </a:p>
          <a:p>
            <a:pPr>
              <a:defRPr/>
            </a:pPr>
            <a:endParaRPr lang="fr-FR" sz="700">
              <a:solidFill>
                <a:srgbClr val="4472C4"/>
              </a:solidFill>
              <a:latin typeface="Arial" panose="020B0604020202020204" pitchFamily="34" charset="0"/>
              <a:cs typeface="Arial" panose="020B0604020202020204" pitchFamily="34" charset="0"/>
            </a:endParaRPr>
          </a:p>
          <a:p>
            <a:pPr marL="128588" indent="-128588">
              <a:buFont typeface="Wingdings" panose="05000000000000000000" pitchFamily="2" charset="2"/>
              <a:buChar char="à"/>
              <a:defRPr/>
            </a:pPr>
            <a:r>
              <a:rPr lang="en-US" sz="700">
                <a:solidFill>
                  <a:srgbClr val="4472C4"/>
                </a:solidFill>
                <a:latin typeface="Arial" panose="020B0604020202020204" pitchFamily="34" charset="0"/>
                <a:cs typeface="Arial" panose="020B0604020202020204" pitchFamily="34" charset="0"/>
              </a:rPr>
              <a:t>A grade of B or B- reflects </a:t>
            </a:r>
            <a:r>
              <a:rPr lang="en-US" sz="700" b="1">
                <a:solidFill>
                  <a:srgbClr val="4472C4"/>
                </a:solidFill>
                <a:latin typeface="Arial" panose="020B0604020202020204" pitchFamily="34" charset="0"/>
                <a:cs typeface="Arial" panose="020B0604020202020204" pitchFamily="34" charset="0"/>
              </a:rPr>
              <a:t>increased awareness</a:t>
            </a:r>
            <a:r>
              <a:rPr lang="en-US" sz="700">
                <a:solidFill>
                  <a:srgbClr val="4472C4"/>
                </a:solidFill>
                <a:latin typeface="Arial" panose="020B0604020202020204" pitchFamily="34" charset="0"/>
                <a:cs typeface="Arial" panose="020B0604020202020204" pitchFamily="34" charset="0"/>
              </a:rPr>
              <a:t> of ecological issues.</a:t>
            </a:r>
            <a:endParaRPr lang="fr-FR" sz="700">
              <a:solidFill>
                <a:srgbClr val="4472C4"/>
              </a:solidFill>
              <a:latin typeface="Arial" panose="020B0604020202020204" pitchFamily="34" charset="0"/>
              <a:cs typeface="Arial" panose="020B0604020202020204" pitchFamily="34" charset="0"/>
            </a:endParaRPr>
          </a:p>
        </p:txBody>
      </p:sp>
      <p:cxnSp>
        <p:nvCxnSpPr>
          <p:cNvPr id="45" name="Connecteur droit 44">
            <a:extLst>
              <a:ext uri="{FF2B5EF4-FFF2-40B4-BE49-F238E27FC236}">
                <a16:creationId xmlns:a16="http://schemas.microsoft.com/office/drawing/2014/main" id="{E00F7A9F-D751-41A4-8518-67B7F55A7E79}"/>
              </a:ext>
            </a:extLst>
          </p:cNvPr>
          <p:cNvCxnSpPr>
            <a:cxnSpLocks/>
          </p:cNvCxnSpPr>
          <p:nvPr/>
        </p:nvCxnSpPr>
        <p:spPr>
          <a:xfrm>
            <a:off x="3748000" y="4938416"/>
            <a:ext cx="50405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ZoneTexte 45">
            <a:extLst>
              <a:ext uri="{FF2B5EF4-FFF2-40B4-BE49-F238E27FC236}">
                <a16:creationId xmlns:a16="http://schemas.microsoft.com/office/drawing/2014/main" id="{862869A9-45C4-400B-B8F4-FC620FA62FFA}"/>
              </a:ext>
            </a:extLst>
          </p:cNvPr>
          <p:cNvSpPr txBox="1"/>
          <p:nvPr/>
        </p:nvSpPr>
        <p:spPr>
          <a:xfrm>
            <a:off x="7015251" y="3540366"/>
            <a:ext cx="1793219" cy="1292662"/>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a:defRPr/>
            </a:pPr>
            <a:r>
              <a:rPr lang="fr-FR" sz="700" b="1">
                <a:solidFill>
                  <a:prstClr val="black"/>
                </a:solidFill>
                <a:latin typeface="Arial" panose="020B0604020202020204" pitchFamily="34" charset="0"/>
                <a:cs typeface="Arial" panose="020B0604020202020204" pitchFamily="34" charset="0"/>
              </a:rPr>
              <a:t>ESG Global score =</a:t>
            </a:r>
            <a:r>
              <a:rPr lang="fr-FR" sz="700">
                <a:solidFill>
                  <a:prstClr val="black"/>
                </a:solidFill>
                <a:latin typeface="Arial" panose="020B0604020202020204" pitchFamily="34" charset="0"/>
                <a:cs typeface="Arial" panose="020B0604020202020204" pitchFamily="34" charset="0"/>
              </a:rPr>
              <a:t> </a:t>
            </a:r>
            <a:r>
              <a:rPr lang="fr-FR" sz="700" b="1">
                <a:solidFill>
                  <a:srgbClr val="4472C4"/>
                </a:solidFill>
                <a:latin typeface="Arial" panose="020B0604020202020204" pitchFamily="34" charset="0"/>
                <a:cs typeface="Arial" panose="020B0604020202020204" pitchFamily="34" charset="0"/>
              </a:rPr>
              <a:t>Low Risk (</a:t>
            </a:r>
            <a:r>
              <a:rPr lang="fr-FR" sz="700" b="1">
                <a:solidFill>
                  <a:srgbClr val="3A75C4"/>
                </a:solidFill>
                <a:latin typeface="Arial" panose="020B0604020202020204" pitchFamily="34" charset="0"/>
                <a:cs typeface="Arial" panose="020B0604020202020204" pitchFamily="34" charset="0"/>
              </a:rPr>
              <a:t>12.5) </a:t>
            </a:r>
          </a:p>
          <a:p>
            <a:pPr marL="171450" indent="-171450">
              <a:buFont typeface="Wingdings" panose="05000000000000000000" pitchFamily="2" charset="2"/>
              <a:buChar char="Ø"/>
              <a:defRPr/>
            </a:pPr>
            <a:endParaRPr lang="fr-FR" sz="700">
              <a:solidFill>
                <a:schemeClr val="tx1"/>
              </a:solidFill>
              <a:latin typeface="Arial" panose="020B0604020202020204" pitchFamily="34" charset="0"/>
              <a:cs typeface="Arial" panose="020B0604020202020204" pitchFamily="34" charset="0"/>
            </a:endParaRPr>
          </a:p>
          <a:p>
            <a:pPr marL="171450" indent="-171450">
              <a:buFont typeface="Wingdings" panose="05000000000000000000" pitchFamily="2" charset="2"/>
              <a:buChar char="Ø"/>
              <a:defRPr/>
            </a:pPr>
            <a:r>
              <a:rPr lang="fr-FR" sz="700">
                <a:solidFill>
                  <a:schemeClr val="tx1"/>
                </a:solidFill>
                <a:latin typeface="Arial" panose="020B0604020202020204" pitchFamily="34" charset="0"/>
                <a:cs typeface="Arial" panose="020B0604020202020204" pitchFamily="34" charset="0"/>
              </a:rPr>
              <a:t>vs. « Low Risk » score (11,6) » in 2022</a:t>
            </a:r>
          </a:p>
          <a:p>
            <a:pPr marL="171450" indent="-171450">
              <a:buFont typeface="Wingdings" panose="05000000000000000000" pitchFamily="2" charset="2"/>
              <a:buChar char="Ø"/>
              <a:defRPr/>
            </a:pPr>
            <a:endParaRPr lang="fr-FR" sz="700" u="sng">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defRPr/>
            </a:pPr>
            <a:r>
              <a:rPr lang="fr-FR" sz="700" u="sng">
                <a:solidFill>
                  <a:schemeClr val="tx1"/>
                </a:solidFill>
                <a:latin typeface="Arial" panose="020B0604020202020204" pitchFamily="34" charset="0"/>
                <a:cs typeface="Arial" panose="020B0604020202020204" pitchFamily="34" charset="0"/>
                <a:sym typeface="Wingdings" panose="05000000000000000000" pitchFamily="2" charset="2"/>
              </a:rPr>
              <a:t>Sustainalytics rating </a:t>
            </a:r>
            <a:r>
              <a:rPr lang="fr-FR" sz="700" u="sng" err="1">
                <a:solidFill>
                  <a:schemeClr val="tx1"/>
                </a:solidFill>
                <a:latin typeface="Arial" panose="020B0604020202020204" pitchFamily="34" charset="0"/>
                <a:cs typeface="Arial" panose="020B0604020202020204" pitchFamily="34" charset="0"/>
                <a:sym typeface="Wingdings" panose="05000000000000000000" pitchFamily="2" charset="2"/>
              </a:rPr>
              <a:t>scale</a:t>
            </a:r>
            <a:r>
              <a:rPr lang="fr-FR" sz="700" u="sng">
                <a:solidFill>
                  <a:schemeClr val="tx1"/>
                </a:solidFill>
                <a:latin typeface="Arial" panose="020B0604020202020204" pitchFamily="34" charset="0"/>
                <a:cs typeface="Arial" panose="020B0604020202020204" pitchFamily="34" charset="0"/>
                <a:sym typeface="Wingdings" panose="05000000000000000000" pitchFamily="2" charset="2"/>
              </a:rPr>
              <a:t>: </a:t>
            </a:r>
          </a:p>
          <a:p>
            <a:pPr>
              <a:defRPr/>
            </a:pPr>
            <a:endParaRPr lang="fr-FR" sz="800">
              <a:solidFill>
                <a:srgbClr val="3A75C4"/>
              </a:solidFill>
              <a:latin typeface="Arial" panose="020B0604020202020204" pitchFamily="34" charset="0"/>
              <a:cs typeface="Arial" panose="020B0604020202020204" pitchFamily="34" charset="0"/>
              <a:sym typeface="Wingdings" panose="05000000000000000000" pitchFamily="2" charset="2"/>
            </a:endParaRPr>
          </a:p>
          <a:p>
            <a:pPr>
              <a:defRPr/>
            </a:pPr>
            <a:endParaRPr lang="fr-FR" sz="800">
              <a:solidFill>
                <a:srgbClr val="3A75C4"/>
              </a:solidFill>
              <a:latin typeface="Arial" panose="020B0604020202020204" pitchFamily="34" charset="0"/>
              <a:cs typeface="Arial" panose="020B0604020202020204" pitchFamily="34" charset="0"/>
              <a:sym typeface="Wingdings" panose="05000000000000000000" pitchFamily="2" charset="2"/>
            </a:endParaRPr>
          </a:p>
          <a:p>
            <a:pPr>
              <a:defRPr/>
            </a:pPr>
            <a:endParaRPr lang="fr-FR" sz="800">
              <a:solidFill>
                <a:srgbClr val="3A75C4"/>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Wingdings" panose="05000000000000000000" pitchFamily="2" charset="2"/>
              <a:buChar char="à"/>
              <a:defRPr/>
            </a:pPr>
            <a:r>
              <a:rPr lang="en-US" sz="600">
                <a:solidFill>
                  <a:srgbClr val="3A75C4"/>
                </a:solidFill>
                <a:latin typeface="Arial" panose="020B0604020202020204" pitchFamily="34" charset="0"/>
                <a:cs typeface="Arial" panose="020B0604020202020204" pitchFamily="34" charset="0"/>
                <a:sym typeface="Wingdings" panose="05000000000000000000" pitchFamily="2" charset="2"/>
              </a:rPr>
              <a:t>These scores result from a risk exposure rating and a risk management rating</a:t>
            </a:r>
            <a:r>
              <a:rPr lang="fr-FR" sz="600">
                <a:solidFill>
                  <a:srgbClr val="3A75C4"/>
                </a:solidFill>
                <a:latin typeface="Arial" panose="020B0604020202020204" pitchFamily="34" charset="0"/>
                <a:cs typeface="Arial" panose="020B0604020202020204" pitchFamily="34" charset="0"/>
                <a:sym typeface="Wingdings" panose="05000000000000000000" pitchFamily="2" charset="2"/>
              </a:rPr>
              <a:t>.</a:t>
            </a:r>
          </a:p>
        </p:txBody>
      </p:sp>
      <p:sp>
        <p:nvSpPr>
          <p:cNvPr id="47" name="ZoneTexte 46">
            <a:extLst>
              <a:ext uri="{FF2B5EF4-FFF2-40B4-BE49-F238E27FC236}">
                <a16:creationId xmlns:a16="http://schemas.microsoft.com/office/drawing/2014/main" id="{9BCDBD3E-6060-4ACE-A897-6A5B92CE1D46}"/>
              </a:ext>
            </a:extLst>
          </p:cNvPr>
          <p:cNvSpPr txBox="1"/>
          <p:nvPr/>
        </p:nvSpPr>
        <p:spPr>
          <a:xfrm>
            <a:off x="4915524" y="3542668"/>
            <a:ext cx="1946444" cy="803102"/>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noAutofit/>
          </a:bodyPr>
          <a:lstStyle/>
          <a:p>
            <a:pPr>
              <a:defRPr/>
            </a:pPr>
            <a:r>
              <a:rPr lang="fr-FR" sz="700" b="1">
                <a:solidFill>
                  <a:prstClr val="black"/>
                </a:solidFill>
                <a:latin typeface="Arial" panose="020B0604020202020204" pitchFamily="34" charset="0"/>
                <a:cs typeface="Arial" panose="020B0604020202020204" pitchFamily="34" charset="0"/>
              </a:rPr>
              <a:t>ESG Global score =</a:t>
            </a:r>
            <a:r>
              <a:rPr lang="fr-FR" sz="700">
                <a:solidFill>
                  <a:prstClr val="black"/>
                </a:solidFill>
                <a:latin typeface="Arial" panose="020B0604020202020204" pitchFamily="34" charset="0"/>
                <a:cs typeface="Arial" panose="020B0604020202020204" pitchFamily="34" charset="0"/>
              </a:rPr>
              <a:t> </a:t>
            </a:r>
            <a:r>
              <a:rPr lang="fr-FR" sz="700" b="1">
                <a:solidFill>
                  <a:srgbClr val="4472C4"/>
                </a:solidFill>
                <a:latin typeface="Arial" panose="020B0604020202020204" pitchFamily="34" charset="0"/>
                <a:cs typeface="Arial" panose="020B0604020202020204" pitchFamily="34" charset="0"/>
              </a:rPr>
              <a:t>B </a:t>
            </a:r>
          </a:p>
          <a:p>
            <a:pPr marL="171450" indent="-171450">
              <a:buFont typeface="Wingdings" panose="05000000000000000000" pitchFamily="2" charset="2"/>
              <a:buChar char="Ø"/>
              <a:defRPr/>
            </a:pPr>
            <a:r>
              <a:rPr lang="en-US" sz="700">
                <a:solidFill>
                  <a:schemeClr val="tx1"/>
                </a:solidFill>
                <a:latin typeface="Arial" panose="020B0604020202020204" pitchFamily="34" charset="0"/>
                <a:cs typeface="Arial" panose="020B0604020202020204" pitchFamily="34" charset="0"/>
              </a:rPr>
              <a:t>vs. B score since </a:t>
            </a:r>
            <a:r>
              <a:rPr lang="fr-FR" sz="700">
                <a:solidFill>
                  <a:schemeClr val="tx1"/>
                </a:solidFill>
                <a:latin typeface="Arial" panose="020B0604020202020204" pitchFamily="34" charset="0"/>
                <a:cs typeface="Arial" panose="020B0604020202020204" pitchFamily="34" charset="0"/>
              </a:rPr>
              <a:t>2020</a:t>
            </a:r>
            <a:endParaRPr lang="fr-FR" sz="900" b="1">
              <a:solidFill>
                <a:srgbClr val="4472C4"/>
              </a:solidFill>
              <a:latin typeface="Arial" panose="020B0604020202020204" pitchFamily="34" charset="0"/>
              <a:cs typeface="Arial" panose="020B0604020202020204" pitchFamily="34" charset="0"/>
            </a:endParaRPr>
          </a:p>
          <a:p>
            <a:pPr lvl="0">
              <a:defRPr/>
            </a:pPr>
            <a:endParaRPr lang="fr-FR" sz="900" b="1">
              <a:solidFill>
                <a:srgbClr val="4472C4"/>
              </a:solidFill>
              <a:latin typeface="Arial" panose="020B0604020202020204" pitchFamily="34" charset="0"/>
              <a:cs typeface="Arial" panose="020B0604020202020204" pitchFamily="34" charset="0"/>
            </a:endParaRPr>
          </a:p>
          <a:p>
            <a:pPr>
              <a:defRPr/>
            </a:pPr>
            <a:r>
              <a:rPr lang="fr-FR" sz="600" b="1" u="sng">
                <a:solidFill>
                  <a:prstClr val="black"/>
                </a:solidFill>
                <a:latin typeface="Arial" panose="020B0604020202020204" pitchFamily="34" charset="0"/>
                <a:cs typeface="Arial" panose="020B0604020202020204" pitchFamily="34" charset="0"/>
              </a:rPr>
              <a:t>MSCI rating </a:t>
            </a:r>
            <a:r>
              <a:rPr lang="fr-FR" sz="600" b="1" u="sng" err="1">
                <a:solidFill>
                  <a:prstClr val="black"/>
                </a:solidFill>
                <a:latin typeface="Arial" panose="020B0604020202020204" pitchFamily="34" charset="0"/>
                <a:cs typeface="Arial" panose="020B0604020202020204" pitchFamily="34" charset="0"/>
              </a:rPr>
              <a:t>scale</a:t>
            </a:r>
            <a:r>
              <a:rPr lang="fr-FR" sz="600" b="1" u="sng">
                <a:solidFill>
                  <a:prstClr val="black"/>
                </a:solidFill>
                <a:latin typeface="Arial" panose="020B0604020202020204" pitchFamily="34" charset="0"/>
                <a:cs typeface="Arial" panose="020B0604020202020204" pitchFamily="34" charset="0"/>
              </a:rPr>
              <a:t>:</a:t>
            </a:r>
            <a:endParaRPr lang="fr-FR" sz="600" b="1" u="sng">
              <a:solidFill>
                <a:srgbClr val="4472C4"/>
              </a:solidFill>
              <a:latin typeface="Arial" panose="020B0604020202020204" pitchFamily="34" charset="0"/>
              <a:cs typeface="Arial" panose="020B0604020202020204" pitchFamily="34" charset="0"/>
            </a:endParaRPr>
          </a:p>
          <a:p>
            <a:pPr lvl="0">
              <a:defRPr/>
            </a:pPr>
            <a:endParaRPr lang="fr-FR" sz="900" b="1">
              <a:solidFill>
                <a:srgbClr val="4472C4"/>
              </a:solidFill>
              <a:latin typeface="Arial" panose="020B0604020202020204" pitchFamily="34" charset="0"/>
              <a:cs typeface="Arial" panose="020B0604020202020204" pitchFamily="34" charset="0"/>
            </a:endParaRPr>
          </a:p>
          <a:p>
            <a:pPr lvl="0">
              <a:defRPr/>
            </a:pPr>
            <a:endParaRPr lang="fr-FR" sz="900" b="1">
              <a:solidFill>
                <a:srgbClr val="4472C4"/>
              </a:solidFill>
              <a:latin typeface="Arial" panose="020B0604020202020204" pitchFamily="34" charset="0"/>
              <a:cs typeface="Arial" panose="020B0604020202020204" pitchFamily="34" charset="0"/>
            </a:endParaRPr>
          </a:p>
          <a:p>
            <a:pPr lvl="0">
              <a:defRPr/>
            </a:pPr>
            <a:endParaRPr lang="fr-FR" sz="900" b="1">
              <a:solidFill>
                <a:srgbClr val="4472C4"/>
              </a:solidFill>
              <a:latin typeface="Arial" panose="020B0604020202020204" pitchFamily="34" charset="0"/>
              <a:cs typeface="Arial" panose="020B0604020202020204" pitchFamily="34" charset="0"/>
            </a:endParaRPr>
          </a:p>
          <a:p>
            <a:pPr marL="214313" indent="-214313">
              <a:buFont typeface="Arial" panose="020B0604020202020204" pitchFamily="34" charset="0"/>
              <a:buChar char="•"/>
              <a:defRPr/>
            </a:pPr>
            <a:endParaRPr lang="fr-FR" sz="1050" b="1">
              <a:solidFill>
                <a:srgbClr val="4472C4"/>
              </a:solidFill>
              <a:latin typeface="Arial" panose="020B0604020202020204" pitchFamily="34" charset="0"/>
              <a:cs typeface="Arial" panose="020B0604020202020204" pitchFamily="34" charset="0"/>
            </a:endParaRPr>
          </a:p>
          <a:p>
            <a:pPr>
              <a:defRPr/>
            </a:pPr>
            <a:endParaRPr lang="fr-FR" sz="700" b="1">
              <a:solidFill>
                <a:srgbClr val="4472C4"/>
              </a:solidFill>
              <a:latin typeface="Arial" panose="020B0604020202020204" pitchFamily="34" charset="0"/>
              <a:cs typeface="Arial" panose="020B0604020202020204" pitchFamily="34" charset="0"/>
            </a:endParaRPr>
          </a:p>
        </p:txBody>
      </p:sp>
      <p:pic>
        <p:nvPicPr>
          <p:cNvPr id="49" name="Image 48">
            <a:extLst>
              <a:ext uri="{FF2B5EF4-FFF2-40B4-BE49-F238E27FC236}">
                <a16:creationId xmlns:a16="http://schemas.microsoft.com/office/drawing/2014/main" id="{D10EB0A0-98C0-46F5-BD98-C0B45216F41B}"/>
              </a:ext>
            </a:extLst>
          </p:cNvPr>
          <p:cNvPicPr>
            <a:picLocks noChangeAspect="1"/>
          </p:cNvPicPr>
          <p:nvPr/>
        </p:nvPicPr>
        <p:blipFill>
          <a:blip r:embed="rId10"/>
          <a:stretch>
            <a:fillRect/>
          </a:stretch>
        </p:blipFill>
        <p:spPr>
          <a:xfrm>
            <a:off x="7036341" y="4252374"/>
            <a:ext cx="1763702" cy="266784"/>
          </a:xfrm>
          <a:prstGeom prst="rect">
            <a:avLst/>
          </a:prstGeom>
        </p:spPr>
      </p:pic>
      <p:grpSp>
        <p:nvGrpSpPr>
          <p:cNvPr id="54" name="Groupe 53">
            <a:extLst>
              <a:ext uri="{FF2B5EF4-FFF2-40B4-BE49-F238E27FC236}">
                <a16:creationId xmlns:a16="http://schemas.microsoft.com/office/drawing/2014/main" id="{DB083170-5E31-4F76-BF1D-BC6CF1F21AE1}"/>
              </a:ext>
            </a:extLst>
          </p:cNvPr>
          <p:cNvGrpSpPr/>
          <p:nvPr/>
        </p:nvGrpSpPr>
        <p:grpSpPr>
          <a:xfrm>
            <a:off x="6465158" y="1379192"/>
            <a:ext cx="234430" cy="219038"/>
            <a:chOff x="2979438" y="1796793"/>
            <a:chExt cx="245269" cy="233363"/>
          </a:xfrm>
        </p:grpSpPr>
        <p:cxnSp>
          <p:nvCxnSpPr>
            <p:cNvPr id="55" name="Connecteur droit avec flèche 54">
              <a:extLst>
                <a:ext uri="{FF2B5EF4-FFF2-40B4-BE49-F238E27FC236}">
                  <a16:creationId xmlns:a16="http://schemas.microsoft.com/office/drawing/2014/main" id="{BBAE0F96-8C3C-4161-ABB4-F036B6A032AE}"/>
                </a:ext>
              </a:extLst>
            </p:cNvPr>
            <p:cNvCxnSpPr>
              <a:cxnSpLocks/>
            </p:cNvCxnSpPr>
            <p:nvPr/>
          </p:nvCxnSpPr>
          <p:spPr>
            <a:xfrm flipV="1">
              <a:off x="3042455" y="1860730"/>
              <a:ext cx="119234" cy="101082"/>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56" name="Ellipse 55">
              <a:extLst>
                <a:ext uri="{FF2B5EF4-FFF2-40B4-BE49-F238E27FC236}">
                  <a16:creationId xmlns:a16="http://schemas.microsoft.com/office/drawing/2014/main" id="{28BD2DAB-972D-4DE0-82BF-3D645722739F}"/>
                </a:ext>
              </a:extLst>
            </p:cNvPr>
            <p:cNvSpPr/>
            <p:nvPr/>
          </p:nvSpPr>
          <p:spPr>
            <a:xfrm>
              <a:off x="2979438" y="1796793"/>
              <a:ext cx="245269" cy="233363"/>
            </a:xfrm>
            <a:prstGeom prst="ellipse">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825" err="1">
                <a:latin typeface="+mj-lt"/>
              </a:endParaRPr>
            </a:p>
          </p:txBody>
        </p:sp>
      </p:grpSp>
      <p:sp>
        <p:nvSpPr>
          <p:cNvPr id="52" name="Est égal à 51">
            <a:extLst>
              <a:ext uri="{FF2B5EF4-FFF2-40B4-BE49-F238E27FC236}">
                <a16:creationId xmlns:a16="http://schemas.microsoft.com/office/drawing/2014/main" id="{E248CF59-D023-4F92-8923-12700E2427B2}"/>
              </a:ext>
            </a:extLst>
          </p:cNvPr>
          <p:cNvSpPr/>
          <p:nvPr/>
        </p:nvSpPr>
        <p:spPr>
          <a:xfrm>
            <a:off x="6428359" y="4076466"/>
            <a:ext cx="243825" cy="198628"/>
          </a:xfrm>
          <a:prstGeom prst="mathEqual">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100" err="1">
              <a:solidFill>
                <a:schemeClr val="tx1"/>
              </a:solidFill>
              <a:latin typeface="+mj-lt"/>
            </a:endParaRPr>
          </a:p>
        </p:txBody>
      </p:sp>
      <p:sp>
        <p:nvSpPr>
          <p:cNvPr id="5" name="ZoneTexte 4">
            <a:extLst>
              <a:ext uri="{FF2B5EF4-FFF2-40B4-BE49-F238E27FC236}">
                <a16:creationId xmlns:a16="http://schemas.microsoft.com/office/drawing/2014/main" id="{79D9C016-8D5A-4F1E-8188-1DCB85D51CF1}"/>
              </a:ext>
            </a:extLst>
          </p:cNvPr>
          <p:cNvSpPr txBox="1"/>
          <p:nvPr/>
        </p:nvSpPr>
        <p:spPr>
          <a:xfrm>
            <a:off x="3748000" y="4591930"/>
            <a:ext cx="914400" cy="914400"/>
          </a:xfrm>
          <a:prstGeom prst="rect">
            <a:avLst/>
          </a:prstGeom>
        </p:spPr>
        <p:txBody>
          <a:bodyPr vert="horz" wrap="none" lIns="91440" tIns="45720" rIns="91440" bIns="45720" rtlCol="0">
            <a:noAutofit/>
          </a:bodyPr>
          <a:lstStyle/>
          <a:p>
            <a:pPr marL="171450" indent="-171450" algn="l">
              <a:buBlip>
                <a:blip r:embed="rId11"/>
              </a:buBlip>
            </a:pPr>
            <a:endParaRPr lang="fr-FR" sz="1200" b="1" err="1">
              <a:solidFill>
                <a:srgbClr val="007BC0"/>
              </a:solidFill>
              <a:latin typeface="+mj-lt"/>
            </a:endParaRPr>
          </a:p>
        </p:txBody>
      </p:sp>
      <p:pic>
        <p:nvPicPr>
          <p:cNvPr id="63" name="Image 62">
            <a:extLst>
              <a:ext uri="{FF2B5EF4-FFF2-40B4-BE49-F238E27FC236}">
                <a16:creationId xmlns:a16="http://schemas.microsoft.com/office/drawing/2014/main" id="{2B4B5481-2B73-4589-9AB6-02F0583419D2}"/>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22826" t="8239" r="28537" b="12171"/>
          <a:stretch/>
        </p:blipFill>
        <p:spPr>
          <a:xfrm>
            <a:off x="6370983" y="4585811"/>
            <a:ext cx="338706" cy="311774"/>
          </a:xfrm>
          <a:prstGeom prst="rect">
            <a:avLst/>
          </a:prstGeom>
        </p:spPr>
      </p:pic>
      <p:grpSp>
        <p:nvGrpSpPr>
          <p:cNvPr id="64" name="Groupe 63">
            <a:extLst>
              <a:ext uri="{FF2B5EF4-FFF2-40B4-BE49-F238E27FC236}">
                <a16:creationId xmlns:a16="http://schemas.microsoft.com/office/drawing/2014/main" id="{5E0E8FB3-EB66-4944-8C09-7851830AF285}"/>
              </a:ext>
            </a:extLst>
          </p:cNvPr>
          <p:cNvGrpSpPr/>
          <p:nvPr/>
        </p:nvGrpSpPr>
        <p:grpSpPr>
          <a:xfrm>
            <a:off x="5826450" y="4767414"/>
            <a:ext cx="245269" cy="233363"/>
            <a:chOff x="2979438" y="1796793"/>
            <a:chExt cx="245269" cy="233363"/>
          </a:xfrm>
        </p:grpSpPr>
        <p:cxnSp>
          <p:nvCxnSpPr>
            <p:cNvPr id="65" name="Connecteur droit avec flèche 64">
              <a:extLst>
                <a:ext uri="{FF2B5EF4-FFF2-40B4-BE49-F238E27FC236}">
                  <a16:creationId xmlns:a16="http://schemas.microsoft.com/office/drawing/2014/main" id="{C0DF6AEF-E1DC-4EA6-AEB4-090D96369F87}"/>
                </a:ext>
              </a:extLst>
            </p:cNvPr>
            <p:cNvCxnSpPr>
              <a:cxnSpLocks/>
            </p:cNvCxnSpPr>
            <p:nvPr/>
          </p:nvCxnSpPr>
          <p:spPr>
            <a:xfrm flipV="1">
              <a:off x="3042455" y="1860730"/>
              <a:ext cx="119234" cy="101082"/>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66" name="Ellipse 65">
              <a:extLst>
                <a:ext uri="{FF2B5EF4-FFF2-40B4-BE49-F238E27FC236}">
                  <a16:creationId xmlns:a16="http://schemas.microsoft.com/office/drawing/2014/main" id="{759DEAD8-9C1A-4F67-B707-6FE2CA8DCA71}"/>
                </a:ext>
              </a:extLst>
            </p:cNvPr>
            <p:cNvSpPr/>
            <p:nvPr/>
          </p:nvSpPr>
          <p:spPr>
            <a:xfrm>
              <a:off x="2979438" y="1796793"/>
              <a:ext cx="245269" cy="233363"/>
            </a:xfrm>
            <a:prstGeom prst="ellipse">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825" err="1">
                <a:latin typeface="+mj-lt"/>
              </a:endParaRPr>
            </a:p>
          </p:txBody>
        </p:sp>
      </p:grpSp>
      <p:sp>
        <p:nvSpPr>
          <p:cNvPr id="86" name="Rectangle 85">
            <a:extLst>
              <a:ext uri="{FF2B5EF4-FFF2-40B4-BE49-F238E27FC236}">
                <a16:creationId xmlns:a16="http://schemas.microsoft.com/office/drawing/2014/main" id="{562C1FDA-CC6D-493D-95BD-CFA58DE5654F}"/>
              </a:ext>
            </a:extLst>
          </p:cNvPr>
          <p:cNvSpPr>
            <a:spLocks/>
          </p:cNvSpPr>
          <p:nvPr>
            <p:custDataLst>
              <p:tags r:id="rId4"/>
            </p:custDataLst>
          </p:nvPr>
        </p:nvSpPr>
        <p:spPr>
          <a:xfrm>
            <a:off x="98746" y="2860155"/>
            <a:ext cx="4115636" cy="240794"/>
          </a:xfrm>
          <a:prstGeom prst="rect">
            <a:avLst/>
          </a:prstGeom>
          <a:noFill/>
        </p:spPr>
        <p:txBody>
          <a:bodyPr vert="horz" lIns="91440" tIns="45720" rIns="91440" bIns="45720" rtlCol="0" anchor="ctr">
            <a:noAutofit/>
          </a:bodyPr>
          <a:lstStyle/>
          <a:p>
            <a:pPr>
              <a:spcAft>
                <a:spcPts val="300"/>
              </a:spcAft>
              <a:buSzPct val="110000"/>
            </a:pPr>
            <a:r>
              <a:rPr lang="fr-FR" sz="900" b="1" cap="all" err="1">
                <a:solidFill>
                  <a:srgbClr val="3A75C4"/>
                </a:solidFill>
                <a:latin typeface="+mj-lt"/>
              </a:rPr>
              <a:t>Governance</a:t>
            </a:r>
            <a:endParaRPr lang="fr-FR" sz="900" b="1" cap="all">
              <a:solidFill>
                <a:srgbClr val="3A75C4"/>
              </a:solidFill>
              <a:latin typeface="+mj-lt"/>
            </a:endParaRPr>
          </a:p>
        </p:txBody>
      </p:sp>
      <p:sp>
        <p:nvSpPr>
          <p:cNvPr id="87" name="Espace réservé du contenu 7">
            <a:extLst>
              <a:ext uri="{FF2B5EF4-FFF2-40B4-BE49-F238E27FC236}">
                <a16:creationId xmlns:a16="http://schemas.microsoft.com/office/drawing/2014/main" id="{68C265ED-97AB-47CF-990F-DF89F019F509}"/>
              </a:ext>
            </a:extLst>
          </p:cNvPr>
          <p:cNvSpPr txBox="1">
            <a:spLocks/>
          </p:cNvSpPr>
          <p:nvPr/>
        </p:nvSpPr>
        <p:spPr>
          <a:xfrm>
            <a:off x="111850" y="3084575"/>
            <a:ext cx="4314276" cy="1337231"/>
          </a:xfrm>
          <a:prstGeom prst="rect">
            <a:avLst/>
          </a:prstGeom>
          <a:ln w="12700">
            <a:noFill/>
          </a:ln>
          <a:effectLst/>
        </p:spPr>
        <p:txBody>
          <a:bodyPr/>
          <a:lstStyle>
            <a:lvl1pPr marL="180000" indent="-180000" algn="l" defTabSz="685800" rtl="0" eaLnBrk="1" latinLnBrk="0" hangingPunct="1">
              <a:lnSpc>
                <a:spcPct val="100000"/>
              </a:lnSpc>
              <a:spcBef>
                <a:spcPts val="0"/>
              </a:spcBef>
              <a:spcAft>
                <a:spcPts val="300"/>
              </a:spcAft>
              <a:buSzPct val="110000"/>
              <a:buFontTx/>
              <a:buBlip>
                <a:blip r:embed="rId13"/>
              </a:buBlip>
              <a:defRPr sz="1200" b="1" kern="1200">
                <a:solidFill>
                  <a:srgbClr val="0080C6"/>
                </a:solidFill>
                <a:latin typeface="+mj-lt"/>
                <a:ea typeface="+mn-ea"/>
                <a:cs typeface="+mn-cs"/>
              </a:defRPr>
            </a:lvl1pPr>
            <a:lvl2pPr marL="360000" indent="-180000" algn="l" defTabSz="685800" rtl="0" eaLnBrk="1" latinLnBrk="0" hangingPunct="1">
              <a:lnSpc>
                <a:spcPct val="100000"/>
              </a:lnSpc>
              <a:spcBef>
                <a:spcPts val="0"/>
              </a:spcBef>
              <a:spcAft>
                <a:spcPts val="300"/>
              </a:spcAft>
              <a:buClr>
                <a:srgbClr val="808080"/>
              </a:buClr>
              <a:buFont typeface="Wingdings" panose="05000000000000000000" pitchFamily="2" charset="2"/>
              <a:buChar char="§"/>
              <a:defRPr sz="1100" kern="1200">
                <a:solidFill>
                  <a:srgbClr val="808080"/>
                </a:solidFill>
                <a:latin typeface="+mj-lt"/>
                <a:ea typeface="+mn-ea"/>
                <a:cs typeface="+mn-cs"/>
              </a:defRPr>
            </a:lvl2pPr>
            <a:lvl3pPr marL="576000" indent="-180000" algn="l" defTabSz="685800" rtl="0" eaLnBrk="1" latinLnBrk="0" hangingPunct="1">
              <a:lnSpc>
                <a:spcPct val="100000"/>
              </a:lnSpc>
              <a:spcBef>
                <a:spcPts val="0"/>
              </a:spcBef>
              <a:spcAft>
                <a:spcPts val="300"/>
              </a:spcAft>
              <a:buClr>
                <a:srgbClr val="808080"/>
              </a:buClr>
              <a:buFont typeface="Calibri Light" panose="020F0302020204030204" pitchFamily="34" charset="0"/>
              <a:buChar char="‐"/>
              <a:defRPr sz="1000" kern="1200">
                <a:solidFill>
                  <a:schemeClr val="bg2"/>
                </a:solidFill>
                <a:latin typeface="+mj-lt"/>
                <a:ea typeface="+mn-ea"/>
                <a:cs typeface="+mn-cs"/>
              </a:defRPr>
            </a:lvl3pPr>
            <a:lvl4pPr marL="576000" indent="-180000" algn="l" defTabSz="685800" rtl="0" eaLnBrk="1" latinLnBrk="0" hangingPunct="1">
              <a:lnSpc>
                <a:spcPct val="100000"/>
              </a:lnSpc>
              <a:spcBef>
                <a:spcPts val="0"/>
              </a:spcBef>
              <a:spcAft>
                <a:spcPts val="300"/>
              </a:spcAft>
              <a:buClr>
                <a:srgbClr val="808080"/>
              </a:buClr>
              <a:buFont typeface="Calibri Light" panose="020F0302020204030204" pitchFamily="34" charset="0"/>
              <a:buChar char="‐"/>
              <a:defRPr sz="1000" i="0" kern="1200">
                <a:solidFill>
                  <a:schemeClr val="bg2"/>
                </a:solidFill>
                <a:latin typeface="+mj-lt"/>
                <a:ea typeface="+mn-ea"/>
                <a:cs typeface="+mn-cs"/>
              </a:defRPr>
            </a:lvl4pPr>
            <a:lvl5pPr marL="576000" indent="-180000" algn="l" defTabSz="685800" rtl="0" eaLnBrk="1" latinLnBrk="0" hangingPunct="1">
              <a:lnSpc>
                <a:spcPct val="100000"/>
              </a:lnSpc>
              <a:spcBef>
                <a:spcPts val="0"/>
              </a:spcBef>
              <a:spcAft>
                <a:spcPts val="300"/>
              </a:spcAft>
              <a:buClr>
                <a:srgbClr val="808080"/>
              </a:buClr>
              <a:buFont typeface="Calibri Light" panose="020F0302020204030204" pitchFamily="34" charset="0"/>
              <a:buChar char="‐"/>
              <a:defRPr sz="1000" i="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80975" marR="0" lvl="1" indent="-180975" algn="just" fontAlgn="auto">
              <a:lnSpc>
                <a:spcPct val="100000"/>
              </a:lnSpc>
              <a:spcBef>
                <a:spcPts val="0"/>
              </a:spcBef>
              <a:buClr>
                <a:srgbClr val="3A75C4"/>
              </a:buClr>
              <a:buSzPct val="70000"/>
              <a:tabLst/>
              <a:defRPr/>
            </a:pPr>
            <a:r>
              <a:rPr lang="en-US" sz="1000">
                <a:solidFill>
                  <a:schemeClr val="tx1"/>
                </a:solidFill>
                <a:latin typeface="Arial" panose="020B0604020202020204" pitchFamily="34" charset="0"/>
                <a:ea typeface="Tahoma" pitchFamily="34" charset="0"/>
                <a:cs typeface="Arial" panose="020B0604020202020204" pitchFamily="34" charset="0"/>
              </a:rPr>
              <a:t>A smaller (13 directors), more independent (36% independent) and more feminine (45%) Board of Directors</a:t>
            </a:r>
            <a:r>
              <a:rPr lang="fr-FR" sz="1000">
                <a:solidFill>
                  <a:schemeClr val="tx1"/>
                </a:solidFill>
                <a:latin typeface="Arial" panose="020B0604020202020204" pitchFamily="34" charset="0"/>
                <a:ea typeface="Tahoma" pitchFamily="34" charset="0"/>
                <a:cs typeface="Arial" panose="020B0604020202020204" pitchFamily="34" charset="0"/>
              </a:rPr>
              <a:t>.</a:t>
            </a:r>
          </a:p>
          <a:p>
            <a:pPr marL="180975" lvl="1" indent="-180975" algn="just">
              <a:buClr>
                <a:srgbClr val="3A75C4"/>
              </a:buClr>
              <a:buSzPct val="70000"/>
              <a:defRPr/>
            </a:pPr>
            <a:r>
              <a:rPr lang="en-US" sz="1000">
                <a:solidFill>
                  <a:schemeClr val="tx1"/>
                </a:solidFill>
                <a:latin typeface="Arial" panose="020B0604020202020204" pitchFamily="34" charset="0"/>
                <a:ea typeface="Tahoma" pitchFamily="34" charset="0"/>
                <a:cs typeface="Arial" panose="020B0604020202020204" pitchFamily="34" charset="0"/>
              </a:rPr>
              <a:t>An Executive Committee: 12 members, 50% women. Functions represented: </a:t>
            </a:r>
            <a:r>
              <a:rPr lang="en-US" sz="1000" i="1">
                <a:solidFill>
                  <a:schemeClr val="tx1"/>
                </a:solidFill>
                <a:latin typeface="Arial" panose="020B0604020202020204" pitchFamily="34" charset="0"/>
                <a:ea typeface="Tahoma" pitchFamily="34" charset="0"/>
                <a:cs typeface="Arial" panose="020B0604020202020204" pitchFamily="34" charset="0"/>
              </a:rPr>
              <a:t>finance, human resources, legal, tax, purchasing, CSR and compliance departments</a:t>
            </a:r>
            <a:r>
              <a:rPr lang="fr-FR" sz="1000">
                <a:solidFill>
                  <a:schemeClr val="tx1"/>
                </a:solidFill>
                <a:latin typeface="Arial" panose="020B0604020202020204" pitchFamily="34" charset="0"/>
                <a:ea typeface="Tahoma" pitchFamily="34" charset="0"/>
                <a:cs typeface="Arial" panose="020B0604020202020204" pitchFamily="34" charset="0"/>
              </a:rPr>
              <a:t>.</a:t>
            </a:r>
          </a:p>
          <a:p>
            <a:pPr marL="180975" lvl="1" indent="-180975" algn="just">
              <a:buClr>
                <a:srgbClr val="3A75C4"/>
              </a:buClr>
              <a:buSzPct val="70000"/>
              <a:defRPr/>
            </a:pPr>
            <a:r>
              <a:rPr lang="en-US" sz="1000">
                <a:solidFill>
                  <a:schemeClr val="tx1"/>
                </a:solidFill>
                <a:latin typeface="Arial" panose="020B0604020202020204" pitchFamily="34" charset="0"/>
                <a:ea typeface="Tahoma" pitchFamily="34" charset="0"/>
                <a:cs typeface="Arial" panose="020B0604020202020204" pitchFamily="34" charset="0"/>
              </a:rPr>
              <a:t>Executive Session of independent directors since 2022.</a:t>
            </a:r>
            <a:endParaRPr lang="fr-FR" sz="1000">
              <a:solidFill>
                <a:schemeClr val="tx1"/>
              </a:solidFill>
              <a:latin typeface="Arial" panose="020B0604020202020204" pitchFamily="34" charset="0"/>
              <a:ea typeface="Tahoma" pitchFamily="34" charset="0"/>
              <a:cs typeface="Arial" panose="020B0604020202020204" pitchFamily="34" charset="0"/>
            </a:endParaRPr>
          </a:p>
          <a:p>
            <a:pPr marL="180975" lvl="1" indent="-180975" algn="just">
              <a:buClr>
                <a:srgbClr val="3A75C4"/>
              </a:buClr>
              <a:buSzPct val="70000"/>
              <a:defRPr/>
            </a:pPr>
            <a:r>
              <a:rPr lang="en-US" sz="1000">
                <a:solidFill>
                  <a:schemeClr val="tx1"/>
                </a:solidFill>
                <a:latin typeface="Arial" panose="020B0604020202020204" pitchFamily="34" charset="0"/>
                <a:ea typeface="Tahoma" pitchFamily="34" charset="0"/>
                <a:cs typeface="Arial" panose="020B0604020202020204" pitchFamily="34" charset="0"/>
              </a:rPr>
              <a:t>CSR training for independent directors in 2023.  </a:t>
            </a:r>
            <a:endParaRPr lang="fr-FR" sz="1000">
              <a:solidFill>
                <a:schemeClr val="tx1"/>
              </a:solidFill>
              <a:latin typeface="Arial" panose="020B0604020202020204" pitchFamily="34" charset="0"/>
              <a:ea typeface="Tahoma" pitchFamily="34" charset="0"/>
              <a:cs typeface="Arial" panose="020B0604020202020204" pitchFamily="34" charset="0"/>
            </a:endParaRPr>
          </a:p>
          <a:p>
            <a:pPr marL="0" marR="0" lvl="0" indent="0" algn="just" defTabSz="685800" rtl="0" eaLnBrk="1" fontAlgn="auto" latinLnBrk="0" hangingPunct="1">
              <a:lnSpc>
                <a:spcPct val="100000"/>
              </a:lnSpc>
              <a:spcBef>
                <a:spcPts val="0"/>
              </a:spcBef>
              <a:spcAft>
                <a:spcPts val="300"/>
              </a:spcAft>
              <a:buClr>
                <a:srgbClr val="3A75C4"/>
              </a:buClr>
              <a:buSzPct val="70000"/>
              <a:buFontTx/>
              <a:buNone/>
              <a:tabLst>
                <a:tab pos="176213" algn="l"/>
              </a:tabLst>
              <a:defRPr/>
            </a:pPr>
            <a:endParaRPr lang="fr-FR" sz="750">
              <a:solidFill>
                <a:schemeClr val="tx1"/>
              </a:solidFill>
              <a:latin typeface="Arial" panose="020B0604020202020204" pitchFamily="34" charset="0"/>
              <a:cs typeface="Arial" panose="020B0604020202020204" pitchFamily="34" charset="0"/>
            </a:endParaRPr>
          </a:p>
          <a:p>
            <a:pPr marL="0" marR="0" lvl="0" indent="0" algn="just" defTabSz="685800" rtl="0" eaLnBrk="1" fontAlgn="auto" latinLnBrk="0" hangingPunct="1">
              <a:lnSpc>
                <a:spcPct val="100000"/>
              </a:lnSpc>
              <a:spcBef>
                <a:spcPts val="0"/>
              </a:spcBef>
              <a:spcAft>
                <a:spcPts val="300"/>
              </a:spcAft>
              <a:buClr>
                <a:srgbClr val="3A75C4"/>
              </a:buClr>
              <a:buSzPct val="70000"/>
              <a:buFontTx/>
              <a:buNone/>
              <a:tabLst>
                <a:tab pos="176213" algn="l"/>
              </a:tabLst>
              <a:defRPr/>
            </a:pPr>
            <a:endParaRPr kumimoji="0" lang="fr-FR" sz="75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88" name="Rectangle 87">
            <a:extLst>
              <a:ext uri="{FF2B5EF4-FFF2-40B4-BE49-F238E27FC236}">
                <a16:creationId xmlns:a16="http://schemas.microsoft.com/office/drawing/2014/main" id="{FF621F17-7FD7-4386-BA03-CB19D9674CB5}"/>
              </a:ext>
            </a:extLst>
          </p:cNvPr>
          <p:cNvSpPr>
            <a:spLocks/>
          </p:cNvSpPr>
          <p:nvPr>
            <p:custDataLst>
              <p:tags r:id="rId5"/>
            </p:custDataLst>
          </p:nvPr>
        </p:nvSpPr>
        <p:spPr>
          <a:xfrm>
            <a:off x="108190" y="1670611"/>
            <a:ext cx="4115636" cy="240794"/>
          </a:xfrm>
          <a:prstGeom prst="rect">
            <a:avLst/>
          </a:prstGeom>
          <a:noFill/>
        </p:spPr>
        <p:txBody>
          <a:bodyPr vert="horz" lIns="91440" tIns="45720" rIns="91440" bIns="45720" rtlCol="0" anchor="ctr">
            <a:noAutofit/>
          </a:bodyPr>
          <a:lstStyle/>
          <a:p>
            <a:pPr>
              <a:spcAft>
                <a:spcPts val="300"/>
              </a:spcAft>
              <a:buSzPct val="110000"/>
            </a:pPr>
            <a:r>
              <a:rPr lang="fr-FR" sz="900" b="1" cap="all">
                <a:solidFill>
                  <a:srgbClr val="3A75C4"/>
                </a:solidFill>
                <a:latin typeface="+mj-lt"/>
              </a:rPr>
              <a:t>SOCIAL</a:t>
            </a:r>
          </a:p>
        </p:txBody>
      </p:sp>
      <p:sp>
        <p:nvSpPr>
          <p:cNvPr id="93" name="ZoneTexte 92">
            <a:extLst>
              <a:ext uri="{FF2B5EF4-FFF2-40B4-BE49-F238E27FC236}">
                <a16:creationId xmlns:a16="http://schemas.microsoft.com/office/drawing/2014/main" id="{EC5386FC-E298-4C90-81EB-E9152465AE5D}"/>
              </a:ext>
            </a:extLst>
          </p:cNvPr>
          <p:cNvSpPr txBox="1"/>
          <p:nvPr/>
        </p:nvSpPr>
        <p:spPr>
          <a:xfrm>
            <a:off x="122094" y="1863405"/>
            <a:ext cx="4314277" cy="784830"/>
          </a:xfrm>
          <a:prstGeom prst="rect">
            <a:avLst/>
          </a:prstGeom>
          <a:noFill/>
        </p:spPr>
        <p:txBody>
          <a:bodyPr wrap="square" rtlCol="0">
            <a:spAutoFit/>
          </a:bodyPr>
          <a:lstStyle/>
          <a:p>
            <a:pPr marL="0" lvl="1" algn="just">
              <a:spcAft>
                <a:spcPts val="300"/>
              </a:spcAft>
              <a:buClr>
                <a:srgbClr val="3A75C4"/>
              </a:buClr>
              <a:buSzPct val="70000"/>
              <a:defRPr/>
            </a:pPr>
            <a:r>
              <a:rPr lang="fr-FR" sz="1000" b="1">
                <a:latin typeface="Arial" panose="020B0604020202020204" pitchFamily="34" charset="0"/>
                <a:ea typeface="Tahoma" pitchFamily="34" charset="0"/>
                <a:cs typeface="Arial" panose="020B0604020202020204" pitchFamily="34" charset="0"/>
              </a:rPr>
              <a:t>Duty of care/ Human </a:t>
            </a:r>
            <a:r>
              <a:rPr lang="fr-FR" sz="1000" b="1" err="1">
                <a:latin typeface="Arial" panose="020B0604020202020204" pitchFamily="34" charset="0"/>
                <a:ea typeface="Tahoma" pitchFamily="34" charset="0"/>
                <a:cs typeface="Arial" panose="020B0604020202020204" pitchFamily="34" charset="0"/>
              </a:rPr>
              <a:t>Rights</a:t>
            </a:r>
            <a:endParaRPr lang="fr-FR" sz="1000" b="1">
              <a:latin typeface="Arial" panose="020B0604020202020204" pitchFamily="34" charset="0"/>
              <a:ea typeface="Tahoma" pitchFamily="34" charset="0"/>
              <a:cs typeface="Arial" panose="020B0604020202020204" pitchFamily="34" charset="0"/>
            </a:endParaRPr>
          </a:p>
          <a:p>
            <a:pPr marL="180975" lvl="1" indent="-180975" algn="just">
              <a:spcAft>
                <a:spcPts val="300"/>
              </a:spcAft>
              <a:buClr>
                <a:srgbClr val="3A75C4"/>
              </a:buClr>
              <a:buSzPct val="70000"/>
              <a:buFont typeface="Wingdings" panose="05000000000000000000" pitchFamily="2" charset="2"/>
              <a:buChar char="§"/>
              <a:defRPr/>
            </a:pPr>
            <a:r>
              <a:rPr lang="en-US" sz="1000">
                <a:latin typeface="Arial" panose="020B0604020202020204" pitchFamily="34" charset="0"/>
                <a:ea typeface="Tahoma" pitchFamily="34" charset="0"/>
                <a:cs typeface="Arial" panose="020B0604020202020204" pitchFamily="34" charset="0"/>
              </a:rPr>
              <a:t>Creation of a network of human rights advisors within local HR departments to implement action plans</a:t>
            </a:r>
            <a:r>
              <a:rPr lang="fr-FR" sz="1000">
                <a:latin typeface="Arial" panose="020B0604020202020204" pitchFamily="34" charset="0"/>
                <a:ea typeface="Tahoma" pitchFamily="34" charset="0"/>
                <a:cs typeface="Arial" panose="020B0604020202020204" pitchFamily="34" charset="0"/>
              </a:rPr>
              <a:t>. </a:t>
            </a:r>
          </a:p>
          <a:p>
            <a:pPr marL="180975" lvl="1" indent="-180975" algn="just">
              <a:spcAft>
                <a:spcPts val="300"/>
              </a:spcAft>
              <a:buClr>
                <a:srgbClr val="3A75C4"/>
              </a:buClr>
              <a:buSzPct val="70000"/>
              <a:buFont typeface="Wingdings" panose="05000000000000000000" pitchFamily="2" charset="2"/>
              <a:buChar char="§"/>
              <a:defRPr/>
            </a:pPr>
            <a:r>
              <a:rPr lang="en-US" sz="1000">
                <a:latin typeface="Arial" panose="020B0604020202020204" pitchFamily="34" charset="0"/>
                <a:ea typeface="Tahoma" pitchFamily="34" charset="0"/>
                <a:cs typeface="Arial" panose="020B0604020202020204" pitchFamily="34" charset="0"/>
              </a:rPr>
              <a:t>Launch of a living wage mission in the priority vigilance perimeter.</a:t>
            </a:r>
            <a:endParaRPr lang="fr-FR" sz="1000">
              <a:latin typeface="Arial" panose="020B0604020202020204" pitchFamily="34" charset="0"/>
              <a:ea typeface="Tahoma" pitchFamily="34" charset="0"/>
              <a:cs typeface="Arial" panose="020B0604020202020204" pitchFamily="34" charset="0"/>
            </a:endParaRPr>
          </a:p>
        </p:txBody>
      </p:sp>
      <p:pic>
        <p:nvPicPr>
          <p:cNvPr id="92" name="Image 91">
            <a:extLst>
              <a:ext uri="{FF2B5EF4-FFF2-40B4-BE49-F238E27FC236}">
                <a16:creationId xmlns:a16="http://schemas.microsoft.com/office/drawing/2014/main" id="{45ED50CC-E3FB-4228-B628-038A4E50EA5C}"/>
              </a:ext>
            </a:extLst>
          </p:cNvPr>
          <p:cNvPicPr>
            <a:picLocks noChangeAspect="1"/>
          </p:cNvPicPr>
          <p:nvPr/>
        </p:nvPicPr>
        <p:blipFill rotWithShape="1">
          <a:blip r:embed="rId14"/>
          <a:srcRect t="33757"/>
          <a:stretch/>
        </p:blipFill>
        <p:spPr>
          <a:xfrm>
            <a:off x="4957894" y="4085590"/>
            <a:ext cx="1283522" cy="189106"/>
          </a:xfrm>
          <a:prstGeom prst="rect">
            <a:avLst/>
          </a:prstGeom>
        </p:spPr>
      </p:pic>
      <p:grpSp>
        <p:nvGrpSpPr>
          <p:cNvPr id="95" name="Groupe 94">
            <a:extLst>
              <a:ext uri="{FF2B5EF4-FFF2-40B4-BE49-F238E27FC236}">
                <a16:creationId xmlns:a16="http://schemas.microsoft.com/office/drawing/2014/main" id="{9C656EAE-E76F-40C3-9A9E-51A3DB2CD6F7}"/>
              </a:ext>
            </a:extLst>
          </p:cNvPr>
          <p:cNvGrpSpPr/>
          <p:nvPr/>
        </p:nvGrpSpPr>
        <p:grpSpPr>
          <a:xfrm>
            <a:off x="8491279" y="1356412"/>
            <a:ext cx="234430" cy="219038"/>
            <a:chOff x="2979438" y="1796793"/>
            <a:chExt cx="245269" cy="233363"/>
          </a:xfrm>
        </p:grpSpPr>
        <p:cxnSp>
          <p:nvCxnSpPr>
            <p:cNvPr id="96" name="Connecteur droit avec flèche 95">
              <a:extLst>
                <a:ext uri="{FF2B5EF4-FFF2-40B4-BE49-F238E27FC236}">
                  <a16:creationId xmlns:a16="http://schemas.microsoft.com/office/drawing/2014/main" id="{B990D9E4-8CFF-4A8E-ADA8-78AD12A2DF8B}"/>
                </a:ext>
              </a:extLst>
            </p:cNvPr>
            <p:cNvCxnSpPr>
              <a:cxnSpLocks/>
            </p:cNvCxnSpPr>
            <p:nvPr/>
          </p:nvCxnSpPr>
          <p:spPr>
            <a:xfrm flipV="1">
              <a:off x="3042455" y="1860730"/>
              <a:ext cx="119234" cy="101082"/>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97" name="Ellipse 96">
              <a:extLst>
                <a:ext uri="{FF2B5EF4-FFF2-40B4-BE49-F238E27FC236}">
                  <a16:creationId xmlns:a16="http://schemas.microsoft.com/office/drawing/2014/main" id="{51AA09F4-00EA-4083-BFDA-B104FED436FA}"/>
                </a:ext>
              </a:extLst>
            </p:cNvPr>
            <p:cNvSpPr/>
            <p:nvPr/>
          </p:nvSpPr>
          <p:spPr>
            <a:xfrm>
              <a:off x="2979438" y="1796793"/>
              <a:ext cx="245269" cy="233363"/>
            </a:xfrm>
            <a:prstGeom prst="ellipse">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825" err="1">
                <a:latin typeface="+mj-lt"/>
              </a:endParaRPr>
            </a:p>
          </p:txBody>
        </p:sp>
      </p:grpSp>
      <p:pic>
        <p:nvPicPr>
          <p:cNvPr id="57" name="Image 56">
            <a:extLst>
              <a:ext uri="{FF2B5EF4-FFF2-40B4-BE49-F238E27FC236}">
                <a16:creationId xmlns:a16="http://schemas.microsoft.com/office/drawing/2014/main" id="{91A7E4EA-86FF-42B5-BE43-9BB97B8EDF57}"/>
              </a:ext>
            </a:extLst>
          </p:cNvPr>
          <p:cNvPicPr>
            <a:picLocks noChangeAspect="1"/>
          </p:cNvPicPr>
          <p:nvPr/>
        </p:nvPicPr>
        <p:blipFill rotWithShape="1">
          <a:blip r:embed="rId15"/>
          <a:srcRect t="13482" b="14920"/>
          <a:stretch/>
        </p:blipFill>
        <p:spPr>
          <a:xfrm>
            <a:off x="5653443" y="640102"/>
            <a:ext cx="806760" cy="213351"/>
          </a:xfrm>
          <a:prstGeom prst="rect">
            <a:avLst/>
          </a:prstGeom>
        </p:spPr>
      </p:pic>
      <p:pic>
        <p:nvPicPr>
          <p:cNvPr id="82" name="Image 81">
            <a:extLst>
              <a:ext uri="{FF2B5EF4-FFF2-40B4-BE49-F238E27FC236}">
                <a16:creationId xmlns:a16="http://schemas.microsoft.com/office/drawing/2014/main" id="{5D7275B5-CE2E-4955-BB8E-D060C2E7FFF6}"/>
              </a:ext>
            </a:extLst>
          </p:cNvPr>
          <p:cNvPicPr>
            <a:picLocks noChangeAspect="1"/>
          </p:cNvPicPr>
          <p:nvPr/>
        </p:nvPicPr>
        <p:blipFill rotWithShape="1">
          <a:blip r:embed="rId16"/>
          <a:srcRect t="24506" b="16290"/>
          <a:stretch/>
        </p:blipFill>
        <p:spPr>
          <a:xfrm>
            <a:off x="7511746" y="639081"/>
            <a:ext cx="896734" cy="221476"/>
          </a:xfrm>
          <a:prstGeom prst="rect">
            <a:avLst/>
          </a:prstGeom>
        </p:spPr>
      </p:pic>
      <p:pic>
        <p:nvPicPr>
          <p:cNvPr id="84" name="Image 83">
            <a:extLst>
              <a:ext uri="{FF2B5EF4-FFF2-40B4-BE49-F238E27FC236}">
                <a16:creationId xmlns:a16="http://schemas.microsoft.com/office/drawing/2014/main" id="{FDDD60E3-799A-4927-A6AE-726A1928508C}"/>
              </a:ext>
            </a:extLst>
          </p:cNvPr>
          <p:cNvPicPr>
            <a:picLocks noChangeAspect="1"/>
          </p:cNvPicPr>
          <p:nvPr/>
        </p:nvPicPr>
        <p:blipFill>
          <a:blip r:embed="rId17"/>
          <a:stretch>
            <a:fillRect/>
          </a:stretch>
        </p:blipFill>
        <p:spPr>
          <a:xfrm>
            <a:off x="5772963" y="1779600"/>
            <a:ext cx="567720" cy="233477"/>
          </a:xfrm>
          <a:prstGeom prst="rect">
            <a:avLst/>
          </a:prstGeom>
        </p:spPr>
      </p:pic>
      <p:pic>
        <p:nvPicPr>
          <p:cNvPr id="85" name="Image 84">
            <a:extLst>
              <a:ext uri="{FF2B5EF4-FFF2-40B4-BE49-F238E27FC236}">
                <a16:creationId xmlns:a16="http://schemas.microsoft.com/office/drawing/2014/main" id="{C440FF52-736C-4E05-8AFC-E013561BE9B0}"/>
              </a:ext>
            </a:extLst>
          </p:cNvPr>
          <p:cNvPicPr>
            <a:picLocks noChangeAspect="1"/>
          </p:cNvPicPr>
          <p:nvPr/>
        </p:nvPicPr>
        <p:blipFill>
          <a:blip r:embed="rId18"/>
          <a:stretch>
            <a:fillRect/>
          </a:stretch>
        </p:blipFill>
        <p:spPr>
          <a:xfrm>
            <a:off x="7511754" y="3087119"/>
            <a:ext cx="887338" cy="269882"/>
          </a:xfrm>
          <a:prstGeom prst="rect">
            <a:avLst/>
          </a:prstGeom>
        </p:spPr>
      </p:pic>
      <p:pic>
        <p:nvPicPr>
          <p:cNvPr id="89" name="Image 88">
            <a:extLst>
              <a:ext uri="{FF2B5EF4-FFF2-40B4-BE49-F238E27FC236}">
                <a16:creationId xmlns:a16="http://schemas.microsoft.com/office/drawing/2014/main" id="{89B6049C-D7B2-42F2-A9BC-4E43266F8EDD}"/>
              </a:ext>
            </a:extLst>
          </p:cNvPr>
          <p:cNvPicPr>
            <a:picLocks noChangeAspect="1"/>
          </p:cNvPicPr>
          <p:nvPr/>
        </p:nvPicPr>
        <p:blipFill>
          <a:blip r:embed="rId19"/>
          <a:stretch>
            <a:fillRect/>
          </a:stretch>
        </p:blipFill>
        <p:spPr>
          <a:xfrm>
            <a:off x="5548324" y="3131913"/>
            <a:ext cx="1045800" cy="217161"/>
          </a:xfrm>
          <a:prstGeom prst="rect">
            <a:avLst/>
          </a:prstGeom>
        </p:spPr>
      </p:pic>
      <p:cxnSp>
        <p:nvCxnSpPr>
          <p:cNvPr id="91" name="Connecteur droit 90">
            <a:extLst>
              <a:ext uri="{FF2B5EF4-FFF2-40B4-BE49-F238E27FC236}">
                <a16:creationId xmlns:a16="http://schemas.microsoft.com/office/drawing/2014/main" id="{9EE5F756-BB8C-4556-9914-45B96D42A08D}"/>
              </a:ext>
            </a:extLst>
          </p:cNvPr>
          <p:cNvCxnSpPr>
            <a:cxnSpLocks/>
          </p:cNvCxnSpPr>
          <p:nvPr/>
        </p:nvCxnSpPr>
        <p:spPr>
          <a:xfrm>
            <a:off x="4931940" y="927367"/>
            <a:ext cx="3815360" cy="19088"/>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1D9663D2-1EF7-4745-9946-CDF1BB4E6383}"/>
              </a:ext>
            </a:extLst>
          </p:cNvPr>
          <p:cNvCxnSpPr>
            <a:cxnSpLocks/>
          </p:cNvCxnSpPr>
          <p:nvPr/>
        </p:nvCxnSpPr>
        <p:spPr>
          <a:xfrm>
            <a:off x="4917454" y="2155271"/>
            <a:ext cx="3810052"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99" name="Connecteur droit 98">
            <a:extLst>
              <a:ext uri="{FF2B5EF4-FFF2-40B4-BE49-F238E27FC236}">
                <a16:creationId xmlns:a16="http://schemas.microsoft.com/office/drawing/2014/main" id="{80BCC337-E01A-452F-A5F4-8372DC107281}"/>
              </a:ext>
            </a:extLst>
          </p:cNvPr>
          <p:cNvCxnSpPr>
            <a:cxnSpLocks/>
          </p:cNvCxnSpPr>
          <p:nvPr/>
        </p:nvCxnSpPr>
        <p:spPr>
          <a:xfrm>
            <a:off x="4917455" y="3443826"/>
            <a:ext cx="3819469"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00" name="Connecteur droit 99">
            <a:extLst>
              <a:ext uri="{FF2B5EF4-FFF2-40B4-BE49-F238E27FC236}">
                <a16:creationId xmlns:a16="http://schemas.microsoft.com/office/drawing/2014/main" id="{BF6F13A4-CADF-42C0-A1A1-489E7B8BD9F4}"/>
              </a:ext>
            </a:extLst>
          </p:cNvPr>
          <p:cNvCxnSpPr>
            <a:cxnSpLocks/>
          </p:cNvCxnSpPr>
          <p:nvPr/>
        </p:nvCxnSpPr>
        <p:spPr>
          <a:xfrm>
            <a:off x="4919524" y="4435248"/>
            <a:ext cx="1947909"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grpSp>
        <p:nvGrpSpPr>
          <p:cNvPr id="75" name="Groupe 74">
            <a:extLst>
              <a:ext uri="{FF2B5EF4-FFF2-40B4-BE49-F238E27FC236}">
                <a16:creationId xmlns:a16="http://schemas.microsoft.com/office/drawing/2014/main" id="{A93881B5-37FA-498C-8F92-81130D0BB8D3}"/>
              </a:ext>
            </a:extLst>
          </p:cNvPr>
          <p:cNvGrpSpPr/>
          <p:nvPr/>
        </p:nvGrpSpPr>
        <p:grpSpPr>
          <a:xfrm>
            <a:off x="8431046" y="2652353"/>
            <a:ext cx="234430" cy="219038"/>
            <a:chOff x="2979438" y="1796793"/>
            <a:chExt cx="245269" cy="233363"/>
          </a:xfrm>
        </p:grpSpPr>
        <p:cxnSp>
          <p:nvCxnSpPr>
            <p:cNvPr id="77" name="Connecteur droit avec flèche 76">
              <a:extLst>
                <a:ext uri="{FF2B5EF4-FFF2-40B4-BE49-F238E27FC236}">
                  <a16:creationId xmlns:a16="http://schemas.microsoft.com/office/drawing/2014/main" id="{7B413B83-A07A-4BBB-88A0-A22C779F1917}"/>
                </a:ext>
              </a:extLst>
            </p:cNvPr>
            <p:cNvCxnSpPr>
              <a:cxnSpLocks/>
            </p:cNvCxnSpPr>
            <p:nvPr/>
          </p:nvCxnSpPr>
          <p:spPr>
            <a:xfrm flipV="1">
              <a:off x="3042455" y="1860730"/>
              <a:ext cx="119234" cy="101082"/>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8" name="Ellipse 77">
              <a:extLst>
                <a:ext uri="{FF2B5EF4-FFF2-40B4-BE49-F238E27FC236}">
                  <a16:creationId xmlns:a16="http://schemas.microsoft.com/office/drawing/2014/main" id="{A33B0EA5-45DD-4E6B-A7E2-03394D2A9C0B}"/>
                </a:ext>
              </a:extLst>
            </p:cNvPr>
            <p:cNvSpPr/>
            <p:nvPr/>
          </p:nvSpPr>
          <p:spPr>
            <a:xfrm>
              <a:off x="2979438" y="1796793"/>
              <a:ext cx="245269" cy="233363"/>
            </a:xfrm>
            <a:prstGeom prst="ellipse">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825" err="1">
                <a:latin typeface="+mj-lt"/>
              </a:endParaRPr>
            </a:p>
          </p:txBody>
        </p:sp>
      </p:grpSp>
      <p:sp>
        <p:nvSpPr>
          <p:cNvPr id="68" name="Est égal à 67">
            <a:extLst>
              <a:ext uri="{FF2B5EF4-FFF2-40B4-BE49-F238E27FC236}">
                <a16:creationId xmlns:a16="http://schemas.microsoft.com/office/drawing/2014/main" id="{62FFA97A-A5C5-4176-868E-26CF5C16048E}"/>
              </a:ext>
            </a:extLst>
          </p:cNvPr>
          <p:cNvSpPr/>
          <p:nvPr/>
        </p:nvSpPr>
        <p:spPr>
          <a:xfrm>
            <a:off x="8491278" y="3938504"/>
            <a:ext cx="202379" cy="198628"/>
          </a:xfrm>
          <a:prstGeom prst="mathEqual">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100" err="1">
              <a:solidFill>
                <a:schemeClr val="tx1"/>
              </a:solidFill>
              <a:latin typeface="+mj-lt"/>
            </a:endParaRPr>
          </a:p>
        </p:txBody>
      </p:sp>
      <p:grpSp>
        <p:nvGrpSpPr>
          <p:cNvPr id="69" name="Groupe 68">
            <a:extLst>
              <a:ext uri="{FF2B5EF4-FFF2-40B4-BE49-F238E27FC236}">
                <a16:creationId xmlns:a16="http://schemas.microsoft.com/office/drawing/2014/main" id="{DC57C9A1-3CF3-4C93-9C03-34F5EFC0B0C1}"/>
              </a:ext>
            </a:extLst>
          </p:cNvPr>
          <p:cNvGrpSpPr/>
          <p:nvPr/>
        </p:nvGrpSpPr>
        <p:grpSpPr>
          <a:xfrm rot="3982662">
            <a:off x="6465157" y="2314872"/>
            <a:ext cx="234430" cy="219038"/>
            <a:chOff x="2979438" y="1796793"/>
            <a:chExt cx="245269" cy="233363"/>
          </a:xfrm>
        </p:grpSpPr>
        <p:cxnSp>
          <p:nvCxnSpPr>
            <p:cNvPr id="72" name="Connecteur droit avec flèche 71">
              <a:extLst>
                <a:ext uri="{FF2B5EF4-FFF2-40B4-BE49-F238E27FC236}">
                  <a16:creationId xmlns:a16="http://schemas.microsoft.com/office/drawing/2014/main" id="{CCDB0DC5-2A3A-4669-A0C6-448037109F01}"/>
                </a:ext>
              </a:extLst>
            </p:cNvPr>
            <p:cNvCxnSpPr>
              <a:cxnSpLocks/>
            </p:cNvCxnSpPr>
            <p:nvPr/>
          </p:nvCxnSpPr>
          <p:spPr>
            <a:xfrm flipV="1">
              <a:off x="3042455" y="1860730"/>
              <a:ext cx="119234" cy="10108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73" name="Ellipse 72">
              <a:extLst>
                <a:ext uri="{FF2B5EF4-FFF2-40B4-BE49-F238E27FC236}">
                  <a16:creationId xmlns:a16="http://schemas.microsoft.com/office/drawing/2014/main" id="{67B8DDCC-EC55-4E0F-9BC5-3C76463FE17E}"/>
                </a:ext>
              </a:extLst>
            </p:cNvPr>
            <p:cNvSpPr/>
            <p:nvPr/>
          </p:nvSpPr>
          <p:spPr>
            <a:xfrm>
              <a:off x="2979438" y="1796793"/>
              <a:ext cx="245269" cy="233363"/>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825" err="1">
                <a:latin typeface="+mj-lt"/>
              </a:endParaRPr>
            </a:p>
          </p:txBody>
        </p:sp>
      </p:grpSp>
      <p:pic>
        <p:nvPicPr>
          <p:cNvPr id="103" name="Image 102" descr="Une image contenant texte, Police, Graphique, typographie&#10;&#10;Description générée automatiquement">
            <a:extLst>
              <a:ext uri="{FF2B5EF4-FFF2-40B4-BE49-F238E27FC236}">
                <a16:creationId xmlns:a16="http://schemas.microsoft.com/office/drawing/2014/main" id="{16462A82-B193-4B84-9FFD-A0591601B2ED}"/>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7611621" y="1788657"/>
            <a:ext cx="656399" cy="241925"/>
          </a:xfrm>
          <a:prstGeom prst="rect">
            <a:avLst/>
          </a:prstGeom>
        </p:spPr>
      </p:pic>
      <p:sp>
        <p:nvSpPr>
          <p:cNvPr id="6" name="Espace réservé du numéro de diapositive 5">
            <a:extLst>
              <a:ext uri="{FF2B5EF4-FFF2-40B4-BE49-F238E27FC236}">
                <a16:creationId xmlns:a16="http://schemas.microsoft.com/office/drawing/2014/main" id="{46C332BA-425F-466E-8969-B9C52707E5EF}"/>
              </a:ext>
            </a:extLst>
          </p:cNvPr>
          <p:cNvSpPr>
            <a:spLocks noGrp="1"/>
          </p:cNvSpPr>
          <p:nvPr>
            <p:ph type="sldNum" sz="quarter" idx="12"/>
          </p:nvPr>
        </p:nvSpPr>
        <p:spPr/>
        <p:txBody>
          <a:bodyPr/>
          <a:lstStyle/>
          <a:p>
            <a:fld id="{304318A0-AD76-4461-B655-8B1A266EB0A2}" type="slidenum">
              <a:rPr lang="fr-FR" smtClean="0"/>
              <a:t>11</a:t>
            </a:fld>
            <a:endParaRPr lang="fr-FR"/>
          </a:p>
        </p:txBody>
      </p:sp>
    </p:spTree>
    <p:custDataLst>
      <p:tags r:id="rId1"/>
    </p:custDataLst>
    <p:extLst>
      <p:ext uri="{BB962C8B-B14F-4D97-AF65-F5344CB8AC3E}">
        <p14:creationId xmlns:p14="http://schemas.microsoft.com/office/powerpoint/2010/main" val="735790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120651" y="163176"/>
            <a:ext cx="6251549" cy="320400"/>
          </a:xfrm>
        </p:spPr>
        <p:txBody>
          <a:bodyPr vert="horz" lIns="91440" tIns="0" rIns="91440" bIns="0" rtlCol="0" anchor="t">
            <a:noAutofit/>
          </a:bodyPr>
          <a:lstStyle/>
          <a:p>
            <a:r>
              <a:rPr lang="en-US" sz="1800"/>
              <a:t>Revenue</a:t>
            </a:r>
          </a:p>
        </p:txBody>
      </p:sp>
      <p:sp>
        <p:nvSpPr>
          <p:cNvPr id="9" name="Espace réservé du texte 8"/>
          <p:cNvSpPr>
            <a:spLocks noGrp="1"/>
          </p:cNvSpPr>
          <p:nvPr>
            <p:ph type="body" sz="quarter" idx="15"/>
          </p:nvPr>
        </p:nvSpPr>
        <p:spPr>
          <a:xfrm>
            <a:off x="120651" y="502900"/>
            <a:ext cx="6251549" cy="215900"/>
          </a:xfrm>
        </p:spPr>
        <p:txBody>
          <a:bodyPr>
            <a:normAutofit fontScale="92500" lnSpcReduction="20000"/>
          </a:bodyPr>
          <a:lstStyle/>
          <a:p>
            <a:endParaRPr lang="en-US">
              <a:solidFill>
                <a:srgbClr val="3A75C4"/>
              </a:solidFill>
            </a:endParaRPr>
          </a:p>
        </p:txBody>
      </p:sp>
      <p:sp>
        <p:nvSpPr>
          <p:cNvPr id="8" name="Espace réservé du contenu 4">
            <a:extLst>
              <a:ext uri="{FF2B5EF4-FFF2-40B4-BE49-F238E27FC236}">
                <a16:creationId xmlns:a16="http://schemas.microsoft.com/office/drawing/2014/main" id="{108E362E-7953-43EA-8067-A019DB3C76B4}"/>
              </a:ext>
            </a:extLst>
          </p:cNvPr>
          <p:cNvSpPr txBox="1">
            <a:spLocks/>
          </p:cNvSpPr>
          <p:nvPr/>
        </p:nvSpPr>
        <p:spPr>
          <a:xfrm>
            <a:off x="120650" y="2668710"/>
            <a:ext cx="8497367" cy="1804719"/>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r>
              <a:rPr lang="en-US"/>
              <a:t>Revenue: -3% at constant scope and exchange rates</a:t>
            </a:r>
          </a:p>
          <a:p>
            <a:pPr lvl="4" algn="just">
              <a:spcAft>
                <a:spcPts val="300"/>
              </a:spcAft>
            </a:pPr>
            <a:r>
              <a:rPr lang="en-US">
                <a:solidFill>
                  <a:schemeClr val="tx1"/>
                </a:solidFill>
              </a:rPr>
              <a:t>Bolloré Energy: -17%, mainly impacted by lower prices and volumes of oil products, after the sharp rise in prices in the first half of 2022 in an international environment severely disrupted by the war in Ukraine; </a:t>
            </a:r>
          </a:p>
          <a:p>
            <a:pPr lvl="4" algn="just"/>
            <a:r>
              <a:rPr lang="en-US">
                <a:solidFill>
                  <a:schemeClr val="tx1"/>
                </a:solidFill>
              </a:rPr>
              <a:t>Communications (Vivendi): +3%, mainly attributable to the growth recorded by Havas (+4%), Canal+ Group (+2%) and Gameloft (+16%);</a:t>
            </a:r>
          </a:p>
          <a:p>
            <a:pPr lvl="4" algn="just"/>
            <a:r>
              <a:rPr lang="en-US">
                <a:solidFill>
                  <a:schemeClr val="tx1"/>
                </a:solidFill>
              </a:rPr>
              <a:t>Industry: -28%, due to the continuing slowdown at Blue in the bus and battery segments, and declining volumes in the films business.</a:t>
            </a:r>
          </a:p>
          <a:p>
            <a:pPr lvl="3" algn="just">
              <a:spcBef>
                <a:spcPts val="1000"/>
              </a:spcBef>
            </a:pPr>
            <a:r>
              <a:rPr lang="en-US">
                <a:latin typeface="Arial" panose="020B0604020202020204" pitchFamily="34" charset="0"/>
                <a:cs typeface="Arial" panose="020B0604020202020204" pitchFamily="34" charset="0"/>
              </a:rPr>
              <a:t>On a reported basis, revenue was down -2%, </a:t>
            </a:r>
            <a:r>
              <a:rPr lang="en-US" b="0">
                <a:latin typeface="Arial" panose="020B0604020202020204" pitchFamily="34" charset="0"/>
                <a:cs typeface="Arial" panose="020B0604020202020204" pitchFamily="34" charset="0"/>
              </a:rPr>
              <a:t>taking into account +€50 million in changes in scope (mainly including the consolidation of SPI at Canal+ since March 2022, the acquisitions of Havas and the impacts of the disposal of Bolloré Africa Logistics), and +€0.3 million in foreign exchange effects (depreciation of the euro against the US dollar and the Swiss franc, offset by the appreciation of the euro against the pound sterling)</a:t>
            </a:r>
            <a:r>
              <a:rPr lang="en-US">
                <a:latin typeface="Arial" panose="020B0604020202020204" pitchFamily="34" charset="0"/>
                <a:cs typeface="Arial" panose="020B0604020202020204" pitchFamily="34" charset="0"/>
              </a:rPr>
              <a:t>.</a:t>
            </a:r>
            <a:endParaRPr lang="en-US" b="0">
              <a:highlight>
                <a:srgbClr val="FFFF00"/>
              </a:highlight>
              <a:latin typeface="Arial" panose="020B0604020202020204" pitchFamily="34" charset="0"/>
              <a:cs typeface="Arial" panose="020B0604020202020204" pitchFamily="34" charset="0"/>
            </a:endParaRPr>
          </a:p>
          <a:p>
            <a:pPr lvl="4" algn="just"/>
            <a:endParaRPr lang="en-US">
              <a:solidFill>
                <a:schemeClr val="tx1"/>
              </a:solidFill>
            </a:endParaRPr>
          </a:p>
          <a:p>
            <a:pPr lvl="4" algn="just"/>
            <a:endParaRPr lang="en-US">
              <a:solidFill>
                <a:schemeClr val="tx1"/>
              </a:solidFill>
            </a:endParaRPr>
          </a:p>
          <a:p>
            <a:pPr algn="just"/>
            <a:endParaRPr lang="en-US">
              <a:solidFill>
                <a:schemeClr val="tx1"/>
              </a:solidFill>
            </a:endParaRPr>
          </a:p>
        </p:txBody>
      </p:sp>
      <p:sp>
        <p:nvSpPr>
          <p:cNvPr id="12" name="Rectangle 11">
            <a:extLst>
              <a:ext uri="{FF2B5EF4-FFF2-40B4-BE49-F238E27FC236}">
                <a16:creationId xmlns:a16="http://schemas.microsoft.com/office/drawing/2014/main" id="{D2A10C29-6483-422B-A8E3-4ACA20336864}"/>
              </a:ext>
            </a:extLst>
          </p:cNvPr>
          <p:cNvSpPr/>
          <p:nvPr/>
        </p:nvSpPr>
        <p:spPr>
          <a:xfrm>
            <a:off x="225426" y="4634832"/>
            <a:ext cx="8036377" cy="453970"/>
          </a:xfrm>
          <a:prstGeom prst="rect">
            <a:avLst/>
          </a:prstGeom>
        </p:spPr>
        <p:txBody>
          <a:bodyPr wrap="square">
            <a:spAutoFit/>
          </a:bodyPr>
          <a:lstStyle/>
          <a:p>
            <a:pPr marL="87313" indent="-87313">
              <a:spcBef>
                <a:spcPts val="300"/>
              </a:spcBef>
              <a:tabLst>
                <a:tab pos="87313" algn="l"/>
              </a:tabLst>
            </a:pPr>
            <a:r>
              <a:rPr lang="en-GB" sz="700">
                <a:latin typeface="Arial" panose="020B0604020202020204" pitchFamily="34" charset="0"/>
                <a:cs typeface="Arial" panose="020B0604020202020204" pitchFamily="34" charset="0"/>
              </a:rPr>
              <a:t>(*) </a:t>
            </a:r>
            <a:r>
              <a:rPr lang="en-US" sz="700">
                <a:latin typeface="Arial" panose="020B0604020202020204" pitchFamily="34" charset="0"/>
                <a:cs typeface="Arial" panose="020B0604020202020204" pitchFamily="34" charset="0"/>
              </a:rPr>
              <a:t>To ensure comparability and in accordance with IFRS 5, Editis, the activities of Bolloré Logistics, as well as Bolloré Africa Logistics are reclassified as discontinued or held for sale operations in the first half of 2022 and 2023.</a:t>
            </a:r>
            <a:endParaRPr lang="en-GB" sz="700">
              <a:latin typeface="Arial" panose="020B0604020202020204" pitchFamily="34" charset="0"/>
              <a:cs typeface="Arial" panose="020B0604020202020204" pitchFamily="34" charset="0"/>
            </a:endParaRPr>
          </a:p>
          <a:p>
            <a:pPr marL="177800" indent="-177800">
              <a:spcBef>
                <a:spcPts val="300"/>
              </a:spcBef>
              <a:tabLst>
                <a:tab pos="177800" algn="l"/>
              </a:tabLst>
            </a:pPr>
            <a:endParaRPr lang="fr-FR" sz="700">
              <a:highlight>
                <a:srgbClr val="FFFF00"/>
              </a:highlight>
              <a:latin typeface="Arial" panose="020B0604020202020204" pitchFamily="34" charset="0"/>
              <a:cs typeface="Arial" panose="020B0604020202020204" pitchFamily="34" charset="0"/>
            </a:endParaRPr>
          </a:p>
        </p:txBody>
      </p:sp>
      <p:pic>
        <p:nvPicPr>
          <p:cNvPr id="2" name="Image 1">
            <a:extLst>
              <a:ext uri="{FF2B5EF4-FFF2-40B4-BE49-F238E27FC236}">
                <a16:creationId xmlns:a16="http://schemas.microsoft.com/office/drawing/2014/main" id="{B4ACDA5D-2265-451B-BCA7-7818D6F8A5F2}"/>
              </a:ext>
            </a:extLst>
          </p:cNvPr>
          <p:cNvPicPr>
            <a:picLocks noChangeAspect="1"/>
          </p:cNvPicPr>
          <p:nvPr>
            <p:custDataLst>
              <p:tags r:id="rId2"/>
            </p:custDataLst>
          </p:nvPr>
        </p:nvPicPr>
        <p:blipFill>
          <a:blip r:embed="rId4"/>
          <a:stretch>
            <a:fillRect/>
          </a:stretch>
        </p:blipFill>
        <p:spPr>
          <a:xfrm>
            <a:off x="225426" y="1120743"/>
            <a:ext cx="6386170" cy="1199693"/>
          </a:xfrm>
          <a:prstGeom prst="rect">
            <a:avLst/>
          </a:prstGeom>
        </p:spPr>
      </p:pic>
      <p:sp>
        <p:nvSpPr>
          <p:cNvPr id="5" name="Espace réservé du numéro de diapositive 4">
            <a:extLst>
              <a:ext uri="{FF2B5EF4-FFF2-40B4-BE49-F238E27FC236}">
                <a16:creationId xmlns:a16="http://schemas.microsoft.com/office/drawing/2014/main" id="{FF68FADD-51DC-4FE8-98DC-228080EBE1A4}"/>
              </a:ext>
            </a:extLst>
          </p:cNvPr>
          <p:cNvSpPr>
            <a:spLocks noGrp="1"/>
          </p:cNvSpPr>
          <p:nvPr>
            <p:ph type="sldNum" sz="quarter" idx="12"/>
          </p:nvPr>
        </p:nvSpPr>
        <p:spPr/>
        <p:txBody>
          <a:bodyPr/>
          <a:lstStyle/>
          <a:p>
            <a:fld id="{304318A0-AD76-4461-B655-8B1A266EB0A2}" type="slidenum">
              <a:rPr lang="fr-FR" smtClean="0"/>
              <a:t>12</a:t>
            </a:fld>
            <a:endParaRPr lang="fr-FR"/>
          </a:p>
        </p:txBody>
      </p:sp>
    </p:spTree>
    <p:custDataLst>
      <p:tags r:id="rId1"/>
    </p:custDataLst>
    <p:extLst>
      <p:ext uri="{BB962C8B-B14F-4D97-AF65-F5344CB8AC3E}">
        <p14:creationId xmlns:p14="http://schemas.microsoft.com/office/powerpoint/2010/main" val="71827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20651" y="163176"/>
            <a:ext cx="6251549" cy="320400"/>
          </a:xfrm>
        </p:spPr>
        <p:txBody>
          <a:bodyPr vert="horz" lIns="91440" tIns="0" rIns="91440" bIns="0" rtlCol="0" anchor="t">
            <a:noAutofit/>
          </a:bodyPr>
          <a:lstStyle/>
          <a:p>
            <a:r>
              <a:rPr lang="en-US" sz="1800"/>
              <a:t>Adjusted operating income (EBITA)</a:t>
            </a:r>
          </a:p>
        </p:txBody>
      </p:sp>
      <p:sp>
        <p:nvSpPr>
          <p:cNvPr id="12" name="Espace réservé du texte 11"/>
          <p:cNvSpPr>
            <a:spLocks noGrp="1"/>
          </p:cNvSpPr>
          <p:nvPr>
            <p:ph type="body" sz="quarter" idx="17"/>
          </p:nvPr>
        </p:nvSpPr>
        <p:spPr>
          <a:xfrm>
            <a:off x="120651" y="502900"/>
            <a:ext cx="6251549" cy="215900"/>
          </a:xfrm>
        </p:spPr>
        <p:txBody>
          <a:bodyPr>
            <a:normAutofit fontScale="92500" lnSpcReduction="20000"/>
          </a:bodyPr>
          <a:lstStyle/>
          <a:p>
            <a:endParaRPr lang="en-US">
              <a:solidFill>
                <a:srgbClr val="3A75C4"/>
              </a:solidFill>
              <a:latin typeface="Arial" panose="020B0604020202020204" pitchFamily="34" charset="0"/>
              <a:cs typeface="Arial" panose="020B0604020202020204" pitchFamily="34" charset="0"/>
            </a:endParaRPr>
          </a:p>
        </p:txBody>
      </p:sp>
      <p:sp>
        <p:nvSpPr>
          <p:cNvPr id="8" name="Espace réservé du contenu 4">
            <a:extLst>
              <a:ext uri="{FF2B5EF4-FFF2-40B4-BE49-F238E27FC236}">
                <a16:creationId xmlns:a16="http://schemas.microsoft.com/office/drawing/2014/main" id="{A7538D21-4BF5-4C34-90E1-58FF924E395D}"/>
              </a:ext>
            </a:extLst>
          </p:cNvPr>
          <p:cNvSpPr txBox="1">
            <a:spLocks/>
          </p:cNvSpPr>
          <p:nvPr/>
        </p:nvSpPr>
        <p:spPr>
          <a:xfrm>
            <a:off x="9612" y="3044193"/>
            <a:ext cx="8858510" cy="1379608"/>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r>
              <a:rPr lang="en-GB"/>
              <a:t>EBITA: €462m, -15% at constant scope and exchange rates:</a:t>
            </a:r>
          </a:p>
          <a:p>
            <a:pPr lvl="4" algn="just">
              <a:spcAft>
                <a:spcPts val="300"/>
              </a:spcAft>
            </a:pPr>
            <a:r>
              <a:rPr lang="en-GB">
                <a:solidFill>
                  <a:schemeClr val="tx1"/>
                </a:solidFill>
              </a:rPr>
              <a:t>Bolloré Energy: -72%, </a:t>
            </a:r>
            <a:r>
              <a:rPr lang="en-US">
                <a:solidFill>
                  <a:schemeClr val="tx1"/>
                </a:solidFill>
              </a:rPr>
              <a:t>impacted by lower oil product prices and negative inventory effects</a:t>
            </a:r>
            <a:r>
              <a:rPr lang="en-GB">
                <a:solidFill>
                  <a:schemeClr val="tx1"/>
                </a:solidFill>
              </a:rPr>
              <a:t>;</a:t>
            </a:r>
          </a:p>
          <a:p>
            <a:pPr lvl="4" algn="just">
              <a:spcAft>
                <a:spcPts val="300"/>
              </a:spcAft>
            </a:pPr>
            <a:r>
              <a:rPr lang="en-GB">
                <a:solidFill>
                  <a:schemeClr val="tx1"/>
                </a:solidFill>
              </a:rPr>
              <a:t>Communications: </a:t>
            </a:r>
            <a:r>
              <a:rPr lang="en-US">
                <a:solidFill>
                  <a:schemeClr val="tx1"/>
                </a:solidFill>
              </a:rPr>
              <a:t>-3%, the good performances of Havas and Canal+ Group are mitigated by a lower contribution from UMG (negative impact of the implementation of the share-based compensation plan)</a:t>
            </a:r>
            <a:r>
              <a:rPr lang="en-GB">
                <a:solidFill>
                  <a:schemeClr val="tx1"/>
                </a:solidFill>
              </a:rPr>
              <a:t>;</a:t>
            </a:r>
          </a:p>
          <a:p>
            <a:pPr lvl="4" algn="just"/>
            <a:r>
              <a:rPr lang="en-GB">
                <a:solidFill>
                  <a:schemeClr val="tx1"/>
                </a:solidFill>
              </a:rPr>
              <a:t>Industry: </a:t>
            </a:r>
            <a:r>
              <a:rPr lang="en-US">
                <a:solidFill>
                  <a:schemeClr val="tx1"/>
                </a:solidFill>
              </a:rPr>
              <a:t>an improvement of +€5 million on a reported basis compared to the first half of 2022, given the decline in activity in batteries and films</a:t>
            </a:r>
            <a:r>
              <a:rPr lang="en-GB">
                <a:solidFill>
                  <a:schemeClr val="tx1"/>
                </a:solidFill>
              </a:rPr>
              <a:t>.</a:t>
            </a:r>
          </a:p>
        </p:txBody>
      </p:sp>
      <p:sp>
        <p:nvSpPr>
          <p:cNvPr id="9" name="ZoneTexte 8">
            <a:extLst>
              <a:ext uri="{FF2B5EF4-FFF2-40B4-BE49-F238E27FC236}">
                <a16:creationId xmlns:a16="http://schemas.microsoft.com/office/drawing/2014/main" id="{964B2F34-8E0B-4EB5-8F2C-94DD34C4F0A2}"/>
              </a:ext>
            </a:extLst>
          </p:cNvPr>
          <p:cNvSpPr txBox="1"/>
          <p:nvPr/>
        </p:nvSpPr>
        <p:spPr>
          <a:xfrm>
            <a:off x="254000" y="4467442"/>
            <a:ext cx="8604510" cy="676058"/>
          </a:xfrm>
          <a:prstGeom prst="rect">
            <a:avLst/>
          </a:prstGeom>
        </p:spPr>
        <p:txBody>
          <a:bodyPr vert="horz" wrap="square" lIns="91440" tIns="45720" rIns="91440" bIns="45720" rtlCol="0">
            <a:noAutofit/>
          </a:bodyPr>
          <a:lstStyle/>
          <a:p>
            <a:pPr marL="177800" indent="-177800">
              <a:tabLst>
                <a:tab pos="177800" algn="l"/>
              </a:tabLst>
            </a:pPr>
            <a:r>
              <a:rPr lang="en-GB" sz="700">
                <a:latin typeface="+mj-lt"/>
                <a:cs typeface="Arial" panose="020B0604020202020204" pitchFamily="34" charset="0"/>
              </a:rPr>
              <a:t>(*)</a:t>
            </a:r>
            <a:r>
              <a:rPr lang="en-GB" sz="700">
                <a:latin typeface="+mj-lt"/>
              </a:rPr>
              <a:t>	</a:t>
            </a:r>
            <a:r>
              <a:rPr lang="en-US" sz="700">
                <a:latin typeface="+mj-lt"/>
              </a:rPr>
              <a:t>To ensure comparability and in accordance with IFRS 5, Editis, the activities of Bolloré Logistics, as well as Bolloré Africa Logistics are reclassified as discontinued or held for sale operations in the first half of 2022 and 2023.</a:t>
            </a:r>
            <a:endParaRPr lang="en-GB" sz="700">
              <a:latin typeface="+mj-lt"/>
            </a:endParaRPr>
          </a:p>
          <a:p>
            <a:pPr marL="177800" indent="-177800">
              <a:buFontTx/>
              <a:buAutoNum type="arabicParenBoth"/>
              <a:tabLst>
                <a:tab pos="177800" algn="l"/>
              </a:tabLst>
            </a:pPr>
            <a:r>
              <a:rPr lang="en-GB" sz="700">
                <a:latin typeface="+mj-lt"/>
                <a:cs typeface="Arial" panose="020B0604020202020204" pitchFamily="34" charset="0"/>
              </a:rPr>
              <a:t>Before group expenses and Bolloré trademark fees.</a:t>
            </a:r>
          </a:p>
          <a:p>
            <a:pPr marL="177800" indent="-177800">
              <a:buFontTx/>
              <a:buAutoNum type="arabicParenBoth"/>
              <a:tabLst>
                <a:tab pos="177800" algn="l"/>
              </a:tabLst>
            </a:pPr>
            <a:r>
              <a:rPr lang="en-US" sz="700">
                <a:latin typeface="+mj-lt"/>
                <a:cs typeface="Arial" panose="020B0604020202020204" pitchFamily="34" charset="0"/>
              </a:rPr>
              <a:t>Including in the first half of 2023, contributions from UMG (€39m) and Lagardère (€26m) accounted for using the equity method at Vivendi.</a:t>
            </a:r>
            <a:endParaRPr lang="en-GB" sz="700">
              <a:latin typeface="+mj-lt"/>
              <a:cs typeface="Arial" panose="020B0604020202020204" pitchFamily="34" charset="0"/>
            </a:endParaRPr>
          </a:p>
          <a:p>
            <a:pPr marL="228600" indent="-228600">
              <a:buAutoNum type="arabicParenBoth"/>
            </a:pPr>
            <a:endParaRPr lang="fr-FR" sz="700">
              <a:highlight>
                <a:srgbClr val="FFFF00"/>
              </a:highlight>
              <a:latin typeface="+mj-lt"/>
              <a:cs typeface="Arial" panose="020B0604020202020204" pitchFamily="34" charset="0"/>
            </a:endParaRPr>
          </a:p>
          <a:p>
            <a:endParaRPr lang="fr-FR" sz="700">
              <a:highlight>
                <a:srgbClr val="FFFF00"/>
              </a:highlight>
              <a:latin typeface="+mj-lt"/>
              <a:cs typeface="Arial" panose="020B0604020202020204" pitchFamily="34" charset="0"/>
            </a:endParaRPr>
          </a:p>
        </p:txBody>
      </p:sp>
      <p:pic>
        <p:nvPicPr>
          <p:cNvPr id="2" name="Image 1">
            <a:extLst>
              <a:ext uri="{FF2B5EF4-FFF2-40B4-BE49-F238E27FC236}">
                <a16:creationId xmlns:a16="http://schemas.microsoft.com/office/drawing/2014/main" id="{D6B389CA-9DBA-49D7-9798-034EE8736D60}"/>
              </a:ext>
            </a:extLst>
          </p:cNvPr>
          <p:cNvPicPr>
            <a:picLocks noChangeAspect="1"/>
          </p:cNvPicPr>
          <p:nvPr>
            <p:custDataLst>
              <p:tags r:id="rId2"/>
            </p:custDataLst>
          </p:nvPr>
        </p:nvPicPr>
        <p:blipFill>
          <a:blip r:embed="rId4"/>
          <a:stretch>
            <a:fillRect/>
          </a:stretch>
        </p:blipFill>
        <p:spPr>
          <a:xfrm>
            <a:off x="120651" y="1111783"/>
            <a:ext cx="6386170" cy="1699565"/>
          </a:xfrm>
          <a:prstGeom prst="rect">
            <a:avLst/>
          </a:prstGeom>
        </p:spPr>
      </p:pic>
      <p:sp>
        <p:nvSpPr>
          <p:cNvPr id="4" name="Espace réservé du numéro de diapositive 3">
            <a:extLst>
              <a:ext uri="{FF2B5EF4-FFF2-40B4-BE49-F238E27FC236}">
                <a16:creationId xmlns:a16="http://schemas.microsoft.com/office/drawing/2014/main" id="{A860B955-094A-4C7A-8225-F4449A350EED}"/>
              </a:ext>
            </a:extLst>
          </p:cNvPr>
          <p:cNvSpPr>
            <a:spLocks noGrp="1"/>
          </p:cNvSpPr>
          <p:nvPr>
            <p:ph type="sldNum" sz="quarter" idx="12"/>
          </p:nvPr>
        </p:nvSpPr>
        <p:spPr/>
        <p:txBody>
          <a:bodyPr/>
          <a:lstStyle/>
          <a:p>
            <a:fld id="{304318A0-AD76-4461-B655-8B1A266EB0A2}" type="slidenum">
              <a:rPr lang="fr-FR" smtClean="0"/>
              <a:t>13</a:t>
            </a:fld>
            <a:endParaRPr lang="fr-FR"/>
          </a:p>
        </p:txBody>
      </p:sp>
    </p:spTree>
    <p:custDataLst>
      <p:tags r:id="rId1"/>
    </p:custDataLst>
    <p:extLst>
      <p:ext uri="{BB962C8B-B14F-4D97-AF65-F5344CB8AC3E}">
        <p14:creationId xmlns:p14="http://schemas.microsoft.com/office/powerpoint/2010/main" val="3382621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contenu 4">
            <a:extLst>
              <a:ext uri="{FF2B5EF4-FFF2-40B4-BE49-F238E27FC236}">
                <a16:creationId xmlns:a16="http://schemas.microsoft.com/office/drawing/2014/main" id="{0035DB49-ED2B-4EA9-8FAD-67FDF22C7B9B}"/>
              </a:ext>
            </a:extLst>
          </p:cNvPr>
          <p:cNvSpPr txBox="1">
            <a:spLocks/>
          </p:cNvSpPr>
          <p:nvPr/>
        </p:nvSpPr>
        <p:spPr>
          <a:xfrm>
            <a:off x="4400381" y="3282388"/>
            <a:ext cx="4308259" cy="89047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r>
              <a:rPr lang="en-US" dirty="0"/>
              <a:t>Income from equity-accounted non-operating companies</a:t>
            </a:r>
            <a:r>
              <a:rPr lang="en-US" b="0" dirty="0"/>
              <a:t> includes -€60m share of net income from MultiChoice, and +€19m </a:t>
            </a:r>
            <a:r>
              <a:rPr lang="en-US" b="0"/>
              <a:t>contribution from Socfin Group. </a:t>
            </a:r>
            <a:r>
              <a:rPr lang="en-US" b="0" dirty="0"/>
              <a:t>In the first half of 2022, it included -€235m share of Telecom Italia net income (*).</a:t>
            </a:r>
          </a:p>
          <a:p>
            <a:pPr marL="0" lvl="3" indent="0" algn="just">
              <a:buNone/>
            </a:pPr>
            <a:endParaRPr lang="fr-FR" dirty="0">
              <a:solidFill>
                <a:schemeClr val="tx1"/>
              </a:solidFill>
              <a:highlight>
                <a:srgbClr val="FFFF00"/>
              </a:highlight>
            </a:endParaRPr>
          </a:p>
        </p:txBody>
      </p:sp>
      <p:sp>
        <p:nvSpPr>
          <p:cNvPr id="3" name="Titre 2"/>
          <p:cNvSpPr>
            <a:spLocks noGrp="1"/>
          </p:cNvSpPr>
          <p:nvPr>
            <p:ph type="title"/>
          </p:nvPr>
        </p:nvSpPr>
        <p:spPr>
          <a:xfrm>
            <a:off x="120652" y="163176"/>
            <a:ext cx="8978898" cy="320400"/>
          </a:xfrm>
        </p:spPr>
        <p:txBody>
          <a:bodyPr vert="horz" lIns="91440" tIns="0" rIns="91440" bIns="0" rtlCol="0" anchor="t">
            <a:noAutofit/>
          </a:bodyPr>
          <a:lstStyle/>
          <a:p>
            <a:r>
              <a:rPr lang="en-US" sz="1800"/>
              <a:t>Financial INCOME and equity-accounted non-operating companies</a:t>
            </a:r>
          </a:p>
        </p:txBody>
      </p:sp>
      <p:sp>
        <p:nvSpPr>
          <p:cNvPr id="6" name="Espace réservé du texte 5"/>
          <p:cNvSpPr>
            <a:spLocks noGrp="1"/>
          </p:cNvSpPr>
          <p:nvPr>
            <p:ph type="body" sz="quarter" idx="15"/>
          </p:nvPr>
        </p:nvSpPr>
        <p:spPr>
          <a:xfrm>
            <a:off x="120652" y="502900"/>
            <a:ext cx="6251549" cy="215900"/>
          </a:xfrm>
        </p:spPr>
        <p:txBody>
          <a:bodyPr>
            <a:normAutofit fontScale="92500" lnSpcReduction="20000"/>
          </a:bodyPr>
          <a:lstStyle/>
          <a:p>
            <a:endParaRPr lang="en-US">
              <a:solidFill>
                <a:srgbClr val="3A75C4"/>
              </a:solidFill>
              <a:latin typeface="Arial" panose="020B0604020202020204" pitchFamily="34" charset="0"/>
              <a:cs typeface="Arial" panose="020B0604020202020204" pitchFamily="34" charset="0"/>
            </a:endParaRPr>
          </a:p>
        </p:txBody>
      </p:sp>
      <p:sp>
        <p:nvSpPr>
          <p:cNvPr id="8" name="Rectangle 7"/>
          <p:cNvSpPr>
            <a:spLocks/>
          </p:cNvSpPr>
          <p:nvPr/>
        </p:nvSpPr>
        <p:spPr>
          <a:xfrm>
            <a:off x="143624" y="899647"/>
            <a:ext cx="5028607" cy="198189"/>
          </a:xfrm>
          <a:prstGeom prst="rect">
            <a:avLst/>
          </a:prstGeom>
          <a:noFill/>
        </p:spPr>
        <p:txBody>
          <a:bodyPr vert="horz" lIns="91440" tIns="45720" rIns="91440" bIns="45720" rtlCol="0">
            <a:noAutofit/>
          </a:bodyPr>
          <a:lstStyle/>
          <a:p>
            <a:pPr>
              <a:spcAft>
                <a:spcPts val="300"/>
              </a:spcAft>
              <a:buSzPct val="110000"/>
            </a:pPr>
            <a:r>
              <a:rPr lang="en-US" sz="1000" b="1" cap="all">
                <a:solidFill>
                  <a:srgbClr val="3A75C4"/>
                </a:solidFill>
                <a:latin typeface="+mj-lt"/>
              </a:rPr>
              <a:t>financial income</a:t>
            </a:r>
          </a:p>
        </p:txBody>
      </p:sp>
      <p:sp>
        <p:nvSpPr>
          <p:cNvPr id="29" name="Rectangle 28"/>
          <p:cNvSpPr>
            <a:spLocks/>
          </p:cNvSpPr>
          <p:nvPr/>
        </p:nvSpPr>
        <p:spPr>
          <a:xfrm>
            <a:off x="143624" y="2859782"/>
            <a:ext cx="5531468" cy="198189"/>
          </a:xfrm>
          <a:prstGeom prst="rect">
            <a:avLst/>
          </a:prstGeom>
          <a:noFill/>
        </p:spPr>
        <p:txBody>
          <a:bodyPr vert="horz" lIns="91440" tIns="45720" rIns="91440" bIns="45720" rtlCol="0">
            <a:noAutofit/>
          </a:bodyPr>
          <a:lstStyle/>
          <a:p>
            <a:pPr>
              <a:spcAft>
                <a:spcPts val="300"/>
              </a:spcAft>
              <a:buSzPct val="110000"/>
            </a:pPr>
            <a:r>
              <a:rPr lang="en-US" sz="1000" b="1" cap="all">
                <a:solidFill>
                  <a:srgbClr val="3A75C4"/>
                </a:solidFill>
                <a:latin typeface="+mj-lt"/>
              </a:rPr>
              <a:t>income FROM equity-accounted non-operating companies</a:t>
            </a:r>
          </a:p>
        </p:txBody>
      </p:sp>
      <p:sp>
        <p:nvSpPr>
          <p:cNvPr id="11" name="Espace réservé du contenu 4">
            <a:extLst>
              <a:ext uri="{FF2B5EF4-FFF2-40B4-BE49-F238E27FC236}">
                <a16:creationId xmlns:a16="http://schemas.microsoft.com/office/drawing/2014/main" id="{D3AF0312-76D9-4B54-9772-B2B813B86E80}"/>
              </a:ext>
            </a:extLst>
          </p:cNvPr>
          <p:cNvSpPr txBox="1">
            <a:spLocks/>
          </p:cNvSpPr>
          <p:nvPr/>
        </p:nvSpPr>
        <p:spPr>
          <a:xfrm>
            <a:off x="4400381" y="1308750"/>
            <a:ext cx="4400724" cy="958492"/>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r>
              <a:rPr lang="en-US"/>
              <a:t>The financial income,</a:t>
            </a:r>
            <a:r>
              <a:rPr lang="en-US" b="0"/>
              <a:t> includes an increase in dividends received (FL Entertainment, Mediaset, Telefonica, etc.) and investment income. In the first half of 2022, it included €526 million in capital gains on Banijay Holdings Group following the exchange by Vivendi of its 32.9% stake in Banijay for 19.9% ​​in FL Entertainment (FLE), listed since July 1, 2022.</a:t>
            </a:r>
            <a:endParaRPr lang="en-GB" b="0"/>
          </a:p>
        </p:txBody>
      </p:sp>
      <p:pic>
        <p:nvPicPr>
          <p:cNvPr id="4" name="Image 3">
            <a:extLst>
              <a:ext uri="{FF2B5EF4-FFF2-40B4-BE49-F238E27FC236}">
                <a16:creationId xmlns:a16="http://schemas.microsoft.com/office/drawing/2014/main" id="{982B78E0-BBA4-4531-BB62-D746756E6820}"/>
              </a:ext>
            </a:extLst>
          </p:cNvPr>
          <p:cNvPicPr>
            <a:picLocks noChangeAspect="1"/>
          </p:cNvPicPr>
          <p:nvPr>
            <p:custDataLst>
              <p:tags r:id="rId2"/>
            </p:custDataLst>
          </p:nvPr>
        </p:nvPicPr>
        <p:blipFill>
          <a:blip r:embed="rId5"/>
          <a:stretch>
            <a:fillRect/>
          </a:stretch>
        </p:blipFill>
        <p:spPr>
          <a:xfrm>
            <a:off x="191939" y="1184989"/>
            <a:ext cx="3948013" cy="1370503"/>
          </a:xfrm>
          <a:prstGeom prst="rect">
            <a:avLst/>
          </a:prstGeom>
        </p:spPr>
      </p:pic>
      <p:pic>
        <p:nvPicPr>
          <p:cNvPr id="9" name="Image 8">
            <a:extLst>
              <a:ext uri="{FF2B5EF4-FFF2-40B4-BE49-F238E27FC236}">
                <a16:creationId xmlns:a16="http://schemas.microsoft.com/office/drawing/2014/main" id="{00712D3A-B5BE-40ED-A07F-12D507FA0B75}"/>
              </a:ext>
            </a:extLst>
          </p:cNvPr>
          <p:cNvPicPr>
            <a:picLocks noChangeAspect="1"/>
          </p:cNvPicPr>
          <p:nvPr>
            <p:custDataLst>
              <p:tags r:id="rId3"/>
            </p:custDataLst>
          </p:nvPr>
        </p:nvPicPr>
        <p:blipFill>
          <a:blip r:embed="rId6"/>
          <a:stretch>
            <a:fillRect/>
          </a:stretch>
        </p:blipFill>
        <p:spPr>
          <a:xfrm>
            <a:off x="231732" y="3333354"/>
            <a:ext cx="3948013" cy="747247"/>
          </a:xfrm>
          <a:prstGeom prst="rect">
            <a:avLst/>
          </a:prstGeom>
        </p:spPr>
      </p:pic>
      <p:sp>
        <p:nvSpPr>
          <p:cNvPr id="12" name="ZoneTexte 11">
            <a:extLst>
              <a:ext uri="{FF2B5EF4-FFF2-40B4-BE49-F238E27FC236}">
                <a16:creationId xmlns:a16="http://schemas.microsoft.com/office/drawing/2014/main" id="{2B9E04C6-8A92-48FB-BFAE-CC76C36EF2FD}"/>
              </a:ext>
            </a:extLst>
          </p:cNvPr>
          <p:cNvSpPr txBox="1"/>
          <p:nvPr/>
        </p:nvSpPr>
        <p:spPr>
          <a:xfrm>
            <a:off x="254000" y="4803998"/>
            <a:ext cx="8604510" cy="339502"/>
          </a:xfrm>
          <a:prstGeom prst="rect">
            <a:avLst/>
          </a:prstGeom>
        </p:spPr>
        <p:txBody>
          <a:bodyPr vert="horz" wrap="square" lIns="91440" tIns="45720" rIns="91440" bIns="45720" rtlCol="0">
            <a:noAutofit/>
          </a:bodyPr>
          <a:lstStyle/>
          <a:p>
            <a:pPr marL="177800" indent="-177800">
              <a:tabLst>
                <a:tab pos="177800" algn="l"/>
              </a:tabLst>
            </a:pPr>
            <a:r>
              <a:rPr lang="en-GB" sz="700">
                <a:latin typeface="+mj-lt"/>
                <a:cs typeface="Arial" panose="020B0604020202020204" pitchFamily="34" charset="0"/>
              </a:rPr>
              <a:t>(*)</a:t>
            </a:r>
            <a:r>
              <a:rPr lang="en-GB" sz="700">
                <a:latin typeface="+mj-lt"/>
              </a:rPr>
              <a:t>	</a:t>
            </a:r>
            <a:r>
              <a:rPr lang="en-US" sz="700">
                <a:latin typeface="+mj-lt"/>
              </a:rPr>
              <a:t>Vivendi ceased to recognize Telecom Italia as an equity-accounted investment as of 12/31/2022.</a:t>
            </a:r>
            <a:endParaRPr lang="fr-FR" sz="700">
              <a:highlight>
                <a:srgbClr val="FFFF00"/>
              </a:highlight>
              <a:latin typeface="+mj-lt"/>
              <a:cs typeface="Arial" panose="020B0604020202020204" pitchFamily="34" charset="0"/>
            </a:endParaRPr>
          </a:p>
          <a:p>
            <a:endParaRPr lang="fr-FR" sz="700">
              <a:highlight>
                <a:srgbClr val="FFFF00"/>
              </a:highlight>
              <a:latin typeface="+mj-lt"/>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A965DDB9-CFB1-470F-AE22-B87BF368AF51}"/>
              </a:ext>
            </a:extLst>
          </p:cNvPr>
          <p:cNvSpPr>
            <a:spLocks noGrp="1"/>
          </p:cNvSpPr>
          <p:nvPr>
            <p:ph type="sldNum" sz="quarter" idx="12"/>
          </p:nvPr>
        </p:nvSpPr>
        <p:spPr/>
        <p:txBody>
          <a:bodyPr/>
          <a:lstStyle/>
          <a:p>
            <a:fld id="{304318A0-AD76-4461-B655-8B1A266EB0A2}" type="slidenum">
              <a:rPr lang="fr-FR" smtClean="0"/>
              <a:t>14</a:t>
            </a:fld>
            <a:endParaRPr lang="fr-FR"/>
          </a:p>
        </p:txBody>
      </p:sp>
    </p:spTree>
    <p:custDataLst>
      <p:tags r:id="rId1"/>
    </p:custDataLst>
    <p:extLst>
      <p:ext uri="{BB962C8B-B14F-4D97-AF65-F5344CB8AC3E}">
        <p14:creationId xmlns:p14="http://schemas.microsoft.com/office/powerpoint/2010/main" val="2801744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E5A40C0D-AA22-4A73-A782-8F5FD7CAF54C}"/>
              </a:ext>
            </a:extLst>
          </p:cNvPr>
          <p:cNvPicPr>
            <a:picLocks noChangeAspect="1"/>
          </p:cNvPicPr>
          <p:nvPr>
            <p:custDataLst>
              <p:tags r:id="rId2"/>
            </p:custDataLst>
          </p:nvPr>
        </p:nvPicPr>
        <p:blipFill>
          <a:blip r:embed="rId4"/>
          <a:stretch>
            <a:fillRect/>
          </a:stretch>
        </p:blipFill>
        <p:spPr>
          <a:xfrm>
            <a:off x="539553" y="1230706"/>
            <a:ext cx="7677544" cy="4038292"/>
          </a:xfrm>
          <a:prstGeom prst="rect">
            <a:avLst/>
          </a:prstGeom>
        </p:spPr>
      </p:pic>
      <p:sp>
        <p:nvSpPr>
          <p:cNvPr id="7" name="Titre 6"/>
          <p:cNvSpPr>
            <a:spLocks noGrp="1"/>
          </p:cNvSpPr>
          <p:nvPr>
            <p:ph type="title"/>
          </p:nvPr>
        </p:nvSpPr>
        <p:spPr>
          <a:xfrm>
            <a:off x="120651" y="163176"/>
            <a:ext cx="6251549" cy="320400"/>
          </a:xfrm>
        </p:spPr>
        <p:txBody>
          <a:bodyPr vert="horz" lIns="91440" tIns="0" rIns="91440" bIns="0" rtlCol="0" anchor="t">
            <a:noAutofit/>
          </a:bodyPr>
          <a:lstStyle/>
          <a:p>
            <a:r>
              <a:rPr lang="en-US" sz="1800"/>
              <a:t>Changes in net debt</a:t>
            </a:r>
          </a:p>
        </p:txBody>
      </p:sp>
      <p:sp>
        <p:nvSpPr>
          <p:cNvPr id="20" name="ZoneTexte 19">
            <a:extLst>
              <a:ext uri="{FF2B5EF4-FFF2-40B4-BE49-F238E27FC236}">
                <a16:creationId xmlns:a16="http://schemas.microsoft.com/office/drawing/2014/main" id="{E74C7543-65C5-48EE-B61D-304FE4EC6F1A}"/>
              </a:ext>
            </a:extLst>
          </p:cNvPr>
          <p:cNvSpPr txBox="1"/>
          <p:nvPr/>
        </p:nvSpPr>
        <p:spPr>
          <a:xfrm>
            <a:off x="1564140" y="1182516"/>
            <a:ext cx="2036619" cy="270143"/>
          </a:xfrm>
          <a:prstGeom prst="rect">
            <a:avLst/>
          </a:prstGeom>
        </p:spPr>
        <p:txBody>
          <a:bodyPr vert="horz" wrap="square" lIns="91440" tIns="45720" rIns="91440" bIns="45720" rtlCol="0">
            <a:noAutofit/>
          </a:bodyPr>
          <a:lstStyle/>
          <a:p>
            <a:pPr algn="ctr"/>
            <a:r>
              <a:rPr lang="en-US" sz="800">
                <a:latin typeface="Arial" panose="020B0604020202020204" pitchFamily="34" charset="0"/>
                <a:cs typeface="Arial" panose="020B0604020202020204" pitchFamily="34" charset="0"/>
              </a:rPr>
              <a:t>Operating cash flow: €134 m</a:t>
            </a:r>
          </a:p>
        </p:txBody>
      </p:sp>
      <p:sp>
        <p:nvSpPr>
          <p:cNvPr id="21" name="ZoneTexte 20">
            <a:extLst>
              <a:ext uri="{FF2B5EF4-FFF2-40B4-BE49-F238E27FC236}">
                <a16:creationId xmlns:a16="http://schemas.microsoft.com/office/drawing/2014/main" id="{4B698B0A-BB6C-4B5F-9B69-DDEA5F043732}"/>
              </a:ext>
            </a:extLst>
          </p:cNvPr>
          <p:cNvSpPr txBox="1"/>
          <p:nvPr/>
        </p:nvSpPr>
        <p:spPr>
          <a:xfrm>
            <a:off x="4551620" y="1275606"/>
            <a:ext cx="1480925" cy="584174"/>
          </a:xfrm>
          <a:prstGeom prst="rect">
            <a:avLst/>
          </a:prstGeom>
        </p:spPr>
        <p:txBody>
          <a:bodyPr vert="horz" wrap="square" lIns="91440" tIns="45720" rIns="91440" bIns="45720" rtlCol="0">
            <a:noAutofit/>
          </a:bodyPr>
          <a:lstStyle/>
          <a:p>
            <a:pPr algn="ctr"/>
            <a:r>
              <a:rPr lang="en-US" sz="800">
                <a:latin typeface="Arial" panose="020B0604020202020204" pitchFamily="34" charset="0"/>
                <a:cs typeface="Arial" panose="020B0604020202020204" pitchFamily="34" charset="0"/>
              </a:rPr>
              <a:t>Bolloré share buybacks (simplified cash tender offer), share purchases (UMG, </a:t>
            </a:r>
            <a:r>
              <a:rPr lang="en-US" sz="800" err="1">
                <a:latin typeface="Arial" panose="020B0604020202020204" pitchFamily="34" charset="0"/>
                <a:cs typeface="Arial" panose="020B0604020202020204" pitchFamily="34" charset="0"/>
              </a:rPr>
              <a:t>Viu</a:t>
            </a:r>
            <a:r>
              <a:rPr lang="en-US" sz="800">
                <a:latin typeface="Arial" panose="020B0604020202020204" pitchFamily="34" charset="0"/>
                <a:cs typeface="Arial" panose="020B0604020202020204" pitchFamily="34" charset="0"/>
              </a:rPr>
              <a:t>, MultiChoice, etc.)</a:t>
            </a:r>
          </a:p>
        </p:txBody>
      </p:sp>
      <p:cxnSp>
        <p:nvCxnSpPr>
          <p:cNvPr id="25" name="Connecteur droit avec flèche 24">
            <a:extLst>
              <a:ext uri="{FF2B5EF4-FFF2-40B4-BE49-F238E27FC236}">
                <a16:creationId xmlns:a16="http://schemas.microsoft.com/office/drawing/2014/main" id="{F4087F70-7A96-4574-A441-78F35201B6B7}"/>
              </a:ext>
            </a:extLst>
          </p:cNvPr>
          <p:cNvCxnSpPr>
            <a:cxnSpLocks/>
          </p:cNvCxnSpPr>
          <p:nvPr/>
        </p:nvCxnSpPr>
        <p:spPr>
          <a:xfrm>
            <a:off x="5131588" y="1851670"/>
            <a:ext cx="0" cy="268709"/>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306766B0-2A6B-40A2-A0FB-BAD4D8C7DA5C}"/>
              </a:ext>
            </a:extLst>
          </p:cNvPr>
          <p:cNvCxnSpPr>
            <a:cxnSpLocks/>
          </p:cNvCxnSpPr>
          <p:nvPr/>
        </p:nvCxnSpPr>
        <p:spPr>
          <a:xfrm>
            <a:off x="5652120" y="3219822"/>
            <a:ext cx="0" cy="212198"/>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Parenthèse fermante 22">
            <a:extLst>
              <a:ext uri="{FF2B5EF4-FFF2-40B4-BE49-F238E27FC236}">
                <a16:creationId xmlns:a16="http://schemas.microsoft.com/office/drawing/2014/main" id="{EA6F8414-4806-4364-8065-B60E25DD8152}"/>
              </a:ext>
            </a:extLst>
          </p:cNvPr>
          <p:cNvSpPr/>
          <p:nvPr/>
        </p:nvSpPr>
        <p:spPr>
          <a:xfrm rot="16200000">
            <a:off x="2605905" y="573912"/>
            <a:ext cx="134325" cy="1767014"/>
          </a:xfrm>
          <a:prstGeom prst="rightBracket">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800"/>
          </a:p>
        </p:txBody>
      </p:sp>
      <p:sp>
        <p:nvSpPr>
          <p:cNvPr id="14" name="ZoneTexte 13">
            <a:extLst>
              <a:ext uri="{FF2B5EF4-FFF2-40B4-BE49-F238E27FC236}">
                <a16:creationId xmlns:a16="http://schemas.microsoft.com/office/drawing/2014/main" id="{6D6BDC24-787B-4AC7-8B7B-465BA8538BF8}"/>
              </a:ext>
            </a:extLst>
          </p:cNvPr>
          <p:cNvSpPr txBox="1"/>
          <p:nvPr/>
        </p:nvSpPr>
        <p:spPr>
          <a:xfrm>
            <a:off x="5226455" y="2828282"/>
            <a:ext cx="933217" cy="345876"/>
          </a:xfrm>
          <a:prstGeom prst="rect">
            <a:avLst/>
          </a:prstGeom>
        </p:spPr>
        <p:txBody>
          <a:bodyPr vert="horz" wrap="square" lIns="91440" tIns="45720" rIns="91440" bIns="45720" rtlCol="0">
            <a:noAutofit/>
          </a:bodyPr>
          <a:lstStyle/>
          <a:p>
            <a:pPr algn="ctr"/>
            <a:r>
              <a:rPr lang="en-GB" sz="800">
                <a:latin typeface="Arial" panose="020B0604020202020204" pitchFamily="34" charset="0"/>
                <a:cs typeface="Arial" panose="020B0604020202020204" pitchFamily="34" charset="0"/>
              </a:rPr>
              <a:t>Disposal of Vivendi shares</a:t>
            </a:r>
          </a:p>
        </p:txBody>
      </p:sp>
      <p:sp>
        <p:nvSpPr>
          <p:cNvPr id="13" name="Espace réservé du texte 5">
            <a:extLst>
              <a:ext uri="{FF2B5EF4-FFF2-40B4-BE49-F238E27FC236}">
                <a16:creationId xmlns:a16="http://schemas.microsoft.com/office/drawing/2014/main" id="{B858AAB2-1C7A-46D8-928C-8259E84B71F2}"/>
              </a:ext>
            </a:extLst>
          </p:cNvPr>
          <p:cNvSpPr txBox="1">
            <a:spLocks/>
          </p:cNvSpPr>
          <p:nvPr/>
        </p:nvSpPr>
        <p:spPr>
          <a:xfrm>
            <a:off x="299079" y="923478"/>
            <a:ext cx="8926512" cy="215900"/>
          </a:xfrm>
          <a:prstGeom prst="rect">
            <a:avLst/>
          </a:prstGeom>
        </p:spPr>
        <p:txBody>
          <a:bodyPr vert="horz" lIns="91440" tIns="0" rIns="91440" bIns="0" rtlCol="0" anchor="ctr">
            <a:noAutofit/>
          </a:bodyPr>
          <a:lstStyle>
            <a:lvl1pPr indent="0">
              <a:lnSpc>
                <a:spcPct val="100000"/>
              </a:lnSpc>
              <a:spcBef>
                <a:spcPts val="0"/>
              </a:spcBef>
              <a:spcAft>
                <a:spcPts val="300"/>
              </a:spcAft>
              <a:buSzPct val="110000"/>
              <a:buFontTx/>
              <a:buNone/>
              <a:defRPr sz="1000" b="1" cap="all" baseline="0">
                <a:solidFill>
                  <a:schemeClr val="tx2"/>
                </a:solidFill>
                <a:latin typeface="+mj-lt"/>
              </a:defRPr>
            </a:lvl1pPr>
            <a:lvl2pPr marL="0" indent="0">
              <a:lnSpc>
                <a:spcPct val="100000"/>
              </a:lnSpc>
              <a:spcBef>
                <a:spcPts val="300"/>
              </a:spcBef>
              <a:spcAft>
                <a:spcPts val="300"/>
              </a:spcAft>
              <a:buClr>
                <a:srgbClr val="808080"/>
              </a:buClr>
              <a:buFont typeface="Wingdings" panose="05000000000000000000" pitchFamily="2" charset="2"/>
              <a:buNone/>
              <a:defRPr sz="1000" b="1">
                <a:latin typeface="+mj-lt"/>
              </a:defRPr>
            </a:lvl2pPr>
            <a:lvl3pPr marL="0" indent="0">
              <a:lnSpc>
                <a:spcPct val="100000"/>
              </a:lnSpc>
              <a:spcBef>
                <a:spcPts val="300"/>
              </a:spcBef>
              <a:spcAft>
                <a:spcPts val="300"/>
              </a:spcAft>
              <a:buClr>
                <a:srgbClr val="808080"/>
              </a:buClr>
              <a:buFont typeface="Calibri Light" panose="020F0302020204030204" pitchFamily="34" charset="0"/>
              <a:buNone/>
              <a:defRPr sz="1000"/>
            </a:lvl3pPr>
            <a:lvl4pPr marL="180000" indent="-180000">
              <a:lnSpc>
                <a:spcPct val="100000"/>
              </a:lnSpc>
              <a:spcBef>
                <a:spcPts val="300"/>
              </a:spcBef>
              <a:spcAft>
                <a:spcPts val="100"/>
              </a:spcAft>
              <a:buClr>
                <a:schemeClr val="tx2"/>
              </a:buClr>
              <a:buSzPct val="90000"/>
              <a:buFont typeface="Wingdings" panose="05000000000000000000" pitchFamily="2" charset="2"/>
              <a:buChar char="§"/>
              <a:defRPr sz="1000" b="1" i="0"/>
            </a:lvl4pPr>
            <a:lvl5pPr marL="360000" indent="-180000">
              <a:lnSpc>
                <a:spcPct val="100000"/>
              </a:lnSpc>
              <a:spcBef>
                <a:spcPts val="100"/>
              </a:spcBef>
              <a:spcAft>
                <a:spcPts val="100"/>
              </a:spcAft>
              <a:buClr>
                <a:srgbClr val="808080"/>
              </a:buClr>
              <a:buSzPct val="80000"/>
              <a:buFont typeface="Arial" panose="020B0604020202020204" pitchFamily="34" charset="0"/>
              <a:buChar char="•"/>
              <a:defRPr sz="1000" i="0">
                <a:solidFill>
                  <a:srgbClr val="595959"/>
                </a:solidFill>
              </a:defRPr>
            </a:lvl5pPr>
            <a:lvl6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6pPr>
            <a:lvl7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7pPr>
            <a:lvl8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8pPr>
            <a:lvl9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9pPr>
          </a:lstStyle>
          <a:p>
            <a:r>
              <a:rPr lang="fr-FR"/>
              <a:t> </a:t>
            </a:r>
            <a:r>
              <a:rPr lang="nl-NL"/>
              <a:t>Net cash / (net </a:t>
            </a:r>
            <a:r>
              <a:rPr lang="nl-NL" err="1"/>
              <a:t>debt</a:t>
            </a:r>
            <a:r>
              <a:rPr lang="nl-NL"/>
              <a:t>), in €m</a:t>
            </a:r>
          </a:p>
        </p:txBody>
      </p:sp>
      <p:sp>
        <p:nvSpPr>
          <p:cNvPr id="3" name="Espace réservé du texte 2">
            <a:extLst>
              <a:ext uri="{FF2B5EF4-FFF2-40B4-BE49-F238E27FC236}">
                <a16:creationId xmlns:a16="http://schemas.microsoft.com/office/drawing/2014/main" id="{D3AD03BA-0E3A-4869-9A0C-4E3F10049EF9}"/>
              </a:ext>
            </a:extLst>
          </p:cNvPr>
          <p:cNvSpPr>
            <a:spLocks noGrp="1"/>
          </p:cNvSpPr>
          <p:nvPr>
            <p:ph type="body" sz="quarter" idx="13"/>
          </p:nvPr>
        </p:nvSpPr>
        <p:spPr/>
        <p:txBody>
          <a:bodyPr/>
          <a:lstStyle/>
          <a:p>
            <a:endParaRPr lang="fr-FR"/>
          </a:p>
        </p:txBody>
      </p:sp>
      <p:sp>
        <p:nvSpPr>
          <p:cNvPr id="5" name="Espace réservé du numéro de diapositive 4">
            <a:extLst>
              <a:ext uri="{FF2B5EF4-FFF2-40B4-BE49-F238E27FC236}">
                <a16:creationId xmlns:a16="http://schemas.microsoft.com/office/drawing/2014/main" id="{B1661FAE-846C-45B9-96EC-C9D66AA0B96D}"/>
              </a:ext>
            </a:extLst>
          </p:cNvPr>
          <p:cNvSpPr>
            <a:spLocks noGrp="1"/>
          </p:cNvSpPr>
          <p:nvPr>
            <p:ph type="sldNum" sz="quarter" idx="12"/>
          </p:nvPr>
        </p:nvSpPr>
        <p:spPr/>
        <p:txBody>
          <a:bodyPr/>
          <a:lstStyle/>
          <a:p>
            <a:fld id="{304318A0-AD76-4461-B655-8B1A266EB0A2}" type="slidenum">
              <a:rPr lang="fr-FR" smtClean="0"/>
              <a:t>15</a:t>
            </a:fld>
            <a:endParaRPr lang="fr-FR"/>
          </a:p>
        </p:txBody>
      </p:sp>
    </p:spTree>
    <p:custDataLst>
      <p:tags r:id="rId1"/>
    </p:custDataLst>
    <p:extLst>
      <p:ext uri="{BB962C8B-B14F-4D97-AF65-F5344CB8AC3E}">
        <p14:creationId xmlns:p14="http://schemas.microsoft.com/office/powerpoint/2010/main" val="848740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20651" y="163176"/>
            <a:ext cx="6251549" cy="320400"/>
          </a:xfrm>
        </p:spPr>
        <p:txBody>
          <a:bodyPr vert="horz" lIns="91440" tIns="0" rIns="91440" bIns="0" rtlCol="0" anchor="t">
            <a:noAutofit/>
          </a:bodyPr>
          <a:lstStyle/>
          <a:p>
            <a:r>
              <a:rPr lang="en-US" sz="1800"/>
              <a:t>Balance sheet – Liquidity (1/2)</a:t>
            </a:r>
          </a:p>
        </p:txBody>
      </p:sp>
      <p:sp>
        <p:nvSpPr>
          <p:cNvPr id="12" name="Espace réservé du texte 11"/>
          <p:cNvSpPr>
            <a:spLocks noGrp="1"/>
          </p:cNvSpPr>
          <p:nvPr>
            <p:ph type="body" sz="quarter" idx="17"/>
          </p:nvPr>
        </p:nvSpPr>
        <p:spPr>
          <a:xfrm>
            <a:off x="120651" y="502900"/>
            <a:ext cx="6251549" cy="215900"/>
          </a:xfrm>
        </p:spPr>
        <p:txBody>
          <a:bodyPr>
            <a:normAutofit fontScale="92500" lnSpcReduction="20000"/>
          </a:bodyPr>
          <a:lstStyle/>
          <a:p>
            <a:endParaRPr lang="en-US">
              <a:solidFill>
                <a:srgbClr val="3A75C4"/>
              </a:solidFill>
              <a:latin typeface="Arial" panose="020B0604020202020204" pitchFamily="34" charset="0"/>
              <a:cs typeface="Arial" panose="020B0604020202020204" pitchFamily="34" charset="0"/>
            </a:endParaRPr>
          </a:p>
        </p:txBody>
      </p:sp>
      <p:sp>
        <p:nvSpPr>
          <p:cNvPr id="10" name="Espace réservé du contenu 4">
            <a:extLst>
              <a:ext uri="{FF2B5EF4-FFF2-40B4-BE49-F238E27FC236}">
                <a16:creationId xmlns:a16="http://schemas.microsoft.com/office/drawing/2014/main" id="{C5079C4E-DC87-4B16-B35A-1B386C53C907}"/>
              </a:ext>
            </a:extLst>
          </p:cNvPr>
          <p:cNvSpPr txBox="1">
            <a:spLocks/>
          </p:cNvSpPr>
          <p:nvPr/>
        </p:nvSpPr>
        <p:spPr>
          <a:xfrm>
            <a:off x="330201" y="2537563"/>
            <a:ext cx="7984066" cy="2122419"/>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r>
              <a:rPr lang="en-US"/>
              <a:t>Equity: €37.3bn</a:t>
            </a:r>
          </a:p>
          <a:p>
            <a:pPr lvl="4" algn="just">
              <a:spcAft>
                <a:spcPts val="0"/>
              </a:spcAft>
            </a:pPr>
            <a:r>
              <a:rPr lang="en-US">
                <a:solidFill>
                  <a:schemeClr val="tx1"/>
                </a:solidFill>
              </a:rPr>
              <a:t>Growth in the Group's shareholders' equity given the appreciation in the stock market prices of the shares held, as well as through the sale of Vivendi shares, which compensate for the acquisition of Bolloré shares within the framework of the simplified cash tender offer (OPAS).</a:t>
            </a:r>
          </a:p>
          <a:p>
            <a:pPr lvl="3" algn="just">
              <a:spcBef>
                <a:spcPts val="600"/>
              </a:spcBef>
              <a:spcAft>
                <a:spcPts val="50"/>
              </a:spcAft>
            </a:pPr>
            <a:r>
              <a:rPr lang="en-US"/>
              <a:t>Net debt: €0,1bn</a:t>
            </a:r>
          </a:p>
          <a:p>
            <a:pPr marL="359410" lvl="1" indent="-179705" algn="just">
              <a:spcAft>
                <a:spcPts val="600"/>
              </a:spcAft>
              <a:buSzPct val="70000"/>
              <a:buFont typeface="Wingdings" panose="05000000000000000000" pitchFamily="2" charset="2"/>
              <a:buChar char="§"/>
              <a:defRPr/>
            </a:pPr>
            <a:r>
              <a:rPr lang="en-US" b="0" err="1">
                <a:latin typeface="Arial"/>
                <a:cs typeface="Arial"/>
              </a:rPr>
              <a:t>Bolloré's</a:t>
            </a:r>
            <a:r>
              <a:rPr lang="en-US" b="0">
                <a:latin typeface="Arial"/>
                <a:cs typeface="Arial"/>
              </a:rPr>
              <a:t> net cash position, excluding Vivendi, fell by €0.6 billion, mainly as a result of the simplified cash tender offer.</a:t>
            </a:r>
          </a:p>
          <a:p>
            <a:pPr lvl="4" algn="just"/>
            <a:r>
              <a:rPr lang="en-US">
                <a:solidFill>
                  <a:schemeClr val="tx1"/>
                </a:solidFill>
              </a:rPr>
              <a:t>Increase in Vivendi’s indebtedness by €0.6 billion, including the acquisitions of MultiChoice and </a:t>
            </a:r>
            <a:r>
              <a:rPr lang="en-US" err="1">
                <a:solidFill>
                  <a:schemeClr val="tx1"/>
                </a:solidFill>
              </a:rPr>
              <a:t>Viu</a:t>
            </a:r>
            <a:r>
              <a:rPr lang="en-US">
                <a:solidFill>
                  <a:schemeClr val="tx1"/>
                </a:solidFill>
              </a:rPr>
              <a:t> shares by Canal+ Group during the first half.</a:t>
            </a:r>
            <a:r>
              <a:rPr lang="en-US">
                <a:solidFill>
                  <a:schemeClr val="tx1"/>
                </a:solidFill>
                <a:highlight>
                  <a:srgbClr val="FFFF00"/>
                </a:highlight>
              </a:rPr>
              <a:t> </a:t>
            </a:r>
          </a:p>
          <a:p>
            <a:pPr marL="359410" lvl="1" indent="-179705" algn="just">
              <a:spcAft>
                <a:spcPts val="600"/>
              </a:spcAft>
              <a:buSzPct val="70000"/>
              <a:buFont typeface="Wingdings" panose="05000000000000000000" pitchFamily="2" charset="2"/>
              <a:buChar char="§"/>
              <a:defRPr/>
            </a:pPr>
            <a:r>
              <a:rPr lang="en-US"/>
              <a:t>Group liquidity:</a:t>
            </a:r>
            <a:r>
              <a:rPr lang="en-US" b="0"/>
              <a:t> at the end of June 2023, the Group had €11 billion in cash and confirmed credit lines, including €7 billion at Bolloré.</a:t>
            </a:r>
          </a:p>
          <a:p>
            <a:pPr lvl="4"/>
            <a:endParaRPr lang="en-US">
              <a:solidFill>
                <a:schemeClr val="tx1"/>
              </a:solidFill>
              <a:highlight>
                <a:srgbClr val="FFFF00"/>
              </a:highlight>
            </a:endParaRPr>
          </a:p>
          <a:p>
            <a:endParaRPr lang="en-US">
              <a:solidFill>
                <a:schemeClr val="tx1"/>
              </a:solidFill>
            </a:endParaRPr>
          </a:p>
        </p:txBody>
      </p:sp>
      <p:sp>
        <p:nvSpPr>
          <p:cNvPr id="11" name="Rectangle 10">
            <a:extLst>
              <a:ext uri="{FF2B5EF4-FFF2-40B4-BE49-F238E27FC236}">
                <a16:creationId xmlns:a16="http://schemas.microsoft.com/office/drawing/2014/main" id="{210C3BBE-0DEF-4145-874E-B5CC73C371F9}"/>
              </a:ext>
            </a:extLst>
          </p:cNvPr>
          <p:cNvSpPr/>
          <p:nvPr/>
        </p:nvSpPr>
        <p:spPr>
          <a:xfrm>
            <a:off x="309152" y="4642302"/>
            <a:ext cx="7984065" cy="200055"/>
          </a:xfrm>
          <a:prstGeom prst="rect">
            <a:avLst/>
          </a:prstGeom>
        </p:spPr>
        <p:txBody>
          <a:bodyPr wrap="square">
            <a:spAutoFit/>
          </a:bodyPr>
          <a:lstStyle/>
          <a:p>
            <a:pPr marL="228600" indent="-228600">
              <a:buAutoNum type="arabicParenBoth"/>
            </a:pPr>
            <a:r>
              <a:rPr lang="en-GB" sz="700">
                <a:latin typeface="Arial" panose="020B0604020202020204" pitchFamily="34" charset="0"/>
                <a:cs typeface="Arial" panose="020B0604020202020204" pitchFamily="34" charset="0"/>
              </a:rPr>
              <a:t>Gearing = net debt/equity ratio</a:t>
            </a:r>
          </a:p>
        </p:txBody>
      </p:sp>
      <p:sp>
        <p:nvSpPr>
          <p:cNvPr id="9" name="Espace réservé du contenu 3">
            <a:extLst>
              <a:ext uri="{FF2B5EF4-FFF2-40B4-BE49-F238E27FC236}">
                <a16:creationId xmlns:a16="http://schemas.microsoft.com/office/drawing/2014/main" id="{B689C52C-8B14-4DD0-8B48-355FDE9110AE}"/>
              </a:ext>
            </a:extLst>
          </p:cNvPr>
          <p:cNvSpPr>
            <a:spLocks noGrp="1"/>
          </p:cNvSpPr>
          <p:nvPr>
            <p:ph sz="quarter" idx="13"/>
          </p:nvPr>
        </p:nvSpPr>
        <p:spPr>
          <a:xfrm>
            <a:off x="121840" y="812667"/>
            <a:ext cx="5832201" cy="252000"/>
          </a:xfrm>
          <a:noFill/>
        </p:spPr>
        <p:txBody>
          <a:bodyPr/>
          <a:lstStyle/>
          <a:p>
            <a:r>
              <a:rPr lang="fr-FR">
                <a:solidFill>
                  <a:srgbClr val="3A75C4"/>
                </a:solidFill>
              </a:rPr>
              <a:t>EQUITY AND NET DEBT</a:t>
            </a:r>
          </a:p>
        </p:txBody>
      </p:sp>
      <p:pic>
        <p:nvPicPr>
          <p:cNvPr id="2" name="Image 1">
            <a:extLst>
              <a:ext uri="{FF2B5EF4-FFF2-40B4-BE49-F238E27FC236}">
                <a16:creationId xmlns:a16="http://schemas.microsoft.com/office/drawing/2014/main" id="{EA394B50-9DC9-4538-A4AA-CE29D5E153E6}"/>
              </a:ext>
            </a:extLst>
          </p:cNvPr>
          <p:cNvPicPr>
            <a:picLocks noChangeAspect="1"/>
          </p:cNvPicPr>
          <p:nvPr>
            <p:custDataLst>
              <p:tags r:id="rId2"/>
            </p:custDataLst>
          </p:nvPr>
        </p:nvPicPr>
        <p:blipFill>
          <a:blip r:embed="rId5"/>
          <a:stretch>
            <a:fillRect/>
          </a:stretch>
        </p:blipFill>
        <p:spPr>
          <a:xfrm>
            <a:off x="225435" y="955956"/>
            <a:ext cx="6187440" cy="1325271"/>
          </a:xfrm>
          <a:prstGeom prst="rect">
            <a:avLst/>
          </a:prstGeom>
        </p:spPr>
      </p:pic>
      <p:sp>
        <p:nvSpPr>
          <p:cNvPr id="4" name="Espace réservé du numéro de diapositive 3">
            <a:extLst>
              <a:ext uri="{FF2B5EF4-FFF2-40B4-BE49-F238E27FC236}">
                <a16:creationId xmlns:a16="http://schemas.microsoft.com/office/drawing/2014/main" id="{6044F675-53DD-422D-8A05-FFA26FBFB914}"/>
              </a:ext>
            </a:extLst>
          </p:cNvPr>
          <p:cNvSpPr>
            <a:spLocks noGrp="1"/>
          </p:cNvSpPr>
          <p:nvPr>
            <p:ph type="sldNum" sz="quarter" idx="12"/>
          </p:nvPr>
        </p:nvSpPr>
        <p:spPr/>
        <p:txBody>
          <a:bodyPr/>
          <a:lstStyle/>
          <a:p>
            <a:fld id="{304318A0-AD76-4461-B655-8B1A266EB0A2}" type="slidenum">
              <a:rPr lang="fr-FR" smtClean="0"/>
              <a:t>16</a:t>
            </a:fld>
            <a:endParaRPr lang="fr-FR"/>
          </a:p>
        </p:txBody>
      </p:sp>
    </p:spTree>
    <p:custDataLst>
      <p:tags r:id="rId1"/>
    </p:custDataLst>
    <p:extLst>
      <p:ext uri="{BB962C8B-B14F-4D97-AF65-F5344CB8AC3E}">
        <p14:creationId xmlns:p14="http://schemas.microsoft.com/office/powerpoint/2010/main" val="2716419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05401EB7-29F5-4B57-B2F3-B3D7A634AE9E}"/>
              </a:ext>
            </a:extLst>
          </p:cNvPr>
          <p:cNvPicPr>
            <a:picLocks noChangeAspect="1"/>
          </p:cNvPicPr>
          <p:nvPr>
            <p:custDataLst>
              <p:tags r:id="rId2"/>
            </p:custDataLst>
          </p:nvPr>
        </p:nvPicPr>
        <p:blipFill>
          <a:blip r:embed="rId5"/>
          <a:stretch>
            <a:fillRect/>
          </a:stretch>
        </p:blipFill>
        <p:spPr>
          <a:xfrm>
            <a:off x="529771" y="1274884"/>
            <a:ext cx="6566222" cy="3564785"/>
          </a:xfrm>
          <a:prstGeom prst="rect">
            <a:avLst/>
          </a:prstGeom>
        </p:spPr>
      </p:pic>
      <p:sp>
        <p:nvSpPr>
          <p:cNvPr id="7" name="Titre 6"/>
          <p:cNvSpPr>
            <a:spLocks noGrp="1"/>
          </p:cNvSpPr>
          <p:nvPr>
            <p:ph type="title"/>
          </p:nvPr>
        </p:nvSpPr>
        <p:spPr>
          <a:xfrm>
            <a:off x="120651" y="163176"/>
            <a:ext cx="6251549" cy="320400"/>
          </a:xfrm>
        </p:spPr>
        <p:txBody>
          <a:bodyPr vert="horz" lIns="91440" tIns="0" rIns="91440" bIns="0" rtlCol="0" anchor="t">
            <a:noAutofit/>
          </a:bodyPr>
          <a:lstStyle/>
          <a:p>
            <a:r>
              <a:rPr lang="en-US" sz="1800"/>
              <a:t>Balance sheet – Liquidity (2/2)</a:t>
            </a:r>
          </a:p>
        </p:txBody>
      </p:sp>
      <p:sp>
        <p:nvSpPr>
          <p:cNvPr id="9" name="Rectangle : coins arrondis 8">
            <a:extLst>
              <a:ext uri="{FF2B5EF4-FFF2-40B4-BE49-F238E27FC236}">
                <a16:creationId xmlns:a16="http://schemas.microsoft.com/office/drawing/2014/main" id="{5D2D25FD-8E98-466C-8459-0A117E21A7D7}"/>
              </a:ext>
            </a:extLst>
          </p:cNvPr>
          <p:cNvSpPr/>
          <p:nvPr/>
        </p:nvSpPr>
        <p:spPr>
          <a:xfrm>
            <a:off x="6300192" y="1514703"/>
            <a:ext cx="654050" cy="882213"/>
          </a:xfrm>
          <a:prstGeom prst="roundRect">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100" err="1">
              <a:latin typeface="+mj-lt"/>
            </a:endParaRPr>
          </a:p>
        </p:txBody>
      </p:sp>
      <p:sp>
        <p:nvSpPr>
          <p:cNvPr id="3" name="Espace réservé du texte 2">
            <a:extLst>
              <a:ext uri="{FF2B5EF4-FFF2-40B4-BE49-F238E27FC236}">
                <a16:creationId xmlns:a16="http://schemas.microsoft.com/office/drawing/2014/main" id="{4BA07E6F-C6BB-4B23-84BF-3385A3FA6B58}"/>
              </a:ext>
            </a:extLst>
          </p:cNvPr>
          <p:cNvSpPr>
            <a:spLocks noGrp="1"/>
          </p:cNvSpPr>
          <p:nvPr>
            <p:ph type="body" sz="quarter" idx="17"/>
          </p:nvPr>
        </p:nvSpPr>
        <p:spPr/>
        <p:txBody>
          <a:bodyPr/>
          <a:lstStyle/>
          <a:p>
            <a:endParaRPr lang="fr-FR"/>
          </a:p>
        </p:txBody>
      </p:sp>
      <p:sp>
        <p:nvSpPr>
          <p:cNvPr id="11" name="Espace réservé du texte 5">
            <a:extLst>
              <a:ext uri="{FF2B5EF4-FFF2-40B4-BE49-F238E27FC236}">
                <a16:creationId xmlns:a16="http://schemas.microsoft.com/office/drawing/2014/main" id="{87431288-0504-4455-90FF-66891B896218}"/>
              </a:ext>
            </a:extLst>
          </p:cNvPr>
          <p:cNvSpPr txBox="1">
            <a:spLocks/>
          </p:cNvSpPr>
          <p:nvPr/>
        </p:nvSpPr>
        <p:spPr>
          <a:xfrm>
            <a:off x="136982" y="910477"/>
            <a:ext cx="8926512" cy="21590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r>
              <a:rPr lang="fr-FR"/>
              <a:t>Change in net cash / (net </a:t>
            </a:r>
            <a:r>
              <a:rPr lang="fr-FR" err="1"/>
              <a:t>debt</a:t>
            </a:r>
            <a:r>
              <a:rPr lang="fr-FR"/>
              <a:t>), in €m</a:t>
            </a:r>
          </a:p>
        </p:txBody>
      </p:sp>
      <p:sp>
        <p:nvSpPr>
          <p:cNvPr id="5" name="Espace réservé du numéro de diapositive 4">
            <a:extLst>
              <a:ext uri="{FF2B5EF4-FFF2-40B4-BE49-F238E27FC236}">
                <a16:creationId xmlns:a16="http://schemas.microsoft.com/office/drawing/2014/main" id="{C07B79A6-2719-44AE-BA20-A281676CD608}"/>
              </a:ext>
            </a:extLst>
          </p:cNvPr>
          <p:cNvSpPr>
            <a:spLocks noGrp="1"/>
          </p:cNvSpPr>
          <p:nvPr>
            <p:ph type="sldNum" sz="quarter" idx="12"/>
          </p:nvPr>
        </p:nvSpPr>
        <p:spPr/>
        <p:txBody>
          <a:bodyPr/>
          <a:lstStyle/>
          <a:p>
            <a:fld id="{304318A0-AD76-4461-B655-8B1A266EB0A2}" type="slidenum">
              <a:rPr lang="fr-FR" smtClean="0"/>
              <a:t>17</a:t>
            </a:fld>
            <a:endParaRPr lang="fr-FR"/>
          </a:p>
        </p:txBody>
      </p:sp>
    </p:spTree>
    <p:custDataLst>
      <p:tags r:id="rId1"/>
    </p:custDataLst>
    <p:extLst>
      <p:ext uri="{BB962C8B-B14F-4D97-AF65-F5344CB8AC3E}">
        <p14:creationId xmlns:p14="http://schemas.microsoft.com/office/powerpoint/2010/main" val="2967649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2E61CCA1-9B1C-45B1-87F5-CE353CB10822}"/>
              </a:ext>
            </a:extLst>
          </p:cNvPr>
          <p:cNvSpPr>
            <a:spLocks noGrp="1"/>
          </p:cNvSpPr>
          <p:nvPr>
            <p:ph type="ftr" sz="quarter" idx="11"/>
          </p:nvPr>
        </p:nvSpPr>
        <p:spPr/>
        <p:txBody>
          <a:bodyPr/>
          <a:lstStyle/>
          <a:p>
            <a:endParaRPr lang="fr-FR"/>
          </a:p>
        </p:txBody>
      </p:sp>
      <p:sp>
        <p:nvSpPr>
          <p:cNvPr id="24" name="ZoneTexte 23">
            <a:hlinkClick r:id="rId7" action="ppaction://hlinksldjump"/>
            <a:extLst>
              <a:ext uri="{FF2B5EF4-FFF2-40B4-BE49-F238E27FC236}">
                <a16:creationId xmlns:a16="http://schemas.microsoft.com/office/drawing/2014/main" id="{CF219ACB-CBBC-40A3-94FC-D32288DE7D93}"/>
              </a:ext>
            </a:extLst>
          </p:cNvPr>
          <p:cNvSpPr txBox="1"/>
          <p:nvPr>
            <p:custDataLst>
              <p:tags r:id="rId3"/>
            </p:custDataLst>
          </p:nvPr>
        </p:nvSpPr>
        <p:spPr>
          <a:xfrm>
            <a:off x="3347864" y="483519"/>
            <a:ext cx="5336201" cy="2160000"/>
          </a:xfrm>
          <a:prstGeom prst="rect">
            <a:avLst/>
          </a:prstGeom>
          <a:noFill/>
        </p:spPr>
        <p:txBody>
          <a:bodyPr vert="horz" wrap="square" lIns="0" tIns="0" rIns="0" bIns="118800" rtlCol="0" anchor="b" anchorCtr="0">
            <a:noAutofit/>
          </a:bodyPr>
          <a:lstStyle/>
          <a:p>
            <a:pPr algn="l"/>
            <a:r>
              <a:rPr lang="fr-FR" sz="3000" cap="all">
                <a:solidFill>
                  <a:schemeClr val="tx2"/>
                </a:solidFill>
                <a:latin typeface="+mj-lt"/>
              </a:rPr>
              <a:t>Business review</a:t>
            </a:r>
          </a:p>
        </p:txBody>
      </p:sp>
      <p:sp>
        <p:nvSpPr>
          <p:cNvPr id="25" name="ZoneTexte 24">
            <a:hlinkClick r:id="rId7" action="ppaction://hlinksldjump"/>
            <a:extLst>
              <a:ext uri="{FF2B5EF4-FFF2-40B4-BE49-F238E27FC236}">
                <a16:creationId xmlns:a16="http://schemas.microsoft.com/office/drawing/2014/main" id="{A39D6855-D7CC-4FE4-AD99-D62FB0FA0074}"/>
              </a:ext>
            </a:extLst>
          </p:cNvPr>
          <p:cNvSpPr txBox="1"/>
          <p:nvPr>
            <p:custDataLst>
              <p:tags r:id="rId4"/>
            </p:custDataLst>
          </p:nvPr>
        </p:nvSpPr>
        <p:spPr bwMode="auto">
          <a:xfrm>
            <a:off x="1259632" y="483519"/>
            <a:ext cx="1800195" cy="2160000"/>
          </a:xfrm>
          <a:prstGeom prst="roundRect">
            <a:avLst>
              <a:gd name="adj" fmla="val 0"/>
            </a:avLst>
          </a:prstGeom>
          <a:noFill/>
          <a:ln>
            <a:noFill/>
          </a:ln>
          <a:effectLst/>
        </p:spPr>
        <p:txBody>
          <a:bodyPr vert="horz" wrap="none" lIns="0" tIns="540000" rIns="0" bIns="0" numCol="1" rtlCol="0" anchor="b" anchorCtr="0" compatLnSpc="1">
            <a:prstTxWarp prst="textNoShape">
              <a:avLst/>
            </a:prstTxWarp>
            <a:noAutofit/>
          </a:bodyPr>
          <a:lstStyle/>
          <a:p>
            <a:pPr algn="r">
              <a:buSzPct val="60000"/>
              <a:buFont typeface="Garamond" pitchFamily="18" charset="0"/>
            </a:pPr>
            <a:r>
              <a:rPr lang="fr-FR" sz="7200">
                <a:solidFill>
                  <a:schemeClr val="tx2"/>
                </a:solidFill>
                <a:latin typeface="+mj-lt"/>
              </a:rPr>
              <a:t>2</a:t>
            </a:r>
          </a:p>
        </p:txBody>
      </p:sp>
      <p:sp>
        <p:nvSpPr>
          <p:cNvPr id="26" name="ZoneTexte 25">
            <a:hlinkClick r:id="rId7" action="ppaction://hlinksldjump"/>
            <a:extLst>
              <a:ext uri="{FF2B5EF4-FFF2-40B4-BE49-F238E27FC236}">
                <a16:creationId xmlns:a16="http://schemas.microsoft.com/office/drawing/2014/main" id="{5A74A52A-6BEA-49DC-8A09-E3FDAF47AE47}"/>
              </a:ext>
            </a:extLst>
          </p:cNvPr>
          <p:cNvSpPr txBox="1"/>
          <p:nvPr>
            <p:custDataLst>
              <p:tags r:id="rId5"/>
            </p:custDataLst>
          </p:nvPr>
        </p:nvSpPr>
        <p:spPr>
          <a:xfrm>
            <a:off x="8684066" y="483519"/>
            <a:ext cx="0" cy="21600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1">
            <a:noAutofit/>
          </a:bodyPr>
          <a:lstStyle/>
          <a:p>
            <a:pPr algn="ctr"/>
            <a:r>
              <a:rPr lang="fr-FR" sz="100">
                <a:noFill/>
                <a:latin typeface="+mj-lt"/>
              </a:rPr>
              <a:t>18</a:t>
            </a:r>
          </a:p>
        </p:txBody>
      </p:sp>
      <p:sp>
        <p:nvSpPr>
          <p:cNvPr id="27" name="Espace réservé du numéro de diapositive 26">
            <a:extLst>
              <a:ext uri="{FF2B5EF4-FFF2-40B4-BE49-F238E27FC236}">
                <a16:creationId xmlns:a16="http://schemas.microsoft.com/office/drawing/2014/main" id="{FDBC53EF-E5B0-43FC-90C0-BA17E3AD5686}"/>
              </a:ext>
            </a:extLst>
          </p:cNvPr>
          <p:cNvSpPr>
            <a:spLocks noGrp="1"/>
          </p:cNvSpPr>
          <p:nvPr>
            <p:ph type="sldNum" sz="quarter" idx="12"/>
          </p:nvPr>
        </p:nvSpPr>
        <p:spPr/>
        <p:txBody>
          <a:bodyPr/>
          <a:lstStyle/>
          <a:p>
            <a:fld id="{304318A0-AD76-4461-B655-8B1A266EB0A2}" type="slidenum">
              <a:rPr lang="fr-FR" smtClean="0"/>
              <a:t>18</a:t>
            </a:fld>
            <a:endParaRPr lang="fr-FR"/>
          </a:p>
        </p:txBody>
      </p:sp>
    </p:spTree>
    <p:custDataLst>
      <p:tags r:id="rId2"/>
    </p:custDataLst>
    <p:extLst>
      <p:ext uri="{BB962C8B-B14F-4D97-AF65-F5344CB8AC3E}">
        <p14:creationId xmlns:p14="http://schemas.microsoft.com/office/powerpoint/2010/main" val="805227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re 6">
            <a:extLst>
              <a:ext uri="{FF2B5EF4-FFF2-40B4-BE49-F238E27FC236}">
                <a16:creationId xmlns:a16="http://schemas.microsoft.com/office/drawing/2014/main" id="{EE4A0E37-B7C7-4D8A-9C9E-2C4F541DE938}"/>
              </a:ext>
            </a:extLst>
          </p:cNvPr>
          <p:cNvSpPr txBox="1">
            <a:spLocks/>
          </p:cNvSpPr>
          <p:nvPr/>
        </p:nvSpPr>
        <p:spPr>
          <a:xfrm>
            <a:off x="120651" y="163176"/>
            <a:ext cx="6251549" cy="320400"/>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b="1" kern="1200" cap="all" baseline="0">
                <a:solidFill>
                  <a:schemeClr val="tx2"/>
                </a:solidFill>
                <a:latin typeface="+mj-lt"/>
                <a:ea typeface="+mj-ea"/>
                <a:cs typeface="+mj-cs"/>
              </a:defRPr>
            </a:lvl1pPr>
          </a:lstStyle>
          <a:p>
            <a:r>
              <a:rPr lang="fr-FR" err="1">
                <a:solidFill>
                  <a:srgbClr val="0D89A6"/>
                </a:solidFill>
              </a:rPr>
              <a:t>Oil</a:t>
            </a:r>
            <a:r>
              <a:rPr lang="fr-FR">
                <a:solidFill>
                  <a:srgbClr val="0D89A6"/>
                </a:solidFill>
              </a:rPr>
              <a:t> LOgistics</a:t>
            </a:r>
            <a:endParaRPr lang="en-US">
              <a:solidFill>
                <a:srgbClr val="0D89A6"/>
              </a:solidFill>
            </a:endParaRPr>
          </a:p>
        </p:txBody>
      </p:sp>
      <p:sp>
        <p:nvSpPr>
          <p:cNvPr id="32" name="Espace réservé du texte 13">
            <a:extLst>
              <a:ext uri="{FF2B5EF4-FFF2-40B4-BE49-F238E27FC236}">
                <a16:creationId xmlns:a16="http://schemas.microsoft.com/office/drawing/2014/main" id="{45A81822-BBF9-47A6-9218-ADAA596195F1}"/>
              </a:ext>
            </a:extLst>
          </p:cNvPr>
          <p:cNvSpPr txBox="1">
            <a:spLocks/>
          </p:cNvSpPr>
          <p:nvPr/>
        </p:nvSpPr>
        <p:spPr>
          <a:xfrm>
            <a:off x="120651" y="502900"/>
            <a:ext cx="6251549" cy="215900"/>
          </a:xfrm>
          <a:prstGeom prst="rect">
            <a:avLst/>
          </a:prstGeom>
        </p:spPr>
        <p:txBody>
          <a:bodyPr vert="horz" lIns="91440" tIns="0" rIns="91440" bIns="0" rtlCol="0" anchor="ctr">
            <a:noAutofit/>
          </a:bodyPr>
          <a:lstStyle>
            <a:lvl1pPr indent="0">
              <a:lnSpc>
                <a:spcPct val="100000"/>
              </a:lnSpc>
              <a:spcBef>
                <a:spcPts val="0"/>
              </a:spcBef>
              <a:spcAft>
                <a:spcPts val="300"/>
              </a:spcAft>
              <a:buSzPct val="110000"/>
              <a:buFontTx/>
              <a:buNone/>
              <a:defRPr sz="1600" b="0" cap="all" baseline="0">
                <a:solidFill>
                  <a:srgbClr val="0D89A6"/>
                </a:solidFill>
                <a:latin typeface="+mj-lt"/>
              </a:defRPr>
            </a:lvl1pPr>
            <a:lvl2pPr marL="0" indent="0">
              <a:lnSpc>
                <a:spcPct val="100000"/>
              </a:lnSpc>
              <a:spcBef>
                <a:spcPts val="300"/>
              </a:spcBef>
              <a:spcAft>
                <a:spcPts val="300"/>
              </a:spcAft>
              <a:buClr>
                <a:srgbClr val="808080"/>
              </a:buClr>
              <a:buFont typeface="Wingdings" panose="05000000000000000000" pitchFamily="2" charset="2"/>
              <a:buNone/>
              <a:defRPr sz="1000" b="1">
                <a:latin typeface="+mj-lt"/>
              </a:defRPr>
            </a:lvl2pPr>
            <a:lvl3pPr marL="0" indent="0">
              <a:lnSpc>
                <a:spcPct val="100000"/>
              </a:lnSpc>
              <a:spcBef>
                <a:spcPts val="300"/>
              </a:spcBef>
              <a:spcAft>
                <a:spcPts val="300"/>
              </a:spcAft>
              <a:buClr>
                <a:srgbClr val="808080"/>
              </a:buClr>
              <a:buFont typeface="Calibri Light" panose="020F0302020204030204" pitchFamily="34" charset="0"/>
              <a:buNone/>
              <a:defRPr sz="1000"/>
            </a:lvl3pPr>
            <a:lvl4pPr marL="180000" indent="-180000">
              <a:lnSpc>
                <a:spcPct val="100000"/>
              </a:lnSpc>
              <a:spcBef>
                <a:spcPts val="300"/>
              </a:spcBef>
              <a:spcAft>
                <a:spcPts val="100"/>
              </a:spcAft>
              <a:buClr>
                <a:schemeClr val="tx2"/>
              </a:buClr>
              <a:buSzPct val="90000"/>
              <a:buFont typeface="Wingdings" panose="05000000000000000000" pitchFamily="2" charset="2"/>
              <a:buChar char="§"/>
              <a:defRPr sz="1000" b="1" i="0"/>
            </a:lvl4pPr>
            <a:lvl5pPr marL="360000" indent="-180000">
              <a:lnSpc>
                <a:spcPct val="100000"/>
              </a:lnSpc>
              <a:spcBef>
                <a:spcPts val="100"/>
              </a:spcBef>
              <a:spcAft>
                <a:spcPts val="100"/>
              </a:spcAft>
              <a:buClr>
                <a:srgbClr val="808080"/>
              </a:buClr>
              <a:buSzPct val="80000"/>
              <a:buFont typeface="Arial" panose="020B0604020202020204" pitchFamily="34" charset="0"/>
              <a:buChar char="•"/>
              <a:defRPr sz="1000" i="0">
                <a:solidFill>
                  <a:srgbClr val="595959"/>
                </a:solidFill>
              </a:defRPr>
            </a:lvl5pPr>
            <a:lvl6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6pPr>
            <a:lvl7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7pPr>
            <a:lvl8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8pPr>
            <a:lvl9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9pPr>
          </a:lstStyle>
          <a:p>
            <a:r>
              <a:rPr lang="en-US"/>
              <a:t>Bolloré energy</a:t>
            </a:r>
          </a:p>
        </p:txBody>
      </p:sp>
      <p:sp>
        <p:nvSpPr>
          <p:cNvPr id="7" name="Espace réservé du contenu 4">
            <a:extLst>
              <a:ext uri="{FF2B5EF4-FFF2-40B4-BE49-F238E27FC236}">
                <a16:creationId xmlns:a16="http://schemas.microsoft.com/office/drawing/2014/main" id="{40B77579-7891-4C09-A399-B5ED476956AA}"/>
              </a:ext>
            </a:extLst>
          </p:cNvPr>
          <p:cNvSpPr txBox="1">
            <a:spLocks/>
          </p:cNvSpPr>
          <p:nvPr/>
        </p:nvSpPr>
        <p:spPr>
          <a:xfrm>
            <a:off x="42568" y="2249821"/>
            <a:ext cx="8276044" cy="2234124"/>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spcBef>
                <a:spcPts val="600"/>
              </a:spcBef>
            </a:pPr>
            <a:r>
              <a:rPr lang="en-US"/>
              <a:t>Revenue: -17% </a:t>
            </a:r>
            <a:r>
              <a:rPr lang="en-US" b="0"/>
              <a:t>at constant scope and exchange rates compared with an exceptional first half of 2022 in a context marked by the war in Ukraine. The first half of 2023 is impacted by unfavorable price effects following the sharp drop in prices and by a contraction in volumes (notably trading) in a declining market.</a:t>
            </a:r>
            <a:r>
              <a:rPr lang="en-US" b="0">
                <a:highlight>
                  <a:srgbClr val="FFFF00"/>
                </a:highlight>
              </a:rPr>
              <a:t> </a:t>
            </a:r>
          </a:p>
          <a:p>
            <a:pPr lvl="3" algn="just">
              <a:spcBef>
                <a:spcPts val="600"/>
              </a:spcBef>
            </a:pPr>
            <a:endParaRPr lang="en-US" b="0">
              <a:highlight>
                <a:srgbClr val="FFFF00"/>
              </a:highlight>
            </a:endParaRPr>
          </a:p>
          <a:p>
            <a:pPr lvl="3">
              <a:spcBef>
                <a:spcPts val="600"/>
              </a:spcBef>
            </a:pPr>
            <a:r>
              <a:rPr lang="en-US"/>
              <a:t>EBITA: €22m, -72% at constant scope and exchange rates</a:t>
            </a:r>
          </a:p>
          <a:p>
            <a:pPr lvl="4" algn="just">
              <a:spcBef>
                <a:spcPts val="600"/>
              </a:spcBef>
            </a:pPr>
            <a:r>
              <a:rPr lang="en-US">
                <a:solidFill>
                  <a:schemeClr val="tx1"/>
                </a:solidFill>
              </a:rPr>
              <a:t>The results of the retail and trading activity in France and in Europe (excluding Switzerland) are down due to lower prices and volumes for diesel and heating oil (FOD), as well as negative inventory effects after a strongly positive contribution in the first half of 2022.</a:t>
            </a:r>
          </a:p>
          <a:p>
            <a:pPr lvl="4"/>
            <a:endParaRPr lang="en-US">
              <a:solidFill>
                <a:schemeClr val="tx1"/>
              </a:solidFill>
              <a:highlight>
                <a:srgbClr val="FFFF00"/>
              </a:highlight>
            </a:endParaRPr>
          </a:p>
          <a:p>
            <a:pPr lvl="4"/>
            <a:endParaRPr lang="en-US">
              <a:solidFill>
                <a:schemeClr val="tx1"/>
              </a:solidFill>
              <a:highlight>
                <a:srgbClr val="FFFF00"/>
              </a:highlight>
            </a:endParaRPr>
          </a:p>
          <a:p>
            <a:endParaRPr lang="en-US">
              <a:solidFill>
                <a:schemeClr val="tx1"/>
              </a:solidFill>
              <a:highlight>
                <a:srgbClr val="FFFF00"/>
              </a:highlight>
            </a:endParaRPr>
          </a:p>
        </p:txBody>
      </p:sp>
      <p:pic>
        <p:nvPicPr>
          <p:cNvPr id="2" name="Image 1">
            <a:extLst>
              <a:ext uri="{FF2B5EF4-FFF2-40B4-BE49-F238E27FC236}">
                <a16:creationId xmlns:a16="http://schemas.microsoft.com/office/drawing/2014/main" id="{65E1CE46-7F3E-4D99-B557-688B3BE9CCEB}"/>
              </a:ext>
            </a:extLst>
          </p:cNvPr>
          <p:cNvPicPr>
            <a:picLocks noChangeAspect="1"/>
          </p:cNvPicPr>
          <p:nvPr>
            <p:custDataLst>
              <p:tags r:id="rId3"/>
            </p:custDataLst>
          </p:nvPr>
        </p:nvPicPr>
        <p:blipFill>
          <a:blip r:embed="rId5"/>
          <a:stretch>
            <a:fillRect/>
          </a:stretch>
        </p:blipFill>
        <p:spPr>
          <a:xfrm>
            <a:off x="296219" y="1077930"/>
            <a:ext cx="6198413" cy="918057"/>
          </a:xfrm>
          <a:prstGeom prst="rect">
            <a:avLst/>
          </a:prstGeom>
        </p:spPr>
      </p:pic>
      <p:sp>
        <p:nvSpPr>
          <p:cNvPr id="4" name="Espace réservé du numéro de diapositive 3">
            <a:extLst>
              <a:ext uri="{FF2B5EF4-FFF2-40B4-BE49-F238E27FC236}">
                <a16:creationId xmlns:a16="http://schemas.microsoft.com/office/drawing/2014/main" id="{430B92A8-D06A-4AAA-8964-2D28A7CA96FE}"/>
              </a:ext>
            </a:extLst>
          </p:cNvPr>
          <p:cNvSpPr>
            <a:spLocks noGrp="1"/>
          </p:cNvSpPr>
          <p:nvPr>
            <p:ph type="sldNum" sz="quarter" idx="12"/>
          </p:nvPr>
        </p:nvSpPr>
        <p:spPr/>
        <p:txBody>
          <a:bodyPr/>
          <a:lstStyle/>
          <a:p>
            <a:fld id="{304318A0-AD76-4461-B655-8B1A266EB0A2}" type="slidenum">
              <a:rPr lang="fr-FR" smtClean="0"/>
              <a:t>19</a:t>
            </a:fld>
            <a:endParaRPr lang="fr-FR"/>
          </a:p>
        </p:txBody>
      </p:sp>
    </p:spTree>
    <p:custDataLst>
      <p:tags r:id="rId2"/>
    </p:custDataLst>
    <p:extLst>
      <p:ext uri="{BB962C8B-B14F-4D97-AF65-F5344CB8AC3E}">
        <p14:creationId xmlns:p14="http://schemas.microsoft.com/office/powerpoint/2010/main" val="571363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20652" y="163176"/>
            <a:ext cx="6251549" cy="320400"/>
          </a:xfrm>
        </p:spPr>
        <p:txBody>
          <a:bodyPr vert="horz" lIns="91440" tIns="0" rIns="91440" bIns="0" rtlCol="0" anchor="t">
            <a:noAutofit/>
          </a:bodyPr>
          <a:lstStyle/>
          <a:p>
            <a:r>
              <a:rPr lang="en-US" sz="1800">
                <a:solidFill>
                  <a:srgbClr val="840265"/>
                </a:solidFill>
                <a:latin typeface="Arial" panose="020B0604020202020204" pitchFamily="34" charset="0"/>
                <a:cs typeface="Arial" panose="020B0604020202020204" pitchFamily="34" charset="0"/>
              </a:rPr>
              <a:t>Communications</a:t>
            </a:r>
          </a:p>
        </p:txBody>
      </p:sp>
      <p:sp>
        <p:nvSpPr>
          <p:cNvPr id="12" name="Espace réservé du texte 11"/>
          <p:cNvSpPr>
            <a:spLocks noGrp="1"/>
          </p:cNvSpPr>
          <p:nvPr>
            <p:ph type="body" sz="quarter" idx="17"/>
          </p:nvPr>
        </p:nvSpPr>
        <p:spPr>
          <a:xfrm>
            <a:off x="120652" y="502900"/>
            <a:ext cx="6251549" cy="215900"/>
          </a:xfrm>
        </p:spPr>
        <p:txBody>
          <a:bodyPr vert="horz" lIns="91440" tIns="0" rIns="91440" bIns="0" rtlCol="0" anchor="ctr">
            <a:noAutofit/>
          </a:bodyPr>
          <a:lstStyle/>
          <a:p>
            <a:r>
              <a:rPr lang="en-US" sz="1600">
                <a:solidFill>
                  <a:srgbClr val="840265"/>
                </a:solidFill>
                <a:latin typeface="Arial" panose="020B0604020202020204" pitchFamily="34" charset="0"/>
                <a:cs typeface="Arial" panose="020B0604020202020204" pitchFamily="34" charset="0"/>
              </a:rPr>
              <a:t>Vivendi</a:t>
            </a:r>
          </a:p>
        </p:txBody>
      </p:sp>
      <p:sp>
        <p:nvSpPr>
          <p:cNvPr id="18" name="Rectangle 17"/>
          <p:cNvSpPr>
            <a:spLocks/>
          </p:cNvSpPr>
          <p:nvPr/>
        </p:nvSpPr>
        <p:spPr>
          <a:xfrm>
            <a:off x="4648613" y="840388"/>
            <a:ext cx="4357419" cy="252000"/>
          </a:xfrm>
          <a:prstGeom prst="rect">
            <a:avLst/>
          </a:prstGeom>
          <a:solidFill>
            <a:schemeClr val="bg1"/>
          </a:solidFill>
        </p:spPr>
        <p:txBody>
          <a:bodyPr vert="horz" lIns="91440" tIns="45720" rIns="91440" bIns="45720" rtlCol="0">
            <a:noAutofit/>
          </a:bodyPr>
          <a:lstStyle/>
          <a:p>
            <a:pPr>
              <a:spcAft>
                <a:spcPts val="300"/>
              </a:spcAft>
              <a:buSzPct val="110000"/>
            </a:pPr>
            <a:r>
              <a:rPr lang="en-US" sz="1000" b="1" cap="all">
                <a:solidFill>
                  <a:srgbClr val="840265"/>
                </a:solidFill>
                <a:latin typeface="Arial" panose="020B0604020202020204" pitchFamily="34" charset="0"/>
                <a:cs typeface="Arial" panose="020B0604020202020204" pitchFamily="34" charset="0"/>
              </a:rPr>
              <a:t>KEY elements OF first half 2023 results</a:t>
            </a:r>
            <a:r>
              <a:rPr lang="en-US" sz="1000" b="1" cap="all" baseline="30000">
                <a:solidFill>
                  <a:srgbClr val="840265"/>
                </a:solidFill>
                <a:latin typeface="Arial" panose="020B0604020202020204" pitchFamily="34" charset="0"/>
                <a:cs typeface="Arial" panose="020B0604020202020204" pitchFamily="34" charset="0"/>
              </a:rPr>
              <a:t>(6) </a:t>
            </a:r>
          </a:p>
        </p:txBody>
      </p:sp>
      <p:sp>
        <p:nvSpPr>
          <p:cNvPr id="10" name="Espace réservé du contenu 4">
            <a:extLst>
              <a:ext uri="{FF2B5EF4-FFF2-40B4-BE49-F238E27FC236}">
                <a16:creationId xmlns:a16="http://schemas.microsoft.com/office/drawing/2014/main" id="{6A96E394-CE1B-4989-84CC-7F1AAC055809}"/>
              </a:ext>
            </a:extLst>
          </p:cNvPr>
          <p:cNvSpPr txBox="1">
            <a:spLocks/>
          </p:cNvSpPr>
          <p:nvPr/>
        </p:nvSpPr>
        <p:spPr>
          <a:xfrm>
            <a:off x="4671819" y="1119532"/>
            <a:ext cx="4076645" cy="283471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buClr>
                <a:schemeClr val="accent3"/>
              </a:buClr>
            </a:pPr>
            <a:r>
              <a:rPr lang="en-GB"/>
              <a:t>Revenue: €4,698m, +4% (+3% organic) </a:t>
            </a:r>
            <a:r>
              <a:rPr lang="en-US" sz="950" b="0"/>
              <a:t>vs. 2022. The +3% increase on an organic basis is mainly due to the good performance of Havas (+4%), Canal+ Group (+2%), and Gameloft (+16%).</a:t>
            </a:r>
            <a:endParaRPr lang="en-GB" sz="950" b="0"/>
          </a:p>
          <a:p>
            <a:pPr lvl="3" algn="just">
              <a:buClr>
                <a:schemeClr val="accent3"/>
              </a:buClr>
            </a:pPr>
            <a:r>
              <a:rPr lang="en-GB"/>
              <a:t>EBITA: 444 M€, +</a:t>
            </a:r>
            <a:r>
              <a:rPr lang="en-GB" sz="950"/>
              <a:t>8%</a:t>
            </a:r>
            <a:r>
              <a:rPr lang="en-GB" sz="950" b="0"/>
              <a:t>  </a:t>
            </a:r>
            <a:r>
              <a:rPr lang="en-US" sz="950" b="0"/>
              <a:t>compared with 2022 thanks to the smooth running of the businesses (Havas, Canal+ Group) and the increase in the results of Lagardère, accounted for using the equity method. At constant exchange rates and perimeter, excluding the share of income from UMG and Lagardère, EBITA increased by +€11 million or +2.5%.</a:t>
            </a:r>
            <a:endParaRPr lang="en-GB" sz="950" b="0"/>
          </a:p>
          <a:p>
            <a:pPr lvl="3" algn="just">
              <a:buClr>
                <a:schemeClr val="accent3"/>
              </a:buClr>
            </a:pPr>
            <a:r>
              <a:rPr lang="en-GB"/>
              <a:t>Net income Group share: €174m</a:t>
            </a:r>
            <a:r>
              <a:rPr lang="en-GB" b="0"/>
              <a:t>,</a:t>
            </a:r>
            <a:r>
              <a:rPr lang="en-GB"/>
              <a:t> </a:t>
            </a:r>
            <a:r>
              <a:rPr lang="en-US" b="0"/>
              <a:t>compared to €491m in the first half of 2022, which included the capital gain </a:t>
            </a:r>
            <a:r>
              <a:rPr lang="en-US" sz="1000" b="0"/>
              <a:t>on the contribution of the stake in</a:t>
            </a:r>
            <a:r>
              <a:rPr lang="en-US" b="0"/>
              <a:t> Banijay Group Holding to FL Entertainment (+€526m) as well as </a:t>
            </a:r>
            <a:r>
              <a:rPr lang="en-US" sz="1000" b="0"/>
              <a:t>Vivendi's share in the results of</a:t>
            </a:r>
            <a:r>
              <a:rPr lang="en-US" b="0"/>
              <a:t> Telecom Italia (-€235m)</a:t>
            </a:r>
            <a:r>
              <a:rPr lang="en-GB" sz="950" b="0" baseline="30000"/>
              <a:t>(7)</a:t>
            </a:r>
            <a:r>
              <a:rPr lang="en-GB" sz="950" b="0"/>
              <a:t>.</a:t>
            </a:r>
          </a:p>
        </p:txBody>
      </p:sp>
      <p:sp>
        <p:nvSpPr>
          <p:cNvPr id="11" name="Rectangle 10">
            <a:extLst>
              <a:ext uri="{FF2B5EF4-FFF2-40B4-BE49-F238E27FC236}">
                <a16:creationId xmlns:a16="http://schemas.microsoft.com/office/drawing/2014/main" id="{B8797F36-6414-49FA-81E4-57BB4F162096}"/>
              </a:ext>
            </a:extLst>
          </p:cNvPr>
          <p:cNvSpPr/>
          <p:nvPr/>
        </p:nvSpPr>
        <p:spPr>
          <a:xfrm>
            <a:off x="273861" y="4527438"/>
            <a:ext cx="3709858" cy="553998"/>
          </a:xfrm>
          <a:prstGeom prst="rect">
            <a:avLst/>
          </a:prstGeom>
        </p:spPr>
        <p:txBody>
          <a:bodyPr wrap="square">
            <a:spAutoFit/>
          </a:bodyPr>
          <a:lstStyle/>
          <a:p>
            <a:pPr marL="182563" indent="-182563"/>
            <a:r>
              <a:rPr lang="en-GB" sz="600">
                <a:latin typeface="Arial" panose="020B0604020202020204" pitchFamily="34" charset="0"/>
                <a:cs typeface="Arial" panose="020B0604020202020204" pitchFamily="34" charset="0"/>
              </a:rPr>
              <a:t>(*)     </a:t>
            </a:r>
            <a:r>
              <a:rPr lang="en-US" sz="600">
                <a:latin typeface="Arial" panose="020B0604020202020204" pitchFamily="34" charset="0"/>
                <a:cs typeface="Arial" panose="020B0604020202020204" pitchFamily="34" charset="0"/>
              </a:rPr>
              <a:t>In accordance with IFRS5 and to ensure the comparability of results, reclassification of activities held for sale (Editis).</a:t>
            </a:r>
          </a:p>
          <a:p>
            <a:pPr marL="228600" indent="-228600">
              <a:buAutoNum type="arabicParenBoth"/>
            </a:pPr>
            <a:r>
              <a:rPr lang="en-US" sz="600">
                <a:latin typeface="Arial" panose="020B0604020202020204" pitchFamily="34" charset="0"/>
                <a:cs typeface="Arial" panose="020B0604020202020204" pitchFamily="34" charset="0"/>
              </a:rPr>
              <a:t>Until "Total EBITA published by Vivendi“.</a:t>
            </a:r>
            <a:endParaRPr lang="en-GB" sz="600">
              <a:latin typeface="Arial" panose="020B0604020202020204" pitchFamily="34" charset="0"/>
              <a:cs typeface="Arial" panose="020B0604020202020204" pitchFamily="34" charset="0"/>
            </a:endParaRPr>
          </a:p>
          <a:p>
            <a:pPr marL="228600" indent="-228600">
              <a:buAutoNum type="arabicParenBoth"/>
            </a:pPr>
            <a:r>
              <a:rPr lang="en-GB" sz="600">
                <a:latin typeface="Arial" panose="020B0604020202020204" pitchFamily="34" charset="0"/>
                <a:cs typeface="Arial" panose="020B0604020202020204" pitchFamily="34" charset="0"/>
              </a:rPr>
              <a:t>See glossary and definitions on page 5 of Vivendi’s  H1 2023 financial report.</a:t>
            </a:r>
          </a:p>
          <a:p>
            <a:pPr marL="228600" indent="-228600">
              <a:buAutoNum type="arabicParenBoth"/>
            </a:pPr>
            <a:r>
              <a:rPr lang="en-GB" sz="600">
                <a:latin typeface="Arial" panose="020B0604020202020204" pitchFamily="34" charset="0"/>
                <a:cs typeface="Arial" panose="020B0604020202020204" pitchFamily="34" charset="0"/>
              </a:rPr>
              <a:t>Ticketing &amp; Live, New Initiatives, Generosity and Solidarity and Corporate.</a:t>
            </a:r>
          </a:p>
        </p:txBody>
      </p:sp>
      <p:sp>
        <p:nvSpPr>
          <p:cNvPr id="14" name="ZoneTexte 13">
            <a:extLst>
              <a:ext uri="{FF2B5EF4-FFF2-40B4-BE49-F238E27FC236}">
                <a16:creationId xmlns:a16="http://schemas.microsoft.com/office/drawing/2014/main" id="{AB3A01E5-07B8-4CFE-B55B-12B02902C5BD}"/>
              </a:ext>
            </a:extLst>
          </p:cNvPr>
          <p:cNvSpPr txBox="1"/>
          <p:nvPr/>
        </p:nvSpPr>
        <p:spPr>
          <a:xfrm>
            <a:off x="3983719" y="4586852"/>
            <a:ext cx="4508096" cy="461665"/>
          </a:xfrm>
          <a:prstGeom prst="rect">
            <a:avLst/>
          </a:prstGeom>
          <a:noFill/>
        </p:spPr>
        <p:txBody>
          <a:bodyPr wrap="square">
            <a:spAutoFit/>
          </a:bodyPr>
          <a:lstStyle/>
          <a:p>
            <a:r>
              <a:rPr lang="en-GB" sz="600">
                <a:latin typeface="Arial" panose="020B0604020202020204" pitchFamily="34" charset="0"/>
                <a:cs typeface="Arial" panose="020B0604020202020204" pitchFamily="34" charset="0"/>
              </a:rPr>
              <a:t>(4) UMG: accounted using the equity method since 23 September 2021. </a:t>
            </a:r>
          </a:p>
          <a:p>
            <a:r>
              <a:rPr lang="en-GB" sz="600">
                <a:latin typeface="Arial" panose="020B0604020202020204" pitchFamily="34" charset="0"/>
                <a:cs typeface="Arial" panose="020B0604020202020204" pitchFamily="34" charset="0"/>
              </a:rPr>
              <a:t>(5) Lagardère: </a:t>
            </a:r>
            <a:r>
              <a:rPr lang="en-US" sz="600">
                <a:latin typeface="Arial" panose="020B0604020202020204" pitchFamily="34" charset="0"/>
                <a:cs typeface="Arial" panose="020B0604020202020204" pitchFamily="34" charset="0"/>
              </a:rPr>
              <a:t>average interest calculated in H1 2023. </a:t>
            </a:r>
            <a:r>
              <a:rPr lang="en-GB" sz="600">
                <a:latin typeface="Arial" panose="020B0604020202020204" pitchFamily="34" charset="0"/>
                <a:cs typeface="Arial" panose="020B0604020202020204" pitchFamily="34" charset="0"/>
              </a:rPr>
              <a:t>Accounted using the equity method since 1</a:t>
            </a:r>
            <a:r>
              <a:rPr lang="en-GB" sz="600" baseline="30000">
                <a:latin typeface="Arial" panose="020B0604020202020204" pitchFamily="34" charset="0"/>
                <a:cs typeface="Arial" panose="020B0604020202020204" pitchFamily="34" charset="0"/>
              </a:rPr>
              <a:t>st</a:t>
            </a:r>
            <a:r>
              <a:rPr lang="en-GB" sz="600">
                <a:latin typeface="Arial" panose="020B0604020202020204" pitchFamily="34" charset="0"/>
                <a:cs typeface="Arial" panose="020B0604020202020204" pitchFamily="34" charset="0"/>
              </a:rPr>
              <a:t> July 2021.</a:t>
            </a:r>
          </a:p>
          <a:p>
            <a:r>
              <a:rPr lang="en-GB" sz="600">
                <a:latin typeface="Arial" panose="020B0604020202020204" pitchFamily="34" charset="0"/>
                <a:cs typeface="Arial" panose="020B0604020202020204" pitchFamily="34" charset="0"/>
              </a:rPr>
              <a:t>(6) Figures published by Vivendi.</a:t>
            </a:r>
          </a:p>
          <a:p>
            <a:r>
              <a:rPr lang="en-GB" sz="600">
                <a:latin typeface="Arial" panose="020B0604020202020204" pitchFamily="34" charset="0"/>
                <a:cs typeface="Arial" panose="020B0604020202020204" pitchFamily="34" charset="0"/>
              </a:rPr>
              <a:t>(7) </a:t>
            </a:r>
            <a:r>
              <a:rPr lang="en-US" sz="600">
                <a:latin typeface="Arial" panose="020B0604020202020204" pitchFamily="34" charset="0"/>
                <a:cs typeface="Arial" panose="020B0604020202020204" pitchFamily="34" charset="0"/>
              </a:rPr>
              <a:t>Vivendi ceased to recognize Telecom Italia as an equity-accounted investment as of 12/31/2022.</a:t>
            </a:r>
            <a:endParaRPr lang="en-GB" sz="600">
              <a:latin typeface="Arial" panose="020B0604020202020204" pitchFamily="34" charset="0"/>
              <a:cs typeface="Arial" panose="020B0604020202020204" pitchFamily="34" charset="0"/>
            </a:endParaRPr>
          </a:p>
        </p:txBody>
      </p:sp>
      <p:pic>
        <p:nvPicPr>
          <p:cNvPr id="3" name="Image 2">
            <a:extLst>
              <a:ext uri="{FF2B5EF4-FFF2-40B4-BE49-F238E27FC236}">
                <a16:creationId xmlns:a16="http://schemas.microsoft.com/office/drawing/2014/main" id="{8E0B8674-1872-480D-A043-C7290B806E1D}"/>
              </a:ext>
            </a:extLst>
          </p:cNvPr>
          <p:cNvPicPr>
            <a:picLocks noChangeAspect="1"/>
          </p:cNvPicPr>
          <p:nvPr>
            <p:custDataLst>
              <p:tags r:id="rId3"/>
            </p:custDataLst>
          </p:nvPr>
        </p:nvPicPr>
        <p:blipFill>
          <a:blip r:embed="rId6"/>
          <a:stretch>
            <a:fillRect/>
          </a:stretch>
        </p:blipFill>
        <p:spPr>
          <a:xfrm>
            <a:off x="163444" y="770922"/>
            <a:ext cx="4385638" cy="3869681"/>
          </a:xfrm>
          <a:prstGeom prst="rect">
            <a:avLst/>
          </a:prstGeom>
        </p:spPr>
      </p:pic>
      <p:sp>
        <p:nvSpPr>
          <p:cNvPr id="4" name="Espace réservé du numéro de diapositive 3">
            <a:extLst>
              <a:ext uri="{FF2B5EF4-FFF2-40B4-BE49-F238E27FC236}">
                <a16:creationId xmlns:a16="http://schemas.microsoft.com/office/drawing/2014/main" id="{F006F942-2F17-4298-A4C5-F15BDC4CBFF0}"/>
              </a:ext>
            </a:extLst>
          </p:cNvPr>
          <p:cNvSpPr>
            <a:spLocks noGrp="1"/>
          </p:cNvSpPr>
          <p:nvPr>
            <p:ph type="sldNum" sz="quarter" idx="12"/>
          </p:nvPr>
        </p:nvSpPr>
        <p:spPr/>
        <p:txBody>
          <a:bodyPr/>
          <a:lstStyle/>
          <a:p>
            <a:fld id="{304318A0-AD76-4461-B655-8B1A266EB0A2}" type="slidenum">
              <a:rPr lang="fr-FR" smtClean="0"/>
              <a:t>20</a:t>
            </a:fld>
            <a:endParaRPr lang="fr-FR"/>
          </a:p>
        </p:txBody>
      </p:sp>
    </p:spTree>
    <p:custDataLst>
      <p:tags r:id="rId2"/>
    </p:custDataLst>
    <p:extLst>
      <p:ext uri="{BB962C8B-B14F-4D97-AF65-F5344CB8AC3E}">
        <p14:creationId xmlns:p14="http://schemas.microsoft.com/office/powerpoint/2010/main" val="2722624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79B87C14-3B32-4C68-92C7-EA3C9AED4AB9}"/>
              </a:ext>
            </a:extLst>
          </p:cNvPr>
          <p:cNvSpPr>
            <a:spLocks noGrp="1"/>
          </p:cNvSpPr>
          <p:nvPr>
            <p:ph type="title"/>
          </p:nvPr>
        </p:nvSpPr>
        <p:spPr/>
        <p:txBody>
          <a:bodyPr/>
          <a:lstStyle/>
          <a:p>
            <a:r>
              <a:rPr lang="fr-FR" sz="1800" err="1">
                <a:solidFill>
                  <a:srgbClr val="840265"/>
                </a:solidFill>
                <a:latin typeface="Arial" panose="020B0604020202020204" pitchFamily="34" charset="0"/>
                <a:cs typeface="Arial" panose="020B0604020202020204" pitchFamily="34" charset="0"/>
              </a:rPr>
              <a:t>CommunicationS</a:t>
            </a:r>
            <a:endParaRPr lang="fr-FR" sz="1800"/>
          </a:p>
        </p:txBody>
      </p:sp>
      <p:sp>
        <p:nvSpPr>
          <p:cNvPr id="6" name="Espace réservé du texte 5">
            <a:extLst>
              <a:ext uri="{FF2B5EF4-FFF2-40B4-BE49-F238E27FC236}">
                <a16:creationId xmlns:a16="http://schemas.microsoft.com/office/drawing/2014/main" id="{1A2F777B-22DE-4119-AA1F-21EBFA2B91DF}"/>
              </a:ext>
            </a:extLst>
          </p:cNvPr>
          <p:cNvSpPr>
            <a:spLocks noGrp="1"/>
          </p:cNvSpPr>
          <p:nvPr>
            <p:ph type="body" sz="quarter" idx="15"/>
          </p:nvPr>
        </p:nvSpPr>
        <p:spPr/>
        <p:txBody>
          <a:bodyPr/>
          <a:lstStyle/>
          <a:p>
            <a:r>
              <a:rPr lang="fr-FR" sz="1600">
                <a:solidFill>
                  <a:srgbClr val="840265"/>
                </a:solidFill>
                <a:latin typeface="Arial" panose="020B0604020202020204" pitchFamily="34" charset="0"/>
                <a:cs typeface="Arial" panose="020B0604020202020204" pitchFamily="34" charset="0"/>
              </a:rPr>
              <a:t>Vivendi</a:t>
            </a:r>
          </a:p>
        </p:txBody>
      </p:sp>
      <p:sp>
        <p:nvSpPr>
          <p:cNvPr id="23" name="Espace réservé du texte 11">
            <a:extLst>
              <a:ext uri="{FF2B5EF4-FFF2-40B4-BE49-F238E27FC236}">
                <a16:creationId xmlns:a16="http://schemas.microsoft.com/office/drawing/2014/main" id="{0ED6947C-B703-45F4-A1DC-45D7AAB0F41D}"/>
              </a:ext>
            </a:extLst>
          </p:cNvPr>
          <p:cNvSpPr txBox="1">
            <a:spLocks/>
          </p:cNvSpPr>
          <p:nvPr/>
        </p:nvSpPr>
        <p:spPr>
          <a:xfrm>
            <a:off x="107951" y="1032767"/>
            <a:ext cx="2683628" cy="215900"/>
          </a:xfrm>
          <a:prstGeom prst="rect">
            <a:avLst/>
          </a:prstGeom>
        </p:spPr>
        <p:txBody>
          <a:bodyPr vert="horz" lIns="91440" tIns="0" rIns="91440" bIns="0" rtlCol="0" anchor="ctr">
            <a:noAutofit/>
          </a:bodyPr>
          <a:lstStyle>
            <a:defPPr>
              <a:defRPr lang="en-US"/>
            </a:defPPr>
            <a:lvl1pPr indent="0">
              <a:lnSpc>
                <a:spcPct val="100000"/>
              </a:lnSpc>
              <a:spcBef>
                <a:spcPts val="0"/>
              </a:spcBef>
              <a:spcAft>
                <a:spcPts val="300"/>
              </a:spcAft>
              <a:buSzPct val="110000"/>
              <a:buFontTx/>
              <a:buNone/>
              <a:defRPr sz="1000" b="1" cap="all" baseline="0">
                <a:solidFill>
                  <a:srgbClr val="840265"/>
                </a:solidFill>
                <a:latin typeface="Arial" panose="020B0604020202020204" pitchFamily="34" charset="0"/>
                <a:cs typeface="Arial" panose="020B0604020202020204" pitchFamily="34" charset="0"/>
              </a:defRPr>
            </a:lvl1pPr>
            <a:lvl2pPr marL="360000" indent="-180000">
              <a:lnSpc>
                <a:spcPct val="100000"/>
              </a:lnSpc>
              <a:spcBef>
                <a:spcPts val="0"/>
              </a:spcBef>
              <a:spcAft>
                <a:spcPts val="300"/>
              </a:spcAft>
              <a:buClr>
                <a:srgbClr val="808080"/>
              </a:buClr>
              <a:buFont typeface="Wingdings" panose="05000000000000000000" pitchFamily="2" charset="2"/>
              <a:buChar char="§"/>
              <a:defRPr sz="1100">
                <a:solidFill>
                  <a:srgbClr val="808080"/>
                </a:solidFill>
                <a:latin typeface="+mj-lt"/>
              </a:defRPr>
            </a:lvl2pPr>
            <a:lvl3pPr marL="576000" indent="-180000">
              <a:lnSpc>
                <a:spcPct val="100000"/>
              </a:lnSpc>
              <a:spcBef>
                <a:spcPts val="0"/>
              </a:spcBef>
              <a:spcAft>
                <a:spcPts val="300"/>
              </a:spcAft>
              <a:buClr>
                <a:srgbClr val="808080"/>
              </a:buClr>
              <a:buFont typeface="Calibri Light" panose="020F0302020204030204" pitchFamily="34" charset="0"/>
              <a:buChar char="‐"/>
              <a:defRPr sz="1000">
                <a:solidFill>
                  <a:schemeClr val="bg2"/>
                </a:solidFill>
                <a:latin typeface="+mj-lt"/>
              </a:defRPr>
            </a:lvl3pPr>
            <a:lvl4pPr marL="576000" indent="-180000">
              <a:lnSpc>
                <a:spcPct val="100000"/>
              </a:lnSpc>
              <a:spcBef>
                <a:spcPts val="0"/>
              </a:spcBef>
              <a:spcAft>
                <a:spcPts val="300"/>
              </a:spcAft>
              <a:buClr>
                <a:srgbClr val="808080"/>
              </a:buClr>
              <a:buFont typeface="Calibri Light" panose="020F0302020204030204" pitchFamily="34" charset="0"/>
              <a:buChar char="‐"/>
              <a:defRPr sz="1000" i="0">
                <a:solidFill>
                  <a:schemeClr val="bg2"/>
                </a:solidFill>
                <a:latin typeface="+mj-lt"/>
              </a:defRPr>
            </a:lvl4pPr>
            <a:lvl5pPr marL="576000" indent="-180000">
              <a:lnSpc>
                <a:spcPct val="100000"/>
              </a:lnSpc>
              <a:spcBef>
                <a:spcPts val="0"/>
              </a:spcBef>
              <a:spcAft>
                <a:spcPts val="300"/>
              </a:spcAft>
              <a:buClr>
                <a:srgbClr val="808080"/>
              </a:buClr>
              <a:buFont typeface="Calibri Light" panose="020F0302020204030204" pitchFamily="34" charset="0"/>
              <a:buChar char="‐"/>
              <a:defRPr sz="1000" i="0">
                <a:solidFill>
                  <a:schemeClr val="bg2"/>
                </a:solidFill>
                <a:latin typeface="+mj-lt"/>
              </a:defRPr>
            </a:lvl5pPr>
            <a:lvl6pPr marL="1885950" indent="-171450">
              <a:lnSpc>
                <a:spcPct val="90000"/>
              </a:lnSpc>
              <a:spcBef>
                <a:spcPts val="375"/>
              </a:spcBef>
              <a:buFont typeface="Arial" panose="020B0604020202020204" pitchFamily="34" charset="0"/>
              <a:buChar char="•"/>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r>
              <a:rPr lang="fr-FR"/>
              <a:t>Groupe Canal+</a:t>
            </a:r>
          </a:p>
        </p:txBody>
      </p:sp>
      <p:sp>
        <p:nvSpPr>
          <p:cNvPr id="15" name="Espace réservé du texte 11">
            <a:extLst>
              <a:ext uri="{FF2B5EF4-FFF2-40B4-BE49-F238E27FC236}">
                <a16:creationId xmlns:a16="http://schemas.microsoft.com/office/drawing/2014/main" id="{28ACF182-BD8A-4E73-B8D4-549B8A11C329}"/>
              </a:ext>
            </a:extLst>
          </p:cNvPr>
          <p:cNvSpPr txBox="1">
            <a:spLocks/>
          </p:cNvSpPr>
          <p:nvPr/>
        </p:nvSpPr>
        <p:spPr>
          <a:xfrm>
            <a:off x="4653521" y="1032767"/>
            <a:ext cx="3437601" cy="215900"/>
          </a:xfrm>
          <a:prstGeom prst="rect">
            <a:avLst/>
          </a:prstGeom>
        </p:spPr>
        <p:txBody>
          <a:bodyPr vert="horz" lIns="91440" tIns="0" rIns="91440" bIns="0" rtlCol="0" anchor="ctr">
            <a:noAutofit/>
          </a:bodyPr>
          <a:lstStyle>
            <a:defPPr>
              <a:defRPr lang="en-US"/>
            </a:defPPr>
            <a:lvl1pPr indent="0">
              <a:lnSpc>
                <a:spcPct val="100000"/>
              </a:lnSpc>
              <a:spcBef>
                <a:spcPts val="0"/>
              </a:spcBef>
              <a:spcAft>
                <a:spcPts val="300"/>
              </a:spcAft>
              <a:buSzPct val="110000"/>
              <a:buFontTx/>
              <a:buNone/>
              <a:defRPr sz="1000" b="1" cap="all" baseline="0">
                <a:solidFill>
                  <a:srgbClr val="840265"/>
                </a:solidFill>
                <a:latin typeface="Arial" panose="020B0604020202020204" pitchFamily="34" charset="0"/>
                <a:cs typeface="Arial" panose="020B0604020202020204" pitchFamily="34" charset="0"/>
              </a:defRPr>
            </a:lvl1pPr>
            <a:lvl2pPr marL="360000" indent="-180000">
              <a:lnSpc>
                <a:spcPct val="100000"/>
              </a:lnSpc>
              <a:spcBef>
                <a:spcPts val="0"/>
              </a:spcBef>
              <a:spcAft>
                <a:spcPts val="300"/>
              </a:spcAft>
              <a:buClr>
                <a:srgbClr val="808080"/>
              </a:buClr>
              <a:buFont typeface="Wingdings" panose="05000000000000000000" pitchFamily="2" charset="2"/>
              <a:buChar char="§"/>
              <a:defRPr sz="1100">
                <a:solidFill>
                  <a:srgbClr val="808080"/>
                </a:solidFill>
                <a:latin typeface="+mj-lt"/>
              </a:defRPr>
            </a:lvl2pPr>
            <a:lvl3pPr marL="576000" indent="-180000">
              <a:lnSpc>
                <a:spcPct val="100000"/>
              </a:lnSpc>
              <a:spcBef>
                <a:spcPts val="0"/>
              </a:spcBef>
              <a:spcAft>
                <a:spcPts val="300"/>
              </a:spcAft>
              <a:buClr>
                <a:srgbClr val="808080"/>
              </a:buClr>
              <a:buFont typeface="Calibri Light" panose="020F0302020204030204" pitchFamily="34" charset="0"/>
              <a:buChar char="‐"/>
              <a:defRPr sz="1000">
                <a:solidFill>
                  <a:schemeClr val="bg2"/>
                </a:solidFill>
                <a:latin typeface="+mj-lt"/>
              </a:defRPr>
            </a:lvl3pPr>
            <a:lvl4pPr marL="576000" indent="-180000">
              <a:lnSpc>
                <a:spcPct val="100000"/>
              </a:lnSpc>
              <a:spcBef>
                <a:spcPts val="0"/>
              </a:spcBef>
              <a:spcAft>
                <a:spcPts val="300"/>
              </a:spcAft>
              <a:buClr>
                <a:srgbClr val="808080"/>
              </a:buClr>
              <a:buFont typeface="Calibri Light" panose="020F0302020204030204" pitchFamily="34" charset="0"/>
              <a:buChar char="‐"/>
              <a:defRPr sz="1000" i="0">
                <a:solidFill>
                  <a:schemeClr val="bg2"/>
                </a:solidFill>
                <a:latin typeface="+mj-lt"/>
              </a:defRPr>
            </a:lvl4pPr>
            <a:lvl5pPr marL="576000" indent="-180000">
              <a:lnSpc>
                <a:spcPct val="100000"/>
              </a:lnSpc>
              <a:spcBef>
                <a:spcPts val="0"/>
              </a:spcBef>
              <a:spcAft>
                <a:spcPts val="300"/>
              </a:spcAft>
              <a:buClr>
                <a:srgbClr val="808080"/>
              </a:buClr>
              <a:buFont typeface="Calibri Light" panose="020F0302020204030204" pitchFamily="34" charset="0"/>
              <a:buChar char="‐"/>
              <a:defRPr sz="1000" i="0">
                <a:solidFill>
                  <a:schemeClr val="bg2"/>
                </a:solidFill>
                <a:latin typeface="+mj-lt"/>
              </a:defRPr>
            </a:lvl5pPr>
            <a:lvl6pPr marL="1885950" indent="-171450">
              <a:lnSpc>
                <a:spcPct val="90000"/>
              </a:lnSpc>
              <a:spcBef>
                <a:spcPts val="375"/>
              </a:spcBef>
              <a:buFont typeface="Arial" panose="020B0604020202020204" pitchFamily="34" charset="0"/>
              <a:buChar char="•"/>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r>
              <a:rPr lang="fr-FR"/>
              <a:t>Havas</a:t>
            </a:r>
          </a:p>
        </p:txBody>
      </p:sp>
      <p:sp>
        <p:nvSpPr>
          <p:cNvPr id="20" name="ZoneTexte 19">
            <a:extLst>
              <a:ext uri="{FF2B5EF4-FFF2-40B4-BE49-F238E27FC236}">
                <a16:creationId xmlns:a16="http://schemas.microsoft.com/office/drawing/2014/main" id="{5489C04A-D935-480C-8127-1AFC17837146}"/>
              </a:ext>
            </a:extLst>
          </p:cNvPr>
          <p:cNvSpPr txBox="1"/>
          <p:nvPr/>
        </p:nvSpPr>
        <p:spPr>
          <a:xfrm>
            <a:off x="4761692" y="4804377"/>
            <a:ext cx="1972210" cy="351893"/>
          </a:xfrm>
          <a:prstGeom prst="rect">
            <a:avLst/>
          </a:prstGeom>
        </p:spPr>
        <p:txBody>
          <a:bodyPr vert="horz" wrap="none" lIns="91440" tIns="45720" rIns="91440" bIns="45720" rtlCol="0">
            <a:noAutofit/>
          </a:bodyPr>
          <a:lstStyle/>
          <a:p>
            <a:r>
              <a:rPr lang="en-GB" sz="700">
                <a:latin typeface="Arial" panose="020B0604020202020204" pitchFamily="34" charset="0"/>
                <a:cs typeface="Arial" panose="020B0604020202020204" pitchFamily="34" charset="0"/>
              </a:rPr>
              <a:t>(*) see glossary for definition</a:t>
            </a:r>
          </a:p>
          <a:p>
            <a:endParaRPr lang="fr-FR" sz="700">
              <a:latin typeface="Arial" panose="020B0604020202020204" pitchFamily="34" charset="0"/>
              <a:cs typeface="Arial" panose="020B0604020202020204" pitchFamily="34" charset="0"/>
            </a:endParaRPr>
          </a:p>
          <a:p>
            <a:endParaRPr lang="fr-FR" sz="700">
              <a:latin typeface="Arial" panose="020B0604020202020204" pitchFamily="34" charset="0"/>
              <a:cs typeface="Arial" panose="020B0604020202020204" pitchFamily="34" charset="0"/>
            </a:endParaRPr>
          </a:p>
          <a:p>
            <a:endParaRPr lang="fr-FR" sz="700">
              <a:latin typeface="Arial" panose="020B0604020202020204" pitchFamily="34" charset="0"/>
              <a:cs typeface="Arial" panose="020B0604020202020204" pitchFamily="34" charset="0"/>
            </a:endParaRPr>
          </a:p>
        </p:txBody>
      </p:sp>
      <p:sp>
        <p:nvSpPr>
          <p:cNvPr id="12" name="Espace réservé du contenu 4">
            <a:extLst>
              <a:ext uri="{FF2B5EF4-FFF2-40B4-BE49-F238E27FC236}">
                <a16:creationId xmlns:a16="http://schemas.microsoft.com/office/drawing/2014/main" id="{44DCB04A-79BC-4158-B9F3-6F20C0C17BE2}"/>
              </a:ext>
            </a:extLst>
          </p:cNvPr>
          <p:cNvSpPr txBox="1">
            <a:spLocks/>
          </p:cNvSpPr>
          <p:nvPr/>
        </p:nvSpPr>
        <p:spPr>
          <a:xfrm>
            <a:off x="0" y="2168416"/>
            <a:ext cx="4639771" cy="2691502"/>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buClr>
                <a:srgbClr val="840265"/>
              </a:buClr>
            </a:pPr>
            <a:r>
              <a:rPr lang="en-GB"/>
              <a:t>Revenue: +3%, </a:t>
            </a:r>
            <a:r>
              <a:rPr lang="en-GB" b="0"/>
              <a:t>+2.3% organic</a:t>
            </a:r>
          </a:p>
          <a:p>
            <a:pPr lvl="4" algn="just"/>
            <a:r>
              <a:rPr lang="en-GB" sz="950">
                <a:solidFill>
                  <a:schemeClr val="tx1"/>
                </a:solidFill>
              </a:rPr>
              <a:t>Mainland France: </a:t>
            </a:r>
            <a:r>
              <a:rPr lang="fr-FR" sz="950">
                <a:solidFill>
                  <a:schemeClr val="tx1"/>
                </a:solidFill>
              </a:rPr>
              <a:t>+</a:t>
            </a:r>
            <a:r>
              <a:rPr lang="en-US" sz="950">
                <a:solidFill>
                  <a:schemeClr val="tx1"/>
                </a:solidFill>
              </a:rPr>
              <a:t>1.7% organic</a:t>
            </a:r>
            <a:r>
              <a:rPr lang="en-GB" sz="950">
                <a:solidFill>
                  <a:schemeClr val="tx1"/>
                </a:solidFill>
              </a:rPr>
              <a:t>;</a:t>
            </a:r>
          </a:p>
          <a:p>
            <a:pPr lvl="4" algn="just"/>
            <a:r>
              <a:rPr lang="en-GB" sz="950">
                <a:solidFill>
                  <a:schemeClr val="tx1"/>
                </a:solidFill>
              </a:rPr>
              <a:t>International: </a:t>
            </a:r>
            <a:r>
              <a:rPr lang="en-US" sz="950">
                <a:solidFill>
                  <a:schemeClr val="tx1"/>
                </a:solidFill>
              </a:rPr>
              <a:t>+1.2%, driven by growth in the subscriber base</a:t>
            </a:r>
            <a:r>
              <a:rPr lang="en-GB" sz="950">
                <a:solidFill>
                  <a:schemeClr val="tx1"/>
                </a:solidFill>
              </a:rPr>
              <a:t>;</a:t>
            </a:r>
          </a:p>
          <a:p>
            <a:pPr lvl="4" algn="just"/>
            <a:r>
              <a:rPr lang="en-GB" sz="950">
                <a:solidFill>
                  <a:schemeClr val="tx1"/>
                </a:solidFill>
              </a:rPr>
              <a:t>Studiocanal: </a:t>
            </a:r>
            <a:r>
              <a:rPr lang="en-US" sz="950">
                <a:solidFill>
                  <a:schemeClr val="tx1"/>
                </a:solidFill>
              </a:rPr>
              <a:t>+16%, thanks to highly successful theatrical releases, both in France and internationally (Australia, New Zealand and United Kingdom).</a:t>
            </a:r>
          </a:p>
          <a:p>
            <a:pPr lvl="4" algn="just"/>
            <a:endParaRPr lang="en-GB" sz="950">
              <a:solidFill>
                <a:schemeClr val="tx1"/>
              </a:solidFill>
            </a:endParaRPr>
          </a:p>
          <a:p>
            <a:pPr lvl="3" algn="just">
              <a:buClr>
                <a:srgbClr val="840265"/>
              </a:buClr>
            </a:pPr>
            <a:r>
              <a:rPr lang="en-GB"/>
              <a:t>EBITA: €337m, stable </a:t>
            </a:r>
            <a:r>
              <a:rPr lang="en-GB" b="0"/>
              <a:t>(</a:t>
            </a:r>
            <a:r>
              <a:rPr lang="en-US" b="0"/>
              <a:t>a slight decrease of -1.5% organic)</a:t>
            </a:r>
            <a:endParaRPr lang="en-GB" b="0"/>
          </a:p>
          <a:p>
            <a:pPr lvl="3" algn="just">
              <a:buClr>
                <a:srgbClr val="840265"/>
              </a:buClr>
            </a:pPr>
            <a:r>
              <a:rPr lang="en-GB"/>
              <a:t>Pursuit of international development</a:t>
            </a:r>
          </a:p>
          <a:p>
            <a:pPr lvl="4" algn="just"/>
            <a:r>
              <a:rPr lang="en-US" sz="950" b="1" err="1">
                <a:solidFill>
                  <a:schemeClr val="tx1"/>
                </a:solidFill>
              </a:rPr>
              <a:t>Viu</a:t>
            </a:r>
            <a:r>
              <a:rPr lang="en-US" sz="950" b="1">
                <a:solidFill>
                  <a:schemeClr val="tx1"/>
                </a:solidFill>
              </a:rPr>
              <a:t>: </a:t>
            </a:r>
            <a:r>
              <a:rPr lang="en-US" sz="950">
                <a:solidFill>
                  <a:schemeClr val="tx1"/>
                </a:solidFill>
              </a:rPr>
              <a:t>on June 21, 2023, signed a partnership agreement to accelerate the development of </a:t>
            </a:r>
            <a:r>
              <a:rPr lang="en-US" sz="950" err="1">
                <a:solidFill>
                  <a:schemeClr val="tx1"/>
                </a:solidFill>
              </a:rPr>
              <a:t>Viu</a:t>
            </a:r>
            <a:r>
              <a:rPr lang="en-US" sz="950">
                <a:solidFill>
                  <a:schemeClr val="tx1"/>
                </a:solidFill>
              </a:rPr>
              <a:t>, a leading streaming service in Asia. Phased investment of $300m, including an initial amount of $200m allowing Canal + to hold a 26.15% stake in </a:t>
            </a:r>
            <a:r>
              <a:rPr lang="en-US" sz="950" err="1">
                <a:solidFill>
                  <a:schemeClr val="tx1"/>
                </a:solidFill>
              </a:rPr>
              <a:t>Viu</a:t>
            </a:r>
            <a:r>
              <a:rPr lang="en-US" sz="950">
                <a:solidFill>
                  <a:schemeClr val="tx1"/>
                </a:solidFill>
              </a:rPr>
              <a:t>. Options to increase ownership to 51%.</a:t>
            </a:r>
          </a:p>
          <a:p>
            <a:pPr lvl="4" algn="just"/>
            <a:r>
              <a:rPr lang="en-US" sz="950" b="1">
                <a:solidFill>
                  <a:schemeClr val="tx1"/>
                </a:solidFill>
              </a:rPr>
              <a:t>MultiChoice:</a:t>
            </a:r>
            <a:r>
              <a:rPr lang="en-US" sz="950">
                <a:solidFill>
                  <a:schemeClr val="tx1"/>
                </a:solidFill>
              </a:rPr>
              <a:t> 32.6% of the capital as of June 30, 2023.</a:t>
            </a:r>
            <a:endParaRPr lang="en-GB" sz="950">
              <a:solidFill>
                <a:schemeClr val="tx1"/>
              </a:solidFill>
            </a:endParaRPr>
          </a:p>
          <a:p>
            <a:pPr lvl="3" algn="just">
              <a:buClr>
                <a:srgbClr val="840265"/>
              </a:buClr>
            </a:pPr>
            <a:endParaRPr lang="en-GB"/>
          </a:p>
        </p:txBody>
      </p:sp>
      <p:sp>
        <p:nvSpPr>
          <p:cNvPr id="13" name="Espace réservé du contenu 4">
            <a:extLst>
              <a:ext uri="{FF2B5EF4-FFF2-40B4-BE49-F238E27FC236}">
                <a16:creationId xmlns:a16="http://schemas.microsoft.com/office/drawing/2014/main" id="{8DDFD366-9705-42A2-A4EC-8BEABAA3A29E}"/>
              </a:ext>
            </a:extLst>
          </p:cNvPr>
          <p:cNvSpPr txBox="1">
            <a:spLocks/>
          </p:cNvSpPr>
          <p:nvPr/>
        </p:nvSpPr>
        <p:spPr>
          <a:xfrm>
            <a:off x="4639771" y="2228472"/>
            <a:ext cx="4357419" cy="2830711"/>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buClr>
                <a:schemeClr val="accent3"/>
              </a:buClr>
            </a:pPr>
            <a:r>
              <a:rPr lang="en-US" b="1">
                <a:solidFill>
                  <a:schemeClr val="tx1"/>
                </a:solidFill>
              </a:rPr>
              <a:t>Net revenue </a:t>
            </a:r>
            <a:r>
              <a:rPr lang="en-US" b="1" baseline="30000">
                <a:solidFill>
                  <a:schemeClr val="tx1"/>
                </a:solidFill>
              </a:rPr>
              <a:t>(*)</a:t>
            </a:r>
            <a:r>
              <a:rPr lang="en-US" b="1">
                <a:solidFill>
                  <a:schemeClr val="tx1"/>
                </a:solidFill>
              </a:rPr>
              <a:t>: +5% </a:t>
            </a:r>
            <a:r>
              <a:rPr lang="en-US" b="0">
                <a:solidFill>
                  <a:schemeClr val="tx1"/>
                </a:solidFill>
              </a:rPr>
              <a:t>(+4.2% organic)</a:t>
            </a:r>
          </a:p>
          <a:p>
            <a:pPr lvl="4" algn="just"/>
            <a:r>
              <a:rPr lang="en-US" sz="950">
                <a:solidFill>
                  <a:schemeClr val="tx1"/>
                </a:solidFill>
              </a:rPr>
              <a:t>After a solid first quarter of 2023 (+1.9% organic growth), Havas’s net revenue growth accelerated in the second quarter of 2023 (+6.3% organically), driven by </a:t>
            </a:r>
            <a:r>
              <a:rPr lang="en-US" sz="950" err="1">
                <a:solidFill>
                  <a:schemeClr val="tx1"/>
                </a:solidFill>
              </a:rPr>
              <a:t>Health&amp;You</a:t>
            </a:r>
            <a:r>
              <a:rPr lang="en-US" sz="950">
                <a:solidFill>
                  <a:schemeClr val="tx1"/>
                </a:solidFill>
              </a:rPr>
              <a:t> and Media divisions, and despite a high comparison basis (+11.5% organic growth in the second quarter of 2022). </a:t>
            </a:r>
          </a:p>
          <a:p>
            <a:pPr lvl="4" algn="just"/>
            <a:r>
              <a:rPr lang="en-US" sz="950">
                <a:solidFill>
                  <a:schemeClr val="tx1"/>
                </a:solidFill>
              </a:rPr>
              <a:t>All geographies recorded solid performances: +2.6% in North America, +2.5% in Europe, +6.0% in Asia Pacific and 29.1% in Latin America.</a:t>
            </a:r>
            <a:endParaRPr lang="en-US">
              <a:solidFill>
                <a:schemeClr val="tx1"/>
              </a:solidFill>
            </a:endParaRPr>
          </a:p>
          <a:p>
            <a:pPr lvl="3" algn="just"/>
            <a:endParaRPr lang="en-US" sz="950" b="1">
              <a:solidFill>
                <a:schemeClr val="tx1"/>
              </a:solidFill>
            </a:endParaRPr>
          </a:p>
          <a:p>
            <a:pPr lvl="3" algn="just"/>
            <a:r>
              <a:rPr lang="en-US" sz="950" b="1">
                <a:solidFill>
                  <a:schemeClr val="tx1"/>
                </a:solidFill>
              </a:rPr>
              <a:t>EBITA : +6 % </a:t>
            </a:r>
            <a:r>
              <a:rPr lang="en-US" sz="950" b="0">
                <a:solidFill>
                  <a:schemeClr val="tx1"/>
                </a:solidFill>
              </a:rPr>
              <a:t>(+6.3 % organic)</a:t>
            </a:r>
          </a:p>
          <a:p>
            <a:pPr lvl="4" algn="just"/>
            <a:r>
              <a:rPr lang="en-US" sz="950">
                <a:solidFill>
                  <a:schemeClr val="tx1"/>
                </a:solidFill>
              </a:rPr>
              <a:t>The increase is due to solid organic growth and a controlled reduction of the cost base. </a:t>
            </a:r>
          </a:p>
          <a:p>
            <a:pPr marL="180000" lvl="4" indent="0" algn="just">
              <a:buNone/>
            </a:pPr>
            <a:endParaRPr lang="en-US">
              <a:solidFill>
                <a:schemeClr val="tx1"/>
              </a:solidFill>
              <a:highlight>
                <a:srgbClr val="FFFF00"/>
              </a:highlight>
            </a:endParaRPr>
          </a:p>
        </p:txBody>
      </p:sp>
      <p:pic>
        <p:nvPicPr>
          <p:cNvPr id="9" name="Image 8">
            <a:extLst>
              <a:ext uri="{FF2B5EF4-FFF2-40B4-BE49-F238E27FC236}">
                <a16:creationId xmlns:a16="http://schemas.microsoft.com/office/drawing/2014/main" id="{0BA67DAA-D538-49F2-AC2F-8F341F914FDB}"/>
              </a:ext>
            </a:extLst>
          </p:cNvPr>
          <p:cNvPicPr>
            <a:picLocks noChangeAspect="1"/>
          </p:cNvPicPr>
          <p:nvPr>
            <p:custDataLst>
              <p:tags r:id="rId2"/>
            </p:custDataLst>
          </p:nvPr>
        </p:nvPicPr>
        <p:blipFill>
          <a:blip r:embed="rId5"/>
          <a:stretch>
            <a:fillRect/>
          </a:stretch>
        </p:blipFill>
        <p:spPr>
          <a:xfrm>
            <a:off x="225426" y="1297072"/>
            <a:ext cx="4259225" cy="822939"/>
          </a:xfrm>
          <a:prstGeom prst="rect">
            <a:avLst/>
          </a:prstGeom>
        </p:spPr>
      </p:pic>
      <p:pic>
        <p:nvPicPr>
          <p:cNvPr id="10" name="Image 9">
            <a:extLst>
              <a:ext uri="{FF2B5EF4-FFF2-40B4-BE49-F238E27FC236}">
                <a16:creationId xmlns:a16="http://schemas.microsoft.com/office/drawing/2014/main" id="{0EF5937F-94B9-4C42-9A5D-5EBB72DA9D19}"/>
              </a:ext>
            </a:extLst>
          </p:cNvPr>
          <p:cNvPicPr>
            <a:picLocks noChangeAspect="1"/>
          </p:cNvPicPr>
          <p:nvPr>
            <p:custDataLst>
              <p:tags r:id="rId3"/>
            </p:custDataLst>
          </p:nvPr>
        </p:nvPicPr>
        <p:blipFill>
          <a:blip r:embed="rId6"/>
          <a:stretch>
            <a:fillRect/>
          </a:stretch>
        </p:blipFill>
        <p:spPr>
          <a:xfrm>
            <a:off x="4761692" y="1308723"/>
            <a:ext cx="4291279" cy="751865"/>
          </a:xfrm>
          <a:prstGeom prst="rect">
            <a:avLst/>
          </a:prstGeom>
        </p:spPr>
      </p:pic>
      <p:sp>
        <p:nvSpPr>
          <p:cNvPr id="4" name="Espace réservé du numéro de diapositive 3">
            <a:extLst>
              <a:ext uri="{FF2B5EF4-FFF2-40B4-BE49-F238E27FC236}">
                <a16:creationId xmlns:a16="http://schemas.microsoft.com/office/drawing/2014/main" id="{93FB1052-03EF-4DED-BB86-207A43DE21B2}"/>
              </a:ext>
            </a:extLst>
          </p:cNvPr>
          <p:cNvSpPr>
            <a:spLocks noGrp="1"/>
          </p:cNvSpPr>
          <p:nvPr>
            <p:ph type="sldNum" sz="quarter" idx="12"/>
          </p:nvPr>
        </p:nvSpPr>
        <p:spPr/>
        <p:txBody>
          <a:bodyPr/>
          <a:lstStyle/>
          <a:p>
            <a:fld id="{304318A0-AD76-4461-B655-8B1A266EB0A2}" type="slidenum">
              <a:rPr lang="fr-FR" smtClean="0"/>
              <a:t>21</a:t>
            </a:fld>
            <a:endParaRPr lang="fr-FR"/>
          </a:p>
        </p:txBody>
      </p:sp>
    </p:spTree>
    <p:extLst>
      <p:ext uri="{BB962C8B-B14F-4D97-AF65-F5344CB8AC3E}">
        <p14:creationId xmlns:p14="http://schemas.microsoft.com/office/powerpoint/2010/main" val="3788285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79B87C14-3B32-4C68-92C7-EA3C9AED4AB9}"/>
              </a:ext>
            </a:extLst>
          </p:cNvPr>
          <p:cNvSpPr>
            <a:spLocks noGrp="1"/>
          </p:cNvSpPr>
          <p:nvPr>
            <p:ph type="title"/>
          </p:nvPr>
        </p:nvSpPr>
        <p:spPr/>
        <p:txBody>
          <a:bodyPr/>
          <a:lstStyle/>
          <a:p>
            <a:r>
              <a:rPr lang="fr-FR" sz="1800" err="1">
                <a:solidFill>
                  <a:srgbClr val="840265"/>
                </a:solidFill>
                <a:latin typeface="Arial" panose="020B0604020202020204" pitchFamily="34" charset="0"/>
                <a:cs typeface="Arial" panose="020B0604020202020204" pitchFamily="34" charset="0"/>
              </a:rPr>
              <a:t>CommunicationS</a:t>
            </a:r>
            <a:endParaRPr lang="fr-FR" sz="1800"/>
          </a:p>
        </p:txBody>
      </p:sp>
      <p:sp>
        <p:nvSpPr>
          <p:cNvPr id="6" name="Espace réservé du texte 5">
            <a:extLst>
              <a:ext uri="{FF2B5EF4-FFF2-40B4-BE49-F238E27FC236}">
                <a16:creationId xmlns:a16="http://schemas.microsoft.com/office/drawing/2014/main" id="{1A2F777B-22DE-4119-AA1F-21EBFA2B91DF}"/>
              </a:ext>
            </a:extLst>
          </p:cNvPr>
          <p:cNvSpPr>
            <a:spLocks noGrp="1"/>
          </p:cNvSpPr>
          <p:nvPr>
            <p:ph type="body" sz="quarter" idx="15"/>
          </p:nvPr>
        </p:nvSpPr>
        <p:spPr/>
        <p:txBody>
          <a:bodyPr/>
          <a:lstStyle/>
          <a:p>
            <a:r>
              <a:rPr lang="fr-FR" sz="1600">
                <a:solidFill>
                  <a:srgbClr val="840265"/>
                </a:solidFill>
                <a:latin typeface="Arial" panose="020B0604020202020204" pitchFamily="34" charset="0"/>
                <a:cs typeface="Arial" panose="020B0604020202020204" pitchFamily="34" charset="0"/>
              </a:rPr>
              <a:t>Vivendi</a:t>
            </a:r>
          </a:p>
        </p:txBody>
      </p:sp>
      <p:sp>
        <p:nvSpPr>
          <p:cNvPr id="8" name="Espace réservé du texte 11">
            <a:extLst>
              <a:ext uri="{FF2B5EF4-FFF2-40B4-BE49-F238E27FC236}">
                <a16:creationId xmlns:a16="http://schemas.microsoft.com/office/drawing/2014/main" id="{7E2454B9-9EFF-5515-A9FE-DA6683A1990E}"/>
              </a:ext>
            </a:extLst>
          </p:cNvPr>
          <p:cNvSpPr txBox="1">
            <a:spLocks/>
          </p:cNvSpPr>
          <p:nvPr/>
        </p:nvSpPr>
        <p:spPr>
          <a:xfrm>
            <a:off x="159653" y="889555"/>
            <a:ext cx="7823201" cy="320400"/>
          </a:xfrm>
          <a:prstGeom prst="rect">
            <a:avLst/>
          </a:prstGeom>
        </p:spPr>
        <p:txBody>
          <a:bodyPr vert="horz" lIns="91440" tIns="0" rIns="91440" bIns="0" rtlCol="0" anchor="ctr">
            <a:noAutofit/>
          </a:bodyPr>
          <a:lstStyle>
            <a:defPPr>
              <a:defRPr lang="en-US"/>
            </a:defPPr>
            <a:lvl1pPr indent="0">
              <a:lnSpc>
                <a:spcPct val="100000"/>
              </a:lnSpc>
              <a:spcBef>
                <a:spcPts val="0"/>
              </a:spcBef>
              <a:spcAft>
                <a:spcPts val="300"/>
              </a:spcAft>
              <a:buSzPct val="110000"/>
              <a:buFontTx/>
              <a:buNone/>
              <a:defRPr sz="1000" b="1" cap="all" baseline="0">
                <a:solidFill>
                  <a:srgbClr val="840265"/>
                </a:solidFill>
                <a:latin typeface="Arial" panose="020B0604020202020204" pitchFamily="34" charset="0"/>
                <a:cs typeface="Arial" panose="020B0604020202020204" pitchFamily="34" charset="0"/>
              </a:defRPr>
            </a:lvl1pPr>
            <a:lvl2pPr marL="360000" indent="-180000">
              <a:lnSpc>
                <a:spcPct val="100000"/>
              </a:lnSpc>
              <a:spcBef>
                <a:spcPts val="0"/>
              </a:spcBef>
              <a:spcAft>
                <a:spcPts val="300"/>
              </a:spcAft>
              <a:buClr>
                <a:srgbClr val="808080"/>
              </a:buClr>
              <a:buFont typeface="Wingdings" panose="05000000000000000000" pitchFamily="2" charset="2"/>
              <a:buChar char="§"/>
              <a:defRPr sz="1100">
                <a:solidFill>
                  <a:srgbClr val="808080"/>
                </a:solidFill>
                <a:latin typeface="+mj-lt"/>
              </a:defRPr>
            </a:lvl2pPr>
            <a:lvl3pPr marL="576000" indent="-180000">
              <a:lnSpc>
                <a:spcPct val="100000"/>
              </a:lnSpc>
              <a:spcBef>
                <a:spcPts val="0"/>
              </a:spcBef>
              <a:spcAft>
                <a:spcPts val="300"/>
              </a:spcAft>
              <a:buClr>
                <a:srgbClr val="808080"/>
              </a:buClr>
              <a:buFont typeface="Calibri Light" panose="020F0302020204030204" pitchFamily="34" charset="0"/>
              <a:buChar char="‐"/>
              <a:defRPr sz="1000">
                <a:solidFill>
                  <a:schemeClr val="bg2"/>
                </a:solidFill>
                <a:latin typeface="+mj-lt"/>
              </a:defRPr>
            </a:lvl3pPr>
            <a:lvl4pPr marL="576000" indent="-180000">
              <a:lnSpc>
                <a:spcPct val="100000"/>
              </a:lnSpc>
              <a:spcBef>
                <a:spcPts val="0"/>
              </a:spcBef>
              <a:spcAft>
                <a:spcPts val="300"/>
              </a:spcAft>
              <a:buClr>
                <a:srgbClr val="808080"/>
              </a:buClr>
              <a:buFont typeface="Calibri Light" panose="020F0302020204030204" pitchFamily="34" charset="0"/>
              <a:buChar char="‐"/>
              <a:defRPr sz="1000" i="0">
                <a:solidFill>
                  <a:schemeClr val="bg2"/>
                </a:solidFill>
                <a:latin typeface="+mj-lt"/>
              </a:defRPr>
            </a:lvl4pPr>
            <a:lvl5pPr marL="576000" indent="-180000">
              <a:lnSpc>
                <a:spcPct val="100000"/>
              </a:lnSpc>
              <a:spcBef>
                <a:spcPts val="0"/>
              </a:spcBef>
              <a:spcAft>
                <a:spcPts val="300"/>
              </a:spcAft>
              <a:buClr>
                <a:srgbClr val="808080"/>
              </a:buClr>
              <a:buFont typeface="Calibri Light" panose="020F0302020204030204" pitchFamily="34" charset="0"/>
              <a:buChar char="‐"/>
              <a:defRPr sz="1000" i="0">
                <a:solidFill>
                  <a:schemeClr val="bg2"/>
                </a:solidFill>
                <a:latin typeface="+mj-lt"/>
              </a:defRPr>
            </a:lvl5pPr>
            <a:lvl6pPr marL="1885950" indent="-171450">
              <a:lnSpc>
                <a:spcPct val="90000"/>
              </a:lnSpc>
              <a:spcBef>
                <a:spcPts val="375"/>
              </a:spcBef>
              <a:buFont typeface="Arial" panose="020B0604020202020204" pitchFamily="34" charset="0"/>
              <a:buChar char="•"/>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r>
              <a:rPr lang="fr-FR" err="1"/>
              <a:t>PriSma</a:t>
            </a:r>
            <a:r>
              <a:rPr lang="fr-FR"/>
              <a:t> MEDIA – GAMELOFT – TICKETING &amp; LIVE – OTHER BUSINESS </a:t>
            </a:r>
            <a:r>
              <a:rPr lang="fr-FR" err="1"/>
              <a:t>lines</a:t>
            </a:r>
            <a:endParaRPr lang="fr-FR"/>
          </a:p>
        </p:txBody>
      </p:sp>
      <p:sp>
        <p:nvSpPr>
          <p:cNvPr id="10" name="Espace réservé du contenu 4">
            <a:extLst>
              <a:ext uri="{FF2B5EF4-FFF2-40B4-BE49-F238E27FC236}">
                <a16:creationId xmlns:a16="http://schemas.microsoft.com/office/drawing/2014/main" id="{BCCD265C-26E2-45A1-9F7E-C06EE4CBB4AD}"/>
              </a:ext>
            </a:extLst>
          </p:cNvPr>
          <p:cNvSpPr txBox="1">
            <a:spLocks/>
          </p:cNvSpPr>
          <p:nvPr/>
        </p:nvSpPr>
        <p:spPr>
          <a:xfrm>
            <a:off x="4740224" y="1517552"/>
            <a:ext cx="4080248" cy="2854398"/>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buClr>
                <a:schemeClr val="accent3"/>
              </a:buClr>
            </a:pPr>
            <a:r>
              <a:rPr lang="en-GB"/>
              <a:t>Prisma Media</a:t>
            </a:r>
            <a:r>
              <a:rPr lang="en-GB" b="0"/>
              <a:t>: revenue down 7% compared to the first half 2022 (-7% organic), </a:t>
            </a:r>
            <a:r>
              <a:rPr lang="en-US" b="0"/>
              <a:t>which included non-recurring products</a:t>
            </a:r>
            <a:r>
              <a:rPr lang="en-GB" b="0"/>
              <a:t>. </a:t>
            </a:r>
            <a:r>
              <a:rPr lang="en-US" b="0"/>
              <a:t>EBITA was €17m and was impacted by the increase in paper costs.</a:t>
            </a:r>
            <a:r>
              <a:rPr lang="en-GB" b="0">
                <a:highlight>
                  <a:srgbClr val="FFFF00"/>
                </a:highlight>
              </a:rPr>
              <a:t> </a:t>
            </a:r>
          </a:p>
          <a:p>
            <a:pPr lvl="3" algn="just">
              <a:buClr>
                <a:schemeClr val="accent3"/>
              </a:buClr>
            </a:pPr>
            <a:r>
              <a:rPr lang="en-GB"/>
              <a:t>Gameloft</a:t>
            </a:r>
            <a:r>
              <a:rPr lang="en-GB" b="0"/>
              <a:t>: solid revenue growth (+15.5% organic) </a:t>
            </a:r>
            <a:r>
              <a:rPr lang="en-US" b="0"/>
              <a:t>and improved EBITA thanks to the success of the PC-Consoles games Disney Dreamlight Valley, launched in September 2022, and Disney </a:t>
            </a:r>
            <a:r>
              <a:rPr lang="en-US" b="0" err="1"/>
              <a:t>Speedstorm</a:t>
            </a:r>
            <a:r>
              <a:rPr lang="en-US" b="0"/>
              <a:t>, launched in April 2023.</a:t>
            </a:r>
            <a:endParaRPr lang="en-GB" b="0">
              <a:highlight>
                <a:srgbClr val="FFFF00"/>
              </a:highlight>
            </a:endParaRPr>
          </a:p>
          <a:p>
            <a:pPr lvl="3" algn="just">
              <a:buClr>
                <a:schemeClr val="accent3"/>
              </a:buClr>
            </a:pPr>
            <a:r>
              <a:rPr lang="en-GB"/>
              <a:t>Ticketing &amp; Live</a:t>
            </a:r>
            <a:r>
              <a:rPr lang="en-GB" b="0"/>
              <a:t>: Revenue up by 6.5%, </a:t>
            </a:r>
            <a:r>
              <a:rPr lang="en-US" b="0"/>
              <a:t>driven by growth in Ticketing. EBITA continues to improve thanks to business growth and stands at +€7m compared to a loss of €3m in the first half of 2022.</a:t>
            </a:r>
            <a:r>
              <a:rPr lang="en-GB" b="0"/>
              <a:t> </a:t>
            </a:r>
          </a:p>
        </p:txBody>
      </p:sp>
      <p:sp>
        <p:nvSpPr>
          <p:cNvPr id="11" name="Rectangle 10">
            <a:extLst>
              <a:ext uri="{FF2B5EF4-FFF2-40B4-BE49-F238E27FC236}">
                <a16:creationId xmlns:a16="http://schemas.microsoft.com/office/drawing/2014/main" id="{EA66EDE7-678D-4035-8A5E-1538DA5E12EA}"/>
              </a:ext>
            </a:extLst>
          </p:cNvPr>
          <p:cNvSpPr/>
          <p:nvPr/>
        </p:nvSpPr>
        <p:spPr>
          <a:xfrm>
            <a:off x="120651" y="4677244"/>
            <a:ext cx="4596492" cy="200055"/>
          </a:xfrm>
          <a:prstGeom prst="rect">
            <a:avLst/>
          </a:prstGeom>
        </p:spPr>
        <p:txBody>
          <a:bodyPr wrap="square">
            <a:spAutoFit/>
          </a:bodyPr>
          <a:lstStyle/>
          <a:p>
            <a:pPr marL="228600" indent="-228600">
              <a:buAutoNum type="arabicParenBoth"/>
            </a:pPr>
            <a:r>
              <a:rPr lang="en-GB" sz="700">
                <a:latin typeface="Arial" panose="020B0604020202020204" pitchFamily="34" charset="0"/>
                <a:cs typeface="Arial" panose="020B0604020202020204" pitchFamily="34" charset="0"/>
              </a:rPr>
              <a:t>Integrates Dailymotion, New Initiatives, Generosity and Solidarity and Corporate.</a:t>
            </a:r>
          </a:p>
        </p:txBody>
      </p:sp>
      <p:pic>
        <p:nvPicPr>
          <p:cNvPr id="2" name="Image 1">
            <a:extLst>
              <a:ext uri="{FF2B5EF4-FFF2-40B4-BE49-F238E27FC236}">
                <a16:creationId xmlns:a16="http://schemas.microsoft.com/office/drawing/2014/main" id="{282BE349-8230-4814-9B6B-E2669B036B74}"/>
              </a:ext>
            </a:extLst>
          </p:cNvPr>
          <p:cNvPicPr>
            <a:picLocks noChangeAspect="1"/>
          </p:cNvPicPr>
          <p:nvPr>
            <p:custDataLst>
              <p:tags r:id="rId2"/>
            </p:custDataLst>
          </p:nvPr>
        </p:nvPicPr>
        <p:blipFill>
          <a:blip r:embed="rId4"/>
          <a:stretch>
            <a:fillRect/>
          </a:stretch>
        </p:blipFill>
        <p:spPr>
          <a:xfrm>
            <a:off x="87985" y="1472484"/>
            <a:ext cx="4528863" cy="2478381"/>
          </a:xfrm>
          <a:prstGeom prst="rect">
            <a:avLst/>
          </a:prstGeom>
        </p:spPr>
      </p:pic>
      <p:sp>
        <p:nvSpPr>
          <p:cNvPr id="5" name="Espace réservé du numéro de diapositive 4">
            <a:extLst>
              <a:ext uri="{FF2B5EF4-FFF2-40B4-BE49-F238E27FC236}">
                <a16:creationId xmlns:a16="http://schemas.microsoft.com/office/drawing/2014/main" id="{19DAB233-F25F-4505-9233-E852BB9A4D1E}"/>
              </a:ext>
            </a:extLst>
          </p:cNvPr>
          <p:cNvSpPr>
            <a:spLocks noGrp="1"/>
          </p:cNvSpPr>
          <p:nvPr>
            <p:ph type="sldNum" sz="quarter" idx="12"/>
          </p:nvPr>
        </p:nvSpPr>
        <p:spPr/>
        <p:txBody>
          <a:bodyPr/>
          <a:lstStyle/>
          <a:p>
            <a:fld id="{304318A0-AD76-4461-B655-8B1A266EB0A2}" type="slidenum">
              <a:rPr lang="fr-FR" smtClean="0"/>
              <a:t>22</a:t>
            </a:fld>
            <a:endParaRPr lang="fr-FR"/>
          </a:p>
        </p:txBody>
      </p:sp>
    </p:spTree>
    <p:extLst>
      <p:ext uri="{BB962C8B-B14F-4D97-AF65-F5344CB8AC3E}">
        <p14:creationId xmlns:p14="http://schemas.microsoft.com/office/powerpoint/2010/main" val="3315282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79B87C14-3B32-4C68-92C7-EA3C9AED4AB9}"/>
              </a:ext>
            </a:extLst>
          </p:cNvPr>
          <p:cNvSpPr>
            <a:spLocks noGrp="1"/>
          </p:cNvSpPr>
          <p:nvPr>
            <p:ph type="title"/>
          </p:nvPr>
        </p:nvSpPr>
        <p:spPr/>
        <p:txBody>
          <a:bodyPr/>
          <a:lstStyle/>
          <a:p>
            <a:r>
              <a:rPr lang="fr-FR" sz="1800">
                <a:solidFill>
                  <a:srgbClr val="840265"/>
                </a:solidFill>
                <a:latin typeface="Arial" panose="020B0604020202020204" pitchFamily="34" charset="0"/>
                <a:cs typeface="Arial" panose="020B0604020202020204" pitchFamily="34" charset="0"/>
              </a:rPr>
              <a:t>Communications</a:t>
            </a:r>
            <a:endParaRPr lang="fr-FR" sz="1800"/>
          </a:p>
        </p:txBody>
      </p:sp>
      <p:sp>
        <p:nvSpPr>
          <p:cNvPr id="6" name="Espace réservé du texte 5">
            <a:extLst>
              <a:ext uri="{FF2B5EF4-FFF2-40B4-BE49-F238E27FC236}">
                <a16:creationId xmlns:a16="http://schemas.microsoft.com/office/drawing/2014/main" id="{1A2F777B-22DE-4119-AA1F-21EBFA2B91DF}"/>
              </a:ext>
            </a:extLst>
          </p:cNvPr>
          <p:cNvSpPr>
            <a:spLocks noGrp="1"/>
          </p:cNvSpPr>
          <p:nvPr>
            <p:ph type="body" sz="quarter" idx="15"/>
          </p:nvPr>
        </p:nvSpPr>
        <p:spPr>
          <a:xfrm>
            <a:off x="120651" y="500533"/>
            <a:ext cx="8926512" cy="215900"/>
          </a:xfrm>
        </p:spPr>
        <p:txBody>
          <a:bodyPr/>
          <a:lstStyle/>
          <a:p>
            <a:r>
              <a:rPr lang="fr-FR" sz="1600">
                <a:solidFill>
                  <a:srgbClr val="840265"/>
                </a:solidFill>
                <a:latin typeface="Arial" panose="020B0604020202020204" pitchFamily="34" charset="0"/>
                <a:cs typeface="Arial" panose="020B0604020202020204" pitchFamily="34" charset="0"/>
              </a:rPr>
              <a:t>Universal Music Group (UMG)</a:t>
            </a:r>
          </a:p>
        </p:txBody>
      </p:sp>
      <p:sp>
        <p:nvSpPr>
          <p:cNvPr id="9" name="Rectangle 8">
            <a:extLst>
              <a:ext uri="{FF2B5EF4-FFF2-40B4-BE49-F238E27FC236}">
                <a16:creationId xmlns:a16="http://schemas.microsoft.com/office/drawing/2014/main" id="{625A1698-4B95-498A-A082-0828100F0D0D}"/>
              </a:ext>
            </a:extLst>
          </p:cNvPr>
          <p:cNvSpPr/>
          <p:nvPr/>
        </p:nvSpPr>
        <p:spPr>
          <a:xfrm>
            <a:off x="362569" y="4847128"/>
            <a:ext cx="7760854" cy="276999"/>
          </a:xfrm>
          <a:prstGeom prst="rect">
            <a:avLst/>
          </a:prstGeom>
        </p:spPr>
        <p:txBody>
          <a:bodyPr wrap="square">
            <a:spAutoFit/>
          </a:bodyPr>
          <a:lstStyle/>
          <a:p>
            <a:r>
              <a:rPr lang="en-GB" sz="600">
                <a:latin typeface="Arial" panose="020B0604020202020204" pitchFamily="34" charset="0"/>
                <a:cs typeface="Arial" panose="020B0604020202020204" pitchFamily="34" charset="0"/>
              </a:rPr>
              <a:t>(1) &amp; (2) see glossary.</a:t>
            </a:r>
          </a:p>
          <a:p>
            <a:r>
              <a:rPr lang="en-GB" sz="600">
                <a:latin typeface="Arial" panose="020B0604020202020204" pitchFamily="34" charset="0"/>
                <a:cs typeface="Arial" panose="020B0604020202020204" pitchFamily="34" charset="0"/>
              </a:rPr>
              <a:t>(3) Calculated on the basis of adjusted net income (only for changes in fair value in Spotify and Tencent Music Entertainment) of €390m in H1 2023 and €661m in H1 2022.</a:t>
            </a:r>
          </a:p>
        </p:txBody>
      </p:sp>
      <p:pic>
        <p:nvPicPr>
          <p:cNvPr id="2" name="Image 1">
            <a:extLst>
              <a:ext uri="{FF2B5EF4-FFF2-40B4-BE49-F238E27FC236}">
                <a16:creationId xmlns:a16="http://schemas.microsoft.com/office/drawing/2014/main" id="{FCC1AF54-29D3-4FAA-A20F-A340967A3F8E}"/>
              </a:ext>
            </a:extLst>
          </p:cNvPr>
          <p:cNvPicPr>
            <a:picLocks noChangeAspect="1"/>
          </p:cNvPicPr>
          <p:nvPr>
            <p:custDataLst>
              <p:tags r:id="rId2"/>
            </p:custDataLst>
          </p:nvPr>
        </p:nvPicPr>
        <p:blipFill>
          <a:blip r:embed="rId4"/>
          <a:stretch>
            <a:fillRect/>
          </a:stretch>
        </p:blipFill>
        <p:spPr>
          <a:xfrm>
            <a:off x="225432" y="689587"/>
            <a:ext cx="6569917" cy="2415033"/>
          </a:xfrm>
          <a:prstGeom prst="rect">
            <a:avLst/>
          </a:prstGeom>
        </p:spPr>
      </p:pic>
      <p:sp>
        <p:nvSpPr>
          <p:cNvPr id="8" name="Espace réservé du contenu 4">
            <a:extLst>
              <a:ext uri="{FF2B5EF4-FFF2-40B4-BE49-F238E27FC236}">
                <a16:creationId xmlns:a16="http://schemas.microsoft.com/office/drawing/2014/main" id="{FAE745F3-EE6D-4F69-811E-5E4961CD17FE}"/>
              </a:ext>
            </a:extLst>
          </p:cNvPr>
          <p:cNvSpPr txBox="1">
            <a:spLocks/>
          </p:cNvSpPr>
          <p:nvPr/>
        </p:nvSpPr>
        <p:spPr>
          <a:xfrm>
            <a:off x="27263" y="2988957"/>
            <a:ext cx="8846988" cy="1858171"/>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buClr>
                <a:srgbClr val="840265"/>
              </a:buClr>
            </a:pPr>
            <a:r>
              <a:rPr lang="en-GB" sz="950"/>
              <a:t>Revenue: +9% at constant exchange rates</a:t>
            </a:r>
          </a:p>
          <a:p>
            <a:pPr lvl="4" algn="just"/>
            <a:r>
              <a:rPr lang="en-GB" sz="900">
                <a:solidFill>
                  <a:schemeClr val="tx1"/>
                </a:solidFill>
              </a:rPr>
              <a:t>Recorded music revenue was up +10%, mainly due to growth in subscription and streaming (+9%) revenues, </a:t>
            </a:r>
            <a:r>
              <a:rPr lang="en-US" sz="900">
                <a:solidFill>
                  <a:schemeClr val="tx1"/>
                </a:solidFill>
              </a:rPr>
              <a:t>sales of physical albums particularly in Japan (+21%) and licenses (+13%)</a:t>
            </a:r>
            <a:r>
              <a:rPr lang="en-GB" sz="900">
                <a:solidFill>
                  <a:schemeClr val="tx1"/>
                </a:solidFill>
              </a:rPr>
              <a:t>. </a:t>
            </a:r>
          </a:p>
          <a:p>
            <a:pPr lvl="4" algn="just"/>
            <a:r>
              <a:rPr lang="en-GB" sz="900">
                <a:solidFill>
                  <a:schemeClr val="tx1"/>
                </a:solidFill>
              </a:rPr>
              <a:t>Music publishing revenue rose +5%, driven by growth in subscriptions and streaming, and performance revenues.</a:t>
            </a:r>
          </a:p>
          <a:p>
            <a:pPr lvl="3" algn="just">
              <a:buClr>
                <a:srgbClr val="840265"/>
              </a:buClr>
            </a:pPr>
            <a:r>
              <a:rPr lang="en-GB" sz="950"/>
              <a:t>Adjusted EBITDA: €1,112m, +16% </a:t>
            </a:r>
            <a:r>
              <a:rPr lang="en-GB" sz="950" b="0"/>
              <a:t>(+16% at constant exchange rates),</a:t>
            </a:r>
            <a:r>
              <a:rPr lang="en-GB" sz="950" b="0">
                <a:solidFill>
                  <a:schemeClr val="tx1"/>
                </a:solidFill>
              </a:rPr>
              <a:t> </a:t>
            </a:r>
            <a:r>
              <a:rPr lang="en-GB" sz="950" b="0"/>
              <a:t>driven by revenue growth.</a:t>
            </a:r>
          </a:p>
          <a:p>
            <a:pPr lvl="3" algn="just">
              <a:buClr>
                <a:srgbClr val="7A1F5E"/>
              </a:buClr>
            </a:pPr>
            <a:r>
              <a:rPr lang="en-GB" sz="950"/>
              <a:t>Net income Group share: €625m, +164% | Adjusted net income Group share: €754m, +14%</a:t>
            </a:r>
          </a:p>
          <a:p>
            <a:pPr lvl="4" algn="just"/>
            <a:r>
              <a:rPr lang="en-US" sz="900">
                <a:solidFill>
                  <a:schemeClr val="tx1"/>
                </a:solidFill>
              </a:rPr>
              <a:t>The increase in net income Group share takes into account the increase in value of the listed investments in Spotify and Tencent Music (financial income of €313m compared to financial expense of -€567m in H1 2022).</a:t>
            </a:r>
            <a:r>
              <a:rPr lang="en-GB" sz="900">
                <a:solidFill>
                  <a:schemeClr val="tx1"/>
                </a:solidFill>
              </a:rPr>
              <a:t> Net income Group share adjusted for these items, other items not related to financing and catalogue depreciation </a:t>
            </a:r>
            <a:r>
              <a:rPr lang="en-US" sz="900">
                <a:solidFill>
                  <a:schemeClr val="tx1"/>
                </a:solidFill>
              </a:rPr>
              <a:t>and stock-based compensation net of tax </a:t>
            </a:r>
            <a:r>
              <a:rPr lang="en-GB" sz="900">
                <a:solidFill>
                  <a:schemeClr val="tx1"/>
                </a:solidFill>
              </a:rPr>
              <a:t>was €754m, i.e. up 14% compared to 2022. </a:t>
            </a:r>
          </a:p>
          <a:p>
            <a:pPr lvl="4" algn="just"/>
            <a:r>
              <a:rPr lang="en-US" sz="900">
                <a:solidFill>
                  <a:schemeClr val="tx1"/>
                </a:solidFill>
              </a:rPr>
              <a:t>An interim dividend of €0.24 per share (i.e. €437 million) will be paid on October 27, 2023. </a:t>
            </a:r>
            <a:endParaRPr lang="en-GB" sz="900">
              <a:solidFill>
                <a:schemeClr val="tx1"/>
              </a:solidFill>
              <a:highlight>
                <a:srgbClr val="FFFF00"/>
              </a:highlight>
            </a:endParaRPr>
          </a:p>
          <a:p>
            <a:pPr lvl="4"/>
            <a:endParaRPr lang="fr-FR">
              <a:solidFill>
                <a:schemeClr val="tx1"/>
              </a:solidFill>
              <a:highlight>
                <a:srgbClr val="FFFF00"/>
              </a:highlight>
            </a:endParaRPr>
          </a:p>
        </p:txBody>
      </p:sp>
      <p:sp>
        <p:nvSpPr>
          <p:cNvPr id="4" name="Espace réservé du numéro de diapositive 3">
            <a:extLst>
              <a:ext uri="{FF2B5EF4-FFF2-40B4-BE49-F238E27FC236}">
                <a16:creationId xmlns:a16="http://schemas.microsoft.com/office/drawing/2014/main" id="{02FB7B50-F85A-4CFE-B134-526CF17ECEA1}"/>
              </a:ext>
            </a:extLst>
          </p:cNvPr>
          <p:cNvSpPr>
            <a:spLocks noGrp="1"/>
          </p:cNvSpPr>
          <p:nvPr>
            <p:ph type="sldNum" sz="quarter" idx="12"/>
          </p:nvPr>
        </p:nvSpPr>
        <p:spPr/>
        <p:txBody>
          <a:bodyPr/>
          <a:lstStyle/>
          <a:p>
            <a:fld id="{304318A0-AD76-4461-B655-8B1A266EB0A2}" type="slidenum">
              <a:rPr lang="fr-FR" smtClean="0"/>
              <a:t>23</a:t>
            </a:fld>
            <a:endParaRPr lang="fr-FR"/>
          </a:p>
        </p:txBody>
      </p:sp>
    </p:spTree>
    <p:extLst>
      <p:ext uri="{BB962C8B-B14F-4D97-AF65-F5344CB8AC3E}">
        <p14:creationId xmlns:p14="http://schemas.microsoft.com/office/powerpoint/2010/main" val="133591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120652" y="163176"/>
            <a:ext cx="6251549" cy="320400"/>
          </a:xfrm>
        </p:spPr>
        <p:txBody>
          <a:bodyPr vert="horz" lIns="91440" tIns="0" rIns="91440" bIns="0" rtlCol="0" anchor="t">
            <a:noAutofit/>
          </a:bodyPr>
          <a:lstStyle/>
          <a:p>
            <a:r>
              <a:rPr lang="en-US" sz="1800"/>
              <a:t>INDUSTRY</a:t>
            </a:r>
          </a:p>
        </p:txBody>
      </p:sp>
      <p:sp>
        <p:nvSpPr>
          <p:cNvPr id="9" name="Espace réservé du texte 8"/>
          <p:cNvSpPr>
            <a:spLocks noGrp="1"/>
          </p:cNvSpPr>
          <p:nvPr>
            <p:ph type="body" sz="quarter" idx="15"/>
          </p:nvPr>
        </p:nvSpPr>
        <p:spPr>
          <a:xfrm>
            <a:off x="120652" y="502900"/>
            <a:ext cx="6251549" cy="215900"/>
          </a:xfrm>
        </p:spPr>
        <p:txBody>
          <a:bodyPr vert="horz" lIns="91440" tIns="0" rIns="91440" bIns="0" rtlCol="0" anchor="ctr">
            <a:noAutofit/>
          </a:bodyPr>
          <a:lstStyle/>
          <a:p>
            <a:endParaRPr lang="en-US" sz="1200">
              <a:solidFill>
                <a:srgbClr val="0095DB"/>
              </a:solidFill>
              <a:latin typeface="Arial" panose="020B0604020202020204" pitchFamily="34" charset="0"/>
              <a:cs typeface="Arial" panose="020B0604020202020204" pitchFamily="34" charset="0"/>
            </a:endParaRPr>
          </a:p>
        </p:txBody>
      </p:sp>
      <p:sp>
        <p:nvSpPr>
          <p:cNvPr id="7" name="Espace réservé du contenu 4">
            <a:extLst>
              <a:ext uri="{FF2B5EF4-FFF2-40B4-BE49-F238E27FC236}">
                <a16:creationId xmlns:a16="http://schemas.microsoft.com/office/drawing/2014/main" id="{828A5CFB-EA6B-4AFE-9872-AC2F17261D5E}"/>
              </a:ext>
            </a:extLst>
          </p:cNvPr>
          <p:cNvSpPr txBox="1">
            <a:spLocks/>
          </p:cNvSpPr>
          <p:nvPr/>
        </p:nvSpPr>
        <p:spPr>
          <a:xfrm>
            <a:off x="120651" y="2426739"/>
            <a:ext cx="8174263" cy="1770222"/>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r>
              <a:rPr lang="en-US"/>
              <a:t>Revenue: -28% </a:t>
            </a:r>
            <a:r>
              <a:rPr lang="en-US" b="0"/>
              <a:t>at constant scope and exchange rates.</a:t>
            </a:r>
          </a:p>
          <a:p>
            <a:pPr marL="180000" lvl="4" indent="0" algn="just">
              <a:buFont typeface="Arial" panose="020B0604020202020204" pitchFamily="34" charset="0"/>
              <a:buNone/>
            </a:pPr>
            <a:r>
              <a:rPr lang="en-US">
                <a:solidFill>
                  <a:schemeClr val="tx1"/>
                </a:solidFill>
              </a:rPr>
              <a:t>Activity remains sluggish in the Blue division (buses and batteries) and volumes in the Films business are down. However, Systems activities, driven by dedicated terminals and Polyconseil, grew by +3%.</a:t>
            </a:r>
          </a:p>
          <a:p>
            <a:pPr marL="180000" lvl="4" indent="0" algn="just">
              <a:buFont typeface="Arial" panose="020B0604020202020204" pitchFamily="34" charset="0"/>
              <a:buNone/>
            </a:pPr>
            <a:endParaRPr lang="en-US">
              <a:solidFill>
                <a:schemeClr val="tx1"/>
              </a:solidFill>
            </a:endParaRPr>
          </a:p>
          <a:p>
            <a:pPr lvl="3" algn="just"/>
            <a:r>
              <a:rPr lang="en-US"/>
              <a:t>EBITA: -€53m, </a:t>
            </a:r>
            <a:r>
              <a:rPr lang="en-US" b="0"/>
              <a:t>up +€5m on a reported basis compared to 2022, due to the decline in activity in batteries and films activity.</a:t>
            </a:r>
          </a:p>
        </p:txBody>
      </p:sp>
      <p:pic>
        <p:nvPicPr>
          <p:cNvPr id="3" name="Image 2">
            <a:extLst>
              <a:ext uri="{FF2B5EF4-FFF2-40B4-BE49-F238E27FC236}">
                <a16:creationId xmlns:a16="http://schemas.microsoft.com/office/drawing/2014/main" id="{A3FDAC5C-7F25-470E-8D08-796395FE653D}"/>
              </a:ext>
            </a:extLst>
          </p:cNvPr>
          <p:cNvPicPr>
            <a:picLocks noChangeAspect="1"/>
          </p:cNvPicPr>
          <p:nvPr>
            <p:custDataLst>
              <p:tags r:id="rId3"/>
            </p:custDataLst>
          </p:nvPr>
        </p:nvPicPr>
        <p:blipFill>
          <a:blip r:embed="rId5"/>
          <a:stretch>
            <a:fillRect/>
          </a:stretch>
        </p:blipFill>
        <p:spPr>
          <a:xfrm>
            <a:off x="323219" y="1143450"/>
            <a:ext cx="5719760" cy="1074281"/>
          </a:xfrm>
          <a:prstGeom prst="rect">
            <a:avLst/>
          </a:prstGeom>
        </p:spPr>
      </p:pic>
      <p:sp>
        <p:nvSpPr>
          <p:cNvPr id="4" name="Espace réservé du numéro de diapositive 3">
            <a:extLst>
              <a:ext uri="{FF2B5EF4-FFF2-40B4-BE49-F238E27FC236}">
                <a16:creationId xmlns:a16="http://schemas.microsoft.com/office/drawing/2014/main" id="{949209B0-422F-4527-872A-6F2AB58CB004}"/>
              </a:ext>
            </a:extLst>
          </p:cNvPr>
          <p:cNvSpPr>
            <a:spLocks noGrp="1"/>
          </p:cNvSpPr>
          <p:nvPr>
            <p:ph type="sldNum" sz="quarter" idx="12"/>
          </p:nvPr>
        </p:nvSpPr>
        <p:spPr/>
        <p:txBody>
          <a:bodyPr/>
          <a:lstStyle/>
          <a:p>
            <a:fld id="{304318A0-AD76-4461-B655-8B1A266EB0A2}" type="slidenum">
              <a:rPr lang="fr-FR" smtClean="0"/>
              <a:t>24</a:t>
            </a:fld>
            <a:endParaRPr lang="fr-FR"/>
          </a:p>
        </p:txBody>
      </p:sp>
    </p:spTree>
    <p:custDataLst>
      <p:tags r:id="rId2"/>
    </p:custDataLst>
    <p:extLst>
      <p:ext uri="{BB962C8B-B14F-4D97-AF65-F5344CB8AC3E}">
        <p14:creationId xmlns:p14="http://schemas.microsoft.com/office/powerpoint/2010/main" val="4023096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120652" y="152644"/>
            <a:ext cx="6251549" cy="320400"/>
          </a:xfrm>
        </p:spPr>
        <p:txBody>
          <a:bodyPr vert="horz" lIns="91440" tIns="0" rIns="91440" bIns="0" rtlCol="0" anchor="t">
            <a:noAutofit/>
          </a:bodyPr>
          <a:lstStyle/>
          <a:p>
            <a:r>
              <a:rPr lang="en-US" sz="1800"/>
              <a:t>industry</a:t>
            </a:r>
          </a:p>
        </p:txBody>
      </p:sp>
      <p:sp>
        <p:nvSpPr>
          <p:cNvPr id="14" name="Espace réservé du contenu 4">
            <a:extLst>
              <a:ext uri="{FF2B5EF4-FFF2-40B4-BE49-F238E27FC236}">
                <a16:creationId xmlns:a16="http://schemas.microsoft.com/office/drawing/2014/main" id="{36011663-B023-4384-83EB-008D5AF5D8EB}"/>
              </a:ext>
            </a:extLst>
          </p:cNvPr>
          <p:cNvSpPr txBox="1">
            <a:spLocks/>
          </p:cNvSpPr>
          <p:nvPr/>
        </p:nvSpPr>
        <p:spPr>
          <a:xfrm>
            <a:off x="134262" y="2705052"/>
            <a:ext cx="8542194" cy="65061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lgn="just">
              <a:spcBef>
                <a:spcPts val="200"/>
              </a:spcBef>
              <a:spcAft>
                <a:spcPts val="200"/>
              </a:spcAft>
              <a:buClr>
                <a:schemeClr val="accent1"/>
              </a:buClr>
            </a:pPr>
            <a:r>
              <a:rPr lang="en-US" b="0"/>
              <a:t>Decline in packaging films and dielectric activity in the first half of 2023 (-19.5%), which started in the second half of 2022, due to the slowdown in consumption in Europe and the USA and a difficult competitive environment. The impact of lower volumes is mitigated by a price increase implemented in 2022 on all products to offset inflation in raw material costs. </a:t>
            </a:r>
          </a:p>
        </p:txBody>
      </p:sp>
      <p:sp>
        <p:nvSpPr>
          <p:cNvPr id="15" name="Espace réservé du contenu 4">
            <a:extLst>
              <a:ext uri="{FF2B5EF4-FFF2-40B4-BE49-F238E27FC236}">
                <a16:creationId xmlns:a16="http://schemas.microsoft.com/office/drawing/2014/main" id="{0FED41A4-2B28-4C7C-A0C8-DD873A1114DB}"/>
              </a:ext>
            </a:extLst>
          </p:cNvPr>
          <p:cNvSpPr txBox="1">
            <a:spLocks/>
          </p:cNvSpPr>
          <p:nvPr/>
        </p:nvSpPr>
        <p:spPr>
          <a:xfrm>
            <a:off x="105234" y="749030"/>
            <a:ext cx="8151982" cy="1639282"/>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lang="fr-FR" sz="1000" b="1" kern="1200" cap="all" baseline="0" smtClean="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lang="fr-FR" sz="1000" b="1" kern="1200" smtClean="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lang="fr-FR" sz="1000" kern="1200" smtClean="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lang="fr-FR" sz="1000" b="1" i="0" kern="1200" smtClean="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lang="fr-F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spcBef>
                <a:spcPts val="200"/>
              </a:spcBef>
              <a:spcAft>
                <a:spcPts val="200"/>
              </a:spcAft>
              <a:buClr>
                <a:schemeClr val="accent1"/>
              </a:buClr>
            </a:pPr>
            <a:r>
              <a:rPr lang="en-GB"/>
              <a:t>Batteries (Blue Solutions)</a:t>
            </a:r>
          </a:p>
          <a:p>
            <a:pPr lvl="4" algn="just">
              <a:spcBef>
                <a:spcPts val="200"/>
              </a:spcBef>
              <a:spcAft>
                <a:spcPts val="200"/>
              </a:spcAft>
            </a:pPr>
            <a:r>
              <a:rPr lang="en-US">
                <a:solidFill>
                  <a:schemeClr val="tx1"/>
                </a:solidFill>
              </a:rPr>
              <a:t>Continued development of the new generation of battery (Gen4) intended for the automotive market</a:t>
            </a:r>
            <a:r>
              <a:rPr lang="en-GB">
                <a:solidFill>
                  <a:schemeClr val="tx1"/>
                </a:solidFill>
              </a:rPr>
              <a:t>.</a:t>
            </a:r>
          </a:p>
          <a:p>
            <a:pPr lvl="3">
              <a:spcBef>
                <a:spcPts val="600"/>
              </a:spcBef>
              <a:spcAft>
                <a:spcPts val="200"/>
              </a:spcAft>
              <a:buClr>
                <a:schemeClr val="accent1"/>
              </a:buClr>
            </a:pPr>
            <a:r>
              <a:rPr lang="en-GB"/>
              <a:t>Bluebus</a:t>
            </a:r>
          </a:p>
          <a:p>
            <a:pPr lvl="4" algn="just">
              <a:spcBef>
                <a:spcPts val="200"/>
              </a:spcBef>
              <a:spcAft>
                <a:spcPts val="200"/>
              </a:spcAft>
            </a:pPr>
            <a:r>
              <a:rPr lang="en-US">
                <a:solidFill>
                  <a:schemeClr val="tx1"/>
                </a:solidFill>
              </a:rPr>
              <a:t>Sale of 9 buses of 6 </a:t>
            </a:r>
            <a:r>
              <a:rPr lang="en-US" err="1">
                <a:solidFill>
                  <a:schemeClr val="tx1"/>
                </a:solidFill>
              </a:rPr>
              <a:t>metres</a:t>
            </a:r>
            <a:r>
              <a:rPr lang="en-US">
                <a:solidFill>
                  <a:schemeClr val="tx1"/>
                </a:solidFill>
              </a:rPr>
              <a:t> in the first half of 2023 compared to 7 buses of 6 </a:t>
            </a:r>
            <a:r>
              <a:rPr lang="en-US" err="1">
                <a:solidFill>
                  <a:schemeClr val="tx1"/>
                </a:solidFill>
              </a:rPr>
              <a:t>metres</a:t>
            </a:r>
            <a:r>
              <a:rPr lang="en-US">
                <a:solidFill>
                  <a:schemeClr val="tx1"/>
                </a:solidFill>
              </a:rPr>
              <a:t> and 56 buses of 12 </a:t>
            </a:r>
            <a:r>
              <a:rPr lang="en-US" err="1">
                <a:solidFill>
                  <a:schemeClr val="tx1"/>
                </a:solidFill>
              </a:rPr>
              <a:t>metres</a:t>
            </a:r>
            <a:r>
              <a:rPr lang="en-US">
                <a:solidFill>
                  <a:schemeClr val="tx1"/>
                </a:solidFill>
              </a:rPr>
              <a:t> in the first half of 2022.</a:t>
            </a:r>
            <a:endParaRPr lang="en-GB">
              <a:solidFill>
                <a:schemeClr val="tx1"/>
              </a:solidFill>
            </a:endParaRPr>
          </a:p>
          <a:p>
            <a:pPr lvl="3" algn="just">
              <a:spcBef>
                <a:spcPts val="600"/>
              </a:spcBef>
              <a:spcAft>
                <a:spcPts val="200"/>
              </a:spcAft>
            </a:pPr>
            <a:endParaRPr lang="en-GB">
              <a:solidFill>
                <a:schemeClr val="tx1"/>
              </a:solidFill>
            </a:endParaRPr>
          </a:p>
        </p:txBody>
      </p:sp>
      <p:sp>
        <p:nvSpPr>
          <p:cNvPr id="8" name="Espace réservé du texte 6">
            <a:extLst>
              <a:ext uri="{FF2B5EF4-FFF2-40B4-BE49-F238E27FC236}">
                <a16:creationId xmlns:a16="http://schemas.microsoft.com/office/drawing/2014/main" id="{81C51CE7-502C-48EA-B03F-0574F2568390}"/>
              </a:ext>
            </a:extLst>
          </p:cNvPr>
          <p:cNvSpPr>
            <a:spLocks noGrp="1"/>
          </p:cNvSpPr>
          <p:nvPr>
            <p:ph type="body" sz="quarter" idx="15"/>
          </p:nvPr>
        </p:nvSpPr>
        <p:spPr>
          <a:xfrm>
            <a:off x="107951" y="509988"/>
            <a:ext cx="8926512" cy="215900"/>
          </a:xfrm>
        </p:spPr>
        <p:txBody>
          <a:bodyPr vert="horz" lIns="91440" tIns="0" rIns="91440" bIns="0" rtlCol="0" anchor="ctr">
            <a:noAutofit/>
          </a:bodyPr>
          <a:lstStyle/>
          <a:p>
            <a:r>
              <a:rPr lang="fr-FR" sz="1000" b="1" err="1">
                <a:solidFill>
                  <a:schemeClr val="accent1"/>
                </a:solidFill>
              </a:rPr>
              <a:t>blue</a:t>
            </a:r>
            <a:endParaRPr lang="fr-FR" sz="1000" b="1">
              <a:solidFill>
                <a:schemeClr val="accent1"/>
              </a:solidFill>
            </a:endParaRPr>
          </a:p>
        </p:txBody>
      </p:sp>
      <p:sp>
        <p:nvSpPr>
          <p:cNvPr id="10" name="Espace réservé du texte 6">
            <a:extLst>
              <a:ext uri="{FF2B5EF4-FFF2-40B4-BE49-F238E27FC236}">
                <a16:creationId xmlns:a16="http://schemas.microsoft.com/office/drawing/2014/main" id="{DAD1A542-6001-440B-A3E7-501C15DDD02C}"/>
              </a:ext>
            </a:extLst>
          </p:cNvPr>
          <p:cNvSpPr txBox="1">
            <a:spLocks/>
          </p:cNvSpPr>
          <p:nvPr/>
        </p:nvSpPr>
        <p:spPr>
          <a:xfrm>
            <a:off x="107951" y="2493372"/>
            <a:ext cx="8926512" cy="215900"/>
          </a:xfrm>
          <a:prstGeom prst="rect">
            <a:avLst/>
          </a:prstGeom>
        </p:spPr>
        <p:txBody>
          <a:bodyPr vert="horz" lIns="91440" tIns="0" rIns="91440" bIns="0" rtlCol="0" anchor="ctr">
            <a:noAutofit/>
          </a:bodyPr>
          <a:lstStyle>
            <a:lvl1pPr indent="0">
              <a:lnSpc>
                <a:spcPct val="100000"/>
              </a:lnSpc>
              <a:spcBef>
                <a:spcPts val="0"/>
              </a:spcBef>
              <a:spcAft>
                <a:spcPts val="300"/>
              </a:spcAft>
              <a:buSzPct val="110000"/>
              <a:buFontTx/>
              <a:buNone/>
              <a:defRPr sz="1400" b="0" cap="all" baseline="0">
                <a:solidFill>
                  <a:schemeClr val="accent1"/>
                </a:solidFill>
                <a:latin typeface="+mj-lt"/>
              </a:defRPr>
            </a:lvl1pPr>
            <a:lvl2pPr marL="0" indent="0">
              <a:lnSpc>
                <a:spcPct val="100000"/>
              </a:lnSpc>
              <a:spcBef>
                <a:spcPts val="300"/>
              </a:spcBef>
              <a:spcAft>
                <a:spcPts val="300"/>
              </a:spcAft>
              <a:buClr>
                <a:srgbClr val="808080"/>
              </a:buClr>
              <a:buFont typeface="Wingdings" panose="05000000000000000000" pitchFamily="2" charset="2"/>
              <a:buNone/>
              <a:defRPr sz="1000" b="1">
                <a:latin typeface="+mj-lt"/>
              </a:defRPr>
            </a:lvl2pPr>
            <a:lvl3pPr marL="0" indent="0">
              <a:lnSpc>
                <a:spcPct val="100000"/>
              </a:lnSpc>
              <a:spcBef>
                <a:spcPts val="300"/>
              </a:spcBef>
              <a:spcAft>
                <a:spcPts val="300"/>
              </a:spcAft>
              <a:buClr>
                <a:srgbClr val="808080"/>
              </a:buClr>
              <a:buFont typeface="Calibri Light" panose="020F0302020204030204" pitchFamily="34" charset="0"/>
              <a:buNone/>
              <a:defRPr sz="1000"/>
            </a:lvl3pPr>
            <a:lvl4pPr marL="180000" indent="-180000">
              <a:lnSpc>
                <a:spcPct val="100000"/>
              </a:lnSpc>
              <a:spcBef>
                <a:spcPts val="300"/>
              </a:spcBef>
              <a:spcAft>
                <a:spcPts val="100"/>
              </a:spcAft>
              <a:buClr>
                <a:schemeClr val="tx2"/>
              </a:buClr>
              <a:buSzPct val="90000"/>
              <a:buFont typeface="Wingdings" panose="05000000000000000000" pitchFamily="2" charset="2"/>
              <a:buChar char="§"/>
              <a:defRPr sz="1000" b="1" i="0"/>
            </a:lvl4pPr>
            <a:lvl5pPr marL="360000" indent="-180000">
              <a:lnSpc>
                <a:spcPct val="100000"/>
              </a:lnSpc>
              <a:spcBef>
                <a:spcPts val="100"/>
              </a:spcBef>
              <a:spcAft>
                <a:spcPts val="100"/>
              </a:spcAft>
              <a:buClr>
                <a:srgbClr val="808080"/>
              </a:buClr>
              <a:buSzPct val="80000"/>
              <a:buFont typeface="Arial" panose="020B0604020202020204" pitchFamily="34" charset="0"/>
              <a:buChar char="•"/>
              <a:defRPr sz="1000" i="0">
                <a:solidFill>
                  <a:srgbClr val="595959"/>
                </a:solidFill>
              </a:defRPr>
            </a:lvl5pPr>
            <a:lvl6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6pPr>
            <a:lvl7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7pPr>
            <a:lvl8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8pPr>
            <a:lvl9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9pPr>
          </a:lstStyle>
          <a:p>
            <a:r>
              <a:rPr lang="fr-FR" sz="1000" b="1"/>
              <a:t>FILMS</a:t>
            </a:r>
          </a:p>
        </p:txBody>
      </p:sp>
      <p:sp>
        <p:nvSpPr>
          <p:cNvPr id="4" name="Espace réservé du numéro de diapositive 3">
            <a:extLst>
              <a:ext uri="{FF2B5EF4-FFF2-40B4-BE49-F238E27FC236}">
                <a16:creationId xmlns:a16="http://schemas.microsoft.com/office/drawing/2014/main" id="{696E9038-262E-4538-8515-A97191051FF7}"/>
              </a:ext>
            </a:extLst>
          </p:cNvPr>
          <p:cNvSpPr>
            <a:spLocks noGrp="1"/>
          </p:cNvSpPr>
          <p:nvPr>
            <p:ph type="sldNum" sz="quarter" idx="12"/>
          </p:nvPr>
        </p:nvSpPr>
        <p:spPr/>
        <p:txBody>
          <a:bodyPr/>
          <a:lstStyle/>
          <a:p>
            <a:fld id="{304318A0-AD76-4461-B655-8B1A266EB0A2}" type="slidenum">
              <a:rPr lang="fr-FR" smtClean="0"/>
              <a:t>25</a:t>
            </a:fld>
            <a:endParaRPr lang="fr-FR"/>
          </a:p>
        </p:txBody>
      </p:sp>
    </p:spTree>
    <p:custDataLst>
      <p:tags r:id="rId2"/>
    </p:custDataLst>
    <p:extLst>
      <p:ext uri="{BB962C8B-B14F-4D97-AF65-F5344CB8AC3E}">
        <p14:creationId xmlns:p14="http://schemas.microsoft.com/office/powerpoint/2010/main" val="4177876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texte 5">
            <a:extLst>
              <a:ext uri="{FF2B5EF4-FFF2-40B4-BE49-F238E27FC236}">
                <a16:creationId xmlns:a16="http://schemas.microsoft.com/office/drawing/2014/main" id="{78513025-5646-4639-A9C1-C4A2C6620AB5}"/>
              </a:ext>
            </a:extLst>
          </p:cNvPr>
          <p:cNvSpPr txBox="1">
            <a:spLocks/>
          </p:cNvSpPr>
          <p:nvPr/>
        </p:nvSpPr>
        <p:spPr>
          <a:xfrm>
            <a:off x="96067" y="622413"/>
            <a:ext cx="8926512" cy="215900"/>
          </a:xfrm>
          <a:prstGeom prst="rect">
            <a:avLst/>
          </a:prstGeom>
        </p:spPr>
        <p:txBody>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sz="1000" b="1" kern="1200" cap="all" baseline="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sz="1000" b="1" kern="120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sz="1000" kern="120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sz="1000" b="1" i="0" kern="120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r>
              <a:rPr lang="fr-FR" err="1">
                <a:solidFill>
                  <a:schemeClr val="accent1"/>
                </a:solidFill>
              </a:rPr>
              <a:t>systEmS</a:t>
            </a:r>
            <a:endParaRPr lang="fr-FR">
              <a:solidFill>
                <a:schemeClr val="accent1"/>
              </a:solidFill>
            </a:endParaRPr>
          </a:p>
        </p:txBody>
      </p:sp>
      <p:sp>
        <p:nvSpPr>
          <p:cNvPr id="7" name="Titre 6"/>
          <p:cNvSpPr>
            <a:spLocks noGrp="1"/>
          </p:cNvSpPr>
          <p:nvPr>
            <p:ph type="title"/>
          </p:nvPr>
        </p:nvSpPr>
        <p:spPr>
          <a:xfrm>
            <a:off x="120651" y="163176"/>
            <a:ext cx="6251549" cy="320400"/>
          </a:xfrm>
        </p:spPr>
        <p:txBody>
          <a:bodyPr vert="horz" lIns="91440" tIns="0" rIns="91440" bIns="0" rtlCol="0" anchor="t">
            <a:noAutofit/>
          </a:bodyPr>
          <a:lstStyle/>
          <a:p>
            <a:r>
              <a:rPr lang="en-US" sz="1800"/>
              <a:t>industry</a:t>
            </a:r>
          </a:p>
        </p:txBody>
      </p:sp>
      <p:sp>
        <p:nvSpPr>
          <p:cNvPr id="6" name="Espace réservé du contenu 4">
            <a:extLst>
              <a:ext uri="{FF2B5EF4-FFF2-40B4-BE49-F238E27FC236}">
                <a16:creationId xmlns:a16="http://schemas.microsoft.com/office/drawing/2014/main" id="{96067284-F738-4E6D-BADE-2FB5C9619F02}"/>
              </a:ext>
            </a:extLst>
          </p:cNvPr>
          <p:cNvSpPr txBox="1">
            <a:spLocks/>
          </p:cNvSpPr>
          <p:nvPr/>
        </p:nvSpPr>
        <p:spPr>
          <a:xfrm>
            <a:off x="120651" y="1131590"/>
            <a:ext cx="8174262" cy="3816424"/>
          </a:xfrm>
          <a:prstGeom prst="rect">
            <a:avLst/>
          </a:prstGeom>
        </p:spPr>
        <p:txBody>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sz="1000" b="1" kern="1200" cap="all" baseline="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sz="1000" b="1" kern="120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sz="1000" kern="120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sz="1000" b="1" i="0" kern="120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lvl="3">
              <a:buClr>
                <a:schemeClr val="accent1"/>
              </a:buClr>
            </a:pPr>
            <a:r>
              <a:rPr lang="en-GB" sz="900"/>
              <a:t>IER / Automatic Systems</a:t>
            </a:r>
          </a:p>
          <a:p>
            <a:pPr lvl="4" algn="just">
              <a:spcAft>
                <a:spcPts val="300"/>
              </a:spcAft>
            </a:pPr>
            <a:r>
              <a:rPr lang="en-US" sz="900">
                <a:solidFill>
                  <a:schemeClr val="tx1"/>
                </a:solidFill>
              </a:rPr>
              <a:t>Good growth in sales at IER, whose turnover increased by 27%. It benefited in particular from the dynamism of the Easier business thanks to the marketing of its new range of products that secure and facilitate passenger flows at airports, the sale of multi-service postal kiosks, and the launch of automatic ticket vending machines for public transport operators.</a:t>
            </a:r>
          </a:p>
          <a:p>
            <a:pPr lvl="4" algn="just">
              <a:spcAft>
                <a:spcPts val="300"/>
              </a:spcAft>
            </a:pPr>
            <a:r>
              <a:rPr lang="en-US" sz="900">
                <a:solidFill>
                  <a:schemeClr val="tx1"/>
                </a:solidFill>
              </a:rPr>
              <a:t>The launch of the Easier brand and solutions continues to demonstrate its relevance, with the winning of major public transport and air sector tenders combining products and services from AS and IER.</a:t>
            </a:r>
          </a:p>
          <a:p>
            <a:pPr lvl="4" algn="just">
              <a:spcAft>
                <a:spcPts val="300"/>
              </a:spcAft>
            </a:pPr>
            <a:r>
              <a:rPr lang="en-US" sz="900">
                <a:solidFill>
                  <a:schemeClr val="tx1"/>
                </a:solidFill>
              </a:rPr>
              <a:t>Decline in the Automatic Systems (AS) activity, mainly due to the decline in the Passengers, Pedestrians and Services segment, which was only partially offset by the growth in vehicles activity.</a:t>
            </a:r>
          </a:p>
          <a:p>
            <a:pPr marL="180000" lvl="4" indent="0" algn="just">
              <a:spcAft>
                <a:spcPts val="300"/>
              </a:spcAft>
              <a:buNone/>
            </a:pPr>
            <a:r>
              <a:rPr lang="en-GB" sz="900">
                <a:solidFill>
                  <a:schemeClr val="tx1"/>
                </a:solidFill>
              </a:rPr>
              <a:t>     </a:t>
            </a:r>
          </a:p>
          <a:p>
            <a:pPr lvl="3" algn="just">
              <a:spcBef>
                <a:spcPts val="600"/>
              </a:spcBef>
              <a:buClr>
                <a:schemeClr val="accent1"/>
              </a:buClr>
            </a:pPr>
            <a:r>
              <a:rPr lang="en-GB" sz="900"/>
              <a:t>Polyconseil</a:t>
            </a:r>
          </a:p>
          <a:p>
            <a:pPr marL="180000" lvl="4" indent="0" algn="just">
              <a:spcAft>
                <a:spcPts val="300"/>
              </a:spcAft>
              <a:buFont typeface="Arial" panose="020B0604020202020204" pitchFamily="34" charset="0"/>
              <a:buNone/>
            </a:pPr>
            <a:r>
              <a:rPr lang="en-US" sz="900">
                <a:solidFill>
                  <a:schemeClr val="tx1"/>
                </a:solidFill>
              </a:rPr>
              <a:t>Good level of activity still driven by strong growth in assignments to support clients in their digital transformation process and by the marketing of a SaaS solution allowing the management of flexible and agile organizations.</a:t>
            </a:r>
            <a:endParaRPr lang="en-GB" sz="900">
              <a:solidFill>
                <a:schemeClr val="tx1"/>
              </a:solidFill>
            </a:endParaRPr>
          </a:p>
        </p:txBody>
      </p:sp>
      <p:sp>
        <p:nvSpPr>
          <p:cNvPr id="4" name="Espace réservé du numéro de diapositive 3">
            <a:extLst>
              <a:ext uri="{FF2B5EF4-FFF2-40B4-BE49-F238E27FC236}">
                <a16:creationId xmlns:a16="http://schemas.microsoft.com/office/drawing/2014/main" id="{6AFA84DA-49F0-4035-9896-8C7A0FC92E3B}"/>
              </a:ext>
            </a:extLst>
          </p:cNvPr>
          <p:cNvSpPr>
            <a:spLocks noGrp="1"/>
          </p:cNvSpPr>
          <p:nvPr>
            <p:ph type="sldNum" sz="quarter" idx="12"/>
          </p:nvPr>
        </p:nvSpPr>
        <p:spPr/>
        <p:txBody>
          <a:bodyPr/>
          <a:lstStyle/>
          <a:p>
            <a:fld id="{304318A0-AD76-4461-B655-8B1A266EB0A2}" type="slidenum">
              <a:rPr lang="fr-FR" smtClean="0"/>
              <a:t>26</a:t>
            </a:fld>
            <a:endParaRPr lang="fr-FR"/>
          </a:p>
        </p:txBody>
      </p:sp>
    </p:spTree>
    <p:custDataLst>
      <p:tags r:id="rId2"/>
    </p:custDataLst>
    <p:extLst>
      <p:ext uri="{BB962C8B-B14F-4D97-AF65-F5344CB8AC3E}">
        <p14:creationId xmlns:p14="http://schemas.microsoft.com/office/powerpoint/2010/main" val="3488632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DC5BE62-D2DE-4840-AAE5-3F9AD87E9795}"/>
              </a:ext>
            </a:extLst>
          </p:cNvPr>
          <p:cNvSpPr>
            <a:spLocks noGrp="1"/>
          </p:cNvSpPr>
          <p:nvPr>
            <p:ph type="title"/>
          </p:nvPr>
        </p:nvSpPr>
        <p:spPr/>
        <p:txBody>
          <a:bodyPr/>
          <a:lstStyle/>
          <a:p>
            <a:r>
              <a:rPr lang="en-US" sz="1800">
                <a:solidFill>
                  <a:srgbClr val="6C8CA6"/>
                </a:solidFill>
                <a:latin typeface="Arial" panose="020B0604020202020204" pitchFamily="34" charset="0"/>
                <a:cs typeface="Arial" panose="020B0604020202020204" pitchFamily="34" charset="0"/>
              </a:rPr>
              <a:t>Other assets</a:t>
            </a:r>
            <a:endParaRPr lang="en-US" sz="1800"/>
          </a:p>
        </p:txBody>
      </p:sp>
      <p:sp>
        <p:nvSpPr>
          <p:cNvPr id="26" name="ZoneTexte 25">
            <a:extLst>
              <a:ext uri="{FF2B5EF4-FFF2-40B4-BE49-F238E27FC236}">
                <a16:creationId xmlns:a16="http://schemas.microsoft.com/office/drawing/2014/main" id="{F651B9FB-F962-48E3-A7EA-16B481A53C74}"/>
              </a:ext>
            </a:extLst>
          </p:cNvPr>
          <p:cNvSpPr txBox="1"/>
          <p:nvPr/>
        </p:nvSpPr>
        <p:spPr>
          <a:xfrm>
            <a:off x="330201" y="4697000"/>
            <a:ext cx="8412355" cy="318656"/>
          </a:xfrm>
          <a:prstGeom prst="rect">
            <a:avLst/>
          </a:prstGeom>
        </p:spPr>
        <p:txBody>
          <a:bodyPr vert="horz" wrap="square" lIns="91440" tIns="45720" rIns="91440" bIns="45720" rtlCol="0">
            <a:noAutofit/>
          </a:bodyPr>
          <a:lstStyle/>
          <a:p>
            <a:pPr marL="228600" indent="-228600">
              <a:buAutoNum type="arabicParenBoth"/>
              <a:tabLst>
                <a:tab pos="268288" algn="l"/>
              </a:tabLst>
            </a:pPr>
            <a:r>
              <a:rPr lang="en-US" sz="700">
                <a:latin typeface="Arial" panose="020B0604020202020204" pitchFamily="34" charset="0"/>
                <a:cs typeface="Arial" panose="020B0604020202020204" pitchFamily="34" charset="0"/>
              </a:rPr>
              <a:t>18.1 %  by Compagnie de Cornouaille, wholly owned subsidiary of Bolloré SE, 0.33 % by Compagnie de l’Odet a and 9.98 % by Vivendi SE</a:t>
            </a:r>
          </a:p>
          <a:p>
            <a:pPr marL="228600" indent="-228600">
              <a:buAutoNum type="arabicParenBoth"/>
              <a:tabLst>
                <a:tab pos="268288" algn="l"/>
              </a:tabLst>
            </a:pPr>
            <a:r>
              <a:rPr lang="en-US" sz="700">
                <a:latin typeface="Arial" panose="020B0604020202020204" pitchFamily="34" charset="0"/>
                <a:cs typeface="Arial" panose="020B0604020202020204" pitchFamily="34" charset="0"/>
              </a:rPr>
              <a:t>Direct interest in Socfin</a:t>
            </a:r>
          </a:p>
        </p:txBody>
      </p:sp>
      <p:sp>
        <p:nvSpPr>
          <p:cNvPr id="27" name="Espace réservé du contenu 4">
            <a:extLst>
              <a:ext uri="{FF2B5EF4-FFF2-40B4-BE49-F238E27FC236}">
                <a16:creationId xmlns:a16="http://schemas.microsoft.com/office/drawing/2014/main" id="{5A46201C-3492-4225-B0DD-70F822E9EB02}"/>
              </a:ext>
            </a:extLst>
          </p:cNvPr>
          <p:cNvSpPr txBox="1">
            <a:spLocks/>
          </p:cNvSpPr>
          <p:nvPr/>
        </p:nvSpPr>
        <p:spPr>
          <a:xfrm>
            <a:off x="107951" y="1138194"/>
            <a:ext cx="8150678" cy="1359556"/>
          </a:xfrm>
          <a:prstGeom prst="rect">
            <a:avLst/>
          </a:prstGeom>
        </p:spPr>
        <p:txBody>
          <a:bodyPr/>
          <a:lstStyle>
            <a:lvl1pPr marL="0" indent="0" algn="l" defTabSz="685800" rtl="0" eaLnBrk="1" latinLnBrk="0" hangingPunct="1">
              <a:lnSpc>
                <a:spcPct val="100000"/>
              </a:lnSpc>
              <a:spcBef>
                <a:spcPts val="0"/>
              </a:spcBef>
              <a:spcAft>
                <a:spcPts val="300"/>
              </a:spcAft>
              <a:buSzPct val="110000"/>
              <a:buFont typeface="Wingdings" panose="05000000000000000000" pitchFamily="2" charset="2"/>
              <a:buNone/>
              <a:defRPr sz="1000" b="1" kern="1200" cap="all" baseline="0">
                <a:solidFill>
                  <a:schemeClr val="tx2"/>
                </a:solidFill>
                <a:latin typeface="+mj-lt"/>
                <a:ea typeface="+mn-ea"/>
                <a:cs typeface="+mn-cs"/>
              </a:defRPr>
            </a:lvl1pPr>
            <a:lvl2pPr marL="0" indent="0" algn="l" defTabSz="685800" rtl="0" eaLnBrk="1" latinLnBrk="0" hangingPunct="1">
              <a:lnSpc>
                <a:spcPct val="100000"/>
              </a:lnSpc>
              <a:spcBef>
                <a:spcPts val="300"/>
              </a:spcBef>
              <a:spcAft>
                <a:spcPts val="300"/>
              </a:spcAft>
              <a:buClr>
                <a:srgbClr val="808080"/>
              </a:buClr>
              <a:buFont typeface="Wingdings" panose="05000000000000000000" pitchFamily="2" charset="2"/>
              <a:buNone/>
              <a:defRPr sz="1000" b="1" kern="1200">
                <a:solidFill>
                  <a:schemeClr val="tx1"/>
                </a:solidFill>
                <a:latin typeface="+mj-lt"/>
                <a:ea typeface="+mn-ea"/>
                <a:cs typeface="+mn-cs"/>
              </a:defRPr>
            </a:lvl2pPr>
            <a:lvl3pPr marL="0" indent="0" algn="l" defTabSz="685800" rtl="0" eaLnBrk="1" latinLnBrk="0" hangingPunct="1">
              <a:lnSpc>
                <a:spcPct val="100000"/>
              </a:lnSpc>
              <a:spcBef>
                <a:spcPts val="300"/>
              </a:spcBef>
              <a:spcAft>
                <a:spcPts val="300"/>
              </a:spcAft>
              <a:buClr>
                <a:srgbClr val="808080"/>
              </a:buClr>
              <a:buFont typeface="Calibri Light" panose="020F0302020204030204" pitchFamily="34" charset="0"/>
              <a:buNone/>
              <a:defRPr sz="1000" kern="1200">
                <a:solidFill>
                  <a:schemeClr val="tx1"/>
                </a:solidFill>
                <a:latin typeface="+mn-lt"/>
                <a:ea typeface="+mn-ea"/>
                <a:cs typeface="+mn-cs"/>
              </a:defRPr>
            </a:lvl3pPr>
            <a:lvl4pPr marL="180000" indent="-180000" algn="l" defTabSz="685800" rtl="0" eaLnBrk="1" latinLnBrk="0" hangingPunct="1">
              <a:lnSpc>
                <a:spcPct val="100000"/>
              </a:lnSpc>
              <a:spcBef>
                <a:spcPts val="300"/>
              </a:spcBef>
              <a:spcAft>
                <a:spcPts val="100"/>
              </a:spcAft>
              <a:buClr>
                <a:schemeClr val="tx2"/>
              </a:buClr>
              <a:buSzPct val="90000"/>
              <a:buFont typeface="Wingdings" panose="05000000000000000000" pitchFamily="2" charset="2"/>
              <a:buChar char="§"/>
              <a:defRPr sz="1000" b="1" i="0" kern="1200">
                <a:solidFill>
                  <a:schemeClr val="tx1"/>
                </a:solidFill>
                <a:latin typeface="+mn-lt"/>
                <a:ea typeface="+mn-ea"/>
                <a:cs typeface="+mn-cs"/>
              </a:defRPr>
            </a:lvl4pPr>
            <a:lvl5pPr marL="360000" indent="-180000" algn="l" defTabSz="685800" rtl="0" eaLnBrk="1" latinLnBrk="0" hangingPunct="1">
              <a:lnSpc>
                <a:spcPct val="100000"/>
              </a:lnSpc>
              <a:spcBef>
                <a:spcPts val="100"/>
              </a:spcBef>
              <a:spcAft>
                <a:spcPts val="100"/>
              </a:spcAft>
              <a:buClr>
                <a:srgbClr val="808080"/>
              </a:buClr>
              <a:buSzPct val="80000"/>
              <a:buFont typeface="Arial" panose="020B0604020202020204" pitchFamily="34" charset="0"/>
              <a:buChar char="•"/>
              <a:defRPr sz="1000" i="0" kern="1200">
                <a:solidFill>
                  <a:srgbClr val="595959"/>
                </a:solidFill>
                <a:latin typeface="+mn-lt"/>
                <a:ea typeface="+mn-ea"/>
                <a:cs typeface="+mn-cs"/>
              </a:defRPr>
            </a:lvl5pPr>
            <a:lvl6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6pPr>
            <a:lvl7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7pPr>
            <a:lvl8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8pPr>
            <a:lvl9pPr marL="540000" indent="-180000" algn="l" defTabSz="685800" rtl="0" eaLnBrk="1" latinLnBrk="0" hangingPunct="1">
              <a:lnSpc>
                <a:spcPct val="100000"/>
              </a:lnSpc>
              <a:spcBef>
                <a:spcPts val="0"/>
              </a:spcBef>
              <a:spcAft>
                <a:spcPts val="0"/>
              </a:spcAft>
              <a:buClr>
                <a:srgbClr val="808080"/>
              </a:buClr>
              <a:buFont typeface="Arial" panose="020B0604020202020204" pitchFamily="34" charset="0"/>
              <a:buChar char="­"/>
              <a:defRPr sz="900" kern="1200">
                <a:solidFill>
                  <a:srgbClr val="595959"/>
                </a:solidFill>
                <a:latin typeface="+mn-lt"/>
                <a:ea typeface="+mn-ea"/>
                <a:cs typeface="+mn-cs"/>
              </a:defRPr>
            </a:lvl9pPr>
          </a:lstStyle>
          <a:p>
            <a:pPr marL="0" lvl="3" indent="0">
              <a:buNone/>
            </a:pPr>
            <a:r>
              <a:rPr lang="en-US"/>
              <a:t>Value of the portfolio of listed securities on June 30, 2023: €15.4bn. </a:t>
            </a:r>
          </a:p>
          <a:p>
            <a:pPr lvl="3" algn="just"/>
            <a:r>
              <a:rPr lang="en-US" b="0"/>
              <a:t>The portfolio includes the stakes held by Bolloré (Universal Music Group (UMG), Bigben Interactive, Socfin, etc.) for </a:t>
            </a:r>
            <a:r>
              <a:rPr lang="en-US"/>
              <a:t>€7.0bn </a:t>
            </a:r>
            <a:r>
              <a:rPr lang="en-US" b="0"/>
              <a:t>and by Vivendi (UMG, Lagardère, FL Entertainment (FLE), MultiChoice, Telecom Italia, </a:t>
            </a:r>
            <a:r>
              <a:rPr lang="en-US" b="0" err="1"/>
              <a:t>MediaForEurope</a:t>
            </a:r>
            <a:r>
              <a:rPr lang="en-US" b="0"/>
              <a:t>, etc.) for an amount of </a:t>
            </a:r>
            <a:r>
              <a:rPr lang="en-US"/>
              <a:t>€8.4bn</a:t>
            </a:r>
            <a:r>
              <a:rPr lang="en-US" b="0"/>
              <a:t>.</a:t>
            </a:r>
          </a:p>
          <a:p>
            <a:pPr marL="0" lvl="3" indent="0" algn="just">
              <a:buFont typeface="Wingdings" panose="05000000000000000000" pitchFamily="2" charset="2"/>
              <a:buNone/>
            </a:pPr>
            <a:endParaRPr lang="en-US" b="0"/>
          </a:p>
          <a:p>
            <a:pPr marL="0" lvl="3" indent="0" algn="just">
              <a:buFont typeface="Wingdings" panose="05000000000000000000" pitchFamily="2" charset="2"/>
              <a:buNone/>
            </a:pPr>
            <a:endParaRPr lang="en-US" b="0"/>
          </a:p>
        </p:txBody>
      </p:sp>
      <p:sp>
        <p:nvSpPr>
          <p:cNvPr id="28" name="Espace réservé du texte 5">
            <a:extLst>
              <a:ext uri="{FF2B5EF4-FFF2-40B4-BE49-F238E27FC236}">
                <a16:creationId xmlns:a16="http://schemas.microsoft.com/office/drawing/2014/main" id="{AD2930CB-976E-4544-AA4B-0454BA18FFD4}"/>
              </a:ext>
            </a:extLst>
          </p:cNvPr>
          <p:cNvSpPr txBox="1">
            <a:spLocks/>
          </p:cNvSpPr>
          <p:nvPr/>
        </p:nvSpPr>
        <p:spPr>
          <a:xfrm>
            <a:off x="121577" y="474766"/>
            <a:ext cx="8926512" cy="215900"/>
          </a:xfrm>
          <a:prstGeom prst="rect">
            <a:avLst/>
          </a:prstGeom>
        </p:spPr>
        <p:txBody>
          <a:bodyPr vert="horz" lIns="91440" tIns="0" rIns="91440" bIns="0" rtlCol="0" anchor="ctr">
            <a:noAutofit/>
          </a:bodyPr>
          <a:lstStyle>
            <a:lvl1pPr indent="0">
              <a:lnSpc>
                <a:spcPct val="100000"/>
              </a:lnSpc>
              <a:spcBef>
                <a:spcPts val="0"/>
              </a:spcBef>
              <a:spcAft>
                <a:spcPts val="300"/>
              </a:spcAft>
              <a:buSzPct val="110000"/>
              <a:buFontTx/>
              <a:buNone/>
              <a:defRPr sz="1200" b="0" cap="all" baseline="0">
                <a:solidFill>
                  <a:srgbClr val="0095DB"/>
                </a:solidFill>
                <a:latin typeface="Arial" panose="020B0604020202020204" pitchFamily="34" charset="0"/>
                <a:cs typeface="Arial" panose="020B0604020202020204" pitchFamily="34" charset="0"/>
              </a:defRPr>
            </a:lvl1pPr>
            <a:lvl2pPr marL="0" indent="0">
              <a:lnSpc>
                <a:spcPct val="100000"/>
              </a:lnSpc>
              <a:spcBef>
                <a:spcPts val="300"/>
              </a:spcBef>
              <a:spcAft>
                <a:spcPts val="300"/>
              </a:spcAft>
              <a:buClr>
                <a:srgbClr val="808080"/>
              </a:buClr>
              <a:buFont typeface="Wingdings" panose="05000000000000000000" pitchFamily="2" charset="2"/>
              <a:buNone/>
              <a:defRPr sz="1000" b="1">
                <a:latin typeface="+mj-lt"/>
              </a:defRPr>
            </a:lvl2pPr>
            <a:lvl3pPr marL="0" indent="0">
              <a:lnSpc>
                <a:spcPct val="100000"/>
              </a:lnSpc>
              <a:spcBef>
                <a:spcPts val="300"/>
              </a:spcBef>
              <a:spcAft>
                <a:spcPts val="300"/>
              </a:spcAft>
              <a:buClr>
                <a:srgbClr val="808080"/>
              </a:buClr>
              <a:buFont typeface="Calibri Light" panose="020F0302020204030204" pitchFamily="34" charset="0"/>
              <a:buNone/>
              <a:defRPr sz="1000"/>
            </a:lvl3pPr>
            <a:lvl4pPr marL="180000" indent="-180000">
              <a:lnSpc>
                <a:spcPct val="100000"/>
              </a:lnSpc>
              <a:spcBef>
                <a:spcPts val="300"/>
              </a:spcBef>
              <a:spcAft>
                <a:spcPts val="100"/>
              </a:spcAft>
              <a:buClr>
                <a:schemeClr val="tx2"/>
              </a:buClr>
              <a:buSzPct val="90000"/>
              <a:buFont typeface="Wingdings" panose="05000000000000000000" pitchFamily="2" charset="2"/>
              <a:buChar char="§"/>
              <a:defRPr sz="1000" b="1" i="0"/>
            </a:lvl4pPr>
            <a:lvl5pPr marL="360000" indent="-180000">
              <a:lnSpc>
                <a:spcPct val="100000"/>
              </a:lnSpc>
              <a:spcBef>
                <a:spcPts val="100"/>
              </a:spcBef>
              <a:spcAft>
                <a:spcPts val="100"/>
              </a:spcAft>
              <a:buClr>
                <a:srgbClr val="808080"/>
              </a:buClr>
              <a:buSzPct val="80000"/>
              <a:buFont typeface="Arial" panose="020B0604020202020204" pitchFamily="34" charset="0"/>
              <a:buChar char="•"/>
              <a:defRPr sz="1000" i="0">
                <a:solidFill>
                  <a:srgbClr val="595959"/>
                </a:solidFill>
              </a:defRPr>
            </a:lvl5pPr>
            <a:lvl6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6pPr>
            <a:lvl7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7pPr>
            <a:lvl8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8pPr>
            <a:lvl9pPr marL="540000" indent="-180000">
              <a:lnSpc>
                <a:spcPct val="100000"/>
              </a:lnSpc>
              <a:spcBef>
                <a:spcPts val="0"/>
              </a:spcBef>
              <a:spcAft>
                <a:spcPts val="0"/>
              </a:spcAft>
              <a:buClr>
                <a:srgbClr val="808080"/>
              </a:buClr>
              <a:buFont typeface="Arial" panose="020B0604020202020204" pitchFamily="34" charset="0"/>
              <a:buChar char="­"/>
              <a:defRPr sz="900">
                <a:solidFill>
                  <a:srgbClr val="595959"/>
                </a:solidFill>
              </a:defRPr>
            </a:lvl9pPr>
          </a:lstStyle>
          <a:p>
            <a:r>
              <a:rPr lang="fr-FR" sz="1600">
                <a:solidFill>
                  <a:srgbClr val="6C8CA6"/>
                </a:solidFill>
              </a:rPr>
              <a:t>Portfolio of </a:t>
            </a:r>
            <a:r>
              <a:rPr lang="fr-FR" sz="1600" err="1">
                <a:solidFill>
                  <a:srgbClr val="6C8CA6"/>
                </a:solidFill>
              </a:rPr>
              <a:t>listed</a:t>
            </a:r>
            <a:r>
              <a:rPr lang="fr-FR" sz="1600">
                <a:solidFill>
                  <a:srgbClr val="6C8CA6"/>
                </a:solidFill>
              </a:rPr>
              <a:t> </a:t>
            </a:r>
            <a:r>
              <a:rPr lang="fr-FR" sz="1600" err="1">
                <a:solidFill>
                  <a:srgbClr val="6C8CA6"/>
                </a:solidFill>
              </a:rPr>
              <a:t>securities</a:t>
            </a:r>
            <a:endParaRPr lang="fr-FR" sz="1600">
              <a:solidFill>
                <a:srgbClr val="6C8CA6"/>
              </a:solidFill>
            </a:endParaRPr>
          </a:p>
        </p:txBody>
      </p:sp>
      <p:pic>
        <p:nvPicPr>
          <p:cNvPr id="30" name="Image 29">
            <a:extLst>
              <a:ext uri="{FF2B5EF4-FFF2-40B4-BE49-F238E27FC236}">
                <a16:creationId xmlns:a16="http://schemas.microsoft.com/office/drawing/2014/main" id="{CC534659-4997-4AE6-BE5E-600A71E5F0B2}"/>
              </a:ext>
            </a:extLst>
          </p:cNvPr>
          <p:cNvPicPr>
            <a:picLocks noChangeAspect="1"/>
          </p:cNvPicPr>
          <p:nvPr/>
        </p:nvPicPr>
        <p:blipFill>
          <a:blip r:embed="rId4"/>
          <a:stretch>
            <a:fillRect/>
          </a:stretch>
        </p:blipFill>
        <p:spPr>
          <a:xfrm>
            <a:off x="3807720" y="1940629"/>
            <a:ext cx="1021778" cy="597460"/>
          </a:xfrm>
          <a:prstGeom prst="rect">
            <a:avLst/>
          </a:prstGeom>
        </p:spPr>
      </p:pic>
      <p:pic>
        <p:nvPicPr>
          <p:cNvPr id="31" name="Image 30">
            <a:extLst>
              <a:ext uri="{FF2B5EF4-FFF2-40B4-BE49-F238E27FC236}">
                <a16:creationId xmlns:a16="http://schemas.microsoft.com/office/drawing/2014/main" id="{FFD743F8-64B8-42C7-BCF7-6F665F6CDEF3}"/>
              </a:ext>
            </a:extLst>
          </p:cNvPr>
          <p:cNvPicPr>
            <a:picLocks noChangeAspect="1"/>
          </p:cNvPicPr>
          <p:nvPr/>
        </p:nvPicPr>
        <p:blipFill>
          <a:blip r:embed="rId5"/>
          <a:stretch>
            <a:fillRect/>
          </a:stretch>
        </p:blipFill>
        <p:spPr>
          <a:xfrm>
            <a:off x="2181858" y="2012617"/>
            <a:ext cx="1003123" cy="660254"/>
          </a:xfrm>
          <a:prstGeom prst="rect">
            <a:avLst/>
          </a:prstGeom>
        </p:spPr>
      </p:pic>
      <p:pic>
        <p:nvPicPr>
          <p:cNvPr id="32" name="Picture 2" descr="H:\Bolloré\1. Admin\Admin Bolloré Groupe\Images\Socfin.png">
            <a:extLst>
              <a:ext uri="{FF2B5EF4-FFF2-40B4-BE49-F238E27FC236}">
                <a16:creationId xmlns:a16="http://schemas.microsoft.com/office/drawing/2014/main" id="{BCF59AEB-79C6-4E1D-B82E-F05DF394C8B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53381" y="3186548"/>
            <a:ext cx="645884" cy="306877"/>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3" name="Picture 5" descr="H:\Bolloré\1. Admin\Admin Bolloré Groupe\Images\Bigben.png">
            <a:extLst>
              <a:ext uri="{FF2B5EF4-FFF2-40B4-BE49-F238E27FC236}">
                <a16:creationId xmlns:a16="http://schemas.microsoft.com/office/drawing/2014/main" id="{5D8A9FFD-0FFE-4814-90BA-E747D3DB6FD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542178" y="3306377"/>
            <a:ext cx="647094" cy="16755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
            <a:extLst>
              <a:ext uri="{FF2B5EF4-FFF2-40B4-BE49-F238E27FC236}">
                <a16:creationId xmlns:a16="http://schemas.microsoft.com/office/drawing/2014/main" id="{B737A52D-A6A4-4D50-B07B-9E6849434AE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236938" y="2142195"/>
            <a:ext cx="720000" cy="192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Image 34">
            <a:extLst>
              <a:ext uri="{FF2B5EF4-FFF2-40B4-BE49-F238E27FC236}">
                <a16:creationId xmlns:a16="http://schemas.microsoft.com/office/drawing/2014/main" id="{723E1C89-8ADC-40C4-A844-5809F44ACA18}"/>
              </a:ext>
            </a:extLst>
          </p:cNvPr>
          <p:cNvPicPr>
            <a:picLocks noChangeAspect="1"/>
          </p:cNvPicPr>
          <p:nvPr/>
        </p:nvPicPr>
        <p:blipFill>
          <a:blip r:embed="rId9"/>
          <a:stretch>
            <a:fillRect/>
          </a:stretch>
        </p:blipFill>
        <p:spPr>
          <a:xfrm>
            <a:off x="573932" y="3204404"/>
            <a:ext cx="709636" cy="270686"/>
          </a:xfrm>
          <a:prstGeom prst="rect">
            <a:avLst/>
          </a:prstGeom>
        </p:spPr>
      </p:pic>
      <p:pic>
        <p:nvPicPr>
          <p:cNvPr id="36" name="Image 35">
            <a:extLst>
              <a:ext uri="{FF2B5EF4-FFF2-40B4-BE49-F238E27FC236}">
                <a16:creationId xmlns:a16="http://schemas.microsoft.com/office/drawing/2014/main" id="{0B3001F3-DDC7-4E9D-A13D-597FFC4BE017}"/>
              </a:ext>
            </a:extLst>
          </p:cNvPr>
          <p:cNvPicPr>
            <a:picLocks noChangeAspect="1"/>
          </p:cNvPicPr>
          <p:nvPr/>
        </p:nvPicPr>
        <p:blipFill>
          <a:blip r:embed="rId10"/>
          <a:stretch>
            <a:fillRect/>
          </a:stretch>
        </p:blipFill>
        <p:spPr>
          <a:xfrm>
            <a:off x="4052385" y="3352984"/>
            <a:ext cx="532448" cy="107952"/>
          </a:xfrm>
          <a:prstGeom prst="rect">
            <a:avLst/>
          </a:prstGeom>
        </p:spPr>
      </p:pic>
      <p:pic>
        <p:nvPicPr>
          <p:cNvPr id="37" name="Petit UMG Noir">
            <a:extLst>
              <a:ext uri="{FF2B5EF4-FFF2-40B4-BE49-F238E27FC236}">
                <a16:creationId xmlns:a16="http://schemas.microsoft.com/office/drawing/2014/main" id="{A51408F2-7D42-4809-A255-FEFFF3EA0B6B}"/>
              </a:ext>
            </a:extLst>
          </p:cNvPr>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300735" y="2053939"/>
            <a:ext cx="1256030" cy="484150"/>
          </a:xfrm>
          <a:prstGeom prst="rect">
            <a:avLst/>
          </a:prstGeom>
        </p:spPr>
      </p:pic>
      <p:pic>
        <p:nvPicPr>
          <p:cNvPr id="38" name="Image 37">
            <a:extLst>
              <a:ext uri="{FF2B5EF4-FFF2-40B4-BE49-F238E27FC236}">
                <a16:creationId xmlns:a16="http://schemas.microsoft.com/office/drawing/2014/main" id="{B0935C1C-1540-44B4-8DB0-8FA8D4D04BEE}"/>
              </a:ext>
            </a:extLst>
          </p:cNvPr>
          <p:cNvPicPr>
            <a:picLocks noChangeAspect="1"/>
          </p:cNvPicPr>
          <p:nvPr/>
        </p:nvPicPr>
        <p:blipFill>
          <a:blip r:embed="rId12"/>
          <a:stretch>
            <a:fillRect/>
          </a:stretch>
        </p:blipFill>
        <p:spPr>
          <a:xfrm>
            <a:off x="5010177" y="2007308"/>
            <a:ext cx="1709782" cy="598423"/>
          </a:xfrm>
          <a:prstGeom prst="rect">
            <a:avLst/>
          </a:prstGeom>
        </p:spPr>
      </p:pic>
      <p:sp>
        <p:nvSpPr>
          <p:cNvPr id="39" name="Rectangle : coins arrondis 38">
            <a:extLst>
              <a:ext uri="{FF2B5EF4-FFF2-40B4-BE49-F238E27FC236}">
                <a16:creationId xmlns:a16="http://schemas.microsoft.com/office/drawing/2014/main" id="{ACA57C7E-9254-40C5-A21E-C7CB832B7050}"/>
              </a:ext>
            </a:extLst>
          </p:cNvPr>
          <p:cNvSpPr/>
          <p:nvPr/>
        </p:nvSpPr>
        <p:spPr>
          <a:xfrm>
            <a:off x="585192" y="2672871"/>
            <a:ext cx="687116" cy="270686"/>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28.4 % </a:t>
            </a:r>
            <a:r>
              <a:rPr lang="fr-FR" sz="800" baseline="30000">
                <a:solidFill>
                  <a:schemeClr val="tx1"/>
                </a:solidFill>
                <a:latin typeface="+mj-lt"/>
              </a:rPr>
              <a:t>(1)</a:t>
            </a:r>
          </a:p>
        </p:txBody>
      </p:sp>
      <p:sp>
        <p:nvSpPr>
          <p:cNvPr id="40" name="Rectangle : coins arrondis 39">
            <a:extLst>
              <a:ext uri="{FF2B5EF4-FFF2-40B4-BE49-F238E27FC236}">
                <a16:creationId xmlns:a16="http://schemas.microsoft.com/office/drawing/2014/main" id="{E46A8014-B321-4F70-B772-87D96217AB96}"/>
              </a:ext>
            </a:extLst>
          </p:cNvPr>
          <p:cNvSpPr/>
          <p:nvPr/>
        </p:nvSpPr>
        <p:spPr>
          <a:xfrm>
            <a:off x="2339861" y="2634771"/>
            <a:ext cx="687116" cy="270686"/>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57.8 %</a:t>
            </a:r>
          </a:p>
        </p:txBody>
      </p:sp>
      <p:sp>
        <p:nvSpPr>
          <p:cNvPr id="41" name="Rectangle : coins arrondis 40">
            <a:extLst>
              <a:ext uri="{FF2B5EF4-FFF2-40B4-BE49-F238E27FC236}">
                <a16:creationId xmlns:a16="http://schemas.microsoft.com/office/drawing/2014/main" id="{49C315D6-8F34-4D73-B8A1-7C7681EAAB58}"/>
              </a:ext>
            </a:extLst>
          </p:cNvPr>
          <p:cNvSpPr/>
          <p:nvPr/>
        </p:nvSpPr>
        <p:spPr>
          <a:xfrm>
            <a:off x="3975051" y="2634771"/>
            <a:ext cx="687116" cy="270686"/>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32.6 %</a:t>
            </a:r>
          </a:p>
        </p:txBody>
      </p:sp>
      <p:sp>
        <p:nvSpPr>
          <p:cNvPr id="42" name="Rectangle : coins arrondis 41">
            <a:extLst>
              <a:ext uri="{FF2B5EF4-FFF2-40B4-BE49-F238E27FC236}">
                <a16:creationId xmlns:a16="http://schemas.microsoft.com/office/drawing/2014/main" id="{EFD71D3E-9356-43D6-B520-4CA75567F312}"/>
              </a:ext>
            </a:extLst>
          </p:cNvPr>
          <p:cNvSpPr/>
          <p:nvPr/>
        </p:nvSpPr>
        <p:spPr>
          <a:xfrm>
            <a:off x="5534316" y="3572246"/>
            <a:ext cx="687116" cy="270686"/>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20.8 %</a:t>
            </a:r>
          </a:p>
        </p:txBody>
      </p:sp>
      <p:sp>
        <p:nvSpPr>
          <p:cNvPr id="43" name="Rectangle : coins arrondis 42">
            <a:extLst>
              <a:ext uri="{FF2B5EF4-FFF2-40B4-BE49-F238E27FC236}">
                <a16:creationId xmlns:a16="http://schemas.microsoft.com/office/drawing/2014/main" id="{81EE4DAF-C4B2-4E9E-B960-509C2712719B}"/>
              </a:ext>
            </a:extLst>
          </p:cNvPr>
          <p:cNvSpPr/>
          <p:nvPr/>
        </p:nvSpPr>
        <p:spPr>
          <a:xfrm>
            <a:off x="7253380" y="2634771"/>
            <a:ext cx="687116" cy="270686"/>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17.0 %</a:t>
            </a:r>
          </a:p>
        </p:txBody>
      </p:sp>
      <p:sp>
        <p:nvSpPr>
          <p:cNvPr id="44" name="Rectangle : coins arrondis 43">
            <a:extLst>
              <a:ext uri="{FF2B5EF4-FFF2-40B4-BE49-F238E27FC236}">
                <a16:creationId xmlns:a16="http://schemas.microsoft.com/office/drawing/2014/main" id="{72A780F5-943C-484C-8FFE-C4FE7450059D}"/>
              </a:ext>
            </a:extLst>
          </p:cNvPr>
          <p:cNvSpPr/>
          <p:nvPr/>
        </p:nvSpPr>
        <p:spPr>
          <a:xfrm>
            <a:off x="7212148" y="3572246"/>
            <a:ext cx="687116" cy="247681"/>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39.7 % </a:t>
            </a:r>
            <a:r>
              <a:rPr lang="fr-FR" sz="800" baseline="30000">
                <a:solidFill>
                  <a:schemeClr val="tx1"/>
                </a:solidFill>
                <a:latin typeface="+mj-lt"/>
              </a:rPr>
              <a:t>(2)</a:t>
            </a:r>
            <a:r>
              <a:rPr lang="fr-FR" sz="800">
                <a:solidFill>
                  <a:schemeClr val="tx1"/>
                </a:solidFill>
                <a:latin typeface="+mj-lt"/>
              </a:rPr>
              <a:t> </a:t>
            </a:r>
          </a:p>
        </p:txBody>
      </p:sp>
      <p:sp>
        <p:nvSpPr>
          <p:cNvPr id="45" name="Rectangle : coins arrondis 44">
            <a:extLst>
              <a:ext uri="{FF2B5EF4-FFF2-40B4-BE49-F238E27FC236}">
                <a16:creationId xmlns:a16="http://schemas.microsoft.com/office/drawing/2014/main" id="{A6412EEB-42CC-499F-A00A-359461412D6B}"/>
              </a:ext>
            </a:extLst>
          </p:cNvPr>
          <p:cNvSpPr/>
          <p:nvPr/>
        </p:nvSpPr>
        <p:spPr>
          <a:xfrm>
            <a:off x="5483410" y="2634771"/>
            <a:ext cx="687116" cy="270686"/>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19.8%</a:t>
            </a:r>
          </a:p>
        </p:txBody>
      </p:sp>
      <p:sp>
        <p:nvSpPr>
          <p:cNvPr id="46" name="Rectangle : coins arrondis 45">
            <a:extLst>
              <a:ext uri="{FF2B5EF4-FFF2-40B4-BE49-F238E27FC236}">
                <a16:creationId xmlns:a16="http://schemas.microsoft.com/office/drawing/2014/main" id="{DED619E4-DEED-4B1C-B4E3-57CA8E579817}"/>
              </a:ext>
            </a:extLst>
          </p:cNvPr>
          <p:cNvSpPr/>
          <p:nvPr/>
        </p:nvSpPr>
        <p:spPr>
          <a:xfrm>
            <a:off x="3975051" y="3572246"/>
            <a:ext cx="687116" cy="270686"/>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1.0%</a:t>
            </a:r>
          </a:p>
        </p:txBody>
      </p:sp>
      <p:sp>
        <p:nvSpPr>
          <p:cNvPr id="47" name="Rectangle : coins arrondis 46">
            <a:extLst>
              <a:ext uri="{FF2B5EF4-FFF2-40B4-BE49-F238E27FC236}">
                <a16:creationId xmlns:a16="http://schemas.microsoft.com/office/drawing/2014/main" id="{99CD9F57-A4ED-4A5B-88EA-7B1A765DFF59}"/>
              </a:ext>
            </a:extLst>
          </p:cNvPr>
          <p:cNvSpPr/>
          <p:nvPr/>
        </p:nvSpPr>
        <p:spPr>
          <a:xfrm>
            <a:off x="2339861" y="3572246"/>
            <a:ext cx="687116" cy="270686"/>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19.8%</a:t>
            </a:r>
          </a:p>
        </p:txBody>
      </p:sp>
      <p:pic>
        <p:nvPicPr>
          <p:cNvPr id="48" name="Image 47">
            <a:extLst>
              <a:ext uri="{FF2B5EF4-FFF2-40B4-BE49-F238E27FC236}">
                <a16:creationId xmlns:a16="http://schemas.microsoft.com/office/drawing/2014/main" id="{0002CEF7-D053-4279-A4A9-DDA62AB5F8D0}"/>
              </a:ext>
            </a:extLst>
          </p:cNvPr>
          <p:cNvPicPr>
            <a:picLocks noChangeAspect="1"/>
          </p:cNvPicPr>
          <p:nvPr/>
        </p:nvPicPr>
        <p:blipFill>
          <a:blip r:embed="rId13"/>
          <a:stretch>
            <a:fillRect/>
          </a:stretch>
        </p:blipFill>
        <p:spPr>
          <a:xfrm>
            <a:off x="2473850" y="3280505"/>
            <a:ext cx="429008" cy="212075"/>
          </a:xfrm>
          <a:prstGeom prst="rect">
            <a:avLst/>
          </a:prstGeom>
        </p:spPr>
      </p:pic>
      <p:sp>
        <p:nvSpPr>
          <p:cNvPr id="49" name="Rectangle : coins arrondis 48">
            <a:extLst>
              <a:ext uri="{FF2B5EF4-FFF2-40B4-BE49-F238E27FC236}">
                <a16:creationId xmlns:a16="http://schemas.microsoft.com/office/drawing/2014/main" id="{8A110659-B552-4DFB-B7C3-3941570F6192}"/>
              </a:ext>
            </a:extLst>
          </p:cNvPr>
          <p:cNvSpPr/>
          <p:nvPr/>
        </p:nvSpPr>
        <p:spPr>
          <a:xfrm>
            <a:off x="596452" y="3572246"/>
            <a:ext cx="687116" cy="270686"/>
          </a:xfrm>
          <a:prstGeom prst="roundRect">
            <a:avLst/>
          </a:prstGeom>
          <a:noFill/>
          <a:ln>
            <a:solidFill>
              <a:srgbClr val="6C8CA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800">
                <a:solidFill>
                  <a:schemeClr val="tx1"/>
                </a:solidFill>
                <a:latin typeface="+mj-lt"/>
              </a:rPr>
              <a:t>11.8%</a:t>
            </a:r>
          </a:p>
        </p:txBody>
      </p:sp>
      <p:sp>
        <p:nvSpPr>
          <p:cNvPr id="5" name="Espace réservé du numéro de diapositive 4">
            <a:extLst>
              <a:ext uri="{FF2B5EF4-FFF2-40B4-BE49-F238E27FC236}">
                <a16:creationId xmlns:a16="http://schemas.microsoft.com/office/drawing/2014/main" id="{36590F99-F35A-4752-8616-FFBE46C2EB93}"/>
              </a:ext>
            </a:extLst>
          </p:cNvPr>
          <p:cNvSpPr>
            <a:spLocks noGrp="1"/>
          </p:cNvSpPr>
          <p:nvPr>
            <p:ph type="sldNum" sz="quarter" idx="12"/>
          </p:nvPr>
        </p:nvSpPr>
        <p:spPr/>
        <p:txBody>
          <a:bodyPr/>
          <a:lstStyle/>
          <a:p>
            <a:fld id="{304318A0-AD76-4461-B655-8B1A266EB0A2}" type="slidenum">
              <a:rPr lang="fr-FR" smtClean="0"/>
              <a:t>27</a:t>
            </a:fld>
            <a:endParaRPr lang="fr-FR"/>
          </a:p>
        </p:txBody>
      </p:sp>
    </p:spTree>
    <p:extLst>
      <p:ext uri="{BB962C8B-B14F-4D97-AF65-F5344CB8AC3E}">
        <p14:creationId xmlns:p14="http://schemas.microsoft.com/office/powerpoint/2010/main" val="380059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CDDB1E78-0580-49A3-99C9-58633E2E780E}"/>
              </a:ext>
            </a:extLst>
          </p:cNvPr>
          <p:cNvSpPr>
            <a:spLocks noGrp="1"/>
          </p:cNvSpPr>
          <p:nvPr>
            <p:ph type="ftr" sz="quarter" idx="11"/>
          </p:nvPr>
        </p:nvSpPr>
        <p:spPr/>
        <p:txBody>
          <a:bodyPr/>
          <a:lstStyle/>
          <a:p>
            <a:endParaRPr lang="fr-FR"/>
          </a:p>
        </p:txBody>
      </p:sp>
      <p:sp>
        <p:nvSpPr>
          <p:cNvPr id="5" name="ZoneTexte 4">
            <a:hlinkClick r:id="rId7" action="ppaction://hlinksldjump"/>
            <a:extLst>
              <a:ext uri="{FF2B5EF4-FFF2-40B4-BE49-F238E27FC236}">
                <a16:creationId xmlns:a16="http://schemas.microsoft.com/office/drawing/2014/main" id="{AE6ED770-4DF6-4C18-A7BB-95E77688EFD0}"/>
              </a:ext>
            </a:extLst>
          </p:cNvPr>
          <p:cNvSpPr txBox="1"/>
          <p:nvPr>
            <p:custDataLst>
              <p:tags r:id="rId3"/>
            </p:custDataLst>
          </p:nvPr>
        </p:nvSpPr>
        <p:spPr>
          <a:xfrm>
            <a:off x="3347864" y="483519"/>
            <a:ext cx="5336201" cy="2160000"/>
          </a:xfrm>
          <a:prstGeom prst="rect">
            <a:avLst/>
          </a:prstGeom>
          <a:noFill/>
        </p:spPr>
        <p:txBody>
          <a:bodyPr vert="horz" wrap="square" lIns="0" tIns="0" rIns="0" bIns="118800" rtlCol="0" anchor="b" anchorCtr="0">
            <a:noAutofit/>
          </a:bodyPr>
          <a:lstStyle/>
          <a:p>
            <a:pPr algn="l"/>
            <a:r>
              <a:rPr lang="fr-FR" sz="3000" cap="all">
                <a:solidFill>
                  <a:schemeClr val="tx2"/>
                </a:solidFill>
                <a:latin typeface="+mj-lt"/>
              </a:rPr>
              <a:t>Appendices</a:t>
            </a:r>
          </a:p>
        </p:txBody>
      </p:sp>
      <p:sp>
        <p:nvSpPr>
          <p:cNvPr id="9" name="ZoneTexte 8">
            <a:hlinkClick r:id="rId7" action="ppaction://hlinksldjump"/>
            <a:extLst>
              <a:ext uri="{FF2B5EF4-FFF2-40B4-BE49-F238E27FC236}">
                <a16:creationId xmlns:a16="http://schemas.microsoft.com/office/drawing/2014/main" id="{D720C1C6-18F7-4A9F-88FD-0849B18FCCEC}"/>
              </a:ext>
            </a:extLst>
          </p:cNvPr>
          <p:cNvSpPr txBox="1"/>
          <p:nvPr>
            <p:custDataLst>
              <p:tags r:id="rId4"/>
            </p:custDataLst>
          </p:nvPr>
        </p:nvSpPr>
        <p:spPr bwMode="auto">
          <a:xfrm>
            <a:off x="1259632" y="483519"/>
            <a:ext cx="1800195" cy="2160000"/>
          </a:xfrm>
          <a:prstGeom prst="roundRect">
            <a:avLst>
              <a:gd name="adj" fmla="val 0"/>
            </a:avLst>
          </a:prstGeom>
          <a:noFill/>
          <a:ln>
            <a:noFill/>
          </a:ln>
          <a:effectLst/>
        </p:spPr>
        <p:txBody>
          <a:bodyPr vert="horz" wrap="none" lIns="0" tIns="540000" rIns="0" bIns="0" numCol="1" rtlCol="0" anchor="b" anchorCtr="0" compatLnSpc="1">
            <a:prstTxWarp prst="textNoShape">
              <a:avLst/>
            </a:prstTxWarp>
            <a:noAutofit/>
          </a:bodyPr>
          <a:lstStyle/>
          <a:p>
            <a:pPr algn="r">
              <a:buSzPct val="60000"/>
              <a:buFont typeface="Garamond" pitchFamily="18" charset="0"/>
            </a:pPr>
            <a:r>
              <a:rPr lang="fr-FR" sz="7200">
                <a:solidFill>
                  <a:schemeClr val="tx2"/>
                </a:solidFill>
                <a:latin typeface="+mj-lt"/>
              </a:rPr>
              <a:t>3</a:t>
            </a:r>
          </a:p>
        </p:txBody>
      </p:sp>
      <p:sp>
        <p:nvSpPr>
          <p:cNvPr id="10" name="ZoneTexte 9">
            <a:hlinkClick r:id="rId7" action="ppaction://hlinksldjump"/>
            <a:extLst>
              <a:ext uri="{FF2B5EF4-FFF2-40B4-BE49-F238E27FC236}">
                <a16:creationId xmlns:a16="http://schemas.microsoft.com/office/drawing/2014/main" id="{293CC6E3-2645-4B90-AD2E-382480379481}"/>
              </a:ext>
            </a:extLst>
          </p:cNvPr>
          <p:cNvSpPr txBox="1"/>
          <p:nvPr>
            <p:custDataLst>
              <p:tags r:id="rId5"/>
            </p:custDataLst>
          </p:nvPr>
        </p:nvSpPr>
        <p:spPr>
          <a:xfrm>
            <a:off x="8684066" y="483519"/>
            <a:ext cx="0" cy="2160000"/>
          </a:xfrm>
          <a:prstGeom prst="rect">
            <a:avLst/>
          </a:prstGeom>
          <a:noFill/>
          <a:extLst>
            <a:ext uri="{909E8E84-426E-40DD-AFC4-6F175D3DCCD1}">
              <a14:hiddenFill xmlns:a14="http://schemas.microsoft.com/office/drawing/2010/main">
                <a:solidFill>
                  <a:srgbClr val="4F81BD"/>
                </a:solidFill>
              </a14:hiddenFill>
            </a:ext>
          </a:extLst>
        </p:spPr>
        <p:txBody>
          <a:bodyPr vert="horz" wrap="none" lIns="0" tIns="0" rIns="0" bIns="0" rtlCol="0" anchor="ctr" anchorCtr="1">
            <a:noAutofit/>
          </a:bodyPr>
          <a:lstStyle/>
          <a:p>
            <a:pPr algn="ctr"/>
            <a:r>
              <a:rPr lang="fr-FR" sz="100">
                <a:noFill/>
                <a:latin typeface="+mj-lt"/>
              </a:rPr>
              <a:t>28</a:t>
            </a:r>
          </a:p>
        </p:txBody>
      </p:sp>
      <p:sp>
        <p:nvSpPr>
          <p:cNvPr id="13" name="Espace réservé du numéro de diapositive 12">
            <a:extLst>
              <a:ext uri="{FF2B5EF4-FFF2-40B4-BE49-F238E27FC236}">
                <a16:creationId xmlns:a16="http://schemas.microsoft.com/office/drawing/2014/main" id="{C51DBB1D-6245-4470-84C1-AF060271EC0D}"/>
              </a:ext>
            </a:extLst>
          </p:cNvPr>
          <p:cNvSpPr>
            <a:spLocks noGrp="1"/>
          </p:cNvSpPr>
          <p:nvPr>
            <p:ph type="sldNum" sz="quarter" idx="12"/>
          </p:nvPr>
        </p:nvSpPr>
        <p:spPr/>
        <p:txBody>
          <a:bodyPr/>
          <a:lstStyle/>
          <a:p>
            <a:fld id="{304318A0-AD76-4461-B655-8B1A266EB0A2}" type="slidenum">
              <a:rPr lang="fr-FR" smtClean="0"/>
              <a:t>28</a:t>
            </a:fld>
            <a:endParaRPr lang="fr-FR"/>
          </a:p>
        </p:txBody>
      </p:sp>
    </p:spTree>
    <p:custDataLst>
      <p:tags r:id="rId2"/>
    </p:custDataLst>
    <p:extLst>
      <p:ext uri="{BB962C8B-B14F-4D97-AF65-F5344CB8AC3E}">
        <p14:creationId xmlns:p14="http://schemas.microsoft.com/office/powerpoint/2010/main" val="1558416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20652" y="163176"/>
            <a:ext cx="7979740" cy="320400"/>
          </a:xfrm>
        </p:spPr>
        <p:txBody>
          <a:bodyPr vert="horz" lIns="91440" tIns="0" rIns="91440" bIns="0" rtlCol="0" anchor="t">
            <a:noAutofit/>
          </a:bodyPr>
          <a:lstStyle/>
          <a:p>
            <a:r>
              <a:rPr lang="en-US" sz="1800">
                <a:solidFill>
                  <a:srgbClr val="3A75C4"/>
                </a:solidFill>
                <a:latin typeface="Arial" panose="020B0604020202020204" pitchFamily="34" charset="0"/>
                <a:cs typeface="Arial" panose="020B0604020202020204" pitchFamily="34" charset="0"/>
              </a:rPr>
              <a:t>Comparability of financial statements</a:t>
            </a:r>
          </a:p>
        </p:txBody>
      </p:sp>
      <p:sp>
        <p:nvSpPr>
          <p:cNvPr id="6" name="Espace réservé du contenu 1">
            <a:extLst>
              <a:ext uri="{FF2B5EF4-FFF2-40B4-BE49-F238E27FC236}">
                <a16:creationId xmlns:a16="http://schemas.microsoft.com/office/drawing/2014/main" id="{5CDF53A1-77FA-4F38-B35F-0FF7FC504C43}"/>
              </a:ext>
            </a:extLst>
          </p:cNvPr>
          <p:cNvSpPr>
            <a:spLocks noGrp="1"/>
          </p:cNvSpPr>
          <p:nvPr>
            <p:ph idx="1"/>
          </p:nvPr>
        </p:nvSpPr>
        <p:spPr>
          <a:xfrm>
            <a:off x="40711" y="682171"/>
            <a:ext cx="8312260" cy="3040165"/>
          </a:xfrm>
        </p:spPr>
        <p:txBody>
          <a:bodyPr/>
          <a:lstStyle/>
          <a:p>
            <a:pPr lvl="3" algn="just"/>
            <a:r>
              <a:rPr lang="en-GB"/>
              <a:t>In accordance with IFRS 5 </a:t>
            </a:r>
            <a:r>
              <a:rPr lang="en-GB" b="0"/>
              <a:t>and to ensure the comparability of results, reclassifications into discontinued operations or held for sale include:</a:t>
            </a:r>
          </a:p>
          <a:p>
            <a:pPr lvl="4" algn="just"/>
            <a:r>
              <a:rPr lang="en-GB" sz="900">
                <a:solidFill>
                  <a:schemeClr val="tx1"/>
                </a:solidFill>
              </a:rPr>
              <a:t>Bolloré Africa Logistics for the 2022 financial year (activity sold on December 21, 2022);</a:t>
            </a:r>
          </a:p>
          <a:p>
            <a:pPr lvl="4" algn="just"/>
            <a:r>
              <a:rPr lang="en-GB" sz="900">
                <a:solidFill>
                  <a:schemeClr val="tx1"/>
                </a:solidFill>
              </a:rPr>
              <a:t>Editis for the 2022 and 2023 financial years (</a:t>
            </a:r>
            <a:r>
              <a:rPr lang="en-US" sz="900">
                <a:solidFill>
                  <a:schemeClr val="tx1"/>
                </a:solidFill>
              </a:rPr>
              <a:t>as of June 21, 2023, Editis is deconsolidated following the loss of control</a:t>
            </a:r>
            <a:r>
              <a:rPr lang="en-GB" sz="900">
                <a:solidFill>
                  <a:schemeClr val="tx1"/>
                </a:solidFill>
              </a:rPr>
              <a:t>);</a:t>
            </a:r>
          </a:p>
          <a:p>
            <a:pPr lvl="4" algn="just"/>
            <a:r>
              <a:rPr lang="en-US" sz="900">
                <a:solidFill>
                  <a:schemeClr val="tx1"/>
                </a:solidFill>
              </a:rPr>
              <a:t>Bolloré Logistics for the 2022 and 2023 financial years (activity are intended to be sold since May 8, 2023).</a:t>
            </a:r>
          </a:p>
          <a:p>
            <a:pPr lvl="4" algn="just"/>
            <a:endParaRPr lang="fr-FR" sz="900" b="0">
              <a:solidFill>
                <a:schemeClr val="tx1"/>
              </a:solidFill>
            </a:endParaRPr>
          </a:p>
          <a:p>
            <a:pPr lvl="3" algn="just"/>
            <a:r>
              <a:rPr lang="en-GB"/>
              <a:t>Performance indicators</a:t>
            </a:r>
          </a:p>
          <a:p>
            <a:pPr lvl="4" algn="just"/>
            <a:r>
              <a:rPr lang="en-GB" sz="900">
                <a:solidFill>
                  <a:schemeClr val="tx1"/>
                </a:solidFill>
              </a:rPr>
              <a:t>At June 30, 2023, the Bolloré Group did not change the definition of performance indicators, particularly EBITA, which were comparable to those of June 30, 2022. </a:t>
            </a:r>
            <a:r>
              <a:rPr lang="en-US" sz="900">
                <a:solidFill>
                  <a:schemeClr val="tx1"/>
                </a:solidFill>
              </a:rPr>
              <a:t>However, the data for the EBITA and the operating income are presented before Group expenses.</a:t>
            </a:r>
          </a:p>
          <a:p>
            <a:pPr lvl="4" algn="just">
              <a:spcAft>
                <a:spcPts val="300"/>
              </a:spcAft>
            </a:pPr>
            <a:endParaRPr lang="en-GB" sz="900">
              <a:solidFill>
                <a:schemeClr val="tx1"/>
              </a:solidFill>
            </a:endParaRPr>
          </a:p>
          <a:p>
            <a:pPr lvl="3" algn="just"/>
            <a:r>
              <a:rPr lang="en-GB"/>
              <a:t>Change in consolidation scope</a:t>
            </a:r>
          </a:p>
          <a:p>
            <a:pPr lvl="4" algn="just"/>
            <a:r>
              <a:rPr lang="en-US" sz="900">
                <a:solidFill>
                  <a:schemeClr val="tx1"/>
                </a:solidFill>
              </a:rPr>
              <a:t>SFDM has been deconsolidated since January 20, 2022, following its sale.</a:t>
            </a:r>
          </a:p>
          <a:p>
            <a:pPr lvl="4" algn="just"/>
            <a:r>
              <a:rPr lang="en-US" sz="900">
                <a:solidFill>
                  <a:schemeClr val="tx1"/>
                </a:solidFill>
              </a:rPr>
              <a:t>As of December 31, 2022, Vivendi ceased to recognize Telecom Italia as an investment accounted for using the equity method, considering that it no longer exercises significant influence over Telecom Italia in view of the resignation of its two representatives (Mr Arnaud de Puyfontaine and Mr Franck </a:t>
            </a:r>
            <a:r>
              <a:rPr lang="en-US" sz="900" err="1">
                <a:solidFill>
                  <a:schemeClr val="tx1"/>
                </a:solidFill>
              </a:rPr>
              <a:t>Cadoret</a:t>
            </a:r>
            <a:r>
              <a:rPr lang="en-US" sz="900">
                <a:solidFill>
                  <a:schemeClr val="tx1"/>
                </a:solidFill>
              </a:rPr>
              <a:t>) from the Board of Directors of Telecom Italia.</a:t>
            </a:r>
            <a:endParaRPr lang="en-GB" sz="900">
              <a:solidFill>
                <a:schemeClr val="tx1"/>
              </a:solidFill>
            </a:endParaRPr>
          </a:p>
          <a:p>
            <a:pPr marL="360000" lvl="5" indent="0" algn="just">
              <a:buNone/>
            </a:pPr>
            <a:endParaRPr lang="fr-FR">
              <a:solidFill>
                <a:schemeClr val="tx1"/>
              </a:solidFill>
            </a:endParaRPr>
          </a:p>
          <a:p>
            <a:pPr lvl="3" algn="just"/>
            <a:r>
              <a:rPr lang="en-US">
                <a:solidFill>
                  <a:schemeClr val="tx1"/>
                </a:solidFill>
              </a:rPr>
              <a:t>Changes in the main currencies</a:t>
            </a:r>
          </a:p>
          <a:p>
            <a:pPr lvl="3" algn="just"/>
            <a:endParaRPr lang="en-GB">
              <a:solidFill>
                <a:schemeClr val="tx1"/>
              </a:solidFill>
            </a:endParaRPr>
          </a:p>
        </p:txBody>
      </p:sp>
      <p:pic>
        <p:nvPicPr>
          <p:cNvPr id="3" name="Image 2">
            <a:extLst>
              <a:ext uri="{FF2B5EF4-FFF2-40B4-BE49-F238E27FC236}">
                <a16:creationId xmlns:a16="http://schemas.microsoft.com/office/drawing/2014/main" id="{07562783-F58C-4020-A992-0CA90B752B22}"/>
              </a:ext>
            </a:extLst>
          </p:cNvPr>
          <p:cNvPicPr>
            <a:picLocks noChangeAspect="1"/>
          </p:cNvPicPr>
          <p:nvPr>
            <p:custDataLst>
              <p:tags r:id="rId3"/>
            </p:custDataLst>
          </p:nvPr>
        </p:nvPicPr>
        <p:blipFill>
          <a:blip r:embed="rId5"/>
          <a:stretch>
            <a:fillRect/>
          </a:stretch>
        </p:blipFill>
        <p:spPr>
          <a:xfrm>
            <a:off x="330201" y="3449084"/>
            <a:ext cx="3995882" cy="1498930"/>
          </a:xfrm>
          <a:prstGeom prst="rect">
            <a:avLst/>
          </a:prstGeom>
        </p:spPr>
      </p:pic>
      <p:sp>
        <p:nvSpPr>
          <p:cNvPr id="5" name="Espace réservé du numéro de diapositive 4">
            <a:extLst>
              <a:ext uri="{FF2B5EF4-FFF2-40B4-BE49-F238E27FC236}">
                <a16:creationId xmlns:a16="http://schemas.microsoft.com/office/drawing/2014/main" id="{AC415FB6-9F49-4EAB-B6DB-C68BA5A7AB54}"/>
              </a:ext>
            </a:extLst>
          </p:cNvPr>
          <p:cNvSpPr>
            <a:spLocks noGrp="1"/>
          </p:cNvSpPr>
          <p:nvPr>
            <p:ph type="sldNum" sz="quarter" idx="12"/>
          </p:nvPr>
        </p:nvSpPr>
        <p:spPr/>
        <p:txBody>
          <a:bodyPr/>
          <a:lstStyle/>
          <a:p>
            <a:fld id="{304318A0-AD76-4461-B655-8B1A266EB0A2}" type="slidenum">
              <a:rPr lang="fr-FR" smtClean="0"/>
              <a:t>29</a:t>
            </a:fld>
            <a:endParaRPr lang="fr-FR"/>
          </a:p>
        </p:txBody>
      </p:sp>
    </p:spTree>
    <p:custDataLst>
      <p:tags r:id="rId2"/>
    </p:custDataLst>
    <p:extLst>
      <p:ext uri="{BB962C8B-B14F-4D97-AF65-F5344CB8AC3E}">
        <p14:creationId xmlns:p14="http://schemas.microsoft.com/office/powerpoint/2010/main" val="2045728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vert="horz" lIns="91440" tIns="0" rIns="91440" bIns="0" rtlCol="0" anchor="t">
            <a:noAutofit/>
          </a:bodyPr>
          <a:lstStyle/>
          <a:p>
            <a:r>
              <a:rPr lang="en-US" sz="1800">
                <a:solidFill>
                  <a:srgbClr val="3A75C4"/>
                </a:solidFill>
                <a:latin typeface="Arial" panose="020B0604020202020204" pitchFamily="34" charset="0"/>
                <a:cs typeface="Arial" panose="020B0604020202020204" pitchFamily="34" charset="0"/>
              </a:rPr>
              <a:t>H1 2023 Consolidated balance sheet</a:t>
            </a:r>
            <a:endParaRPr lang="fr-FR" sz="1800">
              <a:solidFill>
                <a:srgbClr val="3A75C4"/>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9EF1773A-A19C-4E74-A016-301B2D115A29}"/>
              </a:ext>
            </a:extLst>
          </p:cNvPr>
          <p:cNvPicPr>
            <a:picLocks noChangeAspect="1"/>
          </p:cNvPicPr>
          <p:nvPr>
            <p:custDataLst>
              <p:tags r:id="rId2"/>
            </p:custDataLst>
          </p:nvPr>
        </p:nvPicPr>
        <p:blipFill>
          <a:blip r:embed="rId5"/>
          <a:stretch>
            <a:fillRect/>
          </a:stretch>
        </p:blipFill>
        <p:spPr>
          <a:xfrm>
            <a:off x="107951" y="979538"/>
            <a:ext cx="4331195" cy="3182340"/>
          </a:xfrm>
          <a:prstGeom prst="rect">
            <a:avLst/>
          </a:prstGeom>
        </p:spPr>
      </p:pic>
      <p:pic>
        <p:nvPicPr>
          <p:cNvPr id="8" name="Image 7">
            <a:extLst>
              <a:ext uri="{FF2B5EF4-FFF2-40B4-BE49-F238E27FC236}">
                <a16:creationId xmlns:a16="http://schemas.microsoft.com/office/drawing/2014/main" id="{193B59CA-32C1-47F7-AF26-069A30CEDB4F}"/>
              </a:ext>
            </a:extLst>
          </p:cNvPr>
          <p:cNvPicPr>
            <a:picLocks noChangeAspect="1"/>
          </p:cNvPicPr>
          <p:nvPr>
            <p:custDataLst>
              <p:tags r:id="rId3"/>
            </p:custDataLst>
          </p:nvPr>
        </p:nvPicPr>
        <p:blipFill>
          <a:blip r:embed="rId6"/>
          <a:stretch>
            <a:fillRect/>
          </a:stretch>
        </p:blipFill>
        <p:spPr>
          <a:xfrm>
            <a:off x="4571207" y="979538"/>
            <a:ext cx="4331818" cy="3307156"/>
          </a:xfrm>
          <a:prstGeom prst="rect">
            <a:avLst/>
          </a:prstGeom>
        </p:spPr>
      </p:pic>
      <p:sp>
        <p:nvSpPr>
          <p:cNvPr id="4" name="Espace réservé du numéro de diapositive 3">
            <a:extLst>
              <a:ext uri="{FF2B5EF4-FFF2-40B4-BE49-F238E27FC236}">
                <a16:creationId xmlns:a16="http://schemas.microsoft.com/office/drawing/2014/main" id="{4132D891-3A88-4194-A310-0EA2C2DDE039}"/>
              </a:ext>
            </a:extLst>
          </p:cNvPr>
          <p:cNvSpPr>
            <a:spLocks noGrp="1"/>
          </p:cNvSpPr>
          <p:nvPr>
            <p:ph type="sldNum" sz="quarter" idx="12"/>
          </p:nvPr>
        </p:nvSpPr>
        <p:spPr/>
        <p:txBody>
          <a:bodyPr/>
          <a:lstStyle/>
          <a:p>
            <a:fld id="{304318A0-AD76-4461-B655-8B1A266EB0A2}" type="slidenum">
              <a:rPr lang="fr-FR" smtClean="0"/>
              <a:t>30</a:t>
            </a:fld>
            <a:endParaRPr lang="fr-FR"/>
          </a:p>
        </p:txBody>
      </p:sp>
    </p:spTree>
    <p:extLst>
      <p:ext uri="{BB962C8B-B14F-4D97-AF65-F5344CB8AC3E}">
        <p14:creationId xmlns:p14="http://schemas.microsoft.com/office/powerpoint/2010/main" val="3213883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vert="horz" lIns="91440" tIns="0" rIns="91440" bIns="0" rtlCol="0" anchor="t">
            <a:noAutofit/>
          </a:bodyPr>
          <a:lstStyle/>
          <a:p>
            <a:r>
              <a:rPr lang="en-US" sz="1800">
                <a:solidFill>
                  <a:srgbClr val="3A75C4"/>
                </a:solidFill>
                <a:latin typeface="Arial" panose="020B0604020202020204" pitchFamily="34" charset="0"/>
                <a:cs typeface="Arial" panose="020B0604020202020204" pitchFamily="34" charset="0"/>
              </a:rPr>
              <a:t>H1 2023 Consolidated income statement analysis</a:t>
            </a:r>
            <a:r>
              <a:rPr lang="en-US" sz="1800" baseline="30000">
                <a:solidFill>
                  <a:srgbClr val="3A75C4"/>
                </a:solidFill>
                <a:latin typeface="Arial" panose="020B0604020202020204" pitchFamily="34" charset="0"/>
                <a:cs typeface="Arial" panose="020B0604020202020204" pitchFamily="34" charset="0"/>
              </a:rPr>
              <a:t>(*)</a:t>
            </a:r>
            <a:endParaRPr lang="fr-FR" sz="1800" baseline="30000">
              <a:solidFill>
                <a:srgbClr val="3A75C4"/>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69969561-4CDC-40EB-A6B6-B70D977C9213}"/>
              </a:ext>
            </a:extLst>
          </p:cNvPr>
          <p:cNvSpPr/>
          <p:nvPr/>
        </p:nvSpPr>
        <p:spPr>
          <a:xfrm>
            <a:off x="340688" y="4227934"/>
            <a:ext cx="8047736" cy="523220"/>
          </a:xfrm>
          <a:prstGeom prst="rect">
            <a:avLst/>
          </a:prstGeom>
        </p:spPr>
        <p:txBody>
          <a:bodyPr wrap="square">
            <a:spAutoFit/>
          </a:bodyPr>
          <a:lstStyle/>
          <a:p>
            <a:pPr marL="266700" indent="-266700"/>
            <a:r>
              <a:rPr lang="en-US" sz="700">
                <a:latin typeface="Arial" panose="020B0604020202020204" pitchFamily="34" charset="0"/>
                <a:cs typeface="Arial" panose="020B0604020202020204" pitchFamily="34" charset="0"/>
              </a:rPr>
              <a:t>(*)      In accordance with IFRS 5 and to ensure the comparability of results, the reclassifications as activities sold or in the process of being sold include: (</a:t>
            </a:r>
            <a:r>
              <a:rPr lang="en-US" sz="700" err="1">
                <a:latin typeface="Arial" panose="020B0604020202020204" pitchFamily="34" charset="0"/>
                <a:cs typeface="Arial" panose="020B0604020202020204" pitchFamily="34" charset="0"/>
              </a:rPr>
              <a:t>i</a:t>
            </a:r>
            <a:r>
              <a:rPr lang="en-US" sz="700">
                <a:latin typeface="Arial" panose="020B0604020202020204" pitchFamily="34" charset="0"/>
                <a:cs typeface="Arial" panose="020B0604020202020204" pitchFamily="34" charset="0"/>
              </a:rPr>
              <a:t>) the Group's Transport and Logistics activities present in Africa in fiscal year 2022 (these activities were sold December 21, 2022); (ii) Editis for the 2022 and 2023 financial years (as of June 21, 2023, Editis is deconsolidated, following loss of control); (iii) the rest of the Group's Transport and Logistics activities for the 2022 and 2023 financial years (these activities are intended to be sold since May 8, 2023).</a:t>
            </a:r>
            <a:endParaRPr lang="fr-FR" sz="700">
              <a:latin typeface="Arial" panose="020B0604020202020204" pitchFamily="34" charset="0"/>
              <a:cs typeface="Arial" panose="020B0604020202020204" pitchFamily="34" charset="0"/>
            </a:endParaRPr>
          </a:p>
          <a:p>
            <a:pPr marL="228600" indent="-228600">
              <a:buAutoNum type="arabicParenBoth"/>
            </a:pPr>
            <a:r>
              <a:rPr lang="fr-FR" sz="700">
                <a:latin typeface="Arial" panose="020B0604020202020204" pitchFamily="34" charset="0"/>
                <a:cs typeface="Arial" panose="020B0604020202020204" pitchFamily="34" charset="0"/>
              </a:rPr>
              <a:t>At constant scope and exchange rates</a:t>
            </a:r>
          </a:p>
        </p:txBody>
      </p:sp>
      <p:pic>
        <p:nvPicPr>
          <p:cNvPr id="3" name="Image 2">
            <a:extLst>
              <a:ext uri="{FF2B5EF4-FFF2-40B4-BE49-F238E27FC236}">
                <a16:creationId xmlns:a16="http://schemas.microsoft.com/office/drawing/2014/main" id="{FE08CBBA-93E4-476F-B212-29C36E854974}"/>
              </a:ext>
            </a:extLst>
          </p:cNvPr>
          <p:cNvPicPr>
            <a:picLocks noChangeAspect="1"/>
          </p:cNvPicPr>
          <p:nvPr>
            <p:custDataLst>
              <p:tags r:id="rId2"/>
            </p:custDataLst>
          </p:nvPr>
        </p:nvPicPr>
        <p:blipFill>
          <a:blip r:embed="rId5"/>
          <a:stretch>
            <a:fillRect/>
          </a:stretch>
        </p:blipFill>
        <p:spPr>
          <a:xfrm>
            <a:off x="340688" y="1055638"/>
            <a:ext cx="8483598" cy="2452216"/>
          </a:xfrm>
          <a:prstGeom prst="rect">
            <a:avLst/>
          </a:prstGeom>
        </p:spPr>
      </p:pic>
      <p:sp>
        <p:nvSpPr>
          <p:cNvPr id="5" name="Espace réservé du numéro de diapositive 4">
            <a:extLst>
              <a:ext uri="{FF2B5EF4-FFF2-40B4-BE49-F238E27FC236}">
                <a16:creationId xmlns:a16="http://schemas.microsoft.com/office/drawing/2014/main" id="{C10CE46D-38C8-4EEE-917A-3BA61BCFA6E9}"/>
              </a:ext>
            </a:extLst>
          </p:cNvPr>
          <p:cNvSpPr>
            <a:spLocks noGrp="1"/>
          </p:cNvSpPr>
          <p:nvPr>
            <p:ph type="sldNum" sz="quarter" idx="12"/>
          </p:nvPr>
        </p:nvSpPr>
        <p:spPr/>
        <p:txBody>
          <a:bodyPr/>
          <a:lstStyle/>
          <a:p>
            <a:fld id="{304318A0-AD76-4461-B655-8B1A266EB0A2}" type="slidenum">
              <a:rPr lang="fr-FR" smtClean="0"/>
              <a:t>31</a:t>
            </a:fld>
            <a:endParaRPr lang="fr-FR"/>
          </a:p>
        </p:txBody>
      </p:sp>
    </p:spTree>
    <p:extLst>
      <p:ext uri="{BB962C8B-B14F-4D97-AF65-F5344CB8AC3E}">
        <p14:creationId xmlns:p14="http://schemas.microsoft.com/office/powerpoint/2010/main" val="1008546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vert="horz" lIns="91440" tIns="0" rIns="91440" bIns="0" rtlCol="0" anchor="t">
            <a:noAutofit/>
          </a:bodyPr>
          <a:lstStyle/>
          <a:p>
            <a:r>
              <a:rPr lang="en-US" sz="1800">
                <a:solidFill>
                  <a:srgbClr val="3A75C4"/>
                </a:solidFill>
                <a:latin typeface="Arial" panose="020B0604020202020204" pitchFamily="34" charset="0"/>
                <a:cs typeface="Arial" panose="020B0604020202020204" pitchFamily="34" charset="0"/>
              </a:rPr>
              <a:t>H1 2023 Consolidated income statement</a:t>
            </a:r>
            <a:endParaRPr lang="fr-FR" sz="1800">
              <a:solidFill>
                <a:srgbClr val="3A75C4"/>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2EC884BB-4C63-4469-BA9A-4B566377EC38}"/>
              </a:ext>
            </a:extLst>
          </p:cNvPr>
          <p:cNvSpPr/>
          <p:nvPr/>
        </p:nvSpPr>
        <p:spPr>
          <a:xfrm>
            <a:off x="540166" y="4849151"/>
            <a:ext cx="8193314" cy="276999"/>
          </a:xfrm>
          <a:prstGeom prst="rect">
            <a:avLst/>
          </a:prstGeom>
        </p:spPr>
        <p:txBody>
          <a:bodyPr wrap="square">
            <a:spAutoFit/>
          </a:bodyPr>
          <a:lstStyle/>
          <a:p>
            <a:pPr marL="228600" indent="-228600">
              <a:buAutoNum type="arabicParenBoth"/>
            </a:pPr>
            <a:r>
              <a:rPr lang="en-GB" sz="600">
                <a:latin typeface="Arial" panose="020B0604020202020204" pitchFamily="34" charset="0"/>
                <a:cs typeface="Arial" panose="020B0604020202020204" pitchFamily="34" charset="0"/>
              </a:rPr>
              <a:t>Restated </a:t>
            </a:r>
            <a:r>
              <a:rPr lang="en-US" sz="600">
                <a:latin typeface="Arial" panose="020B0604020202020204" pitchFamily="34" charset="0"/>
                <a:cs typeface="Arial" panose="020B0604020202020204" pitchFamily="34" charset="0"/>
              </a:rPr>
              <a:t>in accordance with the application of IFRS 5.</a:t>
            </a:r>
            <a:endParaRPr lang="en-GB" sz="600">
              <a:latin typeface="Arial" panose="020B0604020202020204" pitchFamily="34" charset="0"/>
              <a:cs typeface="Arial" panose="020B0604020202020204" pitchFamily="34" charset="0"/>
            </a:endParaRPr>
          </a:p>
          <a:p>
            <a:pPr marL="228600" indent="-228600">
              <a:buAutoNum type="arabicParenBoth"/>
            </a:pPr>
            <a:r>
              <a:rPr lang="en-GB" sz="600">
                <a:latin typeface="Arial" panose="020B0604020202020204" pitchFamily="34" charset="0"/>
                <a:cs typeface="Arial" panose="020B0604020202020204" pitchFamily="34" charset="0"/>
              </a:rPr>
              <a:t>Excluding treasury shares.</a:t>
            </a:r>
          </a:p>
        </p:txBody>
      </p:sp>
      <p:pic>
        <p:nvPicPr>
          <p:cNvPr id="2" name="Image 1">
            <a:extLst>
              <a:ext uri="{FF2B5EF4-FFF2-40B4-BE49-F238E27FC236}">
                <a16:creationId xmlns:a16="http://schemas.microsoft.com/office/drawing/2014/main" id="{488D154C-3902-458D-A067-DB8888B69159}"/>
              </a:ext>
            </a:extLst>
          </p:cNvPr>
          <p:cNvPicPr>
            <a:picLocks noChangeAspect="1"/>
          </p:cNvPicPr>
          <p:nvPr>
            <p:custDataLst>
              <p:tags r:id="rId2"/>
            </p:custDataLst>
          </p:nvPr>
        </p:nvPicPr>
        <p:blipFill>
          <a:blip r:embed="rId5"/>
          <a:stretch>
            <a:fillRect/>
          </a:stretch>
        </p:blipFill>
        <p:spPr>
          <a:xfrm>
            <a:off x="611559" y="411513"/>
            <a:ext cx="5563385" cy="4420291"/>
          </a:xfrm>
          <a:prstGeom prst="rect">
            <a:avLst/>
          </a:prstGeom>
        </p:spPr>
      </p:pic>
      <p:sp>
        <p:nvSpPr>
          <p:cNvPr id="4" name="Espace réservé du numéro de diapositive 3">
            <a:extLst>
              <a:ext uri="{FF2B5EF4-FFF2-40B4-BE49-F238E27FC236}">
                <a16:creationId xmlns:a16="http://schemas.microsoft.com/office/drawing/2014/main" id="{90FF7311-D340-42B6-8F15-11B42B14F1AA}"/>
              </a:ext>
            </a:extLst>
          </p:cNvPr>
          <p:cNvSpPr>
            <a:spLocks noGrp="1"/>
          </p:cNvSpPr>
          <p:nvPr>
            <p:ph type="sldNum" sz="quarter" idx="12"/>
          </p:nvPr>
        </p:nvSpPr>
        <p:spPr/>
        <p:txBody>
          <a:bodyPr/>
          <a:lstStyle/>
          <a:p>
            <a:fld id="{304318A0-AD76-4461-B655-8B1A266EB0A2}" type="slidenum">
              <a:rPr lang="fr-FR" smtClean="0"/>
              <a:t>32</a:t>
            </a:fld>
            <a:endParaRPr lang="fr-FR"/>
          </a:p>
        </p:txBody>
      </p:sp>
    </p:spTree>
    <p:extLst>
      <p:ext uri="{BB962C8B-B14F-4D97-AF65-F5344CB8AC3E}">
        <p14:creationId xmlns:p14="http://schemas.microsoft.com/office/powerpoint/2010/main" val="3587826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vert="horz" lIns="91440" tIns="0" rIns="91440" bIns="0" rtlCol="0" anchor="t">
            <a:noAutofit/>
          </a:bodyPr>
          <a:lstStyle/>
          <a:p>
            <a:r>
              <a:rPr lang="en-US" sz="1800">
                <a:solidFill>
                  <a:srgbClr val="3A75C4"/>
                </a:solidFill>
                <a:latin typeface="Arial" panose="020B0604020202020204" pitchFamily="34" charset="0"/>
                <a:cs typeface="Arial" panose="020B0604020202020204" pitchFamily="34" charset="0"/>
              </a:rPr>
              <a:t>H1 2023 Cash flow statement</a:t>
            </a:r>
            <a:endParaRPr lang="fr-FR" sz="1800">
              <a:solidFill>
                <a:srgbClr val="3A75C4"/>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0809F491-7E94-4D89-B53F-F9D6CE25A000}"/>
              </a:ext>
            </a:extLst>
          </p:cNvPr>
          <p:cNvSpPr/>
          <p:nvPr/>
        </p:nvSpPr>
        <p:spPr>
          <a:xfrm>
            <a:off x="374649" y="4837273"/>
            <a:ext cx="7830675" cy="184666"/>
          </a:xfrm>
          <a:prstGeom prst="rect">
            <a:avLst/>
          </a:prstGeom>
        </p:spPr>
        <p:txBody>
          <a:bodyPr wrap="square">
            <a:spAutoFit/>
          </a:bodyPr>
          <a:lstStyle/>
          <a:p>
            <a:r>
              <a:rPr lang="en-GB" sz="600">
                <a:latin typeface="Arial" panose="020B0604020202020204" pitchFamily="34" charset="0"/>
                <a:cs typeface="Arial" panose="020B0604020202020204" pitchFamily="34" charset="0"/>
              </a:rPr>
              <a:t>(1) Restated </a:t>
            </a:r>
            <a:r>
              <a:rPr lang="en-US" sz="600">
                <a:latin typeface="Arial" panose="020B0604020202020204" pitchFamily="34" charset="0"/>
                <a:cs typeface="Arial" panose="020B0604020202020204" pitchFamily="34" charset="0"/>
              </a:rPr>
              <a:t>in accordance with the application of IFRS 5.</a:t>
            </a:r>
            <a:endParaRPr lang="en-GB" sz="600">
              <a:latin typeface="Arial" panose="020B0604020202020204" pitchFamily="34" charset="0"/>
              <a:cs typeface="Arial" panose="020B0604020202020204" pitchFamily="34" charset="0"/>
            </a:endParaRPr>
          </a:p>
        </p:txBody>
      </p:sp>
      <p:pic>
        <p:nvPicPr>
          <p:cNvPr id="3" name="Image 2">
            <a:extLst>
              <a:ext uri="{FF2B5EF4-FFF2-40B4-BE49-F238E27FC236}">
                <a16:creationId xmlns:a16="http://schemas.microsoft.com/office/drawing/2014/main" id="{897CD34B-D9CD-4F73-94DF-D4110DA78D25}"/>
              </a:ext>
            </a:extLst>
          </p:cNvPr>
          <p:cNvPicPr>
            <a:picLocks noChangeAspect="1"/>
          </p:cNvPicPr>
          <p:nvPr>
            <p:custDataLst>
              <p:tags r:id="rId2"/>
            </p:custDataLst>
          </p:nvPr>
        </p:nvPicPr>
        <p:blipFill>
          <a:blip r:embed="rId4"/>
          <a:stretch>
            <a:fillRect/>
          </a:stretch>
        </p:blipFill>
        <p:spPr>
          <a:xfrm>
            <a:off x="443142" y="471476"/>
            <a:ext cx="6793157" cy="4258548"/>
          </a:xfrm>
          <a:prstGeom prst="rect">
            <a:avLst/>
          </a:prstGeom>
        </p:spPr>
      </p:pic>
      <p:sp>
        <p:nvSpPr>
          <p:cNvPr id="5" name="Espace réservé du numéro de diapositive 4">
            <a:extLst>
              <a:ext uri="{FF2B5EF4-FFF2-40B4-BE49-F238E27FC236}">
                <a16:creationId xmlns:a16="http://schemas.microsoft.com/office/drawing/2014/main" id="{0BFE3B3B-8477-4907-9CE9-D70C34435E44}"/>
              </a:ext>
            </a:extLst>
          </p:cNvPr>
          <p:cNvSpPr>
            <a:spLocks noGrp="1"/>
          </p:cNvSpPr>
          <p:nvPr>
            <p:ph type="sldNum" sz="quarter" idx="12"/>
          </p:nvPr>
        </p:nvSpPr>
        <p:spPr/>
        <p:txBody>
          <a:bodyPr/>
          <a:lstStyle/>
          <a:p>
            <a:fld id="{304318A0-AD76-4461-B655-8B1A266EB0A2}" type="slidenum">
              <a:rPr lang="fr-FR" smtClean="0"/>
              <a:t>33</a:t>
            </a:fld>
            <a:endParaRPr lang="fr-FR"/>
          </a:p>
        </p:txBody>
      </p:sp>
    </p:spTree>
    <p:extLst>
      <p:ext uri="{BB962C8B-B14F-4D97-AF65-F5344CB8AC3E}">
        <p14:creationId xmlns:p14="http://schemas.microsoft.com/office/powerpoint/2010/main" val="1850271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vert="horz" lIns="91440" tIns="0" rIns="91440" bIns="0" rtlCol="0" anchor="t">
            <a:noAutofit/>
          </a:bodyPr>
          <a:lstStyle/>
          <a:p>
            <a:r>
              <a:rPr lang="en-US" sz="1800">
                <a:solidFill>
                  <a:srgbClr val="3A75C4"/>
                </a:solidFill>
                <a:latin typeface="Arial" panose="020B0604020202020204" pitchFamily="34" charset="0"/>
                <a:cs typeface="Arial" panose="020B0604020202020204" pitchFamily="34" charset="0"/>
              </a:rPr>
              <a:t>Change in shareholders' equity</a:t>
            </a:r>
            <a:endParaRPr lang="fr-FR" sz="1800">
              <a:solidFill>
                <a:srgbClr val="3A75C4"/>
              </a:solidFill>
              <a:latin typeface="Arial" panose="020B0604020202020204" pitchFamily="34" charset="0"/>
              <a:cs typeface="Arial" panose="020B0604020202020204" pitchFamily="34" charset="0"/>
            </a:endParaRPr>
          </a:p>
        </p:txBody>
      </p:sp>
      <p:pic>
        <p:nvPicPr>
          <p:cNvPr id="4" name="Image 3">
            <a:extLst>
              <a:ext uri="{FF2B5EF4-FFF2-40B4-BE49-F238E27FC236}">
                <a16:creationId xmlns:a16="http://schemas.microsoft.com/office/drawing/2014/main" id="{A7AD1B13-6034-404E-A912-024FEB96A8C3}"/>
              </a:ext>
            </a:extLst>
          </p:cNvPr>
          <p:cNvPicPr>
            <a:picLocks noChangeAspect="1"/>
          </p:cNvPicPr>
          <p:nvPr>
            <p:custDataLst>
              <p:tags r:id="rId2"/>
            </p:custDataLst>
          </p:nvPr>
        </p:nvPicPr>
        <p:blipFill>
          <a:blip r:embed="rId4"/>
          <a:stretch>
            <a:fillRect/>
          </a:stretch>
        </p:blipFill>
        <p:spPr>
          <a:xfrm>
            <a:off x="121623" y="617216"/>
            <a:ext cx="8768378" cy="3950508"/>
          </a:xfrm>
          <a:prstGeom prst="rect">
            <a:avLst/>
          </a:prstGeom>
        </p:spPr>
      </p:pic>
      <p:sp>
        <p:nvSpPr>
          <p:cNvPr id="5" name="Espace réservé du numéro de diapositive 4">
            <a:extLst>
              <a:ext uri="{FF2B5EF4-FFF2-40B4-BE49-F238E27FC236}">
                <a16:creationId xmlns:a16="http://schemas.microsoft.com/office/drawing/2014/main" id="{F367F289-D649-43C7-AAFC-B0442B164FC1}"/>
              </a:ext>
            </a:extLst>
          </p:cNvPr>
          <p:cNvSpPr>
            <a:spLocks noGrp="1"/>
          </p:cNvSpPr>
          <p:nvPr>
            <p:ph type="sldNum" sz="quarter" idx="12"/>
          </p:nvPr>
        </p:nvSpPr>
        <p:spPr/>
        <p:txBody>
          <a:bodyPr/>
          <a:lstStyle/>
          <a:p>
            <a:fld id="{304318A0-AD76-4461-B655-8B1A266EB0A2}" type="slidenum">
              <a:rPr lang="fr-FR" smtClean="0"/>
              <a:t>34</a:t>
            </a:fld>
            <a:endParaRPr lang="fr-FR"/>
          </a:p>
        </p:txBody>
      </p:sp>
    </p:spTree>
    <p:extLst>
      <p:ext uri="{BB962C8B-B14F-4D97-AF65-F5344CB8AC3E}">
        <p14:creationId xmlns:p14="http://schemas.microsoft.com/office/powerpoint/2010/main" val="40274376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14D4CAA-DA48-4423-8879-EDE8FED8F86E}"/>
              </a:ext>
            </a:extLst>
          </p:cNvPr>
          <p:cNvSpPr>
            <a:spLocks noGrp="1"/>
          </p:cNvSpPr>
          <p:nvPr>
            <p:ph type="title"/>
          </p:nvPr>
        </p:nvSpPr>
        <p:spPr/>
        <p:txBody>
          <a:bodyPr vert="horz" lIns="91440" tIns="0" rIns="91440" bIns="0" rtlCol="0" anchor="t">
            <a:noAutofit/>
          </a:bodyPr>
          <a:lstStyle/>
          <a:p>
            <a:r>
              <a:rPr lang="en-US" sz="1800">
                <a:solidFill>
                  <a:srgbClr val="3A75C4"/>
                </a:solidFill>
                <a:latin typeface="Arial" panose="020B0604020202020204" pitchFamily="34" charset="0"/>
                <a:cs typeface="Arial" panose="020B0604020202020204" pitchFamily="34" charset="0"/>
              </a:rPr>
              <a:t>GLOSSARY</a:t>
            </a:r>
            <a:br>
              <a:rPr lang="fr-FR" sz="1800">
                <a:solidFill>
                  <a:srgbClr val="3A75C4"/>
                </a:solidFill>
                <a:latin typeface="Arial" panose="020B0604020202020204" pitchFamily="34" charset="0"/>
                <a:cs typeface="Arial" panose="020B0604020202020204" pitchFamily="34" charset="0"/>
              </a:rPr>
            </a:br>
            <a:endParaRPr lang="en-US" sz="1800">
              <a:solidFill>
                <a:srgbClr val="3A75C4"/>
              </a:solidFill>
              <a:latin typeface="Arial" panose="020B0604020202020204" pitchFamily="34" charset="0"/>
              <a:cs typeface="Arial" panose="020B0604020202020204" pitchFamily="34" charset="0"/>
            </a:endParaRPr>
          </a:p>
        </p:txBody>
      </p:sp>
      <p:sp>
        <p:nvSpPr>
          <p:cNvPr id="5" name="Espace réservé du contenu 1">
            <a:extLst>
              <a:ext uri="{FF2B5EF4-FFF2-40B4-BE49-F238E27FC236}">
                <a16:creationId xmlns:a16="http://schemas.microsoft.com/office/drawing/2014/main" id="{F7ECA649-EE7B-4AAE-AADC-DA1BD002AA50}"/>
              </a:ext>
            </a:extLst>
          </p:cNvPr>
          <p:cNvSpPr>
            <a:spLocks noGrp="1"/>
          </p:cNvSpPr>
          <p:nvPr>
            <p:ph idx="1"/>
          </p:nvPr>
        </p:nvSpPr>
        <p:spPr>
          <a:xfrm>
            <a:off x="107951" y="914400"/>
            <a:ext cx="8926512" cy="3619500"/>
          </a:xfrm>
        </p:spPr>
        <p:txBody>
          <a:bodyPr/>
          <a:lstStyle/>
          <a:p>
            <a:pPr lvl="3">
              <a:lnSpc>
                <a:spcPct val="150000"/>
              </a:lnSpc>
              <a:defRPr/>
            </a:pPr>
            <a:r>
              <a:rPr lang="en-GB">
                <a:solidFill>
                  <a:srgbClr val="3A75C4"/>
                </a:solidFill>
              </a:rPr>
              <a:t>Organic growth: </a:t>
            </a:r>
            <a:r>
              <a:rPr lang="en-GB" b="0"/>
              <a:t>growth at constant scope and exchange rates.</a:t>
            </a:r>
          </a:p>
          <a:p>
            <a:pPr lvl="3">
              <a:lnSpc>
                <a:spcPct val="150000"/>
              </a:lnSpc>
              <a:defRPr/>
            </a:pPr>
            <a:r>
              <a:rPr lang="en-GB">
                <a:solidFill>
                  <a:srgbClr val="3A75C4"/>
                </a:solidFill>
              </a:rPr>
              <a:t>Net revenue (Havas Group): </a:t>
            </a:r>
            <a:r>
              <a:rPr lang="en-GB" b="0"/>
              <a:t>sales after deduction of costs re-billable to customers.</a:t>
            </a:r>
          </a:p>
          <a:p>
            <a:pPr lvl="3">
              <a:lnSpc>
                <a:spcPct val="150000"/>
              </a:lnSpc>
              <a:defRPr/>
            </a:pPr>
            <a:r>
              <a:rPr lang="en-GB">
                <a:solidFill>
                  <a:srgbClr val="3A75C4"/>
                </a:solidFill>
              </a:rPr>
              <a:t>Adjusted operating income (EBITA): </a:t>
            </a:r>
            <a:r>
              <a:rPr lang="en-GB" b="0"/>
              <a:t>operating income before amortisation of intangible assets related to business combinations (PPA: purchase price allocation), impairment of goodwill and other intangible assets related to business combinations.</a:t>
            </a:r>
          </a:p>
          <a:p>
            <a:pPr lvl="3">
              <a:lnSpc>
                <a:spcPct val="150000"/>
              </a:lnSpc>
              <a:defRPr/>
            </a:pPr>
            <a:r>
              <a:rPr lang="en-GB">
                <a:solidFill>
                  <a:srgbClr val="3A75C4"/>
                </a:solidFill>
              </a:rPr>
              <a:t>EBITDA: </a:t>
            </a:r>
            <a:r>
              <a:rPr lang="en-GB" b="0"/>
              <a:t>operating income before depreciation and amortisation. </a:t>
            </a:r>
          </a:p>
          <a:p>
            <a:pPr lvl="3">
              <a:lnSpc>
                <a:spcPct val="150000"/>
              </a:lnSpc>
              <a:defRPr/>
            </a:pPr>
            <a:r>
              <a:rPr lang="en-GB">
                <a:solidFill>
                  <a:srgbClr val="3A75C4"/>
                </a:solidFill>
              </a:rPr>
              <a:t>UMG adjusted EBITDA:</a:t>
            </a:r>
            <a:r>
              <a:rPr lang="en-GB" b="0"/>
              <a:t> EBITDA adjusted for the cost of non-cash share compensations and certain non-recurring items deemed significant by management and having an impact on the normal course of business.</a:t>
            </a:r>
          </a:p>
          <a:p>
            <a:pPr lvl="3">
              <a:lnSpc>
                <a:spcPct val="150000"/>
              </a:lnSpc>
              <a:defRPr/>
            </a:pPr>
            <a:r>
              <a:rPr lang="en-GB">
                <a:solidFill>
                  <a:srgbClr val="3A75C4"/>
                </a:solidFill>
              </a:rPr>
              <a:t>UMG adjusted net income Group share:</a:t>
            </a:r>
            <a:r>
              <a:rPr lang="en-GB" b="0"/>
              <a:t> Adjusted net income for financial income not related to financing (including change in fair value of Spotify and Tencent Music Entertainment), share-based payments, catalogue depreciation and tax effects associated with these adjustments.</a:t>
            </a:r>
          </a:p>
          <a:p>
            <a:pPr lvl="3">
              <a:lnSpc>
                <a:spcPct val="150000"/>
              </a:lnSpc>
              <a:defRPr/>
            </a:pPr>
            <a:r>
              <a:rPr lang="en-GB">
                <a:solidFill>
                  <a:srgbClr val="3A75C4"/>
                </a:solidFill>
              </a:rPr>
              <a:t>Net financial debt / Net cash position: </a:t>
            </a:r>
            <a:r>
              <a:rPr lang="en-GB" b="0"/>
              <a:t>sum of borrowings at amortised cost, less cash and cash equivalents, cash management financial assets and net derivative financial instruments (assets or liabilities) with an underlying net financial indebtedness, as well as cash deposits backed by borrowings.</a:t>
            </a:r>
          </a:p>
          <a:p>
            <a:pPr marL="0" lvl="3" indent="0">
              <a:lnSpc>
                <a:spcPct val="150000"/>
              </a:lnSpc>
              <a:buNone/>
            </a:pPr>
            <a:endParaRPr lang="fr-FR" b="0">
              <a:highlight>
                <a:srgbClr val="FFFF00"/>
              </a:highlight>
            </a:endParaRPr>
          </a:p>
          <a:p>
            <a:endParaRPr lang="fr-FR">
              <a:highlight>
                <a:srgbClr val="FFFF00"/>
              </a:highlight>
            </a:endParaRPr>
          </a:p>
        </p:txBody>
      </p:sp>
      <p:sp>
        <p:nvSpPr>
          <p:cNvPr id="6" name="Espace réservé du numéro de diapositive 5">
            <a:extLst>
              <a:ext uri="{FF2B5EF4-FFF2-40B4-BE49-F238E27FC236}">
                <a16:creationId xmlns:a16="http://schemas.microsoft.com/office/drawing/2014/main" id="{83FC13F2-E568-48A8-A007-1738353BF815}"/>
              </a:ext>
            </a:extLst>
          </p:cNvPr>
          <p:cNvSpPr>
            <a:spLocks noGrp="1"/>
          </p:cNvSpPr>
          <p:nvPr>
            <p:ph type="sldNum" sz="quarter" idx="12"/>
          </p:nvPr>
        </p:nvSpPr>
        <p:spPr/>
        <p:txBody>
          <a:bodyPr/>
          <a:lstStyle/>
          <a:p>
            <a:fld id="{304318A0-AD76-4461-B655-8B1A266EB0A2}" type="slidenum">
              <a:rPr lang="fr-FR" smtClean="0"/>
              <a:t>35</a:t>
            </a:fld>
            <a:endParaRPr lang="fr-FR"/>
          </a:p>
        </p:txBody>
      </p:sp>
    </p:spTree>
    <p:extLst>
      <p:ext uri="{BB962C8B-B14F-4D97-AF65-F5344CB8AC3E}">
        <p14:creationId xmlns:p14="http://schemas.microsoft.com/office/powerpoint/2010/main" val="17315088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ISIBLEUPSLIDESLIDELIBPARTS" val="System.Collections.Generic.List`1[System.String]"/>
  <p:tag name="UPSLIDEPRINTFACINGPAGESDESIGN" val="Groupe Bolloré"/>
  <p:tag name="UPSLIDEPRINTFACINGPAGESLAYOUT" val="Page de couverture"/>
  <p:tag name="UPSLIDETOCALGOID" val="Standard"/>
  <p:tag name="UPSLIDETOCMASTERID" val="Bolloré 202011 23 2020"/>
  <p:tag name="UPSLIDETOCMASTERNAME" val="Bolloré 2020"/>
  <p:tag name="UPSLIDETOCMASTERLASTEDITIONDATE" val="637423488979119008"/>
  <p:tag name="COLUMNSNUMBER" val="3"/>
  <p:tag name="COLUMNSGUTTER" val="3,5"/>
  <p:tag name="ROWSNUMBER" val="2"/>
  <p:tag name="ROWSGUTTER" val="3,5"/>
  <p:tag name="UNIQUEMARGIN" val="False"/>
  <p:tag name="TOPMARGIN" val="25,4"/>
  <p:tag name="LEFTMARGIN" val="3"/>
  <p:tag name="BOTTOMMARGIN" val="16,9"/>
  <p:tag name="RIGHTMARGIN" val="3"/>
  <p:tag name="MARGINSIZEUNIT" val="mm"/>
  <p:tag name="TEMPLATESHORTNAMETAG" val="Bolloré - Standard"/>
  <p:tag name="TEMPLATEFULLNAMETAG" val="Bolloré - Standard"/>
  <p:tag name="UPSLIDE" val="Bol02220_Bolloré - 2020_11-23-2020"/>
  <p:tag name="UPSLIDEVERSION" val="6.6.14.1"/>
  <p:tag name="UPSLIDETOCOPTIONS" val="&lt;?xml version=&quot;1.0&quot; encoding=&quot;utf-16&quot;?&gt;&#10;&lt;TocContentOptions xmlns:xsi=&quot;http://www.w3.org/2001/XMLSchema-instance&quot; xmlns:xsd=&quot;http://www.w3.org/2001/XMLSchema&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true&lt;/containsUnnumberedSections&gt;&#10;    &lt;SlideTitle&gt;Contents&lt;/SlideTitle&gt;&#10;  &lt;/SectionSlideOptions&gt;&#10;  &lt;SubSectionSlideOptions&gt;&#10;    &lt;ContainsOtherSubsections&gt;false&lt;/ContainsOtherSubsections&gt;&#10;    &lt;ContainsOwnSlides&gt;true&lt;/ContainsOwnSlides&gt;&#10;    &lt;ContainsParentSection&gt;true&lt;/ContainsParentSection&gt;&#10;    &lt;ContainsOtherSections&gt;true&lt;/ContainsOtherSections&gt;&#10;    &lt;containsAppendix&gt;true&lt;/containsAppendix&gt;&#10;    &lt;containsUnnumberedSections&gt;true&lt;/containsUnnumberedSections&gt;&#10;    &lt;SlideTitle&gt;Contents&lt;/SlideTitle&gt;&#10;  &lt;/SubSectionSlideOptions&gt;&#10;  &lt;UsedSlideLayouts&gt;&#10;    &lt;TocSlidesLayout&gt;&#10;      &lt;DesignName&gt;Groupe Bolloré&lt;/DesignName&gt;&#10;      &lt;LayoutName&gt;Sommaire&lt;/LayoutName&gt;&#10;    &lt;/TocSlidesLayout&gt;&#10;    &lt;SectionLayout&gt;&#10;      &lt;DesignName&gt;Groupe Bolloré&lt;/DesignName&gt;&#10;      &lt;LayoutName&gt;Section&lt;/LayoutName&gt;&#10;    &lt;/SectionLayout&gt;&#10;    &lt;SubsectionLayout&gt;&#10;      &lt;DesignName&gt;Groupe Bolloré&lt;/DesignName&gt;&#10;      &lt;LayoutName&gt;Section&lt;/LayoutName&gt;&#10;    &lt;/SubsectionLayout&gt;&#10;    &lt;AppendixLayout&gt;&#10;      &lt;DesignName /&gt;&#10;      &lt;LayoutName /&gt;&#10;    &lt;/AppendixLayout&gt;&#10;    &lt;TitleSliLayout&gt;&#10;      &lt;DesignName&gt;Groupe Bolloré&lt;/DesignName&gt;&#10;      &lt;LayoutName&gt;Page de couverture&lt;/LayoutName&gt;&#10;    &lt;/TitleSliLayout&gt;&#10;  &lt;/UsedSlideLayouts&gt;&#10;  &lt;ActiveReminders&gt;&#10;    &lt;MigrationVersion&gt;6.8.28.2&lt;/MigrationVersion&gt;&#10;  &lt;/ActiveReminders&gt;&#10;  &lt;HardRefreshRequired&gt;fals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false&lt;/UseFixedColor&gt;&#10;        &lt;R&gt;0&lt;/R&gt;&#10;        &lt;G&gt;0&lt;/G&gt;&#10;        &lt;B&gt;0&lt;/B&gt;&#10;      &lt;/myColorOfNonCurrentItems&gt;&#10;      &lt;currentItemFormat&gt;&#10;        &lt;UseBanner&gt;false&lt;/UseBanner&gt;&#10;        &lt;BannerFillR&gt;0&lt;/BannerFillR&gt;&#10;        &lt;BannerFillG&gt;0&lt;/BannerFillG&gt;&#10;        &lt;BannerFillB&gt;0&lt;/BannerFillB&gt;&#10;        &lt;ForceBold&gt;false&lt;/ForceBold&gt;&#10;        &lt;ApplyToSubSections&gt;fals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6&lt;/Shading&gt;&#10;      &lt;/nonCurrentItemAttenuation&gt;&#10;      &lt;ForceDisplayTOCOnTwocolumns&gt;false&lt;/ForceDisplayTOCOnTwocolumns&gt;&#10;      &lt;DisplayTOCOnTwocolumns&gt;false&lt;/DisplayTOCOnTwocolumns&gt;&#10;      &lt;Scripts&gt;&#10;        &lt;BeforeSubSecTitle /&gt;&#10;        &lt;BeforeSlideIndex /&gt;&#10;        &lt;AfterSecNum /&gt;&#10;        &lt;BeforeSecNum /&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1&lt;/SpaceBeforeSlides&gt;&#10;        &lt;/ManualSpacing&gt;&#10;        &lt;ManualSpacingSections&gt;&#10;          &lt;SpaceBeforeSections&gt;15&lt;/SpaceBeforeSections&gt;&#10;          &lt;SpaceBeforeSubSections&gt;4&lt;/SpaceBeforeSubSections&gt;&#10;          &lt;SpaceBeforeSlides&gt;4&lt;/SpaceBeforeSlides&gt;&#10;        &lt;/ManualSpacingSections&gt;&#10;        &lt;ManualSpacingSubSections&gt;&#10;          &lt;SpaceBeforeSections&gt;12.373229&lt;/SpaceBeforeSections&gt;&#10;          &lt;SpaceBeforeSubSections&gt;8.248819&lt;/SpaceBeforeSubSections&gt;&#10;          &lt;SpaceBeforeSlides&gt;4.1244096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 xsi:nil=&quot;true&quot; /&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RomanAndLetters&lt;/NumType&gt;&#10;  &lt;/NumberingOptionForAppendix&gt;&#10;&lt;/TocContentOptions&gt;"/>
</p:tagLst>
</file>

<file path=ppt/tags/tag2.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xml><?xml version="1.0" encoding="utf-8"?>
<p:tagLst xmlns:a="http://schemas.openxmlformats.org/drawingml/2006/main" xmlns:r="http://schemas.openxmlformats.org/officeDocument/2006/relationships" xmlns:p="http://schemas.openxmlformats.org/presentationml/2006/main">
  <p:tag name="TOCSHAPE" val="259"/>
  <p:tag name="SLIDEINDEX" val="259"/>
  <p:tag name="NAME" val="SECTIONINDEX"/>
  <p:tag name="TOCTEMPLATESHAPENAME" val="Numéro de slide des sections"/>
  <p:tag name="TOCTEMPLATESHAPEDESCRIPTION" val="Définit le format de la forme contenant les numéros de slides pour les sections."/>
</p:tagLst>
</file>

<file path=ppt/tags/tag4.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5.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6.xml><?xml version="1.0" encoding="utf-8"?>
<p:tagLst xmlns:a="http://schemas.openxmlformats.org/drawingml/2006/main" xmlns:r="http://schemas.openxmlformats.org/officeDocument/2006/relationships" xmlns:p="http://schemas.openxmlformats.org/presentationml/2006/main">
  <p:tag name="TOCSHAPE" val="259"/>
  <p:tag name="SLIDEINDEX" val="259"/>
  <p:tag name="NAME" val="SUBSECTIONINDEX"/>
  <p:tag name="TOCTEMPLATESHAPENAME" val="Numéro de slide des sous-sections"/>
  <p:tag name="TOCTEMPLATESHAPEDESCRIPTION" val="Définit le format de la forme contenant les numéros de slides des sous-sections."/>
</p:tagLst>
</file>

<file path=ppt/tags/tag7.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8.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9.xml><?xml version="1.0" encoding="utf-8"?>
<p:tagLst xmlns:a="http://schemas.openxmlformats.org/drawingml/2006/main" xmlns:r="http://schemas.openxmlformats.org/officeDocument/2006/relationships" xmlns:p="http://schemas.openxmlformats.org/presentationml/2006/main">
  <p:tag name="TOCSHAPE" val="259"/>
  <p:tag name="SLIDEINDEX" val="259"/>
  <p:tag name="NAME" val="SLIDEINDEX"/>
  <p:tag name="TOCTEMPLATESHAPENAME" val="Numéro de slide"/>
  <p:tag name="TOCTEMPLATESHAPEDESCRIPTION" val="Définit le format de la forme contenant le numéro de diapositive"/>
</p:tagLst>
</file>

<file path=ppt/tags/tag10.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LIDETITLE"/>
  <p:tag name="TOCTEMPLATESHAPENAME" val="Titre des diapositives"/>
  <p:tag name="TOCTEMPLATESHAPEDESCRIPTION" val="Définit le format de la forme contenant les titres de slide"/>
</p:tagLst>
</file>

<file path=ppt/tags/tag11.xml><?xml version="1.0" encoding="utf-8"?>
<p:tagLst xmlns:a="http://schemas.openxmlformats.org/drawingml/2006/main" xmlns:r="http://schemas.openxmlformats.org/officeDocument/2006/relationships" xmlns:p="http://schemas.openxmlformats.org/presentationml/2006/main">
  <p:tag name="HIDETOC" val="true"/>
</p:tagLst>
</file>

<file path=ppt/tags/tag12.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13.xml><?xml version="1.0" encoding="utf-8"?>
<p:tagLst xmlns:a="http://schemas.openxmlformats.org/drawingml/2006/main" xmlns:r="http://schemas.openxmlformats.org/officeDocument/2006/relationships" xmlns:p="http://schemas.openxmlformats.org/presentationml/2006/main">
  <p:tag name="SLIDEINDEX" val="285"/>
  <p:tag name="NAME" val="SECTIONINDEX"/>
  <p:tag name="TOCTEMPLATESHAPENAME" val="Numéro de slide des sections"/>
  <p:tag name="TOCTEMPLATESHAPEDESCRIPTION" val="Définit le format de la forme contenant les numéros de slides pour les sections."/>
</p:tagLst>
</file>

<file path=ppt/tags/tag14.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15.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16.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17.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LIDEINDEX"/>
  <p:tag name="TOCTEMPLATESHAPENAME" val="Numéro de slide"/>
  <p:tag name="TOCTEMPLATESHAPEDESCRIPTION" val="Définit le format de la forme contenant le numéro de diapositive"/>
</p:tagLst>
</file>

<file path=ppt/tags/tag18.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LIDETITLE"/>
  <p:tag name="TOCTEMPLATESHAPENAME" val="Titre des diapositives"/>
  <p:tag name="TOCTEMPLATESHAPEDESCRIPTION" val="Définit le format de la forme contenant les titres de slide"/>
</p:tagLst>
</file>

<file path=ppt/tags/tag19.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20.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21.xml><?xml version="1.0" encoding="utf-8"?>
<p:tagLst xmlns:a="http://schemas.openxmlformats.org/drawingml/2006/main" xmlns:r="http://schemas.openxmlformats.org/officeDocument/2006/relationships" xmlns:p="http://schemas.openxmlformats.org/presentationml/2006/main">
  <p:tag name="HIDETOC" val="true"/>
</p:tagLst>
</file>

<file path=ppt/tags/tag22.xml><?xml version="1.0" encoding="utf-8"?>
<p:tagLst xmlns:a="http://schemas.openxmlformats.org/drawingml/2006/main" xmlns:r="http://schemas.openxmlformats.org/officeDocument/2006/relationships" xmlns:p="http://schemas.openxmlformats.org/presentationml/2006/main">
  <p:tag name="NAME" val="SUBSECTIONINDEX"/>
  <p:tag name="TOCTEMPLATESHAPENAME" val="Numéro de slide des sous-sections"/>
  <p:tag name="TOCTEMPLATESHAPEDESCRIPTION" val="Définit le format de la forme contenant les numéros de slides des sous-sections."/>
</p:tagLst>
</file>

<file path=ppt/tags/tag23.xml><?xml version="1.0" encoding="utf-8"?>
<p:tagLst xmlns:a="http://schemas.openxmlformats.org/drawingml/2006/main" xmlns:r="http://schemas.openxmlformats.org/officeDocument/2006/relationships" xmlns:p="http://schemas.openxmlformats.org/presentationml/2006/main">
  <p:tag name="RANK" val="3"/>
  <p:tag name="MODE" val="1"/>
  <p:tag name="LEFT" val="17"/>
  <p:tag name="TOP" val="85"/>
  <p:tag name="WIDTH" val="684"/>
  <p:tag name="NAME" val="SECTIONUM"/>
  <p:tag name="TOCTEMPLATESHAPENAME" val="Numéro de section"/>
  <p:tag name="TOCTEMPLATESHAPEDESCRIPTION" val="Définit le format de la forme contenant les numéros de sections"/>
</p:tagLst>
</file>

<file path=ppt/tags/tag24.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25.xml><?xml version="1.0" encoding="utf-8"?>
<p:tagLst xmlns:a="http://schemas.openxmlformats.org/drawingml/2006/main" xmlns:r="http://schemas.openxmlformats.org/officeDocument/2006/relationships" xmlns:p="http://schemas.openxmlformats.org/presentationml/2006/main">
  <p:tag name="RANK" val="3"/>
  <p:tag name="MODE" val="1"/>
  <p:tag name="LEFT" val="17"/>
  <p:tag name="TOP" val="85"/>
  <p:tag name="WIDTH" val="684"/>
  <p:tag name="NAME" val="SUBSECTIONUM"/>
  <p:tag name="TOCTEMPLATESHAPENAME" val="Index des sous-section"/>
  <p:tag name="TOCTEMPLATESHAPEDESCRIPTION" val="Définit le format de la forme contenant les numéros des sou-sections"/>
</p:tagLst>
</file>

<file path=ppt/tags/tag26.xml><?xml version="1.0" encoding="utf-8"?>
<p:tagLst xmlns:a="http://schemas.openxmlformats.org/drawingml/2006/main" xmlns:r="http://schemas.openxmlformats.org/officeDocument/2006/relationships" xmlns:p="http://schemas.openxmlformats.org/presentationml/2006/main">
  <p:tag name="SLIDEINDEX" val="285"/>
  <p:tag name="NAME" val="SECTIONINDEX"/>
  <p:tag name="TOCTEMPLATESHAPENAME" val="Numéro de slide des sections"/>
  <p:tag name="TOCTEMPLATESHAPEDESCRIPTION" val="Définit le format de la forme contenant les numéros de slides pour les sections."/>
</p:tagLst>
</file>

<file path=ppt/tags/tag27.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28.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29.xml><?xml version="1.0" encoding="utf-8"?>
<p:tagLst xmlns:a="http://schemas.openxmlformats.org/drawingml/2006/main" xmlns:r="http://schemas.openxmlformats.org/officeDocument/2006/relationships" xmlns:p="http://schemas.openxmlformats.org/presentationml/2006/main">
  <p:tag name="TOCSHAPE" val="274"/>
  <p:tag name="SLIDEINDEX" val="274"/>
  <p:tag name="NAME" val="SLIDEINDEX"/>
  <p:tag name="TOCTEMPLATESHAPENAME" val="Numéro de slide"/>
  <p:tag name="TOCTEMPLATESHAPEDESCRIPTION" val="Définit le format de la forme contenant le numéro de diapositive"/>
</p:tagLst>
</file>

<file path=ppt/tags/tag30.xml><?xml version="1.0" encoding="utf-8"?>
<p:tagLst xmlns:a="http://schemas.openxmlformats.org/drawingml/2006/main" xmlns:r="http://schemas.openxmlformats.org/officeDocument/2006/relationships" xmlns:p="http://schemas.openxmlformats.org/presentationml/2006/main">
  <p:tag name="TOCSHAPE" val="A"/>
  <p:tag name="NAME" val="SLIDETITLE"/>
  <p:tag name="TOCTEMPLATESHAPENAME" val="Titre des diapositives"/>
  <p:tag name="TOCTEMPLATESHAPEDESCRIPTION" val="Définit le format de la forme contenant les titres de slide"/>
</p:tagLst>
</file>

<file path=ppt/tags/tag31.xml><?xml version="1.0" encoding="utf-8"?>
<p:tagLst xmlns:a="http://schemas.openxmlformats.org/drawingml/2006/main" xmlns:r="http://schemas.openxmlformats.org/officeDocument/2006/relationships" xmlns:p="http://schemas.openxmlformats.org/presentationml/2006/main">
  <p:tag name="HIDETOC" val="true"/>
</p:tagLst>
</file>

<file path=ppt/tags/tag32.xml><?xml version="1.0" encoding="utf-8"?>
<p:tagLst xmlns:a="http://schemas.openxmlformats.org/drawingml/2006/main" xmlns:r="http://schemas.openxmlformats.org/officeDocument/2006/relationships" xmlns:p="http://schemas.openxmlformats.org/presentationml/2006/main">
  <p:tag name="HIDETOC" val="true"/>
</p:tagLst>
</file>

<file path=ppt/tags/tag33.xml><?xml version="1.0" encoding="utf-8"?>
<p:tagLst xmlns:a="http://schemas.openxmlformats.org/drawingml/2006/main" xmlns:r="http://schemas.openxmlformats.org/officeDocument/2006/relationships" xmlns:p="http://schemas.openxmlformats.org/presentationml/2006/main">
  <p:tag name="TOCSLIDE" val="1"/>
</p:tagLst>
</file>

<file path=ppt/tags/tag34.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7.xml><?xml version="1.0" encoding="utf-8"?>
<p:tagLst xmlns:a="http://schemas.openxmlformats.org/drawingml/2006/main" xmlns:r="http://schemas.openxmlformats.org/officeDocument/2006/relationships" xmlns:p="http://schemas.openxmlformats.org/presentationml/2006/main">
  <p:tag name="TOCSHAPE" val="AA"/>
</p:tagLst>
</file>

<file path=ppt/tags/tag38.xml><?xml version="1.0" encoding="utf-8"?>
<p:tagLst xmlns:a="http://schemas.openxmlformats.org/drawingml/2006/main" xmlns:r="http://schemas.openxmlformats.org/officeDocument/2006/relationships" xmlns:p="http://schemas.openxmlformats.org/presentationml/2006/main">
  <p:tag name="TOCSHAPE" val="AA"/>
</p:tagLst>
</file>

<file path=ppt/tags/tag39.xml><?xml version="1.0" encoding="utf-8"?>
<p:tagLst xmlns:a="http://schemas.openxmlformats.org/drawingml/2006/main" xmlns:r="http://schemas.openxmlformats.org/officeDocument/2006/relationships" xmlns:p="http://schemas.openxmlformats.org/presentationml/2006/main">
  <p:tag name="TOCSHAPE" val="AA"/>
</p:tagLst>
</file>

<file path=ppt/tags/tag40.xml><?xml version="1.0" encoding="utf-8"?>
<p:tagLst xmlns:a="http://schemas.openxmlformats.org/drawingml/2006/main" xmlns:r="http://schemas.openxmlformats.org/officeDocument/2006/relationships" xmlns:p="http://schemas.openxmlformats.org/presentationml/2006/main">
  <p:tag name="TOCSHAPE" val="264"/>
  <p:tag name="SLIDEINDEX" val="264"/>
</p:tagLst>
</file>

<file path=ppt/tags/tag41.xml><?xml version="1.0" encoding="utf-8"?>
<p:tagLst xmlns:a="http://schemas.openxmlformats.org/drawingml/2006/main" xmlns:r="http://schemas.openxmlformats.org/officeDocument/2006/relationships" xmlns:p="http://schemas.openxmlformats.org/presentationml/2006/main">
  <p:tag name="TOCSHAPE" val="622"/>
  <p:tag name="SLIDEINDEX" val="622"/>
</p:tagLst>
</file>

<file path=ppt/tags/tag42.xml><?xml version="1.0" encoding="utf-8"?>
<p:tagLst xmlns:a="http://schemas.openxmlformats.org/drawingml/2006/main" xmlns:r="http://schemas.openxmlformats.org/officeDocument/2006/relationships" xmlns:p="http://schemas.openxmlformats.org/presentationml/2006/main">
  <p:tag name="TOCSHAPE" val="265"/>
  <p:tag name="SLIDEINDEX" val="265"/>
</p:tagLst>
</file>

<file path=ppt/tags/tag43.xml><?xml version="1.0" encoding="utf-8"?>
<p:tagLst xmlns:a="http://schemas.openxmlformats.org/drawingml/2006/main" xmlns:r="http://schemas.openxmlformats.org/officeDocument/2006/relationships" xmlns:p="http://schemas.openxmlformats.org/presentationml/2006/main">
  <p:tag name="NAME" val="Summary"/>
  <p:tag name="SECTION" val="1"/>
</p:tagLst>
</file>

<file path=ppt/tags/tag44.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5.xml><?xml version="1.0" encoding="utf-8"?>
<p:tagLst xmlns:a="http://schemas.openxmlformats.org/drawingml/2006/main" xmlns:r="http://schemas.openxmlformats.org/officeDocument/2006/relationships" xmlns:p="http://schemas.openxmlformats.org/presentationml/2006/main">
  <p:tag name="TOCSHAPE" val="AA"/>
</p:tagLst>
</file>

<file path=ppt/tags/tag46.xml><?xml version="1.0" encoding="utf-8"?>
<p:tagLst xmlns:a="http://schemas.openxmlformats.org/drawingml/2006/main" xmlns:r="http://schemas.openxmlformats.org/officeDocument/2006/relationships" xmlns:p="http://schemas.openxmlformats.org/presentationml/2006/main">
  <p:tag name="TOCSHAPE" val="264"/>
  <p:tag name="SLIDEINDEX" val="264"/>
</p:tagLst>
</file>

<file path=ppt/tags/tag47.xml><?xml version="1.0" encoding="utf-8"?>
<p:tagLst xmlns:a="http://schemas.openxmlformats.org/drawingml/2006/main" xmlns:r="http://schemas.openxmlformats.org/officeDocument/2006/relationships" xmlns:p="http://schemas.openxmlformats.org/presentationml/2006/main">
  <p:tag name="UPSLIDESLIDESITEMSTART" val="_Text + comment"/>
  <p:tag name="UPSLIDESLIDELIBRARYITEMID" val="Texte + commentaire_636123985298834719_1894609859"/>
  <p:tag name="UPSLIDESLIDELIBITEMEDITIONDATE" val="636136807201066679"/>
  <p:tag name="UPSLIDESLIDELIBITEMLASTCREATOR" val="touya"/>
  <p:tag name="UPSLIDESLIDELIBITEMNAME" val="_Texte + commentaire"/>
  <p:tag name="UPSLIDESLIDELIBRARYITEMPARTINDEX" val="1"/>
</p:tagLst>
</file>

<file path=ppt/tags/tag48.xml><?xml version="1.0" encoding="utf-8"?>
<p:tagLst xmlns:a="http://schemas.openxmlformats.org/drawingml/2006/main" xmlns:r="http://schemas.openxmlformats.org/officeDocument/2006/relationships" xmlns:p="http://schemas.openxmlformats.org/presentationml/2006/main">
  <p:tag name="LAST UPDATE DATE" val="428058921.43437"/>
  <p:tag name="IMPORTID" val="1704349545409.172581"/>
  <p:tag name="WBLAST" val="https://vivendigroup.sharepoint.com/sites/Vivendi_Bollore/Documents partages/2023 07 28 H1 Bolloré/BackupXcel SPP BOLL 15y et Rivaud.xlsx"/>
  <p:tag name="USER NAME" val="UGX760"/>
  <p:tag name="TYPE" val="2"/>
  <p:tag name="SOURCENAME" val="Chart 9"/>
  <p:tag name="SHEETID" val="SPP Boll &amp; BS"/>
  <p:tag name="PICTUREAPPEARANCE" val="xlPrinter"/>
  <p:tag name="NORESIZEONUPDATE" val="False"/>
</p:tagLst>
</file>

<file path=ppt/tags/tag49.xml><?xml version="1.0" encoding="utf-8"?>
<p:tagLst xmlns:a="http://schemas.openxmlformats.org/drawingml/2006/main" xmlns:r="http://schemas.openxmlformats.org/officeDocument/2006/relationships" xmlns:p="http://schemas.openxmlformats.org/presentationml/2006/main">
  <p:tag name="LAST UPDATE DATE" val="428226758.82761"/>
  <p:tag name="IMPORTID" val="6809416326860.171845"/>
  <p:tag name="WBLAST" val="https://vivendigroup.sharepoint.com/sites/Vivendi_Bollore/Documents partages/2023 07 28 H1 Bolloré/BackupXcel SPP BOLL 15y et Rivaud.xlsx"/>
  <p:tag name="USER NAME" val="UGX760"/>
  <p:tag name="TYPE" val="1"/>
  <p:tag name="SOURCENAME" val="Δ (%)  "/>
  <p:tag name="SHEETID" val="SPP Boll &amp; BS"/>
  <p:tag name="PICTUREAPPEARANCE" val="xlPrinter"/>
  <p:tag name="NORESIZEONUPDATE" val="False"/>
</p:tagLst>
</file>

<file path=ppt/tags/tag50.xml><?xml version="1.0" encoding="utf-8"?>
<p:tagLst xmlns:a="http://schemas.openxmlformats.org/drawingml/2006/main" xmlns:r="http://schemas.openxmlformats.org/officeDocument/2006/relationships" xmlns:p="http://schemas.openxmlformats.org/presentationml/2006/main">
  <p:tag name="UPSLIDESLIDESITEMSTART" val="Chart/Table + comment"/>
  <p:tag name="UPSLIDESLIDELIBRARYITEMID" val="Chart/Table + commentaire_636123982758585303_34494415"/>
  <p:tag name="UPSLIDESLIDELIBITEMEDITIONDATE" val="636136807402183835"/>
  <p:tag name="UPSLIDESLIDELIBITEMLASTCREATOR" val="touya"/>
  <p:tag name="UPSLIDESLIDELIBITEMNAME" val="Chart/Table + commentaire"/>
  <p:tag name="UPSLIDESLIDELIBRARYITEMPARTINDEX" val="1"/>
</p:tagLst>
</file>

<file path=ppt/tags/tag51.xml><?xml version="1.0" encoding="utf-8"?>
<p:tagLst xmlns:a="http://schemas.openxmlformats.org/drawingml/2006/main" xmlns:r="http://schemas.openxmlformats.org/officeDocument/2006/relationships" xmlns:p="http://schemas.openxmlformats.org/presentationml/2006/main">
  <p:tag name="LAST UPDATE DATE" val="428161162.314783"/>
  <p:tag name="IMPORTID" val="9055364399643.424853"/>
  <p:tag name="WBLAST" val="https://vivendigroup.sharepoint.com/sites/Vivendi_Bollore/Documents partages/2023 07 28 H1 Bolloré/BackupXcel Boll - H1 2023.xlsx"/>
  <p:tag name="USER NAME" val="UGX760"/>
  <p:tag name="TYPE" val="1"/>
  <p:tag name="SOURCENAME" val="in millions of euros "/>
  <p:tag name="SHEETID" val="Rts Groupe-UK"/>
  <p:tag name="PICTUREAPPEARANCE" val="xlPrinter"/>
  <p:tag name="NORESIZEONUPDATE" val="False"/>
</p:tagLst>
</file>

<file path=ppt/tags/tag52.xml><?xml version="1.0" encoding="utf-8"?>
<p:tagLst xmlns:a="http://schemas.openxmlformats.org/drawingml/2006/main" xmlns:r="http://schemas.openxmlformats.org/officeDocument/2006/relationships" xmlns:p="http://schemas.openxmlformats.org/presentationml/2006/main">
  <p:tag name="UPSLIDESLIDESITEMSTART" val="2 boxes (chart/table) + ligne"/>
  <p:tag name="UPSLIDESLIDELIBITEMNAME" val="2 boxes (chart/table) + ligne"/>
  <p:tag name="UPSLIDESLIDELIBITEMLASTCREATOR" val="EQS736"/>
  <p:tag name="UPSLIDESLIDELIBITEMEDITIONDATE" val="637116719184455478"/>
  <p:tag name="UPSLIDESLIDELIBITEMINSERTIONID" val="1ddc21ac-59d7-427a-8b60-2ec3a6909175"/>
  <p:tag name="UPSLIDESLIDELIBRARYITEMPARTINDEX" val="1"/>
  <p:tag name="UPSLIDESLIDELIBRARYITEMID" val="0dbf9644-3191-4efc-8a77-1ede2ee9968c"/>
  <p:tag name="UPSLIDESTOREDSLIDELOCATION" val="G:\Upslide\Library\Bolloré - [FR]\1. Présentations externes\1. Bolloré - Odet - Rivaud\Texte - Commentaires.pptlib"/>
</p:tagLst>
</file>

<file path=ppt/tags/tag53.xml><?xml version="1.0" encoding="utf-8"?>
<p:tagLst xmlns:a="http://schemas.openxmlformats.org/drawingml/2006/main" xmlns:r="http://schemas.openxmlformats.org/officeDocument/2006/relationships" xmlns:p="http://schemas.openxmlformats.org/presentationml/2006/main">
  <p:tag name="UPSLIDESHAPELIBITEMID" val="Colonne - Droite_636138655964311592_2067874191"/>
  <p:tag name="UPSLIDESHAPELIBITEMEDITIONDATE" val="637109933710358624"/>
  <p:tag name="UPSLIDESHAPELIBITEMLASTCREATOR" val="EQS736"/>
  <p:tag name="UPSLIDESHAPELIBITEMNAME" val="Colonne droite"/>
  <p:tag name="UPSLIDESTOREDSHAPELOCATION" val="G:\Upslide\Library\Boîte à outils\2. Formatting\En - têtes\1. Bolloré - Odet - Rivaud.lib"/>
</p:tagLst>
</file>

<file path=ppt/tags/tag54.xml><?xml version="1.0" encoding="utf-8"?>
<p:tagLst xmlns:a="http://schemas.openxmlformats.org/drawingml/2006/main" xmlns:r="http://schemas.openxmlformats.org/officeDocument/2006/relationships" xmlns:p="http://schemas.openxmlformats.org/presentationml/2006/main">
  <p:tag name="UPSLIDESHAPELIBITEMID" val="Colonne - Droite_636138655964311592_2067874191"/>
  <p:tag name="UPSLIDESHAPELIBITEMEDITIONDATE" val="637109933710358624"/>
  <p:tag name="UPSLIDESHAPELIBITEMLASTCREATOR" val="EQS736"/>
  <p:tag name="UPSLIDESHAPELIBITEMNAME" val="Colonne droite"/>
  <p:tag name="UPSLIDESTOREDSHAPELOCATION" val="G:\Upslide\Library\Boîte à outils\2. Formatting\En - têtes\1. Bolloré - Odet - Rivaud.lib"/>
</p:tagLst>
</file>

<file path=ppt/tags/tag55.xml><?xml version="1.0" encoding="utf-8"?>
<p:tagLst xmlns:a="http://schemas.openxmlformats.org/drawingml/2006/main" xmlns:r="http://schemas.openxmlformats.org/officeDocument/2006/relationships" xmlns:p="http://schemas.openxmlformats.org/presentationml/2006/main">
  <p:tag name="UPSLIDESHAPELIBITEMID" val="Colonne - Droite_636138655964311592_2067874191"/>
  <p:tag name="UPSLIDESHAPELIBITEMEDITIONDATE" val="637109933710358624"/>
  <p:tag name="UPSLIDESHAPELIBITEMLASTCREATOR" val="EQS736"/>
  <p:tag name="UPSLIDESHAPELIBITEMNAME" val="Colonne droite"/>
  <p:tag name="UPSLIDESTOREDSHAPELOCATION" val="G:\Upslide\Library\Boîte à outils\2. Formatting\En - têtes\1. Bolloré - Odet - Rivaud.lib"/>
</p:tagLst>
</file>

<file path=ppt/tags/tag56.xml><?xml version="1.0" encoding="utf-8"?>
<p:tagLst xmlns:a="http://schemas.openxmlformats.org/drawingml/2006/main" xmlns:r="http://schemas.openxmlformats.org/officeDocument/2006/relationships" xmlns:p="http://schemas.openxmlformats.org/presentationml/2006/main">
  <p:tag name="UPSLIDESHAPELIBITEMID" val="Colonne - Droite_636138655964311592_2067874191"/>
  <p:tag name="UPSLIDESHAPELIBITEMEDITIONDATE" val="637109933710358624"/>
  <p:tag name="UPSLIDESHAPELIBITEMLASTCREATOR" val="EQS736"/>
  <p:tag name="UPSLIDESHAPELIBITEMNAME" val="Colonne droite"/>
  <p:tag name="UPSLIDESTOREDSHAPELOCATION" val="G:\Upslide\Library\Boîte à outils\2. Formatting\En - têtes\1. Bolloré - Odet - Rivaud.lib"/>
</p:tagLst>
</file>

<file path=ppt/tags/tag57.xml><?xml version="1.0" encoding="utf-8"?>
<p:tagLst xmlns:a="http://schemas.openxmlformats.org/drawingml/2006/main" xmlns:r="http://schemas.openxmlformats.org/officeDocument/2006/relationships" xmlns:p="http://schemas.openxmlformats.org/presentationml/2006/main">
  <p:tag name="UPSLIDESLIDESITEMSTART" val="2 lines (chart/table+ box) + comment"/>
  <p:tag name="UPSLIDESLIDELIBRARYITEMID" val="2 lignes (chart/table+ box) + commentaire_636123982809973018_605971880"/>
  <p:tag name="UPSLIDESLIDELIBITEMEDITIONDATE" val="636136807326510298"/>
  <p:tag name="UPSLIDESLIDELIBITEMLASTCREATOR" val="touya"/>
  <p:tag name="UPSLIDESLIDELIBITEMNAME" val="2 lignes (chart/table+ box) + commentaire"/>
  <p:tag name="UPSLIDESLIDELIBRARYITEMPARTINDEX" val="1"/>
</p:tagLst>
</file>

<file path=ppt/tags/tag58.xml><?xml version="1.0" encoding="utf-8"?>
<p:tagLst xmlns:a="http://schemas.openxmlformats.org/drawingml/2006/main" xmlns:r="http://schemas.openxmlformats.org/officeDocument/2006/relationships" xmlns:p="http://schemas.openxmlformats.org/presentationml/2006/main">
  <p:tag name="LAST UPDATE DATE" val="427992516.410024"/>
  <p:tag name="IMPORTID" val="4741425665142.071836"/>
  <p:tag name="WBLAST" val="https://vivendigroup.sharepoint.com/sites/Vivendi_Bollore/Documents partages/2023 07 28 H1 Bolloré/BackupXcel Boll - H1 2023.xlsx"/>
  <p:tag name="USER NAME" val="UGX760"/>
  <p:tag name="TYPE" val="1"/>
  <p:tag name="SOURCENAME" val="in millions of euros "/>
  <p:tag name="SHEETID" val="Rts Groupe-UK"/>
  <p:tag name="PICTUREAPPEARANCE" val="xlPrinter"/>
  <p:tag name="NORESIZEONUPDATE" val="False"/>
</p:tagLst>
</file>

<file path=ppt/tags/tag59.xml><?xml version="1.0" encoding="utf-8"?>
<p:tagLst xmlns:a="http://schemas.openxmlformats.org/drawingml/2006/main" xmlns:r="http://schemas.openxmlformats.org/officeDocument/2006/relationships" xmlns:p="http://schemas.openxmlformats.org/presentationml/2006/main">
  <p:tag name="UPSLIDESLIDESITEMSTART" val="2 boxes (chart/table) + line"/>
  <p:tag name="UPSLIDESLIDELIBRARYITEMID" val="2 boxes (chart/table) + ligne_636123982913377185_536071228"/>
  <p:tag name="UPSLIDESLIDELIBITEMEDITIONDATE" val="636136807778874866"/>
  <p:tag name="UPSLIDESLIDELIBITEMLASTCREATOR" val="touya"/>
  <p:tag name="UPSLIDESLIDELIBITEMNAME" val="2 boxes (chart/table) + ligne"/>
  <p:tag name="UPSLIDESLIDELIBRARYITEMPARTINDEX" val="1"/>
</p:tagLst>
</file>

<file path=ppt/tags/tag60.xml><?xml version="1.0" encoding="utf-8"?>
<p:tagLst xmlns:a="http://schemas.openxmlformats.org/drawingml/2006/main" xmlns:r="http://schemas.openxmlformats.org/officeDocument/2006/relationships" xmlns:p="http://schemas.openxmlformats.org/presentationml/2006/main">
  <p:tag name="LAST UPDATE DATE" val="427992520.41812"/>
  <p:tag name="IMPORTID" val="1450425665381.227444"/>
  <p:tag name="WBLAST" val="https://vivendigroup.sharepoint.com/sites/Vivendi_Bollore/Documents partages/2023 07 28 H1 Bolloré/BackupXcel Boll - H1 2023.xlsx"/>
  <p:tag name="USER NAME" val="UGX760"/>
  <p:tag name="TYPE" val="1"/>
  <p:tag name="SOURCENAME" val="in millions of euros "/>
  <p:tag name="SHEETID" val="Rts Groupe-UK"/>
  <p:tag name="PICTUREAPPEARANCE" val="xlPrinter"/>
  <p:tag name="NORESIZEONUPDATE" val="False"/>
</p:tagLst>
</file>

<file path=ppt/tags/tag61.xml><?xml version="1.0" encoding="utf-8"?>
<p:tagLst xmlns:a="http://schemas.openxmlformats.org/drawingml/2006/main" xmlns:r="http://schemas.openxmlformats.org/officeDocument/2006/relationships" xmlns:p="http://schemas.openxmlformats.org/presentationml/2006/main">
  <p:tag name="UPSLIDESLIDESITEMSTART" val="2 lines (chart/table) + comment"/>
  <p:tag name="UPSLIDESLIDELIBRARYITEMID" val="2 lignes (chart/table) + commentaire_636123982860295495_271353125"/>
  <p:tag name="UPSLIDESLIDELIBITEMEDITIONDATE" val="636136807264897982"/>
  <p:tag name="UPSLIDESLIDELIBITEMLASTCREATOR" val="touya"/>
  <p:tag name="UPSLIDESLIDELIBITEMNAME" val="2 lignes (chart/table) + commentaire"/>
  <p:tag name="UPSLIDESLIDELIBRARYITEMPARTINDEX" val="1"/>
</p:tagLst>
</file>

<file path=ppt/tags/tag62.xml><?xml version="1.0" encoding="utf-8"?>
<p:tagLst xmlns:a="http://schemas.openxmlformats.org/drawingml/2006/main" xmlns:r="http://schemas.openxmlformats.org/officeDocument/2006/relationships" xmlns:p="http://schemas.openxmlformats.org/presentationml/2006/main">
  <p:tag name="LAST UPDATE DATE" val="427881951.320315"/>
  <p:tag name="IMPORTID" val="4074427561363.379423"/>
  <p:tag name="WBLAST" val="https://vivendigroup.sharepoint.com/sites/Vivendi_Bollore/Documents partages/2023 07 28 H1 Bolloré/BackupXcel Boll - H1 2023.xlsx"/>
  <p:tag name="USER NAME" val="UGX760"/>
  <p:tag name="TYPE" val="1"/>
  <p:tag name="SHEETID" val="Rts Groupe-UK"/>
  <p:tag name="PICTUREAPPEARANCE" val="xlPrinter"/>
  <p:tag name="NORESIZEONUPDATE" val="False"/>
</p:tagLst>
</file>

<file path=ppt/tags/tag63.xml><?xml version="1.0" encoding="utf-8"?>
<p:tagLst xmlns:a="http://schemas.openxmlformats.org/drawingml/2006/main" xmlns:r="http://schemas.openxmlformats.org/officeDocument/2006/relationships" xmlns:p="http://schemas.openxmlformats.org/presentationml/2006/main">
  <p:tag name="LAST UPDATE DATE" val="427881953.605059"/>
  <p:tag name="IMPORTID" val="9758332689474.916128"/>
  <p:tag name="WBLAST" val="https://vivendigroup.sharepoint.com/sites/Vivendi_Bollore/Documents partages/2023 07 28 H1 Bolloré/BackupXcel Boll - H1 2023.xlsx"/>
  <p:tag name="USER NAME" val="UGX760"/>
  <p:tag name="TYPE" val="1"/>
  <p:tag name="SOURCENAME" val="in millions of euros "/>
  <p:tag name="SHEETID" val="Rts Groupe-UK"/>
  <p:tag name="PICTUREAPPEARANCE" val="xlPrinter"/>
  <p:tag name="NORESIZEONUPDATE" val="False"/>
</p:tagLst>
</file>

<file path=ppt/tags/tag64.xml><?xml version="1.0" encoding="utf-8"?>
<p:tagLst xmlns:a="http://schemas.openxmlformats.org/drawingml/2006/main" xmlns:r="http://schemas.openxmlformats.org/officeDocument/2006/relationships" xmlns:p="http://schemas.openxmlformats.org/presentationml/2006/main">
  <p:tag name="UPSLIDESLIDESITEMSTART" val="Chart/Table + comment"/>
  <p:tag name="UPSLIDESLIDELIBRARYITEMID" val="Chart/Table + commentaire_636123982758585303_34494415"/>
  <p:tag name="UPSLIDESLIDELIBITEMEDITIONDATE" val="636136807402183835"/>
  <p:tag name="UPSLIDESLIDELIBITEMLASTCREATOR" val="touya"/>
  <p:tag name="UPSLIDESLIDELIBITEMNAME" val="Chart/Table + commentaire"/>
  <p:tag name="UPSLIDESLIDELIBRARYITEMPARTINDEX" val="1"/>
</p:tagLst>
</file>

<file path=ppt/tags/tag65.xml><?xml version="1.0" encoding="utf-8"?>
<p:tagLst xmlns:a="http://schemas.openxmlformats.org/drawingml/2006/main" xmlns:r="http://schemas.openxmlformats.org/officeDocument/2006/relationships" xmlns:p="http://schemas.openxmlformats.org/presentationml/2006/main">
  <p:tag name="LAST UPDATE DATE" val="427881957.907227"/>
  <p:tag name="IMPORTID" val="8271383417419.045577"/>
  <p:tag name="WBLAST" val="https://vivendigroup.sharepoint.com/sites/Vivendi_Bollore/Documents partages/2023 07 28 H1 Bolloré/BackupXcel Boll - H1 2023.xlsx"/>
  <p:tag name="USER NAME" val="UGX760"/>
  <p:tag name="TYPE" val="2"/>
  <p:tag name="SOURCENAME" val="Chart 1"/>
  <p:tag name="SHEETID" val="Waterfall UK"/>
  <p:tag name="PICTUREAPPEARANCE" val="xlPrinter"/>
  <p:tag name="NORESIZEONUPDATE" val="False"/>
</p:tagLst>
</file>

<file path=ppt/tags/tag66.xml><?xml version="1.0" encoding="utf-8"?>
<p:tagLst xmlns:a="http://schemas.openxmlformats.org/drawingml/2006/main" xmlns:r="http://schemas.openxmlformats.org/officeDocument/2006/relationships" xmlns:p="http://schemas.openxmlformats.org/presentationml/2006/main">
  <p:tag name="UPSLIDESLIDESITEMSTART" val="2 boxes (chart/table) + line"/>
  <p:tag name="UPSLIDESLIDELIBRARYITEMID" val="2 boxes (chart/table) + ligne_636123982913377185_536071228"/>
  <p:tag name="UPSLIDESLIDELIBITEMEDITIONDATE" val="636136807778874866"/>
  <p:tag name="UPSLIDESLIDELIBITEMLASTCREATOR" val="touya"/>
  <p:tag name="UPSLIDESLIDELIBITEMNAME" val="2 boxes (chart/table) + ligne"/>
  <p:tag name="UPSLIDESLIDELIBRARYITEMPARTINDEX" val="1"/>
</p:tagLst>
</file>

<file path=ppt/tags/tag67.xml><?xml version="1.0" encoding="utf-8"?>
<p:tagLst xmlns:a="http://schemas.openxmlformats.org/drawingml/2006/main" xmlns:r="http://schemas.openxmlformats.org/officeDocument/2006/relationships" xmlns:p="http://schemas.openxmlformats.org/presentationml/2006/main">
  <p:tag name="LAST UPDATE DATE" val="428244191.016917"/>
  <p:tag name="IMPORTID" val="695427561838.674597"/>
  <p:tag name="WBLAST" val="https://vivendigroup.sharepoint.com/sites/Vivendi_Bollore/Documents partages/2023 07 28 H1 Bolloré/BackupXcel Boll - H1 2023.xlsx"/>
  <p:tag name="USER NAME" val="UGX760"/>
  <p:tag name="TYPE" val="1"/>
  <p:tag name="SHEETID" val="Rts Groupe-UK"/>
  <p:tag name="PICTUREAPPEARANCE" val="xlPrinter"/>
  <p:tag name="NORESIZEONUPDATE" val="False"/>
</p:tagLst>
</file>

<file path=ppt/tags/tag68.xml><?xml version="1.0" encoding="utf-8"?>
<p:tagLst xmlns:a="http://schemas.openxmlformats.org/drawingml/2006/main" xmlns:r="http://schemas.openxmlformats.org/officeDocument/2006/relationships" xmlns:p="http://schemas.openxmlformats.org/presentationml/2006/main">
  <p:tag name="UPSLIDESLIDESITEMSTART" val="2 boxes (chart/table) + line"/>
  <p:tag name="UPSLIDESLIDELIBRARYITEMID" val="2 boxes (chart/table) + ligne_636123982913377185_536071228"/>
  <p:tag name="UPSLIDESLIDELIBITEMEDITIONDATE" val="636136807778874866"/>
  <p:tag name="UPSLIDESLIDELIBITEMLASTCREATOR" val="touya"/>
  <p:tag name="UPSLIDESLIDELIBITEMNAME" val="2 boxes (chart/table) + ligne"/>
  <p:tag name="UPSLIDESLIDELIBRARYITEMPARTINDEX" val="1"/>
</p:tagLst>
</file>

<file path=ppt/tags/tag69.xml><?xml version="1.0" encoding="utf-8"?>
<p:tagLst xmlns:a="http://schemas.openxmlformats.org/drawingml/2006/main" xmlns:r="http://schemas.openxmlformats.org/officeDocument/2006/relationships" xmlns:p="http://schemas.openxmlformats.org/presentationml/2006/main">
  <p:tag name="LAST UPDATE DATE" val="427881968.745245"/>
  <p:tag name="IMPORTID" val="8460350588486.755266"/>
  <p:tag name="WBLAST" val="https://vivendigroup.sharepoint.com/sites/Vivendi_Bollore/Documents partages/2023 07 28 H1 Bolloré/BackupXcel Boll - H1 2023.xlsx"/>
  <p:tag name="USER NAME" val="UGX760"/>
  <p:tag name="TYPE" val="2"/>
  <p:tag name="SOURCENAME" val="Graphique 45 (2)"/>
  <p:tag name="SHEETID" val="Charts FR-UK"/>
  <p:tag name="PICTUREAPPEARANCE" val="xlPrinter"/>
  <p:tag name="NORESIZEONUPDATE" val="False"/>
</p:tagLst>
</file>

<file path=ppt/tags/tag70.xml><?xml version="1.0" encoding="utf-8"?>
<p:tagLst xmlns:a="http://schemas.openxmlformats.org/drawingml/2006/main" xmlns:r="http://schemas.openxmlformats.org/officeDocument/2006/relationships" xmlns:p="http://schemas.openxmlformats.org/presentationml/2006/main">
  <p:tag name="SECTION" val="2"/>
  <p:tag name="NAME" val="Business review"/>
</p:tagLst>
</file>

<file path=ppt/tags/tag71.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2.xml><?xml version="1.0" encoding="utf-8"?>
<p:tagLst xmlns:a="http://schemas.openxmlformats.org/drawingml/2006/main" xmlns:r="http://schemas.openxmlformats.org/officeDocument/2006/relationships" xmlns:p="http://schemas.openxmlformats.org/presentationml/2006/main">
  <p:tag name="TOCSHAPE" val="AA"/>
</p:tagLst>
</file>

<file path=ppt/tags/tag73.xml><?xml version="1.0" encoding="utf-8"?>
<p:tagLst xmlns:a="http://schemas.openxmlformats.org/drawingml/2006/main" xmlns:r="http://schemas.openxmlformats.org/officeDocument/2006/relationships" xmlns:p="http://schemas.openxmlformats.org/presentationml/2006/main">
  <p:tag name="TOCSHAPE" val="622"/>
  <p:tag name="SLIDEINDEX" val="622"/>
</p:tagLst>
</file>

<file path=ppt/tags/tag74.xml><?xml version="1.0" encoding="utf-8"?>
<p:tagLst xmlns:a="http://schemas.openxmlformats.org/drawingml/2006/main" xmlns:r="http://schemas.openxmlformats.org/officeDocument/2006/relationships" xmlns:p="http://schemas.openxmlformats.org/presentationml/2006/main">
  <p:tag name="UPSLIDESLIDESITEMSTART" val="2 boxes (chart/table) + ligne"/>
  <p:tag name="UPSLIDESLIDELIBRARYITEMID" val="2 boxes (chart/table) + ligne_636199298668691764_456140492"/>
  <p:tag name="UPSLIDESLIDELIBITEMEDITIONDATE" val="636199262668691764"/>
  <p:tag name="UPSLIDESLIDELIBITEMLASTCREATOR" val="TesterAdmin"/>
  <p:tag name="UPSLIDESLIDELIBITEMNAME" val="2 boxes (chart/table) + ligne"/>
  <p:tag name="UPSLIDESLIDELIBRARYITEMPARTINDEX" val="1"/>
</p:tagLst>
</file>

<file path=ppt/tags/tag75.xml><?xml version="1.0" encoding="utf-8"?>
<p:tagLst xmlns:a="http://schemas.openxmlformats.org/drawingml/2006/main" xmlns:r="http://schemas.openxmlformats.org/officeDocument/2006/relationships" xmlns:p="http://schemas.openxmlformats.org/presentationml/2006/main">
  <p:tag name="LAST UPDATE DATE" val="428168740.307381"/>
  <p:tag name="IMPORTID" val="6918333644253.919496"/>
  <p:tag name="WBLAST" val="https://vivendigroup.sharepoint.com/sites/Vivendi_Bollore/Documents partages/2023 07 28 H1 Bolloré/BackupXcel Boll - H1 2023.xlsx"/>
  <p:tag name="USER NAME" val="UGX760"/>
  <p:tag name="TYPE" val="1"/>
  <p:tag name="SOURCENAME" val="in millions of euros"/>
  <p:tag name="SHEETID" val="Rts Transp Log &amp; BE-UK"/>
  <p:tag name="PICTUREAPPEARANCE" val="xlPrinter"/>
  <p:tag name="NORESIZEONUPDATE" val="False"/>
</p:tagLst>
</file>

<file path=ppt/tags/tag76.xml><?xml version="1.0" encoding="utf-8"?>
<p:tagLst xmlns:a="http://schemas.openxmlformats.org/drawingml/2006/main" xmlns:r="http://schemas.openxmlformats.org/officeDocument/2006/relationships" xmlns:p="http://schemas.openxmlformats.org/presentationml/2006/main">
  <p:tag name="UPSLIDESLIDESITEMSTART" val="2 boxes (chart/table) + ligne"/>
  <p:tag name="UPSLIDESLIDELIBRARYITEMID" val="2 boxes (chart/table) + ligne_636203594515578963_215634334"/>
  <p:tag name="UPSLIDESLIDELIBITEMEDITIONDATE" val="636203558515578963"/>
  <p:tag name="UPSLIDESLIDELIBITEMLASTCREATOR" val="TesterAdmin"/>
  <p:tag name="UPSLIDESLIDELIBITEMNAME" val="2 boxes (chart/table) + ligne"/>
  <p:tag name="UPSLIDESLIDELIBRARYITEMPARTINDEX" val="1"/>
</p:tagLst>
</file>

<file path=ppt/tags/tag77.xml><?xml version="1.0" encoding="utf-8"?>
<p:tagLst xmlns:a="http://schemas.openxmlformats.org/drawingml/2006/main" xmlns:r="http://schemas.openxmlformats.org/officeDocument/2006/relationships" xmlns:p="http://schemas.openxmlformats.org/presentationml/2006/main">
  <p:tag name="LAST UPDATE DATE" val="430926813.579705"/>
  <p:tag name="IMPORTID" val="8468427647321.448213"/>
  <p:tag name="WBLAST" val="https://vivendigroup.sharepoint.com/sites/Vivendi_Bollore/Documents partages/2023 07 28 H1 Bolloré/BackupXcel Boll - H1 2023.xlsx"/>
  <p:tag name="USER NAME" val="UGX760"/>
  <p:tag name="TYPE" val="1"/>
  <p:tag name="SHEETID" val="Rts Com-VIV-UK"/>
  <p:tag name="PICTUREAPPEARANCE" val="xlPrinter"/>
  <p:tag name="NORESIZEONUPDATE" val="False"/>
</p:tagLst>
</file>

<file path=ppt/tags/tag78.xml><?xml version="1.0" encoding="utf-8"?>
<p:tagLst xmlns:a="http://schemas.openxmlformats.org/drawingml/2006/main" xmlns:r="http://schemas.openxmlformats.org/officeDocument/2006/relationships" xmlns:p="http://schemas.openxmlformats.org/presentationml/2006/main">
  <p:tag name="LAST UPDATE DATE" val="427648219.957267"/>
  <p:tag name="IMPORTID" val="9916427648219.957267"/>
  <p:tag name="WBLAST" val="https://vivendigroup.sharepoint.com/sites/Vivendi_Bollore/Documents partages/2023 07 28 H1 Bolloré/BackupXcel Boll - H1 2023.xlsx"/>
  <p:tag name="USER NAME" val="UGX760"/>
  <p:tag name="TYPE" val="1"/>
  <p:tag name="SHEETID" val="Rts Com-VIV-UK"/>
  <p:tag name="PICTUREAPPEARANCE" val="xlPrinter"/>
  <p:tag name="NORESIZEONUPDATE" val="False"/>
</p:tagLst>
</file>

<file path=ppt/tags/tag79.xml><?xml version="1.0" encoding="utf-8"?>
<p:tagLst xmlns:a="http://schemas.openxmlformats.org/drawingml/2006/main" xmlns:r="http://schemas.openxmlformats.org/officeDocument/2006/relationships" xmlns:p="http://schemas.openxmlformats.org/presentationml/2006/main">
  <p:tag name="LAST UPDATE DATE" val="427648254.107799"/>
  <p:tag name="IMPORTID" val="215332692285.019187"/>
  <p:tag name="WBLAST" val="https://vivendigroup.sharepoint.com/sites/Vivendi_Bollore/Documents partages/2023 07 28 H1 Bolloré/BackupXcel Boll - H1 2023.xlsx"/>
  <p:tag name="USER NAME" val="UGX760"/>
  <p:tag name="TYPE" val="1"/>
  <p:tag name="SHEETID" val="Rts Com-VIV-UK"/>
  <p:tag name="PICTUREAPPEARANCE" val="xlPrinter"/>
  <p:tag name="NORESIZEONUPDATE" val="False"/>
</p:tagLst>
</file>

<file path=ppt/tags/tag80.xml><?xml version="1.0" encoding="utf-8"?>
<p:tagLst xmlns:a="http://schemas.openxmlformats.org/drawingml/2006/main" xmlns:r="http://schemas.openxmlformats.org/officeDocument/2006/relationships" xmlns:p="http://schemas.openxmlformats.org/presentationml/2006/main">
  <p:tag name="LAST UPDATE DATE" val="428170596.185685"/>
  <p:tag name="IMPORTID" val="440427648297.084776"/>
  <p:tag name="WBLAST" val="https://vivendigroup.sharepoint.com/sites/Vivendi_Bollore/Documents partages/2023 07 28 H1 Bolloré/BackupXcel Boll - H1 2023.xlsx"/>
  <p:tag name="USER NAME" val="UGX760"/>
  <p:tag name="TYPE" val="1"/>
  <p:tag name="SHEETID" val="Rts Com-VIV-UK"/>
  <p:tag name="PICTUREAPPEARANCE" val="xlPrinter"/>
  <p:tag name="NORESIZEONUPDATE" val="False"/>
</p:tagLst>
</file>

<file path=ppt/tags/tag81.xml><?xml version="1.0" encoding="utf-8"?>
<p:tagLst xmlns:a="http://schemas.openxmlformats.org/drawingml/2006/main" xmlns:r="http://schemas.openxmlformats.org/officeDocument/2006/relationships" xmlns:p="http://schemas.openxmlformats.org/presentationml/2006/main">
  <p:tag name="LAST UPDATE DATE" val="430926887.486857"/>
  <p:tag name="IMPORTID" val="5621427648384.722683"/>
  <p:tag name="WBLAST" val="https://vivendigroup.sharepoint.com/sites/Vivendi_Bollore/Documents partages/2023 07 28 H1 Bolloré/BackupXcel Boll - H1 2023.xlsx"/>
  <p:tag name="USER NAME" val="UGX760"/>
  <p:tag name="TYPE" val="1"/>
  <p:tag name="SHEETID" val="Rts Com-VIV-UK"/>
  <p:tag name="PICTUREAPPEARANCE" val="xlPrinter"/>
  <p:tag name="NORESIZEONUPDATE" val="False"/>
</p:tagLst>
</file>

<file path=ppt/tags/tag82.xml><?xml version="1.0" encoding="utf-8"?>
<p:tagLst xmlns:a="http://schemas.openxmlformats.org/drawingml/2006/main" xmlns:r="http://schemas.openxmlformats.org/officeDocument/2006/relationships" xmlns:p="http://schemas.openxmlformats.org/presentationml/2006/main">
  <p:tag name="UPSLIDESLIDESITEMSTART" val="2 lignes (chart/table+ box) + commentaire"/>
  <p:tag name="UPSLIDESLIDELIBRARYITEMID" val="2 lignes (chart/table+ box) + commentaire_636203583383686824_1446075279"/>
  <p:tag name="UPSLIDESLIDELIBITEMEDITIONDATE" val="636203547383686824"/>
  <p:tag name="UPSLIDESLIDELIBITEMLASTCREATOR" val="TesterAdmin"/>
  <p:tag name="UPSLIDESLIDELIBITEMNAME" val="2 lignes (chart/table+ box) + commentaire"/>
  <p:tag name="UPSLIDESLIDELIBRARYITEMPARTINDEX" val="1"/>
</p:tagLst>
</file>

<file path=ppt/tags/tag83.xml><?xml version="1.0" encoding="utf-8"?>
<p:tagLst xmlns:a="http://schemas.openxmlformats.org/drawingml/2006/main" xmlns:r="http://schemas.openxmlformats.org/officeDocument/2006/relationships" xmlns:p="http://schemas.openxmlformats.org/presentationml/2006/main">
  <p:tag name="LAST UPDATE DATE" val="427998452.557347"/>
  <p:tag name="IMPORTID" val="2217427648527.414105"/>
  <p:tag name="WBLAST" val="https://vivendigroup.sharepoint.com/sites/Vivendi_Bollore/Documents partages/2023 07 28 H1 Bolloré/BackupXcel Boll - H1 2023.xlsx"/>
  <p:tag name="USER NAME" val="UGX760"/>
  <p:tag name="TYPE" val="1"/>
  <p:tag name="SHEETID" val="Rts Stockage &amp; Blue Sol-UK"/>
  <p:tag name="PICTUREAPPEARANCE" val="xlPrinter"/>
  <p:tag name="NORESIZEONUPDATE" val="False"/>
</p:tagLst>
</file>

<file path=ppt/tags/tag84.xml><?xml version="1.0" encoding="utf-8"?>
<p:tagLst xmlns:a="http://schemas.openxmlformats.org/drawingml/2006/main" xmlns:r="http://schemas.openxmlformats.org/officeDocument/2006/relationships" xmlns:p="http://schemas.openxmlformats.org/presentationml/2006/main">
  <p:tag name="UPSLIDESLIDESITEMSTART" val="2 lignes (chart/table+ box) + commentaire"/>
  <p:tag name="UPSLIDESLIDELIBRARYITEMID" val="2 lignes (chart/table+ box) + commentaire_636203583383686824_1446075279"/>
  <p:tag name="UPSLIDESLIDELIBITEMEDITIONDATE" val="636203547383686824"/>
  <p:tag name="UPSLIDESLIDELIBITEMLASTCREATOR" val="TesterAdmin"/>
  <p:tag name="UPSLIDESLIDELIBITEMNAME" val="2 lignes (chart/table+ box) + commentaire"/>
  <p:tag name="UPSLIDESLIDELIBRARYITEMPARTINDEX" val="1"/>
</p:tagLst>
</file>

<file path=ppt/tags/tag85.xml><?xml version="1.0" encoding="utf-8"?>
<p:tagLst xmlns:a="http://schemas.openxmlformats.org/drawingml/2006/main" xmlns:r="http://schemas.openxmlformats.org/officeDocument/2006/relationships" xmlns:p="http://schemas.openxmlformats.org/presentationml/2006/main">
  <p:tag name="UPSLIDESLIDESITEMSTART" val="Texte + commentaire"/>
  <p:tag name="UPSLIDESLIDELIBRARYITEMID" val="Texte + commentaire_636203583334528385_284250707"/>
  <p:tag name="UPSLIDESLIDELIBITEMEDITIONDATE" val="636203547334528385"/>
  <p:tag name="UPSLIDESLIDELIBITEMLASTCREATOR" val="TesterAdmin"/>
  <p:tag name="UPSLIDESLIDELIBITEMNAME" val="Texte + commentaire"/>
  <p:tag name="UPSLIDESLIDELIBRARYITEMPARTINDEX" val="1"/>
</p:tagLst>
</file>

<file path=ppt/tags/tag86.xml><?xml version="1.0" encoding="utf-8"?>
<p:tagLst xmlns:a="http://schemas.openxmlformats.org/drawingml/2006/main" xmlns:r="http://schemas.openxmlformats.org/officeDocument/2006/relationships" xmlns:p="http://schemas.openxmlformats.org/presentationml/2006/main">
  <p:tag name="UPSLIDESHAPELIBITEMID" val="Petit UMG Noir_636643106659697237_491772091"/>
  <p:tag name="UPSLIDESHAPELIBITEMEDITIONDATE" val="636643034659697237"/>
  <p:tag name="UPSLIDESHAPELIBITEMLASTCREATOR" val="cunin"/>
  <p:tag name="UPSLIDESHAPELIBITEMNAME" val="Petit UMG Noir"/>
  <p:tag name="UPSLIDESTOREDSHAPELOCATION" val="t:\adl-dp\dossier upslide\bibli\Boite A Outils\00. Logos\A. Logos Petite Taille\UMG Petite Taille.lib"/>
</p:tagLst>
</file>

<file path=ppt/tags/tag87.xml><?xml version="1.0" encoding="utf-8"?>
<p:tagLst xmlns:a="http://schemas.openxmlformats.org/drawingml/2006/main" xmlns:r="http://schemas.openxmlformats.org/officeDocument/2006/relationships" xmlns:p="http://schemas.openxmlformats.org/presentationml/2006/main">
  <p:tag name="NAME" val="Appendices"/>
  <p:tag name="SECTION" val="3"/>
</p:tagLst>
</file>

<file path=ppt/tags/tag8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89.xml><?xml version="1.0" encoding="utf-8"?>
<p:tagLst xmlns:a="http://schemas.openxmlformats.org/drawingml/2006/main" xmlns:r="http://schemas.openxmlformats.org/officeDocument/2006/relationships" xmlns:p="http://schemas.openxmlformats.org/presentationml/2006/main">
  <p:tag name="TOCSHAPE" val="AA"/>
</p:tagLst>
</file>

<file path=ppt/tags/tag90.xml><?xml version="1.0" encoding="utf-8"?>
<p:tagLst xmlns:a="http://schemas.openxmlformats.org/drawingml/2006/main" xmlns:r="http://schemas.openxmlformats.org/officeDocument/2006/relationships" xmlns:p="http://schemas.openxmlformats.org/presentationml/2006/main">
  <p:tag name="TOCSHAPE" val="265"/>
  <p:tag name="SLIDEINDEX" val="265"/>
</p:tagLst>
</file>

<file path=ppt/tags/tag91.xml><?xml version="1.0" encoding="utf-8"?>
<p:tagLst xmlns:a="http://schemas.openxmlformats.org/drawingml/2006/main" xmlns:r="http://schemas.openxmlformats.org/officeDocument/2006/relationships" xmlns:p="http://schemas.openxmlformats.org/presentationml/2006/main">
  <p:tag name="UPSLIDESLIDESITEMSTART" val="Chart/Table + commentaire"/>
  <p:tag name="UPSLIDESLIDELIBRARYITEMID" val="Chart/Table + commentaire_636197565529427567_1262933928"/>
  <p:tag name="UPSLIDESLIDELIBITEMEDITIONDATE" val="636126508472586158"/>
  <p:tag name="UPSLIDESLIDELIBITEMLASTCREATOR" val="touya"/>
  <p:tag name="UPSLIDESLIDELIBITEMNAME" val="Chart/Table + commentaire"/>
  <p:tag name="UPSLIDESLIDELIBRARYITEMPARTINDEX" val="1"/>
</p:tagLst>
</file>

<file path=ppt/tags/tag92.xml><?xml version="1.0" encoding="utf-8"?>
<p:tagLst xmlns:a="http://schemas.openxmlformats.org/drawingml/2006/main" xmlns:r="http://schemas.openxmlformats.org/officeDocument/2006/relationships" xmlns:p="http://schemas.openxmlformats.org/presentationml/2006/main">
  <p:tag name="LAST UPDATE DATE" val="427993067.613683"/>
  <p:tag name="IMPORTID" val="7599427993067.613683"/>
  <p:tag name="WBLAST" val="https://vivendigroup.sharepoint.com/sites/Vivendi_Bollore/Documents partages/2023 07 28 H1 Bolloré/BackupXcel Boll - H1 2023.xlsx"/>
  <p:tag name="USER NAME" val="UGX760"/>
  <p:tag name="TYPE" val="1"/>
  <p:tag name="SHEETID" val="Rts Groupe-UK"/>
  <p:tag name="PICTUREAPPEARANCE" val="xlPrinter"/>
  <p:tag name="NORESIZEONUPDATE" val="False"/>
</p:tagLst>
</file>

<file path=ppt/tags/tag93.xml><?xml version="1.0" encoding="utf-8"?>
<p:tagLst xmlns:a="http://schemas.openxmlformats.org/drawingml/2006/main" xmlns:r="http://schemas.openxmlformats.org/officeDocument/2006/relationships" xmlns:p="http://schemas.openxmlformats.org/presentationml/2006/main">
  <p:tag name="LAST UPDATE DATE" val="427991627.699604"/>
  <p:tag name="IMPORTID" val="9522364401997.600257"/>
  <p:tag name="WBLAST" val="https://vivendigroup.sharepoint.com/sites/Vivendi_Bollore/Documents partages/2023 07 28 H1 Bolloré/BackupXcel Resultats COMPTES Boll H1 23.xlsx"/>
  <p:tag name="USER NAME" val="UGX760"/>
  <p:tag name="TYPE" val="1"/>
  <p:tag name="SOURCENAME" val="in millions of euros  "/>
  <p:tag name="SHEETID" val="Bilan Semestre-UK"/>
  <p:tag name="PICTUREAPPEARANCE" val="xlPrinter"/>
  <p:tag name="NORESIZEONUPDATE" val="False"/>
</p:tagLst>
</file>

<file path=ppt/tags/tag94.xml><?xml version="1.0" encoding="utf-8"?>
<p:tagLst xmlns:a="http://schemas.openxmlformats.org/drawingml/2006/main" xmlns:r="http://schemas.openxmlformats.org/officeDocument/2006/relationships" xmlns:p="http://schemas.openxmlformats.org/presentationml/2006/main">
  <p:tag name="LAST UPDATE DATE" val="427991654.048771"/>
  <p:tag name="IMPORTID" val="2176333646630.956242"/>
  <p:tag name="WBLAST" val="https://vivendigroup.sharepoint.com/sites/Vivendi_Bollore/Documents partages/2023 07 28 H1 Bolloré/BackupXcel Resultats COMPTES Boll H1 23.xlsx"/>
  <p:tag name="USER NAME" val="UGX760"/>
  <p:tag name="TYPE" val="1"/>
  <p:tag name="SOURCENAME" val="in millions of euros "/>
  <p:tag name="SHEETID" val="Bilan Semestre-UK"/>
  <p:tag name="PICTUREAPPEARANCE" val="xlPrinter"/>
  <p:tag name="NORESIZEONUPDATE" val="False"/>
</p:tagLst>
</file>

<file path=ppt/tags/tag95.xml><?xml version="1.0" encoding="utf-8"?>
<p:tagLst xmlns:a="http://schemas.openxmlformats.org/drawingml/2006/main" xmlns:r="http://schemas.openxmlformats.org/officeDocument/2006/relationships" xmlns:p="http://schemas.openxmlformats.org/presentationml/2006/main">
  <p:tag name="LAST UPDATE DATE" val="428071877.344277"/>
  <p:tag name="IMPORTID" val="4486427471812.811089"/>
  <p:tag name="WBLAST" val="https://vivendigroup.sharepoint.com/sites/Vivendi_Bollore/Documents partages/2023 07 28 H1 Bolloré/BackupXcel Boll - H1 2023.xlsx"/>
  <p:tag name="USER NAME" val="UGX760"/>
  <p:tag name="TYPE" val="1"/>
  <p:tag name="SHEETID" val="CA Groupe Trim (ANNEX)"/>
  <p:tag name="PICTUREAPPEARANCE" val="xlPrinter"/>
  <p:tag name="NORESIZEONUPDATE" val="False"/>
</p:tagLst>
</file>

<file path=ppt/tags/tag96.xml><?xml version="1.0" encoding="utf-8"?>
<p:tagLst xmlns:a="http://schemas.openxmlformats.org/drawingml/2006/main" xmlns:r="http://schemas.openxmlformats.org/officeDocument/2006/relationships" xmlns:p="http://schemas.openxmlformats.org/presentationml/2006/main">
  <p:tag name="LAST UPDATE DATE" val="428237991.628825"/>
  <p:tag name="IMPORTID" val="24427991726.384133"/>
  <p:tag name="WBLAST" val="https://vivendigroup.sharepoint.com/sites/Vivendi_Bollore/Documents partages/2023 07 28 H1 Bolloré/BackupXcel Resultats COMPTES Boll H1 23.xlsx"/>
  <p:tag name="USER NAME" val="UGX760"/>
  <p:tag name="TYPE" val="1"/>
  <p:tag name="SHEETID" val="Compte Rt Semestre-UK"/>
  <p:tag name="PICTUREAPPEARANCE" val="xlPrinter"/>
  <p:tag name="NORESIZEONUPDATE" val="False"/>
</p:tagLst>
</file>

<file path=ppt/tags/tag97.xml><?xml version="1.0" encoding="utf-8"?>
<p:tagLst xmlns:a="http://schemas.openxmlformats.org/drawingml/2006/main" xmlns:r="http://schemas.openxmlformats.org/officeDocument/2006/relationships" xmlns:p="http://schemas.openxmlformats.org/presentationml/2006/main">
  <p:tag name="LAST UPDATE DATE" val="430926028.950823"/>
  <p:tag name="IMPORTID" val="2464427991787.820344"/>
  <p:tag name="WBLAST" val="https://vivendigroup.sharepoint.com/sites/Vivendi_Bollore/Documents partages/2023 07 28 H1 Bolloré/BackupXcel Resultats COMPTES Boll H1 23.xlsx"/>
  <p:tag name="USER NAME" val="UGX760"/>
  <p:tag name="TYPE" val="1"/>
  <p:tag name="SHEETID" val="Variation tréso Semestre-UK"/>
  <p:tag name="PICTUREAPPEARANCE" val="xlPrinter"/>
  <p:tag name="NORESIZEONUPDATE" val="False"/>
</p:tagLst>
</file>

<file path=ppt/tags/tag98.xml><?xml version="1.0" encoding="utf-8"?>
<p:tagLst xmlns:a="http://schemas.openxmlformats.org/drawingml/2006/main" xmlns:r="http://schemas.openxmlformats.org/officeDocument/2006/relationships" xmlns:p="http://schemas.openxmlformats.org/presentationml/2006/main">
  <p:tag name="LAST UPDATE DATE" val="428145447.779988"/>
  <p:tag name="IMPORTID" val="4276364402755.544855"/>
  <p:tag name="WBLAST" val="https://vivendigroup.sharepoint.com/sites/Vivendi_Bollore/Documents partages/2023 07 28 H1 Bolloré/BackupXcel Resultats COMPTES Boll H1 23.xlsx"/>
  <p:tag name="USER NAME" val="UGX760"/>
  <p:tag name="TYPE" val="1"/>
  <p:tag name="SHEETID" val="Capitaux Propres Semestre-UK"/>
  <p:tag name="PICTUREAPPEARANCE" val="xlPrinter"/>
  <p:tag name="NORESIZEONUPDATE" val="False"/>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Groupe Bolloré">
  <a:themeElements>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BC0"/>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100" dirty="0" err="1"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7BC0"/>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91440" tIns="45720" rIns="91440" bIns="45720" rtlCol="0">
        <a:noAutofit/>
      </a:bodyPr>
      <a:lstStyle>
        <a:defPPr marL="171450" indent="-171450" algn="l">
          <a:buBlip>
            <a:blip xmlns:r="http://schemas.openxmlformats.org/officeDocument/2006/relationships" r:embed="rId1"/>
          </a:buBlip>
          <a:defRPr sz="1200" b="1" dirty="0" err="1" smtClean="0">
            <a:solidFill>
              <a:srgbClr val="007BC0"/>
            </a:solidFill>
            <a:latin typeface="+mj-lt"/>
          </a:defRPr>
        </a:defPPr>
      </a:lstStyle>
    </a:txDef>
  </a:objectDefaults>
  <a:extraClrSchemeLst>
    <a:extraClrScheme>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extraClrScheme>
    <a:extraClrScheme>
      <a:clrScheme name="Odet">
        <a:dk1>
          <a:sysClr val="windowText" lastClr="000000"/>
        </a:dk1>
        <a:lt1>
          <a:sysClr val="window" lastClr="FFFFFF"/>
        </a:lt1>
        <a:dk2>
          <a:srgbClr val="00558E"/>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extraClrScheme>
    <a:extraClrScheme>
      <a:clrScheme name="Stockage">
        <a:dk1>
          <a:sysClr val="windowText" lastClr="000000"/>
        </a:dk1>
        <a:lt1>
          <a:sysClr val="window" lastClr="FFFFFF"/>
        </a:lt1>
        <a:dk2>
          <a:srgbClr val="0095DB"/>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extraClrScheme>
    <a:extraClrScheme>
      <a:clrScheme name="BTL">
        <a:dk1>
          <a:sysClr val="windowText" lastClr="000000"/>
        </a:dk1>
        <a:lt1>
          <a:sysClr val="window" lastClr="FFFFFF"/>
        </a:lt1>
        <a:dk2>
          <a:srgbClr val="0D89A6"/>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extraClrScheme>
    <a:extraClrScheme>
      <a:clrScheme name="Communication">
        <a:dk1>
          <a:sysClr val="windowText" lastClr="000000"/>
        </a:dk1>
        <a:lt1>
          <a:sysClr val="window" lastClr="FFFFFF"/>
        </a:lt1>
        <a:dk2>
          <a:srgbClr val="840265"/>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extraClrScheme>
    <a:extraClrScheme>
      <a:clrScheme name="Autres Actifs">
        <a:dk1>
          <a:sysClr val="windowText" lastClr="000000"/>
        </a:dk1>
        <a:lt1>
          <a:sysClr val="window" lastClr="FFFFFF"/>
        </a:lt1>
        <a:dk2>
          <a:srgbClr val="6C8CA6"/>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extraClrScheme>
    <a:extraClrScheme>
      <a:clrScheme name="RSE">
        <a:dk1>
          <a:sysClr val="windowText" lastClr="000000"/>
        </a:dk1>
        <a:lt1>
          <a:sysClr val="window" lastClr="FFFFFF"/>
        </a:lt1>
        <a:dk2>
          <a:srgbClr val="009889"/>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extraClrScheme>
  </a:extraClrSchemeLst>
  <a:custClrLst>
    <a:custClr name="Groupe Bolloré">
      <a:srgbClr val="3A75C4"/>
    </a:custClr>
    <a:custClr name="Odet">
      <a:srgbClr val="00558E"/>
    </a:custClr>
    <a:custClr name="Stockage">
      <a:srgbClr val="0095DB"/>
    </a:custClr>
    <a:custClr name="BTL">
      <a:srgbClr val="0D89A6"/>
    </a:custClr>
    <a:custClr name="Communication">
      <a:srgbClr val="840265"/>
    </a:custClr>
    <a:custClr name="Autres Actifs">
      <a:srgbClr val="6C8CA6"/>
    </a:custClr>
    <a:custClr name="RSE">
      <a:srgbClr val="009889"/>
    </a:custClr>
    <a:custClr name="Gris Clair">
      <a:srgbClr val="D9D9D9"/>
    </a:custClr>
  </a:custClrLst>
  <a:extLst>
    <a:ext uri="{05A4C25C-085E-4340-85A3-A5531E510DB2}">
      <thm15:themeFamily xmlns:thm15="http://schemas.microsoft.com/office/thememl/2012/main" name="UpSlideTemplate" id="{C36866F8-0B6B-4CEF-87B1-0F475821F612}" vid="{20F78CF2-6AAD-457B-A6ED-DA6947A3D1EB}"/>
    </a:ext>
  </a:extLst>
</a:theme>
</file>

<file path=ppt/theme/theme2.xml><?xml version="1.0" encoding="utf-8"?>
<a:theme xmlns:a="http://schemas.openxmlformats.org/drawingml/2006/main" name="UpSlide Table Of Content Master (do not edit)">
  <a:themeElements>
    <a:clrScheme name="Groupe_Bolloré">
      <a:dk1>
        <a:sysClr val="windowText" lastClr="000000"/>
      </a:dk1>
      <a:lt1>
        <a:sysClr val="window" lastClr="FFFFFF"/>
      </a:lt1>
      <a:dk2>
        <a:srgbClr val="3AADC4"/>
      </a:dk2>
      <a:lt2>
        <a:srgbClr val="808080"/>
      </a:lt2>
      <a:accent1>
        <a:srgbClr val="8D90BE"/>
      </a:accent1>
      <a:accent2>
        <a:srgbClr val="00A1E4"/>
      </a:accent2>
      <a:accent3>
        <a:srgbClr val="FF0000"/>
      </a:accent3>
      <a:accent4>
        <a:srgbClr val="D60093"/>
      </a:accent4>
      <a:accent5>
        <a:srgbClr val="7A1F5E"/>
      </a:accent5>
      <a:accent6>
        <a:srgbClr val="D9D9D9"/>
      </a:accent6>
      <a:hlink>
        <a:srgbClr val="000000"/>
      </a:hlink>
      <a:folHlink>
        <a:srgbClr val="FFFFFF"/>
      </a:folHlink>
    </a:clrScheme>
    <a:fontScheme name="Bolloré">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pSlideTemplate" id="{C36866F8-0B6B-4CEF-87B1-0F475821F612}" vid="{9703B9A3-7970-41E5-B907-2382FA4A94C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2.xml><?xml version="1.0" encoding="utf-8"?>
<a:themeOverride xmlns:a="http://schemas.openxmlformats.org/drawingml/2006/main">
  <a:clrScheme name="BTL">
    <a:dk1>
      <a:sysClr val="windowText" lastClr="000000"/>
    </a:dk1>
    <a:lt1>
      <a:sysClr val="window" lastClr="FFFFFF"/>
    </a:lt1>
    <a:dk2>
      <a:srgbClr val="0D89A6"/>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3.xml><?xml version="1.0" encoding="utf-8"?>
<a:themeOverride xmlns:a="http://schemas.openxmlformats.org/drawingml/2006/main">
  <a:clrScheme name="Communication">
    <a:dk1>
      <a:sysClr val="windowText" lastClr="000000"/>
    </a:dk1>
    <a:lt1>
      <a:sysClr val="window" lastClr="FFFFFF"/>
    </a:lt1>
    <a:dk2>
      <a:srgbClr val="840265"/>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4.xml><?xml version="1.0" encoding="utf-8"?>
<a:themeOverride xmlns:a="http://schemas.openxmlformats.org/drawingml/2006/main">
  <a:clrScheme name="Communication">
    <a:dk1>
      <a:sysClr val="windowText" lastClr="000000"/>
    </a:dk1>
    <a:lt1>
      <a:sysClr val="window" lastClr="FFFFFF"/>
    </a:lt1>
    <a:dk2>
      <a:srgbClr val="840265"/>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5.xml><?xml version="1.0" encoding="utf-8"?>
<a:themeOverride xmlns:a="http://schemas.openxmlformats.org/drawingml/2006/main">
  <a:clrScheme name="Communication">
    <a:dk1>
      <a:sysClr val="windowText" lastClr="000000"/>
    </a:dk1>
    <a:lt1>
      <a:sysClr val="window" lastClr="FFFFFF"/>
    </a:lt1>
    <a:dk2>
      <a:srgbClr val="840265"/>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6.xml><?xml version="1.0" encoding="utf-8"?>
<a:themeOverride xmlns:a="http://schemas.openxmlformats.org/drawingml/2006/main">
  <a:clrScheme name="Communication">
    <a:dk1>
      <a:sysClr val="windowText" lastClr="000000"/>
    </a:dk1>
    <a:lt1>
      <a:sysClr val="window" lastClr="FFFFFF"/>
    </a:lt1>
    <a:dk2>
      <a:srgbClr val="840265"/>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7.xml><?xml version="1.0" encoding="utf-8"?>
<a:themeOverride xmlns:a="http://schemas.openxmlformats.org/drawingml/2006/main">
  <a:clrScheme name="Stockage">
    <a:dk1>
      <a:sysClr val="windowText" lastClr="000000"/>
    </a:dk1>
    <a:lt1>
      <a:sysClr val="window" lastClr="FFFFFF"/>
    </a:lt1>
    <a:dk2>
      <a:srgbClr val="0095DB"/>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8.xml><?xml version="1.0" encoding="utf-8"?>
<a:themeOverride xmlns:a="http://schemas.openxmlformats.org/drawingml/2006/main">
  <a:clrScheme name="Stockage">
    <a:dk1>
      <a:sysClr val="windowText" lastClr="000000"/>
    </a:dk1>
    <a:lt1>
      <a:sysClr val="window" lastClr="FFFFFF"/>
    </a:lt1>
    <a:dk2>
      <a:srgbClr val="0095DB"/>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9.xml><?xml version="1.0" encoding="utf-8"?>
<a:themeOverride xmlns:a="http://schemas.openxmlformats.org/drawingml/2006/main">
  <a:clrScheme name="Stockage">
    <a:dk1>
      <a:sysClr val="windowText" lastClr="000000"/>
    </a:dk1>
    <a:lt1>
      <a:sysClr val="window" lastClr="FFFFFF"/>
    </a:lt1>
    <a:dk2>
      <a:srgbClr val="0095DB"/>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10.xml><?xml version="1.0" encoding="utf-8"?>
<a:themeOverride xmlns:a="http://schemas.openxmlformats.org/drawingml/2006/main">
  <a:clrScheme name="Autres Actifs">
    <a:dk1>
      <a:sysClr val="windowText" lastClr="000000"/>
    </a:dk1>
    <a:lt1>
      <a:sysClr val="window" lastClr="FFFFFF"/>
    </a:lt1>
    <a:dk2>
      <a:srgbClr val="6C8CA6"/>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11.xml><?xml version="1.0" encoding="utf-8"?>
<a:themeOverride xmlns:a="http://schemas.openxmlformats.org/drawingml/2006/main">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12.xml><?xml version="1.0" encoding="utf-8"?>
<a:themeOverride xmlns:a="http://schemas.openxmlformats.org/drawingml/2006/main">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13.xml><?xml version="1.0" encoding="utf-8"?>
<a:themeOverride xmlns:a="http://schemas.openxmlformats.org/drawingml/2006/main">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14.xml><?xml version="1.0" encoding="utf-8"?>
<a:themeOverride xmlns:a="http://schemas.openxmlformats.org/drawingml/2006/main">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15.xml><?xml version="1.0" encoding="utf-8"?>
<a:themeOverride xmlns:a="http://schemas.openxmlformats.org/drawingml/2006/main">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16.xml><?xml version="1.0" encoding="utf-8"?>
<a:themeOverride xmlns:a="http://schemas.openxmlformats.org/drawingml/2006/main">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17.xml><?xml version="1.0" encoding="utf-8"?>
<a:themeOverride xmlns:a="http://schemas.openxmlformats.org/drawingml/2006/main">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ppt/theme/themeOverride18.xml><?xml version="1.0" encoding="utf-8"?>
<a:themeOverride xmlns:a="http://schemas.openxmlformats.org/drawingml/2006/main">
  <a:clrScheme name="Groupe_Bolloré">
    <a:dk1>
      <a:sysClr val="windowText" lastClr="000000"/>
    </a:dk1>
    <a:lt1>
      <a:sysClr val="window" lastClr="FFFFFF"/>
    </a:lt1>
    <a:dk2>
      <a:srgbClr val="3A75C4"/>
    </a:dk2>
    <a:lt2>
      <a:srgbClr val="808080"/>
    </a:lt2>
    <a:accent1>
      <a:srgbClr val="0095DB"/>
    </a:accent1>
    <a:accent2>
      <a:srgbClr val="0D89A6"/>
    </a:accent2>
    <a:accent3>
      <a:srgbClr val="840265"/>
    </a:accent3>
    <a:accent4>
      <a:srgbClr val="6C8CA6"/>
    </a:accent4>
    <a:accent5>
      <a:srgbClr val="009889"/>
    </a:accent5>
    <a:accent6>
      <a:srgbClr val="D9D9D9"/>
    </a:accent6>
    <a:hlink>
      <a:srgbClr val="000000"/>
    </a:hlink>
    <a:folHlink>
      <a:srgbClr val="FFFF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odifsGAetCdeB xmlns="eb7ee28c-ae1f-400a-84ce-cb11b4dd99fc" xsi:nil="true"/>
    <TaxCatchAll xmlns="7710517d-de20-4820-9226-f56e729d80bc" xsi:nil="true"/>
    <lcf76f155ced4ddcb4097134ff3c332f xmlns="eb7ee28c-ae1f-400a-84ce-cb11b4dd99f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AF7C54DEE36BD49A419EE0E409797B4" ma:contentTypeVersion="15" ma:contentTypeDescription="Crée un document." ma:contentTypeScope="" ma:versionID="25bb82fc06aefcf93025d9de65c15f7e">
  <xsd:schema xmlns:xsd="http://www.w3.org/2001/XMLSchema" xmlns:xs="http://www.w3.org/2001/XMLSchema" xmlns:p="http://schemas.microsoft.com/office/2006/metadata/properties" xmlns:ns2="eb7ee28c-ae1f-400a-84ce-cb11b4dd99fc" xmlns:ns3="7710517d-de20-4820-9226-f56e729d80bc" targetNamespace="http://schemas.microsoft.com/office/2006/metadata/properties" ma:root="true" ma:fieldsID="805b384f661af65dcae7c1ddd1cc4c49" ns2:_="" ns3:_="">
    <xsd:import namespace="eb7ee28c-ae1f-400a-84ce-cb11b4dd99fc"/>
    <xsd:import namespace="7710517d-de20-4820-9226-f56e729d80bc"/>
    <xsd:element name="properties">
      <xsd:complexType>
        <xsd:sequence>
          <xsd:element name="documentManagement">
            <xsd:complexType>
              <xsd:all>
                <xsd:element ref="ns2:MediaServiceMetadata" minOccurs="0"/>
                <xsd:element ref="ns2:MediaServiceFastMetadata" minOccurs="0"/>
                <xsd:element ref="ns2:modifsGAetCdeB"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ee28c-ae1f-400a-84ce-cb11b4dd99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odifsGAetCdeB" ma:index="10" nillable="true" ma:displayName="modifs GA et CdeB" ma:format="Dropdown" ma:internalName="modifsGAetCdeB">
      <xsd:simpleType>
        <xsd:restriction base="dms:Text">
          <xsd:maxLength value="255"/>
        </xsd:restriction>
      </xsd:simpleType>
    </xsd:element>
    <xsd:element name="MediaServiceDateTaken" ma:index="11" nillable="true" ma:displayName="MediaServiceDateTaken" ma:hidden="true" ma:internalName="MediaServiceDateTaken"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Balises d’images" ma:readOnly="false" ma:fieldId="{5cf76f15-5ced-4ddc-b409-7134ff3c332f}" ma:taxonomyMulti="true" ma:sspId="06296ddc-65a9-4705-a57e-a9158aa68f0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710517d-de20-4820-9226-f56e729d80bc"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7a70fc-c938-4500-800c-0f2ce36fe5e7}" ma:internalName="TaxCatchAll" ma:showField="CatchAllData" ma:web="7710517d-de20-4820-9226-f56e729d80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3B8484-5735-4056-A843-B41B440FABED}">
  <ds:schemaRefs>
    <ds:schemaRef ds:uri="7710517d-de20-4820-9226-f56e729d80bc"/>
    <ds:schemaRef ds:uri="eb7ee28c-ae1f-400a-84ce-cb11b4dd99f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E57FE22-7C7B-415C-ABDF-3DE5F1B66D44}">
  <ds:schemaRefs>
    <ds:schemaRef ds:uri="http://schemas.microsoft.com/sharepoint/v3/contenttype/forms"/>
  </ds:schemaRefs>
</ds:datastoreItem>
</file>

<file path=customXml/itemProps3.xml><?xml version="1.0" encoding="utf-8"?>
<ds:datastoreItem xmlns:ds="http://schemas.openxmlformats.org/officeDocument/2006/customXml" ds:itemID="{99FD8A17-DF01-4F33-8DB5-69A099746664}">
  <ds:schemaRefs>
    <ds:schemaRef ds:uri="7710517d-de20-4820-9226-f56e729d80bc"/>
    <ds:schemaRef ds:uri="eb7ee28c-ae1f-400a-84ce-cb11b4dd99f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UpSlideTemplate</Template>
  <TotalTime>3</TotalTime>
  <Words>5083</Words>
  <Application>Microsoft Office PowerPoint</Application>
  <PresentationFormat>Affichage à l'écran (16:9)</PresentationFormat>
  <Paragraphs>368</Paragraphs>
  <Slides>35</Slides>
  <Notes>6</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35</vt:i4>
      </vt:variant>
    </vt:vector>
  </HeadingPairs>
  <TitlesOfParts>
    <vt:vector size="44" baseType="lpstr">
      <vt:lpstr>Arial</vt:lpstr>
      <vt:lpstr>Arial  </vt:lpstr>
      <vt:lpstr>Calibri</vt:lpstr>
      <vt:lpstr>Calibri Light</vt:lpstr>
      <vt:lpstr>Century Gothic</vt:lpstr>
      <vt:lpstr>Garamond</vt:lpstr>
      <vt:lpstr>Wingdings</vt:lpstr>
      <vt:lpstr>Groupe Bolloré</vt:lpstr>
      <vt:lpstr>UpSlide Table Of Content Master (do not edit)</vt:lpstr>
      <vt:lpstr>Présentation PowerPoint</vt:lpstr>
      <vt:lpstr>Présentation PowerPoint</vt:lpstr>
      <vt:lpstr>Présentation PowerPoint</vt:lpstr>
      <vt:lpstr>Présentation PowerPoint</vt:lpstr>
      <vt:lpstr>SIGNING OF THE SHARE PURCHASE AGREEMENT FOR THE SALE OF 100% of Bollore Logistics to CMA CGM</vt:lpstr>
      <vt:lpstr>Transactions on Bolloré and vivendi shares</vt:lpstr>
      <vt:lpstr>proposed Vivendi / Lagardère transaction</vt:lpstr>
      <vt:lpstr>Change in stock market price</vt:lpstr>
      <vt:lpstr>Group structure</vt:lpstr>
      <vt:lpstr>First half 2023 Results</vt:lpstr>
      <vt:lpstr>ESG PERFORMANCE</vt:lpstr>
      <vt:lpstr>Revenue</vt:lpstr>
      <vt:lpstr>Adjusted operating income (EBITA)</vt:lpstr>
      <vt:lpstr>Financial INCOME and equity-accounted non-operating companies</vt:lpstr>
      <vt:lpstr>Changes in net debt</vt:lpstr>
      <vt:lpstr>Balance sheet – Liquidity (1/2)</vt:lpstr>
      <vt:lpstr>Balance sheet – Liquidity (2/2)</vt:lpstr>
      <vt:lpstr>Présentation PowerPoint</vt:lpstr>
      <vt:lpstr>Présentation PowerPoint</vt:lpstr>
      <vt:lpstr>Communications</vt:lpstr>
      <vt:lpstr>CommunicationS</vt:lpstr>
      <vt:lpstr>CommunicationS</vt:lpstr>
      <vt:lpstr>Communications</vt:lpstr>
      <vt:lpstr>INDUSTRY</vt:lpstr>
      <vt:lpstr>industry</vt:lpstr>
      <vt:lpstr>industry</vt:lpstr>
      <vt:lpstr>Other assets</vt:lpstr>
      <vt:lpstr>Présentation PowerPoint</vt:lpstr>
      <vt:lpstr>Comparability of financial statements</vt:lpstr>
      <vt:lpstr>H1 2023 Consolidated balance sheet</vt:lpstr>
      <vt:lpstr>H1 2023 Consolidated income statement analysis(*)</vt:lpstr>
      <vt:lpstr>H1 2023 Consolidated income statement</vt:lpstr>
      <vt:lpstr>H1 2023 Cash flow statement</vt:lpstr>
      <vt:lpstr>Change in shareholders' equity</vt:lpstr>
      <vt:lpstr>GLOSSARY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UGX760</dc:creator>
  <cp:lastModifiedBy>BOASSO Elisa</cp:lastModifiedBy>
  <cp:revision>2</cp:revision>
  <cp:lastPrinted>2023-07-28T08:43:55Z</cp:lastPrinted>
  <dcterms:created xsi:type="dcterms:W3CDTF">2023-05-09T08:02:18Z</dcterms:created>
  <dcterms:modified xsi:type="dcterms:W3CDTF">2023-08-28T12:54:57Z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0x0101008AF7C54DEE36BD49A419EE0E409797B4</vt:lpwstr>
  </property>
  <property fmtid="{D5CDD505-2E9C-101B-9397-08002B2CF9AE}" pid="3" name="MediaServiceImageTags">
    <vt:lpwstr/>
  </property>
</Properties>
</file>