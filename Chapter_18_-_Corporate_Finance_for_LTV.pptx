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564" r:id="rId3"/>
    <p:sldId id="724" r:id="rId4"/>
    <p:sldId id="614" r:id="rId5"/>
    <p:sldId id="696" r:id="rId6"/>
    <p:sldId id="710" r:id="rId7"/>
    <p:sldId id="711" r:id="rId8"/>
    <p:sldId id="712" r:id="rId9"/>
    <p:sldId id="713" r:id="rId10"/>
    <p:sldId id="714" r:id="rId11"/>
    <p:sldId id="667" r:id="rId12"/>
    <p:sldId id="715" r:id="rId13"/>
    <p:sldId id="706" r:id="rId14"/>
    <p:sldId id="707" r:id="rId15"/>
    <p:sldId id="716" r:id="rId16"/>
    <p:sldId id="670" r:id="rId17"/>
    <p:sldId id="677" r:id="rId18"/>
    <p:sldId id="717" r:id="rId19"/>
    <p:sldId id="718" r:id="rId20"/>
    <p:sldId id="680" r:id="rId21"/>
    <p:sldId id="719" r:id="rId22"/>
    <p:sldId id="690" r:id="rId23"/>
    <p:sldId id="720" r:id="rId24"/>
    <p:sldId id="695" r:id="rId25"/>
    <p:sldId id="722" r:id="rId26"/>
    <p:sldId id="721" r:id="rId27"/>
    <p:sldId id="723" r:id="rId28"/>
    <p:sldId id="562" r:id="rId29"/>
  </p:sldIdLst>
  <p:sldSz cx="12192000" cy="6858000"/>
  <p:notesSz cx="6797675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0A32BA-3B9D-401F-8BB3-E1ABE0C3621A}">
          <p14:sldIdLst>
            <p14:sldId id="256"/>
            <p14:sldId id="564"/>
            <p14:sldId id="724"/>
          </p14:sldIdLst>
        </p14:section>
        <p14:section name="18.1 M&amp;A basics, motives and trends" id="{82B96233-CE70-49E5-8BF3-3164E0F97AA4}">
          <p14:sldIdLst>
            <p14:sldId id="614"/>
            <p14:sldId id="696"/>
            <p14:sldId id="710"/>
            <p14:sldId id="711"/>
            <p14:sldId id="712"/>
            <p14:sldId id="713"/>
            <p14:sldId id="714"/>
          </p14:sldIdLst>
        </p14:section>
        <p14:section name="18.2 M&amp;A valuation" id="{07974BBC-226C-43E9-B527-C5E45488056F}">
          <p14:sldIdLst>
            <p14:sldId id="667"/>
            <p14:sldId id="715"/>
            <p14:sldId id="706"/>
            <p14:sldId id="707"/>
            <p14:sldId id="716"/>
          </p14:sldIdLst>
        </p14:section>
        <p14:section name="18.3 E and S affecting M&amp;A valuation" id="{1B5E020B-0A55-42F0-B327-34E1E91E56D2}">
          <p14:sldIdLst>
            <p14:sldId id="670"/>
            <p14:sldId id="677"/>
            <p14:sldId id="717"/>
            <p14:sldId id="718"/>
          </p14:sldIdLst>
        </p14:section>
        <p14:section name="18.4 E and S valuation of M&amp;A" id="{F58090AE-8798-41A3-9794-3248B306BFE3}">
          <p14:sldIdLst>
            <p14:sldId id="680"/>
            <p14:sldId id="719"/>
          </p14:sldIdLst>
        </p14:section>
        <p14:section name="18.5 Integrated M&amp;A valuation" id="{E7622CD1-51E6-4A55-80F0-2B8575273BDD}">
          <p14:sldIdLst>
            <p14:sldId id="690"/>
            <p14:sldId id="720"/>
            <p14:sldId id="695"/>
            <p14:sldId id="722"/>
            <p14:sldId id="721"/>
            <p14:sldId id="723"/>
          </p14:sldIdLst>
        </p14:section>
        <p14:section name="18.6 Conclusions" id="{178EF25C-958A-4121-8DF3-1B822610ACA1}">
          <p14:sldIdLst>
            <p14:sldId id="5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C09F08-18AB-00D1-1B8C-6B475E567364}" name="Dirk Schoenmaker" initials="DS" userId="661d7b1468ffb9d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1FA"/>
    <a:srgbClr val="CCE3F5"/>
    <a:srgbClr val="FF575B"/>
    <a:srgbClr val="FF7C80"/>
    <a:srgbClr val="FF9999"/>
    <a:srgbClr val="2683C6"/>
    <a:srgbClr val="2691C9"/>
    <a:srgbClr val="26A0CD"/>
    <a:srgbClr val="27AFD0"/>
    <a:srgbClr val="27B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 autoAdjust="0"/>
    <p:restoredTop sz="95369"/>
  </p:normalViewPr>
  <p:slideViewPr>
    <p:cSldViewPr>
      <p:cViewPr varScale="1">
        <p:scale>
          <a:sx n="128" d="100"/>
          <a:sy n="128" d="100"/>
        </p:scale>
        <p:origin x="8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0790D-2E35-4538-A44F-A35BC0266A99}" type="doc">
      <dgm:prSet loTypeId="urn:microsoft.com/office/officeart/2005/8/layout/arrow5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9C860853-70E7-4EB8-A9C4-083A8A92FD73}">
      <dgm:prSet phldrT="[Tekst]"/>
      <dgm:spPr>
        <a:solidFill>
          <a:srgbClr val="00B050"/>
        </a:solidFill>
      </dgm:spPr>
      <dgm:t>
        <a:bodyPr/>
        <a:lstStyle/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Value creation</a:t>
          </a:r>
        </a:p>
      </dgm:t>
    </dgm:pt>
    <dgm:pt modelId="{0ED95145-06A7-460E-8CF8-A229E50AD693}" type="parTrans" cxnId="{D61B98CE-7541-40C3-9A78-7CEEAD4E04CC}">
      <dgm:prSet/>
      <dgm:spPr/>
      <dgm:t>
        <a:bodyPr/>
        <a:lstStyle/>
        <a:p>
          <a:endParaRPr lang="en-GB"/>
        </a:p>
      </dgm:t>
    </dgm:pt>
    <dgm:pt modelId="{169F571F-9878-428D-8F94-A7F345005BC7}" type="sibTrans" cxnId="{D61B98CE-7541-40C3-9A78-7CEEAD4E04CC}">
      <dgm:prSet/>
      <dgm:spPr/>
      <dgm:t>
        <a:bodyPr/>
        <a:lstStyle/>
        <a:p>
          <a:endParaRPr lang="en-GB"/>
        </a:p>
      </dgm:t>
    </dgm:pt>
    <dgm:pt modelId="{3762906A-29C6-45A6-A28A-92A070FD4921}">
      <dgm:prSet phldrT="[Tekst]"/>
      <dgm:spPr>
        <a:solidFill>
          <a:srgbClr val="FF0000"/>
        </a:solidFill>
      </dgm:spPr>
      <dgm:t>
        <a:bodyPr/>
        <a:lstStyle/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Value extraction</a:t>
          </a:r>
        </a:p>
      </dgm:t>
    </dgm:pt>
    <dgm:pt modelId="{E8127709-2A07-48C3-960D-72758EF1D164}" type="parTrans" cxnId="{91B4A7C7-49B7-46E2-9AFB-8B086BC0A580}">
      <dgm:prSet/>
      <dgm:spPr/>
      <dgm:t>
        <a:bodyPr/>
        <a:lstStyle/>
        <a:p>
          <a:endParaRPr lang="en-GB"/>
        </a:p>
      </dgm:t>
    </dgm:pt>
    <dgm:pt modelId="{C77885D6-3D8C-403E-9A20-ED532DD6832E}" type="sibTrans" cxnId="{91B4A7C7-49B7-46E2-9AFB-8B086BC0A580}">
      <dgm:prSet/>
      <dgm:spPr/>
      <dgm:t>
        <a:bodyPr/>
        <a:lstStyle/>
        <a:p>
          <a:endParaRPr lang="en-GB"/>
        </a:p>
      </dgm:t>
    </dgm:pt>
    <dgm:pt modelId="{A65C4B60-330F-44DE-9766-FE546773B3ED}" type="pres">
      <dgm:prSet presAssocID="{BFB0790D-2E35-4538-A44F-A35BC0266A99}" presName="diagram" presStyleCnt="0">
        <dgm:presLayoutVars>
          <dgm:dir/>
          <dgm:resizeHandles val="exact"/>
        </dgm:presLayoutVars>
      </dgm:prSet>
      <dgm:spPr/>
    </dgm:pt>
    <dgm:pt modelId="{FFEF29CC-829A-4EAC-A796-ECEBBB6AFC3B}" type="pres">
      <dgm:prSet presAssocID="{9C860853-70E7-4EB8-A9C4-083A8A92FD73}" presName="arrow" presStyleLbl="node1" presStyleIdx="0" presStyleCnt="2">
        <dgm:presLayoutVars>
          <dgm:bulletEnabled val="1"/>
        </dgm:presLayoutVars>
      </dgm:prSet>
      <dgm:spPr/>
    </dgm:pt>
    <dgm:pt modelId="{6BB16A99-373E-4196-B58F-AA819D46AC3E}" type="pres">
      <dgm:prSet presAssocID="{3762906A-29C6-45A6-A28A-92A070FD4921}" presName="arrow" presStyleLbl="node1" presStyleIdx="1" presStyleCnt="2">
        <dgm:presLayoutVars>
          <dgm:bulletEnabled val="1"/>
        </dgm:presLayoutVars>
      </dgm:prSet>
      <dgm:spPr/>
    </dgm:pt>
  </dgm:ptLst>
  <dgm:cxnLst>
    <dgm:cxn modelId="{1BE0367C-9769-4986-BD8B-F567DCF3AC60}" type="presOf" srcId="{BFB0790D-2E35-4538-A44F-A35BC0266A99}" destId="{A65C4B60-330F-44DE-9766-FE546773B3ED}" srcOrd="0" destOrd="0" presId="urn:microsoft.com/office/officeart/2005/8/layout/arrow5"/>
    <dgm:cxn modelId="{CC2D3EBA-FEA9-4394-BAEA-DA6FB2E58E45}" type="presOf" srcId="{9C860853-70E7-4EB8-A9C4-083A8A92FD73}" destId="{FFEF29CC-829A-4EAC-A796-ECEBBB6AFC3B}" srcOrd="0" destOrd="0" presId="urn:microsoft.com/office/officeart/2005/8/layout/arrow5"/>
    <dgm:cxn modelId="{91B4A7C7-49B7-46E2-9AFB-8B086BC0A580}" srcId="{BFB0790D-2E35-4538-A44F-A35BC0266A99}" destId="{3762906A-29C6-45A6-A28A-92A070FD4921}" srcOrd="1" destOrd="0" parTransId="{E8127709-2A07-48C3-960D-72758EF1D164}" sibTransId="{C77885D6-3D8C-403E-9A20-ED532DD6832E}"/>
    <dgm:cxn modelId="{D61B98CE-7541-40C3-9A78-7CEEAD4E04CC}" srcId="{BFB0790D-2E35-4538-A44F-A35BC0266A99}" destId="{9C860853-70E7-4EB8-A9C4-083A8A92FD73}" srcOrd="0" destOrd="0" parTransId="{0ED95145-06A7-460E-8CF8-A229E50AD693}" sibTransId="{169F571F-9878-428D-8F94-A7F345005BC7}"/>
    <dgm:cxn modelId="{F0CE9BE3-ED59-4479-BC2E-AE4A09B081F1}" type="presOf" srcId="{3762906A-29C6-45A6-A28A-92A070FD4921}" destId="{6BB16A99-373E-4196-B58F-AA819D46AC3E}" srcOrd="0" destOrd="0" presId="urn:microsoft.com/office/officeart/2005/8/layout/arrow5"/>
    <dgm:cxn modelId="{D58E644C-6032-4C74-8810-7D3018A4503B}" type="presParOf" srcId="{A65C4B60-330F-44DE-9766-FE546773B3ED}" destId="{FFEF29CC-829A-4EAC-A796-ECEBBB6AFC3B}" srcOrd="0" destOrd="0" presId="urn:microsoft.com/office/officeart/2005/8/layout/arrow5"/>
    <dgm:cxn modelId="{0A6D4D05-50E8-405D-99A3-DD0D3C973AE2}" type="presParOf" srcId="{A65C4B60-330F-44DE-9766-FE546773B3ED}" destId="{6BB16A99-373E-4196-B58F-AA819D46AC3E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F29CC-829A-4EAC-A796-ECEBBB6AFC3B}">
      <dsp:nvSpPr>
        <dsp:cNvPr id="0" name=""/>
        <dsp:cNvSpPr/>
      </dsp:nvSpPr>
      <dsp:spPr>
        <a:xfrm rot="16200000">
          <a:off x="424" y="160242"/>
          <a:ext cx="2415819" cy="2415819"/>
        </a:xfrm>
        <a:prstGeom prst="downArrow">
          <a:avLst>
            <a:gd name="adj1" fmla="val 50000"/>
            <a:gd name="adj2" fmla="val 35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Arial" panose="020B0604020202020204" pitchFamily="34" charset="0"/>
              <a:cs typeface="Arial" panose="020B0604020202020204" pitchFamily="34" charset="0"/>
            </a:rPr>
            <a:t>Value creation</a:t>
          </a:r>
        </a:p>
      </dsp:txBody>
      <dsp:txXfrm rot="5400000">
        <a:off x="424" y="764197"/>
        <a:ext cx="1993051" cy="1207909"/>
      </dsp:txXfrm>
    </dsp:sp>
    <dsp:sp modelId="{6BB16A99-373E-4196-B58F-AA819D46AC3E}">
      <dsp:nvSpPr>
        <dsp:cNvPr id="0" name=""/>
        <dsp:cNvSpPr/>
      </dsp:nvSpPr>
      <dsp:spPr>
        <a:xfrm rot="5400000">
          <a:off x="2551224" y="160242"/>
          <a:ext cx="2415819" cy="2415819"/>
        </a:xfrm>
        <a:prstGeom prst="downArrow">
          <a:avLst>
            <a:gd name="adj1" fmla="val 50000"/>
            <a:gd name="adj2" fmla="val 35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Arial" panose="020B0604020202020204" pitchFamily="34" charset="0"/>
              <a:cs typeface="Arial" panose="020B0604020202020204" pitchFamily="34" charset="0"/>
            </a:rPr>
            <a:t>Value extraction</a:t>
          </a:r>
        </a:p>
      </dsp:txBody>
      <dsp:txXfrm rot="-5400000">
        <a:off x="2973992" y="764197"/>
        <a:ext cx="1993051" cy="1207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862" cy="495793"/>
          </a:xfrm>
          <a:prstGeom prst="rect">
            <a:avLst/>
          </a:prstGeom>
        </p:spPr>
        <p:txBody>
          <a:bodyPr vert="horz" lIns="88211" tIns="44105" rIns="88211" bIns="44105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296" y="1"/>
            <a:ext cx="2945862" cy="495793"/>
          </a:xfrm>
          <a:prstGeom prst="rect">
            <a:avLst/>
          </a:prstGeom>
        </p:spPr>
        <p:txBody>
          <a:bodyPr vert="horz" lIns="88211" tIns="44105" rIns="88211" bIns="44105" rtlCol="0"/>
          <a:lstStyle>
            <a:lvl1pPr algn="r">
              <a:defRPr sz="1200"/>
            </a:lvl1pPr>
          </a:lstStyle>
          <a:p>
            <a:fld id="{3325F9F8-5D42-4208-880B-6708BBEBB10A}" type="datetimeFigureOut">
              <a:rPr lang="nl-NL" smtClean="0"/>
              <a:t>21-09-2023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29306"/>
            <a:ext cx="2945862" cy="495793"/>
          </a:xfrm>
          <a:prstGeom prst="rect">
            <a:avLst/>
          </a:prstGeom>
        </p:spPr>
        <p:txBody>
          <a:bodyPr vert="horz" lIns="88211" tIns="44105" rIns="88211" bIns="44105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296" y="9429306"/>
            <a:ext cx="2945862" cy="495793"/>
          </a:xfrm>
          <a:prstGeom prst="rect">
            <a:avLst/>
          </a:prstGeom>
        </p:spPr>
        <p:txBody>
          <a:bodyPr vert="horz" lIns="88211" tIns="44105" rIns="88211" bIns="44105" rtlCol="0" anchor="b"/>
          <a:lstStyle>
            <a:lvl1pPr algn="r">
              <a:defRPr sz="1200"/>
            </a:lvl1pPr>
          </a:lstStyle>
          <a:p>
            <a:fld id="{5A154748-73CB-46B1-80DC-BF03F067AA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6024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2945658" cy="496332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3"/>
            <a:ext cx="2945658" cy="496332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r">
              <a:defRPr sz="1300"/>
            </a:lvl1pPr>
          </a:lstStyle>
          <a:p>
            <a:fld id="{B064C223-EC3E-429A-AD8F-BB570CF7B08B}" type="datetimeFigureOut">
              <a:rPr lang="nl-NL" smtClean="0"/>
              <a:t>21-09-2023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9" tIns="47774" rIns="95549" bIns="47774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5549" tIns="47774" rIns="95549" bIns="4777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9"/>
            <a:ext cx="2945658" cy="496332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9"/>
            <a:ext cx="2945658" cy="496332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r">
              <a:defRPr sz="1300"/>
            </a:lvl1pPr>
          </a:lstStyle>
          <a:p>
            <a:fld id="{C31C44ED-C4AD-470A-9D13-4854E5C77B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698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E995674-3822-4210-B22F-ACD897F2951D}" type="datetime1">
              <a:rPr lang="nl-NL" smtClean="0"/>
              <a:t>21-09-2023</a:t>
            </a:fld>
            <a:endParaRPr lang="nl-N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A67-60A5-409E-8DD4-10448592DE6E}" type="datetime1">
              <a:rPr lang="nl-NL" smtClean="0"/>
              <a:t>21-09-2023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839C-F7D6-482F-9F38-C5243D7FA0DC}" type="datetime1">
              <a:rPr lang="nl-NL" smtClean="0"/>
              <a:t>21-09-2023</a:t>
            </a:fld>
            <a:endParaRPr lang="nl-NL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8AD75C1-97C5-43AB-A618-A08561DF0A95}" type="datetime1">
              <a:rPr lang="nl-NL" smtClean="0"/>
              <a:t>21-09-2023</a:t>
            </a:fld>
            <a:endParaRPr lang="nl-N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B9D848-C9A4-4662-BB4F-B0EBAEFE3374}" type="datetime1">
              <a:rPr lang="nl-NL" smtClean="0"/>
              <a:t>21-09-2023</a:t>
            </a:fld>
            <a:endParaRPr lang="nl-N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nl-NL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56325-4EE2-417E-871E-643775FE5A8E}" type="datetime1">
              <a:rPr lang="nl-NL" smtClean="0"/>
              <a:t>21-09-2023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0E6C7-2C44-47BD-98BE-126A2D60E8B0}" type="datetime1">
              <a:rPr lang="nl-NL" smtClean="0"/>
              <a:t>21-09-2023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A8902-429F-4875-8F39-5A01A5339B73}" type="datetime1">
              <a:rPr lang="nl-NL" smtClean="0"/>
              <a:t>21-09-2023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DF3F8BC0-7C6F-4C14-A98E-54C9DDD88215}" type="datetime1">
              <a:rPr lang="nl-NL" smtClean="0"/>
              <a:t>21-09-2023</a:t>
            </a:fld>
            <a:endParaRPr lang="nl-NL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ACCF7-383F-4E81-9924-63EE2C322453}" type="datetime1">
              <a:rPr lang="nl-NL" smtClean="0"/>
              <a:t>21-09-2023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A17AD36F-11C5-49B6-B051-90CB29CA0AFC}" type="datetime1">
              <a:rPr lang="nl-NL" smtClean="0"/>
              <a:t>21-09-2023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2C940B0-84B5-4EDF-949F-11EBC1AD2493}" type="datetime1">
              <a:rPr lang="nl-NL" smtClean="0"/>
              <a:t>21-09-2023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7460DF1-6357-430F-98B5-137A4FF6C7DD}" type="slidenum">
              <a:rPr lang="nl-NL" smtClean="0"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0694" y="3933056"/>
            <a:ext cx="6912768" cy="1972816"/>
          </a:xfrm>
        </p:spPr>
        <p:txBody>
          <a:bodyPr>
            <a:normAutofit fontScale="90000"/>
          </a:bodyPr>
          <a:lstStyle/>
          <a:p>
            <a:pPr algn="r"/>
            <a:r>
              <a:rPr lang="en-US" sz="3600" b="1" dirty="0">
                <a:ea typeface="Arial" charset="0"/>
                <a:cs typeface="Arial" charset="0"/>
              </a:rPr>
              <a:t>Corporate Finance for</a:t>
            </a:r>
            <a:br>
              <a:rPr lang="en-US" sz="3600" b="1" dirty="0">
                <a:ea typeface="Arial" charset="0"/>
                <a:cs typeface="Arial" charset="0"/>
              </a:rPr>
            </a:br>
            <a:r>
              <a:rPr lang="en-US" sz="3600" b="1" dirty="0">
                <a:ea typeface="Arial" charset="0"/>
                <a:cs typeface="Arial" charset="0"/>
              </a:rPr>
              <a:t>Long-Term Value</a:t>
            </a:r>
            <a:br>
              <a:rPr lang="en-US" sz="3600" b="1" dirty="0">
                <a:ea typeface="Arial" charset="0"/>
                <a:cs typeface="Arial" charset="0"/>
              </a:rPr>
            </a:br>
            <a:br>
              <a:rPr lang="en-US" sz="3600" b="1" dirty="0">
                <a:ea typeface="Arial" charset="0"/>
                <a:cs typeface="Arial" charset="0"/>
              </a:rPr>
            </a:br>
            <a:endParaRPr lang="nl-NL" sz="3600" b="1" dirty="0"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5171" y="6021288"/>
            <a:ext cx="8896829" cy="720080"/>
          </a:xfrm>
        </p:spPr>
        <p:txBody>
          <a:bodyPr>
            <a:normAutofit/>
          </a:bodyPr>
          <a:lstStyle/>
          <a:p>
            <a:r>
              <a:rPr lang="en-US" sz="2000" dirty="0"/>
              <a:t>Chapter 18: Mergers and acquisitions</a:t>
            </a:r>
            <a:endParaRPr lang="nl-NL" sz="2000" b="1" dirty="0"/>
          </a:p>
        </p:txBody>
      </p:sp>
    </p:spTree>
    <p:extLst>
      <p:ext uri="{BB962C8B-B14F-4D97-AF65-F5344CB8AC3E}">
        <p14:creationId xmlns:p14="http://schemas.microsoft.com/office/powerpoint/2010/main" val="222839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A61CE-6D9E-7B18-0367-09C55388B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8FCA5E-2706-BA1C-17AF-A2474FC0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1608138"/>
            <a:ext cx="10160000" cy="990600"/>
          </a:xfrm>
        </p:spPr>
        <p:txBody>
          <a:bodyPr>
            <a:noAutofit/>
          </a:bodyPr>
          <a:lstStyle/>
          <a:p>
            <a:r>
              <a:rPr lang="en-US" sz="2800" dirty="0"/>
              <a:t>Chapter 18: Mergers and acquisitions</a:t>
            </a:r>
            <a:endParaRPr lang="nl-NL" sz="28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4FABC6-EE75-7B9E-A76C-CF5DBC46E5C6}"/>
              </a:ext>
            </a:extLst>
          </p:cNvPr>
          <p:cNvSpPr txBox="1">
            <a:spLocks/>
          </p:cNvSpPr>
          <p:nvPr/>
        </p:nvSpPr>
        <p:spPr>
          <a:xfrm>
            <a:off x="8256240" y="1169114"/>
            <a:ext cx="3729396" cy="648072"/>
          </a:xfrm>
          <a:prstGeom prst="rect">
            <a:avLst/>
          </a:prstGeom>
          <a:solidFill>
            <a:srgbClr val="2683C6"/>
          </a:solidFill>
        </p:spPr>
        <p:txBody>
          <a:bodyPr vert="horz" anchor="t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b="0" kern="1200" cap="none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Part 5: Corporate financial policies</a:t>
            </a:r>
            <a:endParaRPr lang="nl-NL" sz="20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E0DAF-01BF-3CBC-55E4-CC25D15FB64F}"/>
              </a:ext>
            </a:extLst>
          </p:cNvPr>
          <p:cNvSpPr/>
          <p:nvPr/>
        </p:nvSpPr>
        <p:spPr>
          <a:xfrm>
            <a:off x="1828800" y="1600200"/>
            <a:ext cx="10363200" cy="2338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54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The BIG Picture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3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4" y="1516698"/>
            <a:ext cx="10751744" cy="48646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M&amp;As are very large investments in which a company takes over another company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Discussion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Value creation is more likely if there are synergies between the companies involved</a:t>
            </a:r>
          </a:p>
          <a:p>
            <a:pPr lvl="1">
              <a:lnSpc>
                <a:spcPct val="150000"/>
              </a:lnSpc>
            </a:pPr>
            <a:r>
              <a:rPr lang="en-GB" sz="17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There are many dubious motives for M&amp;As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Financial sanity of M&amp;A activity can be assessed with the NPV method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Large numbers and big stakes in M&amp;A make behavioural issues more problematic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If not properly understood and considered, E and S issues can reduce the company’s financial value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An integrated perspective on M&amp;A valuation is needed -&gt; </a:t>
            </a:r>
            <a:r>
              <a:rPr lang="en-GB" sz="2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integrated value method</a:t>
            </a:r>
          </a:p>
          <a:p>
            <a:pPr>
              <a:lnSpc>
                <a:spcPct val="150000"/>
              </a:lnSpc>
            </a:pPr>
            <a:endParaRPr lang="nl-NL" sz="20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2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Mergers and acquisitions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4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3392" y="1532586"/>
            <a:ext cx="10729192" cy="499275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In a </a:t>
            </a:r>
            <a:r>
              <a:rPr lang="en-GB" sz="2000" i="1" dirty="0">
                <a:latin typeface="Arial" charset="0"/>
                <a:ea typeface="Arial" charset="0"/>
                <a:cs typeface="Arial" charset="0"/>
              </a:rPr>
              <a:t>takeover</a:t>
            </a: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 or </a:t>
            </a:r>
            <a:r>
              <a:rPr lang="en-GB" sz="2000" i="1" dirty="0">
                <a:latin typeface="Arial" charset="0"/>
                <a:ea typeface="Arial" charset="0"/>
                <a:cs typeface="Arial" charset="0"/>
              </a:rPr>
              <a:t>acquisition</a:t>
            </a: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, one company buys another company and it is typically quite clear who is the buyer and who is the seller</a:t>
            </a:r>
          </a:p>
          <a:p>
            <a:pPr>
              <a:lnSpc>
                <a:spcPct val="150000"/>
              </a:lnSpc>
            </a:pPr>
            <a:endParaRPr lang="en-GB" sz="2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merger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, it is supposed that companies of roughly equal size together decide to continue as one company, without a clear buyer or seller</a:t>
            </a:r>
          </a:p>
          <a:p>
            <a:pPr lvl="1">
              <a:lnSpc>
                <a:spcPct val="150000"/>
              </a:lnSpc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Sometimes a deal may be called a merger for political reasons, whereas it is quite clear who is the senior party and who the junior</a:t>
            </a:r>
          </a:p>
          <a:p>
            <a:pPr lvl="1">
              <a:lnSpc>
                <a:spcPct val="150000"/>
              </a:lnSpc>
            </a:pPr>
            <a:endParaRPr lang="en-GB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buyer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is called the bidder during the bidding process and called the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acquirer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if the deal happens</a:t>
            </a:r>
          </a:p>
          <a:p>
            <a:pPr>
              <a:lnSpc>
                <a:spcPct val="150000"/>
              </a:lnSpc>
            </a:pPr>
            <a:endParaRPr lang="en-GB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company that is sold, is called the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during bidding and becomes the acquired company once the deal is done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0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Bidding process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5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3392" y="1628800"/>
            <a:ext cx="10871200" cy="47866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A bidding process takes months and is preceded by screening activities aimed at identifying the most suitable targets and doing initial valuations</a:t>
            </a:r>
          </a:p>
          <a:p>
            <a:pPr>
              <a:lnSpc>
                <a:spcPct val="150000"/>
              </a:lnSpc>
            </a:pPr>
            <a:endParaRPr lang="en-GB" sz="2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Due diligence is carried out in which the bidder scrutinises the target’s accounts under strict non-disclosure agreements</a:t>
            </a:r>
          </a:p>
          <a:p>
            <a:pPr>
              <a:lnSpc>
                <a:spcPct val="150000"/>
              </a:lnSpc>
            </a:pPr>
            <a:endParaRPr lang="en-GB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Bids can be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friendly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(with consent of target management) or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hostile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(lacking consent)</a:t>
            </a:r>
          </a:p>
          <a:p>
            <a:pPr>
              <a:lnSpc>
                <a:spcPct val="150000"/>
              </a:lnSpc>
            </a:pPr>
            <a:endParaRPr lang="en-GB" sz="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 deal can be stopped by regulators if it is deemed to be anti-competitive or contrary to national interests</a:t>
            </a:r>
          </a:p>
          <a:p>
            <a:pPr lvl="1">
              <a:lnSpc>
                <a:spcPct val="150000"/>
              </a:lnSpc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Example: in August 2020, the UK government blocked the takeover of electronic design company </a:t>
            </a:r>
            <a:r>
              <a:rPr lang="en-GB" sz="1700" dirty="0" err="1">
                <a:latin typeface="Arial" panose="020B0604020202020204" pitchFamily="34" charset="0"/>
                <a:cs typeface="Arial" panose="020B0604020202020204" pitchFamily="34" charset="0"/>
              </a:rPr>
              <a:t>Pulsic</a:t>
            </a: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 by a Hong Kong rival over national security concern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58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M&amp;A types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6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3392" y="1516698"/>
            <a:ext cx="10513168" cy="47866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The market’s assessment of a potential M&amp;A transaction is expressed in the stock price reactions of the target and the bidder, which</a:t>
            </a:r>
            <a:r>
              <a:rPr lang="en-GB" sz="2000" dirty="0">
                <a:latin typeface="Arial" charset="0"/>
                <a:cs typeface="Arial" charset="0"/>
              </a:rPr>
              <a:t> reflects: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value creation for shareholders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likelihood that the transaction will happen</a:t>
            </a:r>
          </a:p>
          <a:p>
            <a:pPr lvl="1">
              <a:lnSpc>
                <a:spcPct val="150000"/>
              </a:lnSpc>
            </a:pPr>
            <a:endParaRPr lang="en-GB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M&amp;As can be classified in terms of business activity: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Horizontal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– same line of business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Vertical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different parts of the same value chain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Conglomerate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unrelated business</a:t>
            </a:r>
          </a:p>
          <a:p>
            <a:pPr>
              <a:lnSpc>
                <a:spcPct val="150000"/>
              </a:lnSpc>
            </a:pP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67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Motives for M&amp;A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7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07009" y="1516698"/>
            <a:ext cx="10679736" cy="511270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M&amp;A deals can be done for several reasons, some deemed more valid than others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charset="0"/>
                <a:cs typeface="Arial" charset="0"/>
              </a:rPr>
              <a:t>The search for synergies is typically deemed a valid reason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charset="0"/>
                <a:cs typeface="Arial" charset="0"/>
              </a:rPr>
              <a:t>Cheap funding and increased earnings per share (EPS) are seen as poor reasons</a:t>
            </a:r>
          </a:p>
          <a:p>
            <a:pPr lvl="1">
              <a:lnSpc>
                <a:spcPct val="150000"/>
              </a:lnSpc>
            </a:pPr>
            <a:endParaRPr lang="en-GB" sz="500" dirty="0">
              <a:latin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US" sz="2100" i="1" dirty="0">
                <a:latin typeface="Arial" panose="020B0604020202020204" pitchFamily="34" charset="0"/>
                <a:cs typeface="Arial" panose="020B0604020202020204" pitchFamily="34" charset="0"/>
              </a:rPr>
              <a:t>Synergies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mean </a:t>
            </a: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that the cooperation of two organisations provides better results than the sum of their parts</a:t>
            </a:r>
          </a:p>
          <a:p>
            <a:pPr>
              <a:lnSpc>
                <a:spcPct val="150000"/>
              </a:lnSpc>
            </a:pPr>
            <a:endParaRPr lang="en-GB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There are several sources of synergies:</a:t>
            </a:r>
          </a:p>
          <a:p>
            <a:pPr lvl="1">
              <a:lnSpc>
                <a:spcPct val="15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Economies of scale: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as production volumes go up, costs tend to fall</a:t>
            </a:r>
          </a:p>
          <a:p>
            <a:pPr lvl="1">
              <a:lnSpc>
                <a:spcPct val="15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Economies of scope: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combining similar products could lead to spill-over effects</a:t>
            </a:r>
          </a:p>
          <a:p>
            <a:pPr lvl="1">
              <a:lnSpc>
                <a:spcPct val="15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Vertical integration: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acquiring other parts of the value chain can improve streamlining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Industry consolidation: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reducing competition means a larger part of consumer surplus is taken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Transition: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acquiring companies with advanced E and/or S capabilities can accelerate transition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377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Poor reasons for M&amp;A deals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8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3392" y="1522648"/>
            <a:ext cx="10247688" cy="47866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charset="0"/>
                <a:cs typeface="Arial" charset="0"/>
              </a:rPr>
              <a:t>Poor reasons for M&amp;A deals can be </a:t>
            </a:r>
            <a:r>
              <a:rPr lang="en-US" sz="2000" dirty="0" err="1">
                <a:latin typeface="Arial" charset="0"/>
                <a:cs typeface="Arial" charset="0"/>
              </a:rPr>
              <a:t>behaviourally</a:t>
            </a:r>
            <a:r>
              <a:rPr lang="en-US" sz="2000" dirty="0">
                <a:latin typeface="Arial" charset="0"/>
                <a:cs typeface="Arial" charset="0"/>
              </a:rPr>
              <a:t> driven:</a:t>
            </a:r>
          </a:p>
          <a:p>
            <a:pPr>
              <a:lnSpc>
                <a:spcPct val="150000"/>
              </a:lnSpc>
            </a:pPr>
            <a:endParaRPr lang="en-US" sz="400" dirty="0">
              <a:latin typeface="Arial" charset="0"/>
              <a:cs typeface="Arial" charset="0"/>
            </a:endParaRP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charset="0"/>
                <a:cs typeface="Arial" charset="0"/>
              </a:rPr>
              <a:t>Escalation of commitment: </a:t>
            </a:r>
            <a:r>
              <a:rPr lang="en-GB" sz="1800" dirty="0">
                <a:latin typeface="Arial" charset="0"/>
                <a:cs typeface="Arial" charset="0"/>
              </a:rPr>
              <a:t>if much time and efforts has already been invested, it often becomes difficult to stop a process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When operating in the domain of losses: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negative results may lead to overvaluation of takeovers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Overoptimistic managers: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overconfident CEOs overestimate their ability to generate returns, thereby overpaying for target companies and undertaking value-destroying mergers </a:t>
            </a:r>
          </a:p>
          <a:p>
            <a:pPr lvl="1">
              <a:lnSpc>
                <a:spcPct val="150000"/>
              </a:lnSpc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Serial acquisition: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some companies are serial acquirers and acquire multiple companies per year, with performance declining deal by deal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72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M&amp;A advisory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9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23392" y="1556792"/>
            <a:ext cx="10751744" cy="51127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cs typeface="Arial" charset="0"/>
              </a:rPr>
              <a:t>During an M&amp;A process, both the bidder (acquirer) and the seller (target) hire advisory partners, also known as buy-side and sell-side mandates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Typically, an investment bank acts as the primary contact person for the sellers and bidders throughout the entire process</a:t>
            </a:r>
          </a:p>
          <a:p>
            <a:pPr lvl="1">
              <a:lnSpc>
                <a:spcPct val="15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Each selling or bidding company hires its own investment bank advisor</a:t>
            </a:r>
          </a:p>
          <a:p>
            <a:pPr lvl="1">
              <a:lnSpc>
                <a:spcPct val="150000"/>
              </a:lnSpc>
            </a:pPr>
            <a:endParaRPr lang="en-GB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Various specialists are hired to conduct a due diligence of the target</a:t>
            </a:r>
          </a:p>
          <a:p>
            <a:pPr lvl="1">
              <a:lnSpc>
                <a:spcPct val="15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Financial experts normalise and evaluate the target’s earnings and financial statement</a:t>
            </a:r>
          </a:p>
          <a:p>
            <a:pPr lvl="1">
              <a:lnSpc>
                <a:spcPct val="15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Operational specialists evaluate the different value drivers of the target</a:t>
            </a:r>
          </a:p>
          <a:p>
            <a:pPr lvl="1">
              <a:lnSpc>
                <a:spcPct val="150000"/>
              </a:lnSpc>
            </a:pPr>
            <a:r>
              <a:rPr lang="en-GB" sz="1500" dirty="0">
                <a:latin typeface="Arial" panose="020B0604020202020204" pitchFamily="34" charset="0"/>
                <a:cs typeface="Arial" panose="020B0604020202020204" pitchFamily="34" charset="0"/>
              </a:rPr>
              <a:t>Lawyers review critical company contracts and prepare non-disclosure agreements and purchase agreement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43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M&amp;A waves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10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4" y="1516698"/>
            <a:ext cx="10247688" cy="47866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cs typeface="Arial" charset="0"/>
              </a:rPr>
              <a:t>M&amp;A activity comes in waves and are linked to the state of the economy</a:t>
            </a:r>
          </a:p>
          <a:p>
            <a:pPr lvl="1">
              <a:lnSpc>
                <a:spcPct val="150000"/>
              </a:lnSpc>
            </a:pPr>
            <a:r>
              <a:rPr lang="en-GB" sz="1600" dirty="0">
                <a:latin typeface="Arial" charset="0"/>
                <a:cs typeface="Arial" charset="0"/>
              </a:rPr>
              <a:t>During an upswing, M&amp;A activity increases</a:t>
            </a:r>
          </a:p>
          <a:p>
            <a:pPr lvl="1">
              <a:lnSpc>
                <a:spcPct val="150000"/>
              </a:lnSpc>
            </a:pPr>
            <a:r>
              <a:rPr lang="en-GB" sz="1600" dirty="0">
                <a:latin typeface="Arial" charset="0"/>
                <a:cs typeface="Arial" charset="0"/>
              </a:rPr>
              <a:t>During a downturn, M&amp;A activity declines</a:t>
            </a:r>
          </a:p>
          <a:p>
            <a:pPr>
              <a:lnSpc>
                <a:spcPct val="15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C69EC28-B627-594D-D7EE-00A97AA05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1" y="3212976"/>
            <a:ext cx="11087444" cy="343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4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M&amp;A valuation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11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4" y="1516698"/>
            <a:ext cx="10463712" cy="464860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Koller, </a:t>
            </a:r>
            <a:r>
              <a:rPr lang="en-GB" sz="2000" dirty="0" err="1">
                <a:latin typeface="Arial" charset="0"/>
                <a:ea typeface="Arial" charset="0"/>
                <a:cs typeface="Arial" charset="0"/>
              </a:rPr>
              <a:t>Goedhart</a:t>
            </a: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 and Wessels (2020) define the M&amp;A value creation as follows: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5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	</a:t>
            </a:r>
            <a:endParaRPr lang="en-US" sz="20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C541F-EF17-086D-B06F-771C82A89229}"/>
              </a:ext>
            </a:extLst>
          </p:cNvPr>
          <p:cNvSpPr txBox="1"/>
          <p:nvPr/>
        </p:nvSpPr>
        <p:spPr>
          <a:xfrm>
            <a:off x="7524295" y="2683237"/>
            <a:ext cx="3988379" cy="578882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Manager’s assessment </a:t>
            </a:r>
            <a:b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(does not need to equal market value)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1A4BF-7BEB-8F91-AE4D-C174FB5AD561}"/>
              </a:ext>
            </a:extLst>
          </p:cNvPr>
          <p:cNvSpPr txBox="1"/>
          <p:nvPr/>
        </p:nvSpPr>
        <p:spPr>
          <a:xfrm>
            <a:off x="7536668" y="3659435"/>
            <a:ext cx="3988379" cy="578882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measures that acquirer intends to take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(i.e. cost-cutting, using new market channels)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2C6FA-FB44-4F58-FCAD-8981805DE7BC}"/>
              </a:ext>
            </a:extLst>
          </p:cNvPr>
          <p:cNvSpPr txBox="1"/>
          <p:nvPr/>
        </p:nvSpPr>
        <p:spPr>
          <a:xfrm>
            <a:off x="7520509" y="5603593"/>
            <a:ext cx="4163769" cy="578882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Price paid by acquirer on top of market value of </a:t>
            </a:r>
            <a:b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 (driven by expectations and behaviour)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D31CB4D-1E6F-8E6B-C75C-18D37B31C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39" y="2492896"/>
            <a:ext cx="7546125" cy="390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63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M&amp;A valuation example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12</a:t>
            </a:fld>
            <a:endParaRPr lang="nl-N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E19A11-66E7-F61B-1040-F146570A8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895671"/>
              </p:ext>
            </p:extLst>
          </p:nvPr>
        </p:nvGraphicFramePr>
        <p:xfrm>
          <a:off x="548614" y="1759117"/>
          <a:ext cx="6840758" cy="46085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04778">
                  <a:extLst>
                    <a:ext uri="{9D8B030D-6E8A-4147-A177-3AD203B41FA5}">
                      <a16:colId xmlns:a16="http://schemas.microsoft.com/office/drawing/2014/main" val="2497965532"/>
                    </a:ext>
                  </a:extLst>
                </a:gridCol>
                <a:gridCol w="1717990">
                  <a:extLst>
                    <a:ext uri="{9D8B030D-6E8A-4147-A177-3AD203B41FA5}">
                      <a16:colId xmlns:a16="http://schemas.microsoft.com/office/drawing/2014/main" val="2015594218"/>
                    </a:ext>
                  </a:extLst>
                </a:gridCol>
                <a:gridCol w="1717990">
                  <a:extLst>
                    <a:ext uri="{9D8B030D-6E8A-4147-A177-3AD203B41FA5}">
                      <a16:colId xmlns:a16="http://schemas.microsoft.com/office/drawing/2014/main" val="4027673545"/>
                    </a:ext>
                  </a:extLst>
                </a:gridCol>
              </a:tblGrid>
              <a:tr h="1024418"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component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Value, $ millions</a:t>
                      </a:r>
                    </a:p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5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takeover premium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Value, $ millions</a:t>
                      </a:r>
                    </a:p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</a:t>
                      </a:r>
                      <a:r>
                        <a:rPr lang="en-GB" sz="15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r>
                        <a:rPr lang="en-GB" sz="15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takeover premium</a:t>
                      </a:r>
                      <a:endParaRPr lang="en-GB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316380"/>
                  </a:ext>
                </a:extLst>
              </a:tr>
              <a:tr h="466978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Standalone intrinsic value of the target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650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650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422203"/>
                  </a:ext>
                </a:extLst>
              </a:tr>
              <a:tr h="466978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Value of performance improvements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97.5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46457"/>
                  </a:ext>
                </a:extLst>
              </a:tr>
              <a:tr h="44756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Value received (1)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747.5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747.5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19313"/>
                  </a:ext>
                </a:extLst>
              </a:tr>
              <a:tr h="44756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value of the target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585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585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451712"/>
                  </a:ext>
                </a:extLst>
              </a:tr>
              <a:tr h="44756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Acquisition premium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175.5</a:t>
                      </a:r>
                      <a:endParaRPr lang="en-GB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101355"/>
                  </a:ext>
                </a:extLst>
              </a:tr>
              <a:tr h="447561">
                <a:tc>
                  <a:txBody>
                    <a:bodyPr/>
                    <a:lstStyle/>
                    <a:p>
                      <a:pPr marL="0" marR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Price paid (2)</a:t>
                      </a:r>
                      <a:endParaRPr lang="en-GB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702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760.5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05333"/>
                  </a:ext>
                </a:extLst>
              </a:tr>
              <a:tr h="392916">
                <a:tc>
                  <a:txBody>
                    <a:bodyPr/>
                    <a:lstStyle/>
                    <a:p>
                      <a:endParaRPr lang="en-GB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821933"/>
                  </a:ext>
                </a:extLst>
              </a:tr>
              <a:tr h="466978">
                <a:tc>
                  <a:txBody>
                    <a:bodyPr/>
                    <a:lstStyle/>
                    <a:p>
                      <a:pPr marL="0" marR="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created for acquirer (1) - (2)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45.5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5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</a:t>
                      </a:r>
                      <a:endParaRPr lang="en-GB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8093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EDF514-216D-F5E9-3806-7DDD2FD4A725}"/>
              </a:ext>
            </a:extLst>
          </p:cNvPr>
          <p:cNvSpPr txBox="1"/>
          <p:nvPr/>
        </p:nvSpPr>
        <p:spPr>
          <a:xfrm>
            <a:off x="7732144" y="4244030"/>
            <a:ext cx="4104456" cy="340519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10% undervaluation of company’s intrinsic value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7F635CC-2C6B-D3C1-CBF3-468BBD76A660}"/>
              </a:ext>
            </a:extLst>
          </p:cNvPr>
          <p:cNvSpPr/>
          <p:nvPr/>
        </p:nvSpPr>
        <p:spPr>
          <a:xfrm>
            <a:off x="7235374" y="4303009"/>
            <a:ext cx="378702" cy="21602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80894-4C6B-73B1-CE34-DF959D9AA24F}"/>
              </a:ext>
            </a:extLst>
          </p:cNvPr>
          <p:cNvSpPr txBox="1"/>
          <p:nvPr/>
        </p:nvSpPr>
        <p:spPr>
          <a:xfrm>
            <a:off x="7732144" y="3299606"/>
            <a:ext cx="4104456" cy="340519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Synergies are estimated at 15% of intrinsic value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049A7485-A68E-EC2A-6996-DC1B9B250429}"/>
              </a:ext>
            </a:extLst>
          </p:cNvPr>
          <p:cNvSpPr/>
          <p:nvPr/>
        </p:nvSpPr>
        <p:spPr>
          <a:xfrm>
            <a:off x="7260358" y="3361854"/>
            <a:ext cx="378702" cy="21602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61833-EAE8-39DD-FA53-A41BAFCF7922}"/>
              </a:ext>
            </a:extLst>
          </p:cNvPr>
          <p:cNvSpPr txBox="1"/>
          <p:nvPr/>
        </p:nvSpPr>
        <p:spPr>
          <a:xfrm>
            <a:off x="7699685" y="4631562"/>
            <a:ext cx="3988379" cy="578882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Seller demands 20% premium (left) or 30% premium (right) on top of target’s market value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8E45F6F7-9109-8381-6C54-9411F1AE36DA}"/>
              </a:ext>
            </a:extLst>
          </p:cNvPr>
          <p:cNvSpPr/>
          <p:nvPr/>
        </p:nvSpPr>
        <p:spPr>
          <a:xfrm>
            <a:off x="7235374" y="4728343"/>
            <a:ext cx="378702" cy="21602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BAE76F-5CEC-C919-6C32-B5DB70EBB5D5}"/>
              </a:ext>
            </a:extLst>
          </p:cNvPr>
          <p:cNvSpPr txBox="1"/>
          <p:nvPr/>
        </p:nvSpPr>
        <p:spPr>
          <a:xfrm>
            <a:off x="7703202" y="5832329"/>
            <a:ext cx="4190434" cy="578882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Value is created for acquirer with 20% premium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Value is destroyed for acquirer with 30% premium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7793B5A6-CD7A-328E-42C8-2A82F8466373}"/>
              </a:ext>
            </a:extLst>
          </p:cNvPr>
          <p:cNvSpPr/>
          <p:nvPr/>
        </p:nvSpPr>
        <p:spPr>
          <a:xfrm>
            <a:off x="7271038" y="6013758"/>
            <a:ext cx="378702" cy="21602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96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Financing M&amp;A deals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13</a:t>
            </a:fld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79376" y="1512709"/>
                <a:ext cx="11136680" cy="522865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800" dirty="0">
                    <a:latin typeface="Arial" charset="0"/>
                    <a:ea typeface="Arial" charset="0"/>
                    <a:cs typeface="Arial" charset="0"/>
                  </a:rPr>
                  <a:t>The acquiring company can pay price for target company in cash, in stock or both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sz="1800" dirty="0">
                    <a:latin typeface="Arial" charset="0"/>
                    <a:ea typeface="Arial" charset="0"/>
                    <a:cs typeface="Arial" charset="0"/>
                  </a:rPr>
                  <a:t>price paid = market value of the target + acquisition premium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GB" sz="300" dirty="0">
                  <a:latin typeface="Arial" charset="0"/>
                  <a:ea typeface="Arial" charset="0"/>
                  <a:cs typeface="Arial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800" dirty="0">
                    <a:latin typeface="Arial" charset="0"/>
                    <a:ea typeface="Arial" charset="0"/>
                    <a:cs typeface="Arial" charset="0"/>
                  </a:rPr>
                  <a:t>Cash financed M&amp;A deal: acquirer offers original share price plus acquisition premium to target’s shareholders</a:t>
                </a:r>
              </a:p>
              <a:p>
                <a:pPr>
                  <a:lnSpc>
                    <a:spcPct val="150000"/>
                  </a:lnSpc>
                </a:pPr>
                <a:endParaRPr lang="en-GB" sz="100" dirty="0">
                  <a:latin typeface="Arial" charset="0"/>
                  <a:ea typeface="Arial" charset="0"/>
                  <a:cs typeface="Arial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800" dirty="0">
                    <a:latin typeface="Arial" charset="0"/>
                    <a:ea typeface="Arial" charset="0"/>
                    <a:cs typeface="Arial" charset="0"/>
                  </a:rPr>
                  <a:t>Many deals are (partly) paid in acquirer’s stock, with stockholders receiving a fraction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latin typeface="Arial" charset="0"/>
                    <a:ea typeface="Arial" charset="0"/>
                    <a:cs typeface="Arial" charset="0"/>
                  </a:rPr>
                  <a:t>of combined companies: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9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9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19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𝑛𝑒𝑤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𝑠h𝑎𝑟𝑒𝑠</m:t>
                          </m:r>
                        </m:num>
                        <m:den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𝑛𝑒𝑤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+ 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𝑜𝑙𝑑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𝑠h𝑎𝑟𝑒𝑠</m:t>
                          </m:r>
                        </m:den>
                      </m:f>
                    </m:oMath>
                  </m:oMathPara>
                </a14:m>
                <a:endParaRPr lang="en-GB" sz="190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50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800" dirty="0"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In a stock offer, effective price of merger or takeover is affected by M&amp;A gains or losses</a:t>
                </a:r>
              </a:p>
              <a:p>
                <a:pPr>
                  <a:lnSpc>
                    <a:spcPct val="150000"/>
                  </a:lnSpc>
                </a:pPr>
                <a:endParaRPr lang="en-GB" sz="10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800" dirty="0"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Payment in stock mitigates undervaluation and overvaluation of both companies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500" dirty="0"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In overvaluation, target and acquirer stockholders share in the losses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500" dirty="0"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In </a:t>
                </a:r>
                <a:r>
                  <a:rPr lang="en-GB" sz="1500" dirty="0">
                    <a:latin typeface="Arial" panose="020B0604020202020204" pitchFamily="34" charset="0"/>
                    <a:ea typeface="Arial" charset="0"/>
                    <a:cs typeface="Arial" panose="020B0604020202020204" pitchFamily="34" charset="0"/>
                  </a:rPr>
                  <a:t>undervaluation, target and acquirer stockholders share in the gains</a:t>
                </a:r>
                <a:endParaRPr lang="en-US" sz="1500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79376" y="1512709"/>
                <a:ext cx="11136680" cy="522865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80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latin typeface="Arial" charset="0"/>
                <a:ea typeface="Arial" charset="0"/>
                <a:cs typeface="Arial" charset="0"/>
              </a:rPr>
              <a:t>Behavioural</a:t>
            </a:r>
            <a:r>
              <a:rPr lang="en-US" sz="3200" dirty="0">
                <a:latin typeface="Arial" charset="0"/>
                <a:ea typeface="Arial" charset="0"/>
                <a:cs typeface="Arial" charset="0"/>
              </a:rPr>
              <a:t> issues in M&amp;A valuation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14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4" y="1516698"/>
            <a:ext cx="10463712" cy="4648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Arial" charset="0"/>
                <a:ea typeface="Arial" charset="0"/>
                <a:cs typeface="Arial" charset="0"/>
              </a:rPr>
              <a:t>Behavioural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 issues can be internal or external errors</a:t>
            </a:r>
          </a:p>
          <a:p>
            <a:pPr>
              <a:lnSpc>
                <a:spcPct val="150000"/>
              </a:lnSpc>
            </a:pPr>
            <a:endParaRPr lang="en-US" sz="6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Internal errors: managers overvalue their own company, the target or the synergies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Before companies make their bid, they can overestimate synergies or underestimate risks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In a bidding context, management can succumb to the winner’s curse: winning by overpaying</a:t>
            </a:r>
          </a:p>
          <a:p>
            <a:pPr lvl="1">
              <a:lnSpc>
                <a:spcPct val="150000"/>
              </a:lnSpc>
            </a:pPr>
            <a:endParaRPr lang="en-GB" sz="8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External errors: the market overvalues the target or the bidder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Shleifer and </a:t>
            </a:r>
            <a:r>
              <a:rPr lang="en-GB" sz="1800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Vishny</a:t>
            </a:r>
            <a:r>
              <a:rPr lang="en-GB" sz="1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(2003) assume that acquirers are overvalued and the motive of acquisitions is to preserve some overvaluation for long-runs shareholders</a:t>
            </a:r>
          </a:p>
          <a:p>
            <a:pPr lvl="1">
              <a:lnSpc>
                <a:spcPct val="150000"/>
              </a:lnSpc>
            </a:pPr>
            <a:r>
              <a:rPr lang="en-GB" sz="1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Market-level mispricing proxies and merger volume are positively correlated</a:t>
            </a:r>
          </a:p>
        </p:txBody>
      </p:sp>
    </p:spTree>
    <p:extLst>
      <p:ext uri="{BB962C8B-B14F-4D97-AF65-F5344CB8AC3E}">
        <p14:creationId xmlns:p14="http://schemas.microsoft.com/office/powerpoint/2010/main" val="313501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Hedge fund activism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15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4816" y="1628800"/>
            <a:ext cx="11233248" cy="50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Activist hedge funds specialise in hostile M&amp;A activity, and have a highly concentrated portfolio of holdings in companies that they want to shake up</a:t>
            </a:r>
          </a:p>
          <a:p>
            <a:pPr>
              <a:lnSpc>
                <a:spcPct val="150000"/>
              </a:lnSpc>
            </a:pPr>
            <a:endParaRPr lang="en-GB" sz="6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Boyson</a:t>
            </a: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, </a:t>
            </a:r>
            <a:r>
              <a:rPr lang="en-GB" sz="2000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Gantchev</a:t>
            </a: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and </a:t>
            </a:r>
            <a:r>
              <a:rPr lang="en-GB" sz="2000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Shivdasani</a:t>
            </a: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(2017) find that shareholder value creation from hedge fund activism occurs primarily by influencing takeover outcomes for targeted firms</a:t>
            </a:r>
          </a:p>
          <a:p>
            <a:pPr>
              <a:lnSpc>
                <a:spcPct val="150000"/>
              </a:lnSpc>
            </a:pPr>
            <a:endParaRPr lang="en-GB" sz="6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Even failed bids lead to improvements in operating performance, financial policy, and positive long-term abnormal returns at targets of activism, which suggests that activism enhances value</a:t>
            </a:r>
          </a:p>
          <a:p>
            <a:pPr>
              <a:lnSpc>
                <a:spcPct val="150000"/>
              </a:lnSpc>
            </a:pPr>
            <a:endParaRPr lang="en-GB" sz="6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Brav, Jiang, Ma and Tian (2018) find that companies targeted by activists improve their innovation efficiency over the five-year period following hedge fund intervention</a:t>
            </a:r>
          </a:p>
        </p:txBody>
      </p:sp>
    </p:spTree>
    <p:extLst>
      <p:ext uri="{BB962C8B-B14F-4D97-AF65-F5344CB8AC3E}">
        <p14:creationId xmlns:p14="http://schemas.microsoft.com/office/powerpoint/2010/main" val="251837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E and S effects on M&amp;A before valuation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16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60400" y="1628800"/>
            <a:ext cx="10871200" cy="4648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Managers can see E and S issues as drivers of risks and opportunities in their product marke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endParaRPr lang="en-GB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Risks: certain assets can be considered too risky operationally or to be bringing reputation risks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Opportunities: driving strategic preferences (i.e. sustainability skills, renewable energy assets)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Companies can become targets because of their sustainability skills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Companies with higher CSR scores are more likely to be acquisition targets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High CSR acquirers take less time to complete and are less likely to fail than mergers by low CSR acquirers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Stronger CSR profile of the bidder means higher probability of closing the deal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High carbon emitting acquirers are more likely to buy firms in countries with low GDP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73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E and S effects on M&amp;A valuation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17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1384" y="1556792"/>
            <a:ext cx="10823752" cy="48646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and S can affect the value drivers and hence the attractiveness of M&amp;A deals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Also important to do E and S due diligence (see Monsanto take-over below)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finds a positive link between targets’ overall CSR (and environmental) performance and acquisition premiums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CSR acquirers realise higher merger announcement returns, compared with low CSR acquirers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and S can also have impact on post-deal performance: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Compared with low CSR acquirers, high CSR acquirers realise larger increases in post-merger long-term operating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23204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Monsanto takeover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18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55600" y="1700808"/>
            <a:ext cx="11377264" cy="482453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underestimation of E and S effects can be extremely costly</a:t>
            </a:r>
            <a:r>
              <a:rPr lang="en-GB" sz="1800" b="1" dirty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Wingdings" panose="05000000000000000000" pitchFamily="2" charset="2"/>
              </a:rPr>
              <a:t>  importance of E and S due diligence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Bayer, the German pharma and biotechnology company, announced the takeover of the agrichemical company Monsanto in 2016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final cash offer amounted to $63 billion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Soon after finishing the deal, the first lawsuits on Monsanto’s Roundup weed killer started, internalising the negative health issues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chemical ingredient of Roundup is </a:t>
            </a:r>
            <a:r>
              <a:rPr lang="en-GB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lyphosate, which was shown by a 2015 WHO report to cause cancer in animals as well as damaging effects on human cells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Monsanto has settled over 100,000 Roundup lawsuits worth over $10 billion</a:t>
            </a:r>
            <a:r>
              <a:rPr lang="en-GB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o</a:t>
            </a: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 30,000 lawsuits are still pending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Bayer cut its dividend to zero in 2021 after litigation on health issues hit 2020 cash flows and profits</a:t>
            </a:r>
          </a:p>
        </p:txBody>
      </p:sp>
    </p:spTree>
    <p:extLst>
      <p:ext uri="{BB962C8B-B14F-4D97-AF65-F5344CB8AC3E}">
        <p14:creationId xmlns:p14="http://schemas.microsoft.com/office/powerpoint/2010/main" val="3265581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E and S driven M&amp;A activism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19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1384" y="1628800"/>
            <a:ext cx="11233248" cy="489654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past years have seen the emergence of sustainability-driven activism by hedge funds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Jana Partners pressured Apple to address the potential negative effects of iPhone use on children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Trian Partners has pushed companies to promote workplace diversity, adopt supplier codes of conduct, and reduce emissions and waste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Some hedge funds went further, and put companies under pressure to do E and S driven M&amp;A deals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Bluebell asked Glencore to separate its coal mines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Third Point called for a breakup of Shell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endParaRPr lang="en-GB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DesJardine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Durand (2020) found that hedge fund activism between 2000-2016 yielded benefits that were: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Shareholder-centric and short-lived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 immediate increases in market value and profitability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Coming at a mid- to long-term cost to other stakeholders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Captured by decreases in operating cash flow, investment spending, and social performance</a:t>
            </a:r>
          </a:p>
        </p:txBody>
      </p:sp>
    </p:spTree>
    <p:extLst>
      <p:ext uri="{BB962C8B-B14F-4D97-AF65-F5344CB8AC3E}">
        <p14:creationId xmlns:p14="http://schemas.microsoft.com/office/powerpoint/2010/main" val="71010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E and S valuation of M&amp;A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20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1384" y="1628800"/>
            <a:ext cx="11136680" cy="472061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Market power is becoming an important source of value, reducing consumer surplus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5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Incumbent firms may acquire innovative targets solely to discontinue the target’s innovation projects and pre-empt future competition (called “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killer acquisitions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Acquired drug projects are less likely to be developed when they overlap with the acquirer’s existing product portfolio</a:t>
            </a:r>
            <a:endParaRPr lang="en-GB" sz="2000" baseline="30000" dirty="0">
              <a:solidFill>
                <a:srgbClr val="000000"/>
              </a:solidFill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500" baseline="30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determine the E and S valuation effects of M&amp;A, one needs to calculate: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pre-deal EV and SV of the target and the bidder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EV and SV of the resulting combination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591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E and S valuation of M&amp;A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21</a:t>
            </a:fld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79602" y="1796399"/>
                <a:ext cx="4559056" cy="46486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In this example,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𝑆𝑉</m:t>
                        </m:r>
                      </m:e>
                      <m:sup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𝑆𝑉</m:t>
                        </m:r>
                      </m:e>
                      <m:sup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GB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𝐸𝑉</m:t>
                        </m:r>
                      </m:e>
                      <m:sup>
                        <m:r>
                          <a:rPr lang="en-GB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GB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deteriorate as a result of the </a:t>
                </a:r>
                <a:r>
                  <a:rPr lang="en-GB" sz="20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deal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8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Likely because the bidder imposes its exploitative business model and lower standards on the target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GB" sz="800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loss of SV and EV in synergies is substantial: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-15 </a:t>
                </a:r>
                <a:r>
                  <a:rPr lang="en-GB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on SV (top table)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-7 </a:t>
                </a:r>
                <a:r>
                  <a:rPr lang="en-GB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on EV (bottom table)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GB" sz="1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GB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79602" y="1796399"/>
                <a:ext cx="4559056" cy="4648606"/>
              </a:xfrm>
              <a:blipFill>
                <a:blip r:embed="rId2"/>
                <a:stretch>
                  <a:fillRect r="-138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BEE4E3-143E-BC5B-9CEF-40B8C2D621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313325"/>
                  </p:ext>
                </p:extLst>
              </p:nvPr>
            </p:nvGraphicFramePr>
            <p:xfrm>
              <a:off x="5807967" y="2106855"/>
              <a:ext cx="5629650" cy="17057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5826">
                      <a:extLst>
                        <a:ext uri="{9D8B030D-6E8A-4147-A177-3AD203B41FA5}">
                          <a16:colId xmlns:a16="http://schemas.microsoft.com/office/drawing/2014/main" val="2218457746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2004066983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144001797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2801974604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1736480665"/>
                        </a:ext>
                      </a:extLst>
                    </a:gridCol>
                  </a:tblGrid>
                  <a:tr h="63407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Bidder, </a:t>
                          </a:r>
                          <a:b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Target, </a:t>
                          </a:r>
                          <a:b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25418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15932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-27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-42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281179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𝑺𝑽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-8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4960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BEE4E3-143E-BC5B-9CEF-40B8C2D621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9313325"/>
                  </p:ext>
                </p:extLst>
              </p:nvPr>
            </p:nvGraphicFramePr>
            <p:xfrm>
              <a:off x="5807967" y="2106855"/>
              <a:ext cx="5629650" cy="17057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5826">
                      <a:extLst>
                        <a:ext uri="{9D8B030D-6E8A-4147-A177-3AD203B41FA5}">
                          <a16:colId xmlns:a16="http://schemas.microsoft.com/office/drawing/2014/main" val="2218457746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2004066983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144001797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2801974604"/>
                        </a:ext>
                      </a:extLst>
                    </a:gridCol>
                    <a:gridCol w="1263456">
                      <a:extLst>
                        <a:ext uri="{9D8B030D-6E8A-4147-A177-3AD203B41FA5}">
                          <a16:colId xmlns:a16="http://schemas.microsoft.com/office/drawing/2014/main" val="1736480665"/>
                        </a:ext>
                      </a:extLst>
                    </a:gridCol>
                  </a:tblGrid>
                  <a:tr h="63407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Bidder, </a:t>
                          </a:r>
                          <a:b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Target, </a:t>
                          </a:r>
                          <a:b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6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25418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2" t="-182143" r="-886667" b="-2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15932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2" t="-272414" r="-88666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-27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-42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281179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22" t="-385714" r="-886667" b="-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-13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-8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4960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A7ABCDB-32ED-237D-F6FF-4EADFC201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477249"/>
                  </p:ext>
                </p:extLst>
              </p:nvPr>
            </p:nvGraphicFramePr>
            <p:xfrm>
              <a:off x="5818765" y="4474896"/>
              <a:ext cx="5632916" cy="17057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6160">
                      <a:extLst>
                        <a:ext uri="{9D8B030D-6E8A-4147-A177-3AD203B41FA5}">
                          <a16:colId xmlns:a16="http://schemas.microsoft.com/office/drawing/2014/main" val="2218457746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2004066983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144001797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2801974604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1736480665"/>
                        </a:ext>
                      </a:extLst>
                    </a:gridCol>
                  </a:tblGrid>
                  <a:tr h="63407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Bidder, </a:t>
                          </a:r>
                        </a:p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Target, </a:t>
                          </a:r>
                        </a:p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25418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𝑬𝑽</m:t>
                                    </m:r>
                                  </m:e>
                                  <m:sup>
                                    <m:r>
                                      <a:rPr lang="en-GB" sz="16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15932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𝑬𝑽</m:t>
                                    </m:r>
                                  </m:e>
                                  <m:sup>
                                    <m:r>
                                      <a:rPr lang="en-GB" sz="16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281179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𝑬𝑽</m:t>
                                </m:r>
                              </m:oMath>
                            </m:oMathPara>
                          </a14:m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4960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A7ABCDB-32ED-237D-F6FF-4EADFC201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477249"/>
                  </p:ext>
                </p:extLst>
              </p:nvPr>
            </p:nvGraphicFramePr>
            <p:xfrm>
              <a:off x="5818765" y="4474896"/>
              <a:ext cx="5632916" cy="17057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6160">
                      <a:extLst>
                        <a:ext uri="{9D8B030D-6E8A-4147-A177-3AD203B41FA5}">
                          <a16:colId xmlns:a16="http://schemas.microsoft.com/office/drawing/2014/main" val="2218457746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2004066983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144001797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2801974604"/>
                        </a:ext>
                      </a:extLst>
                    </a:gridCol>
                    <a:gridCol w="1264189">
                      <a:extLst>
                        <a:ext uri="{9D8B030D-6E8A-4147-A177-3AD203B41FA5}">
                          <a16:colId xmlns:a16="http://schemas.microsoft.com/office/drawing/2014/main" val="1736480665"/>
                        </a:ext>
                      </a:extLst>
                    </a:gridCol>
                  </a:tblGrid>
                  <a:tr h="63407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Bidder, </a:t>
                          </a:r>
                        </a:p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Target, </a:t>
                          </a:r>
                        </a:p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pre-deal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6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925418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22" t="-182143" r="-886667" b="-2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159323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22" t="-272414" r="-886667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6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281179"/>
                      </a:ext>
                    </a:extLst>
                  </a:tr>
                  <a:tr h="357213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22" t="-385714" r="-886667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49606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8A0DEA1-27A7-8520-C8F3-C54FEFBF2EBA}"/>
              </a:ext>
            </a:extLst>
          </p:cNvPr>
          <p:cNvSpPr txBox="1"/>
          <p:nvPr/>
        </p:nvSpPr>
        <p:spPr>
          <a:xfrm>
            <a:off x="5740693" y="1755093"/>
            <a:ext cx="5040560" cy="340519"/>
          </a:xfrm>
          <a:prstGeom prst="round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SV valuation in M&amp;A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1EBBC-2396-EDED-0413-1FD4FE15BDC5}"/>
              </a:ext>
            </a:extLst>
          </p:cNvPr>
          <p:cNvSpPr txBox="1"/>
          <p:nvPr/>
        </p:nvSpPr>
        <p:spPr>
          <a:xfrm>
            <a:off x="5740693" y="4043988"/>
            <a:ext cx="5040560" cy="340519"/>
          </a:xfrm>
          <a:prstGeom prst="round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 valuation in M&amp;A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ing 11">
            <a:extLst>
              <a:ext uri="{FF2B5EF4-FFF2-40B4-BE49-F238E27FC236}">
                <a16:creationId xmlns:a16="http://schemas.microsoft.com/office/drawing/2014/main" id="{007D4A4C-7D29-97DE-0A49-3B04B813BC4C}"/>
              </a:ext>
            </a:extLst>
          </p:cNvPr>
          <p:cNvSpPr/>
          <p:nvPr/>
        </p:nvSpPr>
        <p:spPr>
          <a:xfrm>
            <a:off x="9233295" y="3418286"/>
            <a:ext cx="648072" cy="471425"/>
          </a:xfrm>
          <a:prstGeom prst="donut">
            <a:avLst>
              <a:gd name="adj" fmla="val 976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3" name="Ring 12">
            <a:extLst>
              <a:ext uri="{FF2B5EF4-FFF2-40B4-BE49-F238E27FC236}">
                <a16:creationId xmlns:a16="http://schemas.microsoft.com/office/drawing/2014/main" id="{9A536206-88D6-6F79-57D0-16CB18A5916E}"/>
              </a:ext>
            </a:extLst>
          </p:cNvPr>
          <p:cNvSpPr/>
          <p:nvPr/>
        </p:nvSpPr>
        <p:spPr>
          <a:xfrm>
            <a:off x="9235166" y="5799569"/>
            <a:ext cx="648072" cy="471425"/>
          </a:xfrm>
          <a:prstGeom prst="donut">
            <a:avLst>
              <a:gd name="adj" fmla="val 976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965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Integrated M&amp;A valuation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22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63172" y="1628800"/>
            <a:ext cx="6215240" cy="464860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Top table shows the IV for a low-quality bidder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financial synergies (7) are offset by the negative social (-15) and environmental (-7) synergies, resulting in overall negative synergies (-15)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Bottom table shows the IV for a high-quality bidder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Financial synergies are lower (3), but the high E&amp;S quality bidder also realises positive social (5) and environmental (7) synergies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high-quality bidder manages to improve the overall value creation profile of the combined company by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B8993C-7AB2-A4AE-C931-D70E794ED7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014517"/>
                  </p:ext>
                </p:extLst>
              </p:nvPr>
            </p:nvGraphicFramePr>
            <p:xfrm>
              <a:off x="7211123" y="1758688"/>
              <a:ext cx="4476941" cy="18580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57921">
                      <a:extLst>
                        <a:ext uri="{9D8B030D-6E8A-4147-A177-3AD203B41FA5}">
                          <a16:colId xmlns:a16="http://schemas.microsoft.com/office/drawing/2014/main" val="3805940802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2557995765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701196097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1059896313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359977107"/>
                        </a:ext>
                      </a:extLst>
                    </a:gridCol>
                  </a:tblGrid>
                  <a:tr h="2943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615759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𝑭𝑽</m:t>
                                </m:r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126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38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171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073979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91539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-27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-42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0305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𝑬𝑽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42647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𝑰𝑽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61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804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1B8993C-7AB2-A4AE-C931-D70E794ED7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7014517"/>
                  </p:ext>
                </p:extLst>
              </p:nvPr>
            </p:nvGraphicFramePr>
            <p:xfrm>
              <a:off x="7211123" y="1758688"/>
              <a:ext cx="4476941" cy="18580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57921">
                      <a:extLst>
                        <a:ext uri="{9D8B030D-6E8A-4147-A177-3AD203B41FA5}">
                          <a16:colId xmlns:a16="http://schemas.microsoft.com/office/drawing/2014/main" val="3805940802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2557995765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701196097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1059896313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359977107"/>
                        </a:ext>
                      </a:extLst>
                    </a:gridCol>
                  </a:tblGrid>
                  <a:tr h="2943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615759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88333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126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38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171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073979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000" r="-88333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14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91539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000" r="-88333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-27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-12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-42</a:t>
                          </a:r>
                          <a:endParaRPr lang="en-GB" sz="14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0305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6667" r="-883333" b="-1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-52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4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-77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42647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96000" r="-883333" b="-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61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40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86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804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B6687FD-60F2-61D1-F454-8D8E14631A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6110248"/>
                  </p:ext>
                </p:extLst>
              </p:nvPr>
            </p:nvGraphicFramePr>
            <p:xfrm>
              <a:off x="7211123" y="3861048"/>
              <a:ext cx="4476941" cy="18580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57921">
                      <a:extLst>
                        <a:ext uri="{9D8B030D-6E8A-4147-A177-3AD203B41FA5}">
                          <a16:colId xmlns:a16="http://schemas.microsoft.com/office/drawing/2014/main" val="3805940802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2557995765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701196097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1059896313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359977107"/>
                        </a:ext>
                      </a:extLst>
                    </a:gridCol>
                  </a:tblGrid>
                  <a:tr h="2943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615759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𝑭𝑽</m:t>
                                </m:r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108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38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149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073979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79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106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91539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𝑺𝑽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0305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𝑬𝑽</m:t>
                                    </m:r>
                                  </m:e>
                                  <m:sup>
                                    <m:r>
                                      <a:rPr lang="en-GB" sz="1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-25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-36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42647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𝑰𝑽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157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40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212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804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B6687FD-60F2-61D1-F454-8D8E14631A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6110248"/>
                  </p:ext>
                </p:extLst>
              </p:nvPr>
            </p:nvGraphicFramePr>
            <p:xfrm>
              <a:off x="7211123" y="3861048"/>
              <a:ext cx="4476941" cy="18580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57921">
                      <a:extLst>
                        <a:ext uri="{9D8B030D-6E8A-4147-A177-3AD203B41FA5}">
                          <a16:colId xmlns:a16="http://schemas.microsoft.com/office/drawing/2014/main" val="3805940802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2557995765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701196097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1059896313"/>
                        </a:ext>
                      </a:extLst>
                    </a:gridCol>
                    <a:gridCol w="1004755">
                      <a:extLst>
                        <a:ext uri="{9D8B030D-6E8A-4147-A177-3AD203B41FA5}">
                          <a16:colId xmlns:a16="http://schemas.microsoft.com/office/drawing/2014/main" val="359977107"/>
                        </a:ext>
                      </a:extLst>
                    </a:gridCol>
                  </a:tblGrid>
                  <a:tr h="2943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2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2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Bidder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Target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Synergies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4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Total</a:t>
                          </a:r>
                          <a:endParaRPr lang="en-GB" sz="14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615759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4000" r="-883333" b="-4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108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38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149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073979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4000" r="-883333" b="-3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79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23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106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91539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4000" r="-883333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-5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-3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-7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7030554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20833" r="-883333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-25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-18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-36</a:t>
                          </a:r>
                          <a:endParaRPr lang="en-GB" sz="1600" b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F1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426476"/>
                      </a:ext>
                    </a:extLst>
                  </a:tr>
                  <a:tr h="312746">
                    <a:tc>
                      <a:txBody>
                        <a:bodyPr/>
                        <a:lstStyle/>
                        <a:p>
                          <a:endParaRPr lang="nl-US"/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00000" r="-883333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157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40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15</a:t>
                          </a:r>
                          <a:endParaRPr lang="en-GB" sz="1600" b="1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ts val="16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</a:pPr>
                          <a:r>
                            <a:rPr lang="en-GB" sz="1600" b="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212</a:t>
                          </a:r>
                          <a:endParaRPr lang="en-GB" sz="1600" b="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3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804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855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Kraft Heinz – Unilever case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23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79376" y="1556792"/>
            <a:ext cx="11449272" cy="482453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Kraft Heinz attempted a takeover of Unilever in 2017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Kraft Heinz’s strategy was to maximise shareholder value, measured by EPS (earnings per share)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Using EPS multiples, Kraft Heinz estimated the financial value of the synergies to be </a:t>
            </a: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</a:rPr>
              <a:t>€46 billion 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(left column)</a:t>
            </a:r>
            <a:endParaRPr lang="en-GB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An IPV analysis of the synergies based on a DCF model showed a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value destruction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€63 billion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(right column)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Conclusion: the estimated synergies depend very much on how the valuation analysis is conducted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Two main reasons for the differences: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IPV analysis includes not just financial value but all three</a:t>
            </a:r>
            <a:b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value dimensions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Financial analysis was based on EPS maximisation strategy</a:t>
            </a:r>
            <a:b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(achieving sales growth while cutting costs) while IPV analysis </a:t>
            </a:r>
            <a:b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</a:rPr>
              <a:t>was based on DCF valuation (long-term fundamental value)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1B45A5-13D6-60AA-A65C-41689A656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98828"/>
              </p:ext>
            </p:extLst>
          </p:nvPr>
        </p:nvGraphicFramePr>
        <p:xfrm>
          <a:off x="7790386" y="4112087"/>
          <a:ext cx="4104456" cy="23782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6114">
                  <a:extLst>
                    <a:ext uri="{9D8B030D-6E8A-4147-A177-3AD203B41FA5}">
                      <a16:colId xmlns:a16="http://schemas.microsoft.com/office/drawing/2014/main" val="1107267985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1635890438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3036635005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338763778"/>
                    </a:ext>
                  </a:extLst>
                </a:gridCol>
              </a:tblGrid>
              <a:tr h="67121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analysis</a:t>
                      </a:r>
                      <a:b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based on EPS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 analysis</a:t>
                      </a:r>
                      <a:b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based on DCF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54234"/>
                  </a:ext>
                </a:extLst>
              </a:tr>
              <a:tr h="424123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GB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Synergies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Synergies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56553"/>
                  </a:ext>
                </a:extLst>
              </a:tr>
              <a:tr h="321249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16850"/>
                  </a:ext>
                </a:extLst>
              </a:tr>
              <a:tr h="321249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-38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376891"/>
                  </a:ext>
                </a:extLst>
              </a:tr>
              <a:tr h="321249">
                <a:tc>
                  <a:txBody>
                    <a:bodyPr/>
                    <a:lstStyle/>
                    <a:p>
                      <a:pPr algn="ctr"/>
                      <a:endParaRPr lang="en-GB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13516"/>
                  </a:ext>
                </a:extLst>
              </a:tr>
              <a:tr h="319159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FV</a:t>
                      </a:r>
                      <a:endParaRPr lang="en-GB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-63</a:t>
                      </a:r>
                      <a:endParaRPr lang="en-GB" sz="14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7474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99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IPV criterion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24</a:t>
            </a:fld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51384" y="1628800"/>
                <a:ext cx="10871200" cy="482453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As long as </a:t>
                </a:r>
                <a14:m>
                  <m:oMath xmlns:m="http://schemas.openxmlformats.org/officeDocument/2006/math"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𝑁𝑃𝑉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𝑜𝑓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𝐹𝑉</m:t>
                    </m:r>
                    <m:r>
                      <a:rPr lang="en-GB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GB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the main criterion to judge the soundness of an M&amp;A deal, the change in SV and EV is more likely to be negative than positive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en-GB" sz="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Applying the IPV criterion (below) to M&amp;A deals can improve the value profile of the company across the three value dimensions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𝐼𝑃𝑉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𝐹𝑉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𝑏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∙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𝑆𝑉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∙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𝐸𝑉</m:t>
                      </m:r>
                      <m:r>
                        <a:rPr lang="en-GB" sz="20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&gt;0</m:t>
                      </m:r>
                    </m:oMath>
                  </m:oMathPara>
                </a14:m>
                <a:endParaRPr lang="en-GB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incidence of M&amp;A deals that do improve SV and/or EV is likely to increase with: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SV and EV being measured or at least seen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Lower discount rates on SV and EV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values for the parameters </a:t>
                </a:r>
                <a:r>
                  <a:rPr lang="en-GB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GB" sz="18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GB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weight SV and EV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51384" y="1628800"/>
                <a:ext cx="10871200" cy="4824536"/>
              </a:xfrm>
              <a:blipFill>
                <a:blip r:embed="rId2"/>
                <a:stretch>
                  <a:fillRect b="-13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541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Integrated takeover test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25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1384" y="1628800"/>
            <a:ext cx="10463712" cy="4648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aftermath of the aborted takeover of Unilever by Kraft Heinz generated a debate on the ‘protection’ of companies steering on integrated value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Without protection, financial considerations (F) would always dominate social and environmental considerations (S+E)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Adelhart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Toorop, De Groot Ruiz and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Schoenmaker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(2017) propose a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integrated value test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takeovers: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It is the responsibility of the management of both the acquiring and target company to conduct this test to obtain the integrated value of the joint companies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700" dirty="0">
                <a:latin typeface="Arial" panose="020B0604020202020204" pitchFamily="34" charset="0"/>
                <a:cs typeface="Arial" panose="020B0604020202020204" pitchFamily="34" charset="0"/>
              </a:rPr>
              <a:t>An independent advisor would give a fairness opinion on the outcome of the integrated takeover test</a:t>
            </a:r>
          </a:p>
        </p:txBody>
      </p:sp>
    </p:spTree>
    <p:extLst>
      <p:ext uri="{BB962C8B-B14F-4D97-AF65-F5344CB8AC3E}">
        <p14:creationId xmlns:p14="http://schemas.microsoft.com/office/powerpoint/2010/main" val="1718510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3226754B-AE09-A2CD-BE58-173ECFD966F2}"/>
              </a:ext>
            </a:extLst>
          </p:cNvPr>
          <p:cNvSpPr/>
          <p:nvPr/>
        </p:nvSpPr>
        <p:spPr>
          <a:xfrm rot="3196242">
            <a:off x="8718834" y="5838793"/>
            <a:ext cx="936104" cy="725403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DSM’s transition through M&amp;As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26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07368" y="1516698"/>
            <a:ext cx="10729192" cy="471221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When the coal mines were closed in the 1970s, the Dutch government helped the transformation of DSM (Dutch State Mines) into a base chemicals company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Since the 1990s, DSM has transformed itself again, becoming a global science-based company for nutrition and health through a string of M&amp;A deals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DSM – </a:t>
            </a:r>
            <a:r>
              <a:rPr lang="en-GB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Firmenich</a:t>
            </a:r>
            <a:r>
              <a:rPr lang="en-GB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merger combines the health and nutrition divisions of DSM and the taste and perfume divisions of </a:t>
            </a:r>
            <a:r>
              <a:rPr lang="en-GB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Firmenich</a:t>
            </a:r>
            <a:endParaRPr lang="en-GB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merger completed the transition of DSM into a global</a:t>
            </a:r>
            <a:br>
              <a:rPr lang="en-GB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leader in nutrition, beauty and wellbeing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727CB-739B-4A79-DF42-C7CB6553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647" y="4544748"/>
            <a:ext cx="1840849" cy="14513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96680-CB81-6538-2D0E-613A928A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755" y="5773591"/>
            <a:ext cx="1781196" cy="85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20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Integrated view on M&amp;A activism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27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9831" y="1546211"/>
            <a:ext cx="10463712" cy="46486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M&amp;A activism is typically justified by claims of value creation, but the key question is whether that value creation benefits all stakeholders (FV, SV and EV all rise)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would be helpful if this distinction would already be made by managers, analysts, regulators, and reporters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ACC006-2A8C-B044-B3C9-41B29643A349}"/>
              </a:ext>
            </a:extLst>
          </p:cNvPr>
          <p:cNvGrpSpPr/>
          <p:nvPr/>
        </p:nvGrpSpPr>
        <p:grpSpPr>
          <a:xfrm>
            <a:off x="1168457" y="3573016"/>
            <a:ext cx="10168014" cy="2736305"/>
            <a:chOff x="1791988" y="3240352"/>
            <a:chExt cx="10250888" cy="2583809"/>
          </a:xfrm>
        </p:grpSpPr>
        <p:sp>
          <p:nvSpPr>
            <p:cNvPr id="5" name="Tekstvak 3">
              <a:extLst>
                <a:ext uri="{FF2B5EF4-FFF2-40B4-BE49-F238E27FC236}">
                  <a16:creationId xmlns:a16="http://schemas.microsoft.com/office/drawing/2014/main" id="{90B91790-27C0-3F27-00E8-1C616BAF5685}"/>
                </a:ext>
              </a:extLst>
            </p:cNvPr>
            <p:cNvSpPr txBox="1"/>
            <p:nvPr/>
          </p:nvSpPr>
          <p:spPr>
            <a:xfrm>
              <a:off x="1791988" y="4052729"/>
              <a:ext cx="2377158" cy="95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Improving FV, SV, and/or EV without hurting the other</a:t>
              </a:r>
            </a:p>
          </p:txBody>
        </p:sp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AF3149EB-F8D3-7A85-180D-982E9FF717F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84821481"/>
                </p:ext>
              </p:extLst>
            </p:nvPr>
          </p:nvGraphicFramePr>
          <p:xfrm>
            <a:off x="4333352" y="3240352"/>
            <a:ext cx="5007955" cy="258380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908568F0-81F7-D354-853D-7BA09AA701F0}"/>
                </a:ext>
              </a:extLst>
            </p:cNvPr>
            <p:cNvSpPr txBox="1"/>
            <p:nvPr/>
          </p:nvSpPr>
          <p:spPr>
            <a:xfrm>
              <a:off x="9414445" y="4052728"/>
              <a:ext cx="2628431" cy="959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Arial" panose="020B0604020202020204" pitchFamily="34" charset="0"/>
                  <a:cs typeface="Arial" panose="020B0604020202020204" pitchFamily="34" charset="0"/>
                </a:rPr>
                <a:t>Taking a share of value at the expense of FV, SV, and/or EV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371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charset="0"/>
                <a:ea typeface="Arial" charset="0"/>
                <a:cs typeface="Arial" charset="0"/>
              </a:rPr>
              <a:t>Conclusions</a:t>
            </a:r>
            <a:endParaRPr lang="nl-NL" sz="32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7460DF1-6357-430F-98B5-137A4FF6C7DD}" type="slidenum">
              <a:rPr lang="nl-NL" smtClean="0"/>
              <a:t>28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51384" y="1532587"/>
            <a:ext cx="10751744" cy="48646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Arial" charset="0"/>
                <a:ea typeface="Arial" charset="0"/>
                <a:cs typeface="Arial" charset="0"/>
              </a:rPr>
              <a:t>M&amp;A are very large investments in which a company absorbs another company, which can dramatically change the profile of a company’s assets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charset="0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Value creation is often more likely if there are synergies between the companies involved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Large numbers and big stakes in M&amp;A make behavioural issues more problematic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If not properly understood and considered, E and S issues can reduce the company’s financial value (illustrated by Bayer’s acquisition of </a:t>
            </a:r>
            <a:r>
              <a:rPr lang="en-GB" sz="200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Monsanto)</a:t>
            </a:r>
          </a:p>
          <a:p>
            <a:pPr>
              <a:lnSpc>
                <a:spcPct val="150000"/>
              </a:lnSpc>
            </a:pPr>
            <a:endParaRPr lang="en-GB" sz="4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An integrated perspective on M&amp;A valuation is needed</a:t>
            </a:r>
          </a:p>
          <a:p>
            <a:pPr lvl="1">
              <a:lnSpc>
                <a:spcPct val="150000"/>
              </a:lnSpc>
            </a:pPr>
            <a:r>
              <a:rPr lang="en-GB" sz="17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For large M&amp;A deals, an integrated value test should be required</a:t>
            </a:r>
          </a:p>
          <a:p>
            <a:pPr>
              <a:lnSpc>
                <a:spcPct val="150000"/>
              </a:lnSpc>
            </a:pPr>
            <a:endParaRPr lang="nl-NL" sz="20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75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ustom 3">
      <a:dk1>
        <a:sysClr val="windowText" lastClr="000000"/>
      </a:dk1>
      <a:lt1>
        <a:sysClr val="window" lastClr="FFFFFF"/>
      </a:lt1>
      <a:dk2>
        <a:srgbClr val="457B9E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29585</TotalTime>
  <Words>3032</Words>
  <Application>Microsoft Macintosh PowerPoint</Application>
  <PresentationFormat>Breedbeeld</PresentationFormat>
  <Paragraphs>420</Paragraphs>
  <Slides>28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Tw Cen MT</vt:lpstr>
      <vt:lpstr>Wingdings</vt:lpstr>
      <vt:lpstr>Wingdings 2</vt:lpstr>
      <vt:lpstr>Median</vt:lpstr>
      <vt:lpstr>Corporate Finance for Long-Term Value  </vt:lpstr>
      <vt:lpstr>Chapter 18: Mergers and acquisitions</vt:lpstr>
      <vt:lpstr>The BIG Picture</vt:lpstr>
      <vt:lpstr>Mergers and acquisitions</vt:lpstr>
      <vt:lpstr>Bidding process</vt:lpstr>
      <vt:lpstr>M&amp;A types</vt:lpstr>
      <vt:lpstr>Motives for M&amp;A</vt:lpstr>
      <vt:lpstr>Poor reasons for M&amp;A deals</vt:lpstr>
      <vt:lpstr>M&amp;A advisory</vt:lpstr>
      <vt:lpstr>M&amp;A waves</vt:lpstr>
      <vt:lpstr>M&amp;A valuation</vt:lpstr>
      <vt:lpstr>M&amp;A valuation example</vt:lpstr>
      <vt:lpstr>Financing M&amp;A deals</vt:lpstr>
      <vt:lpstr>Behavioural issues in M&amp;A valuation</vt:lpstr>
      <vt:lpstr>Hedge fund activism</vt:lpstr>
      <vt:lpstr>E and S effects on M&amp;A before valuation</vt:lpstr>
      <vt:lpstr>E and S effects on M&amp;A valuation</vt:lpstr>
      <vt:lpstr>Monsanto takeover</vt:lpstr>
      <vt:lpstr>E and S driven M&amp;A activism</vt:lpstr>
      <vt:lpstr>E and S valuation of M&amp;A</vt:lpstr>
      <vt:lpstr>E and S valuation of M&amp;A</vt:lpstr>
      <vt:lpstr>Integrated M&amp;A valuation</vt:lpstr>
      <vt:lpstr>Kraft Heinz – Unilever case</vt:lpstr>
      <vt:lpstr>IPV criterion</vt:lpstr>
      <vt:lpstr>Integrated takeover test</vt:lpstr>
      <vt:lpstr>DSM’s transition through M&amp;As</vt:lpstr>
      <vt:lpstr>Integrated view on M&amp;A activism</vt:lpstr>
      <vt:lpstr>Conclusions</vt:lpstr>
    </vt:vector>
  </TitlesOfParts>
  <Company>RSM Erasmus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Finance for Long-Term Value</dc:title>
  <dc:creator>Administrator</dc:creator>
  <dc:description>Book Slides</dc:description>
  <cp:lastModifiedBy>Dirk Schoenmaker</cp:lastModifiedBy>
  <cp:revision>433</cp:revision>
  <cp:lastPrinted>2017-10-25T07:51:07Z</cp:lastPrinted>
  <dcterms:created xsi:type="dcterms:W3CDTF">2014-04-08T12:02:43Z</dcterms:created>
  <dcterms:modified xsi:type="dcterms:W3CDTF">2023-09-21T20:01:02Z</dcterms:modified>
</cp:coreProperties>
</file>