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handoutMasterIdLst>
    <p:handoutMasterId r:id="rId55"/>
  </p:handoutMasterIdLst>
  <p:sldIdLst>
    <p:sldId id="256" r:id="rId2"/>
    <p:sldId id="280" r:id="rId3"/>
    <p:sldId id="271" r:id="rId4"/>
    <p:sldId id="277" r:id="rId5"/>
    <p:sldId id="276" r:id="rId6"/>
    <p:sldId id="278" r:id="rId7"/>
    <p:sldId id="279" r:id="rId8"/>
    <p:sldId id="275" r:id="rId9"/>
    <p:sldId id="281" r:id="rId10"/>
    <p:sldId id="283" r:id="rId11"/>
    <p:sldId id="282" r:id="rId12"/>
    <p:sldId id="284" r:id="rId13"/>
    <p:sldId id="285" r:id="rId14"/>
    <p:sldId id="287" r:id="rId15"/>
    <p:sldId id="288" r:id="rId16"/>
    <p:sldId id="289" r:id="rId17"/>
    <p:sldId id="290" r:id="rId18"/>
    <p:sldId id="291" r:id="rId19"/>
    <p:sldId id="298" r:id="rId20"/>
    <p:sldId id="299" r:id="rId21"/>
    <p:sldId id="292" r:id="rId22"/>
    <p:sldId id="301" r:id="rId23"/>
    <p:sldId id="302" r:id="rId24"/>
    <p:sldId id="294" r:id="rId25"/>
    <p:sldId id="306" r:id="rId26"/>
    <p:sldId id="307" r:id="rId27"/>
    <p:sldId id="303" r:id="rId28"/>
    <p:sldId id="304" r:id="rId29"/>
    <p:sldId id="295" r:id="rId30"/>
    <p:sldId id="308" r:id="rId31"/>
    <p:sldId id="311" r:id="rId32"/>
    <p:sldId id="296" r:id="rId33"/>
    <p:sldId id="312" r:id="rId34"/>
    <p:sldId id="318" r:id="rId35"/>
    <p:sldId id="319" r:id="rId36"/>
    <p:sldId id="320" r:id="rId37"/>
    <p:sldId id="313" r:id="rId38"/>
    <p:sldId id="321" r:id="rId39"/>
    <p:sldId id="322" r:id="rId40"/>
    <p:sldId id="314" r:id="rId41"/>
    <p:sldId id="315" r:id="rId42"/>
    <p:sldId id="316" r:id="rId43"/>
    <p:sldId id="297" r:id="rId44"/>
    <p:sldId id="326" r:id="rId45"/>
    <p:sldId id="327" r:id="rId46"/>
    <p:sldId id="324" r:id="rId47"/>
    <p:sldId id="317" r:id="rId48"/>
    <p:sldId id="329" r:id="rId49"/>
    <p:sldId id="323" r:id="rId50"/>
    <p:sldId id="325" r:id="rId51"/>
    <p:sldId id="328" r:id="rId52"/>
    <p:sldId id="332" r:id="rId53"/>
  </p:sldIdLst>
  <p:sldSz cx="12188825"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909"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5294" autoAdjust="0"/>
  </p:normalViewPr>
  <p:slideViewPr>
    <p:cSldViewPr>
      <p:cViewPr varScale="1">
        <p:scale>
          <a:sx n="103" d="100"/>
          <a:sy n="103" d="100"/>
        </p:scale>
        <p:origin x="150" y="312"/>
      </p:cViewPr>
      <p:guideLst>
        <p:guide pos="3839"/>
        <p:guide orient="horz" pos="2160"/>
      </p:guideLst>
    </p:cSldViewPr>
  </p:slideViewPr>
  <p:notesTextViewPr>
    <p:cViewPr>
      <p:scale>
        <a:sx n="1" d="1"/>
        <a:sy n="1" d="1"/>
      </p:scale>
      <p:origin x="0" y="0"/>
    </p:cViewPr>
  </p:notesTextViewPr>
  <p:notesViewPr>
    <p:cSldViewPr>
      <p:cViewPr varScale="1">
        <p:scale>
          <a:sx n="67" d="100"/>
          <a:sy n="67" d="100"/>
        </p:scale>
        <p:origin x="2748" y="102"/>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a:defRPr sz="1200"/>
            </a:lvl1pPr>
          </a:lstStyle>
          <a:p>
            <a:endParaRPr/>
          </a:p>
        </p:txBody>
      </p:sp>
      <p:sp>
        <p:nvSpPr>
          <p:cNvPr id="3" name="Date Placeholder 2"/>
          <p:cNvSpPr>
            <a:spLocks noGrp="1"/>
          </p:cNvSpPr>
          <p:nvPr>
            <p:ph type="dt" sz="quarter" idx="1"/>
          </p:nvPr>
        </p:nvSpPr>
        <p:spPr>
          <a:xfrm>
            <a:off x="3970938" y="0"/>
            <a:ext cx="3037840" cy="461804"/>
          </a:xfrm>
          <a:prstGeom prst="rect">
            <a:avLst/>
          </a:prstGeom>
        </p:spPr>
        <p:txBody>
          <a:bodyPr vert="horz" lIns="92830" tIns="46415" rIns="92830" bIns="46415" rtlCol="0"/>
          <a:lstStyle>
            <a:lvl1pPr algn="r">
              <a:defRPr sz="1200"/>
            </a:lvl1pPr>
          </a:lstStyle>
          <a:p>
            <a:fld id="{128FCA9C-FF92-4024-BDEC-A6D3B663DC09}" type="datetimeFigureOut">
              <a:rPr lang="en-US"/>
              <a:t>10/17/2018</a:t>
            </a:fld>
            <a:endParaRPr/>
          </a:p>
        </p:txBody>
      </p:sp>
      <p:sp>
        <p:nvSpPr>
          <p:cNvPr id="4" name="Footer Placeholder 3"/>
          <p:cNvSpPr>
            <a:spLocks noGrp="1"/>
          </p:cNvSpPr>
          <p:nvPr>
            <p:ph type="ftr" sz="quarter" idx="2"/>
          </p:nvPr>
        </p:nvSpPr>
        <p:spPr>
          <a:xfrm>
            <a:off x="0" y="8772668"/>
            <a:ext cx="3037840" cy="461804"/>
          </a:xfrm>
          <a:prstGeom prst="rect">
            <a:avLst/>
          </a:prstGeom>
        </p:spPr>
        <p:txBody>
          <a:bodyPr vert="horz" lIns="92830" tIns="46415" rIns="92830" bIns="46415" rtlCol="0" anchor="b"/>
          <a:lstStyle>
            <a:lvl1pPr algn="l">
              <a:defRPr sz="1200"/>
            </a:lvl1pPr>
          </a:lstStyle>
          <a:p>
            <a:endParaRPr/>
          </a:p>
        </p:txBody>
      </p:sp>
      <p:sp>
        <p:nvSpPr>
          <p:cNvPr id="5" name="Slide Number Placeholder 4"/>
          <p:cNvSpPr>
            <a:spLocks noGrp="1"/>
          </p:cNvSpPr>
          <p:nvPr>
            <p:ph type="sldNum" sz="quarter" idx="3"/>
          </p:nvPr>
        </p:nvSpPr>
        <p:spPr>
          <a:xfrm>
            <a:off x="3970938" y="8772668"/>
            <a:ext cx="3037840" cy="461804"/>
          </a:xfrm>
          <a:prstGeom prst="rect">
            <a:avLst/>
          </a:prstGeom>
        </p:spPr>
        <p:txBody>
          <a:bodyPr vert="horz" lIns="92830" tIns="46415" rIns="92830" bIns="46415"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a:defRPr sz="1200"/>
            </a:lvl1pPr>
          </a:lstStyle>
          <a:p>
            <a:endParaRPr/>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a:defRPr sz="1200"/>
            </a:lvl1pPr>
          </a:lstStyle>
          <a:p>
            <a:fld id="{772AB877-E7B1-4681-847E-D0918612832B}" type="datetimeFigureOut">
              <a:rPr lang="en-US"/>
              <a:t>10/17/2018</a:t>
            </a:fld>
            <a:endParaRPr/>
          </a:p>
        </p:txBody>
      </p:sp>
      <p:sp>
        <p:nvSpPr>
          <p:cNvPr id="4" name="Slide Image Placeholder 3"/>
          <p:cNvSpPr>
            <a:spLocks noGrp="1" noRot="1" noChangeAspect="1"/>
          </p:cNvSpPr>
          <p:nvPr>
            <p:ph type="sldImg" idx="2"/>
          </p:nvPr>
        </p:nvSpPr>
        <p:spPr>
          <a:xfrm>
            <a:off x="427038" y="692150"/>
            <a:ext cx="6156325" cy="3463925"/>
          </a:xfrm>
          <a:prstGeom prst="rect">
            <a:avLst/>
          </a:prstGeom>
          <a:noFill/>
          <a:ln w="12700">
            <a:solidFill>
              <a:prstClr val="black"/>
            </a:solidFill>
          </a:ln>
        </p:spPr>
        <p:txBody>
          <a:bodyPr vert="horz" lIns="92830" tIns="46415" rIns="92830" bIns="46415" rtlCol="0" anchor="ctr"/>
          <a:lstStyle/>
          <a:p>
            <a:endParaRPr/>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a:defRPr sz="1200"/>
            </a:lvl1pPr>
          </a:lstStyle>
          <a:p>
            <a:endParaRPr/>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46</a:t>
            </a:fld>
            <a:endParaRPr lang="en-US"/>
          </a:p>
        </p:txBody>
      </p:sp>
    </p:spTree>
    <p:extLst>
      <p:ext uri="{BB962C8B-B14F-4D97-AF65-F5344CB8AC3E}">
        <p14:creationId xmlns:p14="http://schemas.microsoft.com/office/powerpoint/2010/main" val="2515969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descr="Map of World"/>
          <p:cNvSpPr>
            <a:spLocks noEditPoints="1"/>
          </p:cNvSpPr>
          <p:nvPr/>
        </p:nvSpPr>
        <p:spPr bwMode="gray">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smtClean="0"/>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Tree>
    <p:extLst>
      <p:ext uri="{BB962C8B-B14F-4D97-AF65-F5344CB8AC3E}">
        <p14:creationId xmlns:p14="http://schemas.microsoft.com/office/powerpoint/2010/main" val="92524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614336B7-C6ED-41EC-9573-D74F25F65CAA}" type="datetime1">
              <a:rPr lang="en-US" smtClean="0"/>
              <a:t>10/17/2018</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79464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smtClean="0"/>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E1ACD05F-B644-43B7-AA9D-A426276FBF67}" type="datetime1">
              <a:rPr lang="en-US" smtClean="0"/>
              <a:t>10/17/2018</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945692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9722623E-7C98-4FF6-94BE-81FD8FF30D55}" type="datetime1">
              <a:rPr lang="en-US" smtClean="0"/>
              <a:t>10/17/2018</a:t>
            </a:fld>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79778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7" name="Date Placeholder 6"/>
          <p:cNvSpPr>
            <a:spLocks noGrp="1"/>
          </p:cNvSpPr>
          <p:nvPr>
            <p:ph type="dt" sz="half" idx="10"/>
          </p:nvPr>
        </p:nvSpPr>
        <p:spPr/>
        <p:txBody>
          <a:bodyPr/>
          <a:lstStyle/>
          <a:p>
            <a:fld id="{C986BBA3-BEBC-43F5-AD97-CF694214F3E3}" type="datetime1">
              <a:rPr lang="en-US" smtClean="0"/>
              <a:t>10/17/2018</a:t>
            </a:fld>
            <a:endParaRPr/>
          </a:p>
        </p:txBody>
      </p:sp>
      <p:sp>
        <p:nvSpPr>
          <p:cNvPr id="9" name="Slide Number Placeholder 8"/>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86244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3" name="Date Placeholder 2"/>
          <p:cNvSpPr>
            <a:spLocks noGrp="1"/>
          </p:cNvSpPr>
          <p:nvPr>
            <p:ph type="dt" sz="half" idx="10"/>
          </p:nvPr>
        </p:nvSpPr>
        <p:spPr/>
        <p:txBody>
          <a:bodyPr/>
          <a:lstStyle/>
          <a:p>
            <a:fld id="{E4422DF2-4AC3-48FB-A966-8101908132E9}" type="datetime1">
              <a:rPr lang="en-US" smtClean="0"/>
              <a:t>10/17/2018</a:t>
            </a:fld>
            <a:endParaRPr/>
          </a:p>
        </p:txBody>
      </p:sp>
      <p:sp>
        <p:nvSpPr>
          <p:cNvPr id="5" name="Slide Number Placeholder 4"/>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133622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endParaRPr dirty="0"/>
          </a:p>
        </p:txBody>
      </p:sp>
      <p:sp>
        <p:nvSpPr>
          <p:cNvPr id="2" name="Date Placeholder 1"/>
          <p:cNvSpPr>
            <a:spLocks noGrp="1"/>
          </p:cNvSpPr>
          <p:nvPr>
            <p:ph type="dt" sz="half" idx="10"/>
          </p:nvPr>
        </p:nvSpPr>
        <p:spPr/>
        <p:txBody>
          <a:bodyPr/>
          <a:lstStyle/>
          <a:p>
            <a:fld id="{39499419-3EAC-4C76-B5F5-FEE2E078E89F}" type="datetime1">
              <a:rPr lang="en-US" smtClean="0"/>
              <a:t>10/17/2018</a:t>
            </a:fld>
            <a:endParaRPr/>
          </a:p>
        </p:txBody>
      </p:sp>
      <p:sp>
        <p:nvSpPr>
          <p:cNvPr id="4" name="Slide Number Placeholder 3"/>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55341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52847E0D-82A5-4CC8-B950-D125F0821B28}" type="datetime1">
              <a:rPr lang="en-US" smtClean="0"/>
              <a:t>10/17/2018</a:t>
            </a:fld>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65848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723A8C54-CADF-4A1E-8CA8-8ED1FD229BC6}" type="datetime1">
              <a:rPr lang="en-US" smtClean="0"/>
              <a:t>10/17/2018</a:t>
            </a:fld>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3192438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0FF3676D-46B4-43F1-A9FE-C4DB5BE3D536}" type="datetime1">
              <a:rPr lang="en-US" smtClean="0"/>
              <a:t>10/17/2018</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94485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E2A68092-22C1-4E94-B654-EB257081A520}" type="datetime1">
              <a:rPr lang="en-US" smtClean="0"/>
              <a:t>10/17/2018</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829424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8000">
              <a:schemeClr val="bg1"/>
            </a:gs>
            <a:gs pos="28000">
              <a:schemeClr val="bg1"/>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dirty="0"/>
              <a:t>Add a footer</a:t>
            </a:r>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CDFA66B1-EC45-4CD2-A181-0459666DBD8F}" type="datetime1">
              <a:rPr lang="en-US" smtClean="0"/>
              <a:t>10/17/2018</a:t>
            </a:fld>
            <a:endParaRPr lang="en-US"/>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89633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000" kern="1200" cap="all" baseline="0">
          <a:solidFill>
            <a:schemeClr val="tx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8pPr>
      <a:lvl9pPr marL="21031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loevlaw.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mailto:dloev@loevlaw.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Due Diligence Activities in Merger and Acquisition Transactions</a:t>
            </a:r>
          </a:p>
        </p:txBody>
      </p:sp>
      <p:sp>
        <p:nvSpPr>
          <p:cNvPr id="3" name="Subtitle 2"/>
          <p:cNvSpPr>
            <a:spLocks noGrp="1"/>
          </p:cNvSpPr>
          <p:nvPr>
            <p:ph type="subTitle" idx="1"/>
          </p:nvPr>
        </p:nvSpPr>
        <p:spPr/>
        <p:txBody>
          <a:bodyPr>
            <a:normAutofit lnSpcReduction="10000"/>
          </a:bodyPr>
          <a:lstStyle/>
          <a:p>
            <a:r>
              <a:rPr lang="en-US" dirty="0"/>
              <a:t>David M. Loev,</a:t>
            </a:r>
          </a:p>
          <a:p>
            <a:r>
              <a:rPr lang="en-US" dirty="0"/>
              <a:t>The Loev Law Firm, </a:t>
            </a:r>
            <a:r>
              <a:rPr lang="en-US" dirty="0" smtClean="0"/>
              <a:t>PC</a:t>
            </a:r>
          </a:p>
          <a:p>
            <a:endParaRPr lang="en-US" dirty="0"/>
          </a:p>
          <a:p>
            <a:r>
              <a:rPr lang="en-US" dirty="0" smtClean="0"/>
              <a:t>October 19, 2018</a:t>
            </a:r>
            <a:endParaRPr lang="ru-RU" dirty="0"/>
          </a:p>
        </p:txBody>
      </p:sp>
    </p:spTree>
    <p:extLst>
      <p:ext uri="{BB962C8B-B14F-4D97-AF65-F5344CB8AC3E}">
        <p14:creationId xmlns:p14="http://schemas.microsoft.com/office/powerpoint/2010/main" val="402501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Introduction</a:t>
            </a:r>
            <a:endParaRPr lang="en-US" b="1" i="1" dirty="0"/>
          </a:p>
        </p:txBody>
      </p:sp>
      <p:sp>
        <p:nvSpPr>
          <p:cNvPr id="3" name="Content Placeholder 2"/>
          <p:cNvSpPr>
            <a:spLocks noGrp="1"/>
          </p:cNvSpPr>
          <p:nvPr>
            <p:ph idx="1"/>
          </p:nvPr>
        </p:nvSpPr>
        <p:spPr/>
        <p:txBody>
          <a:bodyPr>
            <a:normAutofit lnSpcReduction="10000"/>
          </a:bodyPr>
          <a:lstStyle/>
          <a:p>
            <a:r>
              <a:rPr lang="en-US" dirty="0" smtClean="0"/>
              <a:t>My name is David M. Loev, I am the managing member of The Loev Law Firm, PC (</a:t>
            </a:r>
            <a:r>
              <a:rPr lang="en-US" dirty="0" err="1" smtClean="0">
                <a:hlinkClick r:id="rId2"/>
              </a:rPr>
              <a:t>www.loevlaw.com</a:t>
            </a:r>
            <a:r>
              <a:rPr lang="en-US" dirty="0" smtClean="0"/>
              <a:t>).</a:t>
            </a:r>
          </a:p>
          <a:p>
            <a:r>
              <a:rPr lang="en-US" dirty="0" smtClean="0"/>
              <a:t>My firm concentrates in the areas of securities, mergers and acquisitions and general business transaction matters </a:t>
            </a:r>
            <a:endParaRPr lang="en-US" dirty="0"/>
          </a:p>
          <a:p>
            <a:r>
              <a:rPr lang="en-US" dirty="0" smtClean="0"/>
              <a:t>This presentation will focus on due diligence activities in connection with merger and acquisition transactions</a:t>
            </a:r>
          </a:p>
          <a:p>
            <a:r>
              <a:rPr lang="en-US" dirty="0"/>
              <a:t>The </a:t>
            </a:r>
            <a:r>
              <a:rPr lang="en-US" dirty="0" smtClean="0"/>
              <a:t>information set forth in this presentation is </a:t>
            </a:r>
            <a:r>
              <a:rPr lang="en-US" dirty="0"/>
              <a:t>for informational purposes only and not for the purpose of providing legal advice. You should contact your attorney to obtain advice with respect to any particular issue or problem. </a:t>
            </a:r>
            <a:r>
              <a:rPr lang="en-US" dirty="0" smtClean="0"/>
              <a:t>This presentation does not create </a:t>
            </a:r>
            <a:r>
              <a:rPr lang="en-US" dirty="0"/>
              <a:t>an attorney-client </a:t>
            </a:r>
            <a:r>
              <a:rPr lang="en-US" dirty="0" smtClean="0"/>
              <a:t>relationship. </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2</a:t>
            </a:fld>
            <a:endParaRPr lang="en-US"/>
          </a:p>
        </p:txBody>
      </p:sp>
    </p:spTree>
    <p:extLst>
      <p:ext uri="{BB962C8B-B14F-4D97-AF65-F5344CB8AC3E}">
        <p14:creationId xmlns:p14="http://schemas.microsoft.com/office/powerpoint/2010/main" val="1385666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When do you conduct Due Diligence?</a:t>
            </a:r>
          </a:p>
        </p:txBody>
      </p:sp>
      <p:sp>
        <p:nvSpPr>
          <p:cNvPr id="3" name="Content Placeholder 2"/>
          <p:cNvSpPr>
            <a:spLocks noGrp="1"/>
          </p:cNvSpPr>
          <p:nvPr>
            <p:ph idx="1"/>
          </p:nvPr>
        </p:nvSpPr>
        <p:spPr/>
        <p:txBody>
          <a:bodyPr>
            <a:normAutofit fontScale="85000" lnSpcReduction="10000"/>
          </a:bodyPr>
          <a:lstStyle/>
          <a:p>
            <a:r>
              <a:rPr lang="en-US" b="1" dirty="0" smtClean="0"/>
              <a:t>During negotiation </a:t>
            </a:r>
            <a:r>
              <a:rPr lang="en-US" b="1" dirty="0"/>
              <a:t>of Letter of </a:t>
            </a:r>
            <a:r>
              <a:rPr lang="en-US" b="1" dirty="0" smtClean="0"/>
              <a:t>Intent</a:t>
            </a:r>
          </a:p>
          <a:p>
            <a:pPr lvl="1"/>
            <a:r>
              <a:rPr lang="en-US" dirty="0"/>
              <a:t>By the acquiring party (“</a:t>
            </a:r>
            <a:r>
              <a:rPr lang="en-US" b="1" u="sng" dirty="0"/>
              <a:t>Acquirer</a:t>
            </a:r>
            <a:r>
              <a:rPr lang="en-US" dirty="0"/>
              <a:t>”) Without the assistance of the target (the “</a:t>
            </a:r>
            <a:r>
              <a:rPr lang="en-US" b="1" u="sng" dirty="0"/>
              <a:t>Target</a:t>
            </a:r>
            <a:r>
              <a:rPr lang="en-US" dirty="0" smtClean="0"/>
              <a:t>”)</a:t>
            </a:r>
          </a:p>
          <a:p>
            <a:pPr lvl="1"/>
            <a:r>
              <a:rPr lang="en-US" dirty="0" smtClean="0"/>
              <a:t>Based </a:t>
            </a:r>
            <a:r>
              <a:rPr lang="en-US" dirty="0"/>
              <a:t>solely on publicly available </a:t>
            </a:r>
            <a:r>
              <a:rPr lang="en-US" dirty="0" smtClean="0"/>
              <a:t>information</a:t>
            </a:r>
            <a:endParaRPr lang="en-US" dirty="0"/>
          </a:p>
          <a:p>
            <a:r>
              <a:rPr lang="en-US" b="1" dirty="0"/>
              <a:t>After the entry into a letter of intent/term </a:t>
            </a:r>
            <a:r>
              <a:rPr lang="en-US" b="1" dirty="0" smtClean="0"/>
              <a:t>sheet</a:t>
            </a:r>
          </a:p>
          <a:p>
            <a:pPr lvl="1"/>
            <a:r>
              <a:rPr lang="en-US" dirty="0" smtClean="0"/>
              <a:t>To </a:t>
            </a:r>
            <a:r>
              <a:rPr lang="en-US" dirty="0"/>
              <a:t>determine the terms and conditions required to be included in a definitive acquisition </a:t>
            </a:r>
            <a:r>
              <a:rPr lang="en-US" dirty="0" smtClean="0"/>
              <a:t>agreement</a:t>
            </a:r>
          </a:p>
          <a:p>
            <a:pPr lvl="2"/>
            <a:r>
              <a:rPr lang="en-US" dirty="0" smtClean="0"/>
              <a:t>Indemnification rights</a:t>
            </a:r>
          </a:p>
          <a:p>
            <a:pPr lvl="2"/>
            <a:r>
              <a:rPr lang="en-US" dirty="0" smtClean="0"/>
              <a:t>Assets and liabilities to be carved out </a:t>
            </a:r>
          </a:p>
          <a:p>
            <a:pPr lvl="2"/>
            <a:r>
              <a:rPr lang="en-US" dirty="0" smtClean="0"/>
              <a:t>Closing conditions</a:t>
            </a:r>
          </a:p>
          <a:p>
            <a:pPr lvl="2"/>
            <a:endParaRPr lang="en-US" dirty="0" smtClean="0"/>
          </a:p>
          <a:p>
            <a:pPr lvl="1"/>
            <a:r>
              <a:rPr lang="en-US" dirty="0"/>
              <a:t>For negotiation of definitive agreement</a:t>
            </a:r>
          </a:p>
          <a:p>
            <a:pPr lvl="2"/>
            <a:r>
              <a:rPr lang="en-US" dirty="0"/>
              <a:t>Due diligence outs (material misrepresentations)</a:t>
            </a:r>
          </a:p>
          <a:p>
            <a:pPr lvl="2"/>
            <a:r>
              <a:rPr lang="en-US" dirty="0"/>
              <a:t>Breakup fees</a:t>
            </a:r>
          </a:p>
          <a:p>
            <a:pPr lvl="2"/>
            <a:r>
              <a:rPr lang="en-US" dirty="0"/>
              <a:t>Negotiation of reduction in purchase price</a:t>
            </a:r>
          </a:p>
          <a:p>
            <a:pPr lvl="2"/>
            <a:r>
              <a:rPr lang="en-US" dirty="0"/>
              <a:t>Post-Closing true-Ups</a:t>
            </a:r>
          </a:p>
          <a:p>
            <a:pPr lvl="2"/>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3</a:t>
            </a:fld>
            <a:endParaRPr lang="en-US"/>
          </a:p>
        </p:txBody>
      </p:sp>
    </p:spTree>
    <p:extLst>
      <p:ext uri="{BB962C8B-B14F-4D97-AF65-F5344CB8AC3E}">
        <p14:creationId xmlns:p14="http://schemas.microsoft.com/office/powerpoint/2010/main" val="2936978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When do you conduct Due Diligence</a:t>
            </a:r>
            <a:r>
              <a:rPr lang="en-US" b="1" i="1" dirty="0" smtClean="0"/>
              <a:t>? (continued)</a:t>
            </a:r>
            <a:endParaRPr lang="en-US" b="1" i="1" dirty="0"/>
          </a:p>
        </p:txBody>
      </p:sp>
      <p:sp>
        <p:nvSpPr>
          <p:cNvPr id="3" name="Content Placeholder 2"/>
          <p:cNvSpPr>
            <a:spLocks noGrp="1"/>
          </p:cNvSpPr>
          <p:nvPr>
            <p:ph idx="1"/>
          </p:nvPr>
        </p:nvSpPr>
        <p:spPr/>
        <p:txBody>
          <a:bodyPr>
            <a:normAutofit/>
          </a:bodyPr>
          <a:lstStyle/>
          <a:p>
            <a:r>
              <a:rPr lang="en-US" b="1" dirty="0" smtClean="0"/>
              <a:t>After </a:t>
            </a:r>
            <a:r>
              <a:rPr lang="en-US" b="1" dirty="0"/>
              <a:t>the date a definitive agreement is entered into and prior to </a:t>
            </a:r>
            <a:r>
              <a:rPr lang="en-US" b="1" dirty="0" smtClean="0"/>
              <a:t>closing</a:t>
            </a:r>
          </a:p>
          <a:p>
            <a:pPr lvl="1"/>
            <a:r>
              <a:rPr lang="en-US" dirty="0" smtClean="0"/>
              <a:t>To determine if changes needed to deal structure, consideration or other things come up during due diligence which requires renegotiation</a:t>
            </a:r>
          </a:p>
          <a:p>
            <a:pPr lvl="1"/>
            <a:r>
              <a:rPr lang="en-US" dirty="0" smtClean="0"/>
              <a:t>To trigger ‘out’ clauses</a:t>
            </a:r>
          </a:p>
          <a:p>
            <a:pPr lvl="1"/>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4</a:t>
            </a:fld>
            <a:endParaRPr lang="en-US"/>
          </a:p>
        </p:txBody>
      </p:sp>
    </p:spTree>
    <p:extLst>
      <p:ext uri="{BB962C8B-B14F-4D97-AF65-F5344CB8AC3E}">
        <p14:creationId xmlns:p14="http://schemas.microsoft.com/office/powerpoint/2010/main" val="1675055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Who Conducts Due Diligence?</a:t>
            </a:r>
            <a:endParaRPr lang="en-US" dirty="0"/>
          </a:p>
        </p:txBody>
      </p:sp>
      <p:sp>
        <p:nvSpPr>
          <p:cNvPr id="3" name="Content Placeholder 2"/>
          <p:cNvSpPr>
            <a:spLocks noGrp="1"/>
          </p:cNvSpPr>
          <p:nvPr>
            <p:ph idx="1"/>
          </p:nvPr>
        </p:nvSpPr>
        <p:spPr/>
        <p:txBody>
          <a:bodyPr>
            <a:normAutofit/>
          </a:bodyPr>
          <a:lstStyle/>
          <a:p>
            <a:r>
              <a:rPr lang="en-US" dirty="0" smtClean="0"/>
              <a:t>Acquirer’s </a:t>
            </a:r>
            <a:r>
              <a:rPr lang="en-US" dirty="0"/>
              <a:t>legal counsel </a:t>
            </a:r>
            <a:r>
              <a:rPr lang="en-US" dirty="0" smtClean="0"/>
              <a:t>prepares information </a:t>
            </a:r>
            <a:r>
              <a:rPr lang="en-US" dirty="0"/>
              <a:t>request </a:t>
            </a:r>
            <a:r>
              <a:rPr lang="en-US" dirty="0" smtClean="0"/>
              <a:t>with </a:t>
            </a:r>
            <a:r>
              <a:rPr lang="en-US" dirty="0"/>
              <a:t>the input of management of the </a:t>
            </a:r>
            <a:r>
              <a:rPr lang="en-US" dirty="0" smtClean="0"/>
              <a:t>Acquirer</a:t>
            </a:r>
          </a:p>
          <a:p>
            <a:r>
              <a:rPr lang="en-US" dirty="0" smtClean="0"/>
              <a:t>Due </a:t>
            </a:r>
            <a:r>
              <a:rPr lang="en-US" dirty="0"/>
              <a:t>diligence materials are </a:t>
            </a:r>
            <a:r>
              <a:rPr lang="en-US" dirty="0" smtClean="0"/>
              <a:t>typically provided </a:t>
            </a:r>
            <a:r>
              <a:rPr lang="en-US" dirty="0"/>
              <a:t>via a data room </a:t>
            </a:r>
            <a:r>
              <a:rPr lang="en-US" dirty="0" smtClean="0"/>
              <a:t>(</a:t>
            </a:r>
            <a:r>
              <a:rPr lang="en-US" dirty="0" err="1" smtClean="0"/>
              <a:t>dropbox</a:t>
            </a:r>
            <a:r>
              <a:rPr lang="en-US" dirty="0" smtClean="0"/>
              <a:t>)</a:t>
            </a:r>
            <a:endParaRPr lang="en-US" dirty="0"/>
          </a:p>
          <a:p>
            <a:r>
              <a:rPr lang="en-US" dirty="0" smtClean="0"/>
              <a:t>The </a:t>
            </a:r>
            <a:r>
              <a:rPr lang="en-US" dirty="0"/>
              <a:t>management of the Acquirer, the Acquirer’s legal counsel and accountants review the information and create a listing of additional information sought and questions </a:t>
            </a:r>
            <a:r>
              <a:rPr lang="en-US" dirty="0" smtClean="0"/>
              <a:t>raised </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5</a:t>
            </a:fld>
            <a:endParaRPr lang="en-US"/>
          </a:p>
        </p:txBody>
      </p:sp>
    </p:spTree>
    <p:extLst>
      <p:ext uri="{BB962C8B-B14F-4D97-AF65-F5344CB8AC3E}">
        <p14:creationId xmlns:p14="http://schemas.microsoft.com/office/powerpoint/2010/main" val="154294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ADDITIONAL Due Diligence ITEMS SOUGHT</a:t>
            </a:r>
            <a:endParaRPr lang="en-US" dirty="0"/>
          </a:p>
        </p:txBody>
      </p:sp>
      <p:sp>
        <p:nvSpPr>
          <p:cNvPr id="3" name="Content Placeholder 2"/>
          <p:cNvSpPr>
            <a:spLocks noGrp="1"/>
          </p:cNvSpPr>
          <p:nvPr>
            <p:ph idx="1"/>
          </p:nvPr>
        </p:nvSpPr>
        <p:spPr/>
        <p:txBody>
          <a:bodyPr/>
          <a:lstStyle/>
          <a:p>
            <a:r>
              <a:rPr lang="en-US" dirty="0" smtClean="0"/>
              <a:t>Copies </a:t>
            </a:r>
            <a:r>
              <a:rPr lang="en-US" dirty="0"/>
              <a:t>of the Target’s (and its subsidiaries) governing documents </a:t>
            </a:r>
            <a:endParaRPr lang="en-US" dirty="0" smtClean="0"/>
          </a:p>
          <a:p>
            <a:r>
              <a:rPr lang="en-US" dirty="0" smtClean="0"/>
              <a:t>The </a:t>
            </a:r>
            <a:r>
              <a:rPr lang="en-US" dirty="0"/>
              <a:t>results of Uniform Commercial Code (</a:t>
            </a:r>
            <a:r>
              <a:rPr lang="en-US" dirty="0" err="1"/>
              <a:t>UCC</a:t>
            </a:r>
            <a:r>
              <a:rPr lang="en-US" dirty="0"/>
              <a:t>) and where applicable, real property lien </a:t>
            </a:r>
            <a:r>
              <a:rPr lang="en-US" dirty="0" smtClean="0"/>
              <a:t>searches</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6</a:t>
            </a:fld>
            <a:endParaRPr lang="en-US"/>
          </a:p>
        </p:txBody>
      </p:sp>
    </p:spTree>
    <p:extLst>
      <p:ext uri="{BB962C8B-B14F-4D97-AF65-F5344CB8AC3E}">
        <p14:creationId xmlns:p14="http://schemas.microsoft.com/office/powerpoint/2010/main" val="165175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What Should Due Diligence Entail?</a:t>
            </a:r>
            <a:endParaRPr lang="en-US" dirty="0"/>
          </a:p>
        </p:txBody>
      </p:sp>
      <p:sp>
        <p:nvSpPr>
          <p:cNvPr id="3" name="Content Placeholder 2"/>
          <p:cNvSpPr>
            <a:spLocks noGrp="1"/>
          </p:cNvSpPr>
          <p:nvPr>
            <p:ph idx="1"/>
          </p:nvPr>
        </p:nvSpPr>
        <p:spPr/>
        <p:txBody>
          <a:bodyPr>
            <a:normAutofit/>
          </a:bodyPr>
          <a:lstStyle/>
          <a:p>
            <a:r>
              <a:rPr lang="en-US" dirty="0" smtClean="0"/>
              <a:t>I will discuss categories </a:t>
            </a:r>
            <a:r>
              <a:rPr lang="en-US" dirty="0"/>
              <a:t>of due diligence materials which should be reviewed by an </a:t>
            </a:r>
            <a:r>
              <a:rPr lang="en-US" dirty="0" smtClean="0"/>
              <a:t>Acquirer</a:t>
            </a:r>
          </a:p>
          <a:p>
            <a:r>
              <a:rPr lang="en-US" dirty="0" smtClean="0"/>
              <a:t>Additional </a:t>
            </a:r>
            <a:r>
              <a:rPr lang="en-US" dirty="0"/>
              <a:t>materials may also be called for depending on the industry in which the Target operates, the size of the Target and its </a:t>
            </a:r>
            <a:r>
              <a:rPr lang="en-US" dirty="0" smtClean="0"/>
              <a:t>operations/assets</a:t>
            </a:r>
          </a:p>
        </p:txBody>
      </p:sp>
      <p:sp>
        <p:nvSpPr>
          <p:cNvPr id="4" name="Slide Number Placeholder 3"/>
          <p:cNvSpPr>
            <a:spLocks noGrp="1"/>
          </p:cNvSpPr>
          <p:nvPr>
            <p:ph type="sldNum" sz="quarter" idx="12"/>
          </p:nvPr>
        </p:nvSpPr>
        <p:spPr/>
        <p:txBody>
          <a:bodyPr/>
          <a:lstStyle/>
          <a:p>
            <a:fld id="{F36C87F6-986D-49E6-AF40-1B3A1EE8064D}" type="slidenum">
              <a:rPr lang="en-US" smtClean="0"/>
              <a:t>7</a:t>
            </a:fld>
            <a:endParaRPr lang="en-US"/>
          </a:p>
        </p:txBody>
      </p:sp>
    </p:spTree>
    <p:extLst>
      <p:ext uri="{BB962C8B-B14F-4D97-AF65-F5344CB8AC3E}">
        <p14:creationId xmlns:p14="http://schemas.microsoft.com/office/powerpoint/2010/main" val="378226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Corporate Organizational and Charter Issues</a:t>
            </a:r>
          </a:p>
        </p:txBody>
      </p:sp>
      <p:sp>
        <p:nvSpPr>
          <p:cNvPr id="3" name="Content Placeholder 2"/>
          <p:cNvSpPr>
            <a:spLocks noGrp="1"/>
          </p:cNvSpPr>
          <p:nvPr>
            <p:ph idx="1"/>
          </p:nvPr>
        </p:nvSpPr>
        <p:spPr/>
        <p:txBody>
          <a:bodyPr>
            <a:normAutofit/>
          </a:bodyPr>
          <a:lstStyle/>
          <a:p>
            <a:r>
              <a:rPr lang="en-US" b="1" i="1" dirty="0" smtClean="0"/>
              <a:t>Charter</a:t>
            </a:r>
          </a:p>
          <a:p>
            <a:pPr lvl="1"/>
            <a:r>
              <a:rPr lang="en-US" dirty="0" smtClean="0"/>
              <a:t>Target’s </a:t>
            </a:r>
            <a:r>
              <a:rPr lang="en-US" dirty="0"/>
              <a:t>and </a:t>
            </a:r>
            <a:r>
              <a:rPr lang="en-US" dirty="0" smtClean="0"/>
              <a:t>its </a:t>
            </a:r>
            <a:r>
              <a:rPr lang="en-US" dirty="0"/>
              <a:t>subsidiaries corporate charters </a:t>
            </a:r>
            <a:endParaRPr lang="en-US" dirty="0" smtClean="0"/>
          </a:p>
          <a:p>
            <a:pPr lvl="2"/>
            <a:r>
              <a:rPr lang="en-US" dirty="0" smtClean="0"/>
              <a:t>In </a:t>
            </a:r>
            <a:r>
              <a:rPr lang="en-US" b="1" dirty="0" smtClean="0"/>
              <a:t>good standing </a:t>
            </a:r>
            <a:r>
              <a:rPr lang="en-US" b="1" dirty="0"/>
              <a:t>and validly </a:t>
            </a:r>
            <a:r>
              <a:rPr lang="en-US" b="1" dirty="0" smtClean="0"/>
              <a:t>existing</a:t>
            </a:r>
          </a:p>
          <a:p>
            <a:pPr lvl="1"/>
            <a:r>
              <a:rPr lang="en-US" dirty="0" smtClean="0"/>
              <a:t>Confirm no </a:t>
            </a:r>
            <a:r>
              <a:rPr lang="en-US" dirty="0"/>
              <a:t>failure to timely file annual reports </a:t>
            </a:r>
            <a:r>
              <a:rPr lang="en-US" dirty="0" smtClean="0"/>
              <a:t>and </a:t>
            </a:r>
            <a:r>
              <a:rPr lang="en-US" dirty="0"/>
              <a:t>franchise </a:t>
            </a:r>
            <a:r>
              <a:rPr lang="en-US" dirty="0" smtClean="0"/>
              <a:t>taxes</a:t>
            </a:r>
          </a:p>
          <a:p>
            <a:pPr lvl="2"/>
            <a:r>
              <a:rPr lang="en-US" dirty="0" smtClean="0"/>
              <a:t>Failure to file can lead to a charter being forfeited or revoked</a:t>
            </a:r>
          </a:p>
          <a:p>
            <a:pPr lvl="1"/>
            <a:r>
              <a:rPr lang="en-US" dirty="0" smtClean="0"/>
              <a:t>Foreign </a:t>
            </a:r>
            <a:r>
              <a:rPr lang="en-US" dirty="0"/>
              <a:t>registrations where company provides goods or </a:t>
            </a:r>
            <a:r>
              <a:rPr lang="en-US" dirty="0" smtClean="0"/>
              <a:t>services</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8</a:t>
            </a:fld>
            <a:endParaRPr lang="en-US"/>
          </a:p>
        </p:txBody>
      </p:sp>
    </p:spTree>
    <p:extLst>
      <p:ext uri="{BB962C8B-B14F-4D97-AF65-F5344CB8AC3E}">
        <p14:creationId xmlns:p14="http://schemas.microsoft.com/office/powerpoint/2010/main" val="3241837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Corporate Organizational and Charter </a:t>
            </a:r>
            <a:r>
              <a:rPr lang="en-US" b="1" i="1" dirty="0" smtClean="0"/>
              <a:t>Issues (Continued)</a:t>
            </a:r>
            <a:endParaRPr lang="en-US" b="1" i="1" dirty="0"/>
          </a:p>
        </p:txBody>
      </p:sp>
      <p:sp>
        <p:nvSpPr>
          <p:cNvPr id="3" name="Content Placeholder 2"/>
          <p:cNvSpPr>
            <a:spLocks noGrp="1"/>
          </p:cNvSpPr>
          <p:nvPr>
            <p:ph idx="1"/>
          </p:nvPr>
        </p:nvSpPr>
        <p:spPr/>
        <p:txBody>
          <a:bodyPr>
            <a:normAutofit/>
          </a:bodyPr>
          <a:lstStyle/>
          <a:p>
            <a:r>
              <a:rPr lang="en-US" b="1" i="1" dirty="0"/>
              <a:t>Articles, Bylaws, Articles of Organization and Operating Agreement, partnership agreements</a:t>
            </a:r>
          </a:p>
          <a:p>
            <a:pPr lvl="1"/>
            <a:r>
              <a:rPr lang="en-US" dirty="0" smtClean="0"/>
              <a:t>Look for provisions </a:t>
            </a:r>
            <a:r>
              <a:rPr lang="en-US" dirty="0"/>
              <a:t>which </a:t>
            </a:r>
            <a:r>
              <a:rPr lang="en-US" dirty="0" smtClean="0"/>
              <a:t>could:</a:t>
            </a:r>
          </a:p>
          <a:p>
            <a:pPr lvl="2"/>
            <a:r>
              <a:rPr lang="en-US" dirty="0" smtClean="0"/>
              <a:t>Prevent </a:t>
            </a:r>
            <a:r>
              <a:rPr lang="en-US" dirty="0"/>
              <a:t>a </a:t>
            </a:r>
            <a:r>
              <a:rPr lang="en-US" b="1" dirty="0"/>
              <a:t>change </a:t>
            </a:r>
            <a:r>
              <a:rPr lang="en-US" b="1" dirty="0" smtClean="0"/>
              <a:t>of </a:t>
            </a:r>
            <a:r>
              <a:rPr lang="en-US" b="1" dirty="0"/>
              <a:t>control or </a:t>
            </a:r>
            <a:r>
              <a:rPr lang="en-US" b="1" dirty="0" smtClean="0"/>
              <a:t>acquisition</a:t>
            </a:r>
          </a:p>
          <a:p>
            <a:pPr lvl="2"/>
            <a:r>
              <a:rPr lang="en-US" dirty="0" smtClean="0"/>
              <a:t>Provide </a:t>
            </a:r>
            <a:r>
              <a:rPr lang="en-US" b="1" dirty="0"/>
              <a:t>anti-dilutive rights </a:t>
            </a:r>
            <a:r>
              <a:rPr lang="en-US" dirty="0"/>
              <a:t>to </a:t>
            </a:r>
            <a:r>
              <a:rPr lang="en-US" dirty="0" smtClean="0"/>
              <a:t>remaining </a:t>
            </a:r>
            <a:r>
              <a:rPr lang="en-US" dirty="0"/>
              <a:t>security holders </a:t>
            </a:r>
            <a:endParaRPr lang="en-US" dirty="0" smtClean="0"/>
          </a:p>
          <a:p>
            <a:pPr lvl="2"/>
            <a:r>
              <a:rPr lang="en-US" dirty="0" smtClean="0"/>
              <a:t>Security </a:t>
            </a:r>
            <a:r>
              <a:rPr lang="en-US" dirty="0"/>
              <a:t>holder </a:t>
            </a:r>
            <a:r>
              <a:rPr lang="en-US" b="1" dirty="0"/>
              <a:t>approval required </a:t>
            </a:r>
            <a:r>
              <a:rPr lang="en-US" dirty="0"/>
              <a:t>to affect a fundamental transaction </a:t>
            </a:r>
            <a:endParaRPr lang="en-US" dirty="0" smtClean="0"/>
          </a:p>
          <a:p>
            <a:pPr lvl="3"/>
            <a:r>
              <a:rPr lang="en-US" dirty="0" smtClean="0"/>
              <a:t>Typically </a:t>
            </a:r>
            <a:r>
              <a:rPr lang="en-US" dirty="0"/>
              <a:t>requires approval of a majority of the Target’s stockholders in Delaware and other states and 66 2/3 percent approval in Texas (absent a provision in the Target’s organizational documents providing otherwise). </a:t>
            </a:r>
            <a:endParaRPr lang="en-US" dirty="0" smtClean="0"/>
          </a:p>
        </p:txBody>
      </p:sp>
      <p:sp>
        <p:nvSpPr>
          <p:cNvPr id="4" name="Slide Number Placeholder 3"/>
          <p:cNvSpPr>
            <a:spLocks noGrp="1"/>
          </p:cNvSpPr>
          <p:nvPr>
            <p:ph type="sldNum" sz="quarter" idx="12"/>
          </p:nvPr>
        </p:nvSpPr>
        <p:spPr/>
        <p:txBody>
          <a:bodyPr/>
          <a:lstStyle/>
          <a:p>
            <a:fld id="{F36C87F6-986D-49E6-AF40-1B3A1EE8064D}" type="slidenum">
              <a:rPr lang="en-US" smtClean="0"/>
              <a:t>9</a:t>
            </a:fld>
            <a:endParaRPr lang="en-US"/>
          </a:p>
        </p:txBody>
      </p:sp>
    </p:spTree>
    <p:extLst>
      <p:ext uri="{BB962C8B-B14F-4D97-AF65-F5344CB8AC3E}">
        <p14:creationId xmlns:p14="http://schemas.microsoft.com/office/powerpoint/2010/main" val="3818309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Corporate Organizational and Charter Issues (Continued)</a:t>
            </a:r>
          </a:p>
        </p:txBody>
      </p:sp>
      <p:sp>
        <p:nvSpPr>
          <p:cNvPr id="3" name="Content Placeholder 2"/>
          <p:cNvSpPr>
            <a:spLocks noGrp="1"/>
          </p:cNvSpPr>
          <p:nvPr>
            <p:ph idx="1"/>
          </p:nvPr>
        </p:nvSpPr>
        <p:spPr/>
        <p:txBody>
          <a:bodyPr>
            <a:normAutofit/>
          </a:bodyPr>
          <a:lstStyle/>
          <a:p>
            <a:r>
              <a:rPr lang="en-US" b="1" i="1" dirty="0" smtClean="0"/>
              <a:t>Transaction Structure</a:t>
            </a:r>
          </a:p>
          <a:p>
            <a:pPr lvl="1"/>
            <a:r>
              <a:rPr lang="en-US" b="1" i="1" dirty="0" smtClean="0"/>
              <a:t>Share Exchange </a:t>
            </a:r>
          </a:p>
          <a:p>
            <a:pPr lvl="2"/>
            <a:r>
              <a:rPr lang="en-US" dirty="0" smtClean="0"/>
              <a:t>Requires all </a:t>
            </a:r>
            <a:r>
              <a:rPr lang="en-US" dirty="0"/>
              <a:t>individual security holders of the Target </a:t>
            </a:r>
            <a:r>
              <a:rPr lang="en-US" dirty="0" smtClean="0"/>
              <a:t>to </a:t>
            </a:r>
            <a:r>
              <a:rPr lang="en-US" dirty="0"/>
              <a:t>agree to the terms of the transaction in order for the Acquirer to acquire 100% ownership of the </a:t>
            </a:r>
            <a:r>
              <a:rPr lang="en-US" dirty="0" smtClean="0"/>
              <a:t>entity</a:t>
            </a:r>
          </a:p>
          <a:p>
            <a:pPr lvl="1"/>
            <a:r>
              <a:rPr lang="en-US" b="1" i="1" dirty="0" smtClean="0"/>
              <a:t>Merger</a:t>
            </a:r>
          </a:p>
          <a:p>
            <a:pPr lvl="2"/>
            <a:r>
              <a:rPr lang="en-US" dirty="0" smtClean="0"/>
              <a:t>Typically requires majority approval of both Target and Acquirer security holders</a:t>
            </a:r>
          </a:p>
          <a:p>
            <a:pPr lvl="1"/>
            <a:r>
              <a:rPr lang="en-US" b="1" dirty="0" smtClean="0"/>
              <a:t>Asset Purchase Agreement</a:t>
            </a:r>
          </a:p>
          <a:p>
            <a:pPr lvl="1"/>
            <a:r>
              <a:rPr lang="en-US" b="1" i="1" dirty="0" smtClean="0"/>
              <a:t>Reverse </a:t>
            </a:r>
            <a:r>
              <a:rPr lang="en-US" b="1" i="1" dirty="0"/>
              <a:t>triangular </a:t>
            </a:r>
            <a:r>
              <a:rPr lang="en-US" b="1" i="1" dirty="0" smtClean="0"/>
              <a:t>merger</a:t>
            </a:r>
          </a:p>
          <a:p>
            <a:pPr lvl="2"/>
            <a:r>
              <a:rPr lang="en-US" dirty="0" smtClean="0"/>
              <a:t>Only </a:t>
            </a:r>
            <a:r>
              <a:rPr lang="en-US" dirty="0"/>
              <a:t>requires approval of a majority of the security holders of the Target (depending on the terms of its governing documents) and forces any non-voting security holders to accept the merger </a:t>
            </a:r>
            <a:r>
              <a:rPr lang="en-US" dirty="0" smtClean="0"/>
              <a:t>consideration</a:t>
            </a:r>
          </a:p>
          <a:p>
            <a:pPr lvl="2"/>
            <a:r>
              <a:rPr lang="en-US" dirty="0" smtClean="0"/>
              <a:t>Bypasses </a:t>
            </a:r>
            <a:r>
              <a:rPr lang="en-US" dirty="0"/>
              <a:t>the 100% approval requirement of a typical share </a:t>
            </a:r>
            <a:r>
              <a:rPr lang="en-US" dirty="0" smtClean="0"/>
              <a:t>exchange</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10</a:t>
            </a:fld>
            <a:endParaRPr lang="en-US"/>
          </a:p>
        </p:txBody>
      </p:sp>
    </p:spTree>
    <p:extLst>
      <p:ext uri="{BB962C8B-B14F-4D97-AF65-F5344CB8AC3E}">
        <p14:creationId xmlns:p14="http://schemas.microsoft.com/office/powerpoint/2010/main" val="2588612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Corporate Organizational and Charter Issues (Continued)</a:t>
            </a:r>
          </a:p>
        </p:txBody>
      </p:sp>
      <p:sp>
        <p:nvSpPr>
          <p:cNvPr id="3" name="Content Placeholder 2"/>
          <p:cNvSpPr>
            <a:spLocks noGrp="1"/>
          </p:cNvSpPr>
          <p:nvPr>
            <p:ph idx="1"/>
          </p:nvPr>
        </p:nvSpPr>
        <p:spPr/>
        <p:txBody>
          <a:bodyPr>
            <a:normAutofit/>
          </a:bodyPr>
          <a:lstStyle/>
          <a:p>
            <a:pPr lvl="1"/>
            <a:r>
              <a:rPr lang="en-US" b="1" i="1" dirty="0"/>
              <a:t>Transaction </a:t>
            </a:r>
            <a:r>
              <a:rPr lang="en-US" b="1" i="1" dirty="0" smtClean="0"/>
              <a:t>Structure (continued)</a:t>
            </a:r>
            <a:endParaRPr lang="en-US" b="1" i="1" dirty="0"/>
          </a:p>
          <a:p>
            <a:pPr lvl="2"/>
            <a:r>
              <a:rPr lang="en-US" dirty="0" smtClean="0"/>
              <a:t>Stockholders </a:t>
            </a:r>
            <a:r>
              <a:rPr lang="en-US" dirty="0"/>
              <a:t>of the Target </a:t>
            </a:r>
            <a:r>
              <a:rPr lang="en-US" dirty="0" smtClean="0"/>
              <a:t>may </a:t>
            </a:r>
            <a:r>
              <a:rPr lang="en-US" dirty="0"/>
              <a:t>be due </a:t>
            </a:r>
            <a:r>
              <a:rPr lang="en-US" b="1" dirty="0"/>
              <a:t>dissenter’s and appraisal </a:t>
            </a:r>
            <a:r>
              <a:rPr lang="en-US" b="1" dirty="0" smtClean="0"/>
              <a:t>rights</a:t>
            </a:r>
          </a:p>
          <a:p>
            <a:pPr lvl="2"/>
            <a:r>
              <a:rPr lang="en-US" dirty="0" smtClean="0"/>
              <a:t>Such rights may </a:t>
            </a:r>
            <a:r>
              <a:rPr lang="en-US" dirty="0"/>
              <a:t>require the Target to purchase such dissenter’s securities for the fair market value of such </a:t>
            </a:r>
            <a:r>
              <a:rPr lang="en-US" dirty="0" smtClean="0"/>
              <a:t>securities</a:t>
            </a:r>
          </a:p>
          <a:p>
            <a:pPr lvl="1"/>
            <a:r>
              <a:rPr lang="en-US" b="1" i="1" dirty="0"/>
              <a:t>Preferred stock holder </a:t>
            </a:r>
            <a:r>
              <a:rPr lang="en-US" b="1" i="1" dirty="0" smtClean="0"/>
              <a:t>rights</a:t>
            </a:r>
          </a:p>
          <a:p>
            <a:pPr lvl="2"/>
            <a:r>
              <a:rPr lang="en-US" dirty="0" smtClean="0"/>
              <a:t>Holders </a:t>
            </a:r>
            <a:r>
              <a:rPr lang="en-US" dirty="0"/>
              <a:t>of preferred stock </a:t>
            </a:r>
            <a:r>
              <a:rPr lang="en-US" dirty="0" smtClean="0"/>
              <a:t>may have:</a:t>
            </a:r>
          </a:p>
          <a:p>
            <a:pPr lvl="3"/>
            <a:r>
              <a:rPr lang="en-US" dirty="0" smtClean="0"/>
              <a:t>Anti-dilution </a:t>
            </a:r>
          </a:p>
          <a:p>
            <a:pPr lvl="3"/>
            <a:r>
              <a:rPr lang="en-US" dirty="0"/>
              <a:t>S</a:t>
            </a:r>
            <a:r>
              <a:rPr lang="en-US" dirty="0" smtClean="0"/>
              <a:t>upermajority </a:t>
            </a:r>
            <a:r>
              <a:rPr lang="en-US" dirty="0"/>
              <a:t>voting </a:t>
            </a:r>
            <a:r>
              <a:rPr lang="en-US" dirty="0" smtClean="0"/>
              <a:t>rights</a:t>
            </a:r>
          </a:p>
          <a:p>
            <a:pPr lvl="3"/>
            <a:r>
              <a:rPr lang="en-US" dirty="0"/>
              <a:t>R</a:t>
            </a:r>
            <a:r>
              <a:rPr lang="en-US" dirty="0" smtClean="0"/>
              <a:t>ights </a:t>
            </a:r>
            <a:r>
              <a:rPr lang="en-US" dirty="0"/>
              <a:t>to block an </a:t>
            </a:r>
            <a:r>
              <a:rPr lang="en-US" dirty="0" smtClean="0"/>
              <a:t>acquisition.</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11</a:t>
            </a:fld>
            <a:endParaRPr lang="en-US"/>
          </a:p>
        </p:txBody>
      </p:sp>
    </p:spTree>
    <p:extLst>
      <p:ext uri="{BB962C8B-B14F-4D97-AF65-F5344CB8AC3E}">
        <p14:creationId xmlns:p14="http://schemas.microsoft.com/office/powerpoint/2010/main" val="198449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Corporate Organizational and Charter Issues (Continued)</a:t>
            </a:r>
          </a:p>
        </p:txBody>
      </p:sp>
      <p:sp>
        <p:nvSpPr>
          <p:cNvPr id="3" name="Content Placeholder 2"/>
          <p:cNvSpPr>
            <a:spLocks noGrp="1"/>
          </p:cNvSpPr>
          <p:nvPr>
            <p:ph idx="1"/>
          </p:nvPr>
        </p:nvSpPr>
        <p:spPr/>
        <p:txBody>
          <a:bodyPr/>
          <a:lstStyle/>
          <a:p>
            <a:r>
              <a:rPr lang="en-US" u="sng" dirty="0" smtClean="0"/>
              <a:t>Practice Tip</a:t>
            </a:r>
            <a:r>
              <a:rPr lang="en-US" dirty="0" smtClean="0"/>
              <a:t>:</a:t>
            </a:r>
          </a:p>
          <a:p>
            <a:pPr marL="274320" lvl="1" indent="0">
              <a:buNone/>
            </a:pPr>
            <a:endParaRPr lang="en-US" dirty="0" smtClean="0"/>
          </a:p>
          <a:p>
            <a:pPr marL="274320" lvl="1" indent="0">
              <a:buNone/>
            </a:pPr>
            <a:r>
              <a:rPr lang="en-US" dirty="0" smtClean="0"/>
              <a:t>We </a:t>
            </a:r>
            <a:r>
              <a:rPr lang="en-US" dirty="0"/>
              <a:t>have seen situations where a company purportedly converted from one jurisdiction to another without following the requirements for such corporate action and as such the Target was locked in a form of legal limbo where it did not validly exist in either its current jurisdiction or its former one and arguably all of the securities it had issued and transactions undertaken in the past several years were invalid and void</a:t>
            </a:r>
            <a:r>
              <a:rPr lang="en-US" dirty="0" smtClean="0"/>
              <a:t>.</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12</a:t>
            </a:fld>
            <a:endParaRPr lang="en-US"/>
          </a:p>
        </p:txBody>
      </p:sp>
    </p:spTree>
    <p:extLst>
      <p:ext uri="{BB962C8B-B14F-4D97-AF65-F5344CB8AC3E}">
        <p14:creationId xmlns:p14="http://schemas.microsoft.com/office/powerpoint/2010/main" val="1963422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Officers and Directors</a:t>
            </a:r>
          </a:p>
        </p:txBody>
      </p:sp>
      <p:sp>
        <p:nvSpPr>
          <p:cNvPr id="3" name="Content Placeholder 2"/>
          <p:cNvSpPr>
            <a:spLocks noGrp="1"/>
          </p:cNvSpPr>
          <p:nvPr>
            <p:ph idx="1"/>
          </p:nvPr>
        </p:nvSpPr>
        <p:spPr/>
        <p:txBody>
          <a:bodyPr>
            <a:normAutofit/>
          </a:bodyPr>
          <a:lstStyle/>
          <a:p>
            <a:r>
              <a:rPr lang="en-US" b="1" i="1" dirty="0" smtClean="0"/>
              <a:t>Employment </a:t>
            </a:r>
            <a:r>
              <a:rPr lang="en-US" b="1" i="1" dirty="0"/>
              <a:t>and consulting </a:t>
            </a:r>
            <a:r>
              <a:rPr lang="en-US" b="1" i="1" dirty="0" smtClean="0"/>
              <a:t>agreements</a:t>
            </a:r>
          </a:p>
          <a:p>
            <a:pPr lvl="1"/>
            <a:r>
              <a:rPr lang="en-US" b="1" dirty="0" smtClean="0"/>
              <a:t>Provisions </a:t>
            </a:r>
            <a:r>
              <a:rPr lang="en-US" b="1" dirty="0"/>
              <a:t>relating to changes in </a:t>
            </a:r>
            <a:r>
              <a:rPr lang="en-US" b="1" dirty="0" smtClean="0"/>
              <a:t>control</a:t>
            </a:r>
            <a:r>
              <a:rPr lang="en-US" dirty="0" smtClean="0"/>
              <a:t>:</a:t>
            </a:r>
          </a:p>
          <a:p>
            <a:pPr lvl="2"/>
            <a:r>
              <a:rPr lang="en-US" dirty="0" smtClean="0"/>
              <a:t>Can </a:t>
            </a:r>
            <a:r>
              <a:rPr lang="en-US" dirty="0"/>
              <a:t>trigger significant increases in severance payments due upon a change of control </a:t>
            </a:r>
            <a:r>
              <a:rPr lang="en-US" dirty="0" smtClean="0"/>
              <a:t>(multiples </a:t>
            </a:r>
            <a:r>
              <a:rPr lang="en-US" dirty="0"/>
              <a:t>of 2 to 3 times the standard agreement severance amounts</a:t>
            </a:r>
            <a:r>
              <a:rPr lang="en-US" dirty="0" smtClean="0"/>
              <a:t>)</a:t>
            </a:r>
          </a:p>
          <a:p>
            <a:pPr lvl="2"/>
            <a:r>
              <a:rPr lang="en-US" dirty="0" smtClean="0"/>
              <a:t>May </a:t>
            </a:r>
            <a:r>
              <a:rPr lang="en-US" dirty="0"/>
              <a:t>be payable if a change of control occurs for some period of time after the termination of an employee, even if no change of control was contemplated at the time of termination </a:t>
            </a:r>
            <a:r>
              <a:rPr lang="en-US" dirty="0" smtClean="0"/>
              <a:t>(e.g., if </a:t>
            </a:r>
            <a:r>
              <a:rPr lang="en-US" dirty="0"/>
              <a:t>termination occurred six months before a change of </a:t>
            </a:r>
            <a:r>
              <a:rPr lang="en-US" dirty="0" smtClean="0"/>
              <a:t>control) </a:t>
            </a:r>
          </a:p>
          <a:p>
            <a:pPr lvl="1"/>
            <a:r>
              <a:rPr lang="en-US" dirty="0" smtClean="0"/>
              <a:t>Review of agreements that have expired in the past 12-24 months to confirm no </a:t>
            </a:r>
            <a:r>
              <a:rPr lang="en-US" b="1" dirty="0" smtClean="0"/>
              <a:t>lingering obligations or liabilities</a:t>
            </a:r>
          </a:p>
        </p:txBody>
      </p:sp>
      <p:sp>
        <p:nvSpPr>
          <p:cNvPr id="4" name="Slide Number Placeholder 3"/>
          <p:cNvSpPr>
            <a:spLocks noGrp="1"/>
          </p:cNvSpPr>
          <p:nvPr>
            <p:ph type="sldNum" sz="quarter" idx="12"/>
          </p:nvPr>
        </p:nvSpPr>
        <p:spPr/>
        <p:txBody>
          <a:bodyPr/>
          <a:lstStyle/>
          <a:p>
            <a:fld id="{F36C87F6-986D-49E6-AF40-1B3A1EE8064D}" type="slidenum">
              <a:rPr lang="en-US" smtClean="0"/>
              <a:t>13</a:t>
            </a:fld>
            <a:endParaRPr lang="en-US"/>
          </a:p>
        </p:txBody>
      </p:sp>
    </p:spTree>
    <p:extLst>
      <p:ext uri="{BB962C8B-B14F-4D97-AF65-F5344CB8AC3E}">
        <p14:creationId xmlns:p14="http://schemas.microsoft.com/office/powerpoint/2010/main" val="282978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Officers and </a:t>
            </a:r>
            <a:r>
              <a:rPr lang="en-US" b="1" i="1" dirty="0" smtClean="0"/>
              <a:t>Directors (continued)</a:t>
            </a:r>
            <a:endParaRPr lang="en-US" b="1" i="1" dirty="0"/>
          </a:p>
        </p:txBody>
      </p:sp>
      <p:sp>
        <p:nvSpPr>
          <p:cNvPr id="3" name="Content Placeholder 2"/>
          <p:cNvSpPr>
            <a:spLocks noGrp="1"/>
          </p:cNvSpPr>
          <p:nvPr>
            <p:ph idx="1"/>
          </p:nvPr>
        </p:nvSpPr>
        <p:spPr/>
        <p:txBody>
          <a:bodyPr>
            <a:normAutofit/>
          </a:bodyPr>
          <a:lstStyle/>
          <a:p>
            <a:r>
              <a:rPr lang="en-US" b="1" i="1" dirty="0" smtClean="0"/>
              <a:t>Employment </a:t>
            </a:r>
            <a:r>
              <a:rPr lang="en-US" b="1" i="1" dirty="0"/>
              <a:t>and consulting </a:t>
            </a:r>
            <a:r>
              <a:rPr lang="en-US" b="1" i="1" dirty="0" smtClean="0"/>
              <a:t>agreements (continued)</a:t>
            </a:r>
          </a:p>
          <a:p>
            <a:pPr lvl="1"/>
            <a:r>
              <a:rPr lang="en-US" dirty="0" smtClean="0"/>
              <a:t>Determination of whether agreements are:</a:t>
            </a:r>
          </a:p>
          <a:p>
            <a:pPr lvl="2"/>
            <a:r>
              <a:rPr lang="en-US" dirty="0" smtClean="0"/>
              <a:t>(</a:t>
            </a:r>
            <a:r>
              <a:rPr lang="en-US" dirty="0"/>
              <a:t>1) </a:t>
            </a:r>
            <a:r>
              <a:rPr lang="en-US" b="1" dirty="0"/>
              <a:t>required to be assumed </a:t>
            </a:r>
            <a:r>
              <a:rPr lang="en-US" dirty="0"/>
              <a:t>by an Acquirer; or </a:t>
            </a:r>
            <a:endParaRPr lang="en-US" dirty="0" smtClean="0"/>
          </a:p>
          <a:p>
            <a:pPr lvl="2"/>
            <a:r>
              <a:rPr lang="en-US" dirty="0" smtClean="0"/>
              <a:t>(</a:t>
            </a:r>
            <a:r>
              <a:rPr lang="en-US" dirty="0"/>
              <a:t>2) if an acquisition is </a:t>
            </a:r>
            <a:r>
              <a:rPr lang="en-US" b="1" dirty="0"/>
              <a:t>required to be approved </a:t>
            </a:r>
            <a:r>
              <a:rPr lang="en-US" dirty="0"/>
              <a:t>by the counterparty to the agreements (employee/consultant) in order for the agreement to continue to be </a:t>
            </a:r>
            <a:r>
              <a:rPr lang="en-US" dirty="0" smtClean="0"/>
              <a:t>binding</a:t>
            </a:r>
          </a:p>
          <a:p>
            <a:pPr lvl="1"/>
            <a:r>
              <a:rPr lang="en-US" dirty="0" smtClean="0"/>
              <a:t>If </a:t>
            </a:r>
            <a:r>
              <a:rPr lang="en-US" dirty="0"/>
              <a:t>the Target is </a:t>
            </a:r>
            <a:r>
              <a:rPr lang="en-US" dirty="0" smtClean="0"/>
              <a:t>an LLC or partnership – review of governing documents to determine:</a:t>
            </a:r>
          </a:p>
          <a:p>
            <a:pPr lvl="2"/>
            <a:r>
              <a:rPr lang="en-US" dirty="0" smtClean="0"/>
              <a:t>what </a:t>
            </a:r>
            <a:r>
              <a:rPr lang="en-US" dirty="0"/>
              <a:t>is needed to remove </a:t>
            </a:r>
            <a:r>
              <a:rPr lang="en-US" dirty="0" smtClean="0"/>
              <a:t>management</a:t>
            </a:r>
          </a:p>
          <a:p>
            <a:pPr lvl="2"/>
            <a:r>
              <a:rPr lang="en-US" dirty="0" smtClean="0"/>
              <a:t>whether </a:t>
            </a:r>
            <a:r>
              <a:rPr lang="en-US" dirty="0"/>
              <a:t>any compensation provisions are triggered with a change of </a:t>
            </a:r>
            <a:r>
              <a:rPr lang="en-US" dirty="0" smtClean="0"/>
              <a:t>control</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14</a:t>
            </a:fld>
            <a:endParaRPr lang="en-US"/>
          </a:p>
        </p:txBody>
      </p:sp>
    </p:spTree>
    <p:extLst>
      <p:ext uri="{BB962C8B-B14F-4D97-AF65-F5344CB8AC3E}">
        <p14:creationId xmlns:p14="http://schemas.microsoft.com/office/powerpoint/2010/main" val="2742571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Officers and </a:t>
            </a:r>
            <a:r>
              <a:rPr lang="en-US" b="1" i="1" dirty="0" smtClean="0"/>
              <a:t>Directors (continued)</a:t>
            </a:r>
            <a:endParaRPr lang="en-US" b="1" i="1" dirty="0"/>
          </a:p>
        </p:txBody>
      </p:sp>
      <p:sp>
        <p:nvSpPr>
          <p:cNvPr id="3" name="Content Placeholder 2"/>
          <p:cNvSpPr>
            <a:spLocks noGrp="1"/>
          </p:cNvSpPr>
          <p:nvPr>
            <p:ph idx="1"/>
          </p:nvPr>
        </p:nvSpPr>
        <p:spPr/>
        <p:txBody>
          <a:bodyPr>
            <a:normAutofit/>
          </a:bodyPr>
          <a:lstStyle/>
          <a:p>
            <a:r>
              <a:rPr lang="en-US" b="1" i="1" dirty="0" smtClean="0"/>
              <a:t>Employment </a:t>
            </a:r>
            <a:r>
              <a:rPr lang="en-US" b="1" i="1" dirty="0"/>
              <a:t>and consulting </a:t>
            </a:r>
            <a:r>
              <a:rPr lang="en-US" b="1" i="1" dirty="0" smtClean="0"/>
              <a:t>agreements (continued)</a:t>
            </a:r>
          </a:p>
          <a:p>
            <a:pPr lvl="1"/>
            <a:r>
              <a:rPr lang="en-US" dirty="0" smtClean="0"/>
              <a:t>Determination of officers </a:t>
            </a:r>
            <a:r>
              <a:rPr lang="en-US" dirty="0"/>
              <a:t>or directors </a:t>
            </a:r>
            <a:r>
              <a:rPr lang="en-US" dirty="0" smtClean="0"/>
              <a:t>who will </a:t>
            </a:r>
            <a:r>
              <a:rPr lang="en-US" dirty="0"/>
              <a:t>be asked (or required) to </a:t>
            </a:r>
            <a:r>
              <a:rPr lang="en-US" b="1" dirty="0"/>
              <a:t>stay on after the </a:t>
            </a:r>
            <a:r>
              <a:rPr lang="en-US" b="1" dirty="0" smtClean="0"/>
              <a:t>closing</a:t>
            </a:r>
          </a:p>
          <a:p>
            <a:pPr lvl="2"/>
            <a:r>
              <a:rPr lang="en-US" dirty="0" smtClean="0"/>
              <a:t>Request officer </a:t>
            </a:r>
            <a:r>
              <a:rPr lang="en-US" dirty="0"/>
              <a:t>and director questionnaires </a:t>
            </a:r>
            <a:r>
              <a:rPr lang="en-US" dirty="0" smtClean="0"/>
              <a:t>to avoid issues</a:t>
            </a:r>
          </a:p>
          <a:p>
            <a:pPr lvl="3"/>
            <a:r>
              <a:rPr lang="en-US" dirty="0" smtClean="0"/>
              <a:t>prior </a:t>
            </a:r>
            <a:r>
              <a:rPr lang="en-US" dirty="0"/>
              <a:t>litigation </a:t>
            </a:r>
            <a:r>
              <a:rPr lang="en-US" dirty="0" smtClean="0"/>
              <a:t>history</a:t>
            </a:r>
          </a:p>
          <a:p>
            <a:pPr lvl="3"/>
            <a:r>
              <a:rPr lang="en-US" dirty="0" smtClean="0"/>
              <a:t>regulatory issues</a:t>
            </a:r>
          </a:p>
          <a:p>
            <a:pPr lvl="3"/>
            <a:r>
              <a:rPr lang="en-US" dirty="0" smtClean="0"/>
              <a:t>related </a:t>
            </a:r>
            <a:r>
              <a:rPr lang="en-US" dirty="0"/>
              <a:t>party transactions with the </a:t>
            </a:r>
            <a:r>
              <a:rPr lang="en-US" dirty="0" smtClean="0"/>
              <a:t>Target</a:t>
            </a:r>
          </a:p>
          <a:p>
            <a:pPr lvl="3"/>
            <a:r>
              <a:rPr lang="en-US" dirty="0" smtClean="0"/>
              <a:t>health</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15</a:t>
            </a:fld>
            <a:endParaRPr lang="en-US"/>
          </a:p>
        </p:txBody>
      </p:sp>
    </p:spTree>
    <p:extLst>
      <p:ext uri="{BB962C8B-B14F-4D97-AF65-F5344CB8AC3E}">
        <p14:creationId xmlns:p14="http://schemas.microsoft.com/office/powerpoint/2010/main" val="3804746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Minutes of the Board of Directors and Stockholders	</a:t>
            </a:r>
          </a:p>
        </p:txBody>
      </p:sp>
      <p:sp>
        <p:nvSpPr>
          <p:cNvPr id="3" name="Content Placeholder 2"/>
          <p:cNvSpPr>
            <a:spLocks noGrp="1"/>
          </p:cNvSpPr>
          <p:nvPr>
            <p:ph idx="1"/>
          </p:nvPr>
        </p:nvSpPr>
        <p:spPr/>
        <p:txBody>
          <a:bodyPr>
            <a:normAutofit/>
          </a:bodyPr>
          <a:lstStyle/>
          <a:p>
            <a:r>
              <a:rPr lang="en-US" dirty="0" smtClean="0"/>
              <a:t>Minutes should </a:t>
            </a:r>
            <a:r>
              <a:rPr lang="en-US" dirty="0"/>
              <a:t>be </a:t>
            </a:r>
            <a:r>
              <a:rPr lang="en-US" dirty="0" smtClean="0"/>
              <a:t>reviewed</a:t>
            </a:r>
          </a:p>
          <a:p>
            <a:pPr lvl="1"/>
            <a:r>
              <a:rPr lang="en-US" dirty="0" smtClean="0"/>
              <a:t>May be items </a:t>
            </a:r>
            <a:r>
              <a:rPr lang="en-US" dirty="0"/>
              <a:t>disclosed in the minutes relating to </a:t>
            </a:r>
            <a:r>
              <a:rPr lang="en-US" b="1" dirty="0" smtClean="0"/>
              <a:t>results </a:t>
            </a:r>
            <a:r>
              <a:rPr lang="en-US" b="1" dirty="0"/>
              <a:t>of operations </a:t>
            </a:r>
            <a:r>
              <a:rPr lang="en-US" dirty="0"/>
              <a:t>and </a:t>
            </a:r>
            <a:r>
              <a:rPr lang="en-US" b="1" dirty="0"/>
              <a:t>future projections</a:t>
            </a:r>
            <a:r>
              <a:rPr lang="en-US" dirty="0"/>
              <a:t>, trends, etc., which are helpful in valuing the </a:t>
            </a:r>
            <a:r>
              <a:rPr lang="en-US" dirty="0" smtClean="0"/>
              <a:t>Target</a:t>
            </a:r>
          </a:p>
          <a:p>
            <a:pPr lvl="1"/>
            <a:r>
              <a:rPr lang="en-US" dirty="0" smtClean="0"/>
              <a:t>Can provide a </a:t>
            </a:r>
            <a:r>
              <a:rPr lang="en-US" dirty="0"/>
              <a:t>feel for any </a:t>
            </a:r>
            <a:r>
              <a:rPr lang="en-US" b="1" dirty="0"/>
              <a:t>directors (managers) who may be a problem </a:t>
            </a:r>
            <a:r>
              <a:rPr lang="en-US" dirty="0"/>
              <a:t>moving forward or who have their own </a:t>
            </a:r>
            <a:r>
              <a:rPr lang="en-US" dirty="0" smtClean="0"/>
              <a:t>agendas</a:t>
            </a:r>
          </a:p>
          <a:p>
            <a:pPr lvl="1"/>
            <a:endParaRPr lang="en-US" dirty="0"/>
          </a:p>
          <a:p>
            <a:r>
              <a:rPr lang="en-US" dirty="0" smtClean="0"/>
              <a:t>If </a:t>
            </a:r>
            <a:r>
              <a:rPr lang="en-US" dirty="0"/>
              <a:t>no minutes exist or </a:t>
            </a:r>
            <a:r>
              <a:rPr lang="en-US" dirty="0" smtClean="0"/>
              <a:t>minutes </a:t>
            </a:r>
            <a:r>
              <a:rPr lang="en-US" dirty="0"/>
              <a:t>are sparse it may mean that prior actions and transactions have not been properly approved </a:t>
            </a:r>
            <a:endParaRPr lang="en-US" dirty="0" smtClean="0"/>
          </a:p>
          <a:p>
            <a:pPr lvl="1"/>
            <a:r>
              <a:rPr lang="en-US" dirty="0" smtClean="0"/>
              <a:t>This </a:t>
            </a:r>
            <a:r>
              <a:rPr lang="en-US" b="1" dirty="0" smtClean="0"/>
              <a:t>may require </a:t>
            </a:r>
            <a:r>
              <a:rPr lang="en-US" b="1" dirty="0"/>
              <a:t>remediation </a:t>
            </a:r>
            <a:r>
              <a:rPr lang="en-US" dirty="0"/>
              <a:t>actions prior to, or after, </a:t>
            </a:r>
            <a:r>
              <a:rPr lang="en-US" dirty="0" smtClean="0"/>
              <a:t>closing</a:t>
            </a:r>
          </a:p>
        </p:txBody>
      </p:sp>
      <p:sp>
        <p:nvSpPr>
          <p:cNvPr id="4" name="Slide Number Placeholder 3"/>
          <p:cNvSpPr>
            <a:spLocks noGrp="1"/>
          </p:cNvSpPr>
          <p:nvPr>
            <p:ph type="sldNum" sz="quarter" idx="12"/>
          </p:nvPr>
        </p:nvSpPr>
        <p:spPr/>
        <p:txBody>
          <a:bodyPr/>
          <a:lstStyle/>
          <a:p>
            <a:fld id="{F36C87F6-986D-49E6-AF40-1B3A1EE8064D}" type="slidenum">
              <a:rPr lang="en-US" smtClean="0"/>
              <a:t>16</a:t>
            </a:fld>
            <a:endParaRPr lang="en-US"/>
          </a:p>
        </p:txBody>
      </p:sp>
    </p:spTree>
    <p:extLst>
      <p:ext uri="{BB962C8B-B14F-4D97-AF65-F5344CB8AC3E}">
        <p14:creationId xmlns:p14="http://schemas.microsoft.com/office/powerpoint/2010/main" val="63998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Correspondence</a:t>
            </a:r>
          </a:p>
        </p:txBody>
      </p:sp>
      <p:sp>
        <p:nvSpPr>
          <p:cNvPr id="3" name="Content Placeholder 2"/>
          <p:cNvSpPr>
            <a:spLocks noGrp="1"/>
          </p:cNvSpPr>
          <p:nvPr>
            <p:ph idx="1"/>
          </p:nvPr>
        </p:nvSpPr>
        <p:spPr/>
        <p:txBody>
          <a:bodyPr>
            <a:normAutofit lnSpcReduction="10000"/>
          </a:bodyPr>
          <a:lstStyle/>
          <a:p>
            <a:r>
              <a:rPr lang="en-US" dirty="0" smtClean="0"/>
              <a:t>Review should be made of </a:t>
            </a:r>
            <a:r>
              <a:rPr lang="en-US" b="1" dirty="0" smtClean="0"/>
              <a:t>all </a:t>
            </a:r>
            <a:r>
              <a:rPr lang="en-US" b="1" dirty="0"/>
              <a:t>correspondence </a:t>
            </a:r>
            <a:r>
              <a:rPr lang="en-US" dirty="0"/>
              <a:t>received, or sent by, the Target </a:t>
            </a:r>
            <a:r>
              <a:rPr lang="en-US" dirty="0" smtClean="0"/>
              <a:t>to:</a:t>
            </a:r>
          </a:p>
          <a:p>
            <a:pPr lvl="1"/>
            <a:r>
              <a:rPr lang="en-US" dirty="0" smtClean="0"/>
              <a:t>Government </a:t>
            </a:r>
            <a:r>
              <a:rPr lang="en-US" dirty="0"/>
              <a:t>agencies </a:t>
            </a:r>
            <a:endParaRPr lang="en-US" dirty="0" smtClean="0"/>
          </a:p>
          <a:p>
            <a:pPr lvl="1"/>
            <a:r>
              <a:rPr lang="en-US" dirty="0" smtClean="0"/>
              <a:t>Self-regulatory agencies</a:t>
            </a:r>
          </a:p>
          <a:p>
            <a:pPr lvl="2"/>
            <a:r>
              <a:rPr lang="en-US" dirty="0" smtClean="0"/>
              <a:t>Comment </a:t>
            </a:r>
            <a:r>
              <a:rPr lang="en-US" dirty="0"/>
              <a:t>letters from the Securities and Exchange Commission (SEC) if the Target is a public company </a:t>
            </a:r>
            <a:endParaRPr lang="en-US" dirty="0" smtClean="0"/>
          </a:p>
          <a:p>
            <a:pPr lvl="2"/>
            <a:r>
              <a:rPr lang="en-US" dirty="0" smtClean="0"/>
              <a:t>Warnings </a:t>
            </a:r>
            <a:r>
              <a:rPr lang="en-US" dirty="0"/>
              <a:t>received from any exchange </a:t>
            </a:r>
            <a:endParaRPr lang="en-US" dirty="0" smtClean="0"/>
          </a:p>
          <a:p>
            <a:pPr lvl="2"/>
            <a:r>
              <a:rPr lang="en-US" dirty="0" smtClean="0"/>
              <a:t>Notices </a:t>
            </a:r>
            <a:r>
              <a:rPr lang="en-US" dirty="0"/>
              <a:t>or correspondence received from regulators regarding any non-compliance with federal or state rules and </a:t>
            </a:r>
            <a:r>
              <a:rPr lang="en-US" dirty="0" smtClean="0"/>
              <a:t>regulations</a:t>
            </a:r>
          </a:p>
          <a:p>
            <a:pPr lvl="2"/>
            <a:r>
              <a:rPr lang="en-US" dirty="0" smtClean="0"/>
              <a:t>Copies </a:t>
            </a:r>
            <a:r>
              <a:rPr lang="en-US" dirty="0"/>
              <a:t>of </a:t>
            </a:r>
            <a:r>
              <a:rPr lang="en-US" dirty="0" smtClean="0"/>
              <a:t>press </a:t>
            </a:r>
            <a:r>
              <a:rPr lang="en-US" dirty="0"/>
              <a:t>releases and stockholder/member communications </a:t>
            </a:r>
            <a:r>
              <a:rPr lang="en-US" dirty="0" smtClean="0"/>
              <a:t>to </a:t>
            </a:r>
            <a:r>
              <a:rPr lang="en-US" dirty="0"/>
              <a:t>determine whether anything was disclosed which could result in liability for the </a:t>
            </a:r>
            <a:r>
              <a:rPr lang="en-US" dirty="0" smtClean="0"/>
              <a:t>Target</a:t>
            </a:r>
            <a:endParaRPr lang="en-US" dirty="0"/>
          </a:p>
          <a:p>
            <a:r>
              <a:rPr lang="en-US" dirty="0" smtClean="0"/>
              <a:t>Confirm any </a:t>
            </a:r>
            <a:r>
              <a:rPr lang="en-US" b="1" dirty="0" smtClean="0"/>
              <a:t>prior </a:t>
            </a:r>
            <a:r>
              <a:rPr lang="en-US" b="1" dirty="0"/>
              <a:t>issues have been adequately addressed </a:t>
            </a:r>
            <a:r>
              <a:rPr lang="en-US" dirty="0"/>
              <a:t>and </a:t>
            </a:r>
            <a:r>
              <a:rPr lang="en-US" dirty="0" smtClean="0"/>
              <a:t>remedied</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17</a:t>
            </a:fld>
            <a:endParaRPr lang="en-US"/>
          </a:p>
        </p:txBody>
      </p:sp>
    </p:spTree>
    <p:extLst>
      <p:ext uri="{BB962C8B-B14F-4D97-AF65-F5344CB8AC3E}">
        <p14:creationId xmlns:p14="http://schemas.microsoft.com/office/powerpoint/2010/main" val="1620291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Capitalization and Securities Issues</a:t>
            </a:r>
          </a:p>
        </p:txBody>
      </p:sp>
      <p:sp>
        <p:nvSpPr>
          <p:cNvPr id="3" name="Content Placeholder 2"/>
          <p:cNvSpPr>
            <a:spLocks noGrp="1"/>
          </p:cNvSpPr>
          <p:nvPr>
            <p:ph idx="1"/>
          </p:nvPr>
        </p:nvSpPr>
        <p:spPr/>
        <p:txBody>
          <a:bodyPr>
            <a:normAutofit fontScale="92500" lnSpcReduction="10000"/>
          </a:bodyPr>
          <a:lstStyle/>
          <a:p>
            <a:r>
              <a:rPr lang="en-US" b="1" i="1" dirty="0" smtClean="0"/>
              <a:t>Prior Offerings/Issuances</a:t>
            </a:r>
          </a:p>
          <a:p>
            <a:pPr lvl="1"/>
            <a:r>
              <a:rPr lang="en-US" dirty="0" smtClean="0"/>
              <a:t>Five </a:t>
            </a:r>
            <a:r>
              <a:rPr lang="en-US" dirty="0"/>
              <a:t>years or more </a:t>
            </a:r>
            <a:r>
              <a:rPr lang="en-US" dirty="0" smtClean="0"/>
              <a:t>of</a:t>
            </a:r>
          </a:p>
          <a:p>
            <a:pPr lvl="2"/>
            <a:r>
              <a:rPr lang="en-US" dirty="0" smtClean="0"/>
              <a:t>All </a:t>
            </a:r>
            <a:r>
              <a:rPr lang="en-US" dirty="0"/>
              <a:t>issuances of securities of the </a:t>
            </a:r>
            <a:r>
              <a:rPr lang="en-US" dirty="0" smtClean="0"/>
              <a:t>Target:</a:t>
            </a:r>
          </a:p>
          <a:p>
            <a:pPr lvl="3"/>
            <a:r>
              <a:rPr lang="en-US" dirty="0" smtClean="0"/>
              <a:t>common </a:t>
            </a:r>
            <a:r>
              <a:rPr lang="en-US" dirty="0"/>
              <a:t>stock, preferred stock, options, warrants, convertible securities and other stock and similar rights. </a:t>
            </a:r>
            <a:endParaRPr lang="en-US" dirty="0" smtClean="0"/>
          </a:p>
          <a:p>
            <a:pPr lvl="3"/>
            <a:r>
              <a:rPr lang="en-US" dirty="0" smtClean="0"/>
              <a:t>These </a:t>
            </a:r>
            <a:r>
              <a:rPr lang="en-US" dirty="0"/>
              <a:t>documents should include offering documents and subscription agreements with </a:t>
            </a:r>
            <a:r>
              <a:rPr lang="en-US" dirty="0" smtClean="0"/>
              <a:t>investors</a:t>
            </a:r>
            <a:endParaRPr lang="en-US" dirty="0"/>
          </a:p>
          <a:p>
            <a:pPr lvl="1"/>
            <a:r>
              <a:rPr lang="en-US" dirty="0" smtClean="0"/>
              <a:t>Confirm that </a:t>
            </a:r>
            <a:r>
              <a:rPr lang="en-US" dirty="0"/>
              <a:t>all securities of the Target are </a:t>
            </a:r>
            <a:r>
              <a:rPr lang="en-US" b="1" dirty="0"/>
              <a:t>fully-paid and non-assessable </a:t>
            </a:r>
            <a:r>
              <a:rPr lang="en-US" dirty="0"/>
              <a:t>and that a </a:t>
            </a:r>
            <a:r>
              <a:rPr lang="en-US" b="1" dirty="0"/>
              <a:t>valid exemption </a:t>
            </a:r>
            <a:r>
              <a:rPr lang="en-US" dirty="0"/>
              <a:t>from registration was available for the issuance – </a:t>
            </a:r>
            <a:r>
              <a:rPr lang="en-US" dirty="0" smtClean="0"/>
              <a:t>typically:</a:t>
            </a:r>
          </a:p>
          <a:p>
            <a:pPr lvl="2"/>
            <a:r>
              <a:rPr lang="en-US" b="1" dirty="0" smtClean="0"/>
              <a:t>Rule </a:t>
            </a:r>
            <a:r>
              <a:rPr lang="en-US" b="1" dirty="0"/>
              <a:t>506 </a:t>
            </a:r>
            <a:r>
              <a:rPr lang="en-US" dirty="0"/>
              <a:t>of the Securities Act </a:t>
            </a:r>
            <a:r>
              <a:rPr lang="en-US" dirty="0" smtClean="0"/>
              <a:t>if </a:t>
            </a:r>
            <a:r>
              <a:rPr lang="en-US" dirty="0"/>
              <a:t>securities were sold – which requires the investors confirm their status as ‘accredited investors’ or </a:t>
            </a:r>
            <a:endParaRPr lang="en-US" dirty="0" smtClean="0"/>
          </a:p>
          <a:p>
            <a:pPr lvl="2"/>
            <a:r>
              <a:rPr lang="en-US" b="1" dirty="0" smtClean="0"/>
              <a:t>Rule </a:t>
            </a:r>
            <a:r>
              <a:rPr lang="en-US" b="1" dirty="0"/>
              <a:t>701 </a:t>
            </a:r>
            <a:r>
              <a:rPr lang="en-US" dirty="0"/>
              <a:t>of the Securities Act for employees (currently allows the issuance to employees, directors and certain consultants if the total value of securities issued does not exceed the greater of $1 million, 15% of the issuer's total assets, or 15% of all the outstanding securities of that class, during each 12 month period</a:t>
            </a:r>
            <a:r>
              <a:rPr lang="en-US" dirty="0" smtClean="0"/>
              <a:t>) </a:t>
            </a:r>
            <a:r>
              <a:rPr lang="en-US" dirty="0"/>
              <a:t> </a:t>
            </a:r>
          </a:p>
          <a:p>
            <a:endParaRPr lang="en-US" dirty="0" smtClean="0"/>
          </a:p>
        </p:txBody>
      </p:sp>
      <p:sp>
        <p:nvSpPr>
          <p:cNvPr id="4" name="Slide Number Placeholder 3"/>
          <p:cNvSpPr>
            <a:spLocks noGrp="1"/>
          </p:cNvSpPr>
          <p:nvPr>
            <p:ph type="sldNum" sz="quarter" idx="12"/>
          </p:nvPr>
        </p:nvSpPr>
        <p:spPr/>
        <p:txBody>
          <a:bodyPr/>
          <a:lstStyle/>
          <a:p>
            <a:fld id="{F36C87F6-986D-49E6-AF40-1B3A1EE8064D}" type="slidenum">
              <a:rPr lang="en-US" smtClean="0"/>
              <a:t>18</a:t>
            </a:fld>
            <a:endParaRPr lang="en-US"/>
          </a:p>
        </p:txBody>
      </p:sp>
    </p:spTree>
    <p:extLst>
      <p:ext uri="{BB962C8B-B14F-4D97-AF65-F5344CB8AC3E}">
        <p14:creationId xmlns:p14="http://schemas.microsoft.com/office/powerpoint/2010/main" val="2264942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Capitalization and Securities </a:t>
            </a:r>
            <a:r>
              <a:rPr lang="en-US" b="1" i="1" dirty="0" smtClean="0"/>
              <a:t>Issues (continued)</a:t>
            </a:r>
            <a:endParaRPr lang="en-US" b="1" i="1" dirty="0"/>
          </a:p>
        </p:txBody>
      </p:sp>
      <p:sp>
        <p:nvSpPr>
          <p:cNvPr id="3" name="Content Placeholder 2"/>
          <p:cNvSpPr>
            <a:spLocks noGrp="1"/>
          </p:cNvSpPr>
          <p:nvPr>
            <p:ph idx="1"/>
          </p:nvPr>
        </p:nvSpPr>
        <p:spPr/>
        <p:txBody>
          <a:bodyPr>
            <a:normAutofit/>
          </a:bodyPr>
          <a:lstStyle/>
          <a:p>
            <a:r>
              <a:rPr lang="en-US" b="1" i="1" dirty="0" smtClean="0"/>
              <a:t>Prior Offerings/Issuances (continued)</a:t>
            </a:r>
          </a:p>
          <a:p>
            <a:endParaRPr lang="en-US" b="1" i="1" dirty="0" smtClean="0"/>
          </a:p>
          <a:p>
            <a:pPr lvl="1"/>
            <a:r>
              <a:rPr lang="en-US" dirty="0" smtClean="0"/>
              <a:t>Confirmation that </a:t>
            </a:r>
            <a:r>
              <a:rPr lang="en-US" dirty="0"/>
              <a:t>Form D’s have been filed with the Securities and Exchange Commission and under state law </a:t>
            </a:r>
            <a:endParaRPr lang="en-US" dirty="0" smtClean="0"/>
          </a:p>
          <a:p>
            <a:pPr lvl="1"/>
            <a:endParaRPr lang="en-US" dirty="0" smtClean="0"/>
          </a:p>
          <a:p>
            <a:pPr lvl="1"/>
            <a:r>
              <a:rPr lang="en-US" b="1" dirty="0" smtClean="0"/>
              <a:t>Rescission rights </a:t>
            </a:r>
            <a:r>
              <a:rPr lang="en-US" dirty="0" smtClean="0"/>
              <a:t>and/or </a:t>
            </a:r>
            <a:r>
              <a:rPr lang="en-US" b="1" dirty="0" smtClean="0"/>
              <a:t>significant </a:t>
            </a:r>
            <a:r>
              <a:rPr lang="en-US" b="1" dirty="0"/>
              <a:t>liability</a:t>
            </a:r>
            <a:r>
              <a:rPr lang="en-US" dirty="0"/>
              <a:t> under federal and state law for the Target </a:t>
            </a:r>
            <a:r>
              <a:rPr lang="en-US" dirty="0" smtClean="0"/>
              <a:t>if no exemption from registration</a:t>
            </a:r>
          </a:p>
          <a:p>
            <a:pPr lvl="1"/>
            <a:endParaRPr lang="en-US" dirty="0" smtClean="0"/>
          </a:p>
          <a:p>
            <a:pPr lvl="1"/>
            <a:r>
              <a:rPr lang="en-US" b="1" dirty="0" smtClean="0"/>
              <a:t>Remedies </a:t>
            </a:r>
            <a:r>
              <a:rPr lang="en-US" dirty="0" smtClean="0"/>
              <a:t>may require a </a:t>
            </a:r>
            <a:r>
              <a:rPr lang="en-US" dirty="0"/>
              <a:t>private company to file a public rescission offering with the SEC which can costs hundreds of thousands of dollars to prepare and push through SEC </a:t>
            </a:r>
            <a:r>
              <a:rPr lang="en-US" dirty="0" smtClean="0"/>
              <a:t>review</a:t>
            </a:r>
            <a:endParaRPr lang="en-US" dirty="0"/>
          </a:p>
          <a:p>
            <a:endParaRPr lang="en-US" dirty="0" smtClean="0"/>
          </a:p>
        </p:txBody>
      </p:sp>
      <p:sp>
        <p:nvSpPr>
          <p:cNvPr id="4" name="Slide Number Placeholder 3"/>
          <p:cNvSpPr>
            <a:spLocks noGrp="1"/>
          </p:cNvSpPr>
          <p:nvPr>
            <p:ph type="sldNum" sz="quarter" idx="12"/>
          </p:nvPr>
        </p:nvSpPr>
        <p:spPr/>
        <p:txBody>
          <a:bodyPr/>
          <a:lstStyle/>
          <a:p>
            <a:fld id="{F36C87F6-986D-49E6-AF40-1B3A1EE8064D}" type="slidenum">
              <a:rPr lang="en-US" smtClean="0"/>
              <a:t>19</a:t>
            </a:fld>
            <a:endParaRPr lang="en-US"/>
          </a:p>
        </p:txBody>
      </p:sp>
    </p:spTree>
    <p:extLst>
      <p:ext uri="{BB962C8B-B14F-4D97-AF65-F5344CB8AC3E}">
        <p14:creationId xmlns:p14="http://schemas.microsoft.com/office/powerpoint/2010/main" val="80393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Capitalization and Securities </a:t>
            </a:r>
            <a:r>
              <a:rPr lang="en-US" b="1" i="1" dirty="0" smtClean="0"/>
              <a:t>Issues (continued)</a:t>
            </a:r>
            <a:endParaRPr lang="en-US" b="1" i="1" dirty="0"/>
          </a:p>
        </p:txBody>
      </p:sp>
      <p:sp>
        <p:nvSpPr>
          <p:cNvPr id="3" name="Content Placeholder 2"/>
          <p:cNvSpPr>
            <a:spLocks noGrp="1"/>
          </p:cNvSpPr>
          <p:nvPr>
            <p:ph idx="1"/>
          </p:nvPr>
        </p:nvSpPr>
        <p:spPr/>
        <p:txBody>
          <a:bodyPr>
            <a:normAutofit/>
          </a:bodyPr>
          <a:lstStyle/>
          <a:p>
            <a:r>
              <a:rPr lang="en-US" b="1" i="1" dirty="0" smtClean="0"/>
              <a:t>Outstanding Convertible Securities</a:t>
            </a:r>
          </a:p>
          <a:p>
            <a:pPr lvl="1"/>
            <a:r>
              <a:rPr lang="en-US" dirty="0" smtClean="0"/>
              <a:t>Review a </a:t>
            </a:r>
            <a:r>
              <a:rPr lang="en-US" dirty="0"/>
              <a:t>listing (and copies of all relevant documents) relating to </a:t>
            </a:r>
            <a:r>
              <a:rPr lang="en-US" dirty="0" smtClean="0"/>
              <a:t>outstanding </a:t>
            </a:r>
            <a:r>
              <a:rPr lang="en-US" dirty="0"/>
              <a:t>options, warrants and convertible </a:t>
            </a:r>
            <a:r>
              <a:rPr lang="en-US" dirty="0" smtClean="0"/>
              <a:t>securities</a:t>
            </a:r>
          </a:p>
          <a:p>
            <a:pPr lvl="1"/>
            <a:endParaRPr lang="en-US" dirty="0" smtClean="0"/>
          </a:p>
          <a:p>
            <a:pPr lvl="1"/>
            <a:r>
              <a:rPr lang="en-US" dirty="0" smtClean="0"/>
              <a:t>Outstanding </a:t>
            </a:r>
            <a:r>
              <a:rPr lang="en-US" dirty="0"/>
              <a:t>options, warrants and other </a:t>
            </a:r>
            <a:r>
              <a:rPr lang="en-US" b="1" dirty="0"/>
              <a:t>convertible securities</a:t>
            </a:r>
            <a:r>
              <a:rPr lang="en-US" dirty="0"/>
              <a:t>, </a:t>
            </a:r>
            <a:r>
              <a:rPr lang="en-US" dirty="0" smtClean="0"/>
              <a:t>phantom </a:t>
            </a:r>
            <a:r>
              <a:rPr lang="en-US" dirty="0"/>
              <a:t>stock awards and similar rights, may include provisions which are triggered by a change of control, asset sale or </a:t>
            </a:r>
            <a:r>
              <a:rPr lang="en-US" dirty="0" smtClean="0"/>
              <a:t>combination</a:t>
            </a:r>
          </a:p>
          <a:p>
            <a:pPr lvl="2"/>
            <a:r>
              <a:rPr lang="en-US" b="1" dirty="0" smtClean="0"/>
              <a:t>Consequences</a:t>
            </a:r>
            <a:r>
              <a:rPr lang="en-US" dirty="0" smtClean="0"/>
              <a:t> may include </a:t>
            </a:r>
            <a:r>
              <a:rPr lang="en-US" dirty="0"/>
              <a:t>put/call </a:t>
            </a:r>
            <a:r>
              <a:rPr lang="en-US" dirty="0" smtClean="0"/>
              <a:t>rights, anti-dilution rights, reductions in exercise/conversion price, redemption rights, repurchase rights, registration rights or create </a:t>
            </a:r>
            <a:r>
              <a:rPr lang="en-US" dirty="0"/>
              <a:t>rights for the holders of such securities to convert such securities into the securities of the </a:t>
            </a:r>
            <a:r>
              <a:rPr lang="en-US" dirty="0" smtClean="0"/>
              <a:t>Acquirer</a:t>
            </a:r>
          </a:p>
          <a:p>
            <a:pPr lvl="2"/>
            <a:r>
              <a:rPr lang="en-US" dirty="0" smtClean="0"/>
              <a:t>Provisions may be dormant and never enforced and could become problematic</a:t>
            </a:r>
          </a:p>
          <a:p>
            <a:endParaRPr lang="en-US" dirty="0" smtClean="0"/>
          </a:p>
        </p:txBody>
      </p:sp>
      <p:sp>
        <p:nvSpPr>
          <p:cNvPr id="4" name="Slide Number Placeholder 3"/>
          <p:cNvSpPr>
            <a:spLocks noGrp="1"/>
          </p:cNvSpPr>
          <p:nvPr>
            <p:ph type="sldNum" sz="quarter" idx="12"/>
          </p:nvPr>
        </p:nvSpPr>
        <p:spPr/>
        <p:txBody>
          <a:bodyPr/>
          <a:lstStyle/>
          <a:p>
            <a:fld id="{F36C87F6-986D-49E6-AF40-1B3A1EE8064D}" type="slidenum">
              <a:rPr lang="en-US" smtClean="0"/>
              <a:t>20</a:t>
            </a:fld>
            <a:endParaRPr lang="en-US"/>
          </a:p>
        </p:txBody>
      </p:sp>
    </p:spTree>
    <p:extLst>
      <p:ext uri="{BB962C8B-B14F-4D97-AF65-F5344CB8AC3E}">
        <p14:creationId xmlns:p14="http://schemas.microsoft.com/office/powerpoint/2010/main" val="1485823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Litigation</a:t>
            </a:r>
          </a:p>
        </p:txBody>
      </p:sp>
      <p:sp>
        <p:nvSpPr>
          <p:cNvPr id="3" name="Content Placeholder 2"/>
          <p:cNvSpPr>
            <a:spLocks noGrp="1"/>
          </p:cNvSpPr>
          <p:nvPr>
            <p:ph idx="1"/>
          </p:nvPr>
        </p:nvSpPr>
        <p:spPr/>
        <p:txBody>
          <a:bodyPr>
            <a:normAutofit/>
          </a:bodyPr>
          <a:lstStyle/>
          <a:p>
            <a:r>
              <a:rPr lang="en-US" dirty="0" smtClean="0"/>
              <a:t>All filings </a:t>
            </a:r>
            <a:r>
              <a:rPr lang="en-US" dirty="0"/>
              <a:t>related to, any </a:t>
            </a:r>
            <a:r>
              <a:rPr lang="en-US" b="1" dirty="0"/>
              <a:t>litigation proceedings </a:t>
            </a:r>
            <a:r>
              <a:rPr lang="en-US" dirty="0"/>
              <a:t>going back at least five years – including settled claims </a:t>
            </a:r>
            <a:endParaRPr lang="en-US" dirty="0" smtClean="0"/>
          </a:p>
          <a:p>
            <a:r>
              <a:rPr lang="en-US" dirty="0" smtClean="0"/>
              <a:t>The </a:t>
            </a:r>
            <a:r>
              <a:rPr lang="en-US" dirty="0"/>
              <a:t>Target should also include information on previously </a:t>
            </a:r>
            <a:r>
              <a:rPr lang="en-US" b="1" dirty="0"/>
              <a:t>threatened claims </a:t>
            </a:r>
            <a:r>
              <a:rPr lang="en-US" dirty="0"/>
              <a:t>(whether in writing or orally).</a:t>
            </a:r>
          </a:p>
          <a:p>
            <a:r>
              <a:rPr lang="en-US" dirty="0" smtClean="0"/>
              <a:t>The </a:t>
            </a:r>
            <a:r>
              <a:rPr lang="en-US" dirty="0"/>
              <a:t>Acquirer should </a:t>
            </a:r>
            <a:r>
              <a:rPr lang="en-US" dirty="0" smtClean="0"/>
              <a:t>also undertake </a:t>
            </a:r>
            <a:r>
              <a:rPr lang="en-US" dirty="0"/>
              <a:t>its </a:t>
            </a:r>
            <a:r>
              <a:rPr lang="en-US" b="1" dirty="0"/>
              <a:t>own </a:t>
            </a:r>
            <a:r>
              <a:rPr lang="en-US" b="1" dirty="0" smtClean="0"/>
              <a:t>searches </a:t>
            </a:r>
            <a:r>
              <a:rPr lang="en-US" dirty="0"/>
              <a:t>of court records in the state and county in which the Target is domiciled and its significant locations located and through online search </a:t>
            </a:r>
            <a:r>
              <a:rPr lang="en-US" dirty="0" smtClean="0"/>
              <a:t>sites</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21</a:t>
            </a:fld>
            <a:endParaRPr lang="en-US"/>
          </a:p>
        </p:txBody>
      </p:sp>
    </p:spTree>
    <p:extLst>
      <p:ext uri="{BB962C8B-B14F-4D97-AF65-F5344CB8AC3E}">
        <p14:creationId xmlns:p14="http://schemas.microsoft.com/office/powerpoint/2010/main" val="233778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Litigation (continued)</a:t>
            </a:r>
            <a:endParaRPr lang="en-US" b="1" i="1" dirty="0"/>
          </a:p>
        </p:txBody>
      </p:sp>
      <p:sp>
        <p:nvSpPr>
          <p:cNvPr id="3" name="Content Placeholder 2"/>
          <p:cNvSpPr>
            <a:spLocks noGrp="1"/>
          </p:cNvSpPr>
          <p:nvPr>
            <p:ph idx="1"/>
          </p:nvPr>
        </p:nvSpPr>
        <p:spPr/>
        <p:txBody>
          <a:bodyPr>
            <a:normAutofit/>
          </a:bodyPr>
          <a:lstStyle/>
          <a:p>
            <a:r>
              <a:rPr lang="en-US" b="1" dirty="0"/>
              <a:t>Material litigation or potential </a:t>
            </a:r>
            <a:r>
              <a:rPr lang="en-US" b="1" dirty="0" smtClean="0"/>
              <a:t>claims:</a:t>
            </a:r>
          </a:p>
          <a:p>
            <a:endParaRPr lang="en-US" b="1" dirty="0" smtClean="0"/>
          </a:p>
          <a:p>
            <a:pPr lvl="1"/>
            <a:r>
              <a:rPr lang="en-US" dirty="0" smtClean="0"/>
              <a:t>May </a:t>
            </a:r>
            <a:r>
              <a:rPr lang="en-US" dirty="0"/>
              <a:t>need to be included in the </a:t>
            </a:r>
            <a:r>
              <a:rPr lang="en-US" b="1" dirty="0"/>
              <a:t>indemnification obligations </a:t>
            </a:r>
            <a:r>
              <a:rPr lang="en-US" dirty="0"/>
              <a:t>in the definitive agreement(s) or </a:t>
            </a:r>
            <a:endParaRPr lang="en-US" dirty="0" smtClean="0"/>
          </a:p>
          <a:p>
            <a:pPr lvl="1"/>
            <a:endParaRPr lang="en-US" dirty="0"/>
          </a:p>
          <a:p>
            <a:pPr lvl="1"/>
            <a:r>
              <a:rPr lang="en-US" dirty="0" smtClean="0"/>
              <a:t>May </a:t>
            </a:r>
            <a:r>
              <a:rPr lang="en-US" dirty="0"/>
              <a:t>force a </a:t>
            </a:r>
            <a:r>
              <a:rPr lang="en-US" b="1" dirty="0"/>
              <a:t>change in proposed acquisition structure </a:t>
            </a:r>
            <a:endParaRPr lang="en-US" b="1" dirty="0" smtClean="0"/>
          </a:p>
          <a:p>
            <a:pPr lvl="2"/>
            <a:r>
              <a:rPr lang="en-US" dirty="0" smtClean="0"/>
              <a:t>i.e</a:t>
            </a:r>
            <a:r>
              <a:rPr lang="en-US" dirty="0"/>
              <a:t>., from the acquisition of the Target itself to only its assets to avoid taking on liability associated with the Target’s pre-acquisition </a:t>
            </a:r>
            <a:r>
              <a:rPr lang="en-US" dirty="0" smtClean="0"/>
              <a:t>operations</a:t>
            </a:r>
          </a:p>
          <a:p>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22</a:t>
            </a:fld>
            <a:endParaRPr lang="en-US"/>
          </a:p>
        </p:txBody>
      </p:sp>
    </p:spTree>
    <p:extLst>
      <p:ext uri="{BB962C8B-B14F-4D97-AF65-F5344CB8AC3E}">
        <p14:creationId xmlns:p14="http://schemas.microsoft.com/office/powerpoint/2010/main" val="1955472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Litigation (continued)</a:t>
            </a:r>
            <a:endParaRPr lang="en-US" b="1" i="1" dirty="0"/>
          </a:p>
        </p:txBody>
      </p:sp>
      <p:sp>
        <p:nvSpPr>
          <p:cNvPr id="3" name="Content Placeholder 2"/>
          <p:cNvSpPr>
            <a:spLocks noGrp="1"/>
          </p:cNvSpPr>
          <p:nvPr>
            <p:ph idx="1"/>
          </p:nvPr>
        </p:nvSpPr>
        <p:spPr/>
        <p:txBody>
          <a:bodyPr>
            <a:normAutofit fontScale="85000" lnSpcReduction="10000"/>
          </a:bodyPr>
          <a:lstStyle/>
          <a:p>
            <a:r>
              <a:rPr lang="en-US" u="sng" dirty="0"/>
              <a:t>Practice tip:</a:t>
            </a:r>
            <a:endParaRPr lang="en-US" dirty="0"/>
          </a:p>
          <a:p>
            <a:pPr marL="288925" indent="0">
              <a:buNone/>
            </a:pPr>
            <a:r>
              <a:rPr lang="en-US" dirty="0" smtClean="0"/>
              <a:t>We </a:t>
            </a:r>
            <a:r>
              <a:rPr lang="en-US" dirty="0"/>
              <a:t>represented an oil and gas company in a transaction which was in talks to acquire another oil and gas company which was involved in litigation involving prior releases of hazardous waste involving numerous parties who maintained operations over several years at barge terminal. </a:t>
            </a:r>
            <a:endParaRPr lang="en-US" dirty="0" smtClean="0"/>
          </a:p>
          <a:p>
            <a:pPr marL="288925" indent="0">
              <a:buNone/>
            </a:pPr>
            <a:r>
              <a:rPr lang="en-US" dirty="0" smtClean="0"/>
              <a:t>As </a:t>
            </a:r>
            <a:r>
              <a:rPr lang="en-US" dirty="0"/>
              <a:t>part of that transaction the Target’s owners (the sellers in the transaction) agreed to assume all obligations for the pending litigation matters and to indemnify and hold harmless the Acquirer against any damages due in connection therewith, even though such obligations would typically be assumed by the Acquirer in the acquisition of the Target. </a:t>
            </a:r>
            <a:endParaRPr lang="en-US" dirty="0" smtClean="0"/>
          </a:p>
          <a:p>
            <a:pPr marL="288925" indent="0">
              <a:buNone/>
            </a:pPr>
            <a:r>
              <a:rPr lang="en-US" dirty="0" smtClean="0"/>
              <a:t>As </a:t>
            </a:r>
            <a:r>
              <a:rPr lang="en-US" dirty="0"/>
              <a:t>additional comfort for the Acquirer in that transaction the Target’s stockholders agreed to place a portion of the acquisition consideration into escrow, to be used for security to satisfy the outstanding and pending litigation claim.</a:t>
            </a:r>
          </a:p>
          <a:p>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23</a:t>
            </a:fld>
            <a:endParaRPr lang="en-US"/>
          </a:p>
        </p:txBody>
      </p:sp>
    </p:spTree>
    <p:extLst>
      <p:ext uri="{BB962C8B-B14F-4D97-AF65-F5344CB8AC3E}">
        <p14:creationId xmlns:p14="http://schemas.microsoft.com/office/powerpoint/2010/main" val="2220531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Material Agreements</a:t>
            </a:r>
          </a:p>
        </p:txBody>
      </p:sp>
      <p:sp>
        <p:nvSpPr>
          <p:cNvPr id="3" name="Content Placeholder 2"/>
          <p:cNvSpPr>
            <a:spLocks noGrp="1"/>
          </p:cNvSpPr>
          <p:nvPr>
            <p:ph idx="1"/>
          </p:nvPr>
        </p:nvSpPr>
        <p:spPr/>
        <p:txBody>
          <a:bodyPr>
            <a:normAutofit fontScale="92500" lnSpcReduction="20000"/>
          </a:bodyPr>
          <a:lstStyle/>
          <a:p>
            <a:pPr marL="45720" indent="0">
              <a:buNone/>
            </a:pPr>
            <a:r>
              <a:rPr lang="en-US" b="1" dirty="0" smtClean="0"/>
              <a:t>Copies </a:t>
            </a:r>
            <a:r>
              <a:rPr lang="en-US" b="1" dirty="0"/>
              <a:t>of all material agreements of the </a:t>
            </a:r>
            <a:r>
              <a:rPr lang="en-US" b="1" dirty="0" smtClean="0"/>
              <a:t>Target</a:t>
            </a:r>
          </a:p>
          <a:p>
            <a:pPr lvl="2"/>
            <a:r>
              <a:rPr lang="en-US" dirty="0" smtClean="0"/>
              <a:t>Typically determined </a:t>
            </a:r>
            <a:r>
              <a:rPr lang="en-US" dirty="0"/>
              <a:t>by a dollar value cut off based on the size of the Target </a:t>
            </a:r>
            <a:endParaRPr lang="en-US" dirty="0" smtClean="0"/>
          </a:p>
          <a:p>
            <a:pPr lvl="3"/>
            <a:r>
              <a:rPr lang="en-US" dirty="0" smtClean="0"/>
              <a:t>For </a:t>
            </a:r>
            <a:r>
              <a:rPr lang="en-US" dirty="0"/>
              <a:t>example, all agreements which involve (or which could potentially involve) more than $50,000 in value or which the Company’s operations are substantially </a:t>
            </a:r>
            <a:r>
              <a:rPr lang="en-US" dirty="0" smtClean="0"/>
              <a:t>dependent</a:t>
            </a:r>
          </a:p>
          <a:p>
            <a:pPr marL="45720" indent="0">
              <a:buNone/>
            </a:pPr>
            <a:r>
              <a:rPr lang="en-US" b="1" i="1" dirty="0" smtClean="0"/>
              <a:t>Consents</a:t>
            </a:r>
            <a:endParaRPr lang="en-US" b="1" i="1" dirty="0"/>
          </a:p>
          <a:p>
            <a:pPr lvl="1"/>
            <a:r>
              <a:rPr lang="en-US" dirty="0" smtClean="0"/>
              <a:t>A </a:t>
            </a:r>
            <a:r>
              <a:rPr lang="en-US" dirty="0"/>
              <a:t>list of </a:t>
            </a:r>
            <a:r>
              <a:rPr lang="en-US" b="1" dirty="0"/>
              <a:t>required parties who will need to consent </a:t>
            </a:r>
            <a:r>
              <a:rPr lang="en-US" dirty="0"/>
              <a:t>to an acquisition </a:t>
            </a:r>
            <a:r>
              <a:rPr lang="en-US" dirty="0" smtClean="0"/>
              <a:t>should be prepared</a:t>
            </a:r>
          </a:p>
          <a:p>
            <a:pPr lvl="1"/>
            <a:r>
              <a:rPr lang="en-US" dirty="0" smtClean="0"/>
              <a:t>Such parties may require separate </a:t>
            </a:r>
            <a:r>
              <a:rPr lang="en-US" dirty="0"/>
              <a:t>form of negotiated assignment agreement, may require the Acquirer to provide business information and financial statements, and often do not have an incentive to make a third-party consent a </a:t>
            </a:r>
            <a:r>
              <a:rPr lang="en-US" dirty="0" smtClean="0"/>
              <a:t>priority</a:t>
            </a:r>
            <a:endParaRPr lang="en-US" dirty="0"/>
          </a:p>
          <a:p>
            <a:r>
              <a:rPr lang="en-US" b="1" i="1" dirty="0"/>
              <a:t>Warranty Claims</a:t>
            </a:r>
          </a:p>
          <a:p>
            <a:pPr lvl="1"/>
            <a:r>
              <a:rPr lang="en-US" dirty="0" smtClean="0"/>
              <a:t>How many </a:t>
            </a:r>
            <a:r>
              <a:rPr lang="en-US" dirty="0"/>
              <a:t>warranty claims are typically received each year, what the cost of servicing those claims are and most importantly how long the Target’s warranties are currently (and historically) in </a:t>
            </a:r>
            <a:r>
              <a:rPr lang="en-US" dirty="0" smtClean="0"/>
              <a:t>place for</a:t>
            </a:r>
          </a:p>
        </p:txBody>
      </p:sp>
      <p:sp>
        <p:nvSpPr>
          <p:cNvPr id="4" name="Slide Number Placeholder 3"/>
          <p:cNvSpPr>
            <a:spLocks noGrp="1"/>
          </p:cNvSpPr>
          <p:nvPr>
            <p:ph type="sldNum" sz="quarter" idx="12"/>
          </p:nvPr>
        </p:nvSpPr>
        <p:spPr/>
        <p:txBody>
          <a:bodyPr/>
          <a:lstStyle/>
          <a:p>
            <a:fld id="{F36C87F6-986D-49E6-AF40-1B3A1EE8064D}" type="slidenum">
              <a:rPr lang="en-US" smtClean="0"/>
              <a:t>24</a:t>
            </a:fld>
            <a:endParaRPr lang="en-US"/>
          </a:p>
        </p:txBody>
      </p:sp>
    </p:spTree>
    <p:extLst>
      <p:ext uri="{BB962C8B-B14F-4D97-AF65-F5344CB8AC3E}">
        <p14:creationId xmlns:p14="http://schemas.microsoft.com/office/powerpoint/2010/main" val="3296574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Material </a:t>
            </a:r>
            <a:r>
              <a:rPr lang="en-US" b="1" i="1" dirty="0" smtClean="0"/>
              <a:t>Agreements (continued)</a:t>
            </a:r>
            <a:endParaRPr lang="en-US" b="1" i="1" dirty="0"/>
          </a:p>
        </p:txBody>
      </p:sp>
      <p:sp>
        <p:nvSpPr>
          <p:cNvPr id="3" name="Content Placeholder 2"/>
          <p:cNvSpPr>
            <a:spLocks noGrp="1"/>
          </p:cNvSpPr>
          <p:nvPr>
            <p:ph idx="1"/>
          </p:nvPr>
        </p:nvSpPr>
        <p:spPr/>
        <p:txBody>
          <a:bodyPr>
            <a:normAutofit/>
          </a:bodyPr>
          <a:lstStyle/>
          <a:p>
            <a:r>
              <a:rPr lang="en-US" b="1" i="1" dirty="0" smtClean="0"/>
              <a:t>Related Party Agreements</a:t>
            </a:r>
          </a:p>
          <a:p>
            <a:pPr lvl="1"/>
            <a:r>
              <a:rPr lang="en-US" dirty="0" smtClean="0"/>
              <a:t>Copies </a:t>
            </a:r>
            <a:r>
              <a:rPr lang="en-US" dirty="0"/>
              <a:t>of agreements between the </a:t>
            </a:r>
            <a:r>
              <a:rPr lang="en-US" b="1" dirty="0"/>
              <a:t>Target and any related </a:t>
            </a:r>
            <a:r>
              <a:rPr lang="en-US" b="1" dirty="0" smtClean="0"/>
              <a:t>parties</a:t>
            </a:r>
            <a:r>
              <a:rPr lang="en-US" dirty="0" smtClean="0"/>
              <a:t>:</a:t>
            </a:r>
          </a:p>
          <a:p>
            <a:pPr lvl="2"/>
            <a:r>
              <a:rPr lang="en-US" dirty="0" smtClean="0"/>
              <a:t>Officers</a:t>
            </a:r>
            <a:r>
              <a:rPr lang="en-US" dirty="0"/>
              <a:t>, directors, employees, significant owners and their family </a:t>
            </a:r>
            <a:r>
              <a:rPr lang="en-US" dirty="0" smtClean="0"/>
              <a:t>members</a:t>
            </a:r>
          </a:p>
          <a:p>
            <a:pPr lvl="2"/>
            <a:r>
              <a:rPr lang="en-US" dirty="0" smtClean="0"/>
              <a:t>Copies </a:t>
            </a:r>
            <a:r>
              <a:rPr lang="en-US" dirty="0"/>
              <a:t>of all loan </a:t>
            </a:r>
            <a:r>
              <a:rPr lang="en-US" dirty="0" smtClean="0"/>
              <a:t>documents</a:t>
            </a:r>
          </a:p>
          <a:p>
            <a:pPr lvl="2"/>
            <a:r>
              <a:rPr lang="en-US" dirty="0" smtClean="0"/>
              <a:t>Guarantees</a:t>
            </a:r>
          </a:p>
          <a:p>
            <a:pPr lvl="2"/>
            <a:r>
              <a:rPr lang="en-US" dirty="0" smtClean="0"/>
              <a:t>Franchise Agreements</a:t>
            </a:r>
          </a:p>
          <a:p>
            <a:pPr lvl="2"/>
            <a:r>
              <a:rPr lang="en-US" dirty="0"/>
              <a:t>L</a:t>
            </a:r>
            <a:r>
              <a:rPr lang="en-US" dirty="0" smtClean="0"/>
              <a:t>icensing agreements</a:t>
            </a:r>
          </a:p>
          <a:p>
            <a:pPr lvl="2"/>
            <a:r>
              <a:rPr lang="en-US" dirty="0" smtClean="0"/>
              <a:t>Employment agreements</a:t>
            </a:r>
          </a:p>
          <a:p>
            <a:pPr lvl="2"/>
            <a:endParaRPr lang="en-US" dirty="0" smtClean="0"/>
          </a:p>
          <a:p>
            <a:pPr lvl="1"/>
            <a:r>
              <a:rPr lang="en-US" dirty="0" smtClean="0"/>
              <a:t>The </a:t>
            </a:r>
            <a:r>
              <a:rPr lang="en-US" dirty="0"/>
              <a:t>Target should supply detailed information on all related party relationships, understandings and </a:t>
            </a:r>
            <a:r>
              <a:rPr lang="en-US" dirty="0" smtClean="0"/>
              <a:t>agreements </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25</a:t>
            </a:fld>
            <a:endParaRPr lang="en-US"/>
          </a:p>
        </p:txBody>
      </p:sp>
    </p:spTree>
    <p:extLst>
      <p:ext uri="{BB962C8B-B14F-4D97-AF65-F5344CB8AC3E}">
        <p14:creationId xmlns:p14="http://schemas.microsoft.com/office/powerpoint/2010/main" val="965268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Material </a:t>
            </a:r>
            <a:r>
              <a:rPr lang="en-US" b="1" i="1" dirty="0" smtClean="0"/>
              <a:t>Agreements (CONTINUED)</a:t>
            </a:r>
            <a:endParaRPr lang="en-US" b="1" i="1" dirty="0"/>
          </a:p>
        </p:txBody>
      </p:sp>
      <p:sp>
        <p:nvSpPr>
          <p:cNvPr id="3" name="Content Placeholder 2"/>
          <p:cNvSpPr>
            <a:spLocks noGrp="1"/>
          </p:cNvSpPr>
          <p:nvPr>
            <p:ph idx="1"/>
          </p:nvPr>
        </p:nvSpPr>
        <p:spPr/>
        <p:txBody>
          <a:bodyPr>
            <a:normAutofit/>
          </a:bodyPr>
          <a:lstStyle/>
          <a:p>
            <a:r>
              <a:rPr lang="en-US" b="1" i="1" dirty="0" smtClean="0"/>
              <a:t>Related Party Agreements (Continued)</a:t>
            </a:r>
          </a:p>
          <a:p>
            <a:endParaRPr lang="en-US" b="1" i="1" dirty="0" smtClean="0"/>
          </a:p>
          <a:p>
            <a:pPr lvl="1"/>
            <a:r>
              <a:rPr lang="en-US" dirty="0" smtClean="0"/>
              <a:t>Target </a:t>
            </a:r>
            <a:r>
              <a:rPr lang="en-US" dirty="0"/>
              <a:t>may be </a:t>
            </a:r>
            <a:r>
              <a:rPr lang="en-US" b="1" dirty="0"/>
              <a:t>dependent on equipment, materials, relationships, facilities and employees </a:t>
            </a:r>
            <a:endParaRPr lang="en-US" b="1" dirty="0" smtClean="0"/>
          </a:p>
          <a:p>
            <a:pPr lvl="1"/>
            <a:endParaRPr lang="en-US" b="1" dirty="0" smtClean="0"/>
          </a:p>
          <a:p>
            <a:pPr lvl="2"/>
            <a:r>
              <a:rPr lang="en-US" dirty="0" smtClean="0"/>
              <a:t>Which </a:t>
            </a:r>
            <a:r>
              <a:rPr lang="en-US" dirty="0"/>
              <a:t>it is not in </a:t>
            </a:r>
            <a:r>
              <a:rPr lang="en-US" dirty="0" err="1"/>
              <a:t>privity</a:t>
            </a:r>
            <a:r>
              <a:rPr lang="en-US" dirty="0"/>
              <a:t> of contract with </a:t>
            </a:r>
            <a:r>
              <a:rPr lang="en-US" dirty="0" smtClean="0"/>
              <a:t>or</a:t>
            </a:r>
          </a:p>
          <a:p>
            <a:pPr lvl="2"/>
            <a:endParaRPr lang="en-US" dirty="0" smtClean="0"/>
          </a:p>
          <a:p>
            <a:pPr lvl="2"/>
            <a:r>
              <a:rPr lang="en-US" dirty="0" smtClean="0"/>
              <a:t>Which </a:t>
            </a:r>
            <a:r>
              <a:rPr lang="en-US" dirty="0"/>
              <a:t>are owned and operated by </a:t>
            </a:r>
            <a:r>
              <a:rPr lang="en-US" b="1" dirty="0"/>
              <a:t>related parties </a:t>
            </a:r>
            <a:r>
              <a:rPr lang="en-US" dirty="0"/>
              <a:t>and which won’t automatically be included in an acquisition transaction. </a:t>
            </a:r>
          </a:p>
        </p:txBody>
      </p:sp>
      <p:sp>
        <p:nvSpPr>
          <p:cNvPr id="4" name="Slide Number Placeholder 3"/>
          <p:cNvSpPr>
            <a:spLocks noGrp="1"/>
          </p:cNvSpPr>
          <p:nvPr>
            <p:ph type="sldNum" sz="quarter" idx="12"/>
          </p:nvPr>
        </p:nvSpPr>
        <p:spPr/>
        <p:txBody>
          <a:bodyPr/>
          <a:lstStyle/>
          <a:p>
            <a:fld id="{F36C87F6-986D-49E6-AF40-1B3A1EE8064D}" type="slidenum">
              <a:rPr lang="en-US" smtClean="0"/>
              <a:t>26</a:t>
            </a:fld>
            <a:endParaRPr lang="en-US"/>
          </a:p>
        </p:txBody>
      </p:sp>
    </p:spTree>
    <p:extLst>
      <p:ext uri="{BB962C8B-B14F-4D97-AF65-F5344CB8AC3E}">
        <p14:creationId xmlns:p14="http://schemas.microsoft.com/office/powerpoint/2010/main" val="419838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Material </a:t>
            </a:r>
            <a:r>
              <a:rPr lang="en-US" b="1" i="1" dirty="0" smtClean="0"/>
              <a:t>Agreements (continued)</a:t>
            </a:r>
            <a:endParaRPr lang="en-US" b="1" i="1" dirty="0"/>
          </a:p>
        </p:txBody>
      </p:sp>
      <p:sp>
        <p:nvSpPr>
          <p:cNvPr id="3" name="Content Placeholder 2"/>
          <p:cNvSpPr>
            <a:spLocks noGrp="1"/>
          </p:cNvSpPr>
          <p:nvPr>
            <p:ph idx="1"/>
          </p:nvPr>
        </p:nvSpPr>
        <p:spPr/>
        <p:txBody>
          <a:bodyPr>
            <a:normAutofit/>
          </a:bodyPr>
          <a:lstStyle/>
          <a:p>
            <a:r>
              <a:rPr lang="en-US" b="1" i="1" dirty="0" smtClean="0"/>
              <a:t>Loan Agreements</a:t>
            </a:r>
          </a:p>
          <a:p>
            <a:pPr lvl="1"/>
            <a:r>
              <a:rPr lang="en-US" dirty="0"/>
              <a:t>Loan agreements </a:t>
            </a:r>
            <a:r>
              <a:rPr lang="en-US" dirty="0" smtClean="0"/>
              <a:t>(</a:t>
            </a:r>
            <a:r>
              <a:rPr lang="en-US" dirty="0"/>
              <a:t>and/or guaranty agreements in connection therewith</a:t>
            </a:r>
            <a:r>
              <a:rPr lang="en-US" dirty="0" smtClean="0"/>
              <a:t>) and Franchise </a:t>
            </a:r>
            <a:r>
              <a:rPr lang="en-US" dirty="0"/>
              <a:t>and </a:t>
            </a:r>
            <a:r>
              <a:rPr lang="en-US" dirty="0" smtClean="0"/>
              <a:t>Licensing Agreements</a:t>
            </a:r>
          </a:p>
          <a:p>
            <a:pPr lvl="1"/>
            <a:endParaRPr lang="en-US" dirty="0" smtClean="0"/>
          </a:p>
          <a:p>
            <a:pPr lvl="2"/>
            <a:r>
              <a:rPr lang="en-US" dirty="0" smtClean="0"/>
              <a:t>May </a:t>
            </a:r>
            <a:r>
              <a:rPr lang="en-US" dirty="0"/>
              <a:t>have </a:t>
            </a:r>
            <a:r>
              <a:rPr lang="en-US" b="1" dirty="0"/>
              <a:t>covenants</a:t>
            </a:r>
            <a:r>
              <a:rPr lang="en-US" dirty="0"/>
              <a:t> which would prohibit a change of control or sale of a significant portion of the assets of the Target without prior lender </a:t>
            </a:r>
            <a:r>
              <a:rPr lang="en-US" dirty="0" smtClean="0"/>
              <a:t>approval</a:t>
            </a:r>
          </a:p>
          <a:p>
            <a:pPr lvl="2"/>
            <a:endParaRPr lang="en-US" dirty="0" smtClean="0"/>
          </a:p>
          <a:p>
            <a:pPr lvl="2"/>
            <a:r>
              <a:rPr lang="en-US" dirty="0" smtClean="0"/>
              <a:t>Most </a:t>
            </a:r>
            <a:r>
              <a:rPr lang="en-US" dirty="0"/>
              <a:t>lending agreements will be secured by </a:t>
            </a:r>
            <a:r>
              <a:rPr lang="en-US" b="1" dirty="0"/>
              <a:t>security interests and mortgages</a:t>
            </a:r>
            <a:r>
              <a:rPr lang="en-US" dirty="0"/>
              <a:t>, which will in most cases need to be waived or terminated by the lenders prior to any </a:t>
            </a:r>
            <a:r>
              <a:rPr lang="en-US" dirty="0" smtClean="0"/>
              <a:t>sale</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27</a:t>
            </a:fld>
            <a:endParaRPr lang="en-US"/>
          </a:p>
        </p:txBody>
      </p:sp>
    </p:spTree>
    <p:extLst>
      <p:ext uri="{BB962C8B-B14F-4D97-AF65-F5344CB8AC3E}">
        <p14:creationId xmlns:p14="http://schemas.microsoft.com/office/powerpoint/2010/main" val="41900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Material </a:t>
            </a:r>
            <a:r>
              <a:rPr lang="en-US" b="1" i="1" dirty="0" smtClean="0"/>
              <a:t>Agreements (continued)</a:t>
            </a:r>
            <a:endParaRPr lang="en-US" b="1" i="1" dirty="0"/>
          </a:p>
        </p:txBody>
      </p:sp>
      <p:sp>
        <p:nvSpPr>
          <p:cNvPr id="3" name="Content Placeholder 2"/>
          <p:cNvSpPr>
            <a:spLocks noGrp="1"/>
          </p:cNvSpPr>
          <p:nvPr>
            <p:ph idx="1"/>
          </p:nvPr>
        </p:nvSpPr>
        <p:spPr/>
        <p:txBody>
          <a:bodyPr>
            <a:normAutofit/>
          </a:bodyPr>
          <a:lstStyle/>
          <a:p>
            <a:r>
              <a:rPr lang="en-US" b="1" i="1" dirty="0" smtClean="0"/>
              <a:t>Prior Acquisitions</a:t>
            </a:r>
          </a:p>
          <a:p>
            <a:pPr lvl="1"/>
            <a:r>
              <a:rPr lang="en-US" dirty="0" smtClean="0"/>
              <a:t>Agreements relating </a:t>
            </a:r>
            <a:r>
              <a:rPr lang="en-US" dirty="0"/>
              <a:t>to </a:t>
            </a:r>
            <a:r>
              <a:rPr lang="en-US" dirty="0" smtClean="0"/>
              <a:t>prior </a:t>
            </a:r>
            <a:r>
              <a:rPr lang="en-US" dirty="0"/>
              <a:t>acquisitions of assets of securities which are material to the Target’s operations. </a:t>
            </a:r>
            <a:endParaRPr lang="en-US" dirty="0" smtClean="0"/>
          </a:p>
          <a:p>
            <a:pPr lvl="2"/>
            <a:r>
              <a:rPr lang="en-US" dirty="0" smtClean="0"/>
              <a:t>Prior </a:t>
            </a:r>
            <a:r>
              <a:rPr lang="en-US" dirty="0"/>
              <a:t>acquisition </a:t>
            </a:r>
            <a:r>
              <a:rPr lang="en-US" dirty="0" smtClean="0"/>
              <a:t>agreements may </a:t>
            </a:r>
            <a:r>
              <a:rPr lang="en-US" dirty="0"/>
              <a:t>include a buyback or put right years down the road or </a:t>
            </a:r>
            <a:r>
              <a:rPr lang="en-US" dirty="0" smtClean="0"/>
              <a:t>a </a:t>
            </a:r>
            <a:r>
              <a:rPr lang="en-US" dirty="0"/>
              <a:t>right </a:t>
            </a:r>
            <a:r>
              <a:rPr lang="en-US" dirty="0" smtClean="0"/>
              <a:t>to </a:t>
            </a:r>
            <a:r>
              <a:rPr lang="en-US" dirty="0"/>
              <a:t>reacquire the assets/operations </a:t>
            </a:r>
            <a:r>
              <a:rPr lang="en-US" dirty="0" smtClean="0"/>
              <a:t>acquired</a:t>
            </a:r>
          </a:p>
          <a:p>
            <a:pPr lvl="2"/>
            <a:endParaRPr lang="en-US" dirty="0"/>
          </a:p>
          <a:p>
            <a:r>
              <a:rPr lang="en-US" b="1" i="1" dirty="0" smtClean="0"/>
              <a:t>Lease and Rental Agreements</a:t>
            </a:r>
          </a:p>
          <a:p>
            <a:pPr lvl="1"/>
            <a:r>
              <a:rPr lang="en-US" dirty="0" smtClean="0"/>
              <a:t>May </a:t>
            </a:r>
            <a:r>
              <a:rPr lang="en-US" dirty="0"/>
              <a:t>prohibit any sale of assets or change in control of any Target without landlord or renter </a:t>
            </a:r>
            <a:r>
              <a:rPr lang="en-US" dirty="0" smtClean="0"/>
              <a:t>approval</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28</a:t>
            </a:fld>
            <a:endParaRPr lang="en-US"/>
          </a:p>
        </p:txBody>
      </p:sp>
    </p:spTree>
    <p:extLst>
      <p:ext uri="{BB962C8B-B14F-4D97-AF65-F5344CB8AC3E}">
        <p14:creationId xmlns:p14="http://schemas.microsoft.com/office/powerpoint/2010/main" val="108180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Employment </a:t>
            </a:r>
            <a:r>
              <a:rPr lang="en-US" b="1" i="1" dirty="0" smtClean="0"/>
              <a:t>Relationships</a:t>
            </a:r>
            <a:endParaRPr lang="en-US" b="1" i="1" dirty="0"/>
          </a:p>
        </p:txBody>
      </p:sp>
      <p:sp>
        <p:nvSpPr>
          <p:cNvPr id="3" name="Content Placeholder 2"/>
          <p:cNvSpPr>
            <a:spLocks noGrp="1"/>
          </p:cNvSpPr>
          <p:nvPr>
            <p:ph idx="1"/>
          </p:nvPr>
        </p:nvSpPr>
        <p:spPr/>
        <p:txBody>
          <a:bodyPr>
            <a:normAutofit/>
          </a:bodyPr>
          <a:lstStyle/>
          <a:p>
            <a:r>
              <a:rPr lang="en-US" b="1" i="1" dirty="0" smtClean="0"/>
              <a:t>Employment Agreements and Related</a:t>
            </a:r>
          </a:p>
          <a:p>
            <a:endParaRPr lang="en-US" b="1" i="1" dirty="0" smtClean="0"/>
          </a:p>
          <a:p>
            <a:pPr lvl="1"/>
            <a:r>
              <a:rPr lang="en-US" b="1" dirty="0" smtClean="0"/>
              <a:t>Change of control provisions </a:t>
            </a:r>
            <a:r>
              <a:rPr lang="en-US" dirty="0" smtClean="0"/>
              <a:t>previously discussed</a:t>
            </a:r>
          </a:p>
          <a:p>
            <a:pPr lvl="1"/>
            <a:endParaRPr lang="en-US" dirty="0" smtClean="0"/>
          </a:p>
          <a:p>
            <a:pPr lvl="1"/>
            <a:r>
              <a:rPr lang="en-US" dirty="0" smtClean="0"/>
              <a:t>Total </a:t>
            </a:r>
            <a:r>
              <a:rPr lang="en-US" b="1" dirty="0"/>
              <a:t>future consideration due </a:t>
            </a:r>
            <a:r>
              <a:rPr lang="en-US" dirty="0"/>
              <a:t>to employees of the Target who will be assumed in the </a:t>
            </a:r>
            <a:r>
              <a:rPr lang="en-US" dirty="0" smtClean="0"/>
              <a:t>acquisition</a:t>
            </a:r>
            <a:endParaRPr lang="en-US" dirty="0"/>
          </a:p>
          <a:p>
            <a:r>
              <a:rPr lang="en-US" b="1" i="1" dirty="0"/>
              <a:t>Key Employees</a:t>
            </a:r>
          </a:p>
          <a:p>
            <a:pPr lvl="1"/>
            <a:r>
              <a:rPr lang="en-US" dirty="0" smtClean="0"/>
              <a:t>List </a:t>
            </a:r>
            <a:r>
              <a:rPr lang="en-US" dirty="0"/>
              <a:t>of </a:t>
            </a:r>
            <a:r>
              <a:rPr lang="en-US" dirty="0" smtClean="0"/>
              <a:t>‘</a:t>
            </a:r>
            <a:r>
              <a:rPr lang="en-US" dirty="0"/>
              <a:t>key’ </a:t>
            </a:r>
            <a:r>
              <a:rPr lang="en-US" dirty="0" smtClean="0"/>
              <a:t>employees</a:t>
            </a:r>
          </a:p>
          <a:p>
            <a:pPr lvl="2"/>
            <a:r>
              <a:rPr lang="en-US" dirty="0" smtClean="0"/>
              <a:t>To confirm which employees to keep on</a:t>
            </a:r>
            <a:endParaRPr lang="en-US" dirty="0"/>
          </a:p>
          <a:p>
            <a:pPr marL="274320" lvl="1" indent="0">
              <a:buNone/>
            </a:pPr>
            <a:endParaRPr lang="en-US" dirty="0" smtClean="0"/>
          </a:p>
        </p:txBody>
      </p:sp>
      <p:sp>
        <p:nvSpPr>
          <p:cNvPr id="4" name="Slide Number Placeholder 3"/>
          <p:cNvSpPr>
            <a:spLocks noGrp="1"/>
          </p:cNvSpPr>
          <p:nvPr>
            <p:ph type="sldNum" sz="quarter" idx="12"/>
          </p:nvPr>
        </p:nvSpPr>
        <p:spPr/>
        <p:txBody>
          <a:bodyPr/>
          <a:lstStyle/>
          <a:p>
            <a:fld id="{F36C87F6-986D-49E6-AF40-1B3A1EE8064D}" type="slidenum">
              <a:rPr lang="en-US" smtClean="0"/>
              <a:t>29</a:t>
            </a:fld>
            <a:endParaRPr lang="en-US"/>
          </a:p>
        </p:txBody>
      </p:sp>
    </p:spTree>
    <p:extLst>
      <p:ext uri="{BB962C8B-B14F-4D97-AF65-F5344CB8AC3E}">
        <p14:creationId xmlns:p14="http://schemas.microsoft.com/office/powerpoint/2010/main" val="1186185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Employment </a:t>
            </a:r>
            <a:r>
              <a:rPr lang="en-US" b="1" i="1" dirty="0" smtClean="0"/>
              <a:t>Relationships (continued)</a:t>
            </a:r>
            <a:endParaRPr lang="en-US" b="1" i="1" dirty="0"/>
          </a:p>
        </p:txBody>
      </p:sp>
      <p:sp>
        <p:nvSpPr>
          <p:cNvPr id="3" name="Content Placeholder 2"/>
          <p:cNvSpPr>
            <a:spLocks noGrp="1"/>
          </p:cNvSpPr>
          <p:nvPr>
            <p:ph idx="1"/>
          </p:nvPr>
        </p:nvSpPr>
        <p:spPr/>
        <p:txBody>
          <a:bodyPr>
            <a:normAutofit/>
          </a:bodyPr>
          <a:lstStyle/>
          <a:p>
            <a:r>
              <a:rPr lang="en-US" b="1" i="1" dirty="0" smtClean="0"/>
              <a:t>Non-Competes</a:t>
            </a:r>
          </a:p>
          <a:p>
            <a:pPr lvl="1"/>
            <a:r>
              <a:rPr lang="en-US" dirty="0" smtClean="0"/>
              <a:t>Officers</a:t>
            </a:r>
            <a:r>
              <a:rPr lang="en-US" dirty="0"/>
              <a:t>, directors and other ‘key’ employees of the Target who are not remaining with the Acquirer post-closing should enter into a </a:t>
            </a:r>
            <a:r>
              <a:rPr lang="en-US" b="1" dirty="0"/>
              <a:t>non-compete agreement</a:t>
            </a:r>
            <a:r>
              <a:rPr lang="en-US" dirty="0"/>
              <a:t> – which should be a required term and condition of the closing. </a:t>
            </a:r>
            <a:endParaRPr lang="en-US" dirty="0" smtClean="0"/>
          </a:p>
          <a:p>
            <a:r>
              <a:rPr lang="en-US" b="1" i="1" dirty="0"/>
              <a:t>Benefits</a:t>
            </a:r>
          </a:p>
          <a:p>
            <a:pPr lvl="1"/>
            <a:r>
              <a:rPr lang="en-US" dirty="0" smtClean="0"/>
              <a:t>Determination of </a:t>
            </a:r>
            <a:r>
              <a:rPr lang="en-US" b="1" dirty="0" smtClean="0"/>
              <a:t>unfunded </a:t>
            </a:r>
            <a:r>
              <a:rPr lang="en-US" b="1" dirty="0"/>
              <a:t>retirement accounts </a:t>
            </a:r>
            <a:r>
              <a:rPr lang="en-US" dirty="0"/>
              <a:t>(401(k), pension or insurance) </a:t>
            </a:r>
            <a:endParaRPr lang="en-US" dirty="0" smtClean="0"/>
          </a:p>
          <a:p>
            <a:pPr lvl="2"/>
            <a:r>
              <a:rPr lang="en-US" dirty="0" smtClean="0"/>
              <a:t>Provide </a:t>
            </a:r>
            <a:r>
              <a:rPr lang="en-US" dirty="0"/>
              <a:t>for indemnification </a:t>
            </a:r>
            <a:r>
              <a:rPr lang="en-US" dirty="0" smtClean="0"/>
              <a:t>rights for those matters</a:t>
            </a:r>
            <a:endParaRPr lang="en-US" dirty="0"/>
          </a:p>
          <a:p>
            <a:pPr lvl="1"/>
            <a:r>
              <a:rPr lang="en-US" b="1" dirty="0" smtClean="0"/>
              <a:t>Workers</a:t>
            </a:r>
            <a:r>
              <a:rPr lang="en-US" b="1" dirty="0"/>
              <a:t>’ comp claims </a:t>
            </a:r>
            <a:endParaRPr lang="en-US" b="1" dirty="0" smtClean="0"/>
          </a:p>
          <a:p>
            <a:pPr lvl="2"/>
            <a:r>
              <a:rPr lang="en-US" dirty="0" smtClean="0"/>
              <a:t>Claims pending </a:t>
            </a:r>
            <a:r>
              <a:rPr lang="en-US" dirty="0"/>
              <a:t>and historically how many claims are received each year and </a:t>
            </a:r>
            <a:r>
              <a:rPr lang="en-US" dirty="0" smtClean="0"/>
              <a:t>the cost </a:t>
            </a:r>
            <a:r>
              <a:rPr lang="en-US" dirty="0"/>
              <a:t>of such </a:t>
            </a:r>
            <a:r>
              <a:rPr lang="en-US" dirty="0" smtClean="0"/>
              <a:t>claims</a:t>
            </a:r>
          </a:p>
          <a:p>
            <a:pPr lvl="2"/>
            <a:r>
              <a:rPr lang="en-US" dirty="0"/>
              <a:t>Provide for indemnification rights for those matters</a:t>
            </a:r>
          </a:p>
          <a:p>
            <a:pPr lvl="2"/>
            <a:endParaRPr lang="en-US" dirty="0"/>
          </a:p>
          <a:p>
            <a:pPr marL="274320" lvl="1" indent="0">
              <a:buNone/>
            </a:pPr>
            <a:endParaRPr lang="en-US" dirty="0" smtClean="0"/>
          </a:p>
        </p:txBody>
      </p:sp>
      <p:sp>
        <p:nvSpPr>
          <p:cNvPr id="4" name="Slide Number Placeholder 3"/>
          <p:cNvSpPr>
            <a:spLocks noGrp="1"/>
          </p:cNvSpPr>
          <p:nvPr>
            <p:ph type="sldNum" sz="quarter" idx="12"/>
          </p:nvPr>
        </p:nvSpPr>
        <p:spPr/>
        <p:txBody>
          <a:bodyPr/>
          <a:lstStyle/>
          <a:p>
            <a:fld id="{F36C87F6-986D-49E6-AF40-1B3A1EE8064D}" type="slidenum">
              <a:rPr lang="en-US" smtClean="0"/>
              <a:t>30</a:t>
            </a:fld>
            <a:endParaRPr lang="en-US"/>
          </a:p>
        </p:txBody>
      </p:sp>
    </p:spTree>
    <p:extLst>
      <p:ext uri="{BB962C8B-B14F-4D97-AF65-F5344CB8AC3E}">
        <p14:creationId xmlns:p14="http://schemas.microsoft.com/office/powerpoint/2010/main" val="3197571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Employment </a:t>
            </a:r>
            <a:r>
              <a:rPr lang="en-US" b="1" i="1" dirty="0" smtClean="0"/>
              <a:t>Relationships (continued)</a:t>
            </a:r>
            <a:endParaRPr lang="en-US" b="1" i="1" dirty="0"/>
          </a:p>
        </p:txBody>
      </p:sp>
      <p:sp>
        <p:nvSpPr>
          <p:cNvPr id="3" name="Content Placeholder 2"/>
          <p:cNvSpPr>
            <a:spLocks noGrp="1"/>
          </p:cNvSpPr>
          <p:nvPr>
            <p:ph idx="1"/>
          </p:nvPr>
        </p:nvSpPr>
        <p:spPr/>
        <p:txBody>
          <a:bodyPr>
            <a:normAutofit/>
          </a:bodyPr>
          <a:lstStyle/>
          <a:p>
            <a:r>
              <a:rPr lang="en-US" b="1" i="1" dirty="0" smtClean="0"/>
              <a:t>Payroll Tax</a:t>
            </a:r>
          </a:p>
          <a:p>
            <a:pPr lvl="1"/>
            <a:r>
              <a:rPr lang="en-US" dirty="0" smtClean="0"/>
              <a:t>Verify Target </a:t>
            </a:r>
            <a:r>
              <a:rPr lang="en-US" dirty="0"/>
              <a:t>is </a:t>
            </a:r>
            <a:r>
              <a:rPr lang="en-US" b="1" dirty="0"/>
              <a:t>current in its payroll tax </a:t>
            </a:r>
            <a:r>
              <a:rPr lang="en-US" b="1" dirty="0" smtClean="0"/>
              <a:t>obligations</a:t>
            </a:r>
          </a:p>
          <a:p>
            <a:pPr lvl="1"/>
            <a:endParaRPr lang="en-US" b="1" dirty="0" smtClean="0"/>
          </a:p>
          <a:p>
            <a:pPr lvl="2"/>
            <a:r>
              <a:rPr lang="en-US" dirty="0" smtClean="0"/>
              <a:t>Officers </a:t>
            </a:r>
            <a:r>
              <a:rPr lang="en-US" dirty="0"/>
              <a:t>of an entity which fails to pay payroll taxes can be personally liable for such </a:t>
            </a:r>
            <a:r>
              <a:rPr lang="en-US" dirty="0" smtClean="0"/>
              <a:t>failure</a:t>
            </a:r>
          </a:p>
          <a:p>
            <a:pPr lvl="2"/>
            <a:endParaRPr lang="en-US" dirty="0" smtClean="0"/>
          </a:p>
          <a:p>
            <a:pPr lvl="2"/>
            <a:r>
              <a:rPr lang="en-US" dirty="0" smtClean="0"/>
              <a:t>Such </a:t>
            </a:r>
            <a:r>
              <a:rPr lang="en-US" dirty="0"/>
              <a:t>persons may be subject to criminal penalties as a failure to pay payroll taxes is a felony punishable by up to a $10,000 fine or five years in prison, or </a:t>
            </a:r>
            <a:r>
              <a:rPr lang="en-US" dirty="0" smtClean="0"/>
              <a:t>both</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31</a:t>
            </a:fld>
            <a:endParaRPr lang="en-US"/>
          </a:p>
        </p:txBody>
      </p:sp>
    </p:spTree>
    <p:extLst>
      <p:ext uri="{BB962C8B-B14F-4D97-AF65-F5344CB8AC3E}">
        <p14:creationId xmlns:p14="http://schemas.microsoft.com/office/powerpoint/2010/main" val="3123132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Environmental Issues</a:t>
            </a:r>
          </a:p>
        </p:txBody>
      </p:sp>
      <p:sp>
        <p:nvSpPr>
          <p:cNvPr id="3" name="Content Placeholder 2"/>
          <p:cNvSpPr>
            <a:spLocks noGrp="1"/>
          </p:cNvSpPr>
          <p:nvPr>
            <p:ph idx="1"/>
          </p:nvPr>
        </p:nvSpPr>
        <p:spPr/>
        <p:txBody>
          <a:bodyPr>
            <a:normAutofit lnSpcReduction="10000"/>
          </a:bodyPr>
          <a:lstStyle/>
          <a:p>
            <a:r>
              <a:rPr lang="en-US" b="1" dirty="0" smtClean="0"/>
              <a:t>Federal </a:t>
            </a:r>
            <a:r>
              <a:rPr lang="en-US" b="1" dirty="0"/>
              <a:t>and state </a:t>
            </a:r>
            <a:r>
              <a:rPr lang="en-US" b="1" dirty="0" smtClean="0"/>
              <a:t>laws</a:t>
            </a:r>
            <a:r>
              <a:rPr lang="en-US" dirty="0" smtClean="0"/>
              <a:t>: </a:t>
            </a:r>
          </a:p>
          <a:p>
            <a:pPr lvl="1"/>
            <a:r>
              <a:rPr lang="en-US" dirty="0" smtClean="0"/>
              <a:t>Can </a:t>
            </a:r>
            <a:r>
              <a:rPr lang="en-US" dirty="0"/>
              <a:t>make a current owner of real property responsible for environmental claims and issues which exist on properties </a:t>
            </a:r>
            <a:r>
              <a:rPr lang="en-US" dirty="0" smtClean="0"/>
              <a:t>owned</a:t>
            </a:r>
          </a:p>
          <a:p>
            <a:pPr lvl="1"/>
            <a:r>
              <a:rPr lang="en-US" dirty="0" smtClean="0"/>
              <a:t>Even </a:t>
            </a:r>
            <a:r>
              <a:rPr lang="en-US" dirty="0"/>
              <a:t>if the current owner had nothing to do with the matters giving rise to the claim and </a:t>
            </a:r>
            <a:endParaRPr lang="en-US" dirty="0" smtClean="0"/>
          </a:p>
          <a:p>
            <a:pPr lvl="1"/>
            <a:r>
              <a:rPr lang="en-US" dirty="0" smtClean="0"/>
              <a:t>Even </a:t>
            </a:r>
            <a:r>
              <a:rPr lang="en-US" dirty="0"/>
              <a:t>if such owner had no prior knowledge that the issues existed. </a:t>
            </a:r>
            <a:endParaRPr lang="en-US" dirty="0" smtClean="0"/>
          </a:p>
          <a:p>
            <a:r>
              <a:rPr lang="en-US" dirty="0" smtClean="0"/>
              <a:t>Target should provide </a:t>
            </a:r>
            <a:r>
              <a:rPr lang="en-US" dirty="0"/>
              <a:t>a </a:t>
            </a:r>
            <a:r>
              <a:rPr lang="en-US" b="1" dirty="0"/>
              <a:t>list of hazardous (and potentially hazardous) materials</a:t>
            </a:r>
            <a:r>
              <a:rPr lang="en-US" dirty="0"/>
              <a:t> stored at owned and leased properties, as well as any prior known or suspected hazardous material or other spills and </a:t>
            </a:r>
            <a:r>
              <a:rPr lang="en-US" dirty="0" smtClean="0"/>
              <a:t>releases</a:t>
            </a:r>
            <a:endParaRPr lang="en-US" dirty="0"/>
          </a:p>
          <a:p>
            <a:r>
              <a:rPr lang="en-US" dirty="0" smtClean="0"/>
              <a:t>The </a:t>
            </a:r>
            <a:r>
              <a:rPr lang="en-US" dirty="0"/>
              <a:t>liability for such potential future </a:t>
            </a:r>
            <a:r>
              <a:rPr lang="en-US" b="1" dirty="0" smtClean="0"/>
              <a:t>liabilities</a:t>
            </a:r>
            <a:r>
              <a:rPr lang="en-US" dirty="0" smtClean="0"/>
              <a:t> should </a:t>
            </a:r>
            <a:r>
              <a:rPr lang="en-US" dirty="0"/>
              <a:t>be identified prior to closing and </a:t>
            </a:r>
            <a:r>
              <a:rPr lang="en-US" b="1" dirty="0"/>
              <a:t>appropriately apportioned </a:t>
            </a:r>
            <a:r>
              <a:rPr lang="en-US" dirty="0"/>
              <a:t>between the parties in the definitive </a:t>
            </a:r>
            <a:r>
              <a:rPr lang="en-US" dirty="0" smtClean="0"/>
              <a:t>agreements</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32</a:t>
            </a:fld>
            <a:endParaRPr lang="en-US"/>
          </a:p>
        </p:txBody>
      </p:sp>
    </p:spTree>
    <p:extLst>
      <p:ext uri="{BB962C8B-B14F-4D97-AF65-F5344CB8AC3E}">
        <p14:creationId xmlns:p14="http://schemas.microsoft.com/office/powerpoint/2010/main" val="130635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Assets</a:t>
            </a:r>
          </a:p>
        </p:txBody>
      </p:sp>
      <p:sp>
        <p:nvSpPr>
          <p:cNvPr id="3" name="Content Placeholder 2"/>
          <p:cNvSpPr>
            <a:spLocks noGrp="1"/>
          </p:cNvSpPr>
          <p:nvPr>
            <p:ph idx="1"/>
          </p:nvPr>
        </p:nvSpPr>
        <p:spPr/>
        <p:txBody>
          <a:bodyPr>
            <a:normAutofit/>
          </a:bodyPr>
          <a:lstStyle/>
          <a:p>
            <a:r>
              <a:rPr lang="en-US" b="1" i="1" dirty="0" smtClean="0"/>
              <a:t>In General</a:t>
            </a:r>
          </a:p>
          <a:p>
            <a:pPr lvl="1"/>
            <a:r>
              <a:rPr lang="en-US" b="1" dirty="0" smtClean="0"/>
              <a:t>Review </a:t>
            </a:r>
            <a:r>
              <a:rPr lang="en-US" b="1" dirty="0"/>
              <a:t>and reconciliation of all material assets </a:t>
            </a:r>
            <a:r>
              <a:rPr lang="en-US" dirty="0"/>
              <a:t>of the </a:t>
            </a:r>
            <a:r>
              <a:rPr lang="en-US" dirty="0" smtClean="0"/>
              <a:t>Target:</a:t>
            </a:r>
          </a:p>
          <a:p>
            <a:pPr lvl="2"/>
            <a:r>
              <a:rPr lang="en-US" dirty="0" smtClean="0"/>
              <a:t>Real </a:t>
            </a:r>
            <a:r>
              <a:rPr lang="en-US" dirty="0"/>
              <a:t>property (including confirmations of title and for oil and gas leases, confirmations of leasehold interests</a:t>
            </a:r>
            <a:r>
              <a:rPr lang="en-US" dirty="0" smtClean="0"/>
              <a:t>)</a:t>
            </a:r>
          </a:p>
          <a:p>
            <a:pPr lvl="2"/>
            <a:r>
              <a:rPr lang="en-US" dirty="0"/>
              <a:t>I</a:t>
            </a:r>
            <a:r>
              <a:rPr lang="en-US" dirty="0" smtClean="0"/>
              <a:t>ntellectual </a:t>
            </a:r>
            <a:r>
              <a:rPr lang="en-US" dirty="0"/>
              <a:t>property (including reviews of all copyright, trademark and patent filings</a:t>
            </a:r>
            <a:r>
              <a:rPr lang="en-US" dirty="0" smtClean="0"/>
              <a:t>)</a:t>
            </a:r>
          </a:p>
          <a:p>
            <a:pPr lvl="2"/>
            <a:r>
              <a:rPr lang="en-US" dirty="0" smtClean="0"/>
              <a:t>Lease </a:t>
            </a:r>
            <a:r>
              <a:rPr lang="en-US" dirty="0"/>
              <a:t>agreements (including the assignment provisions relating </a:t>
            </a:r>
            <a:r>
              <a:rPr lang="en-US" dirty="0" smtClean="0"/>
              <a:t>thereto)</a:t>
            </a:r>
          </a:p>
          <a:p>
            <a:pPr lvl="2"/>
            <a:r>
              <a:rPr lang="en-US" dirty="0" smtClean="0"/>
              <a:t>Material </a:t>
            </a:r>
            <a:r>
              <a:rPr lang="en-US" dirty="0"/>
              <a:t>equipment. </a:t>
            </a:r>
            <a:endParaRPr lang="en-US" dirty="0" smtClean="0"/>
          </a:p>
          <a:p>
            <a:pPr lvl="1"/>
            <a:r>
              <a:rPr lang="en-US" b="1" dirty="0" smtClean="0"/>
              <a:t>Equipment leases </a:t>
            </a:r>
            <a:r>
              <a:rPr lang="en-US" dirty="0"/>
              <a:t>should be reviewed to confirm that nothing would be triggered or tripped up by an acquisition by a third </a:t>
            </a:r>
            <a:r>
              <a:rPr lang="en-US" dirty="0" smtClean="0"/>
              <a:t>party</a:t>
            </a:r>
            <a:endParaRPr lang="en-US" dirty="0"/>
          </a:p>
          <a:p>
            <a:pPr lvl="1"/>
            <a:r>
              <a:rPr lang="en-US" dirty="0" smtClean="0"/>
              <a:t>All </a:t>
            </a:r>
            <a:r>
              <a:rPr lang="en-US" dirty="0"/>
              <a:t>material equipment, automobiles, computers, etc., should be </a:t>
            </a:r>
            <a:r>
              <a:rPr lang="en-US" b="1" dirty="0"/>
              <a:t>verified present on the premises</a:t>
            </a:r>
            <a:r>
              <a:rPr lang="en-US" dirty="0"/>
              <a:t> and available to be transferred at a closing. </a:t>
            </a:r>
            <a:endParaRPr lang="en-US" dirty="0" smtClean="0"/>
          </a:p>
        </p:txBody>
      </p:sp>
      <p:sp>
        <p:nvSpPr>
          <p:cNvPr id="4" name="Slide Number Placeholder 3"/>
          <p:cNvSpPr>
            <a:spLocks noGrp="1"/>
          </p:cNvSpPr>
          <p:nvPr>
            <p:ph type="sldNum" sz="quarter" idx="12"/>
          </p:nvPr>
        </p:nvSpPr>
        <p:spPr/>
        <p:txBody>
          <a:bodyPr/>
          <a:lstStyle/>
          <a:p>
            <a:fld id="{F36C87F6-986D-49E6-AF40-1B3A1EE8064D}" type="slidenum">
              <a:rPr lang="en-US" smtClean="0"/>
              <a:t>33</a:t>
            </a:fld>
            <a:endParaRPr lang="en-US"/>
          </a:p>
        </p:txBody>
      </p:sp>
    </p:spTree>
    <p:extLst>
      <p:ext uri="{BB962C8B-B14F-4D97-AF65-F5344CB8AC3E}">
        <p14:creationId xmlns:p14="http://schemas.microsoft.com/office/powerpoint/2010/main" val="2218633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Assets (Continued)</a:t>
            </a:r>
            <a:endParaRPr lang="en-US" b="1" i="1" dirty="0"/>
          </a:p>
        </p:txBody>
      </p:sp>
      <p:sp>
        <p:nvSpPr>
          <p:cNvPr id="3" name="Content Placeholder 2"/>
          <p:cNvSpPr>
            <a:spLocks noGrp="1"/>
          </p:cNvSpPr>
          <p:nvPr>
            <p:ph idx="1"/>
          </p:nvPr>
        </p:nvSpPr>
        <p:spPr/>
        <p:txBody>
          <a:bodyPr>
            <a:normAutofit/>
          </a:bodyPr>
          <a:lstStyle/>
          <a:p>
            <a:r>
              <a:rPr lang="en-US" b="1" i="1" dirty="0" smtClean="0"/>
              <a:t>Intellectual Property</a:t>
            </a:r>
          </a:p>
          <a:p>
            <a:endParaRPr lang="en-US" b="1" i="1" dirty="0" smtClean="0"/>
          </a:p>
          <a:p>
            <a:pPr lvl="1"/>
            <a:r>
              <a:rPr lang="en-US" dirty="0" smtClean="0"/>
              <a:t>Confirm patents held in name of Target (properly assigned), normally filed under names of inventors.  Assigned or make sure obtained. </a:t>
            </a:r>
          </a:p>
          <a:p>
            <a:pPr lvl="1"/>
            <a:endParaRPr lang="en-US" dirty="0"/>
          </a:p>
          <a:p>
            <a:pPr lvl="1"/>
            <a:r>
              <a:rPr lang="en-US" dirty="0" smtClean="0"/>
              <a:t>Confirm licenses </a:t>
            </a:r>
            <a:r>
              <a:rPr lang="en-US" dirty="0"/>
              <a:t>required to use software or other intellectual property are in </a:t>
            </a:r>
            <a:r>
              <a:rPr lang="en-US" dirty="0" smtClean="0"/>
              <a:t>place and no defaults, review length, any required approvals for transfer </a:t>
            </a:r>
          </a:p>
        </p:txBody>
      </p:sp>
      <p:sp>
        <p:nvSpPr>
          <p:cNvPr id="4" name="Slide Number Placeholder 3"/>
          <p:cNvSpPr>
            <a:spLocks noGrp="1"/>
          </p:cNvSpPr>
          <p:nvPr>
            <p:ph type="sldNum" sz="quarter" idx="12"/>
          </p:nvPr>
        </p:nvSpPr>
        <p:spPr/>
        <p:txBody>
          <a:bodyPr/>
          <a:lstStyle/>
          <a:p>
            <a:fld id="{F36C87F6-986D-49E6-AF40-1B3A1EE8064D}" type="slidenum">
              <a:rPr lang="en-US" smtClean="0"/>
              <a:t>34</a:t>
            </a:fld>
            <a:endParaRPr lang="en-US"/>
          </a:p>
        </p:txBody>
      </p:sp>
    </p:spTree>
    <p:extLst>
      <p:ext uri="{BB962C8B-B14F-4D97-AF65-F5344CB8AC3E}">
        <p14:creationId xmlns:p14="http://schemas.microsoft.com/office/powerpoint/2010/main" val="1300789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Assets (Continued)</a:t>
            </a:r>
            <a:endParaRPr lang="en-US" b="1" i="1" dirty="0"/>
          </a:p>
        </p:txBody>
      </p:sp>
      <p:sp>
        <p:nvSpPr>
          <p:cNvPr id="3" name="Content Placeholder 2"/>
          <p:cNvSpPr>
            <a:spLocks noGrp="1"/>
          </p:cNvSpPr>
          <p:nvPr>
            <p:ph idx="1"/>
          </p:nvPr>
        </p:nvSpPr>
        <p:spPr/>
        <p:txBody>
          <a:bodyPr>
            <a:normAutofit/>
          </a:bodyPr>
          <a:lstStyle/>
          <a:p>
            <a:r>
              <a:rPr lang="en-US" dirty="0" smtClean="0"/>
              <a:t>Make </a:t>
            </a:r>
            <a:r>
              <a:rPr lang="en-US" b="1" dirty="0" smtClean="0"/>
              <a:t>actual calls </a:t>
            </a:r>
            <a:r>
              <a:rPr lang="en-US" dirty="0" smtClean="0"/>
              <a:t>to </a:t>
            </a:r>
            <a:r>
              <a:rPr lang="en-US" dirty="0"/>
              <a:t>the contracting parties on which the Target is substantially dependent – licensors, suppliers, customers, landlords, etc</a:t>
            </a:r>
            <a:r>
              <a:rPr lang="en-US" dirty="0" smtClean="0"/>
              <a:t>., happy with relationship, any concerns</a:t>
            </a:r>
          </a:p>
          <a:p>
            <a:r>
              <a:rPr lang="en-US" dirty="0" smtClean="0"/>
              <a:t>Consider having </a:t>
            </a:r>
            <a:r>
              <a:rPr lang="en-US" b="1" dirty="0" smtClean="0"/>
              <a:t>confirmations</a:t>
            </a:r>
            <a:r>
              <a:rPr lang="en-US" dirty="0" smtClean="0"/>
              <a:t> signed by contracting counterparties confirming </a:t>
            </a:r>
            <a:r>
              <a:rPr lang="en-US" dirty="0"/>
              <a:t>that they are </a:t>
            </a:r>
            <a:r>
              <a:rPr lang="en-US" b="1" dirty="0"/>
              <a:t>not aware of any events of default</a:t>
            </a:r>
            <a:r>
              <a:rPr lang="en-US" dirty="0"/>
              <a:t> under the agreements and have no reason to believe the agreement(s) will be terminated prior to the end of their stated </a:t>
            </a:r>
            <a:r>
              <a:rPr lang="en-US" dirty="0" smtClean="0"/>
              <a:t>terms</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35</a:t>
            </a:fld>
            <a:endParaRPr lang="en-US"/>
          </a:p>
        </p:txBody>
      </p:sp>
    </p:spTree>
    <p:extLst>
      <p:ext uri="{BB962C8B-B14F-4D97-AF65-F5344CB8AC3E}">
        <p14:creationId xmlns:p14="http://schemas.microsoft.com/office/powerpoint/2010/main" val="2005780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Assets (Continued)</a:t>
            </a:r>
            <a:endParaRPr lang="en-US" b="1" i="1" dirty="0"/>
          </a:p>
        </p:txBody>
      </p:sp>
      <p:sp>
        <p:nvSpPr>
          <p:cNvPr id="3" name="Content Placeholder 2"/>
          <p:cNvSpPr>
            <a:spLocks noGrp="1"/>
          </p:cNvSpPr>
          <p:nvPr>
            <p:ph idx="1"/>
          </p:nvPr>
        </p:nvSpPr>
        <p:spPr/>
        <p:txBody>
          <a:bodyPr>
            <a:normAutofit/>
          </a:bodyPr>
          <a:lstStyle/>
          <a:p>
            <a:r>
              <a:rPr lang="en-US" b="1" i="1" dirty="0" smtClean="0"/>
              <a:t>Facilities and Inventory</a:t>
            </a:r>
          </a:p>
          <a:p>
            <a:pPr lvl="1"/>
            <a:r>
              <a:rPr lang="en-US" dirty="0" smtClean="0"/>
              <a:t>Current </a:t>
            </a:r>
            <a:r>
              <a:rPr lang="en-US" dirty="0"/>
              <a:t>state of all properties, equipment and </a:t>
            </a:r>
            <a:r>
              <a:rPr lang="en-US" dirty="0" smtClean="0"/>
              <a:t>facilities, improvements, upgrades needed </a:t>
            </a:r>
          </a:p>
          <a:p>
            <a:pPr lvl="2"/>
            <a:r>
              <a:rPr lang="en-US" dirty="0" smtClean="0"/>
              <a:t>Make </a:t>
            </a:r>
            <a:r>
              <a:rPr lang="en-US" dirty="0"/>
              <a:t>physical site </a:t>
            </a:r>
            <a:r>
              <a:rPr lang="en-US" dirty="0" smtClean="0"/>
              <a:t>visit</a:t>
            </a:r>
          </a:p>
          <a:p>
            <a:pPr lvl="2"/>
            <a:endParaRPr lang="en-US" dirty="0"/>
          </a:p>
          <a:p>
            <a:pPr lvl="1"/>
            <a:r>
              <a:rPr lang="en-US" b="1" dirty="0" smtClean="0"/>
              <a:t>Inventory</a:t>
            </a:r>
          </a:p>
          <a:p>
            <a:pPr lvl="2"/>
            <a:r>
              <a:rPr lang="en-US" dirty="0" smtClean="0"/>
              <a:t>Where </a:t>
            </a:r>
            <a:r>
              <a:rPr lang="en-US" dirty="0"/>
              <a:t>inventory is </a:t>
            </a:r>
            <a:r>
              <a:rPr lang="en-US" dirty="0" smtClean="0"/>
              <a:t>stored</a:t>
            </a:r>
          </a:p>
          <a:p>
            <a:pPr lvl="2"/>
            <a:r>
              <a:rPr lang="en-US" dirty="0" smtClean="0"/>
              <a:t>Current </a:t>
            </a:r>
            <a:r>
              <a:rPr lang="en-US" dirty="0"/>
              <a:t>state of </a:t>
            </a:r>
            <a:r>
              <a:rPr lang="en-US" dirty="0" smtClean="0"/>
              <a:t>inventory</a:t>
            </a:r>
          </a:p>
          <a:p>
            <a:pPr lvl="2"/>
            <a:r>
              <a:rPr lang="en-US" dirty="0" smtClean="0"/>
              <a:t>How </a:t>
            </a:r>
            <a:r>
              <a:rPr lang="en-US" dirty="0"/>
              <a:t>long inventory is typically maintained </a:t>
            </a:r>
            <a:endParaRPr lang="en-US" dirty="0" smtClean="0"/>
          </a:p>
          <a:p>
            <a:pPr lvl="2"/>
            <a:r>
              <a:rPr lang="en-US" dirty="0" smtClean="0"/>
              <a:t>How </a:t>
            </a:r>
            <a:r>
              <a:rPr lang="en-US" dirty="0"/>
              <a:t>long the current inventory the Target has been </a:t>
            </a:r>
            <a:r>
              <a:rPr lang="en-US" dirty="0" smtClean="0"/>
              <a:t>stored</a:t>
            </a:r>
          </a:p>
          <a:p>
            <a:pPr lvl="2"/>
            <a:endParaRPr lang="en-US" dirty="0" smtClean="0"/>
          </a:p>
          <a:p>
            <a:pPr lvl="1"/>
            <a:r>
              <a:rPr lang="en-US" dirty="0" smtClean="0"/>
              <a:t>Similar issues for </a:t>
            </a:r>
            <a:r>
              <a:rPr lang="en-US" b="1" dirty="0" smtClean="0"/>
              <a:t>raw materials</a:t>
            </a:r>
            <a:endParaRPr lang="en-US" b="1" dirty="0"/>
          </a:p>
        </p:txBody>
      </p:sp>
      <p:sp>
        <p:nvSpPr>
          <p:cNvPr id="4" name="Slide Number Placeholder 3"/>
          <p:cNvSpPr>
            <a:spLocks noGrp="1"/>
          </p:cNvSpPr>
          <p:nvPr>
            <p:ph type="sldNum" sz="quarter" idx="12"/>
          </p:nvPr>
        </p:nvSpPr>
        <p:spPr/>
        <p:txBody>
          <a:bodyPr/>
          <a:lstStyle/>
          <a:p>
            <a:fld id="{F36C87F6-986D-49E6-AF40-1B3A1EE8064D}" type="slidenum">
              <a:rPr lang="en-US" smtClean="0"/>
              <a:t>36</a:t>
            </a:fld>
            <a:endParaRPr lang="en-US"/>
          </a:p>
        </p:txBody>
      </p:sp>
    </p:spTree>
    <p:extLst>
      <p:ext uri="{BB962C8B-B14F-4D97-AF65-F5344CB8AC3E}">
        <p14:creationId xmlns:p14="http://schemas.microsoft.com/office/powerpoint/2010/main" val="598071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Debt/Obligations</a:t>
            </a:r>
          </a:p>
        </p:txBody>
      </p:sp>
      <p:sp>
        <p:nvSpPr>
          <p:cNvPr id="3" name="Content Placeholder 2"/>
          <p:cNvSpPr>
            <a:spLocks noGrp="1"/>
          </p:cNvSpPr>
          <p:nvPr>
            <p:ph idx="1"/>
          </p:nvPr>
        </p:nvSpPr>
        <p:spPr/>
        <p:txBody>
          <a:bodyPr>
            <a:normAutofit/>
          </a:bodyPr>
          <a:lstStyle/>
          <a:p>
            <a:r>
              <a:rPr lang="en-US" b="1" i="1" dirty="0" smtClean="0"/>
              <a:t>General</a:t>
            </a:r>
          </a:p>
          <a:p>
            <a:endParaRPr lang="en-US" b="1" i="1" dirty="0" smtClean="0"/>
          </a:p>
          <a:p>
            <a:pPr lvl="1"/>
            <a:r>
              <a:rPr lang="en-US" dirty="0" smtClean="0"/>
              <a:t>Review of </a:t>
            </a:r>
            <a:r>
              <a:rPr lang="en-US" b="1" dirty="0" smtClean="0"/>
              <a:t>debt </a:t>
            </a:r>
            <a:r>
              <a:rPr lang="en-US" b="1" dirty="0"/>
              <a:t>obligations, loan agreements, funding agreements </a:t>
            </a:r>
            <a:r>
              <a:rPr lang="en-US" dirty="0"/>
              <a:t>and promissory notes </a:t>
            </a:r>
            <a:endParaRPr lang="en-US" dirty="0" smtClean="0"/>
          </a:p>
          <a:p>
            <a:pPr lvl="1"/>
            <a:endParaRPr lang="en-US" dirty="0" smtClean="0"/>
          </a:p>
          <a:p>
            <a:pPr lvl="2"/>
            <a:r>
              <a:rPr lang="en-US" dirty="0" smtClean="0"/>
              <a:t>Confirm </a:t>
            </a:r>
            <a:r>
              <a:rPr lang="en-US" b="1" dirty="0" smtClean="0"/>
              <a:t>assumption requirements</a:t>
            </a:r>
          </a:p>
          <a:p>
            <a:pPr lvl="2"/>
            <a:r>
              <a:rPr lang="en-US" dirty="0" smtClean="0"/>
              <a:t>Confirm provisions</a:t>
            </a:r>
            <a:r>
              <a:rPr lang="en-US" dirty="0"/>
              <a:t>, covenants or </a:t>
            </a:r>
            <a:r>
              <a:rPr lang="en-US" b="1" dirty="0"/>
              <a:t>requirements</a:t>
            </a:r>
            <a:r>
              <a:rPr lang="en-US" dirty="0"/>
              <a:t> which would prohibit the proposed transaction or accelerate any of the amounts due </a:t>
            </a:r>
            <a:r>
              <a:rPr lang="en-US" dirty="0" smtClean="0"/>
              <a:t>thereunder</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37</a:t>
            </a:fld>
            <a:endParaRPr lang="en-US"/>
          </a:p>
        </p:txBody>
      </p:sp>
    </p:spTree>
    <p:extLst>
      <p:ext uri="{BB962C8B-B14F-4D97-AF65-F5344CB8AC3E}">
        <p14:creationId xmlns:p14="http://schemas.microsoft.com/office/powerpoint/2010/main" val="745438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Debt/Obligations (continued)</a:t>
            </a:r>
          </a:p>
        </p:txBody>
      </p:sp>
      <p:sp>
        <p:nvSpPr>
          <p:cNvPr id="3" name="Content Placeholder 2"/>
          <p:cNvSpPr>
            <a:spLocks noGrp="1"/>
          </p:cNvSpPr>
          <p:nvPr>
            <p:ph idx="1"/>
          </p:nvPr>
        </p:nvSpPr>
        <p:spPr/>
        <p:txBody>
          <a:bodyPr>
            <a:normAutofit/>
          </a:bodyPr>
          <a:lstStyle/>
          <a:p>
            <a:r>
              <a:rPr lang="en-US" b="1" i="1" dirty="0" smtClean="0"/>
              <a:t>Security Interests</a:t>
            </a:r>
          </a:p>
          <a:p>
            <a:endParaRPr lang="en-US" b="1" i="1" dirty="0" smtClean="0"/>
          </a:p>
          <a:p>
            <a:pPr lvl="1"/>
            <a:r>
              <a:rPr lang="en-US" dirty="0" smtClean="0"/>
              <a:t>Review </a:t>
            </a:r>
            <a:r>
              <a:rPr lang="en-US" b="1" dirty="0" smtClean="0"/>
              <a:t>Uniform </a:t>
            </a:r>
            <a:r>
              <a:rPr lang="en-US" b="1" dirty="0"/>
              <a:t>Commercial Code (UCC) financing </a:t>
            </a:r>
            <a:r>
              <a:rPr lang="en-US" b="1" dirty="0" smtClean="0"/>
              <a:t>statements, </a:t>
            </a:r>
            <a:r>
              <a:rPr lang="en-US" dirty="0" smtClean="0"/>
              <a:t>current and prior obligations terminated prior to closing</a:t>
            </a:r>
            <a:r>
              <a:rPr lang="en-US" b="1" dirty="0" smtClean="0"/>
              <a:t> </a:t>
            </a:r>
          </a:p>
          <a:p>
            <a:pPr lvl="1"/>
            <a:endParaRPr lang="en-US" b="1" dirty="0" smtClean="0"/>
          </a:p>
          <a:p>
            <a:pPr lvl="1"/>
            <a:r>
              <a:rPr lang="en-US" dirty="0"/>
              <a:t>Review </a:t>
            </a:r>
            <a:r>
              <a:rPr lang="en-US" b="1" dirty="0"/>
              <a:t>mortgages and deeds of trust </a:t>
            </a:r>
            <a:r>
              <a:rPr lang="en-US" dirty="0"/>
              <a:t>on file relating to the assets of the </a:t>
            </a:r>
            <a:r>
              <a:rPr lang="en-US" dirty="0" smtClean="0"/>
              <a:t>Target, need to be satisfied, terminated or assigned at closing</a:t>
            </a:r>
          </a:p>
          <a:p>
            <a:pPr lvl="1"/>
            <a:endParaRPr lang="en-US" dirty="0"/>
          </a:p>
          <a:p>
            <a:pPr lvl="1"/>
            <a:r>
              <a:rPr lang="en-US" dirty="0" smtClean="0"/>
              <a:t>Verify </a:t>
            </a:r>
            <a:r>
              <a:rPr lang="en-US" b="1" dirty="0" smtClean="0"/>
              <a:t>tax liens</a:t>
            </a:r>
            <a:endParaRPr lang="en-US" b="1" dirty="0"/>
          </a:p>
          <a:p>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38</a:t>
            </a:fld>
            <a:endParaRPr lang="en-US"/>
          </a:p>
        </p:txBody>
      </p:sp>
    </p:spTree>
    <p:extLst>
      <p:ext uri="{BB962C8B-B14F-4D97-AF65-F5344CB8AC3E}">
        <p14:creationId xmlns:p14="http://schemas.microsoft.com/office/powerpoint/2010/main" val="364341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Debt/Obligations (continued)</a:t>
            </a:r>
            <a:endParaRPr lang="en-US" b="1" i="1" dirty="0"/>
          </a:p>
        </p:txBody>
      </p:sp>
      <p:sp>
        <p:nvSpPr>
          <p:cNvPr id="3" name="Content Placeholder 2"/>
          <p:cNvSpPr>
            <a:spLocks noGrp="1"/>
          </p:cNvSpPr>
          <p:nvPr>
            <p:ph idx="1"/>
          </p:nvPr>
        </p:nvSpPr>
        <p:spPr/>
        <p:txBody>
          <a:bodyPr>
            <a:normAutofit/>
          </a:bodyPr>
          <a:lstStyle/>
          <a:p>
            <a:r>
              <a:rPr lang="en-US" b="1" i="1" dirty="0" smtClean="0"/>
              <a:t>Determination of Assumed and Indemnified Liabilities</a:t>
            </a:r>
          </a:p>
          <a:p>
            <a:endParaRPr lang="en-US" b="1" i="1" dirty="0" smtClean="0"/>
          </a:p>
          <a:p>
            <a:pPr lvl="1"/>
            <a:r>
              <a:rPr lang="en-US" dirty="0" smtClean="0"/>
              <a:t>Determine whether </a:t>
            </a:r>
            <a:r>
              <a:rPr lang="en-US" dirty="0"/>
              <a:t>certain </a:t>
            </a:r>
            <a:r>
              <a:rPr lang="en-US" b="1" dirty="0"/>
              <a:t>liabilities will be left with the Target </a:t>
            </a:r>
            <a:r>
              <a:rPr lang="en-US" dirty="0"/>
              <a:t>(or its security holders) post-closing and/or </a:t>
            </a:r>
            <a:endParaRPr lang="en-US" dirty="0" smtClean="0"/>
          </a:p>
          <a:p>
            <a:pPr lvl="1"/>
            <a:endParaRPr lang="en-US" dirty="0" smtClean="0"/>
          </a:p>
          <a:p>
            <a:pPr lvl="1"/>
            <a:r>
              <a:rPr lang="en-US" dirty="0" smtClean="0"/>
              <a:t>Whether </a:t>
            </a:r>
            <a:r>
              <a:rPr lang="en-US" dirty="0"/>
              <a:t>the Target (or its security holders) will be required to </a:t>
            </a:r>
            <a:r>
              <a:rPr lang="en-US" b="1" dirty="0"/>
              <a:t>indemnify</a:t>
            </a:r>
            <a:r>
              <a:rPr lang="en-US" dirty="0"/>
              <a:t> the Acquirer against such liabilities and/or obligations </a:t>
            </a:r>
            <a:r>
              <a:rPr lang="en-US" dirty="0" smtClean="0"/>
              <a:t>post-closing</a:t>
            </a:r>
            <a:endParaRPr lang="en-US" dirty="0"/>
          </a:p>
          <a:p>
            <a:pPr lvl="1"/>
            <a:endParaRPr lang="en-US" dirty="0"/>
          </a:p>
          <a:p>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39</a:t>
            </a:fld>
            <a:endParaRPr lang="en-US"/>
          </a:p>
        </p:txBody>
      </p:sp>
    </p:spTree>
    <p:extLst>
      <p:ext uri="{BB962C8B-B14F-4D97-AF65-F5344CB8AC3E}">
        <p14:creationId xmlns:p14="http://schemas.microsoft.com/office/powerpoint/2010/main" val="356784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Consents, Licenses and Permits</a:t>
            </a:r>
            <a:endParaRPr lang="en-US" b="1" dirty="0"/>
          </a:p>
        </p:txBody>
      </p:sp>
      <p:sp>
        <p:nvSpPr>
          <p:cNvPr id="3" name="Content Placeholder 2"/>
          <p:cNvSpPr>
            <a:spLocks noGrp="1"/>
          </p:cNvSpPr>
          <p:nvPr>
            <p:ph idx="1"/>
          </p:nvPr>
        </p:nvSpPr>
        <p:spPr/>
        <p:txBody>
          <a:bodyPr>
            <a:normAutofit/>
          </a:bodyPr>
          <a:lstStyle/>
          <a:p>
            <a:r>
              <a:rPr lang="en-US" dirty="0" smtClean="0"/>
              <a:t>Confirm </a:t>
            </a:r>
            <a:r>
              <a:rPr lang="en-US" b="1" dirty="0" smtClean="0"/>
              <a:t>consents needed for closing</a:t>
            </a:r>
            <a:r>
              <a:rPr lang="en-US" dirty="0" smtClean="0"/>
              <a:t>:</a:t>
            </a:r>
          </a:p>
          <a:p>
            <a:pPr lvl="1"/>
            <a:r>
              <a:rPr lang="en-US" dirty="0" smtClean="0"/>
              <a:t>Typically license </a:t>
            </a:r>
            <a:r>
              <a:rPr lang="en-US" dirty="0"/>
              <a:t>agreements, leases and lending </a:t>
            </a:r>
            <a:r>
              <a:rPr lang="en-US" dirty="0" smtClean="0"/>
              <a:t>agreements require consents for</a:t>
            </a:r>
          </a:p>
          <a:p>
            <a:pPr lvl="2"/>
            <a:r>
              <a:rPr lang="en-US" dirty="0" smtClean="0"/>
              <a:t>(</a:t>
            </a:r>
            <a:r>
              <a:rPr lang="en-US" dirty="0"/>
              <a:t>1) the consummation of a change of control of transaction involving the sale of assets; and/or </a:t>
            </a:r>
            <a:endParaRPr lang="en-US" dirty="0" smtClean="0"/>
          </a:p>
          <a:p>
            <a:pPr lvl="2"/>
            <a:r>
              <a:rPr lang="en-US" dirty="0" smtClean="0"/>
              <a:t>(</a:t>
            </a:r>
            <a:r>
              <a:rPr lang="en-US" dirty="0"/>
              <a:t>2) may require the contracting party consent to the assignment of the applicable agreement and the rights thereunder to an acquirer. </a:t>
            </a:r>
            <a:endParaRPr lang="en-US" dirty="0" smtClean="0"/>
          </a:p>
          <a:p>
            <a:pPr lvl="2"/>
            <a:endParaRPr lang="en-US" dirty="0"/>
          </a:p>
          <a:p>
            <a:r>
              <a:rPr lang="en-US" b="1" dirty="0" smtClean="0"/>
              <a:t>Government </a:t>
            </a:r>
            <a:r>
              <a:rPr lang="en-US" b="1" dirty="0"/>
              <a:t>licenses and permits </a:t>
            </a:r>
            <a:r>
              <a:rPr lang="en-US" dirty="0" smtClean="0"/>
              <a:t>may </a:t>
            </a:r>
            <a:r>
              <a:rPr lang="en-US" dirty="0"/>
              <a:t>require consent for assignment or may need to be re-obtained/applied for separately by the Acquirer prior to </a:t>
            </a:r>
            <a:r>
              <a:rPr lang="en-US" dirty="0" smtClean="0"/>
              <a:t>closing</a:t>
            </a:r>
          </a:p>
          <a:p>
            <a:r>
              <a:rPr lang="en-US" dirty="0" smtClean="0"/>
              <a:t>Oil and gas operations, broker dealer licenses, </a:t>
            </a:r>
            <a:r>
              <a:rPr lang="en-US" smtClean="0"/>
              <a:t>liquor licenses</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40</a:t>
            </a:fld>
            <a:endParaRPr lang="en-US"/>
          </a:p>
        </p:txBody>
      </p:sp>
    </p:spTree>
    <p:extLst>
      <p:ext uri="{BB962C8B-B14F-4D97-AF65-F5344CB8AC3E}">
        <p14:creationId xmlns:p14="http://schemas.microsoft.com/office/powerpoint/2010/main" val="4251479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Taxes</a:t>
            </a:r>
            <a:endParaRPr lang="en-US" b="1" dirty="0"/>
          </a:p>
        </p:txBody>
      </p:sp>
      <p:sp>
        <p:nvSpPr>
          <p:cNvPr id="3" name="Content Placeholder 2"/>
          <p:cNvSpPr>
            <a:spLocks noGrp="1"/>
          </p:cNvSpPr>
          <p:nvPr>
            <p:ph idx="1"/>
          </p:nvPr>
        </p:nvSpPr>
        <p:spPr/>
        <p:txBody>
          <a:bodyPr>
            <a:normAutofit/>
          </a:bodyPr>
          <a:lstStyle/>
          <a:p>
            <a:r>
              <a:rPr lang="en-US" dirty="0" smtClean="0"/>
              <a:t>Confirmation that </a:t>
            </a:r>
            <a:r>
              <a:rPr lang="en-US" dirty="0"/>
              <a:t>the </a:t>
            </a:r>
            <a:r>
              <a:rPr lang="en-US" b="1" dirty="0"/>
              <a:t>Target has paid all taxes </a:t>
            </a:r>
            <a:r>
              <a:rPr lang="en-US" dirty="0"/>
              <a:t>due for prior fiscal </a:t>
            </a:r>
            <a:r>
              <a:rPr lang="en-US" dirty="0" smtClean="0"/>
              <a:t>years</a:t>
            </a:r>
          </a:p>
          <a:p>
            <a:endParaRPr lang="en-US" dirty="0"/>
          </a:p>
          <a:p>
            <a:r>
              <a:rPr lang="en-US" b="1" dirty="0" smtClean="0"/>
              <a:t>Negotiation of indemnification </a:t>
            </a:r>
            <a:r>
              <a:rPr lang="en-US" dirty="0"/>
              <a:t>from the Target (or its stockholders) for past taxes and amounts which may be deemed due by taxing authorities in the </a:t>
            </a:r>
            <a:r>
              <a:rPr lang="en-US" dirty="0" smtClean="0"/>
              <a:t>future</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41</a:t>
            </a:fld>
            <a:endParaRPr lang="en-US"/>
          </a:p>
        </p:txBody>
      </p:sp>
    </p:spTree>
    <p:extLst>
      <p:ext uri="{BB962C8B-B14F-4D97-AF65-F5344CB8AC3E}">
        <p14:creationId xmlns:p14="http://schemas.microsoft.com/office/powerpoint/2010/main" val="4040894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Insurance</a:t>
            </a:r>
          </a:p>
        </p:txBody>
      </p:sp>
      <p:sp>
        <p:nvSpPr>
          <p:cNvPr id="3" name="Content Placeholder 2"/>
          <p:cNvSpPr>
            <a:spLocks noGrp="1"/>
          </p:cNvSpPr>
          <p:nvPr>
            <p:ph idx="1"/>
          </p:nvPr>
        </p:nvSpPr>
        <p:spPr/>
        <p:txBody>
          <a:bodyPr>
            <a:normAutofit/>
          </a:bodyPr>
          <a:lstStyle/>
          <a:p>
            <a:r>
              <a:rPr lang="en-US" b="1" dirty="0" smtClean="0"/>
              <a:t>Confirmation of insurance </a:t>
            </a:r>
            <a:r>
              <a:rPr lang="en-US" dirty="0"/>
              <a:t>the Target has in </a:t>
            </a:r>
            <a:r>
              <a:rPr lang="en-US" dirty="0" smtClean="0"/>
              <a:t>place:</a:t>
            </a:r>
          </a:p>
          <a:p>
            <a:endParaRPr lang="en-US" dirty="0" smtClean="0"/>
          </a:p>
          <a:p>
            <a:pPr lvl="1"/>
            <a:r>
              <a:rPr lang="en-US" dirty="0" smtClean="0"/>
              <a:t>Confirm adequate </a:t>
            </a:r>
          </a:p>
          <a:p>
            <a:pPr marL="274320" lvl="1" indent="0">
              <a:buNone/>
            </a:pPr>
            <a:endParaRPr lang="en-US" dirty="0" smtClean="0"/>
          </a:p>
          <a:p>
            <a:pPr lvl="1"/>
            <a:r>
              <a:rPr lang="en-US" dirty="0" smtClean="0"/>
              <a:t>Obtain </a:t>
            </a:r>
            <a:r>
              <a:rPr lang="en-US" dirty="0"/>
              <a:t>similar insurance coverage for any assets of Target which are acquired separate from the pre-existing insurance </a:t>
            </a:r>
            <a:r>
              <a:rPr lang="en-US" dirty="0" smtClean="0"/>
              <a:t>coverage</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42</a:t>
            </a:fld>
            <a:endParaRPr lang="en-US"/>
          </a:p>
        </p:txBody>
      </p:sp>
    </p:spTree>
    <p:extLst>
      <p:ext uri="{BB962C8B-B14F-4D97-AF65-F5344CB8AC3E}">
        <p14:creationId xmlns:p14="http://schemas.microsoft.com/office/powerpoint/2010/main" val="2808266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POTENTIAL REQUIRED Filings</a:t>
            </a:r>
            <a:endParaRPr lang="en-US" b="1" dirty="0"/>
          </a:p>
        </p:txBody>
      </p:sp>
      <p:sp>
        <p:nvSpPr>
          <p:cNvPr id="3" name="Content Placeholder 2"/>
          <p:cNvSpPr>
            <a:spLocks noGrp="1"/>
          </p:cNvSpPr>
          <p:nvPr>
            <p:ph idx="1"/>
          </p:nvPr>
        </p:nvSpPr>
        <p:spPr/>
        <p:txBody>
          <a:bodyPr>
            <a:normAutofit/>
          </a:bodyPr>
          <a:lstStyle/>
          <a:p>
            <a:r>
              <a:rPr lang="en-US" b="1" i="1" dirty="0" smtClean="0"/>
              <a:t>Securities and Exchange Commission</a:t>
            </a:r>
          </a:p>
          <a:p>
            <a:pPr lvl="1"/>
            <a:r>
              <a:rPr lang="en-US" dirty="0" smtClean="0"/>
              <a:t>Public companies have </a:t>
            </a:r>
            <a:r>
              <a:rPr lang="en-US" b="1" dirty="0" smtClean="0"/>
              <a:t>filing </a:t>
            </a:r>
            <a:r>
              <a:rPr lang="en-US" b="1" dirty="0"/>
              <a:t>and disclosure obligations with the SEC</a:t>
            </a:r>
            <a:r>
              <a:rPr lang="en-US" dirty="0"/>
              <a:t>, foreign regulatory agencies and/or </a:t>
            </a:r>
            <a:r>
              <a:rPr lang="en-US" dirty="0" smtClean="0"/>
              <a:t>stock </a:t>
            </a:r>
            <a:r>
              <a:rPr lang="en-US" dirty="0"/>
              <a:t>markets/exchanges </a:t>
            </a:r>
            <a:endParaRPr lang="en-US" dirty="0" smtClean="0"/>
          </a:p>
          <a:p>
            <a:pPr lvl="1"/>
            <a:r>
              <a:rPr lang="en-US" b="1" dirty="0" smtClean="0"/>
              <a:t>Form </a:t>
            </a:r>
            <a:r>
              <a:rPr lang="en-US" b="1" dirty="0"/>
              <a:t>8-K for SEC reporting </a:t>
            </a:r>
            <a:r>
              <a:rPr lang="en-US" b="1" dirty="0" smtClean="0"/>
              <a:t>companies</a:t>
            </a:r>
            <a:r>
              <a:rPr lang="en-US" dirty="0" smtClean="0"/>
              <a:t> must </a:t>
            </a:r>
            <a:r>
              <a:rPr lang="en-US" dirty="0"/>
              <a:t>be filed within four business days of certain material transactions), </a:t>
            </a:r>
            <a:r>
              <a:rPr lang="en-US" dirty="0" smtClean="0"/>
              <a:t>along with a </a:t>
            </a:r>
            <a:r>
              <a:rPr lang="en-US" dirty="0"/>
              <a:t>copy of the definitive agreement </a:t>
            </a:r>
            <a:r>
              <a:rPr lang="en-US" dirty="0" smtClean="0"/>
              <a:t>and may </a:t>
            </a:r>
            <a:r>
              <a:rPr lang="en-US" dirty="0"/>
              <a:t>require financial statements of the Acquirer or Target be included in the SEC </a:t>
            </a:r>
            <a:r>
              <a:rPr lang="en-US" dirty="0" smtClean="0"/>
              <a:t>filings</a:t>
            </a:r>
          </a:p>
        </p:txBody>
      </p:sp>
      <p:sp>
        <p:nvSpPr>
          <p:cNvPr id="4" name="Slide Number Placeholder 3"/>
          <p:cNvSpPr>
            <a:spLocks noGrp="1"/>
          </p:cNvSpPr>
          <p:nvPr>
            <p:ph type="sldNum" sz="quarter" idx="12"/>
          </p:nvPr>
        </p:nvSpPr>
        <p:spPr/>
        <p:txBody>
          <a:bodyPr/>
          <a:lstStyle/>
          <a:p>
            <a:fld id="{F36C87F6-986D-49E6-AF40-1B3A1EE8064D}" type="slidenum">
              <a:rPr lang="en-US" smtClean="0"/>
              <a:t>43</a:t>
            </a:fld>
            <a:endParaRPr lang="en-US"/>
          </a:p>
        </p:txBody>
      </p:sp>
    </p:spTree>
    <p:extLst>
      <p:ext uri="{BB962C8B-B14F-4D97-AF65-F5344CB8AC3E}">
        <p14:creationId xmlns:p14="http://schemas.microsoft.com/office/powerpoint/2010/main" val="406249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POTENTIAL REQUIRED </a:t>
            </a:r>
            <a:r>
              <a:rPr lang="en-US" b="1" i="1" dirty="0" smtClean="0"/>
              <a:t>Filings (Continued)</a:t>
            </a:r>
            <a:endParaRPr lang="en-US" b="1" dirty="0"/>
          </a:p>
        </p:txBody>
      </p:sp>
      <p:sp>
        <p:nvSpPr>
          <p:cNvPr id="3" name="Content Placeholder 2"/>
          <p:cNvSpPr>
            <a:spLocks noGrp="1"/>
          </p:cNvSpPr>
          <p:nvPr>
            <p:ph idx="1"/>
          </p:nvPr>
        </p:nvSpPr>
        <p:spPr/>
        <p:txBody>
          <a:bodyPr>
            <a:normAutofit/>
          </a:bodyPr>
          <a:lstStyle/>
          <a:p>
            <a:r>
              <a:rPr lang="en-US" b="1" i="1" dirty="0"/>
              <a:t>Stock </a:t>
            </a:r>
            <a:r>
              <a:rPr lang="en-US" b="1" i="1" dirty="0" smtClean="0"/>
              <a:t>Exchanges</a:t>
            </a:r>
          </a:p>
          <a:p>
            <a:pPr lvl="1"/>
            <a:r>
              <a:rPr lang="en-US" dirty="0" smtClean="0"/>
              <a:t>If </a:t>
            </a:r>
            <a:r>
              <a:rPr lang="en-US" dirty="0"/>
              <a:t>the Target’s or the Acquirer’s securities are traded on a stock exchange, the </a:t>
            </a:r>
            <a:r>
              <a:rPr lang="en-US" b="1" dirty="0"/>
              <a:t>rules of the exchange may require stockholder approval </a:t>
            </a:r>
            <a:endParaRPr lang="en-US" b="1" dirty="0" smtClean="0"/>
          </a:p>
          <a:p>
            <a:pPr lvl="2"/>
            <a:r>
              <a:rPr lang="en-US" dirty="0" smtClean="0"/>
              <a:t>For </a:t>
            </a:r>
            <a:r>
              <a:rPr lang="en-US" dirty="0"/>
              <a:t>example under the rules and regulations of the NYSE and Nasdaq, issuing securities constituting more than </a:t>
            </a:r>
            <a:r>
              <a:rPr lang="en-US" b="1" dirty="0"/>
              <a:t>20% of the issuer’s then outstanding shares of common stock</a:t>
            </a:r>
            <a:r>
              <a:rPr lang="en-US" dirty="0"/>
              <a:t> in an acquisition transaction requires approval of the issuer’s </a:t>
            </a:r>
            <a:r>
              <a:rPr lang="en-US" dirty="0" smtClean="0"/>
              <a:t>stockholders</a:t>
            </a:r>
          </a:p>
          <a:p>
            <a:pPr lvl="1"/>
            <a:r>
              <a:rPr lang="en-US" dirty="0" smtClean="0"/>
              <a:t>In </a:t>
            </a:r>
            <a:r>
              <a:rPr lang="en-US" dirty="0"/>
              <a:t>the event the Acquirer is a SEC reporting company this typically requires a </a:t>
            </a:r>
            <a:r>
              <a:rPr lang="en-US" b="1" dirty="0"/>
              <a:t>proxy statement with financial statements </a:t>
            </a:r>
            <a:r>
              <a:rPr lang="en-US" dirty="0"/>
              <a:t>of the Target being prepared, which is subject to SEC review and comment prior to </a:t>
            </a:r>
            <a:r>
              <a:rPr lang="en-US" dirty="0" smtClean="0"/>
              <a:t>mailing</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44</a:t>
            </a:fld>
            <a:endParaRPr lang="en-US"/>
          </a:p>
        </p:txBody>
      </p:sp>
    </p:spTree>
    <p:extLst>
      <p:ext uri="{BB962C8B-B14F-4D97-AF65-F5344CB8AC3E}">
        <p14:creationId xmlns:p14="http://schemas.microsoft.com/office/powerpoint/2010/main" val="3295445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POTENTIAL REQUIRED Filings (Continued)</a:t>
            </a:r>
            <a:endParaRPr lang="en-US" dirty="0"/>
          </a:p>
        </p:txBody>
      </p:sp>
      <p:sp>
        <p:nvSpPr>
          <p:cNvPr id="3" name="Content Placeholder 2"/>
          <p:cNvSpPr>
            <a:spLocks noGrp="1"/>
          </p:cNvSpPr>
          <p:nvPr>
            <p:ph idx="1"/>
          </p:nvPr>
        </p:nvSpPr>
        <p:spPr/>
        <p:txBody>
          <a:bodyPr>
            <a:normAutofit/>
          </a:bodyPr>
          <a:lstStyle/>
          <a:p>
            <a:r>
              <a:rPr lang="en-US" b="1" i="1" dirty="0"/>
              <a:t>Securities Law </a:t>
            </a:r>
            <a:r>
              <a:rPr lang="en-US" b="1" i="1" dirty="0" smtClean="0"/>
              <a:t>Issues</a:t>
            </a:r>
          </a:p>
          <a:p>
            <a:pPr lvl="1"/>
            <a:r>
              <a:rPr lang="en-US" b="1" dirty="0" smtClean="0"/>
              <a:t>Confirm compliance with state </a:t>
            </a:r>
            <a:r>
              <a:rPr lang="en-US" b="1" dirty="0"/>
              <a:t>and federal securities laws </a:t>
            </a:r>
            <a:endParaRPr lang="en-US" b="1" dirty="0" smtClean="0"/>
          </a:p>
          <a:p>
            <a:pPr lvl="2"/>
            <a:r>
              <a:rPr lang="en-US" dirty="0" smtClean="0"/>
              <a:t>If </a:t>
            </a:r>
            <a:r>
              <a:rPr lang="en-US" dirty="0"/>
              <a:t>securities of the Acquirer are being exchanged for or provided in consideration for the Target, </a:t>
            </a:r>
            <a:r>
              <a:rPr lang="en-US" dirty="0" smtClean="0"/>
              <a:t>certain </a:t>
            </a:r>
            <a:r>
              <a:rPr lang="en-US" dirty="0"/>
              <a:t>information regarding the Acquirer, its assets, operations and properties, as well as other matters, and in some cases audited financial statements are required to be provided to Target </a:t>
            </a:r>
            <a:r>
              <a:rPr lang="en-US" dirty="0" smtClean="0"/>
              <a:t>stockholders</a:t>
            </a:r>
          </a:p>
          <a:p>
            <a:pPr lvl="1"/>
            <a:r>
              <a:rPr lang="en-US" dirty="0" smtClean="0"/>
              <a:t>The </a:t>
            </a:r>
            <a:r>
              <a:rPr lang="en-US" dirty="0"/>
              <a:t>entire </a:t>
            </a:r>
            <a:r>
              <a:rPr lang="en-US" dirty="0" smtClean="0"/>
              <a:t>transaction consideration </a:t>
            </a:r>
            <a:r>
              <a:rPr lang="en-US" b="1" dirty="0"/>
              <a:t>may need to </a:t>
            </a:r>
            <a:r>
              <a:rPr lang="en-US" b="1" dirty="0" smtClean="0"/>
              <a:t>be registered in </a:t>
            </a:r>
            <a:r>
              <a:rPr lang="en-US" b="1" dirty="0"/>
              <a:t>a registration statement</a:t>
            </a:r>
            <a:r>
              <a:rPr lang="en-US" dirty="0"/>
              <a:t> filed with the SEC, which requires significant disclosures and is subject to SEC review and </a:t>
            </a:r>
            <a:r>
              <a:rPr lang="en-US" dirty="0" smtClean="0"/>
              <a:t>approval</a:t>
            </a:r>
            <a:r>
              <a:rPr lang="en-US" dirty="0"/>
              <a:t>, </a:t>
            </a:r>
            <a:r>
              <a:rPr lang="en-US" dirty="0" smtClean="0"/>
              <a:t>if:</a:t>
            </a:r>
          </a:p>
          <a:p>
            <a:pPr lvl="2"/>
            <a:r>
              <a:rPr lang="en-US" dirty="0" smtClean="0"/>
              <a:t>Securities </a:t>
            </a:r>
            <a:r>
              <a:rPr lang="en-US" dirty="0"/>
              <a:t>will be issued to more than 35 non-accredited stockholders (typically individuals who have less than a $1 million net worth, or made less than $200,000 for the past two years ($300,000 with spouses) and/or don’t anticipate making more than that amount in the current year, and/or entities which don’t have more than $5 million in assets or which are not owned by all ‘accredited’ investors), </a:t>
            </a:r>
          </a:p>
          <a:p>
            <a:pPr lvl="1"/>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45</a:t>
            </a:fld>
            <a:endParaRPr lang="en-US"/>
          </a:p>
        </p:txBody>
      </p:sp>
    </p:spTree>
    <p:extLst>
      <p:ext uri="{BB962C8B-B14F-4D97-AF65-F5344CB8AC3E}">
        <p14:creationId xmlns:p14="http://schemas.microsoft.com/office/powerpoint/2010/main" val="1612983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Fairness Opinion and Fiduciary Duties</a:t>
            </a:r>
          </a:p>
        </p:txBody>
      </p:sp>
      <p:sp>
        <p:nvSpPr>
          <p:cNvPr id="3" name="Content Placeholder 2"/>
          <p:cNvSpPr>
            <a:spLocks noGrp="1"/>
          </p:cNvSpPr>
          <p:nvPr>
            <p:ph idx="1"/>
          </p:nvPr>
        </p:nvSpPr>
        <p:spPr/>
        <p:txBody>
          <a:bodyPr>
            <a:normAutofit/>
          </a:bodyPr>
          <a:lstStyle/>
          <a:p>
            <a:r>
              <a:rPr lang="en-US" dirty="0"/>
              <a:t>The Board of Directors of both the Acquirer and the Target will need to undertake their own due diligence to determine and </a:t>
            </a:r>
            <a:r>
              <a:rPr lang="en-US" dirty="0" smtClean="0"/>
              <a:t>confirm:</a:t>
            </a:r>
          </a:p>
          <a:p>
            <a:pPr lvl="1"/>
            <a:r>
              <a:rPr lang="en-US" dirty="0" smtClean="0"/>
              <a:t>the </a:t>
            </a:r>
            <a:r>
              <a:rPr lang="en-US" b="1" dirty="0" smtClean="0"/>
              <a:t>transaction </a:t>
            </a:r>
            <a:r>
              <a:rPr lang="en-US" b="1" dirty="0"/>
              <a:t>is fair to </a:t>
            </a:r>
            <a:r>
              <a:rPr lang="en-US" b="1" dirty="0" smtClean="0"/>
              <a:t>the entity’s owners</a:t>
            </a:r>
          </a:p>
          <a:p>
            <a:r>
              <a:rPr lang="en-US" dirty="0" smtClean="0"/>
              <a:t>The </a:t>
            </a:r>
            <a:r>
              <a:rPr lang="en-US" dirty="0"/>
              <a:t>Boards will need to comply with </a:t>
            </a:r>
            <a:r>
              <a:rPr lang="en-US" b="1" dirty="0"/>
              <a:t>all fiduciary duties </a:t>
            </a:r>
            <a:r>
              <a:rPr lang="en-US" dirty="0"/>
              <a:t>relating to the </a:t>
            </a:r>
            <a:r>
              <a:rPr lang="en-US" dirty="0" smtClean="0"/>
              <a:t>transaction:</a:t>
            </a:r>
          </a:p>
          <a:p>
            <a:pPr lvl="1"/>
            <a:r>
              <a:rPr lang="en-US" dirty="0" smtClean="0"/>
              <a:t>Being </a:t>
            </a:r>
            <a:r>
              <a:rPr lang="en-US" dirty="0"/>
              <a:t>informed regarding the terms of the transaction and potential </a:t>
            </a:r>
            <a:r>
              <a:rPr lang="en-US" dirty="0" smtClean="0"/>
              <a:t>alternatives</a:t>
            </a:r>
          </a:p>
          <a:p>
            <a:pPr lvl="1"/>
            <a:r>
              <a:rPr lang="en-US" dirty="0" smtClean="0"/>
              <a:t>May </a:t>
            </a:r>
            <a:r>
              <a:rPr lang="en-US" dirty="0"/>
              <a:t>need to determine that the ‘best’ price for such assets/operations is </a:t>
            </a:r>
            <a:r>
              <a:rPr lang="en-US" dirty="0" smtClean="0"/>
              <a:t>obtained</a:t>
            </a:r>
            <a:r>
              <a:rPr lang="en-US" dirty="0"/>
              <a:t> </a:t>
            </a:r>
            <a:r>
              <a:rPr lang="en-US" dirty="0" smtClean="0"/>
              <a:t>(if sale of all assets)</a:t>
            </a:r>
            <a:endParaRPr lang="en-US" dirty="0"/>
          </a:p>
          <a:p>
            <a:r>
              <a:rPr lang="en-US" dirty="0" smtClean="0"/>
              <a:t>Consider obtaining </a:t>
            </a:r>
            <a:r>
              <a:rPr lang="en-US" b="1" dirty="0" smtClean="0"/>
              <a:t>fairness opinion</a:t>
            </a:r>
            <a:endParaRPr lang="en-US" b="1" dirty="0"/>
          </a:p>
        </p:txBody>
      </p:sp>
      <p:sp>
        <p:nvSpPr>
          <p:cNvPr id="4" name="Slide Number Placeholder 3"/>
          <p:cNvSpPr>
            <a:spLocks noGrp="1"/>
          </p:cNvSpPr>
          <p:nvPr>
            <p:ph type="sldNum" sz="quarter" idx="12"/>
          </p:nvPr>
        </p:nvSpPr>
        <p:spPr/>
        <p:txBody>
          <a:bodyPr/>
          <a:lstStyle/>
          <a:p>
            <a:fld id="{F36C87F6-986D-49E6-AF40-1B3A1EE8064D}" type="slidenum">
              <a:rPr lang="en-US" smtClean="0"/>
              <a:t>46</a:t>
            </a:fld>
            <a:endParaRPr lang="en-US"/>
          </a:p>
        </p:txBody>
      </p:sp>
    </p:spTree>
    <p:extLst>
      <p:ext uri="{BB962C8B-B14F-4D97-AF65-F5344CB8AC3E}">
        <p14:creationId xmlns:p14="http://schemas.microsoft.com/office/powerpoint/2010/main" val="3684960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Potential Anti-Trust and Related Issues</a:t>
            </a:r>
          </a:p>
        </p:txBody>
      </p:sp>
      <p:sp>
        <p:nvSpPr>
          <p:cNvPr id="3" name="Content Placeholder 2"/>
          <p:cNvSpPr>
            <a:spLocks noGrp="1"/>
          </p:cNvSpPr>
          <p:nvPr>
            <p:ph idx="1"/>
          </p:nvPr>
        </p:nvSpPr>
        <p:spPr/>
        <p:txBody>
          <a:bodyPr>
            <a:normAutofit/>
          </a:bodyPr>
          <a:lstStyle/>
          <a:p>
            <a:r>
              <a:rPr lang="en-US" b="1" dirty="0" smtClean="0"/>
              <a:t>Hart–Scott–</a:t>
            </a:r>
            <a:r>
              <a:rPr lang="en-US" b="1" dirty="0" err="1" smtClean="0"/>
              <a:t>Rodino</a:t>
            </a:r>
            <a:r>
              <a:rPr lang="en-US" b="1" dirty="0" smtClean="0"/>
              <a:t> </a:t>
            </a:r>
            <a:r>
              <a:rPr lang="en-US" b="1" dirty="0"/>
              <a:t>Antitrust Improvements Act of </a:t>
            </a:r>
            <a:r>
              <a:rPr lang="en-US" b="1" dirty="0" smtClean="0"/>
              <a:t>1976</a:t>
            </a:r>
          </a:p>
          <a:p>
            <a:pPr marL="45720" indent="0">
              <a:buNone/>
            </a:pPr>
            <a:endParaRPr lang="en-US" b="1" dirty="0" smtClean="0"/>
          </a:p>
          <a:p>
            <a:pPr lvl="1"/>
            <a:r>
              <a:rPr lang="en-US" dirty="0" smtClean="0"/>
              <a:t>The </a:t>
            </a:r>
            <a:r>
              <a:rPr lang="en-US" dirty="0" err="1"/>
              <a:t>HSR</a:t>
            </a:r>
            <a:r>
              <a:rPr lang="en-US" dirty="0"/>
              <a:t> Act </a:t>
            </a:r>
            <a:r>
              <a:rPr lang="en-US" b="1" dirty="0"/>
              <a:t>prevents certain mergers, acquisitions of assets </a:t>
            </a:r>
            <a:r>
              <a:rPr lang="en-US" dirty="0"/>
              <a:t>and </a:t>
            </a:r>
            <a:r>
              <a:rPr lang="en-US" dirty="0" smtClean="0"/>
              <a:t>securities</a:t>
            </a:r>
          </a:p>
          <a:p>
            <a:pPr marL="274320" lvl="1" indent="0">
              <a:buNone/>
            </a:pPr>
            <a:r>
              <a:rPr lang="en-US" dirty="0" smtClean="0"/>
              <a:t> </a:t>
            </a:r>
          </a:p>
          <a:p>
            <a:pPr lvl="1"/>
            <a:r>
              <a:rPr lang="en-US" dirty="0" smtClean="0"/>
              <a:t>Unless </a:t>
            </a:r>
            <a:r>
              <a:rPr lang="en-US" dirty="0"/>
              <a:t>they have been </a:t>
            </a:r>
            <a:r>
              <a:rPr lang="en-US" b="1" dirty="0"/>
              <a:t>approved by the U.S. Federal Trade Commission and Department of Justice</a:t>
            </a:r>
            <a:r>
              <a:rPr lang="en-US" dirty="0"/>
              <a:t> and </a:t>
            </a:r>
            <a:endParaRPr lang="en-US" dirty="0" smtClean="0"/>
          </a:p>
          <a:p>
            <a:pPr marL="274320" lvl="1" indent="0">
              <a:buNone/>
            </a:pPr>
            <a:endParaRPr lang="en-US" dirty="0" smtClean="0"/>
          </a:p>
          <a:p>
            <a:pPr lvl="1"/>
            <a:r>
              <a:rPr lang="en-US" dirty="0" smtClean="0"/>
              <a:t>Such </a:t>
            </a:r>
            <a:r>
              <a:rPr lang="en-US" dirty="0"/>
              <a:t>agencies have determined that the proposed transactions </a:t>
            </a:r>
            <a:r>
              <a:rPr lang="en-US" b="1" dirty="0"/>
              <a:t>do not adversely affect U.S. commerce</a:t>
            </a:r>
            <a:r>
              <a:rPr lang="en-US" dirty="0"/>
              <a:t> under applicable antitrust laws</a:t>
            </a:r>
            <a:r>
              <a:rPr lang="en-US" dirty="0" smtClean="0"/>
              <a:t>.</a:t>
            </a:r>
          </a:p>
        </p:txBody>
      </p:sp>
      <p:sp>
        <p:nvSpPr>
          <p:cNvPr id="4" name="Slide Number Placeholder 3"/>
          <p:cNvSpPr>
            <a:spLocks noGrp="1"/>
          </p:cNvSpPr>
          <p:nvPr>
            <p:ph type="sldNum" sz="quarter" idx="12"/>
          </p:nvPr>
        </p:nvSpPr>
        <p:spPr/>
        <p:txBody>
          <a:bodyPr/>
          <a:lstStyle/>
          <a:p>
            <a:fld id="{F36C87F6-986D-49E6-AF40-1B3A1EE8064D}" type="slidenum">
              <a:rPr lang="en-US" smtClean="0"/>
              <a:t>47</a:t>
            </a:fld>
            <a:endParaRPr lang="en-US"/>
          </a:p>
        </p:txBody>
      </p:sp>
    </p:spTree>
    <p:extLst>
      <p:ext uri="{BB962C8B-B14F-4D97-AF65-F5344CB8AC3E}">
        <p14:creationId xmlns:p14="http://schemas.microsoft.com/office/powerpoint/2010/main" val="3951416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Potential Anti-Trust and Related </a:t>
            </a:r>
            <a:r>
              <a:rPr lang="en-US" b="1" i="1" dirty="0" smtClean="0"/>
              <a:t>Issues (Continued)</a:t>
            </a:r>
            <a:endParaRPr lang="en-US" b="1" i="1" dirty="0"/>
          </a:p>
        </p:txBody>
      </p:sp>
      <p:sp>
        <p:nvSpPr>
          <p:cNvPr id="3" name="Content Placeholder 2"/>
          <p:cNvSpPr>
            <a:spLocks noGrp="1"/>
          </p:cNvSpPr>
          <p:nvPr>
            <p:ph idx="1"/>
          </p:nvPr>
        </p:nvSpPr>
        <p:spPr/>
        <p:txBody>
          <a:bodyPr>
            <a:normAutofit/>
          </a:bodyPr>
          <a:lstStyle/>
          <a:p>
            <a:r>
              <a:rPr lang="en-US" b="1" i="1" dirty="0" err="1" smtClean="0"/>
              <a:t>HSR</a:t>
            </a:r>
            <a:r>
              <a:rPr lang="en-US" b="1" i="1" dirty="0" smtClean="0"/>
              <a:t> Act (continued)</a:t>
            </a:r>
          </a:p>
          <a:p>
            <a:pPr lvl="1"/>
            <a:r>
              <a:rPr lang="en-US" dirty="0"/>
              <a:t>The general rule is that </a:t>
            </a:r>
            <a:r>
              <a:rPr lang="en-US" b="1" dirty="0"/>
              <a:t>notice and approval of the agencies </a:t>
            </a:r>
            <a:r>
              <a:rPr lang="en-US" dirty="0"/>
              <a:t>above is required if: </a:t>
            </a:r>
            <a:endParaRPr lang="en-US" dirty="0" smtClean="0"/>
          </a:p>
          <a:p>
            <a:pPr lvl="2"/>
            <a:r>
              <a:rPr lang="en-US" dirty="0" smtClean="0"/>
              <a:t>(</a:t>
            </a:r>
            <a:r>
              <a:rPr lang="en-US" dirty="0"/>
              <a:t>1) the acquirer or target is </a:t>
            </a:r>
            <a:r>
              <a:rPr lang="en-US" b="1" dirty="0"/>
              <a:t>engaged in commerce </a:t>
            </a:r>
            <a:r>
              <a:rPr lang="en-US" dirty="0"/>
              <a:t>or in any activity affecting commerce; </a:t>
            </a:r>
            <a:r>
              <a:rPr lang="en-US" u="sng" dirty="0"/>
              <a:t>and</a:t>
            </a:r>
            <a:r>
              <a:rPr lang="en-US" dirty="0"/>
              <a:t> </a:t>
            </a:r>
            <a:endParaRPr lang="en-US" dirty="0" smtClean="0"/>
          </a:p>
          <a:p>
            <a:pPr lvl="2"/>
            <a:r>
              <a:rPr lang="en-US" dirty="0" smtClean="0"/>
              <a:t>(</a:t>
            </a:r>
            <a:r>
              <a:rPr lang="en-US" dirty="0"/>
              <a:t>2) as a result of such acquisition, </a:t>
            </a:r>
            <a:r>
              <a:rPr lang="en-US" b="1" dirty="0"/>
              <a:t>the acquirer would hold an aggregate total amount of the voting securities and assets of the </a:t>
            </a:r>
            <a:r>
              <a:rPr lang="en-US" b="1" dirty="0" smtClean="0"/>
              <a:t>target in excess of certain thresholds </a:t>
            </a:r>
            <a:r>
              <a:rPr lang="en-US" dirty="0" smtClean="0"/>
              <a:t>(in the millions). </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48</a:t>
            </a:fld>
            <a:endParaRPr lang="en-US"/>
          </a:p>
        </p:txBody>
      </p:sp>
    </p:spTree>
    <p:extLst>
      <p:ext uri="{BB962C8B-B14F-4D97-AF65-F5344CB8AC3E}">
        <p14:creationId xmlns:p14="http://schemas.microsoft.com/office/powerpoint/2010/main" val="309517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Potential Anti-Trust and Related </a:t>
            </a:r>
            <a:r>
              <a:rPr lang="en-US" b="1" i="1" dirty="0" smtClean="0"/>
              <a:t>Issues (Continued)</a:t>
            </a:r>
            <a:endParaRPr lang="en-US" b="1" i="1" dirty="0"/>
          </a:p>
        </p:txBody>
      </p:sp>
      <p:sp>
        <p:nvSpPr>
          <p:cNvPr id="3" name="Content Placeholder 2"/>
          <p:cNvSpPr>
            <a:spLocks noGrp="1"/>
          </p:cNvSpPr>
          <p:nvPr>
            <p:ph idx="1"/>
          </p:nvPr>
        </p:nvSpPr>
        <p:spPr/>
        <p:txBody>
          <a:bodyPr>
            <a:normAutofit/>
          </a:bodyPr>
          <a:lstStyle/>
          <a:p>
            <a:r>
              <a:rPr lang="en-US" b="1" dirty="0"/>
              <a:t>Worker Adjustment and Retraining Notification Act of 1988 </a:t>
            </a:r>
            <a:endParaRPr lang="en-US" b="1" dirty="0" smtClean="0"/>
          </a:p>
          <a:p>
            <a:pPr lvl="1"/>
            <a:r>
              <a:rPr lang="en-US" b="1" dirty="0" smtClean="0"/>
              <a:t>Requires</a:t>
            </a:r>
            <a:r>
              <a:rPr lang="en-US" dirty="0" smtClean="0"/>
              <a:t> </a:t>
            </a:r>
            <a:r>
              <a:rPr lang="en-US" b="1" dirty="0"/>
              <a:t>60 calendar-day </a:t>
            </a:r>
            <a:r>
              <a:rPr lang="en-US" b="1" dirty="0" smtClean="0"/>
              <a:t>advance </a:t>
            </a:r>
            <a:r>
              <a:rPr lang="en-US" b="1" dirty="0"/>
              <a:t>notification of plant closings and mass layoffs</a:t>
            </a:r>
            <a:r>
              <a:rPr lang="en-US" dirty="0"/>
              <a:t> to certain covered employees and effects employers with 100 or more employees, not counting employees who have worked less than 6 months in the last 12 months and not counting employees who work an average of less than 20 hours a </a:t>
            </a:r>
            <a:r>
              <a:rPr lang="en-US" dirty="0" smtClean="0"/>
              <a:t>week</a:t>
            </a:r>
            <a:endParaRPr lang="en-US" dirty="0"/>
          </a:p>
          <a:p>
            <a:r>
              <a:rPr lang="en-US" b="1" dirty="0"/>
              <a:t>Committee on Foreign Investment in the United States (“</a:t>
            </a:r>
            <a:r>
              <a:rPr lang="en-US" b="1" dirty="0" err="1"/>
              <a:t>CFIUS</a:t>
            </a:r>
            <a:r>
              <a:rPr lang="en-US" b="1" dirty="0"/>
              <a:t>”)</a:t>
            </a:r>
            <a:endParaRPr lang="en-US" b="1" i="1" dirty="0" smtClean="0"/>
          </a:p>
          <a:p>
            <a:pPr lvl="1"/>
            <a:r>
              <a:rPr lang="en-US" b="1" dirty="0" smtClean="0"/>
              <a:t>If the </a:t>
            </a:r>
            <a:r>
              <a:rPr lang="en-US" b="1" dirty="0"/>
              <a:t>Acquirer is a foreign party</a:t>
            </a:r>
            <a:r>
              <a:rPr lang="en-US" dirty="0"/>
              <a:t>, </a:t>
            </a:r>
            <a:r>
              <a:rPr lang="en-US" dirty="0" err="1" smtClean="0"/>
              <a:t>CFIUS</a:t>
            </a:r>
            <a:r>
              <a:rPr lang="en-US" dirty="0" smtClean="0"/>
              <a:t> (an </a:t>
            </a:r>
            <a:r>
              <a:rPr lang="en-US" dirty="0"/>
              <a:t>interagency committee authorized to review certain transactions involving foreign investment in the United </a:t>
            </a:r>
            <a:r>
              <a:rPr lang="en-US" dirty="0" smtClean="0"/>
              <a:t>States), may need to review the transaction in </a:t>
            </a:r>
            <a:r>
              <a:rPr lang="en-US" dirty="0"/>
              <a:t>order to determine the </a:t>
            </a:r>
            <a:r>
              <a:rPr lang="en-US" b="1" dirty="0"/>
              <a:t>effect of such transactions on the national security </a:t>
            </a:r>
            <a:r>
              <a:rPr lang="en-US" dirty="0"/>
              <a:t>of the United States.</a:t>
            </a:r>
          </a:p>
        </p:txBody>
      </p:sp>
      <p:sp>
        <p:nvSpPr>
          <p:cNvPr id="4" name="Slide Number Placeholder 3"/>
          <p:cNvSpPr>
            <a:spLocks noGrp="1"/>
          </p:cNvSpPr>
          <p:nvPr>
            <p:ph type="sldNum" sz="quarter" idx="12"/>
          </p:nvPr>
        </p:nvSpPr>
        <p:spPr/>
        <p:txBody>
          <a:bodyPr/>
          <a:lstStyle/>
          <a:p>
            <a:fld id="{F36C87F6-986D-49E6-AF40-1B3A1EE8064D}" type="slidenum">
              <a:rPr lang="en-US" smtClean="0"/>
              <a:t>49</a:t>
            </a:fld>
            <a:endParaRPr lang="en-US"/>
          </a:p>
        </p:txBody>
      </p:sp>
    </p:spTree>
    <p:extLst>
      <p:ext uri="{BB962C8B-B14F-4D97-AF65-F5344CB8AC3E}">
        <p14:creationId xmlns:p14="http://schemas.microsoft.com/office/powerpoint/2010/main" val="252677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What to Do with Due Diligence Information </a:t>
            </a:r>
            <a:r>
              <a:rPr lang="en-US" b="1" i="1" dirty="0" smtClean="0"/>
              <a:t>Obtained?</a:t>
            </a:r>
            <a:endParaRPr lang="en-US" b="1" i="1" dirty="0"/>
          </a:p>
        </p:txBody>
      </p:sp>
      <p:sp>
        <p:nvSpPr>
          <p:cNvPr id="3" name="Content Placeholder 2"/>
          <p:cNvSpPr>
            <a:spLocks noGrp="1"/>
          </p:cNvSpPr>
          <p:nvPr>
            <p:ph idx="1"/>
          </p:nvPr>
        </p:nvSpPr>
        <p:spPr/>
        <p:txBody>
          <a:bodyPr>
            <a:normAutofit/>
          </a:bodyPr>
          <a:lstStyle/>
          <a:p>
            <a:r>
              <a:rPr lang="en-US" b="1" dirty="0" smtClean="0"/>
              <a:t>Cost/benefit </a:t>
            </a:r>
            <a:r>
              <a:rPr lang="en-US" b="1" dirty="0"/>
              <a:t>analysis </a:t>
            </a:r>
            <a:r>
              <a:rPr lang="en-US" dirty="0"/>
              <a:t>determination of </a:t>
            </a:r>
            <a:r>
              <a:rPr lang="en-US" dirty="0" smtClean="0"/>
              <a:t>the </a:t>
            </a:r>
            <a:r>
              <a:rPr lang="en-US" dirty="0"/>
              <a:t>transaction and the potential benefits and costs of the transaction </a:t>
            </a:r>
            <a:endParaRPr lang="en-US" dirty="0" smtClean="0"/>
          </a:p>
          <a:p>
            <a:r>
              <a:rPr lang="en-US" b="1" dirty="0" smtClean="0"/>
              <a:t>Negotiate changes </a:t>
            </a:r>
            <a:r>
              <a:rPr lang="en-US" dirty="0"/>
              <a:t>in the previously agreed to deal terms due to new facts which have come to </a:t>
            </a:r>
            <a:r>
              <a:rPr lang="en-US" dirty="0" smtClean="0"/>
              <a:t>light</a:t>
            </a:r>
            <a:endParaRPr lang="en-US" dirty="0"/>
          </a:p>
          <a:p>
            <a:r>
              <a:rPr lang="en-US" dirty="0" smtClean="0"/>
              <a:t>Require </a:t>
            </a:r>
            <a:r>
              <a:rPr lang="en-US" b="1" dirty="0"/>
              <a:t>greater indemnification obligations </a:t>
            </a:r>
            <a:r>
              <a:rPr lang="en-US" dirty="0"/>
              <a:t>of the Target (and/or its stockholders) for debts and liabilities which weren’t know when the original terms were agreed </a:t>
            </a:r>
            <a:r>
              <a:rPr lang="en-US" dirty="0" smtClean="0"/>
              <a:t>to</a:t>
            </a:r>
          </a:p>
          <a:p>
            <a:pPr lvl="1"/>
            <a:r>
              <a:rPr lang="en-US" dirty="0" smtClean="0"/>
              <a:t>Holdback</a:t>
            </a:r>
          </a:p>
          <a:p>
            <a:pPr lvl="1"/>
            <a:r>
              <a:rPr lang="en-US" dirty="0" err="1" smtClean="0"/>
              <a:t>Earnouts</a:t>
            </a:r>
            <a:endParaRPr lang="en-US" dirty="0" smtClean="0"/>
          </a:p>
          <a:p>
            <a:pPr lvl="1"/>
            <a:r>
              <a:rPr lang="en-US" dirty="0" smtClean="0"/>
              <a:t>Escrow of funds</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50</a:t>
            </a:fld>
            <a:endParaRPr lang="en-US"/>
          </a:p>
        </p:txBody>
      </p:sp>
    </p:spTree>
    <p:extLst>
      <p:ext uri="{BB962C8B-B14F-4D97-AF65-F5344CB8AC3E}">
        <p14:creationId xmlns:p14="http://schemas.microsoft.com/office/powerpoint/2010/main" val="2528072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What to Do with Due Diligence Information </a:t>
            </a:r>
            <a:r>
              <a:rPr lang="en-US" b="1" i="1" dirty="0" smtClean="0"/>
              <a:t>Obtained? (Continued)</a:t>
            </a:r>
            <a:endParaRPr lang="en-US" b="1" i="1" dirty="0"/>
          </a:p>
        </p:txBody>
      </p:sp>
      <p:sp>
        <p:nvSpPr>
          <p:cNvPr id="3" name="Content Placeholder 2"/>
          <p:cNvSpPr>
            <a:spLocks noGrp="1"/>
          </p:cNvSpPr>
          <p:nvPr>
            <p:ph idx="1"/>
          </p:nvPr>
        </p:nvSpPr>
        <p:spPr/>
        <p:txBody>
          <a:bodyPr>
            <a:normAutofit/>
          </a:bodyPr>
          <a:lstStyle/>
          <a:p>
            <a:pPr lvl="1"/>
            <a:r>
              <a:rPr lang="en-US" dirty="0" smtClean="0"/>
              <a:t>Prepare </a:t>
            </a:r>
            <a:r>
              <a:rPr lang="en-US" b="1" dirty="0" smtClean="0"/>
              <a:t>lists of closing conditions</a:t>
            </a:r>
            <a:r>
              <a:rPr lang="en-US" dirty="0" smtClean="0"/>
              <a:t>:</a:t>
            </a:r>
          </a:p>
          <a:p>
            <a:pPr lvl="2"/>
            <a:r>
              <a:rPr lang="en-US" dirty="0" smtClean="0"/>
              <a:t>Contractual </a:t>
            </a:r>
            <a:r>
              <a:rPr lang="en-US" dirty="0"/>
              <a:t>or governmental approvals </a:t>
            </a:r>
            <a:endParaRPr lang="en-US" dirty="0" smtClean="0"/>
          </a:p>
          <a:p>
            <a:pPr lvl="2"/>
            <a:r>
              <a:rPr lang="en-US" dirty="0" smtClean="0"/>
              <a:t>Entry </a:t>
            </a:r>
            <a:r>
              <a:rPr lang="en-US" dirty="0"/>
              <a:t>into employment agreements with key </a:t>
            </a:r>
            <a:r>
              <a:rPr lang="en-US" dirty="0" smtClean="0"/>
              <a:t>employees</a:t>
            </a:r>
            <a:endParaRPr lang="en-US" dirty="0"/>
          </a:p>
          <a:p>
            <a:pPr lvl="1"/>
            <a:r>
              <a:rPr lang="en-US" dirty="0" smtClean="0"/>
              <a:t>Change </a:t>
            </a:r>
            <a:r>
              <a:rPr lang="en-US" dirty="0"/>
              <a:t>the </a:t>
            </a:r>
            <a:r>
              <a:rPr lang="en-US" b="1" dirty="0"/>
              <a:t>entire structure </a:t>
            </a:r>
            <a:r>
              <a:rPr lang="en-US" dirty="0"/>
              <a:t>of the transaction </a:t>
            </a:r>
            <a:endParaRPr lang="en-US" dirty="0" smtClean="0"/>
          </a:p>
          <a:p>
            <a:pPr lvl="2"/>
            <a:r>
              <a:rPr lang="en-US" dirty="0" smtClean="0"/>
              <a:t>Maybe an asset </a:t>
            </a:r>
            <a:r>
              <a:rPr lang="en-US" dirty="0"/>
              <a:t>purchase versus the purchase of the entity itself which typically results in </a:t>
            </a:r>
            <a:r>
              <a:rPr lang="en-US" b="1" dirty="0"/>
              <a:t>greater potential liability </a:t>
            </a:r>
            <a:r>
              <a:rPr lang="en-US" dirty="0"/>
              <a:t>for the acquirer </a:t>
            </a:r>
            <a:endParaRPr lang="en-US" dirty="0" smtClean="0"/>
          </a:p>
          <a:p>
            <a:pPr lvl="2"/>
            <a:r>
              <a:rPr lang="en-US" dirty="0" smtClean="0"/>
              <a:t>Changes </a:t>
            </a:r>
            <a:r>
              <a:rPr lang="en-US" dirty="0"/>
              <a:t>which may result in more </a:t>
            </a:r>
            <a:r>
              <a:rPr lang="en-US" b="1" dirty="0"/>
              <a:t>advantageous tax liability </a:t>
            </a:r>
            <a:r>
              <a:rPr lang="en-US" dirty="0"/>
              <a:t>for all parties; and</a:t>
            </a:r>
          </a:p>
          <a:p>
            <a:pPr lvl="1"/>
            <a:r>
              <a:rPr lang="en-US" dirty="0" smtClean="0"/>
              <a:t>Push </a:t>
            </a:r>
            <a:r>
              <a:rPr lang="en-US" dirty="0"/>
              <a:t>more of the acquisition consideration out to </a:t>
            </a:r>
            <a:r>
              <a:rPr lang="en-US" dirty="0" smtClean="0"/>
              <a:t>be payable after closing (</a:t>
            </a:r>
            <a:r>
              <a:rPr lang="en-US" dirty="0" err="1" smtClean="0"/>
              <a:t>earnout</a:t>
            </a:r>
            <a:r>
              <a:rPr lang="en-US" dirty="0" smtClean="0"/>
              <a:t> for example)</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51</a:t>
            </a:fld>
            <a:endParaRPr lang="en-US"/>
          </a:p>
        </p:txBody>
      </p:sp>
    </p:spTree>
    <p:extLst>
      <p:ext uri="{BB962C8B-B14F-4D97-AF65-F5344CB8AC3E}">
        <p14:creationId xmlns:p14="http://schemas.microsoft.com/office/powerpoint/2010/main" val="3111970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Closing</a:t>
            </a:r>
            <a:endParaRPr lang="en-US" b="1" i="1" dirty="0"/>
          </a:p>
        </p:txBody>
      </p:sp>
      <p:sp>
        <p:nvSpPr>
          <p:cNvPr id="3" name="Content Placeholder 2"/>
          <p:cNvSpPr>
            <a:spLocks noGrp="1"/>
          </p:cNvSpPr>
          <p:nvPr>
            <p:ph idx="1"/>
          </p:nvPr>
        </p:nvSpPr>
        <p:spPr/>
        <p:txBody>
          <a:bodyPr/>
          <a:lstStyle/>
          <a:p>
            <a:r>
              <a:rPr lang="en-US" dirty="0" smtClean="0"/>
              <a:t>For more information I can be reached at:</a:t>
            </a:r>
          </a:p>
          <a:p>
            <a:pPr marL="274320" lvl="1" indent="0">
              <a:buNone/>
            </a:pPr>
            <a:endParaRPr lang="en-US" dirty="0" smtClean="0"/>
          </a:p>
          <a:p>
            <a:pPr marL="274320" lvl="1" indent="0">
              <a:buNone/>
            </a:pPr>
            <a:r>
              <a:rPr lang="en-US" dirty="0" smtClean="0"/>
              <a:t>David M. Loev</a:t>
            </a:r>
          </a:p>
          <a:p>
            <a:pPr marL="274320" lvl="1" indent="0">
              <a:buNone/>
            </a:pPr>
            <a:r>
              <a:rPr lang="en-US" dirty="0" smtClean="0"/>
              <a:t>The Loev Law Firm, PC</a:t>
            </a:r>
          </a:p>
          <a:p>
            <a:pPr marL="274320" lvl="1" indent="0">
              <a:buNone/>
            </a:pPr>
            <a:r>
              <a:rPr lang="en-US" dirty="0" smtClean="0"/>
              <a:t>6300 West Loop South, Suite 280</a:t>
            </a:r>
          </a:p>
          <a:p>
            <a:pPr marL="274320" lvl="1" indent="0">
              <a:buNone/>
            </a:pPr>
            <a:r>
              <a:rPr lang="en-US" dirty="0" smtClean="0"/>
              <a:t>Bellaire, Texas 77401</a:t>
            </a:r>
          </a:p>
          <a:p>
            <a:pPr marL="274320" lvl="1" indent="0">
              <a:buNone/>
            </a:pPr>
            <a:r>
              <a:rPr lang="en-US" dirty="0" err="1" smtClean="0">
                <a:hlinkClick r:id="rId2"/>
              </a:rPr>
              <a:t>dloev@loevlaw.com</a:t>
            </a:r>
            <a:endParaRPr lang="en-US" dirty="0" smtClean="0"/>
          </a:p>
          <a:p>
            <a:pPr marL="274320" lvl="1" indent="0">
              <a:buNone/>
            </a:pPr>
            <a:r>
              <a:rPr lang="en-US" dirty="0"/>
              <a:t>(832) </a:t>
            </a:r>
            <a:r>
              <a:rPr lang="en-US" dirty="0" smtClean="0"/>
              <a:t>930-6432</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52</a:t>
            </a:fld>
            <a:endParaRPr lang="en-US"/>
          </a:p>
        </p:txBody>
      </p:sp>
    </p:spTree>
    <p:extLst>
      <p:ext uri="{BB962C8B-B14F-4D97-AF65-F5344CB8AC3E}">
        <p14:creationId xmlns:p14="http://schemas.microsoft.com/office/powerpoint/2010/main" val="3605764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rld Presentation 16x9">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extLst>
    <a:ext uri="{05A4C25C-085E-4340-85A3-A5531E510DB2}">
      <thm15:themeFamily xmlns:thm15="http://schemas.microsoft.com/office/thememl/2012/main" name="World maps series, World  presentation (widescreen).potx" id="{6FD2C32E-565A-4F51-8C38-826F1B24AA7D}" vid="{06379D18-BA11-4F05-84DF-EB681B68D4FA}"/>
    </a:ext>
  </a:ext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maps series, World  presentation (widescreen)</Template>
  <TotalTime>1659</TotalTime>
  <Words>4148</Words>
  <Application>Microsoft Office PowerPoint</Application>
  <PresentationFormat>Custom</PresentationFormat>
  <Paragraphs>413</Paragraphs>
  <Slides>52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Century Gothic</vt:lpstr>
      <vt:lpstr>World Presentation 16x9</vt:lpstr>
      <vt:lpstr>Due Diligence Activities in Merger and Acquisition Transactions</vt:lpstr>
      <vt:lpstr>Introduction</vt:lpstr>
      <vt:lpstr>When do you conduct Due Diligence?</vt:lpstr>
      <vt:lpstr>When do you conduct Due Diligence? (continued)</vt:lpstr>
      <vt:lpstr>Who Conducts Due Diligence?</vt:lpstr>
      <vt:lpstr>ADDITIONAL Due Diligence ITEMS SOUGHT</vt:lpstr>
      <vt:lpstr>What Should Due Diligence Entail?</vt:lpstr>
      <vt:lpstr>Corporate Organizational and Charter Issues</vt:lpstr>
      <vt:lpstr>Corporate Organizational and Charter Issues (Continued)</vt:lpstr>
      <vt:lpstr>Corporate Organizational and Charter Issues (Continued)</vt:lpstr>
      <vt:lpstr>Corporate Organizational and Charter Issues (Continued)</vt:lpstr>
      <vt:lpstr>Corporate Organizational and Charter Issues (Continued)</vt:lpstr>
      <vt:lpstr>Officers and Directors</vt:lpstr>
      <vt:lpstr>Officers and Directors (continued)</vt:lpstr>
      <vt:lpstr>Officers and Directors (continued)</vt:lpstr>
      <vt:lpstr>Minutes of the Board of Directors and Stockholders </vt:lpstr>
      <vt:lpstr>Correspondence</vt:lpstr>
      <vt:lpstr>Capitalization and Securities Issues</vt:lpstr>
      <vt:lpstr>Capitalization and Securities Issues (continued)</vt:lpstr>
      <vt:lpstr>Capitalization and Securities Issues (continued)</vt:lpstr>
      <vt:lpstr>Litigation</vt:lpstr>
      <vt:lpstr>Litigation (continued)</vt:lpstr>
      <vt:lpstr>Litigation (continued)</vt:lpstr>
      <vt:lpstr>Material Agreements</vt:lpstr>
      <vt:lpstr>Material Agreements (continued)</vt:lpstr>
      <vt:lpstr>Material Agreements (CONTINUED)</vt:lpstr>
      <vt:lpstr>Material Agreements (continued)</vt:lpstr>
      <vt:lpstr>Material Agreements (continued)</vt:lpstr>
      <vt:lpstr>Employment Relationships</vt:lpstr>
      <vt:lpstr>Employment Relationships (continued)</vt:lpstr>
      <vt:lpstr>Employment Relationships (continued)</vt:lpstr>
      <vt:lpstr>Environmental Issues</vt:lpstr>
      <vt:lpstr>Assets</vt:lpstr>
      <vt:lpstr>Assets (Continued)</vt:lpstr>
      <vt:lpstr>Assets (Continued)</vt:lpstr>
      <vt:lpstr>Assets (Continued)</vt:lpstr>
      <vt:lpstr>Debt/Obligations</vt:lpstr>
      <vt:lpstr>Debt/Obligations (continued)</vt:lpstr>
      <vt:lpstr>Debt/Obligations (continued)</vt:lpstr>
      <vt:lpstr>Consents, Licenses and Permits</vt:lpstr>
      <vt:lpstr>Taxes</vt:lpstr>
      <vt:lpstr>Insurance</vt:lpstr>
      <vt:lpstr>POTENTIAL REQUIRED Filings</vt:lpstr>
      <vt:lpstr>POTENTIAL REQUIRED Filings (Continued)</vt:lpstr>
      <vt:lpstr>POTENTIAL REQUIRED Filings (Continued)</vt:lpstr>
      <vt:lpstr>Fairness Opinion and Fiduciary Duties</vt:lpstr>
      <vt:lpstr>Potential Anti-Trust and Related Issues</vt:lpstr>
      <vt:lpstr>Potential Anti-Trust and Related Issues (Continued)</vt:lpstr>
      <vt:lpstr>Potential Anti-Trust and Related Issues (Continued)</vt:lpstr>
      <vt:lpstr>What to Do with Due Diligence Information Obtained?</vt:lpstr>
      <vt:lpstr>What to Do with Due Diligence Information Obtained? (Continued)</vt:lpstr>
      <vt:lpstr>Closing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Due Diligence Activities in Merger and Acquisition Transactions</dc:title>
  <dc:creator>John S. Gillies</dc:creator>
  <cp:lastModifiedBy>David Loev</cp:lastModifiedBy>
  <cp:revision>28</cp:revision>
  <cp:lastPrinted>2018-10-16T23:42:39Z</cp:lastPrinted>
  <dcterms:created xsi:type="dcterms:W3CDTF">2018-10-08T22:34:27Z</dcterms:created>
  <dcterms:modified xsi:type="dcterms:W3CDTF">2018-10-17T22:45:48Z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