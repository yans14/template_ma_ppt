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93" r:id="rId5"/>
    <p:sldId id="372" r:id="rId6"/>
    <p:sldId id="435" r:id="rId7"/>
    <p:sldId id="259" r:id="rId8"/>
    <p:sldId id="273" r:id="rId9"/>
    <p:sldId id="445" r:id="rId10"/>
    <p:sldId id="438" r:id="rId11"/>
    <p:sldId id="441" r:id="rId12"/>
    <p:sldId id="439" r:id="rId13"/>
    <p:sldId id="443" r:id="rId14"/>
    <p:sldId id="444" r:id="rId15"/>
    <p:sldId id="396" r:id="rId16"/>
    <p:sldId id="429" r:id="rId17"/>
    <p:sldId id="436" r:id="rId18"/>
    <p:sldId id="440" r:id="rId19"/>
    <p:sldId id="433" r:id="rId20"/>
    <p:sldId id="434" r:id="rId21"/>
    <p:sldId id="367" r:id="rId22"/>
    <p:sldId id="463" r:id="rId23"/>
    <p:sldId id="464" r:id="rId24"/>
    <p:sldId id="437" r:id="rId25"/>
  </p:sldIdLst>
  <p:sldSz cx="9144000" cy="5143500" type="screen16x9"/>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0">
          <p15:clr>
            <a:srgbClr val="A4A3A4"/>
          </p15:clr>
        </p15:guide>
        <p15:guide id="2" orient="horz" pos="2520">
          <p15:clr>
            <a:srgbClr val="A4A3A4"/>
          </p15:clr>
        </p15:guide>
        <p15:guide id="3" pos="5472">
          <p15:clr>
            <a:srgbClr val="A4A3A4"/>
          </p15:clr>
        </p15:guide>
        <p15:guide id="4" pos="2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C7E3"/>
    <a:srgbClr val="A41034"/>
    <a:srgbClr val="8996A5"/>
    <a:srgbClr val="8996A0"/>
    <a:srgbClr val="A31034"/>
    <a:srgbClr val="97AE34"/>
    <a:srgbClr val="7F8C30"/>
    <a:srgbClr val="CBD789"/>
    <a:srgbClr val="85AED7"/>
    <a:srgbClr val="5E94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30" autoAdjust="0"/>
  </p:normalViewPr>
  <p:slideViewPr>
    <p:cSldViewPr snapToGrid="0">
      <p:cViewPr varScale="1">
        <p:scale>
          <a:sx n="126" d="100"/>
          <a:sy n="126" d="100"/>
        </p:scale>
        <p:origin x="144" y="294"/>
      </p:cViewPr>
      <p:guideLst>
        <p:guide orient="horz" pos="2700"/>
        <p:guide orient="horz" pos="2520"/>
        <p:guide pos="5472"/>
        <p:guide pos="288"/>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60917572372715"/>
          <c:y val="3.1443043815957687E-2"/>
          <c:w val="0.87941212921763456"/>
          <c:h val="0.8247660166420957"/>
        </c:manualLayout>
      </c:layout>
      <c:lineChart>
        <c:grouping val="standard"/>
        <c:varyColors val="0"/>
        <c:ser>
          <c:idx val="0"/>
          <c:order val="0"/>
          <c:tx>
            <c:strRef>
              <c:f>Sheet1!$B$1</c:f>
              <c:strCache>
                <c:ptCount val="1"/>
                <c:pt idx="0">
                  <c:v>MAE Clause</c:v>
                </c:pt>
              </c:strCache>
            </c:strRef>
          </c:tx>
          <c:spPr>
            <a:ln w="50800" cap="rnd">
              <a:solidFill>
                <a:schemeClr val="accent1"/>
              </a:solidFill>
              <a:round/>
            </a:ln>
            <a:effectLst/>
          </c:spPr>
          <c:marker>
            <c:symbol val="none"/>
          </c:marker>
          <c:cat>
            <c:numRef>
              <c:f>Sheet1!$A$2:$A$17</c:f>
              <c:numCache>
                <c:formatCode>General</c:formatCode>
                <c:ptCount val="16"/>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numCache>
            </c:numRef>
          </c:cat>
          <c:val>
            <c:numRef>
              <c:f>Sheet1!$B$2:$B$17</c:f>
              <c:numCache>
                <c:formatCode>General</c:formatCode>
                <c:ptCount val="16"/>
                <c:pt idx="0">
                  <c:v>61.835164835164832</c:v>
                </c:pt>
                <c:pt idx="1">
                  <c:v>72.564516129032256</c:v>
                </c:pt>
                <c:pt idx="2">
                  <c:v>63.626666666666665</c:v>
                </c:pt>
                <c:pt idx="3">
                  <c:v>60.943396226415096</c:v>
                </c:pt>
                <c:pt idx="4">
                  <c:v>64.621621621621628</c:v>
                </c:pt>
                <c:pt idx="5">
                  <c:v>65.315789473684205</c:v>
                </c:pt>
                <c:pt idx="6">
                  <c:v>63.446153846153848</c:v>
                </c:pt>
                <c:pt idx="7">
                  <c:v>64.781818181818181</c:v>
                </c:pt>
                <c:pt idx="8">
                  <c:v>63.5</c:v>
                </c:pt>
                <c:pt idx="9">
                  <c:v>62.475609756097562</c:v>
                </c:pt>
                <c:pt idx="10">
                  <c:v>64.027522935779814</c:v>
                </c:pt>
                <c:pt idx="11">
                  <c:v>61.019607843137258</c:v>
                </c:pt>
                <c:pt idx="12">
                  <c:v>65.13636363636364</c:v>
                </c:pt>
                <c:pt idx="13">
                  <c:v>66.819047619047623</c:v>
                </c:pt>
                <c:pt idx="14">
                  <c:v>69.232558139534888</c:v>
                </c:pt>
                <c:pt idx="15">
                  <c:v>74.3</c:v>
                </c:pt>
              </c:numCache>
            </c:numRef>
          </c:val>
          <c:smooth val="0"/>
          <c:extLst>
            <c:ext xmlns:c16="http://schemas.microsoft.com/office/drawing/2014/chart" uri="{C3380CC4-5D6E-409C-BE32-E72D297353CC}">
              <c16:uniqueId val="{00000000-B21F-4011-9EDA-4023F29712DD}"/>
            </c:ext>
          </c:extLst>
        </c:ser>
        <c:ser>
          <c:idx val="1"/>
          <c:order val="1"/>
          <c:tx>
            <c:strRef>
              <c:f>Sheet1!$C$1</c:f>
              <c:strCache>
                <c:ptCount val="1"/>
                <c:pt idx="0">
                  <c:v>MAE Carveouts</c:v>
                </c:pt>
              </c:strCache>
            </c:strRef>
          </c:tx>
          <c:spPr>
            <a:ln w="50800" cap="rnd">
              <a:solidFill>
                <a:schemeClr val="accent2"/>
              </a:solidFill>
              <a:round/>
            </a:ln>
            <a:effectLst/>
          </c:spPr>
          <c:marker>
            <c:symbol val="none"/>
          </c:marker>
          <c:cat>
            <c:numRef>
              <c:f>Sheet1!$A$2:$A$17</c:f>
              <c:numCache>
                <c:formatCode>General</c:formatCode>
                <c:ptCount val="16"/>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numCache>
            </c:numRef>
          </c:cat>
          <c:val>
            <c:numRef>
              <c:f>Sheet1!$C$2:$C$17</c:f>
              <c:numCache>
                <c:formatCode>General</c:formatCode>
                <c:ptCount val="16"/>
                <c:pt idx="0">
                  <c:v>216.78021978021977</c:v>
                </c:pt>
                <c:pt idx="1">
                  <c:v>287.53225806451616</c:v>
                </c:pt>
                <c:pt idx="2">
                  <c:v>359.9</c:v>
                </c:pt>
                <c:pt idx="3">
                  <c:v>388.66037735849056</c:v>
                </c:pt>
                <c:pt idx="4">
                  <c:v>356.24324324324323</c:v>
                </c:pt>
                <c:pt idx="5">
                  <c:v>445.7236842105263</c:v>
                </c:pt>
                <c:pt idx="6">
                  <c:v>473.69230769230768</c:v>
                </c:pt>
                <c:pt idx="7">
                  <c:v>490.07272727272726</c:v>
                </c:pt>
                <c:pt idx="8">
                  <c:v>433.03333333333336</c:v>
                </c:pt>
                <c:pt idx="9">
                  <c:v>486.67073170731709</c:v>
                </c:pt>
                <c:pt idx="10">
                  <c:v>521.7614678899082</c:v>
                </c:pt>
                <c:pt idx="11">
                  <c:v>536.77450980392155</c:v>
                </c:pt>
                <c:pt idx="12">
                  <c:v>546.77272727272725</c:v>
                </c:pt>
                <c:pt idx="13">
                  <c:v>546.48571428571427</c:v>
                </c:pt>
                <c:pt idx="14">
                  <c:v>573.15116279069764</c:v>
                </c:pt>
                <c:pt idx="15">
                  <c:v>635.79999999999995</c:v>
                </c:pt>
              </c:numCache>
            </c:numRef>
          </c:val>
          <c:smooth val="0"/>
          <c:extLst>
            <c:ext xmlns:c16="http://schemas.microsoft.com/office/drawing/2014/chart" uri="{C3380CC4-5D6E-409C-BE32-E72D297353CC}">
              <c16:uniqueId val="{00000001-B21F-4011-9EDA-4023F29712DD}"/>
            </c:ext>
          </c:extLst>
        </c:ser>
        <c:dLbls>
          <c:showLegendKey val="0"/>
          <c:showVal val="0"/>
          <c:showCatName val="0"/>
          <c:showSerName val="0"/>
          <c:showPercent val="0"/>
          <c:showBubbleSize val="0"/>
        </c:dLbls>
        <c:smooth val="0"/>
        <c:axId val="1088624688"/>
        <c:axId val="1088628016"/>
      </c:lineChart>
      <c:catAx>
        <c:axId val="1088624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088628016"/>
        <c:crosses val="autoZero"/>
        <c:auto val="1"/>
        <c:lblAlgn val="ctr"/>
        <c:lblOffset val="100"/>
        <c:noMultiLvlLbl val="0"/>
      </c:catAx>
      <c:valAx>
        <c:axId val="1088628016"/>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2"/>
                    </a:solidFill>
                    <a:latin typeface="+mn-lt"/>
                    <a:ea typeface="+mn-ea"/>
                    <a:cs typeface="+mn-cs"/>
                  </a:defRPr>
                </a:pPr>
                <a:r>
                  <a:rPr lang="en-US" b="1"/>
                  <a:t># of Words</a:t>
                </a:r>
              </a:p>
            </c:rich>
          </c:tx>
          <c:layout>
            <c:manualLayout>
              <c:xMode val="edge"/>
              <c:yMode val="edge"/>
              <c:x val="1.598228282704035E-3"/>
              <c:y val="0.38813687271868746"/>
            </c:manualLayout>
          </c:layout>
          <c:overlay val="0"/>
          <c:spPr>
            <a:noFill/>
            <a:ln>
              <a:noFill/>
            </a:ln>
            <a:effectLst/>
          </c:spPr>
          <c:txPr>
            <a:bodyPr rot="-540000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088624688"/>
        <c:crosses val="autoZero"/>
        <c:crossBetween val="between"/>
      </c:valAx>
      <c:spPr>
        <a:noFill/>
        <a:ln>
          <a:noFill/>
        </a:ln>
        <a:effectLst/>
      </c:spPr>
    </c:plotArea>
    <c:legend>
      <c:legendPos val="b"/>
      <c:layout>
        <c:manualLayout>
          <c:xMode val="edge"/>
          <c:yMode val="edge"/>
          <c:x val="0.12529623513362842"/>
          <c:y val="0.11334950447168078"/>
          <c:w val="0.21335914931329547"/>
          <c:h val="0.1849346917964843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solidFill>
            <a:schemeClr val="tx2"/>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130220906411513"/>
          <c:y val="6.6057179094223956E-2"/>
          <c:w val="0.85091461892852926"/>
          <c:h val="0.7421693177614543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Natural Disaster</c:v>
                </c:pt>
                <c:pt idx="1">
                  <c:v>Tornado</c:v>
                </c:pt>
                <c:pt idx="2">
                  <c:v>Flood</c:v>
                </c:pt>
                <c:pt idx="3">
                  <c:v>Hurricane</c:v>
                </c:pt>
                <c:pt idx="4">
                  <c:v>Force Majeure</c:v>
                </c:pt>
                <c:pt idx="5">
                  <c:v>Calamity</c:v>
                </c:pt>
                <c:pt idx="6">
                  <c:v>Earthquake</c:v>
                </c:pt>
                <c:pt idx="7">
                  <c:v>Pandemic*</c:v>
                </c:pt>
              </c:strCache>
            </c:strRef>
          </c:cat>
          <c:val>
            <c:numRef>
              <c:f>Sheet1!$B$2:$B$9</c:f>
              <c:numCache>
                <c:formatCode>0%</c:formatCode>
                <c:ptCount val="8"/>
                <c:pt idx="0">
                  <c:v>0.56000000000000005</c:v>
                </c:pt>
                <c:pt idx="1">
                  <c:v>0.25</c:v>
                </c:pt>
                <c:pt idx="2">
                  <c:v>0.28000000000000003</c:v>
                </c:pt>
                <c:pt idx="3">
                  <c:v>0.37</c:v>
                </c:pt>
                <c:pt idx="4">
                  <c:v>0.18</c:v>
                </c:pt>
                <c:pt idx="5">
                  <c:v>0.11</c:v>
                </c:pt>
                <c:pt idx="6">
                  <c:v>0.39</c:v>
                </c:pt>
                <c:pt idx="7">
                  <c:v>0.11</c:v>
                </c:pt>
              </c:numCache>
            </c:numRef>
          </c:val>
          <c:extLst>
            <c:ext xmlns:c16="http://schemas.microsoft.com/office/drawing/2014/chart" uri="{C3380CC4-5D6E-409C-BE32-E72D297353CC}">
              <c16:uniqueId val="{00000000-32AC-4AD3-A41B-9D579A0C00F8}"/>
            </c:ext>
          </c:extLst>
        </c:ser>
        <c:dLbls>
          <c:showLegendKey val="0"/>
          <c:showVal val="0"/>
          <c:showCatName val="0"/>
          <c:showSerName val="0"/>
          <c:showPercent val="0"/>
          <c:showBubbleSize val="0"/>
        </c:dLbls>
        <c:gapWidth val="219"/>
        <c:overlap val="-27"/>
        <c:axId val="304191624"/>
        <c:axId val="304192016"/>
      </c:barChart>
      <c:catAx>
        <c:axId val="304191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304192016"/>
        <c:crosses val="autoZero"/>
        <c:auto val="1"/>
        <c:lblAlgn val="ctr"/>
        <c:lblOffset val="100"/>
        <c:noMultiLvlLbl val="0"/>
      </c:catAx>
      <c:valAx>
        <c:axId val="3041920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2"/>
                    </a:solidFill>
                    <a:latin typeface="+mn-lt"/>
                    <a:ea typeface="+mn-ea"/>
                    <a:cs typeface="+mn-cs"/>
                  </a:defRPr>
                </a:pPr>
                <a:r>
                  <a:rPr lang="en-US" b="1" dirty="0"/>
                  <a:t>Incidence in Sample</a:t>
                </a:r>
              </a:p>
            </c:rich>
          </c:tx>
          <c:layout>
            <c:manualLayout>
              <c:xMode val="edge"/>
              <c:yMode val="edge"/>
              <c:x val="9.6117703772325615E-3"/>
              <c:y val="0.2182333776642531"/>
            </c:manualLayout>
          </c:layout>
          <c:overlay val="0"/>
          <c:spPr>
            <a:noFill/>
            <a:ln>
              <a:noFill/>
            </a:ln>
            <a:effectLst/>
          </c:spPr>
          <c:txPr>
            <a:bodyPr rot="-540000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304191624"/>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2"/>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26833" cy="465797"/>
          </a:xfrm>
          <a:prstGeom prst="rect">
            <a:avLst/>
          </a:prstGeom>
        </p:spPr>
        <p:txBody>
          <a:bodyPr vert="horz" lIns="92953" tIns="46477" rIns="92953" bIns="46477" rtlCol="0"/>
          <a:lstStyle>
            <a:lvl1pPr algn="l">
              <a:defRPr sz="1200"/>
            </a:lvl1pPr>
          </a:lstStyle>
          <a:p>
            <a:endParaRPr lang="en-US"/>
          </a:p>
        </p:txBody>
      </p:sp>
      <p:sp>
        <p:nvSpPr>
          <p:cNvPr id="3" name="Date Placeholder 2"/>
          <p:cNvSpPr>
            <a:spLocks noGrp="1"/>
          </p:cNvSpPr>
          <p:nvPr>
            <p:ph type="dt" sz="quarter" idx="1"/>
          </p:nvPr>
        </p:nvSpPr>
        <p:spPr>
          <a:xfrm>
            <a:off x="3956552" y="1"/>
            <a:ext cx="3026833" cy="465797"/>
          </a:xfrm>
          <a:prstGeom prst="rect">
            <a:avLst/>
          </a:prstGeom>
        </p:spPr>
        <p:txBody>
          <a:bodyPr vert="horz" lIns="92953" tIns="46477" rIns="92953" bIns="46477" rtlCol="0"/>
          <a:lstStyle>
            <a:lvl1pPr algn="r">
              <a:defRPr sz="1200"/>
            </a:lvl1pPr>
          </a:lstStyle>
          <a:p>
            <a:fld id="{9967479B-577D-4217-A3ED-F06C4EC5AF33}" type="datetimeFigureOut">
              <a:rPr lang="en-US" smtClean="0"/>
              <a:t>4/21/2021</a:t>
            </a:fld>
            <a:endParaRPr lang="en-US"/>
          </a:p>
        </p:txBody>
      </p:sp>
      <p:sp>
        <p:nvSpPr>
          <p:cNvPr id="4" name="Footer Placeholder 3"/>
          <p:cNvSpPr>
            <a:spLocks noGrp="1"/>
          </p:cNvSpPr>
          <p:nvPr>
            <p:ph type="ftr" sz="quarter" idx="2"/>
          </p:nvPr>
        </p:nvSpPr>
        <p:spPr>
          <a:xfrm>
            <a:off x="1" y="8817906"/>
            <a:ext cx="3026833" cy="465796"/>
          </a:xfrm>
          <a:prstGeom prst="rect">
            <a:avLst/>
          </a:prstGeom>
        </p:spPr>
        <p:txBody>
          <a:bodyPr vert="horz" lIns="92953" tIns="46477" rIns="92953" bIns="46477" rtlCol="0" anchor="b"/>
          <a:lstStyle>
            <a:lvl1pPr algn="l">
              <a:defRPr sz="1200"/>
            </a:lvl1pPr>
          </a:lstStyle>
          <a:p>
            <a:endParaRPr lang="en-US"/>
          </a:p>
        </p:txBody>
      </p:sp>
      <p:sp>
        <p:nvSpPr>
          <p:cNvPr id="5" name="Slide Number Placeholder 4"/>
          <p:cNvSpPr>
            <a:spLocks noGrp="1"/>
          </p:cNvSpPr>
          <p:nvPr>
            <p:ph type="sldNum" sz="quarter" idx="3"/>
          </p:nvPr>
        </p:nvSpPr>
        <p:spPr>
          <a:xfrm>
            <a:off x="3956552" y="8817906"/>
            <a:ext cx="3026833" cy="465796"/>
          </a:xfrm>
          <a:prstGeom prst="rect">
            <a:avLst/>
          </a:prstGeom>
        </p:spPr>
        <p:txBody>
          <a:bodyPr vert="horz" lIns="92953" tIns="46477" rIns="92953" bIns="46477" rtlCol="0" anchor="b"/>
          <a:lstStyle>
            <a:lvl1pPr algn="r">
              <a:defRPr sz="1200"/>
            </a:lvl1pPr>
          </a:lstStyle>
          <a:p>
            <a:fld id="{260658B0-9BC2-4899-955C-B04B26E41A54}" type="slidenum">
              <a:rPr lang="en-US" smtClean="0"/>
              <a:t>‹#›</a:t>
            </a:fld>
            <a:endParaRPr lang="en-US"/>
          </a:p>
        </p:txBody>
      </p:sp>
    </p:spTree>
    <p:extLst>
      <p:ext uri="{BB962C8B-B14F-4D97-AF65-F5344CB8AC3E}">
        <p14:creationId xmlns:p14="http://schemas.microsoft.com/office/powerpoint/2010/main" val="10184275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26833" cy="464185"/>
          </a:xfrm>
          <a:prstGeom prst="rect">
            <a:avLst/>
          </a:prstGeom>
        </p:spPr>
        <p:txBody>
          <a:bodyPr vert="horz" lIns="92953" tIns="46477" rIns="92953" bIns="46477" rtlCol="0"/>
          <a:lstStyle>
            <a:lvl1pPr algn="l">
              <a:defRPr sz="1200">
                <a:latin typeface="Arial" pitchFamily="34" charset="0"/>
              </a:defRPr>
            </a:lvl1pPr>
          </a:lstStyle>
          <a:p>
            <a:endParaRPr lang="en-US"/>
          </a:p>
        </p:txBody>
      </p:sp>
      <p:sp>
        <p:nvSpPr>
          <p:cNvPr id="3" name="Date Placeholder 2"/>
          <p:cNvSpPr>
            <a:spLocks noGrp="1"/>
          </p:cNvSpPr>
          <p:nvPr>
            <p:ph type="dt" idx="1"/>
          </p:nvPr>
        </p:nvSpPr>
        <p:spPr>
          <a:xfrm>
            <a:off x="3956552" y="1"/>
            <a:ext cx="3026833" cy="464185"/>
          </a:xfrm>
          <a:prstGeom prst="rect">
            <a:avLst/>
          </a:prstGeom>
        </p:spPr>
        <p:txBody>
          <a:bodyPr vert="horz" lIns="92953" tIns="46477" rIns="92953" bIns="46477" rtlCol="0"/>
          <a:lstStyle>
            <a:lvl1pPr algn="r">
              <a:defRPr sz="1200">
                <a:latin typeface="Arial" pitchFamily="34" charset="0"/>
              </a:defRPr>
            </a:lvl1pPr>
          </a:lstStyle>
          <a:p>
            <a:fld id="{533EC54C-DB29-4D8B-9E14-85BDC8B69DAA}" type="datetimeFigureOut">
              <a:rPr lang="en-US" smtClean="0"/>
              <a:pPr/>
              <a:t>4/21/2021</a:t>
            </a:fld>
            <a:endParaRPr lang="en-US"/>
          </a:p>
        </p:txBody>
      </p:sp>
      <p:sp>
        <p:nvSpPr>
          <p:cNvPr id="4" name="Slide Image Placeholder 3"/>
          <p:cNvSpPr>
            <a:spLocks noGrp="1" noRot="1" noChangeAspect="1"/>
          </p:cNvSpPr>
          <p:nvPr>
            <p:ph type="sldImg" idx="2"/>
          </p:nvPr>
        </p:nvSpPr>
        <p:spPr>
          <a:xfrm>
            <a:off x="398463" y="695325"/>
            <a:ext cx="6188075" cy="3481388"/>
          </a:xfrm>
          <a:prstGeom prst="rect">
            <a:avLst/>
          </a:prstGeom>
          <a:noFill/>
          <a:ln w="12700">
            <a:solidFill>
              <a:prstClr val="black"/>
            </a:solidFill>
          </a:ln>
        </p:spPr>
        <p:txBody>
          <a:bodyPr vert="horz" lIns="92953" tIns="46477" rIns="92953" bIns="46477" rtlCol="0" anchor="ctr"/>
          <a:lstStyle/>
          <a:p>
            <a:endParaRPr lang="en-US"/>
          </a:p>
        </p:txBody>
      </p:sp>
      <p:sp>
        <p:nvSpPr>
          <p:cNvPr id="5" name="Notes Placeholder 4"/>
          <p:cNvSpPr>
            <a:spLocks noGrp="1"/>
          </p:cNvSpPr>
          <p:nvPr>
            <p:ph type="body" sz="quarter" idx="3"/>
          </p:nvPr>
        </p:nvSpPr>
        <p:spPr>
          <a:xfrm>
            <a:off x="698501" y="4409758"/>
            <a:ext cx="5588000" cy="4177665"/>
          </a:xfrm>
          <a:prstGeom prst="rect">
            <a:avLst/>
          </a:prstGeom>
        </p:spPr>
        <p:txBody>
          <a:bodyPr vert="horz" lIns="92953" tIns="46477" rIns="92953" bIns="4647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17904"/>
            <a:ext cx="3026833" cy="464185"/>
          </a:xfrm>
          <a:prstGeom prst="rect">
            <a:avLst/>
          </a:prstGeom>
        </p:spPr>
        <p:txBody>
          <a:bodyPr vert="horz" lIns="92953" tIns="46477" rIns="92953" bIns="46477" rtlCol="0" anchor="b"/>
          <a:lstStyle>
            <a:lvl1pPr algn="l">
              <a:defRPr sz="1200">
                <a:latin typeface="Arial" pitchFamily="34" charset="0"/>
              </a:defRPr>
            </a:lvl1pPr>
          </a:lstStyle>
          <a:p>
            <a:endParaRPr lang="en-US"/>
          </a:p>
        </p:txBody>
      </p:sp>
      <p:sp>
        <p:nvSpPr>
          <p:cNvPr id="7" name="Slide Number Placeholder 6"/>
          <p:cNvSpPr>
            <a:spLocks noGrp="1"/>
          </p:cNvSpPr>
          <p:nvPr>
            <p:ph type="sldNum" sz="quarter" idx="5"/>
          </p:nvPr>
        </p:nvSpPr>
        <p:spPr>
          <a:xfrm>
            <a:off x="3956552" y="8817904"/>
            <a:ext cx="3026833" cy="464185"/>
          </a:xfrm>
          <a:prstGeom prst="rect">
            <a:avLst/>
          </a:prstGeom>
        </p:spPr>
        <p:txBody>
          <a:bodyPr vert="horz" lIns="92953" tIns="46477" rIns="92953" bIns="46477" rtlCol="0" anchor="b"/>
          <a:lstStyle>
            <a:lvl1pPr algn="r">
              <a:defRPr sz="1200">
                <a:latin typeface="Arial" pitchFamily="34" charset="0"/>
              </a:defRPr>
            </a:lvl1pPr>
          </a:lstStyle>
          <a:p>
            <a:fld id="{A253A6D4-F3DC-4D8E-A47A-B75AAF607739}" type="slidenum">
              <a:rPr lang="en-US" smtClean="0"/>
              <a:pPr/>
              <a:t>‹#›</a:t>
            </a:fld>
            <a:endParaRPr lang="en-US"/>
          </a:p>
        </p:txBody>
      </p:sp>
    </p:spTree>
    <p:extLst>
      <p:ext uri="{BB962C8B-B14F-4D97-AF65-F5344CB8AC3E}">
        <p14:creationId xmlns:p14="http://schemas.microsoft.com/office/powerpoint/2010/main" val="356262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9" name="Rectangle 8"/>
          <p:cNvSpPr/>
          <p:nvPr userDrawn="1"/>
        </p:nvSpPr>
        <p:spPr>
          <a:xfrm>
            <a:off x="0" y="0"/>
            <a:ext cx="9144000" cy="3524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1847851"/>
            <a:ext cx="8089900" cy="790575"/>
          </a:xfrm>
        </p:spPr>
        <p:txBody>
          <a:bodyPr/>
          <a:lstStyle>
            <a:lvl1pPr>
              <a:defRPr sz="3200">
                <a:solidFill>
                  <a:schemeClr val="bg1"/>
                </a:solidFill>
                <a:latin typeface="Arial" pitchFamily="34" charset="0"/>
              </a:defRPr>
            </a:lvl1pPr>
          </a:lstStyle>
          <a:p>
            <a:r>
              <a:rPr lang="en-US" dirty="0"/>
              <a:t>Click to edit Master title style</a:t>
            </a:r>
          </a:p>
        </p:txBody>
      </p:sp>
      <p:sp>
        <p:nvSpPr>
          <p:cNvPr id="3" name="Subtitle 2"/>
          <p:cNvSpPr>
            <a:spLocks noGrp="1"/>
          </p:cNvSpPr>
          <p:nvPr>
            <p:ph type="subTitle" idx="1" hasCustomPrompt="1"/>
          </p:nvPr>
        </p:nvSpPr>
        <p:spPr>
          <a:xfrm>
            <a:off x="457200" y="2581276"/>
            <a:ext cx="8089900" cy="397669"/>
          </a:xfrm>
        </p:spPr>
        <p:txBody>
          <a:bodyPr/>
          <a:lstStyle>
            <a:lvl1pPr marL="0" indent="0" algn="l">
              <a:buNone/>
              <a:defRPr sz="140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8" name="Rectangle 7"/>
          <p:cNvSpPr/>
          <p:nvPr userDrawn="1"/>
        </p:nvSpPr>
        <p:spPr>
          <a:xfrm>
            <a:off x="482600" y="4715217"/>
            <a:ext cx="3108960" cy="246221"/>
          </a:xfrm>
          <a:prstGeom prst="rect">
            <a:avLst/>
          </a:prstGeom>
        </p:spPr>
        <p:txBody>
          <a:bodyPr wrap="square">
            <a:spAutoFit/>
          </a:bodyPr>
          <a:lstStyle/>
          <a:p>
            <a:r>
              <a:rPr lang="en-US" sz="1000" dirty="0">
                <a:solidFill>
                  <a:schemeClr val="bg2"/>
                </a:solidFill>
                <a:latin typeface="Arial" pitchFamily="34" charset="0"/>
              </a:rPr>
              <a:t>Copyright © President &amp; Fellows of Harvard College</a:t>
            </a:r>
          </a:p>
        </p:txBody>
      </p:sp>
      <p:cxnSp>
        <p:nvCxnSpPr>
          <p:cNvPr id="17" name="Straight Connector 16"/>
          <p:cNvCxnSpPr/>
          <p:nvPr userDrawn="1"/>
        </p:nvCxnSpPr>
        <p:spPr>
          <a:xfrm>
            <a:off x="0" y="3575143"/>
            <a:ext cx="9144000" cy="0"/>
          </a:xfrm>
          <a:prstGeom prst="line">
            <a:avLst/>
          </a:prstGeom>
          <a:ln w="63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0" y="3527518"/>
            <a:ext cx="9144000" cy="0"/>
          </a:xfrm>
          <a:prstGeom prst="line">
            <a:avLst/>
          </a:prstGeom>
          <a:ln w="6350">
            <a:solidFill>
              <a:schemeClr val="tx2"/>
            </a:solidFill>
          </a:ln>
          <a:effectLst/>
        </p:spPr>
        <p:style>
          <a:lnRef idx="2">
            <a:schemeClr val="accent1"/>
          </a:lnRef>
          <a:fillRef idx="0">
            <a:schemeClr val="accent1"/>
          </a:fillRef>
          <a:effectRef idx="1">
            <a:schemeClr val="accent1"/>
          </a:effectRef>
          <a:fontRef idx="minor">
            <a:schemeClr val="tx1"/>
          </a:fontRef>
        </p:style>
      </p:cxnSp>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600" y="3965577"/>
            <a:ext cx="3590408" cy="5207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787378"/>
            <a:ext cx="7772400" cy="498872"/>
          </a:xfrm>
        </p:spPr>
        <p:txBody>
          <a:bodyPr anchor="b">
            <a:noAutofit/>
          </a:bodyPr>
          <a:lstStyle>
            <a:lvl1pPr algn="l">
              <a:defRPr sz="3000" b="0" cap="none">
                <a:ln>
                  <a:noFill/>
                </a:ln>
                <a:solidFill>
                  <a:schemeClr val="tx1"/>
                </a:solidFill>
              </a:defRPr>
            </a:lvl1pPr>
          </a:lstStyle>
          <a:p>
            <a:r>
              <a:rPr lang="en-US" dirty="0"/>
              <a:t>Click To Edit Master Title Style</a:t>
            </a:r>
          </a:p>
        </p:txBody>
      </p:sp>
      <p:sp>
        <p:nvSpPr>
          <p:cNvPr id="3" name="Text Placeholder 2"/>
          <p:cNvSpPr>
            <a:spLocks noGrp="1"/>
          </p:cNvSpPr>
          <p:nvPr>
            <p:ph type="body" idx="1"/>
          </p:nvPr>
        </p:nvSpPr>
        <p:spPr>
          <a:xfrm>
            <a:off x="457200" y="4286250"/>
            <a:ext cx="7772400" cy="400050"/>
          </a:xfrm>
        </p:spPr>
        <p:txBody>
          <a:bodyPr anchor="t"/>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Slide Number Placeholder 6"/>
          <p:cNvSpPr>
            <a:spLocks noGrp="1"/>
          </p:cNvSpPr>
          <p:nvPr>
            <p:ph type="sldNum" sz="quarter" idx="10"/>
          </p:nvPr>
        </p:nvSpPr>
        <p:spPr/>
        <p:txBody>
          <a:bodyPr/>
          <a:lstStyle/>
          <a:p>
            <a:fld id="{5F2ABEBD-494A-48E1-8492-00C1D9BBCCE6}" type="slidenum">
              <a:rPr lang="en-US" smtClean="0"/>
              <a:pPr/>
              <a:t>‹#›</a:t>
            </a:fld>
            <a:endParaRPr lang="en-US"/>
          </a:p>
        </p:txBody>
      </p:sp>
      <p:sp>
        <p:nvSpPr>
          <p:cNvPr id="13" name="Picture Placeholder 5"/>
          <p:cNvSpPr>
            <a:spLocks noGrp="1"/>
          </p:cNvSpPr>
          <p:nvPr>
            <p:ph type="pic" sz="quarter" idx="13"/>
          </p:nvPr>
        </p:nvSpPr>
        <p:spPr>
          <a:xfrm>
            <a:off x="6419498" y="1489166"/>
            <a:ext cx="2783541" cy="2057400"/>
          </a:xfrm>
        </p:spPr>
        <p:txBody>
          <a:bodyPr/>
          <a:lstStyle>
            <a:lvl1pPr>
              <a:defRPr sz="1800">
                <a:solidFill>
                  <a:schemeClr val="tx2"/>
                </a:solidFill>
              </a:defRPr>
            </a:lvl1pPr>
          </a:lstStyle>
          <a:p>
            <a:endParaRPr lang="en-US"/>
          </a:p>
        </p:txBody>
      </p:sp>
      <p:sp>
        <p:nvSpPr>
          <p:cNvPr id="14" name="Picture Placeholder 5"/>
          <p:cNvSpPr>
            <a:spLocks noGrp="1"/>
          </p:cNvSpPr>
          <p:nvPr>
            <p:ph type="pic" sz="quarter" idx="11"/>
          </p:nvPr>
        </p:nvSpPr>
        <p:spPr>
          <a:xfrm>
            <a:off x="3" y="1"/>
            <a:ext cx="6355333" cy="3546566"/>
          </a:xfrm>
        </p:spPr>
        <p:txBody>
          <a:bodyPr/>
          <a:lstStyle>
            <a:lvl1pPr>
              <a:defRPr sz="1800">
                <a:solidFill>
                  <a:schemeClr val="tx2"/>
                </a:solidFill>
              </a:defRPr>
            </a:lvl1pPr>
          </a:lstStyle>
          <a:p>
            <a:endParaRPr lang="en-US"/>
          </a:p>
        </p:txBody>
      </p:sp>
      <p:sp>
        <p:nvSpPr>
          <p:cNvPr id="15" name="Picture Placeholder 5"/>
          <p:cNvSpPr>
            <a:spLocks noGrp="1"/>
          </p:cNvSpPr>
          <p:nvPr>
            <p:ph type="pic" sz="quarter" idx="12"/>
          </p:nvPr>
        </p:nvSpPr>
        <p:spPr>
          <a:xfrm>
            <a:off x="6419498" y="0"/>
            <a:ext cx="2783541" cy="1428750"/>
          </a:xfrm>
        </p:spPr>
        <p:txBody>
          <a:bodyPr/>
          <a:lstStyle>
            <a:lvl1pPr>
              <a:defRPr sz="1800">
                <a:solidFill>
                  <a:schemeClr val="tx2"/>
                </a:solidFill>
              </a:defRPr>
            </a:lvl1p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71371"/>
            <a:ext cx="7772400" cy="498872"/>
          </a:xfrm>
        </p:spPr>
        <p:txBody>
          <a:bodyPr anchor="b">
            <a:noAutofit/>
          </a:bodyPr>
          <a:lstStyle>
            <a:lvl1pPr algn="l">
              <a:defRPr sz="3000" b="0" cap="none">
                <a:solidFill>
                  <a:schemeClr val="tx1"/>
                </a:solidFill>
              </a:defRPr>
            </a:lvl1pPr>
          </a:lstStyle>
          <a:p>
            <a:r>
              <a:rPr lang="en-US" dirty="0"/>
              <a:t>Click To Edit Master Title Style</a:t>
            </a:r>
          </a:p>
        </p:txBody>
      </p:sp>
      <p:sp>
        <p:nvSpPr>
          <p:cNvPr id="3" name="Text Placeholder 2"/>
          <p:cNvSpPr>
            <a:spLocks noGrp="1"/>
          </p:cNvSpPr>
          <p:nvPr>
            <p:ph type="body" idx="1"/>
          </p:nvPr>
        </p:nvSpPr>
        <p:spPr>
          <a:xfrm>
            <a:off x="457200" y="3285723"/>
            <a:ext cx="7772400" cy="429028"/>
          </a:xfrm>
        </p:spPr>
        <p:txBody>
          <a:bodyPr anchor="t"/>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Slide Number Placeholder 6"/>
          <p:cNvSpPr>
            <a:spLocks noGrp="1"/>
          </p:cNvSpPr>
          <p:nvPr>
            <p:ph type="sldNum" sz="quarter" idx="10"/>
          </p:nvPr>
        </p:nvSpPr>
        <p:spPr/>
        <p:txBody>
          <a:bodyPr/>
          <a:lstStyle>
            <a:lvl1pPr>
              <a:defRPr>
                <a:solidFill>
                  <a:schemeClr val="bg2"/>
                </a:solidFill>
              </a:defRPr>
            </a:lvl1pPr>
          </a:lstStyle>
          <a:p>
            <a:fld id="{5F2ABEBD-494A-48E1-8492-00C1D9BBCCE6}" type="slidenum">
              <a:rPr lang="en-US" smtClean="0"/>
              <a:pPr/>
              <a:t>‹#›</a:t>
            </a:fld>
            <a:endParaRPr lang="en-US"/>
          </a:p>
        </p:txBody>
      </p:sp>
      <p:sp>
        <p:nvSpPr>
          <p:cNvPr id="6" name="Picture Placeholder 5"/>
          <p:cNvSpPr>
            <a:spLocks noGrp="1"/>
          </p:cNvSpPr>
          <p:nvPr>
            <p:ph type="pic" sz="quarter" idx="11"/>
          </p:nvPr>
        </p:nvSpPr>
        <p:spPr>
          <a:xfrm>
            <a:off x="0" y="1314450"/>
            <a:ext cx="2304288" cy="1028700"/>
          </a:xfrm>
        </p:spPr>
        <p:txBody>
          <a:bodyPr/>
          <a:lstStyle>
            <a:lvl1pPr>
              <a:defRPr sz="1100">
                <a:solidFill>
                  <a:schemeClr val="tx2"/>
                </a:solidFill>
              </a:defRPr>
            </a:lvl1pPr>
          </a:lstStyle>
          <a:p>
            <a:endParaRPr lang="en-US"/>
          </a:p>
        </p:txBody>
      </p:sp>
      <p:sp>
        <p:nvSpPr>
          <p:cNvPr id="10" name="Picture Placeholder 5"/>
          <p:cNvSpPr>
            <a:spLocks noGrp="1"/>
          </p:cNvSpPr>
          <p:nvPr>
            <p:ph type="pic" sz="quarter" idx="12"/>
          </p:nvPr>
        </p:nvSpPr>
        <p:spPr>
          <a:xfrm>
            <a:off x="2353056" y="1314450"/>
            <a:ext cx="2231136" cy="1028700"/>
          </a:xfrm>
        </p:spPr>
        <p:txBody>
          <a:bodyPr/>
          <a:lstStyle>
            <a:lvl1pPr>
              <a:defRPr sz="1100">
                <a:solidFill>
                  <a:schemeClr val="tx2"/>
                </a:solidFill>
              </a:defRPr>
            </a:lvl1pPr>
          </a:lstStyle>
          <a:p>
            <a:endParaRPr lang="en-US"/>
          </a:p>
        </p:txBody>
      </p:sp>
      <p:sp>
        <p:nvSpPr>
          <p:cNvPr id="11" name="Picture Placeholder 5"/>
          <p:cNvSpPr>
            <a:spLocks noGrp="1"/>
          </p:cNvSpPr>
          <p:nvPr>
            <p:ph type="pic" sz="quarter" idx="13"/>
          </p:nvPr>
        </p:nvSpPr>
        <p:spPr>
          <a:xfrm>
            <a:off x="4632960" y="1314450"/>
            <a:ext cx="2231136" cy="1028700"/>
          </a:xfrm>
        </p:spPr>
        <p:txBody>
          <a:bodyPr/>
          <a:lstStyle>
            <a:lvl1pPr>
              <a:defRPr sz="1100">
                <a:solidFill>
                  <a:schemeClr val="tx2"/>
                </a:solidFill>
              </a:defRPr>
            </a:lvl1pPr>
          </a:lstStyle>
          <a:p>
            <a:endParaRPr lang="en-US"/>
          </a:p>
        </p:txBody>
      </p:sp>
      <p:sp>
        <p:nvSpPr>
          <p:cNvPr id="12" name="Picture Placeholder 5"/>
          <p:cNvSpPr>
            <a:spLocks noGrp="1"/>
          </p:cNvSpPr>
          <p:nvPr>
            <p:ph type="pic" sz="quarter" idx="14"/>
          </p:nvPr>
        </p:nvSpPr>
        <p:spPr>
          <a:xfrm>
            <a:off x="6912864" y="1314450"/>
            <a:ext cx="2231136" cy="1028700"/>
          </a:xfrm>
        </p:spPr>
        <p:txBody>
          <a:bodyPr/>
          <a:lstStyle>
            <a:lvl1pPr>
              <a:defRPr sz="1100">
                <a:solidFill>
                  <a:schemeClr val="tx2"/>
                </a:solidFill>
              </a:defRPr>
            </a:lvl1p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vider Slide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130028"/>
            <a:ext cx="7772400" cy="498872"/>
          </a:xfrm>
        </p:spPr>
        <p:txBody>
          <a:bodyPr anchor="b">
            <a:noAutofit/>
          </a:bodyPr>
          <a:lstStyle>
            <a:lvl1pPr algn="l">
              <a:defRPr sz="3000" b="0" cap="none">
                <a:solidFill>
                  <a:schemeClr val="tx1"/>
                </a:solidFill>
              </a:defRPr>
            </a:lvl1pPr>
          </a:lstStyle>
          <a:p>
            <a:r>
              <a:rPr lang="en-US" dirty="0"/>
              <a:t>Click To Edit Master Title Style</a:t>
            </a:r>
          </a:p>
        </p:txBody>
      </p:sp>
      <p:sp>
        <p:nvSpPr>
          <p:cNvPr id="3" name="Text Placeholder 2"/>
          <p:cNvSpPr>
            <a:spLocks noGrp="1"/>
          </p:cNvSpPr>
          <p:nvPr>
            <p:ph type="body" idx="1"/>
          </p:nvPr>
        </p:nvSpPr>
        <p:spPr>
          <a:xfrm>
            <a:off x="457200" y="2686050"/>
            <a:ext cx="7772400" cy="457200"/>
          </a:xfrm>
        </p:spPr>
        <p:txBody>
          <a:bodyPr anchor="t"/>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Slide Number Placeholder 6"/>
          <p:cNvSpPr>
            <a:spLocks noGrp="1"/>
          </p:cNvSpPr>
          <p:nvPr>
            <p:ph type="sldNum" sz="quarter" idx="10"/>
          </p:nvPr>
        </p:nvSpPr>
        <p:spPr/>
        <p:txBody>
          <a:bodyPr/>
          <a:lstStyle>
            <a:lvl1pPr>
              <a:defRPr>
                <a:solidFill>
                  <a:schemeClr val="bg2"/>
                </a:solidFill>
              </a:defRPr>
            </a:lvl1pPr>
          </a:lstStyle>
          <a:p>
            <a:fld id="{5F2ABEBD-494A-48E1-8492-00C1D9BBCCE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ext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457200" y="1200150"/>
            <a:ext cx="8266176" cy="3429000"/>
          </a:xfrm>
        </p:spPr>
        <p:txBody>
          <a:bodyPr/>
          <a:lstStyle>
            <a:lvl1pPr>
              <a:defRPr>
                <a:solidFill>
                  <a:srgbClr val="8996A5"/>
                </a:solidFill>
              </a:defRPr>
            </a:lvl1pPr>
            <a:lvl2pPr marL="173038" indent="-173038">
              <a:defRPr/>
            </a:lvl2pPr>
            <a:lvl3pPr marL="622300" indent="-168275">
              <a:defRPr/>
            </a:lvl3pPr>
            <a:lvl4pPr marL="1087438" indent="-174625">
              <a:defRPr/>
            </a:lvl4pPr>
            <a:lvl5pPr marL="1536700" indent="-16668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5F2ABEBD-494A-48E1-8492-00C1D9BBCCE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ext with No Subtitle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457200" y="1200150"/>
            <a:ext cx="8266176" cy="3429000"/>
          </a:xfrm>
        </p:spPr>
        <p:txBody>
          <a:bodyPr/>
          <a:lstStyle>
            <a:lvl1pPr marL="173038" indent="-173038">
              <a:buFont typeface="Arial" pitchFamily="34" charset="0"/>
              <a:buChar char="•"/>
              <a:defRPr sz="1800">
                <a:solidFill>
                  <a:srgbClr val="8996A5"/>
                </a:solidFill>
              </a:defRPr>
            </a:lvl1pPr>
            <a:lvl2pPr marL="622300" indent="-160338">
              <a:defRPr sz="1600"/>
            </a:lvl2pPr>
            <a:lvl3pPr marL="1087438" indent="-180975">
              <a:defRPr sz="1400"/>
            </a:lvl3pPr>
            <a:lvl4pPr marL="1536700" indent="-160338">
              <a:defRPr sz="1200"/>
            </a:lvl4pPr>
            <a:lvl5pPr marL="2001838" indent="-180975">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5F2ABEBD-494A-48E1-8492-00C1D9BBCCE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aragraph with Image Bottom">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1"/>
            <a:ext cx="8266176" cy="548879"/>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457200" y="1200152"/>
            <a:ext cx="8266176" cy="2343149"/>
          </a:xfrm>
        </p:spPr>
        <p:txBody>
          <a:bodyPr/>
          <a:lstStyle>
            <a:lvl1pPr>
              <a:lnSpc>
                <a:spcPct val="150000"/>
              </a:lnSpc>
              <a:defRPr sz="1800">
                <a:solidFill>
                  <a:srgbClr val="8996A5"/>
                </a:solidFill>
                <a:latin typeface="Arial" pitchFamily="34" charset="0"/>
              </a:defRPr>
            </a:lvl1pPr>
            <a:lvl2pPr>
              <a:defRPr>
                <a:solidFill>
                  <a:srgbClr val="9B1C2F"/>
                </a:solidFill>
              </a:defRPr>
            </a:lvl2pPr>
            <a:lvl3pPr>
              <a:defRPr>
                <a:solidFill>
                  <a:srgbClr val="9B1C2F"/>
                </a:solidFill>
              </a:defRPr>
            </a:lvl3pPr>
            <a:lvl4pPr>
              <a:defRPr>
                <a:solidFill>
                  <a:srgbClr val="9B1C2F"/>
                </a:solidFill>
              </a:defRPr>
            </a:lvl4pPr>
            <a:lvl5pPr>
              <a:defRPr>
                <a:solidFill>
                  <a:srgbClr val="9B1C2F"/>
                </a:solidFill>
              </a:defRPr>
            </a:lvl5pPr>
          </a:lstStyle>
          <a:p>
            <a:pPr lvl="0"/>
            <a:r>
              <a:rPr lang="en-US" dirty="0"/>
              <a:t>Click to edit Master text styles</a:t>
            </a:r>
          </a:p>
        </p:txBody>
      </p:sp>
      <p:sp>
        <p:nvSpPr>
          <p:cNvPr id="7" name="Slide Number Placeholder 6"/>
          <p:cNvSpPr>
            <a:spLocks noGrp="1"/>
          </p:cNvSpPr>
          <p:nvPr>
            <p:ph type="sldNum" sz="quarter" idx="10"/>
          </p:nvPr>
        </p:nvSpPr>
        <p:spPr/>
        <p:txBody>
          <a:bodyPr/>
          <a:lstStyle/>
          <a:p>
            <a:fld id="{5F2ABEBD-494A-48E1-8492-00C1D9BBCCE6}" type="slidenum">
              <a:rPr lang="en-US" smtClean="0"/>
              <a:pPr/>
              <a:t>‹#›</a:t>
            </a:fld>
            <a:endParaRPr lang="en-US"/>
          </a:p>
        </p:txBody>
      </p:sp>
      <p:sp>
        <p:nvSpPr>
          <p:cNvPr id="9" name="Picture Placeholder 5"/>
          <p:cNvSpPr>
            <a:spLocks noGrp="1"/>
          </p:cNvSpPr>
          <p:nvPr>
            <p:ph type="pic" sz="quarter" idx="11"/>
          </p:nvPr>
        </p:nvSpPr>
        <p:spPr>
          <a:xfrm>
            <a:off x="0" y="3657600"/>
            <a:ext cx="2304288" cy="1028700"/>
          </a:xfrm>
        </p:spPr>
        <p:txBody>
          <a:bodyPr/>
          <a:lstStyle>
            <a:lvl1pPr>
              <a:defRPr sz="1100">
                <a:solidFill>
                  <a:schemeClr val="tx2"/>
                </a:solidFill>
              </a:defRPr>
            </a:lvl1pPr>
          </a:lstStyle>
          <a:p>
            <a:endParaRPr lang="en-US" dirty="0"/>
          </a:p>
        </p:txBody>
      </p:sp>
      <p:sp>
        <p:nvSpPr>
          <p:cNvPr id="10" name="Picture Placeholder 5"/>
          <p:cNvSpPr>
            <a:spLocks noGrp="1"/>
          </p:cNvSpPr>
          <p:nvPr>
            <p:ph type="pic" sz="quarter" idx="12"/>
          </p:nvPr>
        </p:nvSpPr>
        <p:spPr>
          <a:xfrm>
            <a:off x="2353056" y="3657600"/>
            <a:ext cx="2231136" cy="1028700"/>
          </a:xfrm>
        </p:spPr>
        <p:txBody>
          <a:bodyPr/>
          <a:lstStyle>
            <a:lvl1pPr>
              <a:defRPr sz="1100">
                <a:solidFill>
                  <a:schemeClr val="tx2"/>
                </a:solidFill>
              </a:defRPr>
            </a:lvl1pPr>
          </a:lstStyle>
          <a:p>
            <a:endParaRPr lang="en-US"/>
          </a:p>
        </p:txBody>
      </p:sp>
      <p:sp>
        <p:nvSpPr>
          <p:cNvPr id="11" name="Picture Placeholder 5"/>
          <p:cNvSpPr>
            <a:spLocks noGrp="1"/>
          </p:cNvSpPr>
          <p:nvPr>
            <p:ph type="pic" sz="quarter" idx="13"/>
          </p:nvPr>
        </p:nvSpPr>
        <p:spPr>
          <a:xfrm>
            <a:off x="4632960" y="3657600"/>
            <a:ext cx="2231136" cy="1028700"/>
          </a:xfrm>
        </p:spPr>
        <p:txBody>
          <a:bodyPr/>
          <a:lstStyle>
            <a:lvl1pPr>
              <a:defRPr sz="1100">
                <a:solidFill>
                  <a:schemeClr val="tx2"/>
                </a:solidFill>
              </a:defRPr>
            </a:lvl1pPr>
          </a:lstStyle>
          <a:p>
            <a:endParaRPr lang="en-US"/>
          </a:p>
        </p:txBody>
      </p:sp>
      <p:sp>
        <p:nvSpPr>
          <p:cNvPr id="12" name="Picture Placeholder 5"/>
          <p:cNvSpPr>
            <a:spLocks noGrp="1"/>
          </p:cNvSpPr>
          <p:nvPr>
            <p:ph type="pic" sz="quarter" idx="14"/>
          </p:nvPr>
        </p:nvSpPr>
        <p:spPr>
          <a:xfrm>
            <a:off x="6912864" y="3657600"/>
            <a:ext cx="2231136" cy="1028700"/>
          </a:xfrm>
        </p:spPr>
        <p:txBody>
          <a:bodyPr/>
          <a:lstStyle>
            <a:lvl1pPr>
              <a:defRPr sz="1100">
                <a:solidFill>
                  <a:schemeClr val="tx2"/>
                </a:solidFill>
              </a:defRPr>
            </a:lvl1p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ragraph with Image To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457200" y="2313334"/>
            <a:ext cx="8266176" cy="2315816"/>
          </a:xfrm>
        </p:spPr>
        <p:txBody>
          <a:bodyPr/>
          <a:lstStyle>
            <a:lvl1pPr>
              <a:lnSpc>
                <a:spcPct val="150000"/>
              </a:lnSpc>
              <a:defRPr sz="1800">
                <a:solidFill>
                  <a:srgbClr val="8996A5"/>
                </a:solidFill>
                <a:latin typeface="Arial" pitchFamily="34" charset="0"/>
              </a:defRPr>
            </a:lvl1pPr>
            <a:lvl2pPr>
              <a:defRPr>
                <a:solidFill>
                  <a:srgbClr val="9B1C2F"/>
                </a:solidFill>
              </a:defRPr>
            </a:lvl2pPr>
            <a:lvl3pPr>
              <a:defRPr>
                <a:solidFill>
                  <a:srgbClr val="9B1C2F"/>
                </a:solidFill>
              </a:defRPr>
            </a:lvl3pPr>
            <a:lvl4pPr>
              <a:defRPr>
                <a:solidFill>
                  <a:srgbClr val="9B1C2F"/>
                </a:solidFill>
              </a:defRPr>
            </a:lvl4pPr>
            <a:lvl5pPr>
              <a:defRPr>
                <a:solidFill>
                  <a:srgbClr val="9B1C2F"/>
                </a:solidFill>
              </a:defRPr>
            </a:lvl5pPr>
          </a:lstStyle>
          <a:p>
            <a:pPr lvl="0"/>
            <a:r>
              <a:rPr lang="en-US" dirty="0"/>
              <a:t>Click to edit Master text styles</a:t>
            </a:r>
          </a:p>
        </p:txBody>
      </p:sp>
      <p:sp>
        <p:nvSpPr>
          <p:cNvPr id="7" name="Slide Number Placeholder 6"/>
          <p:cNvSpPr>
            <a:spLocks noGrp="1"/>
          </p:cNvSpPr>
          <p:nvPr>
            <p:ph type="sldNum" sz="quarter" idx="10"/>
          </p:nvPr>
        </p:nvSpPr>
        <p:spPr/>
        <p:txBody>
          <a:bodyPr/>
          <a:lstStyle/>
          <a:p>
            <a:fld id="{5F2ABEBD-494A-48E1-8492-00C1D9BBCCE6}" type="slidenum">
              <a:rPr lang="en-US" smtClean="0"/>
              <a:pPr/>
              <a:t>‹#›</a:t>
            </a:fld>
            <a:endParaRPr lang="en-US"/>
          </a:p>
        </p:txBody>
      </p:sp>
      <p:sp>
        <p:nvSpPr>
          <p:cNvPr id="8" name="Picture Placeholder 5"/>
          <p:cNvSpPr>
            <a:spLocks noGrp="1"/>
          </p:cNvSpPr>
          <p:nvPr>
            <p:ph type="pic" sz="quarter" idx="11"/>
          </p:nvPr>
        </p:nvSpPr>
        <p:spPr>
          <a:xfrm>
            <a:off x="0" y="1143000"/>
            <a:ext cx="2304288" cy="1028700"/>
          </a:xfrm>
        </p:spPr>
        <p:txBody>
          <a:bodyPr/>
          <a:lstStyle>
            <a:lvl1pPr>
              <a:defRPr sz="1100">
                <a:solidFill>
                  <a:schemeClr val="tx2"/>
                </a:solidFill>
              </a:defRPr>
            </a:lvl1pPr>
          </a:lstStyle>
          <a:p>
            <a:endParaRPr lang="en-US"/>
          </a:p>
        </p:txBody>
      </p:sp>
      <p:sp>
        <p:nvSpPr>
          <p:cNvPr id="9" name="Picture Placeholder 5"/>
          <p:cNvSpPr>
            <a:spLocks noGrp="1"/>
          </p:cNvSpPr>
          <p:nvPr>
            <p:ph type="pic" sz="quarter" idx="12"/>
          </p:nvPr>
        </p:nvSpPr>
        <p:spPr>
          <a:xfrm>
            <a:off x="2353056" y="1143000"/>
            <a:ext cx="2231136" cy="1028700"/>
          </a:xfrm>
        </p:spPr>
        <p:txBody>
          <a:bodyPr/>
          <a:lstStyle>
            <a:lvl1pPr>
              <a:defRPr sz="1100">
                <a:solidFill>
                  <a:schemeClr val="tx2"/>
                </a:solidFill>
              </a:defRPr>
            </a:lvl1pPr>
          </a:lstStyle>
          <a:p>
            <a:endParaRPr lang="en-US"/>
          </a:p>
        </p:txBody>
      </p:sp>
      <p:sp>
        <p:nvSpPr>
          <p:cNvPr id="10" name="Picture Placeholder 5"/>
          <p:cNvSpPr>
            <a:spLocks noGrp="1"/>
          </p:cNvSpPr>
          <p:nvPr>
            <p:ph type="pic" sz="quarter" idx="13"/>
          </p:nvPr>
        </p:nvSpPr>
        <p:spPr>
          <a:xfrm>
            <a:off x="4632960" y="1143000"/>
            <a:ext cx="2231136" cy="1028700"/>
          </a:xfrm>
        </p:spPr>
        <p:txBody>
          <a:bodyPr/>
          <a:lstStyle>
            <a:lvl1pPr>
              <a:defRPr sz="1100">
                <a:solidFill>
                  <a:schemeClr val="tx2"/>
                </a:solidFill>
              </a:defRPr>
            </a:lvl1pPr>
          </a:lstStyle>
          <a:p>
            <a:endParaRPr lang="en-US"/>
          </a:p>
        </p:txBody>
      </p:sp>
      <p:sp>
        <p:nvSpPr>
          <p:cNvPr id="11" name="Picture Placeholder 5"/>
          <p:cNvSpPr>
            <a:spLocks noGrp="1"/>
          </p:cNvSpPr>
          <p:nvPr>
            <p:ph type="pic" sz="quarter" idx="14"/>
          </p:nvPr>
        </p:nvSpPr>
        <p:spPr>
          <a:xfrm>
            <a:off x="6912864" y="1143000"/>
            <a:ext cx="2231136" cy="1028700"/>
          </a:xfrm>
        </p:spPr>
        <p:txBody>
          <a:bodyPr/>
          <a:lstStyle>
            <a:lvl1pPr>
              <a:defRPr sz="1100">
                <a:solidFill>
                  <a:schemeClr val="tx2"/>
                </a:solidFill>
              </a:defRPr>
            </a:lvl1p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th Image/Content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457200" y="1200150"/>
            <a:ext cx="5334000" cy="3429000"/>
          </a:xfrm>
        </p:spPr>
        <p:txBody>
          <a:bodyPr>
            <a:noAutofit/>
          </a:bodyPr>
          <a:lstStyle>
            <a:lvl1pPr>
              <a:defRPr sz="2000">
                <a:solidFill>
                  <a:srgbClr val="8996A5"/>
                </a:solidFill>
              </a:defRPr>
            </a:lvl1pPr>
            <a:lvl2pPr>
              <a:lnSpc>
                <a:spcPts val="2400"/>
              </a:lnSpc>
              <a:defRPr sz="1800"/>
            </a:lvl2pPr>
            <a:lvl3pPr>
              <a:lnSpc>
                <a:spcPts val="2400"/>
              </a:lnSpc>
              <a:defRPr sz="1600"/>
            </a:lvl3pPr>
            <a:lvl4pPr>
              <a:lnSpc>
                <a:spcPts val="2400"/>
              </a:lnSpc>
              <a:defRPr sz="1400"/>
            </a:lvl4pPr>
            <a:lvl5pPr>
              <a:lnSpc>
                <a:spcPts val="2400"/>
              </a:lnSpc>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p:cNvSpPr>
            <a:spLocks noGrp="1"/>
          </p:cNvSpPr>
          <p:nvPr>
            <p:ph type="sldNum" sz="quarter" idx="10"/>
          </p:nvPr>
        </p:nvSpPr>
        <p:spPr/>
        <p:txBody>
          <a:bodyPr/>
          <a:lstStyle/>
          <a:p>
            <a:fld id="{5F2ABEBD-494A-48E1-8492-00C1D9BBCCE6}" type="slidenum">
              <a:rPr lang="en-US" smtClean="0"/>
              <a:pPr/>
              <a:t>‹#›</a:t>
            </a:fld>
            <a:endParaRPr lang="en-US"/>
          </a:p>
        </p:txBody>
      </p:sp>
      <p:sp>
        <p:nvSpPr>
          <p:cNvPr id="7" name="Picture Placeholder 6"/>
          <p:cNvSpPr>
            <a:spLocks noGrp="1"/>
          </p:cNvSpPr>
          <p:nvPr>
            <p:ph type="pic" sz="quarter" idx="11"/>
          </p:nvPr>
        </p:nvSpPr>
        <p:spPr>
          <a:xfrm>
            <a:off x="6126480" y="1200150"/>
            <a:ext cx="3017520" cy="3429000"/>
          </a:xfrm>
        </p:spPr>
        <p:txBody>
          <a:bodyPr/>
          <a:lstStyle>
            <a:lvl1pPr>
              <a:defRPr sz="1600"/>
            </a:lvl1p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with Image/Content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3352800" y="1200150"/>
            <a:ext cx="5334000" cy="3429000"/>
          </a:xfrm>
        </p:spPr>
        <p:txBody>
          <a:bodyPr>
            <a:noAutofit/>
          </a:bodyPr>
          <a:lstStyle>
            <a:lvl1pPr>
              <a:defRPr sz="2000">
                <a:solidFill>
                  <a:srgbClr val="8996A5"/>
                </a:solidFill>
              </a:defRPr>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p:cNvSpPr>
            <a:spLocks noGrp="1"/>
          </p:cNvSpPr>
          <p:nvPr>
            <p:ph type="sldNum" sz="quarter" idx="10"/>
          </p:nvPr>
        </p:nvSpPr>
        <p:spPr/>
        <p:txBody>
          <a:bodyPr/>
          <a:lstStyle/>
          <a:p>
            <a:fld id="{5F2ABEBD-494A-48E1-8492-00C1D9BBCCE6}" type="slidenum">
              <a:rPr lang="en-US" smtClean="0"/>
              <a:pPr/>
              <a:t>‹#›</a:t>
            </a:fld>
            <a:endParaRPr lang="en-US"/>
          </a:p>
        </p:txBody>
      </p:sp>
      <p:sp>
        <p:nvSpPr>
          <p:cNvPr id="7" name="Picture Placeholder 6"/>
          <p:cNvSpPr>
            <a:spLocks noGrp="1"/>
          </p:cNvSpPr>
          <p:nvPr>
            <p:ph type="pic" sz="quarter" idx="11"/>
          </p:nvPr>
        </p:nvSpPr>
        <p:spPr>
          <a:xfrm>
            <a:off x="0" y="1177290"/>
            <a:ext cx="3090672" cy="3429000"/>
          </a:xfrm>
        </p:spPr>
        <p:txBody>
          <a:bodyPr/>
          <a:lstStyle>
            <a:lvl1pPr>
              <a:defRPr sz="1600"/>
            </a:lvl1p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Two Images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457200" y="1200150"/>
            <a:ext cx="5334000" cy="3429000"/>
          </a:xfrm>
        </p:spPr>
        <p:txBody>
          <a:bodyPr>
            <a:noAutofit/>
          </a:bodyPr>
          <a:lstStyle>
            <a:lvl1pPr>
              <a:defRPr sz="2000">
                <a:solidFill>
                  <a:srgbClr val="8996A5"/>
                </a:solidFill>
              </a:defRPr>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p:cNvSpPr>
            <a:spLocks noGrp="1"/>
          </p:cNvSpPr>
          <p:nvPr>
            <p:ph type="sldNum" sz="quarter" idx="10"/>
          </p:nvPr>
        </p:nvSpPr>
        <p:spPr/>
        <p:txBody>
          <a:bodyPr/>
          <a:lstStyle/>
          <a:p>
            <a:fld id="{5F2ABEBD-494A-48E1-8492-00C1D9BBCCE6}" type="slidenum">
              <a:rPr lang="en-US" smtClean="0"/>
              <a:pPr/>
              <a:t>‹#›</a:t>
            </a:fld>
            <a:endParaRPr lang="en-US"/>
          </a:p>
        </p:txBody>
      </p:sp>
      <p:sp>
        <p:nvSpPr>
          <p:cNvPr id="7" name="Picture Placeholder 6"/>
          <p:cNvSpPr>
            <a:spLocks noGrp="1"/>
          </p:cNvSpPr>
          <p:nvPr>
            <p:ph type="pic" sz="quarter" idx="11"/>
          </p:nvPr>
        </p:nvSpPr>
        <p:spPr>
          <a:xfrm>
            <a:off x="6126480" y="1200150"/>
            <a:ext cx="3017520" cy="1680210"/>
          </a:xfrm>
        </p:spPr>
        <p:txBody>
          <a:bodyPr/>
          <a:lstStyle>
            <a:lvl1pPr>
              <a:defRPr sz="1600"/>
            </a:lvl1pPr>
          </a:lstStyle>
          <a:p>
            <a:endParaRPr lang="en-US"/>
          </a:p>
        </p:txBody>
      </p:sp>
      <p:sp>
        <p:nvSpPr>
          <p:cNvPr id="6" name="Picture Placeholder 6"/>
          <p:cNvSpPr>
            <a:spLocks noGrp="1"/>
          </p:cNvSpPr>
          <p:nvPr>
            <p:ph type="pic" sz="quarter" idx="12"/>
          </p:nvPr>
        </p:nvSpPr>
        <p:spPr>
          <a:xfrm>
            <a:off x="6126480" y="2945423"/>
            <a:ext cx="3017520" cy="1680210"/>
          </a:xfrm>
        </p:spPr>
        <p:txBody>
          <a:bodyPr/>
          <a:lstStyle>
            <a:lvl1pPr>
              <a:defRPr sz="1600"/>
            </a:lvl1p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ext with Two Images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3352800" y="1200150"/>
            <a:ext cx="5334000" cy="3429000"/>
          </a:xfrm>
        </p:spPr>
        <p:txBody>
          <a:bodyPr>
            <a:noAutofit/>
          </a:bodyPr>
          <a:lstStyle>
            <a:lvl1pPr>
              <a:defRPr sz="2000">
                <a:solidFill>
                  <a:srgbClr val="8996A5"/>
                </a:solidFill>
              </a:defRPr>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p:cNvSpPr>
            <a:spLocks noGrp="1"/>
          </p:cNvSpPr>
          <p:nvPr>
            <p:ph type="sldNum" sz="quarter" idx="10"/>
          </p:nvPr>
        </p:nvSpPr>
        <p:spPr/>
        <p:txBody>
          <a:bodyPr/>
          <a:lstStyle/>
          <a:p>
            <a:fld id="{5F2ABEBD-494A-48E1-8492-00C1D9BBCCE6}" type="slidenum">
              <a:rPr lang="en-US" smtClean="0"/>
              <a:pPr/>
              <a:t>‹#›</a:t>
            </a:fld>
            <a:endParaRPr lang="en-US"/>
          </a:p>
        </p:txBody>
      </p:sp>
      <p:sp>
        <p:nvSpPr>
          <p:cNvPr id="9" name="Picture Placeholder 6"/>
          <p:cNvSpPr>
            <a:spLocks noGrp="1"/>
          </p:cNvSpPr>
          <p:nvPr>
            <p:ph type="pic" sz="quarter" idx="11"/>
          </p:nvPr>
        </p:nvSpPr>
        <p:spPr>
          <a:xfrm>
            <a:off x="76200" y="1200150"/>
            <a:ext cx="3017520" cy="1680210"/>
          </a:xfrm>
        </p:spPr>
        <p:txBody>
          <a:bodyPr/>
          <a:lstStyle>
            <a:lvl1pPr>
              <a:defRPr sz="1600"/>
            </a:lvl1pPr>
          </a:lstStyle>
          <a:p>
            <a:endParaRPr lang="en-US"/>
          </a:p>
        </p:txBody>
      </p:sp>
      <p:sp>
        <p:nvSpPr>
          <p:cNvPr id="10" name="Picture Placeholder 6"/>
          <p:cNvSpPr>
            <a:spLocks noGrp="1"/>
          </p:cNvSpPr>
          <p:nvPr>
            <p:ph type="pic" sz="quarter" idx="12"/>
          </p:nvPr>
        </p:nvSpPr>
        <p:spPr>
          <a:xfrm>
            <a:off x="76200" y="2945423"/>
            <a:ext cx="3017520" cy="1680210"/>
          </a:xfrm>
        </p:spPr>
        <p:txBody>
          <a:bodyPr/>
          <a:lstStyle>
            <a:lvl1pPr>
              <a:defRPr sz="1600"/>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Text/Content Box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457200" y="1200150"/>
            <a:ext cx="4038600" cy="3429000"/>
          </a:xfrm>
        </p:spPr>
        <p:txBody>
          <a:bodyPr>
            <a:noAutofit/>
          </a:bodyPr>
          <a:lstStyle>
            <a:lvl1pPr marL="168275" indent="-168275">
              <a:buFont typeface="Arial" pitchFamily="34" charset="0"/>
              <a:buChar char="•"/>
              <a:defRPr sz="1800">
                <a:solidFill>
                  <a:srgbClr val="8996A5"/>
                </a:solidFill>
              </a:defRPr>
            </a:lvl1pPr>
            <a:lvl2pPr marL="525463" indent="-173038">
              <a:defRPr sz="1600"/>
            </a:lvl2pPr>
            <a:lvl3pPr marL="804863" indent="-166688">
              <a:defRPr sz="1400"/>
            </a:lvl3pPr>
            <a:lvl4pPr>
              <a:defRPr sz="12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00150"/>
            <a:ext cx="4038600" cy="3429000"/>
          </a:xfrm>
        </p:spPr>
        <p:txBody>
          <a:bodyPr>
            <a:noAutofit/>
          </a:bodyPr>
          <a:lstStyle>
            <a:lvl1pPr marL="168275" indent="-168275">
              <a:buFont typeface="Arial" pitchFamily="34" charset="0"/>
              <a:buChar char="•"/>
              <a:defRPr sz="1800">
                <a:solidFill>
                  <a:srgbClr val="8996A5"/>
                </a:solidFill>
              </a:defRPr>
            </a:lvl1pPr>
            <a:lvl2pPr marL="468313" indent="-173038">
              <a:defRPr sz="1600"/>
            </a:lvl2pPr>
            <a:lvl3pPr marL="804863" indent="-166688">
              <a:defRPr sz="1400"/>
            </a:lvl3pPr>
            <a:lvl4pPr>
              <a:defRPr sz="12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p:cNvSpPr>
            <a:spLocks noGrp="1"/>
          </p:cNvSpPr>
          <p:nvPr>
            <p:ph type="sldNum" sz="quarter" idx="10"/>
          </p:nvPr>
        </p:nvSpPr>
        <p:spPr/>
        <p:txBody>
          <a:bodyPr/>
          <a:lstStyle/>
          <a:p>
            <a:fld id="{5F2ABEBD-494A-48E1-8492-00C1D9BBCCE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wo Text/Content Boxes with Tit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Text Placeholder 2"/>
          <p:cNvSpPr>
            <a:spLocks noGrp="1"/>
          </p:cNvSpPr>
          <p:nvPr>
            <p:ph type="body" idx="1"/>
          </p:nvPr>
        </p:nvSpPr>
        <p:spPr>
          <a:xfrm>
            <a:off x="457200" y="1028701"/>
            <a:ext cx="4040188" cy="479822"/>
          </a:xfrm>
        </p:spPr>
        <p:txBody>
          <a:bodyPr anchor="b">
            <a:noAutofit/>
          </a:bodyPr>
          <a:lstStyle>
            <a:lvl1pPr marL="0" indent="0">
              <a:buNone/>
              <a:defRPr sz="2000" b="0">
                <a:solidFill>
                  <a:srgbClr val="8996A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543050"/>
            <a:ext cx="4040188" cy="3086100"/>
          </a:xfrm>
        </p:spPr>
        <p:txBody>
          <a:bodyPr>
            <a:noAutofit/>
          </a:bodyPr>
          <a:lstStyle>
            <a:lvl1pPr marL="168275" indent="-168275">
              <a:buFont typeface="Arial" pitchFamily="34" charset="0"/>
              <a:buChar char="•"/>
              <a:defRPr sz="1800">
                <a:solidFill>
                  <a:schemeClr val="tx2"/>
                </a:solidFill>
              </a:defRPr>
            </a:lvl1pPr>
            <a:lvl2pPr marL="463550" indent="-168275">
              <a:defRPr sz="1600"/>
            </a:lvl2pPr>
            <a:lvl3pPr marL="746125" indent="-177800">
              <a:defRPr sz="1400"/>
            </a:lvl3pPr>
            <a:lvl4pPr>
              <a:defRPr sz="12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8" y="1028701"/>
            <a:ext cx="4041775" cy="479822"/>
          </a:xfrm>
        </p:spPr>
        <p:txBody>
          <a:bodyPr anchor="b">
            <a:noAutofit/>
          </a:bodyPr>
          <a:lstStyle>
            <a:lvl1pPr marL="0" indent="0">
              <a:buNone/>
              <a:defRPr sz="2000" b="0">
                <a:solidFill>
                  <a:srgbClr val="8996A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8" y="1543050"/>
            <a:ext cx="4041775" cy="3086100"/>
          </a:xfrm>
        </p:spPr>
        <p:txBody>
          <a:bodyPr>
            <a:noAutofit/>
          </a:bodyPr>
          <a:lstStyle>
            <a:lvl1pPr marL="168275" indent="-168275">
              <a:buFont typeface="Arial" pitchFamily="34" charset="0"/>
              <a:buChar char="•"/>
              <a:defRPr sz="1800">
                <a:solidFill>
                  <a:schemeClr val="tx2"/>
                </a:solidFill>
              </a:defRPr>
            </a:lvl1pPr>
            <a:lvl2pPr marL="468313" indent="-173038">
              <a:defRPr sz="1600"/>
            </a:lvl2pPr>
            <a:lvl3pPr marL="749300" indent="-166688">
              <a:defRPr sz="1400"/>
            </a:lvl3pPr>
            <a:lvl4pPr>
              <a:defRPr sz="12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10"/>
          </p:nvPr>
        </p:nvSpPr>
        <p:spPr/>
        <p:txBody>
          <a:bodyPr/>
          <a:lstStyle/>
          <a:p>
            <a:fld id="{5F2ABEBD-494A-48E1-8492-00C1D9BBCCE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6" name="Slide Number Placeholder 5"/>
          <p:cNvSpPr>
            <a:spLocks noGrp="1"/>
          </p:cNvSpPr>
          <p:nvPr>
            <p:ph type="sldNum" sz="quarter" idx="10"/>
          </p:nvPr>
        </p:nvSpPr>
        <p:spPr/>
        <p:txBody>
          <a:bodyPr/>
          <a:lstStyle/>
          <a:p>
            <a:fld id="{5F2ABEBD-494A-48E1-8492-00C1D9BBCCE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0"/>
            <a:ext cx="304800" cy="51435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1"/>
            <a:ext cx="8266176" cy="548879"/>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p:cNvSpPr>
            <a:spLocks noGrp="1"/>
          </p:cNvSpPr>
          <p:nvPr>
            <p:ph type="body" idx="1"/>
          </p:nvPr>
        </p:nvSpPr>
        <p:spPr>
          <a:xfrm>
            <a:off x="457200" y="1200150"/>
            <a:ext cx="8266176" cy="3429000"/>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457200" y="4812507"/>
            <a:ext cx="365760" cy="273844"/>
          </a:xfrm>
          <a:prstGeom prst="rect">
            <a:avLst/>
          </a:prstGeom>
        </p:spPr>
        <p:txBody>
          <a:bodyPr vert="horz" lIns="91440" tIns="45720" rIns="91440" bIns="45720" rtlCol="0" anchor="ctr"/>
          <a:lstStyle>
            <a:lvl1pPr algn="l">
              <a:defRPr sz="1050">
                <a:solidFill>
                  <a:schemeClr val="tx2"/>
                </a:solidFill>
                <a:latin typeface="Arial" pitchFamily="34" charset="0"/>
              </a:defRPr>
            </a:lvl1pPr>
          </a:lstStyle>
          <a:p>
            <a:fld id="{5F2ABEBD-494A-48E1-8492-00C1D9BBCCE6}" type="slidenum">
              <a:rPr lang="en-US" smtClean="0"/>
              <a:pPr/>
              <a:t>‹#›</a:t>
            </a:fld>
            <a:endParaRPr lang="en-US" dirty="0"/>
          </a:p>
        </p:txBody>
      </p:sp>
      <p:pic>
        <p:nvPicPr>
          <p:cNvPr id="12" name="Picture 11" descr="NameLogo-condensed-K.eps"/>
          <p:cNvPicPr>
            <a:picLocks noChangeAspect="1"/>
          </p:cNvPicPr>
          <p:nvPr userDrawn="1"/>
        </p:nvPicPr>
        <p:blipFill>
          <a:blip r:embed="rId17">
            <a:alphaModFix amt="49000"/>
            <a:extLst>
              <a:ext uri="{28A0092B-C50C-407E-A947-70E740481C1C}">
                <a14:useLocalDpi xmlns:a14="http://schemas.microsoft.com/office/drawing/2010/main" val="0"/>
              </a:ext>
            </a:extLst>
          </a:blip>
          <a:stretch>
            <a:fillRect/>
          </a:stretch>
        </p:blipFill>
        <p:spPr>
          <a:xfrm>
            <a:off x="6007100" y="4794250"/>
            <a:ext cx="2712593" cy="2086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669" r:id="rId4"/>
    <p:sldLayoutId id="2147483650" r:id="rId5"/>
    <p:sldLayoutId id="2147483663" r:id="rId6"/>
    <p:sldLayoutId id="2147483658" r:id="rId7"/>
    <p:sldLayoutId id="2147483668" r:id="rId8"/>
    <p:sldLayoutId id="2147483664" r:id="rId9"/>
    <p:sldLayoutId id="2147483666" r:id="rId10"/>
    <p:sldLayoutId id="2147483665" r:id="rId11"/>
    <p:sldLayoutId id="2147483667" r:id="rId12"/>
    <p:sldLayoutId id="2147483652" r:id="rId13"/>
    <p:sldLayoutId id="2147483653" r:id="rId14"/>
    <p:sldLayoutId id="2147483654" r:id="rId15"/>
  </p:sldLayoutIdLst>
  <p:hf hdr="0" ftr="0" dt="0"/>
  <p:txStyles>
    <p:titleStyle>
      <a:lvl1pPr algn="l" defTabSz="914400" rtl="0" eaLnBrk="1" latinLnBrk="0" hangingPunct="1">
        <a:spcBef>
          <a:spcPct val="0"/>
        </a:spcBef>
        <a:buNone/>
        <a:defRPr sz="2800" b="0" kern="1200">
          <a:solidFill>
            <a:srgbClr val="A31034"/>
          </a:solidFill>
          <a:latin typeface="+mj-lt"/>
          <a:ea typeface="+mj-ea"/>
          <a:cs typeface="+mj-cs"/>
        </a:defRPr>
      </a:lvl1pPr>
    </p:titleStyle>
    <p:bodyStyle>
      <a:lvl1pPr marL="0" indent="0" algn="l" defTabSz="914400" rtl="0" eaLnBrk="1" latinLnBrk="0" hangingPunct="1">
        <a:lnSpc>
          <a:spcPts val="2600"/>
        </a:lnSpc>
        <a:spcBef>
          <a:spcPts val="400"/>
        </a:spcBef>
        <a:spcAft>
          <a:spcPts val="400"/>
        </a:spcAft>
        <a:buFont typeface="Arial" pitchFamily="34" charset="0"/>
        <a:buNone/>
        <a:defRPr sz="2000" kern="1200">
          <a:solidFill>
            <a:srgbClr val="8996A5"/>
          </a:solidFill>
          <a:latin typeface="+mj-lt"/>
          <a:ea typeface="+mn-ea"/>
          <a:cs typeface="+mn-cs"/>
        </a:defRPr>
      </a:lvl1pPr>
      <a:lvl2pPr marL="173038" indent="-173038" algn="l" defTabSz="914400" rtl="0" eaLnBrk="1" latinLnBrk="0" hangingPunct="1">
        <a:lnSpc>
          <a:spcPts val="2600"/>
        </a:lnSpc>
        <a:spcBef>
          <a:spcPts val="400"/>
        </a:spcBef>
        <a:spcAft>
          <a:spcPts val="400"/>
        </a:spcAft>
        <a:buFont typeface="Arial" pitchFamily="34" charset="0"/>
        <a:buChar char="•"/>
        <a:defRPr sz="1800" kern="1200">
          <a:solidFill>
            <a:srgbClr val="000000"/>
          </a:solidFill>
          <a:latin typeface="+mj-lt"/>
          <a:ea typeface="+mn-ea"/>
          <a:cs typeface="+mn-cs"/>
        </a:defRPr>
      </a:lvl2pPr>
      <a:lvl3pPr marL="622300" indent="-166688" algn="l" defTabSz="914400" rtl="0" eaLnBrk="1" latinLnBrk="0" hangingPunct="1">
        <a:lnSpc>
          <a:spcPts val="2600"/>
        </a:lnSpc>
        <a:spcBef>
          <a:spcPts val="400"/>
        </a:spcBef>
        <a:spcAft>
          <a:spcPts val="400"/>
        </a:spcAft>
        <a:buFont typeface="Arial" pitchFamily="34" charset="0"/>
        <a:buChar char="•"/>
        <a:defRPr sz="1600" kern="1200">
          <a:solidFill>
            <a:srgbClr val="000000"/>
          </a:solidFill>
          <a:latin typeface="+mj-lt"/>
          <a:ea typeface="+mn-ea"/>
          <a:cs typeface="+mn-cs"/>
        </a:defRPr>
      </a:lvl3pPr>
      <a:lvl4pPr marL="1087438" indent="-174625" algn="l" defTabSz="914400" rtl="0" eaLnBrk="1" latinLnBrk="0" hangingPunct="1">
        <a:lnSpc>
          <a:spcPts val="2600"/>
        </a:lnSpc>
        <a:spcBef>
          <a:spcPts val="400"/>
        </a:spcBef>
        <a:spcAft>
          <a:spcPts val="400"/>
        </a:spcAft>
        <a:buFont typeface="Arial" pitchFamily="34" charset="0"/>
        <a:buChar char="•"/>
        <a:defRPr sz="1400" kern="1200">
          <a:solidFill>
            <a:srgbClr val="000000"/>
          </a:solidFill>
          <a:latin typeface="+mj-lt"/>
          <a:ea typeface="+mn-ea"/>
          <a:cs typeface="+mn-cs"/>
        </a:defRPr>
      </a:lvl4pPr>
      <a:lvl5pPr marL="1536700" indent="-166688" algn="l" defTabSz="914400" rtl="0" eaLnBrk="1" latinLnBrk="0" hangingPunct="1">
        <a:lnSpc>
          <a:spcPts val="2600"/>
        </a:lnSpc>
        <a:spcBef>
          <a:spcPts val="400"/>
        </a:spcBef>
        <a:spcAft>
          <a:spcPts val="400"/>
        </a:spcAft>
        <a:buFont typeface="Arial" pitchFamily="34" charset="0"/>
        <a:buChar char="•"/>
        <a:defRPr sz="1200" kern="1200">
          <a:solidFill>
            <a:srgbClr val="000000"/>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pon.harvard.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2749" y="250523"/>
            <a:ext cx="7838501" cy="790575"/>
          </a:xfrm>
        </p:spPr>
        <p:txBody>
          <a:bodyPr/>
          <a:lstStyle/>
          <a:p>
            <a:r>
              <a:rPr lang="en-US" dirty="0"/>
              <a:t>Case Study: LVMH-Tiffany</a:t>
            </a:r>
          </a:p>
        </p:txBody>
      </p:sp>
      <p:sp>
        <p:nvSpPr>
          <p:cNvPr id="5" name="Subtitle 2"/>
          <p:cNvSpPr>
            <a:spLocks noGrp="1"/>
          </p:cNvSpPr>
          <p:nvPr>
            <p:ph type="subTitle" idx="1"/>
          </p:nvPr>
        </p:nvSpPr>
        <p:spPr>
          <a:xfrm>
            <a:off x="652749" y="1153643"/>
            <a:ext cx="7081758" cy="685799"/>
          </a:xfrm>
        </p:spPr>
        <p:txBody>
          <a:bodyPr/>
          <a:lstStyle/>
          <a:p>
            <a:pPr>
              <a:lnSpc>
                <a:spcPct val="100000"/>
              </a:lnSpc>
            </a:pPr>
            <a:r>
              <a:rPr lang="en-US" dirty="0"/>
              <a:t>With Professor Julian Zlatev (HBS) and Raseem Farook (HBS ’21)</a:t>
            </a:r>
          </a:p>
          <a:p>
            <a:pPr>
              <a:lnSpc>
                <a:spcPct val="100000"/>
              </a:lnSpc>
            </a:pPr>
            <a:endParaRPr lang="en-US" dirty="0"/>
          </a:p>
          <a:p>
            <a:pPr>
              <a:lnSpc>
                <a:spcPct val="100000"/>
              </a:lnSpc>
            </a:pPr>
            <a:r>
              <a:rPr lang="en-US" dirty="0"/>
              <a:t>Also drawing from: Guhan Subramanian &amp; Caley Petrucci (HLS ’20), Deals in the Time of Pandemic, </a:t>
            </a:r>
            <a:r>
              <a:rPr lang="en-US" i="1" dirty="0"/>
              <a:t>Columbia Law Review </a:t>
            </a:r>
            <a:r>
              <a:rPr lang="en-US" dirty="0"/>
              <a:t>(forthcoming June 2021) </a:t>
            </a:r>
          </a:p>
          <a:p>
            <a:pPr>
              <a:lnSpc>
                <a:spcPct val="100000"/>
              </a:lnSpc>
            </a:pPr>
            <a:endParaRPr lang="en-US" dirty="0"/>
          </a:p>
          <a:p>
            <a:pPr>
              <a:lnSpc>
                <a:spcPct val="100000"/>
              </a:lnSpc>
            </a:pPr>
            <a:r>
              <a:rPr lang="en-US" dirty="0"/>
              <a:t>Guhan Subramanian (JD/MBA ’98), Joseph </a:t>
            </a:r>
            <a:r>
              <a:rPr lang="en-US" dirty="0" err="1"/>
              <a:t>Flom</a:t>
            </a:r>
            <a:r>
              <a:rPr lang="en-US" dirty="0"/>
              <a:t> Professor of Law &amp; Business, Harvard Law School Douglas Weaver Professor of Business Law, Harvard Business School</a:t>
            </a:r>
            <a:br>
              <a:rPr lang="en-US" dirty="0"/>
            </a:br>
            <a:r>
              <a:rPr lang="en-US" dirty="0"/>
              <a:t>Faculty Chair, Harvard Law School Program on Negotiation (</a:t>
            </a:r>
            <a:r>
              <a:rPr lang="en-US" dirty="0">
                <a:hlinkClick r:id="rId2"/>
              </a:rPr>
              <a:t>www.pon.harvard.edu</a:t>
            </a:r>
            <a:r>
              <a:rPr lang="en-US" dirty="0"/>
              <a:t>)</a:t>
            </a:r>
          </a:p>
          <a:p>
            <a:pPr>
              <a:lnSpc>
                <a:spcPct val="100000"/>
              </a:lnSpc>
            </a:pPr>
            <a:endParaRPr lang="en-US" dirty="0"/>
          </a:p>
          <a:p>
            <a:pPr>
              <a:lnSpc>
                <a:spcPct val="100000"/>
              </a:lnSpc>
            </a:pPr>
            <a:endParaRPr lang="en-US" dirty="0"/>
          </a:p>
        </p:txBody>
      </p:sp>
    </p:spTree>
    <p:extLst>
      <p:ext uri="{BB962C8B-B14F-4D97-AF65-F5344CB8AC3E}">
        <p14:creationId xmlns:p14="http://schemas.microsoft.com/office/powerpoint/2010/main" val="225514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ChangeArrowheads="1"/>
          </p:cNvSpPr>
          <p:nvPr/>
        </p:nvSpPr>
        <p:spPr bwMode="auto">
          <a:xfrm>
            <a:off x="3715679" y="1425214"/>
            <a:ext cx="4114800" cy="838200"/>
          </a:xfrm>
          <a:prstGeom prst="homePlate">
            <a:avLst>
              <a:gd name="adj" fmla="val 29136"/>
            </a:avLst>
          </a:prstGeom>
          <a:solidFill>
            <a:srgbClr val="FFC000"/>
          </a:solidFill>
          <a:ln w="28575">
            <a:solidFill>
              <a:schemeClr val="tx1"/>
            </a:solidFill>
            <a:miter lim="800000"/>
            <a:headEnd/>
            <a:tailEnd/>
          </a:ln>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eaLnBrk="1" hangingPunct="1">
              <a:spcBef>
                <a:spcPct val="0"/>
              </a:spcBef>
              <a:buFontTx/>
              <a:buNone/>
            </a:pPr>
            <a:endParaRPr lang="en-US" altLang="en-US" sz="2800">
              <a:solidFill>
                <a:schemeClr val="tx2"/>
              </a:solidFill>
              <a:latin typeface="Arial" panose="020B0604020202020204" pitchFamily="34" charset="0"/>
            </a:endParaRPr>
          </a:p>
        </p:txBody>
      </p:sp>
      <p:sp>
        <p:nvSpPr>
          <p:cNvPr id="6" name="AutoShape 3"/>
          <p:cNvSpPr>
            <a:spLocks noChangeArrowheads="1"/>
          </p:cNvSpPr>
          <p:nvPr/>
        </p:nvSpPr>
        <p:spPr bwMode="auto">
          <a:xfrm>
            <a:off x="2572679" y="1425214"/>
            <a:ext cx="1993900" cy="838200"/>
          </a:xfrm>
          <a:prstGeom prst="homePlate">
            <a:avLst>
              <a:gd name="adj" fmla="val 31486"/>
            </a:avLst>
          </a:prstGeom>
          <a:solidFill>
            <a:srgbClr val="FFC000"/>
          </a:solidFill>
          <a:ln w="28575">
            <a:solidFill>
              <a:schemeClr val="tx1"/>
            </a:solidFill>
            <a:miter lim="800000"/>
            <a:headEnd/>
            <a:tailEnd/>
          </a:ln>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eaLnBrk="1" hangingPunct="1">
              <a:spcBef>
                <a:spcPct val="0"/>
              </a:spcBef>
              <a:buFontTx/>
              <a:buNone/>
            </a:pPr>
            <a:endParaRPr lang="en-US" altLang="en-US" sz="2800">
              <a:solidFill>
                <a:schemeClr val="tx2"/>
              </a:solidFill>
              <a:latin typeface="Arial" panose="020B0604020202020204" pitchFamily="34" charset="0"/>
            </a:endParaRPr>
          </a:p>
        </p:txBody>
      </p:sp>
      <p:sp>
        <p:nvSpPr>
          <p:cNvPr id="7" name="AutoShape 4"/>
          <p:cNvSpPr>
            <a:spLocks noChangeArrowheads="1"/>
          </p:cNvSpPr>
          <p:nvPr/>
        </p:nvSpPr>
        <p:spPr bwMode="auto">
          <a:xfrm>
            <a:off x="1226479" y="1425214"/>
            <a:ext cx="1524000" cy="838200"/>
          </a:xfrm>
          <a:prstGeom prst="homePlate">
            <a:avLst>
              <a:gd name="adj" fmla="val 22096"/>
            </a:avLst>
          </a:prstGeom>
          <a:solidFill>
            <a:srgbClr val="FFC000"/>
          </a:solidFill>
          <a:ln w="28575">
            <a:solidFill>
              <a:schemeClr val="tx1"/>
            </a:solidFill>
            <a:miter lim="800000"/>
            <a:headEnd/>
            <a:tailEnd/>
          </a:ln>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eaLnBrk="1" hangingPunct="1">
              <a:spcBef>
                <a:spcPct val="0"/>
              </a:spcBef>
              <a:buFontTx/>
              <a:buNone/>
            </a:pPr>
            <a:endParaRPr lang="en-US" altLang="en-US" sz="2800">
              <a:solidFill>
                <a:schemeClr val="tx2"/>
              </a:solidFill>
              <a:latin typeface="Arial" panose="020B0604020202020204" pitchFamily="34" charset="0"/>
            </a:endParaRPr>
          </a:p>
        </p:txBody>
      </p:sp>
      <p:sp>
        <p:nvSpPr>
          <p:cNvPr id="8" name="Rectangle 7"/>
          <p:cNvSpPr>
            <a:spLocks noChangeArrowheads="1"/>
          </p:cNvSpPr>
          <p:nvPr/>
        </p:nvSpPr>
        <p:spPr bwMode="auto">
          <a:xfrm>
            <a:off x="2813979" y="1641114"/>
            <a:ext cx="1651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spcBef>
                <a:spcPct val="0"/>
              </a:spcBef>
              <a:buFontTx/>
              <a:buNone/>
            </a:pPr>
            <a:r>
              <a:rPr lang="en-US" altLang="en-US" sz="2000" b="1">
                <a:solidFill>
                  <a:schemeClr val="tx2"/>
                </a:solidFill>
                <a:latin typeface="Arial" panose="020B0604020202020204" pitchFamily="34" charset="0"/>
              </a:rPr>
              <a:t>Negotiation</a:t>
            </a:r>
          </a:p>
        </p:txBody>
      </p:sp>
      <p:sp>
        <p:nvSpPr>
          <p:cNvPr id="9" name="Line 8"/>
          <p:cNvSpPr>
            <a:spLocks noChangeShapeType="1"/>
          </p:cNvSpPr>
          <p:nvPr/>
        </p:nvSpPr>
        <p:spPr bwMode="auto">
          <a:xfrm>
            <a:off x="4315754" y="2352314"/>
            <a:ext cx="0" cy="73660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endParaRPr lang="en-US">
              <a:solidFill>
                <a:schemeClr val="tx2"/>
              </a:solidFill>
            </a:endParaRPr>
          </a:p>
        </p:txBody>
      </p:sp>
      <p:sp>
        <p:nvSpPr>
          <p:cNvPr id="10" name="Rectangle 9"/>
          <p:cNvSpPr>
            <a:spLocks noChangeArrowheads="1"/>
          </p:cNvSpPr>
          <p:nvPr/>
        </p:nvSpPr>
        <p:spPr bwMode="auto">
          <a:xfrm>
            <a:off x="3610904" y="3101614"/>
            <a:ext cx="14128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lgn="ctr">
              <a:spcBef>
                <a:spcPct val="0"/>
              </a:spcBef>
              <a:buFontTx/>
              <a:buNone/>
            </a:pPr>
            <a:r>
              <a:rPr lang="en-US" altLang="en-US" sz="1600">
                <a:solidFill>
                  <a:schemeClr val="tx2"/>
                </a:solidFill>
                <a:latin typeface="Arial" panose="020B0604020202020204" pitchFamily="34" charset="0"/>
              </a:rPr>
              <a:t>Sign</a:t>
            </a:r>
          </a:p>
          <a:p>
            <a:pPr algn="ctr">
              <a:spcBef>
                <a:spcPct val="0"/>
              </a:spcBef>
              <a:buFontTx/>
              <a:buNone/>
            </a:pPr>
            <a:r>
              <a:rPr lang="en-US" altLang="en-US" sz="1600">
                <a:solidFill>
                  <a:schemeClr val="tx2"/>
                </a:solidFill>
                <a:latin typeface="Arial" panose="020B0604020202020204" pitchFamily="34" charset="0"/>
              </a:rPr>
              <a:t>and announce</a:t>
            </a:r>
          </a:p>
        </p:txBody>
      </p:sp>
      <p:sp>
        <p:nvSpPr>
          <p:cNvPr id="11" name="Rectangle 10"/>
          <p:cNvSpPr>
            <a:spLocks noChangeArrowheads="1"/>
          </p:cNvSpPr>
          <p:nvPr/>
        </p:nvSpPr>
        <p:spPr bwMode="auto">
          <a:xfrm>
            <a:off x="3868079" y="1653814"/>
            <a:ext cx="39179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lgn="ctr">
              <a:spcBef>
                <a:spcPct val="0"/>
              </a:spcBef>
              <a:buFontTx/>
              <a:buNone/>
            </a:pPr>
            <a:r>
              <a:rPr lang="en-US" altLang="en-US" sz="2000" b="1">
                <a:solidFill>
                  <a:schemeClr val="tx2"/>
                </a:solidFill>
                <a:latin typeface="Arial" panose="020B0604020202020204" pitchFamily="34" charset="0"/>
              </a:rPr>
              <a:t>Processing</a:t>
            </a:r>
          </a:p>
        </p:txBody>
      </p:sp>
      <p:sp>
        <p:nvSpPr>
          <p:cNvPr id="12" name="Line 11"/>
          <p:cNvSpPr>
            <a:spLocks noChangeShapeType="1"/>
          </p:cNvSpPr>
          <p:nvPr/>
        </p:nvSpPr>
        <p:spPr bwMode="auto">
          <a:xfrm>
            <a:off x="7728879" y="2365014"/>
            <a:ext cx="0" cy="73660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endParaRPr lang="en-US">
              <a:solidFill>
                <a:schemeClr val="tx2"/>
              </a:solidFill>
            </a:endParaRPr>
          </a:p>
        </p:txBody>
      </p:sp>
      <p:sp>
        <p:nvSpPr>
          <p:cNvPr id="13" name="Rectangle 12"/>
          <p:cNvSpPr>
            <a:spLocks noChangeArrowheads="1"/>
          </p:cNvSpPr>
          <p:nvPr/>
        </p:nvSpPr>
        <p:spPr bwMode="auto">
          <a:xfrm>
            <a:off x="6992279" y="3149239"/>
            <a:ext cx="14605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lgn="ctr">
              <a:spcBef>
                <a:spcPct val="0"/>
              </a:spcBef>
              <a:buFontTx/>
              <a:buNone/>
            </a:pPr>
            <a:r>
              <a:rPr lang="en-US" altLang="en-US" sz="1600">
                <a:solidFill>
                  <a:schemeClr val="tx2"/>
                </a:solidFill>
                <a:latin typeface="Arial" panose="020B0604020202020204" pitchFamily="34" charset="0"/>
              </a:rPr>
              <a:t>Close;</a:t>
            </a:r>
          </a:p>
          <a:p>
            <a:pPr algn="ctr">
              <a:spcBef>
                <a:spcPct val="0"/>
              </a:spcBef>
              <a:buFontTx/>
              <a:buNone/>
            </a:pPr>
            <a:r>
              <a:rPr lang="en-US" altLang="en-US" sz="1600">
                <a:solidFill>
                  <a:schemeClr val="tx2"/>
                </a:solidFill>
                <a:latin typeface="Arial" panose="020B0604020202020204" pitchFamily="34" charset="0"/>
              </a:rPr>
              <a:t>Transfer title</a:t>
            </a:r>
          </a:p>
        </p:txBody>
      </p:sp>
      <p:sp>
        <p:nvSpPr>
          <p:cNvPr id="14" name="Rectangle 13"/>
          <p:cNvSpPr>
            <a:spLocks noChangeArrowheads="1"/>
          </p:cNvSpPr>
          <p:nvPr/>
        </p:nvSpPr>
        <p:spPr bwMode="auto">
          <a:xfrm>
            <a:off x="5449229" y="3149239"/>
            <a:ext cx="178435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lgn="ctr">
              <a:spcBef>
                <a:spcPct val="0"/>
              </a:spcBef>
              <a:buFontTx/>
              <a:buNone/>
            </a:pPr>
            <a:r>
              <a:rPr lang="en-US" altLang="en-US" sz="1600">
                <a:solidFill>
                  <a:schemeClr val="tx2"/>
                </a:solidFill>
                <a:latin typeface="Arial" panose="020B0604020202020204" pitchFamily="34" charset="0"/>
              </a:rPr>
              <a:t>Shareholder meeting(s)</a:t>
            </a:r>
          </a:p>
        </p:txBody>
      </p:sp>
      <p:sp>
        <p:nvSpPr>
          <p:cNvPr id="15" name="Line 14"/>
          <p:cNvSpPr>
            <a:spLocks noChangeShapeType="1"/>
          </p:cNvSpPr>
          <p:nvPr/>
        </p:nvSpPr>
        <p:spPr bwMode="auto">
          <a:xfrm>
            <a:off x="6277904" y="2399939"/>
            <a:ext cx="0" cy="73660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endParaRPr lang="en-US">
              <a:solidFill>
                <a:schemeClr val="tx2"/>
              </a:solidFill>
            </a:endParaRPr>
          </a:p>
        </p:txBody>
      </p:sp>
      <p:sp>
        <p:nvSpPr>
          <p:cNvPr id="16" name="Rectangle 15"/>
          <p:cNvSpPr>
            <a:spLocks noChangeArrowheads="1"/>
          </p:cNvSpPr>
          <p:nvPr/>
        </p:nvSpPr>
        <p:spPr bwMode="auto">
          <a:xfrm>
            <a:off x="1899579" y="4211277"/>
            <a:ext cx="184467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lgn="ctr">
              <a:spcBef>
                <a:spcPct val="0"/>
              </a:spcBef>
              <a:buFontTx/>
              <a:buNone/>
            </a:pPr>
            <a:r>
              <a:rPr lang="en-US" altLang="en-US" sz="1600" b="1" dirty="0">
                <a:solidFill>
                  <a:schemeClr val="tx2"/>
                </a:solidFill>
                <a:latin typeface="Arial" panose="020B0604020202020204" pitchFamily="34" charset="0"/>
              </a:rPr>
              <a:t>Pre-Signing Phase</a:t>
            </a:r>
          </a:p>
        </p:txBody>
      </p:sp>
      <p:sp>
        <p:nvSpPr>
          <p:cNvPr id="17" name="Rectangle 16"/>
          <p:cNvSpPr>
            <a:spLocks noChangeArrowheads="1"/>
          </p:cNvSpPr>
          <p:nvPr/>
        </p:nvSpPr>
        <p:spPr bwMode="auto">
          <a:xfrm>
            <a:off x="1324904" y="1628414"/>
            <a:ext cx="1254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spcBef>
                <a:spcPct val="0"/>
              </a:spcBef>
              <a:buFontTx/>
              <a:buNone/>
            </a:pPr>
            <a:r>
              <a:rPr lang="en-US" altLang="en-US" sz="2000" b="1">
                <a:solidFill>
                  <a:schemeClr val="tx2"/>
                </a:solidFill>
                <a:latin typeface="Arial" panose="020B0604020202020204" pitchFamily="34" charset="0"/>
              </a:rPr>
              <a:t>Planning</a:t>
            </a:r>
          </a:p>
        </p:txBody>
      </p:sp>
      <p:sp>
        <p:nvSpPr>
          <p:cNvPr id="18" name="AutoShape 18"/>
          <p:cNvSpPr>
            <a:spLocks/>
          </p:cNvSpPr>
          <p:nvPr/>
        </p:nvSpPr>
        <p:spPr bwMode="auto">
          <a:xfrm rot="5400000">
            <a:off x="2679041" y="2550752"/>
            <a:ext cx="244475" cy="3022600"/>
          </a:xfrm>
          <a:prstGeom prst="rightBrace">
            <a:avLst>
              <a:gd name="adj1" fmla="val 7292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eaLnBrk="1" hangingPunct="1">
              <a:spcBef>
                <a:spcPct val="0"/>
              </a:spcBef>
              <a:buFontTx/>
              <a:buNone/>
            </a:pPr>
            <a:endParaRPr lang="en-US" altLang="en-US" sz="2800">
              <a:solidFill>
                <a:schemeClr val="tx2"/>
              </a:solidFill>
              <a:latin typeface="Arial" panose="020B0604020202020204" pitchFamily="34" charset="0"/>
            </a:endParaRPr>
          </a:p>
        </p:txBody>
      </p:sp>
      <p:sp>
        <p:nvSpPr>
          <p:cNvPr id="19" name="AutoShape 19"/>
          <p:cNvSpPr>
            <a:spLocks/>
          </p:cNvSpPr>
          <p:nvPr/>
        </p:nvSpPr>
        <p:spPr bwMode="auto">
          <a:xfrm rot="5400000">
            <a:off x="5977866" y="2317390"/>
            <a:ext cx="269875" cy="3517900"/>
          </a:xfrm>
          <a:prstGeom prst="rightBrace">
            <a:avLst>
              <a:gd name="adj1" fmla="val 8358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eaLnBrk="1" hangingPunct="1">
              <a:spcBef>
                <a:spcPct val="0"/>
              </a:spcBef>
              <a:buFontTx/>
              <a:buNone/>
            </a:pPr>
            <a:endParaRPr lang="en-US" altLang="en-US" sz="2800">
              <a:solidFill>
                <a:schemeClr val="tx2"/>
              </a:solidFill>
              <a:latin typeface="Arial" panose="020B0604020202020204" pitchFamily="34" charset="0"/>
            </a:endParaRPr>
          </a:p>
        </p:txBody>
      </p:sp>
      <p:sp>
        <p:nvSpPr>
          <p:cNvPr id="20" name="Rectangle 19"/>
          <p:cNvSpPr>
            <a:spLocks noChangeArrowheads="1"/>
          </p:cNvSpPr>
          <p:nvPr/>
        </p:nvSpPr>
        <p:spPr bwMode="auto">
          <a:xfrm>
            <a:off x="5176179" y="4211277"/>
            <a:ext cx="184467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mn-ea"/>
                <a:cs typeface="+mn-cs"/>
              </a:defRPr>
            </a:lvl5pPr>
            <a:lvl6pPr marL="2286000" algn="l" defTabSz="914400" rtl="0" eaLnBrk="1" latinLnBrk="0" hangingPunct="1">
              <a:defRPr sz="2800" kern="1200">
                <a:solidFill>
                  <a:schemeClr val="tx1"/>
                </a:solidFill>
                <a:latin typeface="Arial" panose="020B0604020202020204" pitchFamily="34" charset="0"/>
                <a:ea typeface="+mn-ea"/>
                <a:cs typeface="+mn-cs"/>
              </a:defRPr>
            </a:lvl6pPr>
            <a:lvl7pPr marL="2743200" algn="l" defTabSz="914400" rtl="0" eaLnBrk="1" latinLnBrk="0" hangingPunct="1">
              <a:defRPr sz="2800" kern="1200">
                <a:solidFill>
                  <a:schemeClr val="tx1"/>
                </a:solidFill>
                <a:latin typeface="Arial" panose="020B0604020202020204" pitchFamily="34" charset="0"/>
                <a:ea typeface="+mn-ea"/>
                <a:cs typeface="+mn-cs"/>
              </a:defRPr>
            </a:lvl7pPr>
            <a:lvl8pPr marL="3200400" algn="l" defTabSz="914400" rtl="0" eaLnBrk="1" latinLnBrk="0" hangingPunct="1">
              <a:defRPr sz="2800" kern="1200">
                <a:solidFill>
                  <a:schemeClr val="tx1"/>
                </a:solidFill>
                <a:latin typeface="Arial" panose="020B0604020202020204" pitchFamily="34" charset="0"/>
                <a:ea typeface="+mn-ea"/>
                <a:cs typeface="+mn-cs"/>
              </a:defRPr>
            </a:lvl8pPr>
            <a:lvl9pPr marL="3657600" algn="l" defTabSz="914400" rtl="0" eaLnBrk="1" latinLnBrk="0" hangingPunct="1">
              <a:defRPr sz="2800" kern="1200">
                <a:solidFill>
                  <a:schemeClr val="tx1"/>
                </a:solidFill>
                <a:latin typeface="Arial" panose="020B0604020202020204" pitchFamily="34" charset="0"/>
                <a:ea typeface="+mn-ea"/>
                <a:cs typeface="+mn-cs"/>
              </a:defRPr>
            </a:lvl9pPr>
          </a:lstStyle>
          <a:p>
            <a:pPr algn="ctr">
              <a:spcBef>
                <a:spcPct val="0"/>
              </a:spcBef>
              <a:buFontTx/>
              <a:buNone/>
            </a:pPr>
            <a:r>
              <a:rPr lang="en-US" altLang="en-US" sz="1600" b="1" dirty="0">
                <a:solidFill>
                  <a:schemeClr val="tx2"/>
                </a:solidFill>
                <a:latin typeface="Arial" panose="020B0604020202020204" pitchFamily="34" charset="0"/>
              </a:rPr>
              <a:t>Post-Signing Phase</a:t>
            </a:r>
          </a:p>
        </p:txBody>
      </p:sp>
      <p:sp>
        <p:nvSpPr>
          <p:cNvPr id="21" name="Text Box 3"/>
          <p:cNvSpPr txBox="1">
            <a:spLocks noChangeArrowheads="1"/>
          </p:cNvSpPr>
          <p:nvPr/>
        </p:nvSpPr>
        <p:spPr bwMode="auto">
          <a:xfrm>
            <a:off x="874656" y="63794"/>
            <a:ext cx="31272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M&amp;A Sequencing</a:t>
            </a:r>
          </a:p>
        </p:txBody>
      </p:sp>
      <p:pic>
        <p:nvPicPr>
          <p:cNvPr id="2052" name="Picture 4" descr="COVID-19 Updates &amp; Resour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979" y="1134701"/>
            <a:ext cx="3295650" cy="138112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534829" y="580993"/>
            <a:ext cx="3486150" cy="523220"/>
          </a:xfrm>
          <a:prstGeom prst="rect">
            <a:avLst/>
          </a:prstGeom>
          <a:noFill/>
        </p:spPr>
        <p:txBody>
          <a:bodyPr wrap="square" rtlCol="0">
            <a:spAutoFit/>
          </a:bodyPr>
          <a:lstStyle/>
          <a:p>
            <a:pPr algn="ctr"/>
            <a:r>
              <a:rPr lang="en-US" sz="1400" i="1" dirty="0">
                <a:solidFill>
                  <a:schemeClr val="tx2"/>
                </a:solidFill>
              </a:rPr>
              <a:t>Q: Is COVID-19 a Material Adverse Effect that allows the buyer to walk away?</a:t>
            </a:r>
          </a:p>
        </p:txBody>
      </p:sp>
    </p:spTree>
    <p:extLst>
      <p:ext uri="{BB962C8B-B14F-4D97-AF65-F5344CB8AC3E}">
        <p14:creationId xmlns:p14="http://schemas.microsoft.com/office/powerpoint/2010/main" val="35690131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animBg="1"/>
      <p:bldP spid="13" grpId="0"/>
      <p:bldP spid="14" grpId="0"/>
      <p:bldP spid="15" grpId="0" animBg="1"/>
      <p:bldP spid="16" grpId="0"/>
      <p:bldP spid="18" grpId="0" animBg="1"/>
      <p:bldP spid="19" grpId="0" animBg="1"/>
      <p:bldP spid="20"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835874" y="77992"/>
            <a:ext cx="55830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General Structure of MAE’s</a:t>
            </a:r>
          </a:p>
        </p:txBody>
      </p:sp>
      <p:sp>
        <p:nvSpPr>
          <p:cNvPr id="3" name="TextBox 2"/>
          <p:cNvSpPr txBox="1"/>
          <p:nvPr/>
        </p:nvSpPr>
        <p:spPr>
          <a:xfrm>
            <a:off x="1359238" y="1773042"/>
            <a:ext cx="5331494" cy="2846933"/>
          </a:xfrm>
          <a:prstGeom prst="rect">
            <a:avLst/>
          </a:prstGeom>
          <a:noFill/>
        </p:spPr>
        <p:txBody>
          <a:bodyPr wrap="square" rtlCol="0">
            <a:spAutoFit/>
          </a:bodyPr>
          <a:lstStyle/>
          <a:p>
            <a:pPr>
              <a:spcAft>
                <a:spcPts val="1500"/>
              </a:spcAft>
            </a:pPr>
            <a:r>
              <a:rPr lang="en-US" sz="1400" dirty="0">
                <a:solidFill>
                  <a:schemeClr val="tx2"/>
                </a:solidFill>
              </a:rPr>
              <a:t>“Material Adverse Effect” means any state of facts, circumstance, condition, event, change, development, occurrence, result or effect . . . that has a material adverse effect on the financial condition, business, assets, or results of operations of the Business, </a:t>
            </a:r>
          </a:p>
          <a:p>
            <a:pPr>
              <a:spcAft>
                <a:spcPts val="1500"/>
              </a:spcAft>
            </a:pPr>
            <a:r>
              <a:rPr lang="en-US" sz="1400" u="sng" dirty="0">
                <a:solidFill>
                  <a:schemeClr val="tx2"/>
                </a:solidFill>
              </a:rPr>
              <a:t>Except that</a:t>
            </a:r>
            <a:r>
              <a:rPr lang="en-US" sz="1400" dirty="0">
                <a:solidFill>
                  <a:schemeClr val="tx2"/>
                </a:solidFill>
              </a:rPr>
              <a:t> the following things shall not be MAEs: [long list of “</a:t>
            </a:r>
            <a:r>
              <a:rPr lang="en-US" sz="1400" dirty="0" err="1">
                <a:solidFill>
                  <a:schemeClr val="tx2"/>
                </a:solidFill>
              </a:rPr>
              <a:t>carveouts</a:t>
            </a:r>
            <a:r>
              <a:rPr lang="en-US" sz="1400" dirty="0">
                <a:solidFill>
                  <a:schemeClr val="tx2"/>
                </a:solidFill>
              </a:rPr>
              <a:t>”]</a:t>
            </a:r>
          </a:p>
          <a:p>
            <a:pPr>
              <a:spcAft>
                <a:spcPts val="1500"/>
              </a:spcAft>
            </a:pPr>
            <a:r>
              <a:rPr lang="en-US" sz="1400" u="sng" dirty="0">
                <a:solidFill>
                  <a:schemeClr val="tx2"/>
                </a:solidFill>
              </a:rPr>
              <a:t>Except that</a:t>
            </a:r>
            <a:r>
              <a:rPr lang="en-US" sz="1400" dirty="0">
                <a:solidFill>
                  <a:schemeClr val="tx2"/>
                </a:solidFill>
              </a:rPr>
              <a:t> in the case of [certain </a:t>
            </a:r>
            <a:r>
              <a:rPr lang="en-US" sz="1400" dirty="0" err="1">
                <a:solidFill>
                  <a:schemeClr val="tx2"/>
                </a:solidFill>
              </a:rPr>
              <a:t>carveouts</a:t>
            </a:r>
            <a:r>
              <a:rPr lang="en-US" sz="1400" dirty="0">
                <a:solidFill>
                  <a:schemeClr val="tx2"/>
                </a:solidFill>
              </a:rPr>
              <a:t>], they become MAEs again if “the Business is materially and disproportionately adversely affected thereby as compared to similarly situated businesses in the industry of the Business.”</a:t>
            </a:r>
          </a:p>
        </p:txBody>
      </p:sp>
      <p:sp>
        <p:nvSpPr>
          <p:cNvPr id="4" name="Right Brace 3"/>
          <p:cNvSpPr/>
          <p:nvPr/>
        </p:nvSpPr>
        <p:spPr>
          <a:xfrm>
            <a:off x="7040418" y="1874638"/>
            <a:ext cx="375143" cy="1047359"/>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7415561" y="2247239"/>
            <a:ext cx="1397854" cy="307777"/>
          </a:xfrm>
          <a:prstGeom prst="rect">
            <a:avLst/>
          </a:prstGeom>
          <a:noFill/>
        </p:spPr>
        <p:txBody>
          <a:bodyPr wrap="square" rtlCol="0">
            <a:spAutoFit/>
          </a:bodyPr>
          <a:lstStyle/>
          <a:p>
            <a:r>
              <a:rPr lang="en-US" sz="1400" dirty="0"/>
              <a:t>MAE Clause</a:t>
            </a:r>
          </a:p>
        </p:txBody>
      </p:sp>
      <p:sp>
        <p:nvSpPr>
          <p:cNvPr id="7" name="Right Brace 6"/>
          <p:cNvSpPr/>
          <p:nvPr/>
        </p:nvSpPr>
        <p:spPr>
          <a:xfrm>
            <a:off x="7040417" y="3061594"/>
            <a:ext cx="375143" cy="512830"/>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7415561" y="2971560"/>
            <a:ext cx="1397854" cy="738664"/>
          </a:xfrm>
          <a:prstGeom prst="rect">
            <a:avLst/>
          </a:prstGeom>
          <a:noFill/>
        </p:spPr>
        <p:txBody>
          <a:bodyPr wrap="square" rtlCol="0">
            <a:spAutoFit/>
          </a:bodyPr>
          <a:lstStyle/>
          <a:p>
            <a:r>
              <a:rPr lang="en-US" sz="1400" dirty="0"/>
              <a:t>MAE Exceptions (or Carveouts)</a:t>
            </a:r>
          </a:p>
        </p:txBody>
      </p:sp>
      <p:sp>
        <p:nvSpPr>
          <p:cNvPr id="13" name="Right Brace 12"/>
          <p:cNvSpPr/>
          <p:nvPr/>
        </p:nvSpPr>
        <p:spPr>
          <a:xfrm>
            <a:off x="7040416" y="3740685"/>
            <a:ext cx="375143" cy="745477"/>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415559" y="3841045"/>
            <a:ext cx="1594625" cy="523220"/>
          </a:xfrm>
          <a:prstGeom prst="rect">
            <a:avLst/>
          </a:prstGeom>
          <a:noFill/>
        </p:spPr>
        <p:txBody>
          <a:bodyPr wrap="square" rtlCol="0">
            <a:spAutoFit/>
          </a:bodyPr>
          <a:lstStyle/>
          <a:p>
            <a:r>
              <a:rPr lang="en-US" sz="1400" dirty="0"/>
              <a:t>Disproportionality </a:t>
            </a:r>
            <a:r>
              <a:rPr lang="en-US" sz="1400" dirty="0" err="1"/>
              <a:t>Carvebacks</a:t>
            </a:r>
            <a:endParaRPr lang="en-US" sz="1400" dirty="0"/>
          </a:p>
        </p:txBody>
      </p:sp>
      <p:sp>
        <p:nvSpPr>
          <p:cNvPr id="2" name="TextBox 1"/>
          <p:cNvSpPr txBox="1"/>
          <p:nvPr/>
        </p:nvSpPr>
        <p:spPr>
          <a:xfrm>
            <a:off x="957794" y="601212"/>
            <a:ext cx="7944829" cy="1069524"/>
          </a:xfrm>
          <a:prstGeom prst="rect">
            <a:avLst/>
          </a:prstGeom>
          <a:noFill/>
        </p:spPr>
        <p:txBody>
          <a:bodyPr wrap="square" rtlCol="0">
            <a:spAutoFit/>
          </a:bodyPr>
          <a:lstStyle/>
          <a:p>
            <a:pPr>
              <a:spcAft>
                <a:spcPts val="900"/>
              </a:spcAft>
            </a:pPr>
            <a:r>
              <a:rPr lang="en-US" sz="1400" b="1" dirty="0">
                <a:solidFill>
                  <a:schemeClr val="tx2"/>
                </a:solidFill>
              </a:rPr>
              <a:t>General Rule: </a:t>
            </a:r>
            <a:r>
              <a:rPr lang="en-US" sz="1400" dirty="0">
                <a:solidFill>
                  <a:schemeClr val="tx2"/>
                </a:solidFill>
              </a:rPr>
              <a:t>Buyer can generally walk if the target experiences a Material Adverse Effect between signing and closing.  </a:t>
            </a:r>
          </a:p>
          <a:p>
            <a:pPr>
              <a:spcAft>
                <a:spcPts val="900"/>
              </a:spcAft>
            </a:pPr>
            <a:r>
              <a:rPr lang="en-US" sz="1400" dirty="0" err="1">
                <a:solidFill>
                  <a:schemeClr val="tx2"/>
                </a:solidFill>
              </a:rPr>
              <a:t>Akorn</a:t>
            </a:r>
            <a:r>
              <a:rPr lang="en-US" sz="1400" dirty="0">
                <a:solidFill>
                  <a:schemeClr val="tx2"/>
                </a:solidFill>
              </a:rPr>
              <a:t> v. Fresenius (2018): “the occurrence of unknown events that </a:t>
            </a:r>
            <a:r>
              <a:rPr lang="en-US" sz="1400" u="sng" dirty="0">
                <a:solidFill>
                  <a:schemeClr val="tx2"/>
                </a:solidFill>
              </a:rPr>
              <a:t>substantially threaten the overall earnings potential of the target in a </a:t>
            </a:r>
            <a:r>
              <a:rPr lang="en-US" sz="1400" u="sng" dirty="0" err="1">
                <a:solidFill>
                  <a:schemeClr val="tx2"/>
                </a:solidFill>
              </a:rPr>
              <a:t>durationally</a:t>
            </a:r>
            <a:r>
              <a:rPr lang="en-US" sz="1400" u="sng" dirty="0">
                <a:solidFill>
                  <a:schemeClr val="tx2"/>
                </a:solidFill>
              </a:rPr>
              <a:t>-significant manner</a:t>
            </a:r>
            <a:r>
              <a:rPr lang="en-US" sz="1400" dirty="0">
                <a:solidFill>
                  <a:schemeClr val="tx2"/>
                </a:solidFill>
              </a:rPr>
              <a:t>.”</a:t>
            </a:r>
          </a:p>
        </p:txBody>
      </p:sp>
    </p:spTree>
    <p:extLst>
      <p:ext uri="{BB962C8B-B14F-4D97-AF65-F5344CB8AC3E}">
        <p14:creationId xmlns:p14="http://schemas.microsoft.com/office/powerpoint/2010/main" val="39574436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p:bldP spid="7" grpId="0" animBg="1"/>
      <p:bldP spid="8" grpId="0"/>
      <p:bldP spid="13" grpId="0" animBg="1"/>
      <p:bldP spid="14"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2762452806"/>
              </p:ext>
            </p:extLst>
          </p:nvPr>
        </p:nvGraphicFramePr>
        <p:xfrm>
          <a:off x="592284" y="838200"/>
          <a:ext cx="8072846" cy="360840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Box 3">
            <a:extLst>
              <a:ext uri="{FF2B5EF4-FFF2-40B4-BE49-F238E27FC236}">
                <a16:creationId xmlns:a16="http://schemas.microsoft.com/office/drawing/2014/main" id="{3F3C657D-923D-476F-A1BD-41F9EAE857C7}"/>
              </a:ext>
            </a:extLst>
          </p:cNvPr>
          <p:cNvSpPr txBox="1">
            <a:spLocks noChangeArrowheads="1"/>
          </p:cNvSpPr>
          <p:nvPr/>
        </p:nvSpPr>
        <p:spPr bwMode="auto">
          <a:xfrm>
            <a:off x="818103" y="143091"/>
            <a:ext cx="74991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Growth of the </a:t>
            </a:r>
            <a:r>
              <a:rPr lang="en-US" altLang="en-US" sz="2800">
                <a:cs typeface="Times New Roman" pitchFamily="18" charset="0"/>
              </a:rPr>
              <a:t>MAE Clause (2005-2020)</a:t>
            </a:r>
            <a:endParaRPr lang="en-US" altLang="en-US" sz="2800" dirty="0">
              <a:cs typeface="Times New Roman" pitchFamily="18" charset="0"/>
            </a:endParaRPr>
          </a:p>
        </p:txBody>
      </p:sp>
      <p:sp>
        <p:nvSpPr>
          <p:cNvPr id="5" name="TextBox 4">
            <a:extLst>
              <a:ext uri="{FF2B5EF4-FFF2-40B4-BE49-F238E27FC236}">
                <a16:creationId xmlns:a16="http://schemas.microsoft.com/office/drawing/2014/main" id="{71798D38-15D8-42E4-9185-654A1301A610}"/>
              </a:ext>
            </a:extLst>
          </p:cNvPr>
          <p:cNvSpPr txBox="1"/>
          <p:nvPr/>
        </p:nvSpPr>
        <p:spPr>
          <a:xfrm>
            <a:off x="950350" y="4568524"/>
            <a:ext cx="7234673" cy="246221"/>
          </a:xfrm>
          <a:prstGeom prst="rect">
            <a:avLst/>
          </a:prstGeom>
          <a:noFill/>
        </p:spPr>
        <p:txBody>
          <a:bodyPr wrap="none" rtlCol="0">
            <a:spAutoFit/>
          </a:bodyPr>
          <a:lstStyle/>
          <a:p>
            <a:r>
              <a:rPr lang="en-US" sz="1000" u="sng" dirty="0">
                <a:solidFill>
                  <a:schemeClr val="tx2"/>
                </a:solidFill>
              </a:rPr>
              <a:t>From</a:t>
            </a:r>
            <a:r>
              <a:rPr lang="en-US" sz="1000" dirty="0">
                <a:solidFill>
                  <a:schemeClr val="tx2"/>
                </a:solidFill>
              </a:rPr>
              <a:t>: Guhan Subramanian &amp; Caley Petrucci, Deals in the Time of Pandemic, </a:t>
            </a:r>
            <a:r>
              <a:rPr lang="en-US" sz="1000" i="1" dirty="0">
                <a:solidFill>
                  <a:schemeClr val="tx2"/>
                </a:solidFill>
              </a:rPr>
              <a:t>Columbia Law Review </a:t>
            </a:r>
            <a:r>
              <a:rPr lang="en-US" sz="1000" dirty="0">
                <a:solidFill>
                  <a:schemeClr val="tx2"/>
                </a:solidFill>
              </a:rPr>
              <a:t>(forthcoming June 2021)</a:t>
            </a:r>
          </a:p>
        </p:txBody>
      </p:sp>
    </p:spTree>
    <p:extLst>
      <p:ext uri="{BB962C8B-B14F-4D97-AF65-F5344CB8AC3E}">
        <p14:creationId xmlns:p14="http://schemas.microsoft.com/office/powerpoint/2010/main" val="37993806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2713" y="802893"/>
            <a:ext cx="6511521" cy="3762568"/>
          </a:xfrm>
          <a:prstGeom prst="rect">
            <a:avLst/>
          </a:prstGeom>
          <a:noFill/>
        </p:spPr>
        <p:txBody>
          <a:bodyPr wrap="square" rtlCol="0">
            <a:spAutoFit/>
          </a:bodyPr>
          <a:lstStyle/>
          <a:p>
            <a:pPr>
              <a:spcAft>
                <a:spcPts val="900"/>
              </a:spcAft>
            </a:pPr>
            <a:r>
              <a:rPr lang="en-US" dirty="0">
                <a:solidFill>
                  <a:schemeClr val="tx2"/>
                </a:solidFill>
              </a:rPr>
              <a:t>[T]he Company shall, and shall cause each of its Subsidiaries to, </a:t>
            </a:r>
          </a:p>
          <a:p>
            <a:pPr>
              <a:spcAft>
                <a:spcPts val="900"/>
              </a:spcAft>
            </a:pPr>
            <a:r>
              <a:rPr lang="en-US" dirty="0">
                <a:solidFill>
                  <a:schemeClr val="tx2"/>
                </a:solidFill>
              </a:rPr>
              <a:t>(A) conduct its business </a:t>
            </a:r>
            <a:r>
              <a:rPr lang="en-US" u="sng" dirty="0">
                <a:solidFill>
                  <a:schemeClr val="tx2"/>
                </a:solidFill>
              </a:rPr>
              <a:t>in all material respects</a:t>
            </a:r>
            <a:r>
              <a:rPr lang="en-US" dirty="0">
                <a:solidFill>
                  <a:schemeClr val="tx2"/>
                </a:solidFill>
              </a:rPr>
              <a:t> </a:t>
            </a:r>
            <a:r>
              <a:rPr lang="en-US" u="sng" dirty="0">
                <a:solidFill>
                  <a:schemeClr val="tx2"/>
                </a:solidFill>
              </a:rPr>
              <a:t>in the ordinary course of business</a:t>
            </a:r>
            <a:r>
              <a:rPr lang="en-US" dirty="0">
                <a:solidFill>
                  <a:schemeClr val="tx2"/>
                </a:solidFill>
              </a:rPr>
              <a:t> </a:t>
            </a:r>
            <a:r>
              <a:rPr lang="en-US" u="sng" dirty="0">
                <a:solidFill>
                  <a:schemeClr val="tx2"/>
                </a:solidFill>
              </a:rPr>
              <a:t>consistent with past practice</a:t>
            </a:r>
            <a:r>
              <a:rPr lang="en-US" dirty="0">
                <a:solidFill>
                  <a:schemeClr val="tx2"/>
                </a:solidFill>
              </a:rPr>
              <a:t> and </a:t>
            </a:r>
          </a:p>
          <a:p>
            <a:pPr>
              <a:spcAft>
                <a:spcPts val="900"/>
              </a:spcAft>
            </a:pPr>
            <a:r>
              <a:rPr lang="en-US" dirty="0">
                <a:solidFill>
                  <a:schemeClr val="tx2"/>
                </a:solidFill>
              </a:rPr>
              <a:t>(B) use </a:t>
            </a:r>
            <a:r>
              <a:rPr lang="en-US" u="sng" dirty="0">
                <a:solidFill>
                  <a:schemeClr val="tx2"/>
                </a:solidFill>
              </a:rPr>
              <a:t>commercially reasonable efforts</a:t>
            </a:r>
            <a:r>
              <a:rPr lang="en-US" dirty="0">
                <a:solidFill>
                  <a:schemeClr val="tx2"/>
                </a:solidFill>
              </a:rPr>
              <a:t> to preserve intact its current business organization, assets, technology and franchises, keep available the services of the employees of the Company and its Subsidiaries, maintain in effect all of its material Permits, and maintain relationships with its significant customers, suppliers and distributors, and other Persons with which it has significant business relations.</a:t>
            </a:r>
          </a:p>
          <a:p>
            <a:pPr>
              <a:spcAft>
                <a:spcPts val="900"/>
              </a:spcAft>
            </a:pPr>
            <a:r>
              <a:rPr lang="en-US" dirty="0">
                <a:solidFill>
                  <a:schemeClr val="tx2"/>
                </a:solidFill>
              </a:rPr>
              <a:t>[+ typically many negative covenants]</a:t>
            </a:r>
          </a:p>
        </p:txBody>
      </p:sp>
      <p:sp>
        <p:nvSpPr>
          <p:cNvPr id="4" name="Right Brace 3"/>
          <p:cNvSpPr/>
          <p:nvPr/>
        </p:nvSpPr>
        <p:spPr>
          <a:xfrm>
            <a:off x="7174232" y="1587587"/>
            <a:ext cx="375143" cy="46835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5" name="TextBox 4"/>
          <p:cNvSpPr txBox="1"/>
          <p:nvPr/>
        </p:nvSpPr>
        <p:spPr>
          <a:xfrm>
            <a:off x="7668920" y="1388449"/>
            <a:ext cx="1397854" cy="923330"/>
          </a:xfrm>
          <a:prstGeom prst="rect">
            <a:avLst/>
          </a:prstGeom>
          <a:noFill/>
        </p:spPr>
        <p:txBody>
          <a:bodyPr wrap="square" rtlCol="0">
            <a:spAutoFit/>
          </a:bodyPr>
          <a:lstStyle/>
          <a:p>
            <a:r>
              <a:rPr lang="en-US" dirty="0"/>
              <a:t>General Affirmative OCC</a:t>
            </a:r>
          </a:p>
        </p:txBody>
      </p:sp>
      <p:sp>
        <p:nvSpPr>
          <p:cNvPr id="6" name="Right Brace 5"/>
          <p:cNvSpPr/>
          <p:nvPr/>
        </p:nvSpPr>
        <p:spPr>
          <a:xfrm>
            <a:off x="7174233" y="2214105"/>
            <a:ext cx="375143" cy="1822636"/>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7" name="TextBox 6"/>
          <p:cNvSpPr txBox="1"/>
          <p:nvPr/>
        </p:nvSpPr>
        <p:spPr>
          <a:xfrm>
            <a:off x="7668920" y="2709554"/>
            <a:ext cx="1397854" cy="923330"/>
          </a:xfrm>
          <a:prstGeom prst="rect">
            <a:avLst/>
          </a:prstGeom>
          <a:noFill/>
        </p:spPr>
        <p:txBody>
          <a:bodyPr wrap="square" rtlCol="0">
            <a:spAutoFit/>
          </a:bodyPr>
          <a:lstStyle/>
          <a:p>
            <a:r>
              <a:rPr lang="en-US" dirty="0"/>
              <a:t>Specific Affirmative OCC</a:t>
            </a:r>
          </a:p>
        </p:txBody>
      </p:sp>
      <p:sp>
        <p:nvSpPr>
          <p:cNvPr id="8" name="Text Box 3">
            <a:extLst>
              <a:ext uri="{FF2B5EF4-FFF2-40B4-BE49-F238E27FC236}">
                <a16:creationId xmlns:a16="http://schemas.microsoft.com/office/drawing/2014/main" id="{8F2930B9-3790-42D4-8E24-2D3D2D10E263}"/>
              </a:ext>
            </a:extLst>
          </p:cNvPr>
          <p:cNvSpPr txBox="1">
            <a:spLocks noChangeArrowheads="1"/>
          </p:cNvSpPr>
          <p:nvPr/>
        </p:nvSpPr>
        <p:spPr bwMode="auto">
          <a:xfrm>
            <a:off x="645911" y="154213"/>
            <a:ext cx="5497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General Structure of OCCs</a:t>
            </a:r>
          </a:p>
        </p:txBody>
      </p:sp>
    </p:spTree>
    <p:extLst>
      <p:ext uri="{BB962C8B-B14F-4D97-AF65-F5344CB8AC3E}">
        <p14:creationId xmlns:p14="http://schemas.microsoft.com/office/powerpoint/2010/main" val="7965276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5" grpId="0"/>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947643" y="181191"/>
            <a:ext cx="70743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Overlooked Implications of the OCC</a:t>
            </a:r>
          </a:p>
        </p:txBody>
      </p:sp>
      <p:sp>
        <p:nvSpPr>
          <p:cNvPr id="2" name="TextBox 1">
            <a:extLst>
              <a:ext uri="{FF2B5EF4-FFF2-40B4-BE49-F238E27FC236}">
                <a16:creationId xmlns:a16="http://schemas.microsoft.com/office/drawing/2014/main" id="{F0164562-CAB2-49D3-AAB2-4FD576B66022}"/>
              </a:ext>
            </a:extLst>
          </p:cNvPr>
          <p:cNvSpPr txBox="1"/>
          <p:nvPr/>
        </p:nvSpPr>
        <p:spPr>
          <a:xfrm>
            <a:off x="1013641" y="932095"/>
            <a:ext cx="7251402" cy="3431709"/>
          </a:xfrm>
          <a:prstGeom prst="rect">
            <a:avLst/>
          </a:prstGeom>
          <a:noFill/>
        </p:spPr>
        <p:txBody>
          <a:bodyPr wrap="square" rtlCol="0">
            <a:spAutoFit/>
          </a:bodyPr>
          <a:lstStyle/>
          <a:p>
            <a:pPr>
              <a:spcAft>
                <a:spcPts val="1500"/>
              </a:spcAft>
            </a:pPr>
            <a:r>
              <a:rPr lang="en-US" sz="1600" b="1" dirty="0">
                <a:solidFill>
                  <a:schemeClr val="tx2"/>
                </a:solidFill>
              </a:rPr>
              <a:t>Matt Levine, </a:t>
            </a:r>
            <a:r>
              <a:rPr lang="en-US" sz="1600" b="1" i="1" dirty="0">
                <a:solidFill>
                  <a:schemeClr val="tx2"/>
                </a:solidFill>
              </a:rPr>
              <a:t>Bloomberg News </a:t>
            </a:r>
            <a:r>
              <a:rPr lang="en-US" sz="1600" b="1" dirty="0">
                <a:solidFill>
                  <a:schemeClr val="tx2"/>
                </a:solidFill>
              </a:rPr>
              <a:t>(April 2020): </a:t>
            </a:r>
            <a:r>
              <a:rPr lang="en-US" sz="1600" dirty="0">
                <a:solidFill>
                  <a:schemeClr val="tx2"/>
                </a:solidFill>
              </a:rPr>
              <a:t>“I assert that there are zero businesses in the United States right now that are running ‘in the ordinary course consistent with past practice.’”</a:t>
            </a:r>
          </a:p>
          <a:p>
            <a:pPr>
              <a:spcAft>
                <a:spcPts val="1500"/>
              </a:spcAft>
            </a:pPr>
            <a:r>
              <a:rPr lang="en-US" sz="1600" b="1" dirty="0">
                <a:solidFill>
                  <a:schemeClr val="tx2"/>
                </a:solidFill>
              </a:rPr>
              <a:t>Rob Kindler, Vice Chairman and Global Head of M&amp;A, Morgan Stanley (June 2020): </a:t>
            </a:r>
            <a:r>
              <a:rPr lang="en-US" sz="1600" dirty="0">
                <a:solidFill>
                  <a:schemeClr val="tx2"/>
                </a:solidFill>
              </a:rPr>
              <a:t>“Lawyers should have examined every . . . other provision in the merger agreement that could be implicated by the MAC. They . . . caught just half the problem. A pandemic is not a MAC but everything that flows from it is going to breach your covenants? I just can’t fathom how this happened.” </a:t>
            </a:r>
          </a:p>
          <a:p>
            <a:pPr>
              <a:spcAft>
                <a:spcPts val="1500"/>
              </a:spcAft>
            </a:pPr>
            <a:r>
              <a:rPr lang="en-US" sz="1600" b="1" dirty="0">
                <a:solidFill>
                  <a:schemeClr val="tx2"/>
                </a:solidFill>
              </a:rPr>
              <a:t>Prominent M&amp;A Attorney (Sept. 2020):</a:t>
            </a:r>
            <a:r>
              <a:rPr lang="en-US" sz="1600" dirty="0">
                <a:solidFill>
                  <a:schemeClr val="tx2"/>
                </a:solidFill>
              </a:rPr>
              <a:t> “If you had told me in 2019 that there was going to be a global pandemic, and asked me what clauses in the merger agreement were going to be implicated, I wouldn’t have picked the ordinary course covenant.” </a:t>
            </a:r>
          </a:p>
        </p:txBody>
      </p:sp>
    </p:spTree>
    <p:extLst>
      <p:ext uri="{BB962C8B-B14F-4D97-AF65-F5344CB8AC3E}">
        <p14:creationId xmlns:p14="http://schemas.microsoft.com/office/powerpoint/2010/main" val="41110509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952782" y="151918"/>
            <a:ext cx="46479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Case Study: LVMH-Tiffany</a:t>
            </a:r>
          </a:p>
        </p:txBody>
      </p:sp>
      <p:sp>
        <p:nvSpPr>
          <p:cNvPr id="2" name="TextBox 1">
            <a:extLst>
              <a:ext uri="{FF2B5EF4-FFF2-40B4-BE49-F238E27FC236}">
                <a16:creationId xmlns:a16="http://schemas.microsoft.com/office/drawing/2014/main" id="{1267A4CA-E692-4600-8623-A3F15EA47DB7}"/>
              </a:ext>
            </a:extLst>
          </p:cNvPr>
          <p:cNvSpPr txBox="1"/>
          <p:nvPr/>
        </p:nvSpPr>
        <p:spPr>
          <a:xfrm>
            <a:off x="1002401" y="753114"/>
            <a:ext cx="7285376" cy="3870290"/>
          </a:xfrm>
          <a:prstGeom prst="rect">
            <a:avLst/>
          </a:prstGeom>
          <a:noFill/>
        </p:spPr>
        <p:txBody>
          <a:bodyPr wrap="square" rtlCol="0">
            <a:spAutoFit/>
          </a:bodyPr>
          <a:lstStyle/>
          <a:p>
            <a:pPr fontAlgn="base">
              <a:spcAft>
                <a:spcPts val="900"/>
              </a:spcAft>
            </a:pPr>
            <a:r>
              <a:rPr lang="en-US" sz="1600" b="1" dirty="0">
                <a:solidFill>
                  <a:schemeClr val="tx2"/>
                </a:solidFill>
              </a:rPr>
              <a:t>October 2019: </a:t>
            </a:r>
            <a:r>
              <a:rPr lang="en-US" sz="1600" dirty="0">
                <a:solidFill>
                  <a:schemeClr val="tx2"/>
                </a:solidFill>
              </a:rPr>
              <a:t>LVMH opens new plant to make Louis Vuitton handbags in Texas.</a:t>
            </a:r>
          </a:p>
          <a:p>
            <a:pPr fontAlgn="base">
              <a:spcAft>
                <a:spcPts val="900"/>
              </a:spcAft>
            </a:pPr>
            <a:r>
              <a:rPr lang="en-US" sz="1600" b="1" dirty="0">
                <a:solidFill>
                  <a:schemeClr val="tx2"/>
                </a:solidFill>
              </a:rPr>
              <a:t>November 24, 2019: </a:t>
            </a:r>
            <a:r>
              <a:rPr lang="en-US" sz="1600" dirty="0">
                <a:solidFill>
                  <a:schemeClr val="tx2"/>
                </a:solidFill>
              </a:rPr>
              <a:t>LVMH announces deal to acquire Tiffany for $135 per share in cash, or $16.2 billion in total value.</a:t>
            </a:r>
          </a:p>
          <a:p>
            <a:pPr fontAlgn="base">
              <a:spcAft>
                <a:spcPts val="900"/>
              </a:spcAft>
            </a:pPr>
            <a:r>
              <a:rPr lang="en-US" sz="1600" b="1" dirty="0">
                <a:solidFill>
                  <a:schemeClr val="tx2"/>
                </a:solidFill>
              </a:rPr>
              <a:t>June 9, 2020: </a:t>
            </a:r>
            <a:r>
              <a:rPr lang="en-US" sz="1600" dirty="0">
                <a:solidFill>
                  <a:schemeClr val="tx2"/>
                </a:solidFill>
              </a:rPr>
              <a:t>Tiffany reports a 44% drop in sales for the first quarter of 2020 due to COVID store closures.</a:t>
            </a:r>
          </a:p>
          <a:p>
            <a:pPr fontAlgn="base">
              <a:spcAft>
                <a:spcPts val="900"/>
              </a:spcAft>
            </a:pPr>
            <a:r>
              <a:rPr lang="en-US" sz="1600" b="1" dirty="0">
                <a:solidFill>
                  <a:schemeClr val="tx2"/>
                </a:solidFill>
              </a:rPr>
              <a:t>August 31, 2020: </a:t>
            </a:r>
            <a:r>
              <a:rPr lang="en-US" sz="1600" dirty="0">
                <a:solidFill>
                  <a:schemeClr val="tx2"/>
                </a:solidFill>
              </a:rPr>
              <a:t>LVMH receives a letter from the French Minister of Foreign Affairs requesting LVMH to delay the closing until January 6, 2021 [outside the drop-dead date of November 24, 2020].</a:t>
            </a:r>
          </a:p>
          <a:p>
            <a:pPr fontAlgn="base">
              <a:spcAft>
                <a:spcPts val="900"/>
              </a:spcAft>
            </a:pPr>
            <a:r>
              <a:rPr lang="en-US" sz="1600" b="1" dirty="0">
                <a:solidFill>
                  <a:schemeClr val="tx2"/>
                </a:solidFill>
              </a:rPr>
              <a:t>September 9, 2020: </a:t>
            </a:r>
            <a:r>
              <a:rPr lang="en-US" sz="1600" dirty="0">
                <a:solidFill>
                  <a:schemeClr val="tx2"/>
                </a:solidFill>
              </a:rPr>
              <a:t>LVMH backs out of the deal.  Tiffany’s sues in Delaware Chancery Court on the same day; trial scheduled for early January 2021.</a:t>
            </a:r>
          </a:p>
          <a:p>
            <a:pPr fontAlgn="base">
              <a:spcAft>
                <a:spcPts val="900"/>
              </a:spcAft>
            </a:pPr>
            <a:r>
              <a:rPr lang="en-US" sz="1600" b="1" dirty="0">
                <a:solidFill>
                  <a:schemeClr val="tx2"/>
                </a:solidFill>
              </a:rPr>
              <a:t>October 28, 2020: </a:t>
            </a:r>
            <a:r>
              <a:rPr lang="en-US" sz="1600" dirty="0">
                <a:solidFill>
                  <a:schemeClr val="tx2"/>
                </a:solidFill>
              </a:rPr>
              <a:t>Tiffany and LVMH agree to a new deal at $131.50 per share (2.6% price reduction), or $425 million lower value.</a:t>
            </a:r>
          </a:p>
        </p:txBody>
      </p:sp>
    </p:spTree>
    <p:extLst>
      <p:ext uri="{BB962C8B-B14F-4D97-AF65-F5344CB8AC3E}">
        <p14:creationId xmlns:p14="http://schemas.microsoft.com/office/powerpoint/2010/main" val="11352095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33807" y="130477"/>
            <a:ext cx="8104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Deal Setup: LVMH Factory in Texas (Oct 2019) </a:t>
            </a:r>
          </a:p>
        </p:txBody>
      </p:sp>
      <p:pic>
        <p:nvPicPr>
          <p:cNvPr id="1026" name="Picture 2" descr="President Donald Trump, Michael Burke, Bernard Arnault and Ivanka Trump">
            <a:extLst>
              <a:ext uri="{FF2B5EF4-FFF2-40B4-BE49-F238E27FC236}">
                <a16:creationId xmlns:a16="http://schemas.microsoft.com/office/drawing/2014/main" id="{2FF0A6E4-A993-4443-9FBA-606D3C0EE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397" y="767111"/>
            <a:ext cx="5647111" cy="3769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01180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768485" y="130477"/>
            <a:ext cx="63017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French Letter (August 31, 2020)</a:t>
            </a:r>
          </a:p>
        </p:txBody>
      </p:sp>
      <p:sp>
        <p:nvSpPr>
          <p:cNvPr id="2" name="TextBox 1">
            <a:extLst>
              <a:ext uri="{FF2B5EF4-FFF2-40B4-BE49-F238E27FC236}">
                <a16:creationId xmlns:a16="http://schemas.microsoft.com/office/drawing/2014/main" id="{1267A4CA-E692-4600-8623-A3F15EA47DB7}"/>
              </a:ext>
            </a:extLst>
          </p:cNvPr>
          <p:cNvSpPr txBox="1"/>
          <p:nvPr/>
        </p:nvSpPr>
        <p:spPr>
          <a:xfrm>
            <a:off x="888988" y="799893"/>
            <a:ext cx="7680855" cy="3624069"/>
          </a:xfrm>
          <a:prstGeom prst="rect">
            <a:avLst/>
          </a:prstGeom>
          <a:noFill/>
        </p:spPr>
        <p:txBody>
          <a:bodyPr wrap="square" rtlCol="0">
            <a:spAutoFit/>
          </a:bodyPr>
          <a:lstStyle/>
          <a:p>
            <a:pPr>
              <a:spcAft>
                <a:spcPts val="900"/>
              </a:spcAft>
            </a:pPr>
            <a:r>
              <a:rPr lang="en-US" sz="1600" dirty="0">
                <a:solidFill>
                  <a:schemeClr val="tx2"/>
                </a:solidFill>
              </a:rPr>
              <a:t>. . . [B]</a:t>
            </a:r>
            <a:r>
              <a:rPr lang="en-US" sz="1600" dirty="0" err="1">
                <a:solidFill>
                  <a:schemeClr val="tx2"/>
                </a:solidFill>
              </a:rPr>
              <a:t>ecause</a:t>
            </a:r>
            <a:r>
              <a:rPr lang="en-US" sz="1600" dirty="0">
                <a:solidFill>
                  <a:schemeClr val="tx2"/>
                </a:solidFill>
              </a:rPr>
              <a:t> the implementation of these tariffs may affect France’s external relations, for which my department is responsible, proposed investments by French companies in sectors that could be subject to such sanctions must be reevaluated in light of this new context. </a:t>
            </a:r>
          </a:p>
          <a:p>
            <a:pPr>
              <a:spcAft>
                <a:spcPts val="900"/>
              </a:spcAft>
            </a:pPr>
            <a:r>
              <a:rPr lang="en-US" sz="1600" dirty="0">
                <a:solidFill>
                  <a:schemeClr val="tx2"/>
                </a:solidFill>
              </a:rPr>
              <a:t>My attention was drawn to the most important current investment, which is your Group’s pending acquisition of Tiffany. </a:t>
            </a:r>
          </a:p>
          <a:p>
            <a:pPr>
              <a:spcAft>
                <a:spcPts val="900"/>
              </a:spcAft>
            </a:pPr>
            <a:r>
              <a:rPr lang="en-US" sz="1600" dirty="0">
                <a:solidFill>
                  <a:schemeClr val="tx2"/>
                </a:solidFill>
              </a:rPr>
              <a:t>In order to support the steps taken vis-a-vis the American government, you should defer the closing of the pending Tiffany transaction until January 6, 2021. </a:t>
            </a:r>
          </a:p>
          <a:p>
            <a:pPr>
              <a:spcAft>
                <a:spcPts val="900"/>
              </a:spcAft>
            </a:pPr>
            <a:r>
              <a:rPr lang="en-US" sz="1600" dirty="0">
                <a:solidFill>
                  <a:schemeClr val="tx2"/>
                </a:solidFill>
              </a:rPr>
              <a:t>I am sure that you will understand the need to take part in our country’s efforts to defend its national interests. </a:t>
            </a:r>
          </a:p>
          <a:p>
            <a:pPr>
              <a:spcAft>
                <a:spcPts val="900"/>
              </a:spcAft>
            </a:pPr>
            <a:r>
              <a:rPr lang="en-US" sz="1600" dirty="0">
                <a:solidFill>
                  <a:schemeClr val="tx2"/>
                </a:solidFill>
              </a:rPr>
              <a:t>Sincerely yours, </a:t>
            </a:r>
          </a:p>
          <a:p>
            <a:pPr>
              <a:spcAft>
                <a:spcPts val="900"/>
              </a:spcAft>
            </a:pPr>
            <a:r>
              <a:rPr lang="en-US" sz="1600" dirty="0">
                <a:solidFill>
                  <a:schemeClr val="tx2"/>
                </a:solidFill>
              </a:rPr>
              <a:t>[Minister of Foreign Affairs] </a:t>
            </a:r>
          </a:p>
        </p:txBody>
      </p:sp>
    </p:spTree>
    <p:extLst>
      <p:ext uri="{BB962C8B-B14F-4D97-AF65-F5344CB8AC3E}">
        <p14:creationId xmlns:p14="http://schemas.microsoft.com/office/powerpoint/2010/main" val="35496928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818103" y="143091"/>
            <a:ext cx="61686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Tiffany Ordinary Course Obligation</a:t>
            </a:r>
          </a:p>
        </p:txBody>
      </p:sp>
      <p:sp>
        <p:nvSpPr>
          <p:cNvPr id="3" name="TextBox 2">
            <a:extLst>
              <a:ext uri="{FF2B5EF4-FFF2-40B4-BE49-F238E27FC236}">
                <a16:creationId xmlns:a16="http://schemas.microsoft.com/office/drawing/2014/main" id="{ED19FCC6-8211-4F05-B738-D0C939BF97B3}"/>
              </a:ext>
            </a:extLst>
          </p:cNvPr>
          <p:cNvSpPr txBox="1"/>
          <p:nvPr/>
        </p:nvSpPr>
        <p:spPr>
          <a:xfrm>
            <a:off x="980664" y="934719"/>
            <a:ext cx="7330216" cy="3370153"/>
          </a:xfrm>
          <a:prstGeom prst="rect">
            <a:avLst/>
          </a:prstGeom>
          <a:noFill/>
        </p:spPr>
        <p:txBody>
          <a:bodyPr wrap="square" rtlCol="0">
            <a:spAutoFit/>
          </a:bodyPr>
          <a:lstStyle/>
          <a:p>
            <a:pPr>
              <a:spcAft>
                <a:spcPts val="900"/>
              </a:spcAft>
            </a:pPr>
            <a:r>
              <a:rPr lang="en-US" dirty="0">
                <a:solidFill>
                  <a:schemeClr val="tx2"/>
                </a:solidFill>
              </a:rPr>
              <a:t>[T]he Company shall, and shall cause each of its Subsidiaries to, except as . . . consented to in writing by Parent (such consent not to be unreasonably conditioned, withheld or delayed) . . .</a:t>
            </a:r>
          </a:p>
          <a:p>
            <a:pPr>
              <a:spcAft>
                <a:spcPts val="900"/>
              </a:spcAft>
            </a:pPr>
            <a:r>
              <a:rPr lang="en-US" dirty="0">
                <a:solidFill>
                  <a:schemeClr val="tx2"/>
                </a:solidFill>
              </a:rPr>
              <a:t>conduct its business in all material respects in the Ordinary Course of Business and, in connection therewith and to the extent consistent with the Ordinary Course of Business, shall use and cause each of its Subsidiaries to use their respective commercially reasonable efforts to preserve its and its Subsidiaries’ business organizations substantially intact, . . . </a:t>
            </a:r>
          </a:p>
          <a:p>
            <a:pPr>
              <a:spcAft>
                <a:spcPts val="900"/>
              </a:spcAft>
            </a:pPr>
            <a:r>
              <a:rPr lang="en-US" dirty="0">
                <a:solidFill>
                  <a:schemeClr val="tx2"/>
                </a:solidFill>
              </a:rPr>
              <a:t>“Ordinary Course of Business” means, with respect to any Person, the conduct by a Person of the relevant business in the ordinary course.</a:t>
            </a:r>
          </a:p>
        </p:txBody>
      </p:sp>
    </p:spTree>
    <p:extLst>
      <p:ext uri="{BB962C8B-B14F-4D97-AF65-F5344CB8AC3E}">
        <p14:creationId xmlns:p14="http://schemas.microsoft.com/office/powerpoint/2010/main" val="38776923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19FCC6-8211-4F05-B738-D0C939BF97B3}"/>
              </a:ext>
            </a:extLst>
          </p:cNvPr>
          <p:cNvSpPr txBox="1"/>
          <p:nvPr/>
        </p:nvSpPr>
        <p:spPr>
          <a:xfrm>
            <a:off x="906892" y="256539"/>
            <a:ext cx="7330216" cy="4470455"/>
          </a:xfrm>
          <a:prstGeom prst="rect">
            <a:avLst/>
          </a:prstGeom>
          <a:noFill/>
        </p:spPr>
        <p:txBody>
          <a:bodyPr wrap="square" rtlCol="0">
            <a:spAutoFit/>
          </a:bodyPr>
          <a:lstStyle/>
          <a:p>
            <a:pPr>
              <a:spcAft>
                <a:spcPts val="900"/>
              </a:spcAft>
            </a:pPr>
            <a:r>
              <a:rPr lang="en-US" sz="1300" b="1" dirty="0"/>
              <a:t>Billionaire </a:t>
            </a:r>
            <a:r>
              <a:rPr lang="en-US" sz="1300" b="1" dirty="0" err="1"/>
              <a:t>Arnault</a:t>
            </a:r>
            <a:r>
              <a:rPr lang="en-US" sz="1300" b="1" dirty="0"/>
              <a:t> On The Offensive After Tiffany Pays Out $140 Million Pandemic Dividends Despite $32 Million In Losses</a:t>
            </a:r>
            <a:br>
              <a:rPr lang="en-US" sz="1300" dirty="0"/>
            </a:br>
            <a:r>
              <a:rPr lang="en-US" sz="1300" b="1" i="1" dirty="0"/>
              <a:t>Forbes</a:t>
            </a:r>
            <a:r>
              <a:rPr lang="en-US" sz="1300" b="1" dirty="0"/>
              <a:t> (Sept. 15, 2020)</a:t>
            </a:r>
            <a:endParaRPr lang="en-US" sz="1300" dirty="0"/>
          </a:p>
          <a:p>
            <a:pPr>
              <a:spcAft>
                <a:spcPts val="900"/>
              </a:spcAft>
            </a:pPr>
            <a:r>
              <a:rPr lang="en-US" sz="1300" dirty="0">
                <a:solidFill>
                  <a:schemeClr val="tx2"/>
                </a:solidFill>
              </a:rPr>
              <a:t>Billionaire Bernard </a:t>
            </a:r>
            <a:r>
              <a:rPr lang="en-US" sz="1300" dirty="0" err="1">
                <a:solidFill>
                  <a:schemeClr val="tx2"/>
                </a:solidFill>
              </a:rPr>
              <a:t>Arnault’s</a:t>
            </a:r>
            <a:r>
              <a:rPr lang="en-US" sz="1300" dirty="0">
                <a:solidFill>
                  <a:schemeClr val="tx2"/>
                </a:solidFill>
              </a:rPr>
              <a:t> deal to bring U.S. </a:t>
            </a:r>
            <a:r>
              <a:rPr lang="en-US" sz="1300" dirty="0" err="1">
                <a:solidFill>
                  <a:schemeClr val="tx2"/>
                </a:solidFill>
              </a:rPr>
              <a:t>jewelery</a:t>
            </a:r>
            <a:r>
              <a:rPr lang="en-US" sz="1300" dirty="0">
                <a:solidFill>
                  <a:schemeClr val="tx2"/>
                </a:solidFill>
              </a:rPr>
              <a:t> giant Tiffany &amp; Co. into the LVMH family for $16 billion has been damaged by LVMH anger over the $70 million per quarter in dividends Tiffany has paid its shareholders during the pandemic . . . </a:t>
            </a:r>
          </a:p>
          <a:p>
            <a:pPr>
              <a:spcAft>
                <a:spcPts val="900"/>
              </a:spcAft>
            </a:pPr>
            <a:r>
              <a:rPr lang="en-US" sz="1300" dirty="0">
                <a:solidFill>
                  <a:schemeClr val="tx2"/>
                </a:solidFill>
              </a:rPr>
              <a:t>. . . [T]he major bone of contention for LVMH has been the generous dividend payments Tiffany has made to shareholders since the deal was announced, especially those paid out in May and August during the pandemic, which total $140 million, an amount described by the source as “kind of bananas” and “literally burning cash.” An additional $70 million is set to be paid out in November despite a potential extended lockdown period. . . . </a:t>
            </a:r>
          </a:p>
          <a:p>
            <a:pPr>
              <a:spcAft>
                <a:spcPts val="900"/>
              </a:spcAft>
            </a:pPr>
            <a:r>
              <a:rPr lang="en-US" sz="1300" dirty="0">
                <a:solidFill>
                  <a:schemeClr val="tx2"/>
                </a:solidFill>
              </a:rPr>
              <a:t>Tiffany &amp; Co.—which suffered a net loss of $32.7 million during the first half of 2020, compared to a $261 million profit over the same period in 2019—told Forbes that LVMH knew about Tiffany’s dividend policy. </a:t>
            </a:r>
          </a:p>
          <a:p>
            <a:pPr>
              <a:spcAft>
                <a:spcPts val="900"/>
              </a:spcAft>
            </a:pPr>
            <a:r>
              <a:rPr lang="en-US" sz="1300" dirty="0">
                <a:solidFill>
                  <a:schemeClr val="tx2"/>
                </a:solidFill>
              </a:rPr>
              <a:t>The November 2019 merger agreement confirmed that Tiffany would “continue to declare and pay its regular quarterly dividends in an amount not to exceed $0.58 per share and in a manner consistent with past practice.” </a:t>
            </a:r>
          </a:p>
          <a:p>
            <a:pPr>
              <a:spcAft>
                <a:spcPts val="900"/>
              </a:spcAft>
            </a:pPr>
            <a:r>
              <a:rPr lang="en-US" sz="1300" dirty="0">
                <a:solidFill>
                  <a:schemeClr val="tx2"/>
                </a:solidFill>
              </a:rPr>
              <a:t>Tiffany has paid 131 consecutive quarterly dividends since 1988 shortly after the IPO and has never missed one, including during periods of economic downturn.</a:t>
            </a:r>
          </a:p>
        </p:txBody>
      </p:sp>
    </p:spTree>
    <p:extLst>
      <p:ext uri="{BB962C8B-B14F-4D97-AF65-F5344CB8AC3E}">
        <p14:creationId xmlns:p14="http://schemas.microsoft.com/office/powerpoint/2010/main" val="13957772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1013552" y="171194"/>
            <a:ext cx="69108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LVMH-Tiffany: The Act of God Carveout</a:t>
            </a:r>
          </a:p>
        </p:txBody>
      </p:sp>
      <p:sp>
        <p:nvSpPr>
          <p:cNvPr id="2" name="TextBox 1"/>
          <p:cNvSpPr txBox="1"/>
          <p:nvPr/>
        </p:nvSpPr>
        <p:spPr>
          <a:xfrm>
            <a:off x="1106764" y="984863"/>
            <a:ext cx="7307134" cy="2977738"/>
          </a:xfrm>
          <a:prstGeom prst="rect">
            <a:avLst/>
          </a:prstGeom>
          <a:noFill/>
        </p:spPr>
        <p:txBody>
          <a:bodyPr wrap="square" rtlCol="0">
            <a:spAutoFit/>
          </a:bodyPr>
          <a:lstStyle/>
          <a:p>
            <a:pPr>
              <a:spcAft>
                <a:spcPts val="900"/>
              </a:spcAft>
            </a:pPr>
            <a:r>
              <a:rPr lang="en-US" dirty="0">
                <a:solidFill>
                  <a:schemeClr val="tx2"/>
                </a:solidFill>
              </a:rPr>
              <a:t>"Material Adverse Effect" means any Effect that, individually or in the aggregate with all other Effects, (a) </a:t>
            </a:r>
            <a:r>
              <a:rPr lang="en-US" u="sng" dirty="0">
                <a:solidFill>
                  <a:srgbClr val="FF0000"/>
                </a:solidFill>
              </a:rPr>
              <a:t>has had or would be reasonably expected to have a material adverse effect </a:t>
            </a:r>
            <a:r>
              <a:rPr lang="en-US" dirty="0">
                <a:solidFill>
                  <a:schemeClr val="tx2"/>
                </a:solidFill>
              </a:rPr>
              <a:t>on the business, condition (financial or otherwise), properties, assets, liabilities (contingent or otherwise), business operations or results of operations of the Company and its Subsidiaries . . . </a:t>
            </a:r>
          </a:p>
          <a:p>
            <a:pPr>
              <a:spcAft>
                <a:spcPts val="900"/>
              </a:spcAft>
            </a:pPr>
            <a:r>
              <a:rPr lang="en-US" dirty="0">
                <a:solidFill>
                  <a:schemeClr val="tx2"/>
                </a:solidFill>
              </a:rPr>
              <a:t>provided, however . . . no Effect </a:t>
            </a:r>
            <a:r>
              <a:rPr lang="en-US" u="sng" dirty="0">
                <a:solidFill>
                  <a:srgbClr val="FF0000"/>
                </a:solidFill>
              </a:rPr>
              <a:t>arising out of or resulting from any</a:t>
            </a:r>
            <a:r>
              <a:rPr lang="en-US" dirty="0">
                <a:solidFill>
                  <a:schemeClr val="tx2"/>
                </a:solidFill>
              </a:rPr>
              <a:t> of the following shall be deemed either alone or in combination to constitute a Material Adverse Effect: . . . (viii) any hurricane, tornado, flood, earthquake or other natural disaster . . . </a:t>
            </a:r>
          </a:p>
        </p:txBody>
      </p:sp>
    </p:spTree>
    <p:extLst>
      <p:ext uri="{BB962C8B-B14F-4D97-AF65-F5344CB8AC3E}">
        <p14:creationId xmlns:p14="http://schemas.microsoft.com/office/powerpoint/2010/main" val="5394931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1013552" y="171194"/>
            <a:ext cx="7476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Specific “Act of God” &amp; Related </a:t>
            </a:r>
            <a:r>
              <a:rPr lang="en-US" altLang="en-US" sz="2800" dirty="0" err="1">
                <a:cs typeface="Times New Roman" pitchFamily="18" charset="0"/>
              </a:rPr>
              <a:t>Carveouts</a:t>
            </a:r>
            <a:endParaRPr lang="en-US" altLang="en-US" sz="2800" dirty="0">
              <a:cs typeface="Times New Roman" pitchFamily="18" charset="0"/>
            </a:endParaRPr>
          </a:p>
        </p:txBody>
      </p:sp>
      <p:graphicFrame>
        <p:nvGraphicFramePr>
          <p:cNvPr id="6" name="Chart 5"/>
          <p:cNvGraphicFramePr/>
          <p:nvPr>
            <p:extLst>
              <p:ext uri="{D42A27DB-BD31-4B8C-83A1-F6EECF244321}">
                <p14:modId xmlns:p14="http://schemas.microsoft.com/office/powerpoint/2010/main" val="3197981363"/>
              </p:ext>
            </p:extLst>
          </p:nvPr>
        </p:nvGraphicFramePr>
        <p:xfrm>
          <a:off x="937351" y="838199"/>
          <a:ext cx="7552927" cy="3552825"/>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p:cNvSpPr/>
          <p:nvPr/>
        </p:nvSpPr>
        <p:spPr>
          <a:xfrm>
            <a:off x="2076418" y="2176502"/>
            <a:ext cx="530916" cy="646331"/>
          </a:xfrm>
          <a:prstGeom prst="rect">
            <a:avLst/>
          </a:prstGeom>
        </p:spPr>
        <p:txBody>
          <a:bodyPr wrap="none">
            <a:spAutoFit/>
          </a:bodyPr>
          <a:lstStyle/>
          <a:p>
            <a:pPr algn="ctr">
              <a:defRPr/>
            </a:pPr>
            <a:r>
              <a:rPr lang="en-US" sz="3600" b="1" dirty="0">
                <a:solidFill>
                  <a:srgbClr val="00B050"/>
                </a:solidFill>
              </a:rPr>
              <a:t>✓</a:t>
            </a:r>
          </a:p>
        </p:txBody>
      </p:sp>
      <p:sp>
        <p:nvSpPr>
          <p:cNvPr id="9" name="Rectangle 8"/>
          <p:cNvSpPr/>
          <p:nvPr/>
        </p:nvSpPr>
        <p:spPr>
          <a:xfrm>
            <a:off x="2876518" y="2957552"/>
            <a:ext cx="530916" cy="646331"/>
          </a:xfrm>
          <a:prstGeom prst="rect">
            <a:avLst/>
          </a:prstGeom>
        </p:spPr>
        <p:txBody>
          <a:bodyPr wrap="none">
            <a:spAutoFit/>
          </a:bodyPr>
          <a:lstStyle/>
          <a:p>
            <a:pPr algn="ctr">
              <a:defRPr/>
            </a:pPr>
            <a:r>
              <a:rPr lang="en-US" sz="3600" b="1" dirty="0">
                <a:solidFill>
                  <a:srgbClr val="00B050"/>
                </a:solidFill>
              </a:rPr>
              <a:t>✓</a:t>
            </a:r>
          </a:p>
        </p:txBody>
      </p:sp>
      <p:sp>
        <p:nvSpPr>
          <p:cNvPr id="13" name="Rectangle 12"/>
          <p:cNvSpPr/>
          <p:nvPr/>
        </p:nvSpPr>
        <p:spPr>
          <a:xfrm>
            <a:off x="3695668" y="2957551"/>
            <a:ext cx="530916" cy="646331"/>
          </a:xfrm>
          <a:prstGeom prst="rect">
            <a:avLst/>
          </a:prstGeom>
        </p:spPr>
        <p:txBody>
          <a:bodyPr wrap="none">
            <a:spAutoFit/>
          </a:bodyPr>
          <a:lstStyle/>
          <a:p>
            <a:pPr algn="ctr">
              <a:defRPr/>
            </a:pPr>
            <a:r>
              <a:rPr lang="en-US" sz="3600" b="1" dirty="0">
                <a:solidFill>
                  <a:srgbClr val="00B050"/>
                </a:solidFill>
              </a:rPr>
              <a:t>✓</a:t>
            </a:r>
          </a:p>
        </p:txBody>
      </p:sp>
      <p:sp>
        <p:nvSpPr>
          <p:cNvPr id="14" name="Rectangle 13"/>
          <p:cNvSpPr/>
          <p:nvPr/>
        </p:nvSpPr>
        <p:spPr>
          <a:xfrm>
            <a:off x="4474202" y="2634385"/>
            <a:ext cx="530916" cy="646331"/>
          </a:xfrm>
          <a:prstGeom prst="rect">
            <a:avLst/>
          </a:prstGeom>
        </p:spPr>
        <p:txBody>
          <a:bodyPr wrap="none">
            <a:spAutoFit/>
          </a:bodyPr>
          <a:lstStyle/>
          <a:p>
            <a:pPr algn="ctr">
              <a:defRPr/>
            </a:pPr>
            <a:r>
              <a:rPr lang="en-US" sz="3600" b="1" dirty="0">
                <a:solidFill>
                  <a:srgbClr val="00B050"/>
                </a:solidFill>
              </a:rPr>
              <a:t>✓</a:t>
            </a:r>
          </a:p>
        </p:txBody>
      </p:sp>
      <p:sp>
        <p:nvSpPr>
          <p:cNvPr id="2" name="TextBox 1"/>
          <p:cNvSpPr txBox="1"/>
          <p:nvPr/>
        </p:nvSpPr>
        <p:spPr>
          <a:xfrm>
            <a:off x="5299849" y="2993909"/>
            <a:ext cx="492443" cy="646331"/>
          </a:xfrm>
          <a:prstGeom prst="rect">
            <a:avLst/>
          </a:prstGeom>
          <a:noFill/>
        </p:spPr>
        <p:txBody>
          <a:bodyPr wrap="none" rtlCol="0">
            <a:spAutoFit/>
          </a:bodyPr>
          <a:lstStyle/>
          <a:p>
            <a:r>
              <a:rPr lang="en-US" sz="3600" b="1" dirty="0">
                <a:solidFill>
                  <a:srgbClr val="FF0000"/>
                </a:solidFill>
              </a:rPr>
              <a:t>X</a:t>
            </a:r>
          </a:p>
        </p:txBody>
      </p:sp>
      <p:sp>
        <p:nvSpPr>
          <p:cNvPr id="15" name="TextBox 14"/>
          <p:cNvSpPr txBox="1"/>
          <p:nvPr/>
        </p:nvSpPr>
        <p:spPr>
          <a:xfrm>
            <a:off x="6107889" y="3155491"/>
            <a:ext cx="492443" cy="646331"/>
          </a:xfrm>
          <a:prstGeom prst="rect">
            <a:avLst/>
          </a:prstGeom>
          <a:noFill/>
        </p:spPr>
        <p:txBody>
          <a:bodyPr wrap="none" rtlCol="0">
            <a:spAutoFit/>
          </a:bodyPr>
          <a:lstStyle/>
          <a:p>
            <a:r>
              <a:rPr lang="en-US" sz="3600" b="1" dirty="0">
                <a:solidFill>
                  <a:srgbClr val="FF0000"/>
                </a:solidFill>
              </a:rPr>
              <a:t>X</a:t>
            </a:r>
          </a:p>
        </p:txBody>
      </p:sp>
      <p:sp>
        <p:nvSpPr>
          <p:cNvPr id="16" name="TextBox 15"/>
          <p:cNvSpPr txBox="1"/>
          <p:nvPr/>
        </p:nvSpPr>
        <p:spPr>
          <a:xfrm>
            <a:off x="6913019" y="2499667"/>
            <a:ext cx="492443" cy="646331"/>
          </a:xfrm>
          <a:prstGeom prst="rect">
            <a:avLst/>
          </a:prstGeom>
          <a:noFill/>
        </p:spPr>
        <p:txBody>
          <a:bodyPr wrap="none" rtlCol="0">
            <a:spAutoFit/>
          </a:bodyPr>
          <a:lstStyle/>
          <a:p>
            <a:r>
              <a:rPr lang="en-US" sz="3600" b="1" dirty="0">
                <a:solidFill>
                  <a:srgbClr val="FF0000"/>
                </a:solidFill>
              </a:rPr>
              <a:t>X</a:t>
            </a:r>
          </a:p>
        </p:txBody>
      </p:sp>
      <p:sp>
        <p:nvSpPr>
          <p:cNvPr id="17" name="TextBox 16"/>
          <p:cNvSpPr txBox="1"/>
          <p:nvPr/>
        </p:nvSpPr>
        <p:spPr>
          <a:xfrm>
            <a:off x="7703757" y="3145966"/>
            <a:ext cx="492443" cy="646331"/>
          </a:xfrm>
          <a:prstGeom prst="rect">
            <a:avLst/>
          </a:prstGeom>
          <a:noFill/>
        </p:spPr>
        <p:txBody>
          <a:bodyPr wrap="none" rtlCol="0">
            <a:spAutoFit/>
          </a:bodyPr>
          <a:lstStyle/>
          <a:p>
            <a:r>
              <a:rPr lang="en-US" sz="3600" b="1" dirty="0">
                <a:solidFill>
                  <a:srgbClr val="FF0000"/>
                </a:solidFill>
              </a:rPr>
              <a:t>X</a:t>
            </a:r>
          </a:p>
        </p:txBody>
      </p:sp>
      <p:sp>
        <p:nvSpPr>
          <p:cNvPr id="3" name="Rectangle 2"/>
          <p:cNvSpPr/>
          <p:nvPr/>
        </p:nvSpPr>
        <p:spPr>
          <a:xfrm>
            <a:off x="983703" y="4352088"/>
            <a:ext cx="7796882" cy="246221"/>
          </a:xfrm>
          <a:prstGeom prst="rect">
            <a:avLst/>
          </a:prstGeom>
        </p:spPr>
        <p:txBody>
          <a:bodyPr wrap="square">
            <a:spAutoFit/>
          </a:bodyPr>
          <a:lstStyle/>
          <a:p>
            <a:r>
              <a:rPr lang="en-US" sz="1000" dirty="0">
                <a:solidFill>
                  <a:schemeClr val="tx2"/>
                </a:solidFill>
              </a:rPr>
              <a:t>* “Pandemic” includes </a:t>
            </a:r>
            <a:r>
              <a:rPr lang="en-US" sz="1000" dirty="0" err="1">
                <a:solidFill>
                  <a:schemeClr val="tx2"/>
                </a:solidFill>
              </a:rPr>
              <a:t>carveouts</a:t>
            </a:r>
            <a:r>
              <a:rPr lang="en-US" sz="1000" dirty="0">
                <a:solidFill>
                  <a:schemeClr val="tx2"/>
                </a:solidFill>
              </a:rPr>
              <a:t> for any of: pandemic, epidemic, illness, disease, influenza, quarantine, and public health. </a:t>
            </a:r>
            <a:endParaRPr lang="en-US" sz="1000" dirty="0"/>
          </a:p>
        </p:txBody>
      </p:sp>
      <p:sp>
        <p:nvSpPr>
          <p:cNvPr id="18" name="Rectangle 17"/>
          <p:cNvSpPr/>
          <p:nvPr/>
        </p:nvSpPr>
        <p:spPr>
          <a:xfrm>
            <a:off x="3915302" y="715849"/>
            <a:ext cx="415498" cy="461665"/>
          </a:xfrm>
          <a:prstGeom prst="rect">
            <a:avLst/>
          </a:prstGeom>
        </p:spPr>
        <p:txBody>
          <a:bodyPr wrap="none">
            <a:spAutoFit/>
          </a:bodyPr>
          <a:lstStyle/>
          <a:p>
            <a:pPr algn="ctr">
              <a:defRPr/>
            </a:pPr>
            <a:r>
              <a:rPr lang="en-US" sz="2400" b="1" dirty="0">
                <a:solidFill>
                  <a:srgbClr val="00B050"/>
                </a:solidFill>
              </a:rPr>
              <a:t>✓</a:t>
            </a:r>
          </a:p>
        </p:txBody>
      </p:sp>
      <p:sp>
        <p:nvSpPr>
          <p:cNvPr id="4" name="TextBox 3"/>
          <p:cNvSpPr txBox="1"/>
          <p:nvPr/>
        </p:nvSpPr>
        <p:spPr>
          <a:xfrm>
            <a:off x="4226584" y="781839"/>
            <a:ext cx="4062587" cy="307777"/>
          </a:xfrm>
          <a:prstGeom prst="rect">
            <a:avLst/>
          </a:prstGeom>
          <a:noFill/>
        </p:spPr>
        <p:txBody>
          <a:bodyPr wrap="none" rtlCol="0">
            <a:spAutoFit/>
          </a:bodyPr>
          <a:lstStyle/>
          <a:p>
            <a:r>
              <a:rPr lang="en-US" sz="1400" dirty="0">
                <a:solidFill>
                  <a:schemeClr val="tx2"/>
                </a:solidFill>
              </a:rPr>
              <a:t>= Included in LVMH-Tiffany (=&gt; LVMH bears risk)</a:t>
            </a:r>
          </a:p>
        </p:txBody>
      </p:sp>
      <p:sp>
        <p:nvSpPr>
          <p:cNvPr id="19" name="TextBox 18"/>
          <p:cNvSpPr txBox="1"/>
          <p:nvPr/>
        </p:nvSpPr>
        <p:spPr>
          <a:xfrm>
            <a:off x="4226584" y="1108866"/>
            <a:ext cx="3109762" cy="307777"/>
          </a:xfrm>
          <a:prstGeom prst="rect">
            <a:avLst/>
          </a:prstGeom>
          <a:noFill/>
        </p:spPr>
        <p:txBody>
          <a:bodyPr wrap="none" rtlCol="0">
            <a:spAutoFit/>
          </a:bodyPr>
          <a:lstStyle/>
          <a:p>
            <a:r>
              <a:rPr lang="en-US" sz="1400" dirty="0">
                <a:solidFill>
                  <a:schemeClr val="tx2"/>
                </a:solidFill>
              </a:rPr>
              <a:t>= Not included (=&gt; Tiffany bears risk)</a:t>
            </a:r>
          </a:p>
        </p:txBody>
      </p:sp>
      <p:sp>
        <p:nvSpPr>
          <p:cNvPr id="20" name="TextBox 19"/>
          <p:cNvSpPr txBox="1"/>
          <p:nvPr/>
        </p:nvSpPr>
        <p:spPr>
          <a:xfrm>
            <a:off x="3943132" y="1026431"/>
            <a:ext cx="389850" cy="461665"/>
          </a:xfrm>
          <a:prstGeom prst="rect">
            <a:avLst/>
          </a:prstGeom>
          <a:noFill/>
        </p:spPr>
        <p:txBody>
          <a:bodyPr wrap="none" rtlCol="0">
            <a:spAutoFit/>
          </a:bodyPr>
          <a:lstStyle/>
          <a:p>
            <a:r>
              <a:rPr lang="en-US" sz="2400" b="1" dirty="0">
                <a:solidFill>
                  <a:srgbClr val="FF0000"/>
                </a:solidFill>
              </a:rPr>
              <a:t>X</a:t>
            </a:r>
          </a:p>
        </p:txBody>
      </p:sp>
    </p:spTree>
    <p:extLst>
      <p:ext uri="{BB962C8B-B14F-4D97-AF65-F5344CB8AC3E}">
        <p14:creationId xmlns:p14="http://schemas.microsoft.com/office/powerpoint/2010/main" val="428208870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707316" y="182345"/>
            <a:ext cx="66057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Absence of a Pandemic Carveout</a:t>
            </a:r>
          </a:p>
        </p:txBody>
      </p:sp>
      <p:sp>
        <p:nvSpPr>
          <p:cNvPr id="8" name="TextBox 7">
            <a:extLst>
              <a:ext uri="{FF2B5EF4-FFF2-40B4-BE49-F238E27FC236}">
                <a16:creationId xmlns:a16="http://schemas.microsoft.com/office/drawing/2014/main" id="{450BEEE9-9D3A-4B09-8C9A-504C1700B9C7}"/>
              </a:ext>
            </a:extLst>
          </p:cNvPr>
          <p:cNvSpPr txBox="1"/>
          <p:nvPr/>
        </p:nvSpPr>
        <p:spPr>
          <a:xfrm>
            <a:off x="949442" y="817239"/>
            <a:ext cx="7658815" cy="3139321"/>
          </a:xfrm>
          <a:prstGeom prst="rect">
            <a:avLst/>
          </a:prstGeom>
          <a:noFill/>
        </p:spPr>
        <p:txBody>
          <a:bodyPr wrap="square" rtlCol="0">
            <a:spAutoFit/>
          </a:bodyPr>
          <a:lstStyle/>
          <a:p>
            <a:pPr>
              <a:spcAft>
                <a:spcPts val="900"/>
              </a:spcAft>
            </a:pPr>
            <a:r>
              <a:rPr lang="en-US" sz="1400" b="1" dirty="0">
                <a:solidFill>
                  <a:schemeClr val="tx2"/>
                </a:solidFill>
              </a:rPr>
              <a:t>LVMH: </a:t>
            </a:r>
            <a:r>
              <a:rPr lang="en-US" sz="1400" dirty="0">
                <a:solidFill>
                  <a:schemeClr val="tx2"/>
                </a:solidFill>
              </a:rPr>
              <a:t>“Notably absent from this list of highly negotiated carve-outs, several of which Tiffany’s counsel expressly requested during negotiation of the Agreement, is an exclusion for public health events, much less pandemics. . . . </a:t>
            </a:r>
          </a:p>
          <a:p>
            <a:pPr>
              <a:spcAft>
                <a:spcPts val="900"/>
              </a:spcAft>
            </a:pPr>
            <a:r>
              <a:rPr lang="en-US" sz="1400" dirty="0">
                <a:solidFill>
                  <a:schemeClr val="tx2"/>
                </a:solidFill>
              </a:rPr>
              <a:t>Among these [prior deals that included a pandemic carveout] was a contract executed on </a:t>
            </a:r>
            <a:r>
              <a:rPr lang="en-US" sz="1400" i="1" dirty="0">
                <a:solidFill>
                  <a:schemeClr val="tx2"/>
                </a:solidFill>
              </a:rPr>
              <a:t>the day before </a:t>
            </a:r>
            <a:r>
              <a:rPr lang="en-US" sz="1400" dirty="0">
                <a:solidFill>
                  <a:schemeClr val="tx2"/>
                </a:solidFill>
              </a:rPr>
              <a:t>the Agreement, for a prospective $6.8 billion transaction in which the buyer was represented by Tiffany’s M&amp;A counsel—indeed, by the </a:t>
            </a:r>
            <a:r>
              <a:rPr lang="en-US" sz="1400" i="1" dirty="0">
                <a:solidFill>
                  <a:schemeClr val="tx2"/>
                </a:solidFill>
              </a:rPr>
              <a:t>very same two attorneys from Sullivan &amp; Cromwell </a:t>
            </a:r>
            <a:r>
              <a:rPr lang="en-US" sz="1400" dirty="0">
                <a:solidFill>
                  <a:schemeClr val="tx2"/>
                </a:solidFill>
              </a:rPr>
              <a:t>who negotiated the Agreement on behalf of Tiffany. </a:t>
            </a:r>
          </a:p>
          <a:p>
            <a:pPr>
              <a:spcAft>
                <a:spcPts val="900"/>
              </a:spcAft>
            </a:pPr>
            <a:r>
              <a:rPr lang="en-US" sz="1400" dirty="0">
                <a:solidFill>
                  <a:schemeClr val="tx2"/>
                </a:solidFill>
              </a:rPr>
              <a:t>Accordingly, when Tiffany’s counsel wants to carve out pandemics in a Material Adverse Effect clause, they know how to do so expressly and clearly, which has not been the case here.”</a:t>
            </a:r>
          </a:p>
          <a:p>
            <a:pPr>
              <a:spcAft>
                <a:spcPts val="900"/>
              </a:spcAft>
            </a:pPr>
            <a:endParaRPr lang="en-US" sz="1400" dirty="0">
              <a:solidFill>
                <a:schemeClr val="tx2"/>
              </a:solidFill>
            </a:endParaRPr>
          </a:p>
          <a:p>
            <a:pPr>
              <a:spcAft>
                <a:spcPts val="900"/>
              </a:spcAft>
            </a:pPr>
            <a:r>
              <a:rPr lang="en-US" sz="1400" b="1" dirty="0">
                <a:solidFill>
                  <a:schemeClr val="tx2"/>
                </a:solidFill>
              </a:rPr>
              <a:t>Tiffany: </a:t>
            </a:r>
            <a:r>
              <a:rPr lang="en-US" sz="1400" dirty="0">
                <a:solidFill>
                  <a:schemeClr val="tx2"/>
                </a:solidFill>
              </a:rPr>
              <a:t>“Before February 2020, only a small fraction of merger agreements include an explicit pandemic carve-out. . . .”</a:t>
            </a:r>
          </a:p>
        </p:txBody>
      </p:sp>
      <p:sp>
        <p:nvSpPr>
          <p:cNvPr id="9" name="TextBox 8">
            <a:extLst>
              <a:ext uri="{FF2B5EF4-FFF2-40B4-BE49-F238E27FC236}">
                <a16:creationId xmlns:a16="http://schemas.microsoft.com/office/drawing/2014/main" id="{41217745-6941-407F-BDFD-63D8E467C1CE}"/>
              </a:ext>
            </a:extLst>
          </p:cNvPr>
          <p:cNvSpPr txBox="1"/>
          <p:nvPr/>
        </p:nvSpPr>
        <p:spPr>
          <a:xfrm>
            <a:off x="949442" y="4326261"/>
            <a:ext cx="7369332" cy="400110"/>
          </a:xfrm>
          <a:prstGeom prst="rect">
            <a:avLst/>
          </a:prstGeom>
          <a:noFill/>
        </p:spPr>
        <p:txBody>
          <a:bodyPr wrap="square" rtlCol="0">
            <a:spAutoFit/>
          </a:bodyPr>
          <a:lstStyle/>
          <a:p>
            <a:r>
              <a:rPr lang="en-US" sz="1000" u="sng" dirty="0">
                <a:solidFill>
                  <a:schemeClr val="tx2"/>
                </a:solidFill>
              </a:rPr>
              <a:t>From</a:t>
            </a:r>
            <a:r>
              <a:rPr lang="en-US" sz="1000" dirty="0">
                <a:solidFill>
                  <a:schemeClr val="tx2"/>
                </a:solidFill>
              </a:rPr>
              <a:t>: LVMH’S Verified Counterclaim and Answer to Verified Complaint (Sept. 28, 2020) at ¶¶ 47-50; Tiffany &amp; Co.’s Answer to Verified Counterclaim at 7 (Oct. 13, 2020).</a:t>
            </a:r>
          </a:p>
        </p:txBody>
      </p:sp>
    </p:spTree>
    <p:extLst>
      <p:ext uri="{BB962C8B-B14F-4D97-AF65-F5344CB8AC3E}">
        <p14:creationId xmlns:p14="http://schemas.microsoft.com/office/powerpoint/2010/main" val="35608575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1013552" y="171194"/>
            <a:ext cx="64449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LVMH-Tiffany: The </a:t>
            </a:r>
            <a:r>
              <a:rPr lang="en-US" altLang="en-US" sz="2800" dirty="0" err="1">
                <a:cs typeface="Times New Roman" pitchFamily="18" charset="0"/>
              </a:rPr>
              <a:t>ChEcon</a:t>
            </a:r>
            <a:r>
              <a:rPr lang="en-US" altLang="en-US" sz="2800" dirty="0">
                <a:cs typeface="Times New Roman" pitchFamily="18" charset="0"/>
              </a:rPr>
              <a:t> Carveout</a:t>
            </a:r>
          </a:p>
        </p:txBody>
      </p:sp>
      <p:sp>
        <p:nvSpPr>
          <p:cNvPr id="2" name="TextBox 1"/>
          <p:cNvSpPr txBox="1"/>
          <p:nvPr/>
        </p:nvSpPr>
        <p:spPr>
          <a:xfrm>
            <a:off x="1099675" y="1025173"/>
            <a:ext cx="7576492" cy="3093154"/>
          </a:xfrm>
          <a:prstGeom prst="rect">
            <a:avLst/>
          </a:prstGeom>
          <a:noFill/>
        </p:spPr>
        <p:txBody>
          <a:bodyPr wrap="square" rtlCol="0">
            <a:spAutoFit/>
          </a:bodyPr>
          <a:lstStyle/>
          <a:p>
            <a:pPr>
              <a:spcAft>
                <a:spcPts val="900"/>
              </a:spcAft>
            </a:pPr>
            <a:r>
              <a:rPr lang="en-US" sz="2000" dirty="0">
                <a:solidFill>
                  <a:schemeClr val="tx2"/>
                </a:solidFill>
              </a:rPr>
              <a:t>"Material Adverse Effect" [does not include any] . . .  Effect </a:t>
            </a:r>
            <a:r>
              <a:rPr lang="en-US" sz="2000" dirty="0">
                <a:solidFill>
                  <a:srgbClr val="FF0000"/>
                </a:solidFill>
              </a:rPr>
              <a:t>arising out of or resulting from </a:t>
            </a:r>
            <a:r>
              <a:rPr lang="en-US" sz="2000" dirty="0">
                <a:solidFill>
                  <a:schemeClr val="tx2"/>
                </a:solidFill>
              </a:rPr>
              <a:t>. . . </a:t>
            </a:r>
          </a:p>
          <a:p>
            <a:pPr>
              <a:spcAft>
                <a:spcPts val="900"/>
              </a:spcAft>
            </a:pPr>
            <a:r>
              <a:rPr lang="en-US" sz="2000" dirty="0">
                <a:solidFill>
                  <a:schemeClr val="tx2"/>
                </a:solidFill>
              </a:rPr>
              <a:t>(i) </a:t>
            </a:r>
            <a:r>
              <a:rPr lang="en-US" sz="2000" dirty="0">
                <a:solidFill>
                  <a:srgbClr val="FF0000"/>
                </a:solidFill>
              </a:rPr>
              <a:t>changes or conditions generally affecting the industries in which the Company </a:t>
            </a:r>
            <a:r>
              <a:rPr lang="en-US" sz="2000" dirty="0">
                <a:solidFill>
                  <a:schemeClr val="tx2"/>
                </a:solidFill>
              </a:rPr>
              <a:t>and any of its Subsidiaries operate, </a:t>
            </a:r>
          </a:p>
          <a:p>
            <a:pPr>
              <a:spcAft>
                <a:spcPts val="900"/>
              </a:spcAft>
            </a:pPr>
            <a:r>
              <a:rPr lang="en-US" sz="2000" dirty="0">
                <a:solidFill>
                  <a:schemeClr val="tx2"/>
                </a:solidFill>
              </a:rPr>
              <a:t>(ii) </a:t>
            </a:r>
            <a:r>
              <a:rPr lang="en-US" sz="2000" dirty="0">
                <a:solidFill>
                  <a:srgbClr val="FF0000"/>
                </a:solidFill>
              </a:rPr>
              <a:t>general economic or political conditions </a:t>
            </a:r>
            <a:r>
              <a:rPr lang="en-US" sz="2000" dirty="0">
                <a:solidFill>
                  <a:schemeClr val="tx2"/>
                </a:solidFill>
              </a:rPr>
              <a:t>(including U.S.-China relations), commodity pricing or securities, credit, financial or other capital markets conditions, in each case in the United States or any foreign jurisdiction in which the Company or any of its Subsidiaries operate, </a:t>
            </a:r>
          </a:p>
        </p:txBody>
      </p:sp>
    </p:spTree>
    <p:extLst>
      <p:ext uri="{BB962C8B-B14F-4D97-AF65-F5344CB8AC3E}">
        <p14:creationId xmlns:p14="http://schemas.microsoft.com/office/powerpoint/2010/main" val="38910311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707316" y="182345"/>
            <a:ext cx="65774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Meaning of the </a:t>
            </a:r>
            <a:r>
              <a:rPr lang="en-US" altLang="en-US" sz="2800" dirty="0" err="1">
                <a:cs typeface="Times New Roman" pitchFamily="18" charset="0"/>
              </a:rPr>
              <a:t>ChEcon</a:t>
            </a:r>
            <a:r>
              <a:rPr lang="en-US" altLang="en-US" sz="2800" dirty="0">
                <a:cs typeface="Times New Roman" pitchFamily="18" charset="0"/>
              </a:rPr>
              <a:t> Carveout</a:t>
            </a:r>
          </a:p>
        </p:txBody>
      </p:sp>
      <p:sp>
        <p:nvSpPr>
          <p:cNvPr id="8" name="TextBox 7">
            <a:extLst>
              <a:ext uri="{FF2B5EF4-FFF2-40B4-BE49-F238E27FC236}">
                <a16:creationId xmlns:a16="http://schemas.microsoft.com/office/drawing/2014/main" id="{450BEEE9-9D3A-4B09-8C9A-504C1700B9C7}"/>
              </a:ext>
            </a:extLst>
          </p:cNvPr>
          <p:cNvSpPr txBox="1"/>
          <p:nvPr/>
        </p:nvSpPr>
        <p:spPr>
          <a:xfrm>
            <a:off x="1032880" y="990904"/>
            <a:ext cx="7295958" cy="2931572"/>
          </a:xfrm>
          <a:prstGeom prst="rect">
            <a:avLst/>
          </a:prstGeom>
          <a:noFill/>
        </p:spPr>
        <p:txBody>
          <a:bodyPr wrap="square" rtlCol="0">
            <a:spAutoFit/>
          </a:bodyPr>
          <a:lstStyle/>
          <a:p>
            <a:pPr>
              <a:spcAft>
                <a:spcPts val="900"/>
              </a:spcAft>
            </a:pPr>
            <a:r>
              <a:rPr lang="en-US" b="1" dirty="0">
                <a:solidFill>
                  <a:schemeClr val="tx2"/>
                </a:solidFill>
              </a:rPr>
              <a:t>LVMH: </a:t>
            </a:r>
            <a:r>
              <a:rPr lang="en-US" dirty="0">
                <a:solidFill>
                  <a:schemeClr val="tx2"/>
                </a:solidFill>
              </a:rPr>
              <a:t>“[T]he Material Adverse Effect definition in the Agreement excludes only effects “arising out of or resulting from” any of the carved out events. </a:t>
            </a:r>
          </a:p>
          <a:p>
            <a:pPr>
              <a:spcAft>
                <a:spcPts val="900"/>
              </a:spcAft>
            </a:pPr>
            <a:r>
              <a:rPr lang="en-US" dirty="0">
                <a:solidFill>
                  <a:schemeClr val="tx2"/>
                </a:solidFill>
              </a:rPr>
              <a:t>This means that the exclusions must be “causal” – the exclusions must have caused the Material Adverse Effect. </a:t>
            </a:r>
          </a:p>
          <a:p>
            <a:pPr>
              <a:spcAft>
                <a:spcPts val="900"/>
              </a:spcAft>
            </a:pPr>
            <a:r>
              <a:rPr lang="en-US" dirty="0">
                <a:solidFill>
                  <a:schemeClr val="tx2"/>
                </a:solidFill>
              </a:rPr>
              <a:t>Here the Material Adverse Effect resulted from the Pandemic . . . and not general economic or political conditions. </a:t>
            </a:r>
          </a:p>
          <a:p>
            <a:pPr>
              <a:spcAft>
                <a:spcPts val="900"/>
              </a:spcAft>
            </a:pPr>
            <a:r>
              <a:rPr lang="en-US" dirty="0">
                <a:solidFill>
                  <a:schemeClr val="tx2"/>
                </a:solidFill>
              </a:rPr>
              <a:t>For that reason, the generic carve-outs offer Tiffany no protection from harm caused by the Pandemic. . . . </a:t>
            </a:r>
          </a:p>
        </p:txBody>
      </p:sp>
      <p:sp>
        <p:nvSpPr>
          <p:cNvPr id="9" name="TextBox 8">
            <a:extLst>
              <a:ext uri="{FF2B5EF4-FFF2-40B4-BE49-F238E27FC236}">
                <a16:creationId xmlns:a16="http://schemas.microsoft.com/office/drawing/2014/main" id="{41217745-6941-407F-BDFD-63D8E467C1CE}"/>
              </a:ext>
            </a:extLst>
          </p:cNvPr>
          <p:cNvSpPr txBox="1"/>
          <p:nvPr/>
        </p:nvSpPr>
        <p:spPr>
          <a:xfrm>
            <a:off x="947820" y="4439178"/>
            <a:ext cx="5832046" cy="246221"/>
          </a:xfrm>
          <a:prstGeom prst="rect">
            <a:avLst/>
          </a:prstGeom>
          <a:noFill/>
        </p:spPr>
        <p:txBody>
          <a:bodyPr wrap="none" rtlCol="0">
            <a:spAutoFit/>
          </a:bodyPr>
          <a:lstStyle/>
          <a:p>
            <a:r>
              <a:rPr lang="en-US" sz="1000" u="sng" dirty="0">
                <a:solidFill>
                  <a:schemeClr val="tx2"/>
                </a:solidFill>
              </a:rPr>
              <a:t>From</a:t>
            </a:r>
            <a:r>
              <a:rPr lang="en-US" sz="1000" dirty="0">
                <a:solidFill>
                  <a:schemeClr val="tx2"/>
                </a:solidFill>
              </a:rPr>
              <a:t>: LVMH’S Verified Counterclaim and Answer to Verified Complaint (Sept. 28, 2020) at ¶¶ 47-50</a:t>
            </a:r>
          </a:p>
        </p:txBody>
      </p:sp>
    </p:spTree>
    <p:extLst>
      <p:ext uri="{BB962C8B-B14F-4D97-AF65-F5344CB8AC3E}">
        <p14:creationId xmlns:p14="http://schemas.microsoft.com/office/powerpoint/2010/main" val="22406416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753368-6252-46E6-B0E0-74B76221BAF6}"/>
              </a:ext>
            </a:extLst>
          </p:cNvPr>
          <p:cNvSpPr txBox="1"/>
          <p:nvPr/>
        </p:nvSpPr>
        <p:spPr>
          <a:xfrm>
            <a:off x="914400" y="1066799"/>
            <a:ext cx="7634177" cy="2816156"/>
          </a:xfrm>
          <a:prstGeom prst="rect">
            <a:avLst/>
          </a:prstGeom>
          <a:noFill/>
        </p:spPr>
        <p:txBody>
          <a:bodyPr wrap="square" rtlCol="0">
            <a:spAutoFit/>
          </a:bodyPr>
          <a:lstStyle/>
          <a:p>
            <a:pPr>
              <a:spcAft>
                <a:spcPts val="900"/>
              </a:spcAft>
            </a:pPr>
            <a:r>
              <a:rPr lang="en-US" b="1" dirty="0">
                <a:solidFill>
                  <a:schemeClr val="tx2"/>
                </a:solidFill>
              </a:rPr>
              <a:t>Tiffany: </a:t>
            </a:r>
            <a:r>
              <a:rPr lang="en-US" dirty="0">
                <a:solidFill>
                  <a:schemeClr val="tx2"/>
                </a:solidFill>
              </a:rPr>
              <a:t>“Every general economic or industry condition has an underlying cause, whether it be a credit crisis, an oil shortage, a stock-market crash, a terrorist attack or a pandemic.  </a:t>
            </a:r>
          </a:p>
          <a:p>
            <a:pPr>
              <a:spcAft>
                <a:spcPts val="900"/>
              </a:spcAft>
            </a:pPr>
            <a:r>
              <a:rPr lang="en-US" dirty="0">
                <a:solidFill>
                  <a:schemeClr val="tx2"/>
                </a:solidFill>
              </a:rPr>
              <a:t>The drafters of a merger agreement need not anticipate every conceivable cause of an industry-wide decline and specifically identify each of those causes in the MAE definition for the broad exclusions for general economic or industry conditions to have effect.  </a:t>
            </a:r>
          </a:p>
          <a:p>
            <a:pPr>
              <a:spcAft>
                <a:spcPts val="900"/>
              </a:spcAft>
            </a:pPr>
            <a:r>
              <a:rPr lang="en-US" dirty="0">
                <a:solidFill>
                  <a:schemeClr val="tx2"/>
                </a:solidFill>
              </a:rPr>
              <a:t>If they did, the definition of an MAE would go on for pages, and the broad exclusions would be rendered meaningless.”</a:t>
            </a:r>
          </a:p>
        </p:txBody>
      </p:sp>
      <p:sp>
        <p:nvSpPr>
          <p:cNvPr id="4" name="Text Box 3">
            <a:extLst>
              <a:ext uri="{FF2B5EF4-FFF2-40B4-BE49-F238E27FC236}">
                <a16:creationId xmlns:a16="http://schemas.microsoft.com/office/drawing/2014/main" id="{28CD4DF1-1E27-41DF-92A9-3FAAF1906597}"/>
              </a:ext>
            </a:extLst>
          </p:cNvPr>
          <p:cNvSpPr txBox="1">
            <a:spLocks noChangeArrowheads="1"/>
          </p:cNvSpPr>
          <p:nvPr/>
        </p:nvSpPr>
        <p:spPr bwMode="auto">
          <a:xfrm>
            <a:off x="735670" y="280263"/>
            <a:ext cx="7677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The Meaning of the </a:t>
            </a:r>
            <a:r>
              <a:rPr lang="en-US" altLang="en-US" sz="2800" dirty="0" err="1">
                <a:cs typeface="Times New Roman" pitchFamily="18" charset="0"/>
              </a:rPr>
              <a:t>ChEcon</a:t>
            </a:r>
            <a:r>
              <a:rPr lang="en-US" altLang="en-US" sz="2800" dirty="0">
                <a:cs typeface="Times New Roman" pitchFamily="18" charset="0"/>
              </a:rPr>
              <a:t> Carveout (</a:t>
            </a:r>
            <a:r>
              <a:rPr lang="en-US" altLang="en-US" sz="2800" dirty="0" err="1">
                <a:cs typeface="Times New Roman" pitchFamily="18" charset="0"/>
              </a:rPr>
              <a:t>cont</a:t>
            </a:r>
            <a:r>
              <a:rPr lang="en-US" altLang="en-US" sz="2800" dirty="0">
                <a:cs typeface="Times New Roman" pitchFamily="18" charset="0"/>
              </a:rPr>
              <a:t>)</a:t>
            </a:r>
          </a:p>
        </p:txBody>
      </p:sp>
      <p:sp>
        <p:nvSpPr>
          <p:cNvPr id="6" name="TextBox 5">
            <a:extLst>
              <a:ext uri="{FF2B5EF4-FFF2-40B4-BE49-F238E27FC236}">
                <a16:creationId xmlns:a16="http://schemas.microsoft.com/office/drawing/2014/main" id="{C9AE2332-5D48-4CB6-A253-55B08823F2BC}"/>
              </a:ext>
            </a:extLst>
          </p:cNvPr>
          <p:cNvSpPr txBox="1"/>
          <p:nvPr/>
        </p:nvSpPr>
        <p:spPr>
          <a:xfrm>
            <a:off x="949442" y="4326261"/>
            <a:ext cx="7369332" cy="246221"/>
          </a:xfrm>
          <a:prstGeom prst="rect">
            <a:avLst/>
          </a:prstGeom>
          <a:noFill/>
        </p:spPr>
        <p:txBody>
          <a:bodyPr wrap="square" rtlCol="0">
            <a:spAutoFit/>
          </a:bodyPr>
          <a:lstStyle/>
          <a:p>
            <a:r>
              <a:rPr lang="en-US" sz="1000" u="sng" dirty="0">
                <a:solidFill>
                  <a:schemeClr val="tx2"/>
                </a:solidFill>
              </a:rPr>
              <a:t>From</a:t>
            </a:r>
            <a:r>
              <a:rPr lang="en-US" sz="1000" dirty="0">
                <a:solidFill>
                  <a:schemeClr val="tx2"/>
                </a:solidFill>
              </a:rPr>
              <a:t>: Tiffany &amp; Co.’s Answer to Verified Counterclaim at 7 (Oct. 13, 2020).</a:t>
            </a:r>
          </a:p>
        </p:txBody>
      </p:sp>
    </p:spTree>
    <p:extLst>
      <p:ext uri="{BB962C8B-B14F-4D97-AF65-F5344CB8AC3E}">
        <p14:creationId xmlns:p14="http://schemas.microsoft.com/office/powerpoint/2010/main" val="29647344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792572" y="217655"/>
            <a:ext cx="44834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A Legal Drafting Solution</a:t>
            </a:r>
          </a:p>
        </p:txBody>
      </p:sp>
      <p:sp>
        <p:nvSpPr>
          <p:cNvPr id="2" name="TextBox 1"/>
          <p:cNvSpPr txBox="1"/>
          <p:nvPr/>
        </p:nvSpPr>
        <p:spPr>
          <a:xfrm>
            <a:off x="1028998" y="844102"/>
            <a:ext cx="7589222" cy="3770263"/>
          </a:xfrm>
          <a:prstGeom prst="rect">
            <a:avLst/>
          </a:prstGeom>
          <a:noFill/>
        </p:spPr>
        <p:txBody>
          <a:bodyPr wrap="square" rtlCol="0">
            <a:spAutoFit/>
          </a:bodyPr>
          <a:lstStyle/>
          <a:p>
            <a:pPr>
              <a:spcAft>
                <a:spcPts val="900"/>
              </a:spcAft>
            </a:pPr>
            <a:r>
              <a:rPr lang="en-US" sz="1600" b="1" dirty="0">
                <a:solidFill>
                  <a:schemeClr val="tx2"/>
                </a:solidFill>
              </a:rPr>
              <a:t>Delta/Northwest (2008): </a:t>
            </a:r>
            <a:r>
              <a:rPr lang="en-US" sz="1600" dirty="0">
                <a:solidFill>
                  <a:schemeClr val="tx2"/>
                </a:solidFill>
              </a:rPr>
              <a:t>requires each of Northwest and Delta to “conduct its business in the ordinary course for the airline industry, </a:t>
            </a:r>
            <a:r>
              <a:rPr lang="en-US" sz="1600" dirty="0"/>
              <a:t>provided if changing events or circumstances warrant otherwise, each of Northwest and Delta may conduct its business in a commercially reasonable manner in light of such events or circumstances</a:t>
            </a:r>
            <a:r>
              <a:rPr lang="en-US" sz="1600" dirty="0">
                <a:solidFill>
                  <a:schemeClr val="tx2"/>
                </a:solidFill>
              </a:rPr>
              <a:t>.”</a:t>
            </a:r>
          </a:p>
          <a:p>
            <a:pPr>
              <a:spcAft>
                <a:spcPts val="900"/>
              </a:spcAft>
            </a:pPr>
            <a:r>
              <a:rPr lang="en-US" sz="1600" b="1" dirty="0">
                <a:solidFill>
                  <a:schemeClr val="tx2"/>
                </a:solidFill>
              </a:rPr>
              <a:t>Baker Hughes/General Electric (2017): </a:t>
            </a:r>
            <a:r>
              <a:rPr lang="en-US" sz="1600" dirty="0">
                <a:solidFill>
                  <a:schemeClr val="tx2"/>
                </a:solidFill>
              </a:rPr>
              <a:t>“. .  . </a:t>
            </a:r>
            <a:r>
              <a:rPr lang="en-US" sz="1600" dirty="0"/>
              <a:t>provided that strategic decisions to restructure businesses, mothball assets or reduce or increase headcount as a result of changes to market or competitive conditions</a:t>
            </a:r>
            <a:r>
              <a:rPr lang="en-US" sz="1600" dirty="0">
                <a:solidFill>
                  <a:schemeClr val="tx2"/>
                </a:solidFill>
              </a:rPr>
              <a:t> if commercially reasonable will be deemed to be in the ordinary course and consistent with past practices . . . to the extent such actions are (i) consistent with actions taken in the thirty-six (36) month period prior to the date of this Agreement and (ii) consistent with actions being taken by competitors . . . .”</a:t>
            </a:r>
          </a:p>
          <a:p>
            <a:pPr>
              <a:spcAft>
                <a:spcPts val="900"/>
              </a:spcAft>
            </a:pPr>
            <a:r>
              <a:rPr lang="en-US" sz="1600" dirty="0">
                <a:solidFill>
                  <a:schemeClr val="tx2"/>
                </a:solidFill>
              </a:rPr>
              <a:t>Or perhaps “commercially reasonable best efforts” implies the ability to take actions outside the ordinary course in extraordinary times.</a:t>
            </a:r>
          </a:p>
        </p:txBody>
      </p:sp>
    </p:spTree>
    <p:extLst>
      <p:ext uri="{BB962C8B-B14F-4D97-AF65-F5344CB8AC3E}">
        <p14:creationId xmlns:p14="http://schemas.microsoft.com/office/powerpoint/2010/main" val="275343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1013552" y="293855"/>
            <a:ext cx="50220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A Potential Judicial Solution</a:t>
            </a:r>
          </a:p>
        </p:txBody>
      </p:sp>
      <p:sp>
        <p:nvSpPr>
          <p:cNvPr id="2" name="TextBox 1"/>
          <p:cNvSpPr txBox="1"/>
          <p:nvPr/>
        </p:nvSpPr>
        <p:spPr>
          <a:xfrm>
            <a:off x="1454863" y="1050042"/>
            <a:ext cx="6501160" cy="2977738"/>
          </a:xfrm>
          <a:prstGeom prst="rect">
            <a:avLst/>
          </a:prstGeom>
          <a:noFill/>
        </p:spPr>
        <p:txBody>
          <a:bodyPr wrap="square" rtlCol="0">
            <a:spAutoFit/>
          </a:bodyPr>
          <a:lstStyle/>
          <a:p>
            <a:pPr>
              <a:spcAft>
                <a:spcPts val="900"/>
              </a:spcAft>
            </a:pPr>
            <a:r>
              <a:rPr lang="en-US" sz="2000" dirty="0">
                <a:solidFill>
                  <a:schemeClr val="tx2"/>
                </a:solidFill>
              </a:rPr>
              <a:t>Courts could read the ordinary course covenant to allow extraordinary actions in extraordinary times (particularly if the OC covenant does not require “</a:t>
            </a:r>
            <a:r>
              <a:rPr lang="en-US" sz="2000" dirty="0" err="1">
                <a:solidFill>
                  <a:schemeClr val="tx2"/>
                </a:solidFill>
              </a:rPr>
              <a:t>consisten</a:t>
            </a:r>
            <a:r>
              <a:rPr lang="en-US" sz="2000" dirty="0">
                <a:solidFill>
                  <a:schemeClr val="tx2"/>
                </a:solidFill>
              </a:rPr>
              <a:t>[cy] with past practice” and/or only requires “commercially reasonable best efforts”)</a:t>
            </a:r>
          </a:p>
          <a:p>
            <a:pPr>
              <a:spcAft>
                <a:spcPts val="900"/>
              </a:spcAft>
            </a:pPr>
            <a:r>
              <a:rPr lang="en-US" sz="2000" dirty="0">
                <a:solidFill>
                  <a:schemeClr val="tx2"/>
                </a:solidFill>
              </a:rPr>
              <a:t>But such a reading seems contrary to the plain language of the ordinary course requirement; seems to give the target company a “get out of jail free” card in extraordinary times.</a:t>
            </a:r>
          </a:p>
        </p:txBody>
      </p:sp>
      <p:sp>
        <p:nvSpPr>
          <p:cNvPr id="5" name="TextBox 4">
            <a:extLst>
              <a:ext uri="{FF2B5EF4-FFF2-40B4-BE49-F238E27FC236}">
                <a16:creationId xmlns:a16="http://schemas.microsoft.com/office/drawing/2014/main" id="{8F62ABED-1FC7-43C0-9416-4D92BFA01ADE}"/>
              </a:ext>
            </a:extLst>
          </p:cNvPr>
          <p:cNvSpPr txBox="1"/>
          <p:nvPr/>
        </p:nvSpPr>
        <p:spPr>
          <a:xfrm>
            <a:off x="954663" y="4499944"/>
            <a:ext cx="7234673" cy="246221"/>
          </a:xfrm>
          <a:prstGeom prst="rect">
            <a:avLst/>
          </a:prstGeom>
          <a:noFill/>
        </p:spPr>
        <p:txBody>
          <a:bodyPr wrap="none" rtlCol="0">
            <a:spAutoFit/>
          </a:bodyPr>
          <a:lstStyle/>
          <a:p>
            <a:r>
              <a:rPr lang="en-US" sz="1000" u="sng" dirty="0">
                <a:solidFill>
                  <a:schemeClr val="tx2"/>
                </a:solidFill>
              </a:rPr>
              <a:t>From</a:t>
            </a:r>
            <a:r>
              <a:rPr lang="en-US" sz="1000" dirty="0">
                <a:solidFill>
                  <a:schemeClr val="tx2"/>
                </a:solidFill>
              </a:rPr>
              <a:t>: Guhan Subramanian &amp; Caley Petrucci, Deals in the Time of Pandemic, </a:t>
            </a:r>
            <a:r>
              <a:rPr lang="en-US" sz="1000" i="1" dirty="0">
                <a:solidFill>
                  <a:schemeClr val="tx2"/>
                </a:solidFill>
              </a:rPr>
              <a:t>Columbia Law Review </a:t>
            </a:r>
            <a:r>
              <a:rPr lang="en-US" sz="1000" dirty="0">
                <a:solidFill>
                  <a:schemeClr val="tx2"/>
                </a:solidFill>
              </a:rPr>
              <a:t>(forthcoming June 2021)</a:t>
            </a:r>
          </a:p>
        </p:txBody>
      </p:sp>
    </p:spTree>
    <p:extLst>
      <p:ext uri="{BB962C8B-B14F-4D97-AF65-F5344CB8AC3E}">
        <p14:creationId xmlns:p14="http://schemas.microsoft.com/office/powerpoint/2010/main" val="19487309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954663" y="257617"/>
            <a:ext cx="36658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A Business Solution</a:t>
            </a:r>
          </a:p>
        </p:txBody>
      </p:sp>
      <p:sp>
        <p:nvSpPr>
          <p:cNvPr id="2" name="TextBox 1"/>
          <p:cNvSpPr txBox="1"/>
          <p:nvPr/>
        </p:nvSpPr>
        <p:spPr>
          <a:xfrm>
            <a:off x="1013552" y="909756"/>
            <a:ext cx="7637286" cy="3323987"/>
          </a:xfrm>
          <a:prstGeom prst="rect">
            <a:avLst/>
          </a:prstGeom>
          <a:noFill/>
        </p:spPr>
        <p:txBody>
          <a:bodyPr wrap="square" rtlCol="0">
            <a:spAutoFit/>
          </a:bodyPr>
          <a:lstStyle/>
          <a:p>
            <a:pPr>
              <a:spcAft>
                <a:spcPts val="900"/>
              </a:spcAft>
            </a:pPr>
            <a:r>
              <a:rPr lang="en-US" b="1" dirty="0"/>
              <a:t>Courts should read the ordinary course covenant according to its plain words, which would then force a socially desirable negotiation between buyer and seller over an appropriate mitigation strategy:</a:t>
            </a:r>
          </a:p>
          <a:p>
            <a:pPr>
              <a:spcAft>
                <a:spcPts val="900"/>
              </a:spcAft>
            </a:pPr>
            <a:r>
              <a:rPr lang="en-US" dirty="0">
                <a:solidFill>
                  <a:schemeClr val="tx2"/>
                </a:solidFill>
              </a:rPr>
              <a:t>Avoids moral hazard problem of seller playing with “house money.”</a:t>
            </a:r>
          </a:p>
          <a:p>
            <a:pPr>
              <a:spcAft>
                <a:spcPts val="900"/>
              </a:spcAft>
            </a:pPr>
            <a:r>
              <a:rPr lang="en-US" dirty="0">
                <a:solidFill>
                  <a:schemeClr val="tx2"/>
                </a:solidFill>
              </a:rPr>
              <a:t>Explicitly invited by MAE clauses and Ordinary Course covenants that provide exceptions for buyer consent.</a:t>
            </a:r>
          </a:p>
          <a:p>
            <a:pPr>
              <a:spcAft>
                <a:spcPts val="900"/>
              </a:spcAft>
            </a:pPr>
            <a:r>
              <a:rPr lang="en-US" dirty="0">
                <a:solidFill>
                  <a:schemeClr val="tx2"/>
                </a:solidFill>
              </a:rPr>
              <a:t>Buyer cannot act opportunistically if such consent “cannot be unreasonably withheld.” (which is true in 79% of deals)</a:t>
            </a:r>
          </a:p>
          <a:p>
            <a:pPr>
              <a:spcAft>
                <a:spcPts val="900"/>
              </a:spcAft>
            </a:pPr>
            <a:r>
              <a:rPr lang="en-US" dirty="0">
                <a:solidFill>
                  <a:schemeClr val="tx2"/>
                </a:solidFill>
              </a:rPr>
              <a:t>If buyer rejects seller’s proposed mitigation plan, seller can simply categorically agree to buyer’s counter-proposal for mitigation.</a:t>
            </a:r>
          </a:p>
        </p:txBody>
      </p:sp>
      <p:sp>
        <p:nvSpPr>
          <p:cNvPr id="5" name="TextBox 4">
            <a:extLst>
              <a:ext uri="{FF2B5EF4-FFF2-40B4-BE49-F238E27FC236}">
                <a16:creationId xmlns:a16="http://schemas.microsoft.com/office/drawing/2014/main" id="{F4045F1F-497D-4516-9CD0-801A37773197}"/>
              </a:ext>
            </a:extLst>
          </p:cNvPr>
          <p:cNvSpPr txBox="1"/>
          <p:nvPr/>
        </p:nvSpPr>
        <p:spPr>
          <a:xfrm>
            <a:off x="954663" y="4491582"/>
            <a:ext cx="7234673" cy="246221"/>
          </a:xfrm>
          <a:prstGeom prst="rect">
            <a:avLst/>
          </a:prstGeom>
          <a:noFill/>
        </p:spPr>
        <p:txBody>
          <a:bodyPr wrap="none" rtlCol="0">
            <a:spAutoFit/>
          </a:bodyPr>
          <a:lstStyle/>
          <a:p>
            <a:r>
              <a:rPr lang="en-US" sz="1000" u="sng" dirty="0">
                <a:solidFill>
                  <a:schemeClr val="tx2"/>
                </a:solidFill>
              </a:rPr>
              <a:t>From</a:t>
            </a:r>
            <a:r>
              <a:rPr lang="en-US" sz="1000" dirty="0">
                <a:solidFill>
                  <a:schemeClr val="tx2"/>
                </a:solidFill>
              </a:rPr>
              <a:t>: Guhan Subramanian &amp; Caley Petrucci, Deals in the Time of Pandemic, </a:t>
            </a:r>
            <a:r>
              <a:rPr lang="en-US" sz="1000" i="1" dirty="0">
                <a:solidFill>
                  <a:schemeClr val="tx2"/>
                </a:solidFill>
              </a:rPr>
              <a:t>Columbia Law Review </a:t>
            </a:r>
            <a:r>
              <a:rPr lang="en-US" sz="1000" dirty="0">
                <a:solidFill>
                  <a:schemeClr val="tx2"/>
                </a:solidFill>
              </a:rPr>
              <a:t>(forthcoming June 2021)</a:t>
            </a:r>
          </a:p>
        </p:txBody>
      </p:sp>
    </p:spTree>
    <p:extLst>
      <p:ext uri="{BB962C8B-B14F-4D97-AF65-F5344CB8AC3E}">
        <p14:creationId xmlns:p14="http://schemas.microsoft.com/office/powerpoint/2010/main" val="2731051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753368-6252-46E6-B0E0-74B76221BAF6}"/>
              </a:ext>
            </a:extLst>
          </p:cNvPr>
          <p:cNvSpPr txBox="1"/>
          <p:nvPr/>
        </p:nvSpPr>
        <p:spPr>
          <a:xfrm>
            <a:off x="999459" y="1052625"/>
            <a:ext cx="7634177" cy="2931572"/>
          </a:xfrm>
          <a:prstGeom prst="rect">
            <a:avLst/>
          </a:prstGeom>
          <a:noFill/>
        </p:spPr>
        <p:txBody>
          <a:bodyPr wrap="square" rtlCol="0">
            <a:spAutoFit/>
          </a:bodyPr>
          <a:lstStyle/>
          <a:p>
            <a:pPr>
              <a:spcAft>
                <a:spcPts val="900"/>
              </a:spcAft>
            </a:pPr>
            <a:r>
              <a:rPr lang="en-US" dirty="0">
                <a:solidFill>
                  <a:schemeClr val="tx2"/>
                </a:solidFill>
              </a:rPr>
              <a:t>Material Adverse Effect and Force Majeure provisions now heavily negotiated compared to pre-COVID times.</a:t>
            </a:r>
          </a:p>
          <a:p>
            <a:pPr>
              <a:spcAft>
                <a:spcPts val="900"/>
              </a:spcAft>
            </a:pPr>
            <a:r>
              <a:rPr lang="en-US" dirty="0">
                <a:solidFill>
                  <a:schemeClr val="tx2"/>
                </a:solidFill>
              </a:rPr>
              <a:t>Pandemic risk universally allocated to buyer – no serious buyer would resist taking risk stemming from a “continuation or worsening of the COVID-19 pandemic.”</a:t>
            </a:r>
          </a:p>
          <a:p>
            <a:pPr>
              <a:spcAft>
                <a:spcPts val="900"/>
              </a:spcAft>
            </a:pPr>
            <a:r>
              <a:rPr lang="en-US" dirty="0">
                <a:solidFill>
                  <a:schemeClr val="tx2"/>
                </a:solidFill>
              </a:rPr>
              <a:t>“Ordinary course” obligations increasingly providing “exit ramps” or “safety valves” for responses to crisis situations.</a:t>
            </a:r>
          </a:p>
          <a:p>
            <a:pPr>
              <a:spcAft>
                <a:spcPts val="900"/>
              </a:spcAft>
            </a:pPr>
            <a:r>
              <a:rPr lang="en-US" dirty="0">
                <a:solidFill>
                  <a:schemeClr val="tx2"/>
                </a:solidFill>
              </a:rPr>
              <a:t>Parties increasingly stipulating the target industry for “disproportionality” analysis (which allocates risk back to target).</a:t>
            </a:r>
          </a:p>
        </p:txBody>
      </p:sp>
      <p:sp>
        <p:nvSpPr>
          <p:cNvPr id="4" name="Text Box 3">
            <a:extLst>
              <a:ext uri="{FF2B5EF4-FFF2-40B4-BE49-F238E27FC236}">
                <a16:creationId xmlns:a16="http://schemas.microsoft.com/office/drawing/2014/main" id="{28CD4DF1-1E27-41DF-92A9-3FAAF1906597}"/>
              </a:ext>
            </a:extLst>
          </p:cNvPr>
          <p:cNvSpPr txBox="1">
            <a:spLocks noChangeArrowheads="1"/>
          </p:cNvSpPr>
          <p:nvPr/>
        </p:nvSpPr>
        <p:spPr bwMode="auto">
          <a:xfrm>
            <a:off x="735670" y="280263"/>
            <a:ext cx="75231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60000"/>
              </a:lnSpc>
              <a:spcBef>
                <a:spcPct val="40000"/>
              </a:spcBef>
              <a:buClr>
                <a:srgbClr val="980204"/>
              </a:buClr>
              <a:buSzPct val="70000"/>
              <a:buFont typeface="Arial" charset="0"/>
              <a:buAutoNum type="arabicPeriod"/>
              <a:defRPr sz="1700" b="1">
                <a:solidFill>
                  <a:schemeClr val="tx1"/>
                </a:solidFill>
                <a:latin typeface="Arial" charset="0"/>
                <a:ea typeface="ＭＳ Ｐゴシック" pitchFamily="34" charset="-128"/>
              </a:defRPr>
            </a:lvl1pPr>
            <a:lvl2pPr marL="742950" indent="-28575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2pPr>
            <a:lvl3pPr marL="11430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3pPr>
            <a:lvl4pPr marL="16002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4pPr>
            <a:lvl5pPr marL="2057400" indent="-228600" eaLnBrk="0" hangingPunct="0">
              <a:buClr>
                <a:srgbClr val="980204"/>
              </a:buClr>
              <a:buSzPct val="70000"/>
              <a:buFont typeface="Wingdings" pitchFamily="2" charset="2"/>
              <a:buChar char="§"/>
              <a:defRPr sz="1400" b="1">
                <a:solidFill>
                  <a:srgbClr val="6F6C6C"/>
                </a:solidFill>
                <a:latin typeface="Arial" charset="0"/>
                <a:ea typeface="ＭＳ Ｐゴシック" pitchFamily="34" charset="-128"/>
              </a:defRPr>
            </a:lvl5pPr>
            <a:lvl6pPr marL="25146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6pPr>
            <a:lvl7pPr marL="29718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7pPr>
            <a:lvl8pPr marL="34290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8pPr>
            <a:lvl9pPr marL="3886200" indent="-228600" eaLnBrk="0" fontAlgn="base" hangingPunct="0">
              <a:spcBef>
                <a:spcPct val="0"/>
              </a:spcBef>
              <a:spcAft>
                <a:spcPct val="0"/>
              </a:spcAft>
              <a:buClr>
                <a:srgbClr val="980204"/>
              </a:buClr>
              <a:buSzPct val="70000"/>
              <a:buFont typeface="Wingdings" pitchFamily="2" charset="2"/>
              <a:buChar char="§"/>
              <a:defRPr sz="1400" b="1">
                <a:solidFill>
                  <a:srgbClr val="6F6C6C"/>
                </a:solidFill>
                <a:latin typeface="Arial" charset="0"/>
                <a:ea typeface="ＭＳ Ｐゴシック" pitchFamily="34" charset="-128"/>
              </a:defRPr>
            </a:lvl9pPr>
          </a:lstStyle>
          <a:p>
            <a:pPr eaLnBrk="1" hangingPunct="1">
              <a:lnSpc>
                <a:spcPct val="100000"/>
              </a:lnSpc>
              <a:spcBef>
                <a:spcPct val="0"/>
              </a:spcBef>
              <a:buClrTx/>
              <a:buSzTx/>
              <a:buFontTx/>
              <a:buNone/>
            </a:pPr>
            <a:r>
              <a:rPr lang="en-US" altLang="en-US" sz="2800" dirty="0">
                <a:cs typeface="Times New Roman" pitchFamily="18" charset="0"/>
              </a:rPr>
              <a:t>Allocation of Risk in the Post-COVID World</a:t>
            </a:r>
          </a:p>
        </p:txBody>
      </p:sp>
      <p:sp>
        <p:nvSpPr>
          <p:cNvPr id="5" name="TextBox 4">
            <a:extLst>
              <a:ext uri="{FF2B5EF4-FFF2-40B4-BE49-F238E27FC236}">
                <a16:creationId xmlns:a16="http://schemas.microsoft.com/office/drawing/2014/main" id="{F607A5D1-0B20-49B5-9911-0D2DC8453F95}"/>
              </a:ext>
            </a:extLst>
          </p:cNvPr>
          <p:cNvSpPr txBox="1"/>
          <p:nvPr/>
        </p:nvSpPr>
        <p:spPr>
          <a:xfrm>
            <a:off x="954663" y="4400884"/>
            <a:ext cx="7234673" cy="246221"/>
          </a:xfrm>
          <a:prstGeom prst="rect">
            <a:avLst/>
          </a:prstGeom>
          <a:noFill/>
        </p:spPr>
        <p:txBody>
          <a:bodyPr wrap="none" rtlCol="0">
            <a:spAutoFit/>
          </a:bodyPr>
          <a:lstStyle/>
          <a:p>
            <a:r>
              <a:rPr lang="en-US" sz="1000" u="sng" dirty="0">
                <a:solidFill>
                  <a:schemeClr val="tx2"/>
                </a:solidFill>
              </a:rPr>
              <a:t>From</a:t>
            </a:r>
            <a:r>
              <a:rPr lang="en-US" sz="1000" dirty="0">
                <a:solidFill>
                  <a:schemeClr val="tx2"/>
                </a:solidFill>
              </a:rPr>
              <a:t>: Guhan Subramanian &amp; Caley Petrucci, Deals in the Time of Pandemic, </a:t>
            </a:r>
            <a:r>
              <a:rPr lang="en-US" sz="1000" i="1" dirty="0">
                <a:solidFill>
                  <a:schemeClr val="tx2"/>
                </a:solidFill>
              </a:rPr>
              <a:t>Columbia Law Review </a:t>
            </a:r>
            <a:r>
              <a:rPr lang="en-US" sz="1000" dirty="0">
                <a:solidFill>
                  <a:schemeClr val="tx2"/>
                </a:solidFill>
              </a:rPr>
              <a:t>(forthcoming June 2021)</a:t>
            </a:r>
          </a:p>
        </p:txBody>
      </p:sp>
    </p:spTree>
    <p:extLst>
      <p:ext uri="{BB962C8B-B14F-4D97-AF65-F5344CB8AC3E}">
        <p14:creationId xmlns:p14="http://schemas.microsoft.com/office/powerpoint/2010/main" val="13862091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Custom 1">
      <a:dk1>
        <a:srgbClr val="A31034"/>
      </a:dk1>
      <a:lt1>
        <a:srgbClr val="FFFFFF"/>
      </a:lt1>
      <a:dk2>
        <a:srgbClr val="000000"/>
      </a:dk2>
      <a:lt2>
        <a:srgbClr val="C2C4C3"/>
      </a:lt2>
      <a:accent1>
        <a:srgbClr val="3EBBB2"/>
      </a:accent1>
      <a:accent2>
        <a:srgbClr val="CED665"/>
      </a:accent2>
      <a:accent3>
        <a:srgbClr val="93E7F5"/>
      </a:accent3>
      <a:accent4>
        <a:srgbClr val="8996A5"/>
      </a:accent4>
      <a:accent5>
        <a:srgbClr val="DC4230"/>
      </a:accent5>
      <a:accent6>
        <a:srgbClr val="EFA545"/>
      </a:accent6>
      <a:hlink>
        <a:srgbClr val="4BB4B9"/>
      </a:hlink>
      <a:folHlink>
        <a:srgbClr val="000000"/>
      </a:folHlink>
    </a:clrScheme>
    <a:fontScheme name="Harvard Business Schoo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A4FAEA04009024F862D39CD70BDF487" ma:contentTypeVersion="1" ma:contentTypeDescription="Create a new document." ma:contentTypeScope="" ma:versionID="b0c5fee974ee91c24f0a2a39be83b314">
  <xsd:schema xmlns:xsd="http://www.w3.org/2001/XMLSchema" xmlns:xs="http://www.w3.org/2001/XMLSchema" xmlns:p="http://schemas.microsoft.com/office/2006/metadata/properties" xmlns:ns1="http://schemas.microsoft.com/sharepoint/v3" targetNamespace="http://schemas.microsoft.com/office/2006/metadata/properties" ma:root="true" ma:fieldsID="6f9746fe128b0ca74698fd9d7c13d39e"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internalName="PublishingStartDate">
      <xsd:simpleType>
        <xsd:restriction base="dms:Unknown"/>
      </xsd:simpleType>
    </xsd:element>
    <xsd:element name="PublishingExpirationDate" ma:index="9" nillable="true" ma:displayName="Scheduling End Dat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7EAA24-E25D-410C-B69D-B6DB39CA60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B2F16E-5582-485D-BF1A-D01B3BA38BE4}">
  <ds:schemaRefs>
    <ds:schemaRef ds:uri="http://schemas.microsoft.com/sharepoint/v3"/>
    <ds:schemaRef ds:uri="http://schemas.microsoft.com/office/2006/documentManagement/types"/>
    <ds:schemaRef ds:uri="http://purl.org/dc/dcmitype/"/>
    <ds:schemaRef ds:uri="http://schemas.openxmlformats.org/package/2006/metadata/core-properties"/>
    <ds:schemaRef ds:uri="http://purl.org/dc/terms/"/>
    <ds:schemaRef ds:uri="http://purl.org/dc/elements/1.1/"/>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53135F9-A02C-40E0-BBE1-E8FB2D569C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2212</TotalTime>
  <Words>2659</Words>
  <Application>Microsoft Office PowerPoint</Application>
  <PresentationFormat>On-screen Show (16:9)</PresentationFormat>
  <Paragraphs>127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ＭＳ Ｐゴシック</vt:lpstr>
      <vt:lpstr>Arial</vt:lpstr>
      <vt:lpstr>Calibri</vt:lpstr>
      <vt:lpstr>Times New Roman</vt:lpstr>
      <vt:lpstr>Office Theme</vt:lpstr>
      <vt:lpstr>Case Study: LVMH-Tiffany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619 876 7765</Manager>
  <Company>The Presentation Studio</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HBS Template Option 2</dc:subject>
  <dc:creator>Denise Shea</dc:creator>
  <cp:keywords/>
  <dc:description/>
  <cp:lastModifiedBy>Guhan Subramanian</cp:lastModifiedBy>
  <cp:revision>594</cp:revision>
  <cp:lastPrinted>2020-09-10T15:59:00Z</cp:lastPrinted>
  <dcterms:created xsi:type="dcterms:W3CDTF">2011-02-18T15:34:41Z</dcterms:created>
  <dcterms:modified xsi:type="dcterms:W3CDTF">2021-04-21T16:40:02Z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0x0101007A4FAEA04009024F862D39CD70BDF487</vt:lpwstr>
  </property>
</Properties>
</file>