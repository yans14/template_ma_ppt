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4"/>
  </p:sldMasterIdLst>
  <p:notesMasterIdLst>
    <p:notesMasterId r:id="rId29"/>
  </p:notesMasterIdLst>
  <p:handoutMasterIdLst>
    <p:handoutMasterId r:id="rId30"/>
  </p:handoutMasterIdLst>
  <p:sldIdLst>
    <p:sldId id="256" r:id="rId5"/>
    <p:sldId id="310" r:id="rId6"/>
    <p:sldId id="318" r:id="rId7"/>
    <p:sldId id="322" r:id="rId8"/>
    <p:sldId id="301" r:id="rId9"/>
    <p:sldId id="323" r:id="rId10"/>
    <p:sldId id="324" r:id="rId11"/>
    <p:sldId id="325" r:id="rId12"/>
    <p:sldId id="320" r:id="rId13"/>
    <p:sldId id="326" r:id="rId14"/>
    <p:sldId id="321" r:id="rId15"/>
    <p:sldId id="329" r:id="rId16"/>
    <p:sldId id="336" r:id="rId17"/>
    <p:sldId id="337" r:id="rId18"/>
    <p:sldId id="338" r:id="rId19"/>
    <p:sldId id="339" r:id="rId20"/>
    <p:sldId id="316" r:id="rId21"/>
    <p:sldId id="340" r:id="rId22"/>
    <p:sldId id="282" r:id="rId23"/>
    <p:sldId id="330" r:id="rId24"/>
    <p:sldId id="331" r:id="rId25"/>
    <p:sldId id="332" r:id="rId26"/>
    <p:sldId id="333" r:id="rId27"/>
    <p:sldId id="275" r:id="rId28"/>
  </p:sldIdLst>
  <p:sldSz cx="9906000" cy="6858000" type="A4"/>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c Stapp" initials="AS" lastIdx="3" clrIdx="0">
    <p:extLst>
      <p:ext uri="{19B8F6BF-5375-455C-9EA6-DF929625EA0E}">
        <p15:presenceInfo xmlns:p15="http://schemas.microsoft.com/office/powerpoint/2012/main" userId="S::astapp@iclecon.org::1ef55638-860c-4b2c-b1ac-ff7c869c56d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p:restoredTop sz="65695"/>
  </p:normalViewPr>
  <p:slideViewPr>
    <p:cSldViewPr snapToGrid="0" snapToObjects="1">
      <p:cViewPr varScale="1">
        <p:scale>
          <a:sx n="96" d="100"/>
          <a:sy n="96" d="100"/>
        </p:scale>
        <p:origin x="3608" y="176"/>
      </p:cViewPr>
      <p:guideLst>
        <p:guide orient="horz" pos="2160"/>
        <p:guide pos="3120"/>
      </p:guideLst>
    </p:cSldViewPr>
  </p:slideViewPr>
  <p:notesTextViewPr>
    <p:cViewPr>
      <p:scale>
        <a:sx n="1" d="1"/>
        <a:sy n="1" d="1"/>
      </p:scale>
      <p:origin x="0" y="0"/>
    </p:cViewPr>
  </p:notesText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428A90-68C8-3C47-B526-399825E56639}" type="datetimeFigureOut">
              <a:rPr lang="en-US" smtClean="0"/>
              <a:t>9/11/20</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FF9A8DF-F876-F244-97EF-278AC9C15045}" type="slidenum">
              <a:rPr lang="en-US" smtClean="0"/>
              <a:t>‹#›</a:t>
            </a:fld>
            <a:endParaRPr lang="en-US" dirty="0"/>
          </a:p>
        </p:txBody>
      </p:sp>
    </p:spTree>
    <p:extLst>
      <p:ext uri="{BB962C8B-B14F-4D97-AF65-F5344CB8AC3E}">
        <p14:creationId xmlns:p14="http://schemas.microsoft.com/office/powerpoint/2010/main" val="6280252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3569570274"/>
      </p:ext>
    </p:extLst>
  </p:cSld>
  <p:clrMap bg1="lt1" tx1="dk1" bg2="dk2" tx2="lt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Shape 80"/>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1" name="Shape 81"/>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lang="en-US" dirty="0"/>
          </a:p>
        </p:txBody>
      </p:sp>
    </p:spTree>
    <p:extLst>
      <p:ext uri="{BB962C8B-B14F-4D97-AF65-F5344CB8AC3E}">
        <p14:creationId xmlns:p14="http://schemas.microsoft.com/office/powerpoint/2010/main" val="2744832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Shape 9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3" name="Shape 9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rtl="0"/>
            <a:r>
              <a:rPr lang="en-US" sz="1400" b="0" i="0" u="none" strike="noStrike" kern="1200" dirty="0">
                <a:solidFill>
                  <a:schemeClr val="tx1"/>
                </a:solidFill>
                <a:effectLst/>
                <a:latin typeface="+mn-lt"/>
                <a:ea typeface="+mn-ea"/>
                <a:cs typeface="+mn-cs"/>
              </a:rPr>
              <a:t>This might not be true if the incumbent </a:t>
            </a:r>
            <a:r>
              <a:rPr lang="en-US" sz="1200" b="0" i="0" u="none" strike="noStrike" kern="1200" dirty="0">
                <a:solidFill>
                  <a:schemeClr val="tx1"/>
                </a:solidFill>
                <a:effectLst/>
                <a:latin typeface="Andale Mono" panose="020B0509000000000004" pitchFamily="49" charset="0"/>
                <a:ea typeface="+mn-ea"/>
                <a:cs typeface="+mn-cs"/>
              </a:rPr>
              <a:t>could always identify the nascent threats and always purchase them. But that seems on casual observation not to be remotely the case. For every startup purchased by an incumbent — even if you include acqui-hires, which no one plausibly thinks are a competitive threat in the vast majority of cases — incumbent tech firms’ acquisitions capture a tiny fraction of the nominally potential competitors in their various markets. </a:t>
            </a:r>
            <a:endParaRPr lang="en-US" sz="1200" b="0" dirty="0">
              <a:effectLst/>
              <a:latin typeface="Andale Mono" panose="020B0509000000000004" pitchFamily="49" charset="0"/>
            </a:endParaRPr>
          </a:p>
        </p:txBody>
      </p:sp>
    </p:spTree>
    <p:extLst>
      <p:ext uri="{BB962C8B-B14F-4D97-AF65-F5344CB8AC3E}">
        <p14:creationId xmlns:p14="http://schemas.microsoft.com/office/powerpoint/2010/main" val="3548141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Shape 9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3" name="Shape 9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rtl="0"/>
            <a:r>
              <a:rPr lang="en-US" sz="1100" b="0" i="0" u="none" strike="noStrike" kern="1200" dirty="0">
                <a:solidFill>
                  <a:schemeClr val="tx1"/>
                </a:solidFill>
                <a:effectLst/>
                <a:latin typeface="+mn-lt"/>
                <a:ea typeface="+mn-ea"/>
                <a:cs typeface="+mn-cs"/>
              </a:rPr>
              <a:t>Consider Google’s YouTube acquisition — claimed by, among many others, Carl Shapiro, as an example of an “obviously” anticompetitive merger</a:t>
            </a:r>
            <a:endParaRPr lang="en-US" b="0" dirty="0">
              <a:effectLst/>
            </a:endParaRPr>
          </a:p>
          <a:p>
            <a:pPr rtl="0"/>
            <a:r>
              <a:rPr lang="en-US" sz="1100" b="0" i="0" u="none" strike="noStrike" kern="1200" dirty="0">
                <a:solidFill>
                  <a:schemeClr val="tx1"/>
                </a:solidFill>
                <a:effectLst/>
                <a:latin typeface="+mn-lt"/>
                <a:ea typeface="+mn-ea"/>
                <a:cs typeface="+mn-cs"/>
              </a:rPr>
              <a:t>How would anyone in 2006 have seen video streaming as competitively adjacent to web searches? If anything, Google popularized the concept of stored and easily searchable videos, and only later included that material in its own search engine. </a:t>
            </a:r>
            <a:endParaRPr lang="en-US" b="0" dirty="0">
              <a:effectLst/>
            </a:endParaRPr>
          </a:p>
          <a:p>
            <a:pPr rtl="0"/>
            <a:r>
              <a:rPr lang="en-US" sz="1100" b="0" i="0" u="none" strike="noStrike" kern="1200" dirty="0">
                <a:solidFill>
                  <a:schemeClr val="tx1"/>
                </a:solidFill>
                <a:effectLst/>
                <a:latin typeface="+mn-lt"/>
                <a:ea typeface="+mn-ea"/>
                <a:cs typeface="+mn-cs"/>
              </a:rPr>
              <a:t>It seems obvious from our contemporary perspective that web searches and online video are natural complements—but that’s only because of Google’s work in developing a generalized approach to information retrieval. It is by no means clear that forcing YouTube to remain independent of Google would have increased the extent of competition.</a:t>
            </a: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As Ben Thompson noted at the recent DOJ/Stanford VC and Antitrust conference:</a:t>
            </a:r>
            <a:endParaRPr lang="en-US" b="0" dirty="0">
              <a:effectLst/>
            </a:endParaRPr>
          </a:p>
          <a:p>
            <a:pPr rtl="0"/>
            <a:r>
              <a:rPr lang="en-US" sz="1100" b="0" i="0" u="none" strike="noStrike" kern="1200" dirty="0">
                <a:solidFill>
                  <a:schemeClr val="tx1"/>
                </a:solidFill>
                <a:effectLst/>
                <a:latin typeface="+mn-lt"/>
                <a:ea typeface="+mn-ea"/>
                <a:cs typeface="+mn-cs"/>
              </a:rPr>
              <a:t>“It’s all the infrastructure that has to be built first that makes the data valuable. And this, by the way, is why Instagram is, for the record, vastly more valuable by virtue of having been bought by Facebook than it would be as a standalone company.”</a:t>
            </a:r>
            <a:endParaRPr lang="en-US" b="0" dirty="0">
              <a:effectLst/>
            </a:endParaRPr>
          </a:p>
        </p:txBody>
      </p:sp>
    </p:spTree>
    <p:extLst>
      <p:ext uri="{BB962C8B-B14F-4D97-AF65-F5344CB8AC3E}">
        <p14:creationId xmlns:p14="http://schemas.microsoft.com/office/powerpoint/2010/main" val="1556450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rtl="0"/>
            <a:r>
              <a:rPr lang="en-US" sz="1100" b="0" i="0" u="none" strike="noStrike" kern="1200" dirty="0">
                <a:solidFill>
                  <a:schemeClr val="tx1"/>
                </a:solidFill>
                <a:effectLst/>
                <a:latin typeface="+mn-lt"/>
                <a:ea typeface="+mn-ea"/>
                <a:cs typeface="+mn-cs"/>
              </a:rPr>
              <a:t>And we don’t know direction of causation: </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Was R&amp;D discontinued after a more knowledgeable purchaser made a more reliable prediction of negative return on investment in a research steam—an efficient and desirable outcome—or was a company purchased in the first place in order to stop a reliably positive competing stream of research? </a:t>
            </a:r>
          </a:p>
          <a:p>
            <a:pPr rtl="0"/>
            <a:endParaRPr lang="en-US" b="0" dirty="0">
              <a:effectLst/>
            </a:endParaRPr>
          </a:p>
          <a:p>
            <a:pPr rtl="0"/>
            <a:r>
              <a:rPr lang="en-US" sz="1100" b="0" i="0" u="none" strike="noStrike" kern="1200" dirty="0">
                <a:solidFill>
                  <a:schemeClr val="tx1"/>
                </a:solidFill>
                <a:effectLst/>
                <a:latin typeface="+mn-lt"/>
                <a:ea typeface="+mn-ea"/>
                <a:cs typeface="+mn-cs"/>
              </a:rPr>
              <a:t>At the margin, the former seems far more likely than the latter, given that the decision made after purchase would be inherently better informed than the decision made beforehand.</a:t>
            </a:r>
            <a:endParaRPr lang="en-US" b="0" dirty="0">
              <a:effectLst/>
            </a:endParaRPr>
          </a:p>
        </p:txBody>
      </p:sp>
    </p:spTree>
    <p:extLst>
      <p:ext uri="{BB962C8B-B14F-4D97-AF65-F5344CB8AC3E}">
        <p14:creationId xmlns:p14="http://schemas.microsoft.com/office/powerpoint/2010/main" val="1170469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rtl="0"/>
            <a:r>
              <a:rPr lang="en-US" sz="1100" b="0" i="0" u="none" strike="noStrike" kern="1200" dirty="0">
                <a:solidFill>
                  <a:schemeClr val="tx1"/>
                </a:solidFill>
                <a:effectLst/>
                <a:latin typeface="+mn-lt"/>
                <a:ea typeface="+mn-ea"/>
                <a:cs typeface="+mn-cs"/>
              </a:rPr>
              <a:t>First, data (admittedly, from 1990) suggest that for every 5,000–10,000 compounds identiﬁed — the initial stage of drug development — only 250 reach preclinical testing, after which they still have three phases of clinical trials to go through. But only about 20 percent of the drugs that begin phase I trials are ultimately approved by the FDA. </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More important, however, only a fraction of even these drugs is commercially successful (and, obviously, to varying degrees). </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Now, if this is true for all drugs equally, we wouldn’t expect to see more failures in drugs that are acquired by incumbents with overlapping products, as Florian et al do find.</a:t>
            </a:r>
            <a:endParaRPr lang="en-US" b="0" dirty="0">
              <a:effectLst/>
            </a:endParaRPr>
          </a:p>
          <a:p>
            <a:endParaRPr lang="en-US" dirty="0"/>
          </a:p>
          <a:p>
            <a:pPr rtl="0"/>
            <a:r>
              <a:rPr lang="en-US" sz="1100" b="0" i="0" u="none" strike="noStrike" kern="1200" dirty="0">
                <a:solidFill>
                  <a:schemeClr val="tx1"/>
                </a:solidFill>
                <a:effectLst/>
                <a:latin typeface="+mn-lt"/>
                <a:ea typeface="+mn-ea"/>
                <a:cs typeface="+mn-cs"/>
              </a:rPr>
              <a:t>Alternative explanations — I don’t think Florian </a:t>
            </a:r>
            <a:r>
              <a:rPr lang="en-US" sz="1100" b="0" i="1" u="none" strike="noStrike" kern="1200" dirty="0">
                <a:solidFill>
                  <a:schemeClr val="tx1"/>
                </a:solidFill>
                <a:effectLst/>
                <a:latin typeface="+mn-lt"/>
                <a:ea typeface="+mn-ea"/>
                <a:cs typeface="+mn-cs"/>
              </a:rPr>
              <a:t>does</a:t>
            </a:r>
            <a:r>
              <a:rPr lang="en-US" sz="1100" b="0" i="0" u="none" strike="noStrike" kern="1200" dirty="0">
                <a:solidFill>
                  <a:schemeClr val="tx1"/>
                </a:solidFill>
                <a:effectLst/>
                <a:latin typeface="+mn-lt"/>
                <a:ea typeface="+mn-ea"/>
                <a:cs typeface="+mn-cs"/>
              </a:rPr>
              <a:t> spend enough time on the consideration of alternatives, nor that the ones they consider are the most significant. </a:t>
            </a:r>
          </a:p>
          <a:p>
            <a:pPr rtl="0"/>
            <a:endParaRPr lang="en-US" b="0" dirty="0">
              <a:effectLst/>
            </a:endParaRPr>
          </a:p>
          <a:p>
            <a:pPr rtl="0"/>
            <a:r>
              <a:rPr lang="en-US" sz="1100" b="0" i="0" u="none" strike="noStrike" kern="1200" dirty="0">
                <a:solidFill>
                  <a:schemeClr val="tx1"/>
                </a:solidFill>
                <a:effectLst/>
                <a:latin typeface="+mn-lt"/>
                <a:ea typeface="+mn-ea"/>
                <a:cs typeface="+mn-cs"/>
              </a:rPr>
              <a:t> — market for lemons, optimal project selection, and redeployment of technology — dismissed by the paper, but perhaps too quickly or insufficiently — not because it is likely that overlapping acquirers are at an information disadvantage, for example, but because their information </a:t>
            </a:r>
            <a:r>
              <a:rPr lang="en-US" sz="1100" b="0" i="1" u="none" strike="noStrike" kern="1200" dirty="0">
                <a:solidFill>
                  <a:schemeClr val="tx1"/>
                </a:solidFill>
                <a:effectLst/>
                <a:latin typeface="+mn-lt"/>
                <a:ea typeface="+mn-ea"/>
                <a:cs typeface="+mn-cs"/>
              </a:rPr>
              <a:t>advantage </a:t>
            </a:r>
            <a:r>
              <a:rPr lang="en-US" sz="1100" b="0" i="0" u="none" strike="noStrike" kern="1200" dirty="0">
                <a:solidFill>
                  <a:schemeClr val="tx1"/>
                </a:solidFill>
                <a:effectLst/>
                <a:latin typeface="+mn-lt"/>
                <a:ea typeface="+mn-ea"/>
                <a:cs typeface="+mn-cs"/>
              </a:rPr>
              <a:t>may enable them to better evaluate the likelihood of commercial success post-acquisition, resulting in both more quick terminations but also, on net, greater success with non-terminated drugs. I don’t know if the data bear this out, but I would think it would be crucial to know in order to evaluate the welfare effects of these mergers.</a:t>
            </a:r>
            <a:br>
              <a:rPr lang="en-US" dirty="0"/>
            </a:br>
            <a:endParaRPr dirty="0"/>
          </a:p>
        </p:txBody>
      </p:sp>
    </p:spTree>
    <p:extLst>
      <p:ext uri="{BB962C8B-B14F-4D97-AF65-F5344CB8AC3E}">
        <p14:creationId xmlns:p14="http://schemas.microsoft.com/office/powerpoint/2010/main" val="3266239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lang="en-US" dirty="0"/>
          </a:p>
          <a:p>
            <a:pPr lvl="0" rtl="0">
              <a:spcBef>
                <a:spcPts val="0"/>
              </a:spcBef>
              <a:buNone/>
            </a:pPr>
            <a:endParaRPr dirty="0"/>
          </a:p>
        </p:txBody>
      </p:sp>
    </p:spTree>
    <p:extLst>
      <p:ext uri="{BB962C8B-B14F-4D97-AF65-F5344CB8AC3E}">
        <p14:creationId xmlns:p14="http://schemas.microsoft.com/office/powerpoint/2010/main" val="17640414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Something else might be important to know: What preexisting relationship between firms? A large share of pharma is developed through JVs between established firms and new entrants, with incumbents acting much like VCs. These relationships entail a wide mix of control rights, ownership rights, property rights. </a:t>
            </a:r>
          </a:p>
          <a:p>
            <a:pPr lvl="0" rtl="0">
              <a:spcBef>
                <a:spcPts val="0"/>
              </a:spcBef>
              <a:buNone/>
            </a:pPr>
            <a:endParaRPr lang="en-US" dirty="0"/>
          </a:p>
          <a:p>
            <a:pPr rtl="0"/>
            <a:r>
              <a:rPr lang="en-US" sz="1100" b="0" i="0" u="none" strike="noStrike" kern="1200" dirty="0">
                <a:solidFill>
                  <a:schemeClr val="tx1"/>
                </a:solidFill>
                <a:effectLst/>
                <a:latin typeface="+mn-lt"/>
                <a:ea typeface="+mn-ea"/>
                <a:cs typeface="+mn-cs"/>
              </a:rPr>
              <a:t>It’s not entirely clear how it would affect the analysis, but it is worth noting that a huge share of pharma R&amp;D is funded by other pharma firms. How many of these are the eventual purchasers of the startups at issue in the paper? How many would be funded without the possibility of purchase? How many have relational contracts that facilitate information sharing and that also restrict the available exit options? </a:t>
            </a:r>
            <a:endParaRPr lang="en-US" b="0" dirty="0">
              <a:effectLst/>
            </a:endParaRPr>
          </a:p>
          <a:p>
            <a:pPr rtl="0"/>
            <a:br>
              <a:rPr lang="en-US" b="0" dirty="0">
                <a:effectLst/>
              </a:rPr>
            </a:br>
            <a:r>
              <a:rPr lang="en-US" b="0" dirty="0">
                <a:effectLst/>
              </a:rPr>
              <a:t>“</a:t>
            </a:r>
            <a:r>
              <a:rPr lang="en-US" sz="1100" b="0" i="0" u="none" strike="noStrike" kern="1200" dirty="0">
                <a:solidFill>
                  <a:schemeClr val="tx1"/>
                </a:solidFill>
                <a:effectLst/>
                <a:latin typeface="+mn-lt"/>
                <a:ea typeface="+mn-ea"/>
                <a:cs typeface="+mn-cs"/>
              </a:rPr>
              <a:t>Strategic alliances and joint ventures are a common organizational vehicle through which large ﬁrms engage in research and development (R&amp;D). This is especially true in the pharmaceutical industry: survey evidence from the Pharmaceutical Research and Manufacturers of America (PhRMA) suggests that roughly 25 percent of the $26 billion in United States–based, industrially ﬁnanced, pharmaceutical R&amp;D that occurred in 2000 took place in over 700 collaborative agreements with outside organizations.” (Robinson &amp; Stuart, JLE (2007))</a:t>
            </a:r>
            <a:endParaRPr lang="en-US" b="0" dirty="0">
              <a:effectLst/>
            </a:endParaRPr>
          </a:p>
          <a:p>
            <a:br>
              <a:rPr lang="en-US" dirty="0"/>
            </a:br>
            <a:endParaRPr dirty="0"/>
          </a:p>
        </p:txBody>
      </p:sp>
    </p:spTree>
    <p:extLst>
      <p:ext uri="{BB962C8B-B14F-4D97-AF65-F5344CB8AC3E}">
        <p14:creationId xmlns:p14="http://schemas.microsoft.com/office/powerpoint/2010/main" val="872266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dirty="0"/>
          </a:p>
        </p:txBody>
      </p:sp>
    </p:spTree>
    <p:extLst>
      <p:ext uri="{BB962C8B-B14F-4D97-AF65-F5344CB8AC3E}">
        <p14:creationId xmlns:p14="http://schemas.microsoft.com/office/powerpoint/2010/main" val="9741462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1" rtl="0" fontAlgn="base"/>
            <a:r>
              <a:rPr lang="en-US" sz="1100" b="0" i="0" u="none" strike="noStrike" kern="1200" dirty="0">
                <a:solidFill>
                  <a:schemeClr val="tx1"/>
                </a:solidFill>
                <a:effectLst/>
                <a:latin typeface="+mn-lt"/>
                <a:ea typeface="+mn-ea"/>
                <a:cs typeface="+mn-cs"/>
              </a:rPr>
              <a:t>Would the company have continued to operate without acquisition? How many companies could realistically have obtained a new round of VC funding, or done an IPO without a buyout?</a:t>
            </a:r>
          </a:p>
          <a:p>
            <a:pPr lvl="1" rtl="0" fontAlgn="base"/>
            <a:endParaRPr lang="en-US" sz="1100" b="0" i="0" u="none" strike="noStrike" kern="1200" dirty="0">
              <a:solidFill>
                <a:schemeClr val="tx1"/>
              </a:solidFill>
              <a:effectLst/>
              <a:latin typeface="+mn-lt"/>
              <a:ea typeface="+mn-ea"/>
              <a:cs typeface="+mn-cs"/>
            </a:endParaRPr>
          </a:p>
          <a:p>
            <a:pPr lvl="1" rtl="0" fontAlgn="base"/>
            <a:r>
              <a:rPr lang="en-US" sz="1100" b="0" i="0" u="none" strike="noStrike" kern="1200" dirty="0">
                <a:solidFill>
                  <a:schemeClr val="tx1"/>
                </a:solidFill>
                <a:effectLst/>
                <a:latin typeface="+mn-lt"/>
                <a:ea typeface="+mn-ea"/>
                <a:cs typeface="+mn-cs"/>
              </a:rPr>
              <a:t>Would the company have been funded in the first place without this potential exit strategy? (i.e. does “easy exit” increase VC funding in the first place, and thus innovation?) </a:t>
            </a:r>
          </a:p>
          <a:p>
            <a:pPr lvl="2" rtl="0" fontAlgn="base"/>
            <a:endParaRPr lang="en-US" sz="1100" b="0" i="0" u="none" strike="noStrike" kern="1200" dirty="0">
              <a:solidFill>
                <a:schemeClr val="tx1"/>
              </a:solidFill>
              <a:effectLst/>
              <a:latin typeface="+mn-lt"/>
              <a:ea typeface="+mn-ea"/>
              <a:cs typeface="+mn-cs"/>
            </a:endParaRPr>
          </a:p>
          <a:p>
            <a:pPr lvl="2" rtl="0" fontAlgn="base"/>
            <a:r>
              <a:rPr lang="en-US" sz="1100" b="0" i="0" u="none" strike="noStrike" kern="1200" dirty="0">
                <a:solidFill>
                  <a:schemeClr val="tx1"/>
                </a:solidFill>
                <a:effectLst/>
                <a:latin typeface="+mn-lt"/>
                <a:ea typeface="+mn-ea"/>
                <a:cs typeface="+mn-cs"/>
              </a:rPr>
              <a:t>The authors assume that “in the market” competition is the biggest driver of positive outcomes for consumers (low prices &amp; innovation). This assertion is not self-evident…</a:t>
            </a:r>
          </a:p>
          <a:p>
            <a:pPr lvl="1" rtl="0" fontAlgn="base"/>
            <a:endParaRPr lang="en-US" sz="1100" b="0" i="0" u="none" strike="noStrike" kern="1200" dirty="0">
              <a:solidFill>
                <a:schemeClr val="tx1"/>
              </a:solidFill>
              <a:effectLst/>
              <a:latin typeface="+mn-lt"/>
              <a:ea typeface="+mn-ea"/>
              <a:cs typeface="+mn-cs"/>
            </a:endParaRPr>
          </a:p>
          <a:p>
            <a:pPr lvl="1" rtl="0" fontAlgn="base"/>
            <a:r>
              <a:rPr lang="en-US" sz="1100" b="0" i="0" u="none" strike="noStrike" kern="1200" dirty="0">
                <a:solidFill>
                  <a:schemeClr val="tx1"/>
                </a:solidFill>
                <a:effectLst/>
                <a:latin typeface="+mn-lt"/>
                <a:ea typeface="+mn-ea"/>
                <a:cs typeface="+mn-cs"/>
              </a:rPr>
              <a:t>Would the company have led to more competition in a well-defined market if the acquisition had not taken place?</a:t>
            </a:r>
          </a:p>
          <a:p>
            <a:pPr lvl="2" rtl="0" fontAlgn="base"/>
            <a:endParaRPr lang="en-US" sz="1100" b="0" i="0" u="none" strike="noStrike" kern="1200" dirty="0">
              <a:solidFill>
                <a:schemeClr val="tx1"/>
              </a:solidFill>
              <a:effectLst/>
              <a:latin typeface="+mn-lt"/>
              <a:ea typeface="+mn-ea"/>
              <a:cs typeface="+mn-cs"/>
            </a:endParaRPr>
          </a:p>
          <a:p>
            <a:pPr lvl="2" rtl="0" fontAlgn="base"/>
            <a:r>
              <a:rPr lang="en-US" sz="1100" b="0" i="0" u="none" strike="noStrike" kern="1200" dirty="0">
                <a:solidFill>
                  <a:schemeClr val="tx1"/>
                </a:solidFill>
                <a:effectLst/>
                <a:latin typeface="+mn-lt"/>
                <a:ea typeface="+mn-ea"/>
                <a:cs typeface="+mn-cs"/>
              </a:rPr>
              <a:t>This is also assumed, but also not self-evident.</a:t>
            </a:r>
          </a:p>
          <a:p>
            <a:pPr lvl="0" rtl="0">
              <a:spcBef>
                <a:spcPts val="0"/>
              </a:spcBef>
              <a:buNone/>
            </a:pPr>
            <a:endParaRPr dirty="0"/>
          </a:p>
        </p:txBody>
      </p:sp>
    </p:spTree>
    <p:extLst>
      <p:ext uri="{BB962C8B-B14F-4D97-AF65-F5344CB8AC3E}">
        <p14:creationId xmlns:p14="http://schemas.microsoft.com/office/powerpoint/2010/main" val="1357954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rtl="0"/>
            <a:r>
              <a:rPr lang="en-US" sz="1100" b="0" i="0" u="none" strike="noStrike" kern="1200" dirty="0">
                <a:solidFill>
                  <a:schemeClr val="tx1"/>
                </a:solidFill>
                <a:effectLst/>
                <a:latin typeface="+mn-lt"/>
                <a:ea typeface="+mn-ea"/>
                <a:cs typeface="+mn-cs"/>
              </a:rPr>
              <a:t>Specialization</a:t>
            </a:r>
          </a:p>
          <a:p>
            <a:pPr rtl="0"/>
            <a:endParaRPr lang="en-US" b="0" dirty="0">
              <a:effectLst/>
            </a:endParaRPr>
          </a:p>
          <a:p>
            <a:pPr rtl="0"/>
            <a:r>
              <a:rPr lang="en-US" sz="1100" b="0" i="0" u="none" strike="noStrike" kern="1200" dirty="0">
                <a:solidFill>
                  <a:schemeClr val="tx1"/>
                </a:solidFill>
                <a:effectLst/>
                <a:latin typeface="+mn-lt"/>
                <a:ea typeface="+mn-ea"/>
                <a:cs typeface="+mn-cs"/>
              </a:rPr>
              <a:t>If you want to build valuable technology, is it really beneficial that you also have to be good at business and build a good business?</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There’s a lot of benefit that comes from startups not having to build successful companies, but being able to focus on the technology itself.</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Different owners are better at running the company, depending on the development stage. “Entrepreneurs” are better in formative years, better situated to take on risk; BUT large corporations have better management practices, so they are better at extracting profit and lowering costs once company has reached a certain size.</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Manne (1965) also relevant: we would expect ownership of company to shift at some point because initial managers/shareholders are no longer the ones that can best manage the company.</a:t>
            </a: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Being bought means access to larger installed base of customers, tighter integration, less reputational cost, faster adoption — all to benefit of consumers. If technology is really better, isn’t it better if it’s used by Google’s user base rather than just Waze’s?</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Especially true if scale is important and if it takes time to get it and if financial constraints are real (or, same thing, IPO takes too long and uncertainty reduces value)</a:t>
            </a: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Outsourced R&amp;D</a:t>
            </a:r>
          </a:p>
          <a:p>
            <a:pPr rtl="0"/>
            <a:endParaRPr lang="en-US" b="0" dirty="0">
              <a:effectLst/>
            </a:endParaRPr>
          </a:p>
          <a:p>
            <a:pPr rtl="0"/>
            <a:r>
              <a:rPr lang="en-US" sz="1100" b="0" i="0" u="none" strike="noStrike" kern="1200" dirty="0">
                <a:solidFill>
                  <a:schemeClr val="tx1"/>
                </a:solidFill>
                <a:effectLst/>
                <a:latin typeface="+mn-lt"/>
                <a:ea typeface="+mn-ea"/>
                <a:cs typeface="+mn-cs"/>
              </a:rPr>
              <a:t>“And sometimes those acquisitions can be positive for the founders and okay for the VCs. </a:t>
            </a:r>
            <a:r>
              <a:rPr lang="en-US" sz="1100" b="1" i="0" u="none" strike="noStrike" kern="1200" dirty="0">
                <a:solidFill>
                  <a:schemeClr val="tx1"/>
                </a:solidFill>
                <a:effectLst/>
                <a:latin typeface="+mn-lt"/>
                <a:ea typeface="+mn-ea"/>
                <a:cs typeface="+mn-cs"/>
              </a:rPr>
              <a:t>Sometimes, the big companies treat it as sort of outsourced R&amp;D and a way of bringing, you know, innovations that couldn’t happen inside their walls, you know</a:t>
            </a:r>
            <a:r>
              <a:rPr lang="en-US" sz="1100" b="0" i="0" u="none" strike="noStrike" kern="1200" dirty="0">
                <a:solidFill>
                  <a:schemeClr val="tx1"/>
                </a:solidFill>
                <a:effectLst/>
                <a:latin typeface="+mn-lt"/>
                <a:ea typeface="+mn-ea"/>
                <a:cs typeface="+mn-cs"/>
              </a:rPr>
              <a:t>.” (</a:t>
            </a:r>
            <a:r>
              <a:rPr lang="en-US" sz="1100" b="0" i="0" u="none" strike="noStrike" kern="1200" dirty="0" err="1">
                <a:solidFill>
                  <a:schemeClr val="tx1"/>
                </a:solidFill>
                <a:effectLst/>
                <a:latin typeface="+mn-lt"/>
                <a:ea typeface="+mn-ea"/>
                <a:cs typeface="+mn-cs"/>
              </a:rPr>
              <a:t>Nich</a:t>
            </a:r>
            <a:r>
              <a:rPr lang="en-US" sz="1100" b="0" i="0" u="none" strike="noStrike" kern="1200" dirty="0">
                <a:solidFill>
                  <a:schemeClr val="tx1"/>
                </a:solidFill>
                <a:effectLst/>
                <a:latin typeface="+mn-lt"/>
                <a:ea typeface="+mn-ea"/>
                <a:cs typeface="+mn-cs"/>
              </a:rPr>
              <a:t> Grossman from DOJ/Stanford conference) </a:t>
            </a: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Was Microsoft’s “applications barrier to entry” actually a pathway to entry? As I’ve written elsewhere:</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“Microsoft created a huge positive externality for new entrants: existing knowledge and organizations devoted to development, industry knowledge, reputation, awareness, incentive for schools to offer courses, etc. It could well be that new entrants in fact faced lower barriers with respect to app developers than did Microsoft when it entered.”</a:t>
            </a:r>
            <a:endParaRPr lang="en-US" b="0" dirty="0">
              <a:effectLst/>
            </a:endParaRPr>
          </a:p>
          <a:p>
            <a:br>
              <a:rPr lang="en-US" dirty="0"/>
            </a:br>
            <a:endParaRPr lang="en-US" b="0" dirty="0">
              <a:effectLst/>
            </a:endParaRPr>
          </a:p>
          <a:p>
            <a:br>
              <a:rPr lang="en-US" dirty="0"/>
            </a:br>
            <a:endParaRPr lang="en-US" b="0" dirty="0">
              <a:effectLst/>
            </a:endParaRPr>
          </a:p>
          <a:p>
            <a:br>
              <a:rPr lang="en-US" dirty="0"/>
            </a:br>
            <a:br>
              <a:rPr lang="en-US" dirty="0"/>
            </a:br>
            <a:endParaRPr dirty="0"/>
          </a:p>
        </p:txBody>
      </p:sp>
    </p:spTree>
    <p:extLst>
      <p:ext uri="{BB962C8B-B14F-4D97-AF65-F5344CB8AC3E}">
        <p14:creationId xmlns:p14="http://schemas.microsoft.com/office/powerpoint/2010/main" val="7614228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Discussion of IPO/VC relationship (and relationship with antitrust) would be well-served by discussion of Phillips &amp; Zhdanov (2019).</a:t>
            </a:r>
            <a:endParaRPr dirty="0"/>
          </a:p>
        </p:txBody>
      </p:sp>
    </p:spTree>
    <p:extLst>
      <p:ext uri="{BB962C8B-B14F-4D97-AF65-F5344CB8AC3E}">
        <p14:creationId xmlns:p14="http://schemas.microsoft.com/office/powerpoint/2010/main" val="15029414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rtl="0"/>
            <a:endParaRPr lang="en-US" dirty="0"/>
          </a:p>
        </p:txBody>
      </p:sp>
    </p:spTree>
    <p:extLst>
      <p:ext uri="{BB962C8B-B14F-4D97-AF65-F5344CB8AC3E}">
        <p14:creationId xmlns:p14="http://schemas.microsoft.com/office/powerpoint/2010/main" val="3137737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rtl="0"/>
            <a:r>
              <a:rPr lang="en-US" sz="1100" b="0" i="0" u="none" strike="noStrike" kern="1200" dirty="0">
                <a:solidFill>
                  <a:schemeClr val="tx1"/>
                </a:solidFill>
                <a:effectLst/>
                <a:latin typeface="+mn-lt"/>
                <a:ea typeface="+mn-ea"/>
                <a:cs typeface="+mn-cs"/>
              </a:rPr>
              <a:t>First, they have low switching costs to begin with, and may even see them as negative — the prospect of learning a new technology and playing with it and being a first-mover, and writing about it publicly, etc. surely can easily outweigh any costs. </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Moreover, new technologies have a strong incentive to offer incentives to techies to try out their new platform, so they may receive payment of some sort. </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Second, the “sunk switching cost” notion is way overvalued here. Mostly because if the new technology is better and there is a merger, none of it will be wasted because, by assumption in the model, the new tech will be adopted by the incumbent. If there is no merger there *could* be a loss, assuming the tech disappears (another common alternative though is that it remains and is used by the techies only who know its real value but don’t require the broader network effects). </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(In this — good that the paper implicitly recognizes that network effects aren’t just about numbers but also quality of users!!!!). </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But then the whole mechanism of the model and the issue of the paper is removed: If it is only when the incumbent *doesn’t* buy the new entrant that there is a problem, then there’s nothing to talk about except finding ways to incentivize MORE mergers.</a:t>
            </a:r>
            <a:endParaRPr lang="en-US" b="0" dirty="0">
              <a:effectLst/>
            </a:endParaRPr>
          </a:p>
          <a:p>
            <a:endParaRPr lang="en-US" dirty="0"/>
          </a:p>
        </p:txBody>
      </p:sp>
    </p:spTree>
    <p:extLst>
      <p:ext uri="{BB962C8B-B14F-4D97-AF65-F5344CB8AC3E}">
        <p14:creationId xmlns:p14="http://schemas.microsoft.com/office/powerpoint/2010/main" val="26621263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rtl="0"/>
            <a:r>
              <a:rPr lang="en-US" sz="1100" b="0" i="0" u="none" strike="noStrike" kern="1200" dirty="0">
                <a:solidFill>
                  <a:schemeClr val="tx1"/>
                </a:solidFill>
                <a:effectLst/>
                <a:latin typeface="+mn-lt"/>
                <a:ea typeface="+mn-ea"/>
                <a:cs typeface="+mn-cs"/>
              </a:rPr>
              <a:t>Free copying doesn't lead to less switching.</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But if free copying is possible, there may be little reason for merger, as copying is much cheaper (But - note again that it is rarely the innovation per se that determines the value of an innovation; it is how it is implemented. Not only can that mean that a new entrant might be able to persist even if an innovation is copied, but by the same token it means that an incumbent may not be able to extract as much value from an innovation.</a:t>
            </a:r>
            <a:endParaRPr lang="en-US" b="0" dirty="0">
              <a:effectLst/>
            </a:endParaRPr>
          </a:p>
          <a:p>
            <a:br>
              <a:rPr lang="en-US" dirty="0"/>
            </a:br>
            <a:endParaRPr lang="en-US" dirty="0"/>
          </a:p>
        </p:txBody>
      </p:sp>
    </p:spTree>
    <p:extLst>
      <p:ext uri="{BB962C8B-B14F-4D97-AF65-F5344CB8AC3E}">
        <p14:creationId xmlns:p14="http://schemas.microsoft.com/office/powerpoint/2010/main" val="25985105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rtl="0"/>
            <a:r>
              <a:rPr lang="en-US" sz="1100" b="0" i="0" u="none" strike="noStrike" kern="1200" dirty="0">
                <a:solidFill>
                  <a:schemeClr val="tx1"/>
                </a:solidFill>
                <a:effectLst/>
                <a:latin typeface="+mn-lt"/>
                <a:ea typeface="+mn-ea"/>
                <a:cs typeface="+mn-cs"/>
              </a:rPr>
              <a:t>Despite some welcome comments about limited policy implications and recognition of tradeoffs and concern for welfare reducing regulatory responses, the paper isn't devoid of competition-minus remedies: </a:t>
            </a:r>
            <a:endParaRPr lang="en-US" b="0" dirty="0">
              <a:effectLst/>
            </a:endParaRPr>
          </a:p>
          <a:p>
            <a:pPr rtl="0"/>
            <a:endParaRPr lang="en-US" sz="1100" b="1" i="0" u="none" strike="noStrike" kern="1200" dirty="0">
              <a:solidFill>
                <a:schemeClr val="tx1"/>
              </a:solidFill>
              <a:effectLst/>
              <a:latin typeface="+mn-lt"/>
              <a:ea typeface="+mn-ea"/>
              <a:cs typeface="+mn-cs"/>
            </a:endParaRPr>
          </a:p>
          <a:p>
            <a:pPr rtl="0"/>
            <a:r>
              <a:rPr lang="en-US" sz="1100" b="1" i="0" u="none" strike="noStrike" kern="1200" dirty="0">
                <a:solidFill>
                  <a:schemeClr val="tx1"/>
                </a:solidFill>
                <a:effectLst/>
                <a:latin typeface="+mn-lt"/>
                <a:ea typeface="+mn-ea"/>
                <a:cs typeface="+mn-cs"/>
              </a:rPr>
              <a:t>“The new European data protection rule – also known as GDPR – limits the use of these data by incumbents, unless they have asked explicit authorization from the customers. In so doing, it reduces the incumbent’s advantage somewhat, promoting innovation</a:t>
            </a:r>
            <a:r>
              <a:rPr lang="en-US" sz="1100" b="0" i="0" u="none" strike="noStrike" kern="1200" dirty="0">
                <a:solidFill>
                  <a:schemeClr val="tx1"/>
                </a:solidFill>
                <a:effectLst/>
                <a:latin typeface="+mn-lt"/>
                <a:ea typeface="+mn-ea"/>
                <a:cs typeface="+mn-cs"/>
              </a:rPr>
              <a:t>. Of course, it also means that </a:t>
            </a:r>
            <a:r>
              <a:rPr lang="en-US" sz="1100" b="1" i="0" u="none" strike="noStrike" kern="1200" dirty="0">
                <a:solidFill>
                  <a:schemeClr val="tx1"/>
                </a:solidFill>
                <a:effectLst/>
                <a:latin typeface="+mn-lt"/>
                <a:ea typeface="+mn-ea"/>
                <a:cs typeface="+mn-cs"/>
              </a:rPr>
              <a:t>entrants will have to ask each customer for permission to use their data, increasing their costs of fine-tuning also</a:t>
            </a:r>
            <a:r>
              <a:rPr lang="en-US" sz="1100" b="0" i="0" u="none" strike="noStrike" kern="1200" dirty="0">
                <a:solidFill>
                  <a:schemeClr val="tx1"/>
                </a:solidFill>
                <a:effectLst/>
                <a:latin typeface="+mn-lt"/>
                <a:ea typeface="+mn-ea"/>
                <a:cs typeface="+mn-cs"/>
              </a:rPr>
              <a:t>. There have also been proposals to allow customers to own their data, and sell it to whomsoever they desire (see Lanier (2013), Posner and Weyl (2018)). This would level the playing field, provided data collectors are compensated for their cost of collection, and data intermediaries arise to facilitate storage and sales.”</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The assertion here is that reducing the value of an incumbent platform not only to itself but to its users is worth the benefit of increased competition from having reduced the quality of the incumbent. It’s a truly odd competition strategy: hamstring everyone in order to have more competitors with crappy products. Hardly seems a recipe for innovation.</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And the costs to new entrants is offered as an aside but surely it subsumes the rule. If switching costs is the source of friction in the model, it’s really hard to see how increasing switching costs reduces friction.</a:t>
            </a:r>
            <a:endParaRPr lang="en-US" b="0" dirty="0">
              <a:effectLst/>
            </a:endParaRPr>
          </a:p>
          <a:p>
            <a:br>
              <a:rPr lang="en-US" dirty="0"/>
            </a:br>
            <a:endParaRPr lang="en-US" dirty="0"/>
          </a:p>
        </p:txBody>
      </p:sp>
    </p:spTree>
    <p:extLst>
      <p:ext uri="{BB962C8B-B14F-4D97-AF65-F5344CB8AC3E}">
        <p14:creationId xmlns:p14="http://schemas.microsoft.com/office/powerpoint/2010/main" val="41557970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rtl="0"/>
            <a:r>
              <a:rPr lang="en-US" sz="1100" b="0" i="0" u="none" strike="noStrike" kern="1200" dirty="0">
                <a:solidFill>
                  <a:schemeClr val="tx1"/>
                </a:solidFill>
                <a:effectLst/>
                <a:latin typeface="+mn-lt"/>
                <a:ea typeface="+mn-ea"/>
                <a:cs typeface="+mn-cs"/>
              </a:rPr>
              <a:t>In a similar vein, it follows that the more an incumbent can freely copy the technological innovations of new entrants, the worse the incentives of early adopters to switch to a new entrant will be, and thus the lower the incentives to innovate will be. This feature is not unique to our model. Even in a neoclassical model of competitive innovation, lack of protection of innovation will curtail innovation incentives. In our model, however, the effect is much stronger. In the traditional duopoly setting, if the incumbent perfectly imitates the innovation of the new entrant and it sells it at the same price, the new entrant still can sell its product. In our model, if the incumbent perfectly imitates the new features of the entrant, the new entrant will not be able to attract customers because the incumbent’s network externalities will dominate. Thus, in the absence of any patent protection, the incentives to enter with a superior product will be severely curtailed.</a:t>
            </a:r>
            <a:endParaRPr lang="en-US" b="0" dirty="0">
              <a:effectLst/>
            </a:endParaRPr>
          </a:p>
          <a:p>
            <a:pPr rtl="0"/>
            <a:br>
              <a:rPr lang="en-US" dirty="0"/>
            </a:br>
            <a:r>
              <a:rPr lang="en-US" sz="1100" b="0" i="0" u="none" strike="noStrike" kern="1200" dirty="0">
                <a:solidFill>
                  <a:schemeClr val="tx1"/>
                </a:solidFill>
                <a:effectLst/>
                <a:latin typeface="+mn-lt"/>
                <a:ea typeface="+mn-ea"/>
                <a:cs typeface="+mn-cs"/>
              </a:rPr>
              <a:t>Now this seems right. This is the real lesson of the paper.</a:t>
            </a:r>
          </a:p>
          <a:p>
            <a:pPr rtl="0"/>
            <a:endParaRPr lang="en-US" b="0" dirty="0">
              <a:effectLst/>
            </a:endParaRPr>
          </a:p>
          <a:p>
            <a:pPr rtl="0"/>
            <a:r>
              <a:rPr lang="en-US" sz="1100" b="0" i="0" u="none" strike="noStrike" kern="1200" dirty="0">
                <a:solidFill>
                  <a:schemeClr val="tx1"/>
                </a:solidFill>
                <a:effectLst/>
                <a:latin typeface="+mn-lt"/>
                <a:ea typeface="+mn-ea"/>
                <a:cs typeface="+mn-cs"/>
              </a:rPr>
              <a:t>Particularly relevant to anticompetitive appropriation, but also important in mergers as it affects the outside option in merger decisions.</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In appropriation context, the argument is typically about entrant/complementor innovation. This implicates the question Eric raises about innovation for incumbent vs innovation for entrant. But note that there is no appropriation if entrant innovates for itself and not incumbent.</a:t>
            </a:r>
            <a:endParaRPr lang="en-US" b="0" dirty="0">
              <a:effectLst/>
            </a:endParaRPr>
          </a:p>
          <a:p>
            <a:pPr rtl="0"/>
            <a:br>
              <a:rPr lang="en-US" dirty="0"/>
            </a:br>
            <a:r>
              <a:rPr lang="en-US" sz="1100" b="0" i="0" u="none" strike="noStrike" kern="1200" dirty="0">
                <a:solidFill>
                  <a:schemeClr val="tx1"/>
                </a:solidFill>
                <a:effectLst/>
                <a:latin typeface="+mn-lt"/>
                <a:ea typeface="+mn-ea"/>
                <a:cs typeface="+mn-cs"/>
              </a:rPr>
              <a:t>** This and other points above suggest an important selection bias in all of this discussion. Do we actually know that innovation for challenger </a:t>
            </a:r>
            <a:r>
              <a:rPr lang="en-US" sz="1100" b="0" i="1" u="none" strike="noStrike" kern="1200" dirty="0">
                <a:solidFill>
                  <a:schemeClr val="tx1"/>
                </a:solidFill>
                <a:effectLst/>
                <a:latin typeface="+mn-lt"/>
                <a:ea typeface="+mn-ea"/>
                <a:cs typeface="+mn-cs"/>
              </a:rPr>
              <a:t>isn’t</a:t>
            </a:r>
            <a:r>
              <a:rPr lang="en-US" sz="1100" b="0" i="0" u="none" strike="noStrike" kern="1200" dirty="0">
                <a:solidFill>
                  <a:schemeClr val="tx1"/>
                </a:solidFill>
                <a:effectLst/>
                <a:latin typeface="+mn-lt"/>
                <a:ea typeface="+mn-ea"/>
                <a:cs typeface="+mn-cs"/>
              </a:rPr>
              <a:t> optimal? By looking at mergers that happen and appropriations that happen we’re looking at those situations where incumbents could gain advantage. </a:t>
            </a:r>
            <a:r>
              <a:rPr lang="en-US" sz="1100" b="1" i="0" u="none" strike="noStrike" kern="1200" dirty="0">
                <a:solidFill>
                  <a:schemeClr val="tx1"/>
                </a:solidFill>
                <a:effectLst/>
                <a:latin typeface="+mn-lt"/>
                <a:ea typeface="+mn-ea"/>
                <a:cs typeface="+mn-cs"/>
              </a:rPr>
              <a:t>But the vast majority of entrants aren’t bought by/appropriated by incumbents.</a:t>
            </a:r>
            <a:endParaRPr lang="en-US" b="0" dirty="0">
              <a:effectLst/>
            </a:endParaRPr>
          </a:p>
          <a:p>
            <a:br>
              <a:rPr lang="en-US" dirty="0"/>
            </a:br>
            <a:endParaRPr dirty="0"/>
          </a:p>
        </p:txBody>
      </p:sp>
    </p:spTree>
    <p:extLst>
      <p:ext uri="{BB962C8B-B14F-4D97-AF65-F5344CB8AC3E}">
        <p14:creationId xmlns:p14="http://schemas.microsoft.com/office/powerpoint/2010/main" val="17697331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Big question is why assume startups know technology is relevant to leader vs laggard? In some contexts that’s likely — but mostly they’ll be ones where incumbent has IP. Raises especially the concern with incentives over innovation by leaders/laggards, and again points attention to IP regime over antitrust.</a:t>
            </a:r>
          </a:p>
          <a:p>
            <a:pPr lvl="0" rtl="0">
              <a:spcBef>
                <a:spcPts val="0"/>
              </a:spcBef>
              <a:buNone/>
            </a:pPr>
            <a:endParaRPr lang="en-US" dirty="0"/>
          </a:p>
          <a:p>
            <a:pPr lvl="0" rtl="0">
              <a:spcBef>
                <a:spcPts val="0"/>
              </a:spcBef>
              <a:buNone/>
            </a:pPr>
            <a:r>
              <a:rPr lang="en-US" dirty="0"/>
              <a:t>But in many contexts most relevant to current discussions, I’m not sure it’s clear at all, and more important, that it’s often the case that a startup technology is uniquely useful for leader vs laggard.</a:t>
            </a:r>
          </a:p>
          <a:p>
            <a:pPr lvl="0" rtl="0">
              <a:spcBef>
                <a:spcPts val="0"/>
              </a:spcBef>
              <a:buNone/>
            </a:pPr>
            <a:endParaRPr lang="en-US" dirty="0"/>
          </a:p>
          <a:p>
            <a:pPr lvl="0" rtl="0">
              <a:spcBef>
                <a:spcPts val="0"/>
              </a:spcBef>
              <a:buNone/>
            </a:pPr>
            <a:r>
              <a:rPr lang="en-US" dirty="0"/>
              <a:t>Also a problem with leader/laggard recognizing valuable technology accurately. Surely more likely than others, but far from perfect. How accurate does this (as well as how limited do other frictions mentioned above) have to be for the model? </a:t>
            </a:r>
          </a:p>
          <a:p>
            <a:pPr lvl="0" rtl="0">
              <a:spcBef>
                <a:spcPts val="0"/>
              </a:spcBef>
              <a:buNone/>
            </a:pPr>
            <a:endParaRPr lang="en-US" dirty="0"/>
          </a:p>
          <a:p>
            <a:pPr lvl="0" rtl="0">
              <a:spcBef>
                <a:spcPts val="0"/>
              </a:spcBef>
              <a:buNone/>
            </a:pPr>
            <a:r>
              <a:rPr lang="en-US" dirty="0"/>
              <a:t>Not sure why AT intervention is especially relevant in this regard in the pure monopoly case. (I’m assuming pure monopoly doesn’t mean ‘non-contestable’). New entrants will be incentivized by monopoly rents (assuming low enough barriers to entry), and at least one barrier should be lower: because new tech developers are paid less by monopolist, they’ll shift investment to laggard-relevant technology. Obviously details matter and it may not be self-correcting, but it doesn’t seem intuitively clear to me that the supply of valuable tech should necessarily be lower, at least not for long.</a:t>
            </a:r>
          </a:p>
          <a:p>
            <a:pPr lvl="0" rtl="0">
              <a:spcBef>
                <a:spcPts val="0"/>
              </a:spcBef>
              <a:buNone/>
            </a:pPr>
            <a:endParaRPr lang="en-US" dirty="0"/>
          </a:p>
          <a:p>
            <a:pPr lvl="0" rtl="0">
              <a:spcBef>
                <a:spcPts val="0"/>
              </a:spcBef>
              <a:buNone/>
            </a:pPr>
            <a:endParaRPr lang="en-US" dirty="0"/>
          </a:p>
          <a:p>
            <a:pPr lvl="0" rtl="0">
              <a:spcBef>
                <a:spcPts val="0"/>
              </a:spcBef>
              <a:buNone/>
            </a:pPr>
            <a:endParaRPr dirty="0"/>
          </a:p>
        </p:txBody>
      </p:sp>
    </p:spTree>
    <p:extLst>
      <p:ext uri="{BB962C8B-B14F-4D97-AF65-F5344CB8AC3E}">
        <p14:creationId xmlns:p14="http://schemas.microsoft.com/office/powerpoint/2010/main" val="22162467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dirty="0"/>
          </a:p>
        </p:txBody>
      </p:sp>
    </p:spTree>
    <p:extLst>
      <p:ext uri="{BB962C8B-B14F-4D97-AF65-F5344CB8AC3E}">
        <p14:creationId xmlns:p14="http://schemas.microsoft.com/office/powerpoint/2010/main" val="33115637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dirty="0"/>
          </a:p>
        </p:txBody>
      </p:sp>
    </p:spTree>
    <p:extLst>
      <p:ext uri="{BB962C8B-B14F-4D97-AF65-F5344CB8AC3E}">
        <p14:creationId xmlns:p14="http://schemas.microsoft.com/office/powerpoint/2010/main" val="15194024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rtl="0"/>
            <a:r>
              <a:rPr lang="en-US" sz="1100" b="0" i="0" u="none" strike="noStrike" kern="1200" dirty="0">
                <a:solidFill>
                  <a:schemeClr val="tx1"/>
                </a:solidFill>
                <a:effectLst/>
                <a:latin typeface="+mn-lt"/>
                <a:ea typeface="+mn-ea"/>
                <a:cs typeface="+mn-cs"/>
              </a:rPr>
              <a:t>This does not mean there is no risk that a platform will choose to compete with an edge provider and capture some of its return (just as there is always a risk that effective and well-funded third parties may do so). </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But unless the argument is that independent complementors and their investors are improbably ignorant or repeatedly deceived, it must be the case that they develop their businesses models and operate their businesses in recognition of the risk involved. </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This implies either that the risk is not as substantial as critics contend (either because platforms are not likely to expropriate value or because complementors can protect themselves from it) or else that complementors are sufficiently compensated for it. </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In either case, the fact that platform ecosystems are so vast suggests that we should hesitate before assuming that incentives to invest are inefficiently reduced by foreclosure or expropriation risks.</a:t>
            </a:r>
            <a:endParaRPr lang="en-US" b="0" dirty="0">
              <a:effectLst/>
            </a:endParaRPr>
          </a:p>
          <a:p>
            <a:br>
              <a:rPr lang="en-US" dirty="0"/>
            </a:br>
            <a:r>
              <a:rPr lang="en-US" sz="1100" b="0" i="0" u="none" strike="noStrike" kern="1200" dirty="0">
                <a:solidFill>
                  <a:schemeClr val="tx1"/>
                </a:solidFill>
                <a:effectLst/>
                <a:latin typeface="+mn-lt"/>
                <a:ea typeface="+mn-ea"/>
                <a:cs typeface="+mn-cs"/>
              </a:rPr>
              <a:t>Firms occupy specialized positions in supply chains throughout the economy, and they make risky, asset-specific investments all the time. </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In most circumstances, firms use contracts to allocate both risk and responsibility in a way that makes the relationship viable. When it is too difficult to manage risk by contract, firms may vertically integrate (thus aligning their incentives) or simply go their separate ways.</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In some cases, however—as for Google and the sites linked in its organic results—the parties don’t have a direct commercial relationship. This means that contractual risk allocation or compensation is unavailable.</a:t>
            </a:r>
            <a:endParaRPr lang="en-US" b="0" dirty="0">
              <a:effectLst/>
            </a:endParaRPr>
          </a:p>
          <a:p>
            <a:br>
              <a:rPr lang="en-US" dirty="0"/>
            </a:br>
            <a:endParaRPr dirty="0"/>
          </a:p>
        </p:txBody>
      </p:sp>
    </p:spTree>
    <p:extLst>
      <p:ext uri="{BB962C8B-B14F-4D97-AF65-F5344CB8AC3E}">
        <p14:creationId xmlns:p14="http://schemas.microsoft.com/office/powerpoint/2010/main" val="6625386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rtl="0"/>
            <a:r>
              <a:rPr lang="en-US" sz="1100" b="0" i="0" u="none" strike="noStrike" kern="1200" dirty="0">
                <a:solidFill>
                  <a:schemeClr val="tx1"/>
                </a:solidFill>
                <a:effectLst/>
                <a:latin typeface="+mn-lt"/>
                <a:ea typeface="+mn-ea"/>
                <a:cs typeface="+mn-cs"/>
              </a:rPr>
              <a:t>This latter state of affairs is the one at issue in the European Commission’s Google Shopping case. In its decision, the Commission asserts that Google’s prioritization of its own shopping results harms competition because it reduces traffic to comparison shopping sites, potentially foreclosing them from minimum viable scale and causing them to under-innovate. </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The decision does not identify actual consumer harm; it infers it from the reduction in traffic to comparison shopping sites, constituting an alleged impairment of an “effective competition structure.”</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But the fact that Google creates an opportunity for complementors to rely upon it doesn’t mean that a firm’s decision to do so—and to do so without a viable contingency plan—makes good business sense. In the case of comparison shopping sites, it was entirely predictable that Google’s algorithm would change over time. It was also entirely predictable that it would change in ways that could diminish or even eviscerate their traffic. As one online marketing/SEO expert put it: “counting on search engine traffic as your primary traffic source is a bit foolish to say the least. . . .”</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The problem with the superficial analysis that assumes harm from the diminution of traffic to independent competitors is this: Protecting complementors from the inherent risk in a business model in which they are entirely dependent upon another company with which they have no contractual relationship is at least as likely to encourage excessive risk taking and inefficient overinvestment as it is to ensure that investment and innovation aren’t too low.</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That any given complementor succeeded in the past is no reason to assume it “should” succeed in the future, especially against competition from a platform’s own, integrated product. Nor is it any reason to assume that, freed from the constraints of platform self-preferencing, it would provide any measure of innovation in the future. Indeed, the argument contains the seeds of its own demise: If platform discrimination is rampant, the fact that a complementor previously succeeded under different discriminatory conditions offers no reason to think that that there was an “effective competition structure” in the first place and thus that its previous success was in any way “merited.” Rather, under the terms of this argument, a complementor’s previous success was just a byproduct of the platform’s previous efforts to structure its ecosystem to advantage itself, and there is no basis for inferring a loss of competition simply because previously successful edge providers under one set of platform rules are later harmed under another.</a:t>
            </a:r>
            <a:endParaRPr lang="en-US" b="0" dirty="0">
              <a:effectLst/>
            </a:endParaRPr>
          </a:p>
          <a:p>
            <a:br>
              <a:rPr lang="en-US" dirty="0"/>
            </a:br>
            <a:endParaRPr dirty="0"/>
          </a:p>
        </p:txBody>
      </p:sp>
    </p:spTree>
    <p:extLst>
      <p:ext uri="{BB962C8B-B14F-4D97-AF65-F5344CB8AC3E}">
        <p14:creationId xmlns:p14="http://schemas.microsoft.com/office/powerpoint/2010/main" val="15364534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rtl="0"/>
            <a:r>
              <a:rPr lang="en-US" sz="1100" b="0" i="0" u="none" strike="noStrike" kern="1200" dirty="0">
                <a:solidFill>
                  <a:schemeClr val="tx1"/>
                </a:solidFill>
                <a:effectLst/>
                <a:latin typeface="+mn-lt"/>
                <a:ea typeface="+mn-ea"/>
                <a:cs typeface="+mn-cs"/>
              </a:rPr>
              <a:t>Finally, concerns about platform appropriation of edge innovations (or other advantages) simply discount to zero the benefits of platform innovation. But the consequence of policy based on such arguments would almost certainly be a reduction in overall innovation of the ecosystem, much to the cost of consumers and edge providers alike.</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It is important to note that the appropriation of edge innovation and its incorporation into the platform (a commonly decried form of platform self-preferencing) greatly enhances the innovation’s value by sharing it more broadly, ensuring its coherence with the platform, incentivizing optimal marketing and promotion, and the like. </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Consumers benefit when platforms innovate, at least as much as they benefit from edge innovation. </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And when a platform implements a new technology or business process, those benefits are conferred on all platform users; when an edge company does so the benefits are conferred only on the subset of platform users who interact with the particular edge provider. In other words, even if there is a cost in terms of reduced edge innovation, the immediate consumer welfare gains from platform appropriation may well outweigh those (speculative) losses.</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Consider the familiar refrain that Facebook appropriates Snapchat’s best innovations, undermining its ability to compete to the detriment of consumers. If Snapchat implements a feature it potentially reaches 382 million users; when Facebook implements the same feature it potentially reaches 2.5 billion users.</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Facebook is therefore capable of immediately reaching over 2 billion more users, thus leading to a significantly larger immediate increase in social welfare.</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This does not mean that Facebook should be immune from antitrust laws, or that its behavior with respect to all smaller competitors is necessarily procompetitive. </a:t>
            </a:r>
            <a:endParaRPr lang="en-US" b="0" dirty="0">
              <a:effectLst/>
            </a:endParaRPr>
          </a:p>
          <a:p>
            <a:pPr rtl="0"/>
            <a:endParaRPr lang="en-US" sz="1100" b="0" i="0" u="none" strike="noStrike" kern="1200" dirty="0">
              <a:solidFill>
                <a:schemeClr val="tx1"/>
              </a:solidFill>
              <a:effectLst/>
              <a:latin typeface="+mn-lt"/>
              <a:ea typeface="+mn-ea"/>
              <a:cs typeface="+mn-cs"/>
            </a:endParaRPr>
          </a:p>
          <a:p>
            <a:pPr rtl="0"/>
            <a:r>
              <a:rPr lang="en-US" sz="1100" b="0" i="0" u="none" strike="noStrike" kern="1200" dirty="0">
                <a:solidFill>
                  <a:schemeClr val="tx1"/>
                </a:solidFill>
                <a:effectLst/>
                <a:latin typeface="+mn-lt"/>
                <a:ea typeface="+mn-ea"/>
                <a:cs typeface="+mn-cs"/>
              </a:rPr>
              <a:t>It does mean, however, that its “appropriation” has immediate and substantial procompetitive benefits, and these must be weighed against the alleged, speculative, future harms. </a:t>
            </a:r>
            <a:endParaRPr lang="en-US" b="0" dirty="0">
              <a:effectLst/>
            </a:endParaRPr>
          </a:p>
          <a:p>
            <a:pPr rtl="0"/>
            <a:r>
              <a:rPr lang="en-US" sz="1100" b="0" i="0" u="none" strike="noStrike" kern="1200" dirty="0">
                <a:solidFill>
                  <a:schemeClr val="tx1"/>
                </a:solidFill>
                <a:effectLst/>
                <a:latin typeface="+mn-lt"/>
                <a:ea typeface="+mn-ea"/>
                <a:cs typeface="+mn-cs"/>
              </a:rPr>
              <a:t>Ultimately, without evidence or even rigorous theory demonstrating that the latter is substantially greater than the former (and neither has ever been offered), there is no valid basis for adopting an inhospitable stance toward such conduct.</a:t>
            </a:r>
            <a:endParaRPr lang="en-US" b="0" dirty="0">
              <a:effectLst/>
            </a:endParaRPr>
          </a:p>
        </p:txBody>
      </p:sp>
    </p:spTree>
    <p:extLst>
      <p:ext uri="{BB962C8B-B14F-4D97-AF65-F5344CB8AC3E}">
        <p14:creationId xmlns:p14="http://schemas.microsoft.com/office/powerpoint/2010/main" val="7391310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952500" y="685800"/>
            <a:ext cx="4953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bg>
      <p:bgPr>
        <a:solidFill>
          <a:schemeClr val="dk1"/>
        </a:solidFill>
        <a:effectLst/>
      </p:bgPr>
    </p:bg>
    <p:spTree>
      <p:nvGrpSpPr>
        <p:cNvPr id="1" name="Shape 9"/>
        <p:cNvGrpSpPr/>
        <p:nvPr/>
      </p:nvGrpSpPr>
      <p:grpSpPr>
        <a:xfrm>
          <a:off x="0" y="0"/>
          <a:ext cx="0" cy="0"/>
          <a:chOff x="0" y="0"/>
          <a:chExt cx="0" cy="0"/>
        </a:xfrm>
      </p:grpSpPr>
      <p:cxnSp>
        <p:nvCxnSpPr>
          <p:cNvPr id="10" name="Shape 10"/>
          <p:cNvCxnSpPr/>
          <p:nvPr/>
        </p:nvCxnSpPr>
        <p:spPr>
          <a:xfrm>
            <a:off x="2684201" y="554200"/>
            <a:ext cx="6764550" cy="0"/>
          </a:xfrm>
          <a:prstGeom prst="straightConnector1">
            <a:avLst/>
          </a:prstGeom>
          <a:noFill/>
          <a:ln w="38100" cap="flat" cmpd="sng">
            <a:solidFill>
              <a:schemeClr val="lt1"/>
            </a:solidFill>
            <a:prstDash val="solid"/>
            <a:round/>
            <a:headEnd type="none" w="med" len="med"/>
            <a:tailEnd type="none" w="med" len="med"/>
          </a:ln>
        </p:spPr>
      </p:cxnSp>
      <p:cxnSp>
        <p:nvCxnSpPr>
          <p:cNvPr id="11" name="Shape 11"/>
          <p:cNvCxnSpPr/>
          <p:nvPr/>
        </p:nvCxnSpPr>
        <p:spPr>
          <a:xfrm>
            <a:off x="2684201" y="6320000"/>
            <a:ext cx="6764550" cy="0"/>
          </a:xfrm>
          <a:prstGeom prst="straightConnector1">
            <a:avLst/>
          </a:prstGeom>
          <a:noFill/>
          <a:ln w="19050" cap="flat" cmpd="sng">
            <a:solidFill>
              <a:schemeClr val="lt1"/>
            </a:solidFill>
            <a:prstDash val="solid"/>
            <a:round/>
            <a:headEnd type="none" w="med" len="med"/>
            <a:tailEnd type="none" w="med" len="med"/>
          </a:ln>
        </p:spPr>
      </p:cxnSp>
      <p:cxnSp>
        <p:nvCxnSpPr>
          <p:cNvPr id="12" name="Shape 12"/>
          <p:cNvCxnSpPr/>
          <p:nvPr/>
        </p:nvCxnSpPr>
        <p:spPr>
          <a:xfrm>
            <a:off x="460632" y="554200"/>
            <a:ext cx="198575" cy="0"/>
          </a:xfrm>
          <a:prstGeom prst="straightConnector1">
            <a:avLst/>
          </a:prstGeom>
          <a:noFill/>
          <a:ln w="19050" cap="flat" cmpd="sng">
            <a:solidFill>
              <a:schemeClr val="lt1"/>
            </a:solidFill>
            <a:prstDash val="solid"/>
            <a:round/>
            <a:headEnd type="none" w="med" len="med"/>
            <a:tailEnd type="none" w="med" len="med"/>
          </a:ln>
        </p:spPr>
      </p:cxnSp>
      <p:sp>
        <p:nvSpPr>
          <p:cNvPr id="13" name="Shape 13"/>
          <p:cNvSpPr txBox="1">
            <a:spLocks noGrp="1"/>
          </p:cNvSpPr>
          <p:nvPr>
            <p:ph type="ctrTitle"/>
          </p:nvPr>
        </p:nvSpPr>
        <p:spPr>
          <a:xfrm>
            <a:off x="2569370" y="840300"/>
            <a:ext cx="6859125" cy="2056000"/>
          </a:xfrm>
          <a:prstGeom prst="rect">
            <a:avLst/>
          </a:prstGeom>
        </p:spPr>
        <p:txBody>
          <a:bodyPr lIns="91425" tIns="91425" rIns="91425" bIns="91425" anchor="t" anchorCtr="0"/>
          <a:lstStyle>
            <a:lvl1pPr lvl="0">
              <a:spcBef>
                <a:spcPts val="0"/>
              </a:spcBef>
              <a:buClr>
                <a:schemeClr val="lt1"/>
              </a:buClr>
              <a:buSzPct val="100000"/>
              <a:defRPr sz="5200">
                <a:solidFill>
                  <a:schemeClr val="lt1"/>
                </a:solidFill>
              </a:defRPr>
            </a:lvl1pPr>
            <a:lvl2pPr lvl="1">
              <a:spcBef>
                <a:spcPts val="0"/>
              </a:spcBef>
              <a:buClr>
                <a:schemeClr val="lt1"/>
              </a:buClr>
              <a:buSzPct val="100000"/>
              <a:defRPr sz="5200">
                <a:solidFill>
                  <a:schemeClr val="lt1"/>
                </a:solidFill>
              </a:defRPr>
            </a:lvl2pPr>
            <a:lvl3pPr lvl="2">
              <a:spcBef>
                <a:spcPts val="0"/>
              </a:spcBef>
              <a:buClr>
                <a:schemeClr val="lt1"/>
              </a:buClr>
              <a:buSzPct val="100000"/>
              <a:defRPr sz="5200">
                <a:solidFill>
                  <a:schemeClr val="lt1"/>
                </a:solidFill>
              </a:defRPr>
            </a:lvl3pPr>
            <a:lvl4pPr lvl="3">
              <a:spcBef>
                <a:spcPts val="0"/>
              </a:spcBef>
              <a:buClr>
                <a:schemeClr val="lt1"/>
              </a:buClr>
              <a:buSzPct val="100000"/>
              <a:defRPr sz="5200">
                <a:solidFill>
                  <a:schemeClr val="lt1"/>
                </a:solidFill>
              </a:defRPr>
            </a:lvl4pPr>
            <a:lvl5pPr lvl="4">
              <a:spcBef>
                <a:spcPts val="0"/>
              </a:spcBef>
              <a:buClr>
                <a:schemeClr val="lt1"/>
              </a:buClr>
              <a:buSzPct val="100000"/>
              <a:defRPr sz="5200">
                <a:solidFill>
                  <a:schemeClr val="lt1"/>
                </a:solidFill>
              </a:defRPr>
            </a:lvl5pPr>
            <a:lvl6pPr lvl="5">
              <a:spcBef>
                <a:spcPts val="0"/>
              </a:spcBef>
              <a:buClr>
                <a:schemeClr val="lt1"/>
              </a:buClr>
              <a:buSzPct val="100000"/>
              <a:defRPr sz="5200">
                <a:solidFill>
                  <a:schemeClr val="lt1"/>
                </a:solidFill>
              </a:defRPr>
            </a:lvl6pPr>
            <a:lvl7pPr lvl="6">
              <a:spcBef>
                <a:spcPts val="0"/>
              </a:spcBef>
              <a:buClr>
                <a:schemeClr val="lt1"/>
              </a:buClr>
              <a:buSzPct val="100000"/>
              <a:defRPr sz="5200">
                <a:solidFill>
                  <a:schemeClr val="lt1"/>
                </a:solidFill>
              </a:defRPr>
            </a:lvl7pPr>
            <a:lvl8pPr lvl="7">
              <a:spcBef>
                <a:spcPts val="0"/>
              </a:spcBef>
              <a:buClr>
                <a:schemeClr val="lt1"/>
              </a:buClr>
              <a:buSzPct val="100000"/>
              <a:defRPr sz="5200">
                <a:solidFill>
                  <a:schemeClr val="lt1"/>
                </a:solidFill>
              </a:defRPr>
            </a:lvl8pPr>
            <a:lvl9pPr lvl="8">
              <a:spcBef>
                <a:spcPts val="0"/>
              </a:spcBef>
              <a:buClr>
                <a:schemeClr val="lt1"/>
              </a:buClr>
              <a:buSzPct val="100000"/>
              <a:defRPr sz="5200">
                <a:solidFill>
                  <a:schemeClr val="lt1"/>
                </a:solidFill>
              </a:defRPr>
            </a:lvl9pPr>
          </a:lstStyle>
          <a:p>
            <a:endParaRPr/>
          </a:p>
        </p:txBody>
      </p:sp>
      <p:sp>
        <p:nvSpPr>
          <p:cNvPr id="14" name="Shape 14"/>
          <p:cNvSpPr txBox="1">
            <a:spLocks noGrp="1"/>
          </p:cNvSpPr>
          <p:nvPr>
            <p:ph type="subTitle" idx="1"/>
          </p:nvPr>
        </p:nvSpPr>
        <p:spPr>
          <a:xfrm>
            <a:off x="2589456" y="4317933"/>
            <a:ext cx="6859125" cy="1655600"/>
          </a:xfrm>
          <a:prstGeom prst="rect">
            <a:avLst/>
          </a:prstGeom>
        </p:spPr>
        <p:txBody>
          <a:bodyPr lIns="91425" tIns="91425" rIns="91425" bIns="91425" anchor="b" anchorCtr="0"/>
          <a:lstStyle>
            <a:lvl1pPr lvl="0">
              <a:lnSpc>
                <a:spcPct val="100000"/>
              </a:lnSpc>
              <a:spcBef>
                <a:spcPts val="0"/>
              </a:spcBef>
              <a:spcAft>
                <a:spcPts val="0"/>
              </a:spcAft>
              <a:buClr>
                <a:schemeClr val="lt1"/>
              </a:buClr>
              <a:buNone/>
              <a:defRPr>
                <a:solidFill>
                  <a:schemeClr val="lt1"/>
                </a:solidFill>
              </a:defRPr>
            </a:lvl1pPr>
            <a:lvl2pPr lvl="1">
              <a:lnSpc>
                <a:spcPct val="100000"/>
              </a:lnSpc>
              <a:spcBef>
                <a:spcPts val="0"/>
              </a:spcBef>
              <a:spcAft>
                <a:spcPts val="0"/>
              </a:spcAft>
              <a:buClr>
                <a:schemeClr val="lt1"/>
              </a:buClr>
              <a:buSzPct val="100000"/>
              <a:buNone/>
              <a:defRPr sz="1950">
                <a:solidFill>
                  <a:schemeClr val="lt1"/>
                </a:solidFill>
              </a:defRPr>
            </a:lvl2pPr>
            <a:lvl3pPr lvl="2">
              <a:lnSpc>
                <a:spcPct val="100000"/>
              </a:lnSpc>
              <a:spcBef>
                <a:spcPts val="0"/>
              </a:spcBef>
              <a:spcAft>
                <a:spcPts val="0"/>
              </a:spcAft>
              <a:buClr>
                <a:schemeClr val="lt1"/>
              </a:buClr>
              <a:buSzPct val="100000"/>
              <a:buNone/>
              <a:defRPr sz="1950">
                <a:solidFill>
                  <a:schemeClr val="lt1"/>
                </a:solidFill>
              </a:defRPr>
            </a:lvl3pPr>
            <a:lvl4pPr lvl="3">
              <a:lnSpc>
                <a:spcPct val="100000"/>
              </a:lnSpc>
              <a:spcBef>
                <a:spcPts val="0"/>
              </a:spcBef>
              <a:spcAft>
                <a:spcPts val="0"/>
              </a:spcAft>
              <a:buClr>
                <a:schemeClr val="lt1"/>
              </a:buClr>
              <a:buSzPct val="100000"/>
              <a:buNone/>
              <a:defRPr sz="1950">
                <a:solidFill>
                  <a:schemeClr val="lt1"/>
                </a:solidFill>
              </a:defRPr>
            </a:lvl4pPr>
            <a:lvl5pPr lvl="4">
              <a:lnSpc>
                <a:spcPct val="100000"/>
              </a:lnSpc>
              <a:spcBef>
                <a:spcPts val="0"/>
              </a:spcBef>
              <a:spcAft>
                <a:spcPts val="0"/>
              </a:spcAft>
              <a:buClr>
                <a:schemeClr val="lt1"/>
              </a:buClr>
              <a:buSzPct val="100000"/>
              <a:buNone/>
              <a:defRPr sz="1950">
                <a:solidFill>
                  <a:schemeClr val="lt1"/>
                </a:solidFill>
              </a:defRPr>
            </a:lvl5pPr>
            <a:lvl6pPr lvl="5">
              <a:lnSpc>
                <a:spcPct val="100000"/>
              </a:lnSpc>
              <a:spcBef>
                <a:spcPts val="0"/>
              </a:spcBef>
              <a:spcAft>
                <a:spcPts val="0"/>
              </a:spcAft>
              <a:buClr>
                <a:schemeClr val="lt1"/>
              </a:buClr>
              <a:buSzPct val="100000"/>
              <a:buNone/>
              <a:defRPr sz="1950">
                <a:solidFill>
                  <a:schemeClr val="lt1"/>
                </a:solidFill>
              </a:defRPr>
            </a:lvl6pPr>
            <a:lvl7pPr lvl="6">
              <a:lnSpc>
                <a:spcPct val="100000"/>
              </a:lnSpc>
              <a:spcBef>
                <a:spcPts val="0"/>
              </a:spcBef>
              <a:spcAft>
                <a:spcPts val="0"/>
              </a:spcAft>
              <a:buClr>
                <a:schemeClr val="lt1"/>
              </a:buClr>
              <a:buSzPct val="100000"/>
              <a:buNone/>
              <a:defRPr sz="1950">
                <a:solidFill>
                  <a:schemeClr val="lt1"/>
                </a:solidFill>
              </a:defRPr>
            </a:lvl7pPr>
            <a:lvl8pPr lvl="7">
              <a:lnSpc>
                <a:spcPct val="100000"/>
              </a:lnSpc>
              <a:spcBef>
                <a:spcPts val="0"/>
              </a:spcBef>
              <a:spcAft>
                <a:spcPts val="0"/>
              </a:spcAft>
              <a:buClr>
                <a:schemeClr val="lt1"/>
              </a:buClr>
              <a:buSzPct val="100000"/>
              <a:buNone/>
              <a:defRPr sz="1950">
                <a:solidFill>
                  <a:schemeClr val="lt1"/>
                </a:solidFill>
              </a:defRPr>
            </a:lvl8pPr>
            <a:lvl9pPr lvl="8">
              <a:lnSpc>
                <a:spcPct val="100000"/>
              </a:lnSpc>
              <a:spcBef>
                <a:spcPts val="0"/>
              </a:spcBef>
              <a:spcAft>
                <a:spcPts val="0"/>
              </a:spcAft>
              <a:buClr>
                <a:schemeClr val="lt1"/>
              </a:buClr>
              <a:buSzPct val="100000"/>
              <a:buNone/>
              <a:defRPr sz="1950">
                <a:solidFill>
                  <a:schemeClr val="lt1"/>
                </a:solidFill>
              </a:defRPr>
            </a:lvl9pPr>
          </a:lstStyle>
          <a:p>
            <a:endParaRPr/>
          </a:p>
        </p:txBody>
      </p:sp>
      <p:sp>
        <p:nvSpPr>
          <p:cNvPr id="15" name="Shape 15"/>
          <p:cNvSpPr txBox="1">
            <a:spLocks noGrp="1"/>
          </p:cNvSpPr>
          <p:nvPr>
            <p:ph type="sldNum" idx="12"/>
          </p:nvPr>
        </p:nvSpPr>
        <p:spPr>
          <a:xfrm>
            <a:off x="9206166" y="6251677"/>
            <a:ext cx="594425" cy="524800"/>
          </a:xfrm>
          <a:prstGeom prst="rect">
            <a:avLst/>
          </a:prstGeom>
        </p:spPr>
        <p:txBody>
          <a:bodyPr lIns="91425" tIns="91425" rIns="91425" bIns="91425" anchor="ctr" anchorCtr="0">
            <a:noAutofit/>
          </a:bodyPr>
          <a:lstStyle/>
          <a:p>
            <a:fld id="{00000000-1234-1234-1234-123412341234}" type="slidenum">
              <a:rPr lang="en" smtClean="0">
                <a:solidFill>
                  <a:schemeClr val="lt1"/>
                </a:solidFill>
              </a:rPr>
              <a:pPr/>
              <a:t>‹#›</a:t>
            </a:fld>
            <a:endParaRPr lang="en" dirty="0">
              <a:solidFill>
                <a:schemeClr val="lt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bg>
      <p:bgPr>
        <a:solidFill>
          <a:schemeClr val="dk1"/>
        </a:solidFill>
        <a:effectLst/>
      </p:bgPr>
    </p:bg>
    <p:spTree>
      <p:nvGrpSpPr>
        <p:cNvPr id="1" name="Shape 16"/>
        <p:cNvGrpSpPr/>
        <p:nvPr/>
      </p:nvGrpSpPr>
      <p:grpSpPr>
        <a:xfrm>
          <a:off x="0" y="0"/>
          <a:ext cx="0" cy="0"/>
          <a:chOff x="0" y="0"/>
          <a:chExt cx="0" cy="0"/>
        </a:xfrm>
      </p:grpSpPr>
      <p:cxnSp>
        <p:nvCxnSpPr>
          <p:cNvPr id="17" name="Shape 17"/>
          <p:cNvCxnSpPr/>
          <p:nvPr/>
        </p:nvCxnSpPr>
        <p:spPr>
          <a:xfrm>
            <a:off x="460633" y="554200"/>
            <a:ext cx="8988200" cy="0"/>
          </a:xfrm>
          <a:prstGeom prst="straightConnector1">
            <a:avLst/>
          </a:prstGeom>
          <a:noFill/>
          <a:ln w="38100" cap="flat" cmpd="sng">
            <a:solidFill>
              <a:schemeClr val="lt1"/>
            </a:solidFill>
            <a:prstDash val="solid"/>
            <a:round/>
            <a:headEnd type="none" w="med" len="med"/>
            <a:tailEnd type="none" w="med" len="med"/>
          </a:ln>
        </p:spPr>
      </p:cxnSp>
      <p:cxnSp>
        <p:nvCxnSpPr>
          <p:cNvPr id="18" name="Shape 18"/>
          <p:cNvCxnSpPr/>
          <p:nvPr/>
        </p:nvCxnSpPr>
        <p:spPr>
          <a:xfrm>
            <a:off x="460633" y="6320000"/>
            <a:ext cx="8988200" cy="0"/>
          </a:xfrm>
          <a:prstGeom prst="straightConnector1">
            <a:avLst/>
          </a:prstGeom>
          <a:noFill/>
          <a:ln w="19050" cap="flat" cmpd="sng">
            <a:solidFill>
              <a:schemeClr val="lt1"/>
            </a:solidFill>
            <a:prstDash val="solid"/>
            <a:round/>
            <a:headEnd type="none" w="med" len="med"/>
            <a:tailEnd type="none" w="med" len="med"/>
          </a:ln>
        </p:spPr>
      </p:cxnSp>
      <p:sp>
        <p:nvSpPr>
          <p:cNvPr id="19" name="Shape 19"/>
          <p:cNvSpPr txBox="1">
            <a:spLocks noGrp="1"/>
          </p:cNvSpPr>
          <p:nvPr>
            <p:ph type="title"/>
          </p:nvPr>
        </p:nvSpPr>
        <p:spPr>
          <a:xfrm>
            <a:off x="440294" y="2409100"/>
            <a:ext cx="8988200" cy="2056000"/>
          </a:xfrm>
          <a:prstGeom prst="rect">
            <a:avLst/>
          </a:prstGeom>
        </p:spPr>
        <p:txBody>
          <a:bodyPr lIns="91425" tIns="91425" rIns="91425" bIns="91425" anchor="ctr" anchorCtr="0"/>
          <a:lstStyle>
            <a:lvl1pPr lvl="0" algn="ctr">
              <a:spcBef>
                <a:spcPts val="0"/>
              </a:spcBef>
              <a:buClr>
                <a:schemeClr val="lt1"/>
              </a:buClr>
              <a:buSzPct val="100000"/>
              <a:defRPr sz="5200">
                <a:solidFill>
                  <a:schemeClr val="lt1"/>
                </a:solidFill>
              </a:defRPr>
            </a:lvl1pPr>
            <a:lvl2pPr lvl="1" algn="ctr">
              <a:spcBef>
                <a:spcPts val="0"/>
              </a:spcBef>
              <a:buClr>
                <a:schemeClr val="lt1"/>
              </a:buClr>
              <a:buSzPct val="100000"/>
              <a:defRPr sz="5200">
                <a:solidFill>
                  <a:schemeClr val="lt1"/>
                </a:solidFill>
              </a:defRPr>
            </a:lvl2pPr>
            <a:lvl3pPr lvl="2" algn="ctr">
              <a:spcBef>
                <a:spcPts val="0"/>
              </a:spcBef>
              <a:buClr>
                <a:schemeClr val="lt1"/>
              </a:buClr>
              <a:buSzPct val="100000"/>
              <a:defRPr sz="5200">
                <a:solidFill>
                  <a:schemeClr val="lt1"/>
                </a:solidFill>
              </a:defRPr>
            </a:lvl3pPr>
            <a:lvl4pPr lvl="3" algn="ctr">
              <a:spcBef>
                <a:spcPts val="0"/>
              </a:spcBef>
              <a:buClr>
                <a:schemeClr val="lt1"/>
              </a:buClr>
              <a:buSzPct val="100000"/>
              <a:defRPr sz="5200">
                <a:solidFill>
                  <a:schemeClr val="lt1"/>
                </a:solidFill>
              </a:defRPr>
            </a:lvl4pPr>
            <a:lvl5pPr lvl="4" algn="ctr">
              <a:spcBef>
                <a:spcPts val="0"/>
              </a:spcBef>
              <a:buClr>
                <a:schemeClr val="lt1"/>
              </a:buClr>
              <a:buSzPct val="100000"/>
              <a:defRPr sz="5200">
                <a:solidFill>
                  <a:schemeClr val="lt1"/>
                </a:solidFill>
              </a:defRPr>
            </a:lvl5pPr>
            <a:lvl6pPr lvl="5" algn="ctr">
              <a:spcBef>
                <a:spcPts val="0"/>
              </a:spcBef>
              <a:buClr>
                <a:schemeClr val="lt1"/>
              </a:buClr>
              <a:buSzPct val="100000"/>
              <a:defRPr sz="5200">
                <a:solidFill>
                  <a:schemeClr val="lt1"/>
                </a:solidFill>
              </a:defRPr>
            </a:lvl6pPr>
            <a:lvl7pPr lvl="6" algn="ctr">
              <a:spcBef>
                <a:spcPts val="0"/>
              </a:spcBef>
              <a:buClr>
                <a:schemeClr val="lt1"/>
              </a:buClr>
              <a:buSzPct val="100000"/>
              <a:defRPr sz="5200">
                <a:solidFill>
                  <a:schemeClr val="lt1"/>
                </a:solidFill>
              </a:defRPr>
            </a:lvl7pPr>
            <a:lvl8pPr lvl="7" algn="ctr">
              <a:spcBef>
                <a:spcPts val="0"/>
              </a:spcBef>
              <a:buClr>
                <a:schemeClr val="lt1"/>
              </a:buClr>
              <a:buSzPct val="100000"/>
              <a:defRPr sz="5200">
                <a:solidFill>
                  <a:schemeClr val="lt1"/>
                </a:solidFill>
              </a:defRPr>
            </a:lvl8pPr>
            <a:lvl9pPr lvl="8" algn="ctr">
              <a:spcBef>
                <a:spcPts val="0"/>
              </a:spcBef>
              <a:buClr>
                <a:schemeClr val="lt1"/>
              </a:buClr>
              <a:buSzPct val="100000"/>
              <a:defRPr sz="5200">
                <a:solidFill>
                  <a:schemeClr val="lt1"/>
                </a:solidFill>
              </a:defRPr>
            </a:lvl9pPr>
          </a:lstStyle>
          <a:p>
            <a:endParaRPr/>
          </a:p>
        </p:txBody>
      </p:sp>
      <p:sp>
        <p:nvSpPr>
          <p:cNvPr id="20" name="Shape 20"/>
          <p:cNvSpPr txBox="1">
            <a:spLocks noGrp="1"/>
          </p:cNvSpPr>
          <p:nvPr>
            <p:ph type="sldNum" idx="12"/>
          </p:nvPr>
        </p:nvSpPr>
        <p:spPr>
          <a:xfrm>
            <a:off x="9206166" y="6251677"/>
            <a:ext cx="594425" cy="524800"/>
          </a:xfrm>
          <a:prstGeom prst="rect">
            <a:avLst/>
          </a:prstGeom>
        </p:spPr>
        <p:txBody>
          <a:bodyPr lIns="91425" tIns="91425" rIns="91425" bIns="91425" anchor="ctr" anchorCtr="0">
            <a:noAutofit/>
          </a:bodyPr>
          <a:lstStyle/>
          <a:p>
            <a:fld id="{00000000-1234-1234-1234-123412341234}" type="slidenum">
              <a:rPr lang="en" smtClean="0">
                <a:solidFill>
                  <a:schemeClr val="lt1"/>
                </a:solidFill>
              </a:rPr>
              <a:pPr/>
              <a:t>‹#›</a:t>
            </a:fld>
            <a:endParaRPr lang="en" dirty="0">
              <a:solidFill>
                <a:schemeClr val="lt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21"/>
        <p:cNvGrpSpPr/>
        <p:nvPr/>
      </p:nvGrpSpPr>
      <p:grpSpPr>
        <a:xfrm>
          <a:off x="0" y="0"/>
          <a:ext cx="0" cy="0"/>
          <a:chOff x="0" y="0"/>
          <a:chExt cx="0" cy="0"/>
        </a:xfrm>
      </p:grpSpPr>
      <p:cxnSp>
        <p:nvCxnSpPr>
          <p:cNvPr id="22" name="Shape 22"/>
          <p:cNvCxnSpPr/>
          <p:nvPr/>
        </p:nvCxnSpPr>
        <p:spPr>
          <a:xfrm>
            <a:off x="2684201" y="554200"/>
            <a:ext cx="6764550" cy="0"/>
          </a:xfrm>
          <a:prstGeom prst="straightConnector1">
            <a:avLst/>
          </a:prstGeom>
          <a:noFill/>
          <a:ln w="38100" cap="flat" cmpd="sng">
            <a:solidFill>
              <a:schemeClr val="dk2"/>
            </a:solidFill>
            <a:prstDash val="solid"/>
            <a:round/>
            <a:headEnd type="none" w="med" len="med"/>
            <a:tailEnd type="none" w="med" len="med"/>
          </a:ln>
        </p:spPr>
      </p:cxnSp>
      <p:cxnSp>
        <p:nvCxnSpPr>
          <p:cNvPr id="23" name="Shape 23"/>
          <p:cNvCxnSpPr/>
          <p:nvPr/>
        </p:nvCxnSpPr>
        <p:spPr>
          <a:xfrm>
            <a:off x="2684201" y="6320000"/>
            <a:ext cx="6764550" cy="0"/>
          </a:xfrm>
          <a:prstGeom prst="straightConnector1">
            <a:avLst/>
          </a:prstGeom>
          <a:noFill/>
          <a:ln w="19050" cap="flat" cmpd="sng">
            <a:solidFill>
              <a:schemeClr val="dk2"/>
            </a:solidFill>
            <a:prstDash val="solid"/>
            <a:round/>
            <a:headEnd type="none" w="med" len="med"/>
            <a:tailEnd type="none" w="med" len="med"/>
          </a:ln>
        </p:spPr>
      </p:cxnSp>
      <p:cxnSp>
        <p:nvCxnSpPr>
          <p:cNvPr id="24" name="Shape 24"/>
          <p:cNvCxnSpPr/>
          <p:nvPr/>
        </p:nvCxnSpPr>
        <p:spPr>
          <a:xfrm>
            <a:off x="460632" y="554200"/>
            <a:ext cx="198575" cy="0"/>
          </a:xfrm>
          <a:prstGeom prst="straightConnector1">
            <a:avLst/>
          </a:prstGeom>
          <a:noFill/>
          <a:ln w="19050" cap="flat" cmpd="sng">
            <a:solidFill>
              <a:schemeClr val="dk2"/>
            </a:solidFill>
            <a:prstDash val="solid"/>
            <a:round/>
            <a:headEnd type="none" w="med" len="med"/>
            <a:tailEnd type="none" w="med" len="med"/>
          </a:ln>
        </p:spPr>
      </p:cxnSp>
      <p:sp>
        <p:nvSpPr>
          <p:cNvPr id="25" name="Shape 25"/>
          <p:cNvSpPr txBox="1">
            <a:spLocks noGrp="1"/>
          </p:cNvSpPr>
          <p:nvPr>
            <p:ph type="title"/>
          </p:nvPr>
        </p:nvSpPr>
        <p:spPr>
          <a:xfrm>
            <a:off x="2600270" y="767933"/>
            <a:ext cx="6848400" cy="847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6" name="Shape 26"/>
          <p:cNvSpPr txBox="1">
            <a:spLocks noGrp="1"/>
          </p:cNvSpPr>
          <p:nvPr>
            <p:ph type="body" idx="1"/>
          </p:nvPr>
        </p:nvSpPr>
        <p:spPr>
          <a:xfrm>
            <a:off x="2610955" y="2127703"/>
            <a:ext cx="6848400" cy="4003199"/>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7" name="Shape 27"/>
          <p:cNvSpPr txBox="1">
            <a:spLocks noGrp="1"/>
          </p:cNvSpPr>
          <p:nvPr>
            <p:ph type="sldNum" idx="12"/>
          </p:nvPr>
        </p:nvSpPr>
        <p:spPr>
          <a:xfrm>
            <a:off x="9206166" y="6251677"/>
            <a:ext cx="594425" cy="524800"/>
          </a:xfrm>
          <a:prstGeom prst="rect">
            <a:avLst/>
          </a:prstGeom>
        </p:spPr>
        <p:txBody>
          <a:bodyPr lIns="91425" tIns="91425" rIns="91425" bIns="91425" anchor="ctr" anchorCtr="0">
            <a:noAutofit/>
          </a:bodyPr>
          <a:lstStyle/>
          <a:p>
            <a:fld id="{00000000-1234-1234-1234-123412341234}" type="slidenum">
              <a:rPr lang="en" smtClean="0"/>
              <a:pPr/>
              <a:t>‹#›</a:t>
            </a:fld>
            <a:endParaRPr lang="e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8"/>
        <p:cNvGrpSpPr/>
        <p:nvPr/>
      </p:nvGrpSpPr>
      <p:grpSpPr>
        <a:xfrm>
          <a:off x="0" y="0"/>
          <a:ext cx="0" cy="0"/>
          <a:chOff x="0" y="0"/>
          <a:chExt cx="0" cy="0"/>
        </a:xfrm>
      </p:grpSpPr>
      <p:cxnSp>
        <p:nvCxnSpPr>
          <p:cNvPr id="29" name="Shape 29"/>
          <p:cNvCxnSpPr/>
          <p:nvPr/>
        </p:nvCxnSpPr>
        <p:spPr>
          <a:xfrm>
            <a:off x="2684201" y="554200"/>
            <a:ext cx="6764550" cy="0"/>
          </a:xfrm>
          <a:prstGeom prst="straightConnector1">
            <a:avLst/>
          </a:prstGeom>
          <a:noFill/>
          <a:ln w="38100" cap="flat" cmpd="sng">
            <a:solidFill>
              <a:schemeClr val="dk2"/>
            </a:solidFill>
            <a:prstDash val="solid"/>
            <a:round/>
            <a:headEnd type="none" w="med" len="med"/>
            <a:tailEnd type="none" w="med" len="med"/>
          </a:ln>
        </p:spPr>
      </p:cxnSp>
      <p:cxnSp>
        <p:nvCxnSpPr>
          <p:cNvPr id="30" name="Shape 30"/>
          <p:cNvCxnSpPr/>
          <p:nvPr/>
        </p:nvCxnSpPr>
        <p:spPr>
          <a:xfrm>
            <a:off x="2684201" y="6320000"/>
            <a:ext cx="6764550" cy="0"/>
          </a:xfrm>
          <a:prstGeom prst="straightConnector1">
            <a:avLst/>
          </a:prstGeom>
          <a:noFill/>
          <a:ln w="19050" cap="flat" cmpd="sng">
            <a:solidFill>
              <a:schemeClr val="dk2"/>
            </a:solidFill>
            <a:prstDash val="solid"/>
            <a:round/>
            <a:headEnd type="none" w="med" len="med"/>
            <a:tailEnd type="none" w="med" len="med"/>
          </a:ln>
        </p:spPr>
      </p:cxnSp>
      <p:cxnSp>
        <p:nvCxnSpPr>
          <p:cNvPr id="31" name="Shape 31"/>
          <p:cNvCxnSpPr/>
          <p:nvPr/>
        </p:nvCxnSpPr>
        <p:spPr>
          <a:xfrm>
            <a:off x="460632" y="554200"/>
            <a:ext cx="198575" cy="0"/>
          </a:xfrm>
          <a:prstGeom prst="straightConnector1">
            <a:avLst/>
          </a:prstGeom>
          <a:noFill/>
          <a:ln w="19050" cap="flat" cmpd="sng">
            <a:solidFill>
              <a:schemeClr val="dk2"/>
            </a:solidFill>
            <a:prstDash val="solid"/>
            <a:round/>
            <a:headEnd type="none" w="med" len="med"/>
            <a:tailEnd type="none" w="med" len="med"/>
          </a:ln>
        </p:spPr>
      </p:cxnSp>
      <p:sp>
        <p:nvSpPr>
          <p:cNvPr id="32" name="Shape 32"/>
          <p:cNvSpPr txBox="1">
            <a:spLocks noGrp="1"/>
          </p:cNvSpPr>
          <p:nvPr>
            <p:ph type="title"/>
          </p:nvPr>
        </p:nvSpPr>
        <p:spPr>
          <a:xfrm>
            <a:off x="2600270" y="767933"/>
            <a:ext cx="6848400" cy="847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33" name="Shape 33"/>
          <p:cNvSpPr txBox="1">
            <a:spLocks noGrp="1"/>
          </p:cNvSpPr>
          <p:nvPr>
            <p:ph type="body" idx="1"/>
          </p:nvPr>
        </p:nvSpPr>
        <p:spPr>
          <a:xfrm>
            <a:off x="2600328" y="2136900"/>
            <a:ext cx="3327350" cy="4003200"/>
          </a:xfrm>
          <a:prstGeom prst="rect">
            <a:avLst/>
          </a:prstGeom>
        </p:spPr>
        <p:txBody>
          <a:bodyPr lIns="91425" tIns="91425" rIns="91425" bIns="91425" anchor="t" anchorCtr="0"/>
          <a:lstStyle>
            <a:lvl1pPr lvl="0">
              <a:spcBef>
                <a:spcPts val="0"/>
              </a:spcBef>
              <a:buSzPct val="100000"/>
              <a:defRPr sz="1517"/>
            </a:lvl1pPr>
            <a:lvl2pPr lvl="1">
              <a:spcBef>
                <a:spcPts val="0"/>
              </a:spcBef>
              <a:buSzPct val="100000"/>
              <a:defRPr sz="1300"/>
            </a:lvl2pPr>
            <a:lvl3pPr lvl="2">
              <a:spcBef>
                <a:spcPts val="0"/>
              </a:spcBef>
              <a:buSzPct val="100000"/>
              <a:defRPr sz="1300"/>
            </a:lvl3pPr>
            <a:lvl4pPr lvl="3">
              <a:spcBef>
                <a:spcPts val="0"/>
              </a:spcBef>
              <a:buSzPct val="100000"/>
              <a:defRPr sz="1300"/>
            </a:lvl4pPr>
            <a:lvl5pPr lvl="4">
              <a:spcBef>
                <a:spcPts val="0"/>
              </a:spcBef>
              <a:buSzPct val="100000"/>
              <a:defRPr sz="1300"/>
            </a:lvl5pPr>
            <a:lvl6pPr lvl="5">
              <a:spcBef>
                <a:spcPts val="0"/>
              </a:spcBef>
              <a:buSzPct val="100000"/>
              <a:defRPr sz="1300"/>
            </a:lvl6pPr>
            <a:lvl7pPr lvl="6">
              <a:spcBef>
                <a:spcPts val="0"/>
              </a:spcBef>
              <a:buSzPct val="100000"/>
              <a:defRPr sz="1300"/>
            </a:lvl7pPr>
            <a:lvl8pPr lvl="7">
              <a:spcBef>
                <a:spcPts val="0"/>
              </a:spcBef>
              <a:buSzPct val="100000"/>
              <a:defRPr sz="1300"/>
            </a:lvl8pPr>
            <a:lvl9pPr lvl="8">
              <a:spcBef>
                <a:spcPts val="0"/>
              </a:spcBef>
              <a:buSzPct val="100000"/>
              <a:defRPr sz="1300"/>
            </a:lvl9pPr>
          </a:lstStyle>
          <a:p>
            <a:endParaRPr/>
          </a:p>
        </p:txBody>
      </p:sp>
      <p:sp>
        <p:nvSpPr>
          <p:cNvPr id="34" name="Shape 34"/>
          <p:cNvSpPr txBox="1">
            <a:spLocks noGrp="1"/>
          </p:cNvSpPr>
          <p:nvPr>
            <p:ph type="body" idx="2"/>
          </p:nvPr>
        </p:nvSpPr>
        <p:spPr>
          <a:xfrm>
            <a:off x="6121452" y="2136900"/>
            <a:ext cx="3327350" cy="4003200"/>
          </a:xfrm>
          <a:prstGeom prst="rect">
            <a:avLst/>
          </a:prstGeom>
        </p:spPr>
        <p:txBody>
          <a:bodyPr lIns="91425" tIns="91425" rIns="91425" bIns="91425" anchor="t" anchorCtr="0"/>
          <a:lstStyle>
            <a:lvl1pPr lvl="0">
              <a:spcBef>
                <a:spcPts val="0"/>
              </a:spcBef>
              <a:buSzPct val="100000"/>
              <a:defRPr sz="1517"/>
            </a:lvl1pPr>
            <a:lvl2pPr lvl="1">
              <a:spcBef>
                <a:spcPts val="0"/>
              </a:spcBef>
              <a:buSzPct val="100000"/>
              <a:defRPr sz="1300"/>
            </a:lvl2pPr>
            <a:lvl3pPr lvl="2">
              <a:spcBef>
                <a:spcPts val="0"/>
              </a:spcBef>
              <a:buSzPct val="100000"/>
              <a:defRPr sz="1300"/>
            </a:lvl3pPr>
            <a:lvl4pPr lvl="3">
              <a:spcBef>
                <a:spcPts val="0"/>
              </a:spcBef>
              <a:buSzPct val="100000"/>
              <a:defRPr sz="1300"/>
            </a:lvl4pPr>
            <a:lvl5pPr lvl="4">
              <a:spcBef>
                <a:spcPts val="0"/>
              </a:spcBef>
              <a:buSzPct val="100000"/>
              <a:defRPr sz="1300"/>
            </a:lvl5pPr>
            <a:lvl6pPr lvl="5">
              <a:spcBef>
                <a:spcPts val="0"/>
              </a:spcBef>
              <a:buSzPct val="100000"/>
              <a:defRPr sz="1300"/>
            </a:lvl6pPr>
            <a:lvl7pPr lvl="6">
              <a:spcBef>
                <a:spcPts val="0"/>
              </a:spcBef>
              <a:buSzPct val="100000"/>
              <a:defRPr sz="1300"/>
            </a:lvl7pPr>
            <a:lvl8pPr lvl="7">
              <a:spcBef>
                <a:spcPts val="0"/>
              </a:spcBef>
              <a:buSzPct val="100000"/>
              <a:defRPr sz="1300"/>
            </a:lvl8pPr>
            <a:lvl9pPr lvl="8">
              <a:spcBef>
                <a:spcPts val="0"/>
              </a:spcBef>
              <a:buSzPct val="100000"/>
              <a:defRPr sz="1300"/>
            </a:lvl9pPr>
          </a:lstStyle>
          <a:p>
            <a:endParaRPr/>
          </a:p>
        </p:txBody>
      </p:sp>
      <p:sp>
        <p:nvSpPr>
          <p:cNvPr id="35" name="Shape 35"/>
          <p:cNvSpPr txBox="1">
            <a:spLocks noGrp="1"/>
          </p:cNvSpPr>
          <p:nvPr>
            <p:ph type="sldNum" idx="12"/>
          </p:nvPr>
        </p:nvSpPr>
        <p:spPr>
          <a:xfrm>
            <a:off x="9206166" y="6251677"/>
            <a:ext cx="594425" cy="524800"/>
          </a:xfrm>
          <a:prstGeom prst="rect">
            <a:avLst/>
          </a:prstGeom>
        </p:spPr>
        <p:txBody>
          <a:bodyPr lIns="91425" tIns="91425" rIns="91425" bIns="91425" anchor="ctr" anchorCtr="0">
            <a:noAutofit/>
          </a:bodyPr>
          <a:lstStyle/>
          <a:p>
            <a:fld id="{00000000-1234-1234-1234-123412341234}" type="slidenum">
              <a:rPr lang="en" smtClean="0"/>
              <a:pPr/>
              <a:t>‹#›</a:t>
            </a:fld>
            <a:endParaRPr lang="e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6"/>
        <p:cNvGrpSpPr/>
        <p:nvPr/>
      </p:nvGrpSpPr>
      <p:grpSpPr>
        <a:xfrm>
          <a:off x="0" y="0"/>
          <a:ext cx="0" cy="0"/>
          <a:chOff x="0" y="0"/>
          <a:chExt cx="0" cy="0"/>
        </a:xfrm>
      </p:grpSpPr>
      <p:sp>
        <p:nvSpPr>
          <p:cNvPr id="37" name="Shape 37"/>
          <p:cNvSpPr txBox="1">
            <a:spLocks noGrp="1"/>
          </p:cNvSpPr>
          <p:nvPr>
            <p:ph type="title"/>
          </p:nvPr>
        </p:nvSpPr>
        <p:spPr>
          <a:xfrm>
            <a:off x="328575" y="548767"/>
            <a:ext cx="9230650" cy="8528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38" name="Shape 38"/>
          <p:cNvSpPr txBox="1">
            <a:spLocks noGrp="1"/>
          </p:cNvSpPr>
          <p:nvPr>
            <p:ph type="sldNum" idx="12"/>
          </p:nvPr>
        </p:nvSpPr>
        <p:spPr>
          <a:xfrm>
            <a:off x="9206166" y="6251677"/>
            <a:ext cx="594425" cy="524800"/>
          </a:xfrm>
          <a:prstGeom prst="rect">
            <a:avLst/>
          </a:prstGeom>
        </p:spPr>
        <p:txBody>
          <a:bodyPr lIns="91425" tIns="91425" rIns="91425" bIns="91425" anchor="ctr" anchorCtr="0">
            <a:noAutofit/>
          </a:bodyPr>
          <a:lstStyle/>
          <a:p>
            <a:fld id="{00000000-1234-1234-1234-123412341234}" type="slidenum">
              <a:rPr lang="en" smtClean="0"/>
              <a:pPr/>
              <a:t>‹#›</a:t>
            </a:fld>
            <a:endParaRPr lang="e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9"/>
        <p:cNvGrpSpPr/>
        <p:nvPr/>
      </p:nvGrpSpPr>
      <p:grpSpPr>
        <a:xfrm>
          <a:off x="0" y="0"/>
          <a:ext cx="0" cy="0"/>
          <a:chOff x="0" y="0"/>
          <a:chExt cx="0" cy="0"/>
        </a:xfrm>
      </p:grpSpPr>
      <p:cxnSp>
        <p:nvCxnSpPr>
          <p:cNvPr id="40" name="Shape 40"/>
          <p:cNvCxnSpPr/>
          <p:nvPr/>
        </p:nvCxnSpPr>
        <p:spPr>
          <a:xfrm>
            <a:off x="460632" y="554200"/>
            <a:ext cx="198575" cy="0"/>
          </a:xfrm>
          <a:prstGeom prst="straightConnector1">
            <a:avLst/>
          </a:prstGeom>
          <a:noFill/>
          <a:ln w="19050" cap="flat" cmpd="sng">
            <a:solidFill>
              <a:schemeClr val="dk2"/>
            </a:solidFill>
            <a:prstDash val="solid"/>
            <a:round/>
            <a:headEnd type="none" w="med" len="med"/>
            <a:tailEnd type="none" w="med" len="med"/>
          </a:ln>
        </p:spPr>
      </p:cxnSp>
      <p:sp>
        <p:nvSpPr>
          <p:cNvPr id="41" name="Shape 41"/>
          <p:cNvSpPr txBox="1">
            <a:spLocks noGrp="1"/>
          </p:cNvSpPr>
          <p:nvPr>
            <p:ph type="title"/>
          </p:nvPr>
        </p:nvSpPr>
        <p:spPr>
          <a:xfrm>
            <a:off x="346125" y="1248800"/>
            <a:ext cx="3042000" cy="1007600"/>
          </a:xfrm>
          <a:prstGeom prst="rect">
            <a:avLst/>
          </a:prstGeom>
        </p:spPr>
        <p:txBody>
          <a:bodyPr lIns="91425" tIns="91425" rIns="91425" bIns="91425" anchor="b" anchorCtr="0"/>
          <a:lstStyle>
            <a:lvl1pPr lvl="0">
              <a:spcBef>
                <a:spcPts val="0"/>
              </a:spcBef>
              <a:buSzPct val="100000"/>
              <a:defRPr sz="2600"/>
            </a:lvl1pPr>
            <a:lvl2pPr lvl="1">
              <a:spcBef>
                <a:spcPts val="0"/>
              </a:spcBef>
              <a:buSzPct val="100000"/>
              <a:defRPr sz="2600"/>
            </a:lvl2pPr>
            <a:lvl3pPr lvl="2">
              <a:spcBef>
                <a:spcPts val="0"/>
              </a:spcBef>
              <a:buSzPct val="100000"/>
              <a:defRPr sz="2600"/>
            </a:lvl3pPr>
            <a:lvl4pPr lvl="3">
              <a:spcBef>
                <a:spcPts val="0"/>
              </a:spcBef>
              <a:buSzPct val="100000"/>
              <a:defRPr sz="2600"/>
            </a:lvl4pPr>
            <a:lvl5pPr lvl="4">
              <a:spcBef>
                <a:spcPts val="0"/>
              </a:spcBef>
              <a:buSzPct val="100000"/>
              <a:defRPr sz="2600"/>
            </a:lvl5pPr>
            <a:lvl6pPr lvl="5">
              <a:spcBef>
                <a:spcPts val="0"/>
              </a:spcBef>
              <a:buSzPct val="100000"/>
              <a:defRPr sz="2600"/>
            </a:lvl6pPr>
            <a:lvl7pPr lvl="6">
              <a:spcBef>
                <a:spcPts val="0"/>
              </a:spcBef>
              <a:buSzPct val="100000"/>
              <a:defRPr sz="2600"/>
            </a:lvl7pPr>
            <a:lvl8pPr lvl="7">
              <a:spcBef>
                <a:spcPts val="0"/>
              </a:spcBef>
              <a:buSzPct val="100000"/>
              <a:defRPr sz="2600"/>
            </a:lvl8pPr>
            <a:lvl9pPr lvl="8">
              <a:spcBef>
                <a:spcPts val="0"/>
              </a:spcBef>
              <a:buSzPct val="100000"/>
              <a:defRPr sz="2600"/>
            </a:lvl9pPr>
          </a:lstStyle>
          <a:p>
            <a:endParaRPr/>
          </a:p>
        </p:txBody>
      </p:sp>
      <p:sp>
        <p:nvSpPr>
          <p:cNvPr id="42" name="Shape 42"/>
          <p:cNvSpPr txBox="1">
            <a:spLocks noGrp="1"/>
          </p:cNvSpPr>
          <p:nvPr>
            <p:ph type="body" idx="1"/>
          </p:nvPr>
        </p:nvSpPr>
        <p:spPr>
          <a:xfrm>
            <a:off x="346125" y="2462404"/>
            <a:ext cx="3042000" cy="3741600"/>
          </a:xfrm>
          <a:prstGeom prst="rect">
            <a:avLst/>
          </a:prstGeom>
        </p:spPr>
        <p:txBody>
          <a:bodyPr lIns="91425" tIns="91425" rIns="91425" bIns="91425" anchor="t" anchorCtr="0"/>
          <a:lstStyle>
            <a:lvl1pPr lvl="0">
              <a:spcBef>
                <a:spcPts val="0"/>
              </a:spcBef>
              <a:buSzPct val="100000"/>
              <a:defRPr sz="1300"/>
            </a:lvl1pPr>
            <a:lvl2pPr lvl="1">
              <a:spcBef>
                <a:spcPts val="0"/>
              </a:spcBef>
              <a:buSzPct val="100000"/>
              <a:defRPr sz="1300"/>
            </a:lvl2pPr>
            <a:lvl3pPr lvl="2">
              <a:spcBef>
                <a:spcPts val="0"/>
              </a:spcBef>
              <a:buSzPct val="100000"/>
              <a:defRPr sz="1300"/>
            </a:lvl3pPr>
            <a:lvl4pPr lvl="3">
              <a:spcBef>
                <a:spcPts val="0"/>
              </a:spcBef>
              <a:buSzPct val="100000"/>
              <a:defRPr sz="1300"/>
            </a:lvl4pPr>
            <a:lvl5pPr lvl="4">
              <a:spcBef>
                <a:spcPts val="0"/>
              </a:spcBef>
              <a:buSzPct val="100000"/>
              <a:defRPr sz="1300"/>
            </a:lvl5pPr>
            <a:lvl6pPr lvl="5">
              <a:spcBef>
                <a:spcPts val="0"/>
              </a:spcBef>
              <a:buSzPct val="100000"/>
              <a:defRPr sz="1300"/>
            </a:lvl6pPr>
            <a:lvl7pPr lvl="6">
              <a:spcBef>
                <a:spcPts val="0"/>
              </a:spcBef>
              <a:buSzPct val="100000"/>
              <a:defRPr sz="1300"/>
            </a:lvl7pPr>
            <a:lvl8pPr lvl="7">
              <a:spcBef>
                <a:spcPts val="0"/>
              </a:spcBef>
              <a:buSzPct val="100000"/>
              <a:defRPr sz="1300"/>
            </a:lvl8pPr>
            <a:lvl9pPr lvl="8">
              <a:spcBef>
                <a:spcPts val="0"/>
              </a:spcBef>
              <a:buSzPct val="100000"/>
              <a:defRPr sz="1300"/>
            </a:lvl9pPr>
          </a:lstStyle>
          <a:p>
            <a:endParaRPr/>
          </a:p>
        </p:txBody>
      </p:sp>
      <p:sp>
        <p:nvSpPr>
          <p:cNvPr id="43" name="Shape 43"/>
          <p:cNvSpPr txBox="1">
            <a:spLocks noGrp="1"/>
          </p:cNvSpPr>
          <p:nvPr>
            <p:ph type="sldNum" idx="12"/>
          </p:nvPr>
        </p:nvSpPr>
        <p:spPr>
          <a:xfrm>
            <a:off x="9206166" y="6251677"/>
            <a:ext cx="594425" cy="524800"/>
          </a:xfrm>
          <a:prstGeom prst="rect">
            <a:avLst/>
          </a:prstGeom>
        </p:spPr>
        <p:txBody>
          <a:bodyPr lIns="91425" tIns="91425" rIns="91425" bIns="91425" anchor="ctr" anchorCtr="0">
            <a:noAutofit/>
          </a:bodyPr>
          <a:lstStyle/>
          <a:p>
            <a:fld id="{00000000-1234-1234-1234-123412341234}" type="slidenum">
              <a:rPr lang="en" smtClean="0"/>
              <a:pPr/>
              <a:t>‹#›</a:t>
            </a:fld>
            <a:endParaRPr lang="e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bg>
      <p:bgPr>
        <a:solidFill>
          <a:schemeClr val="lt2"/>
        </a:solidFill>
        <a:effectLst/>
      </p:bgPr>
    </p:bg>
    <p:spTree>
      <p:nvGrpSpPr>
        <p:cNvPr id="1" name="Shape 44"/>
        <p:cNvGrpSpPr/>
        <p:nvPr/>
      </p:nvGrpSpPr>
      <p:grpSpPr>
        <a:xfrm>
          <a:off x="0" y="0"/>
          <a:ext cx="0" cy="0"/>
          <a:chOff x="0" y="0"/>
          <a:chExt cx="0" cy="0"/>
        </a:xfrm>
      </p:grpSpPr>
      <p:cxnSp>
        <p:nvCxnSpPr>
          <p:cNvPr id="45" name="Shape 45"/>
          <p:cNvCxnSpPr/>
          <p:nvPr/>
        </p:nvCxnSpPr>
        <p:spPr>
          <a:xfrm>
            <a:off x="460632" y="554200"/>
            <a:ext cx="198575" cy="0"/>
          </a:xfrm>
          <a:prstGeom prst="straightConnector1">
            <a:avLst/>
          </a:prstGeom>
          <a:noFill/>
          <a:ln w="19050" cap="flat" cmpd="sng">
            <a:solidFill>
              <a:schemeClr val="lt1"/>
            </a:solidFill>
            <a:prstDash val="solid"/>
            <a:round/>
            <a:headEnd type="none" w="med" len="med"/>
            <a:tailEnd type="none" w="med" len="med"/>
          </a:ln>
        </p:spPr>
      </p:cxnSp>
      <p:sp>
        <p:nvSpPr>
          <p:cNvPr id="46" name="Shape 46"/>
          <p:cNvSpPr txBox="1">
            <a:spLocks noGrp="1"/>
          </p:cNvSpPr>
          <p:nvPr>
            <p:ph type="title"/>
          </p:nvPr>
        </p:nvSpPr>
        <p:spPr>
          <a:xfrm>
            <a:off x="306695" y="949520"/>
            <a:ext cx="6764550" cy="5114000"/>
          </a:xfrm>
          <a:prstGeom prst="rect">
            <a:avLst/>
          </a:prstGeom>
        </p:spPr>
        <p:txBody>
          <a:bodyPr lIns="91425" tIns="91425" rIns="91425" bIns="91425" anchor="ctr" anchorCtr="0"/>
          <a:lstStyle>
            <a:lvl1pPr lvl="0">
              <a:spcBef>
                <a:spcPts val="0"/>
              </a:spcBef>
              <a:buClr>
                <a:schemeClr val="lt1"/>
              </a:buClr>
              <a:buSzPct val="100000"/>
              <a:defRPr sz="5200">
                <a:solidFill>
                  <a:schemeClr val="lt1"/>
                </a:solidFill>
              </a:defRPr>
            </a:lvl1pPr>
            <a:lvl2pPr lvl="1">
              <a:spcBef>
                <a:spcPts val="0"/>
              </a:spcBef>
              <a:buClr>
                <a:schemeClr val="lt1"/>
              </a:buClr>
              <a:buSzPct val="100000"/>
              <a:defRPr sz="5200">
                <a:solidFill>
                  <a:schemeClr val="lt1"/>
                </a:solidFill>
              </a:defRPr>
            </a:lvl2pPr>
            <a:lvl3pPr lvl="2">
              <a:spcBef>
                <a:spcPts val="0"/>
              </a:spcBef>
              <a:buClr>
                <a:schemeClr val="lt1"/>
              </a:buClr>
              <a:buSzPct val="100000"/>
              <a:defRPr sz="5200">
                <a:solidFill>
                  <a:schemeClr val="lt1"/>
                </a:solidFill>
              </a:defRPr>
            </a:lvl3pPr>
            <a:lvl4pPr lvl="3">
              <a:spcBef>
                <a:spcPts val="0"/>
              </a:spcBef>
              <a:buClr>
                <a:schemeClr val="lt1"/>
              </a:buClr>
              <a:buSzPct val="100000"/>
              <a:defRPr sz="5200">
                <a:solidFill>
                  <a:schemeClr val="lt1"/>
                </a:solidFill>
              </a:defRPr>
            </a:lvl4pPr>
            <a:lvl5pPr lvl="4">
              <a:spcBef>
                <a:spcPts val="0"/>
              </a:spcBef>
              <a:buClr>
                <a:schemeClr val="lt1"/>
              </a:buClr>
              <a:buSzPct val="100000"/>
              <a:defRPr sz="5200">
                <a:solidFill>
                  <a:schemeClr val="lt1"/>
                </a:solidFill>
              </a:defRPr>
            </a:lvl5pPr>
            <a:lvl6pPr lvl="5">
              <a:spcBef>
                <a:spcPts val="0"/>
              </a:spcBef>
              <a:buClr>
                <a:schemeClr val="lt1"/>
              </a:buClr>
              <a:buSzPct val="100000"/>
              <a:defRPr sz="5200">
                <a:solidFill>
                  <a:schemeClr val="lt1"/>
                </a:solidFill>
              </a:defRPr>
            </a:lvl6pPr>
            <a:lvl7pPr lvl="6">
              <a:spcBef>
                <a:spcPts val="0"/>
              </a:spcBef>
              <a:buClr>
                <a:schemeClr val="lt1"/>
              </a:buClr>
              <a:buSzPct val="100000"/>
              <a:defRPr sz="5200">
                <a:solidFill>
                  <a:schemeClr val="lt1"/>
                </a:solidFill>
              </a:defRPr>
            </a:lvl7pPr>
            <a:lvl8pPr lvl="7">
              <a:spcBef>
                <a:spcPts val="0"/>
              </a:spcBef>
              <a:buClr>
                <a:schemeClr val="lt1"/>
              </a:buClr>
              <a:buSzPct val="100000"/>
              <a:defRPr sz="5200">
                <a:solidFill>
                  <a:schemeClr val="lt1"/>
                </a:solidFill>
              </a:defRPr>
            </a:lvl8pPr>
            <a:lvl9pPr lvl="8">
              <a:spcBef>
                <a:spcPts val="0"/>
              </a:spcBef>
              <a:buClr>
                <a:schemeClr val="lt1"/>
              </a:buClr>
              <a:buSzPct val="100000"/>
              <a:defRPr sz="5200">
                <a:solidFill>
                  <a:schemeClr val="lt1"/>
                </a:solidFill>
              </a:defRPr>
            </a:lvl9pPr>
          </a:lstStyle>
          <a:p>
            <a:endParaRPr/>
          </a:p>
        </p:txBody>
      </p:sp>
      <p:sp>
        <p:nvSpPr>
          <p:cNvPr id="47" name="Shape 47"/>
          <p:cNvSpPr txBox="1">
            <a:spLocks noGrp="1"/>
          </p:cNvSpPr>
          <p:nvPr>
            <p:ph type="sldNum" idx="12"/>
          </p:nvPr>
        </p:nvSpPr>
        <p:spPr>
          <a:xfrm>
            <a:off x="9206166" y="6251677"/>
            <a:ext cx="594425" cy="524800"/>
          </a:xfrm>
          <a:prstGeom prst="rect">
            <a:avLst/>
          </a:prstGeom>
        </p:spPr>
        <p:txBody>
          <a:bodyPr lIns="91425" tIns="91425" rIns="91425" bIns="91425" anchor="ctr" anchorCtr="0">
            <a:noAutofit/>
          </a:bodyPr>
          <a:lstStyle/>
          <a:p>
            <a:fld id="{00000000-1234-1234-1234-123412341234}" type="slidenum">
              <a:rPr lang="en" smtClean="0">
                <a:solidFill>
                  <a:schemeClr val="lt1"/>
                </a:solidFill>
              </a:rPr>
              <a:pPr/>
              <a:t>‹#›</a:t>
            </a:fld>
            <a:endParaRPr lang="en" dirty="0">
              <a:solidFill>
                <a:schemeClr val="lt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48"/>
        <p:cNvGrpSpPr/>
        <p:nvPr/>
      </p:nvGrpSpPr>
      <p:grpSpPr>
        <a:xfrm>
          <a:off x="0" y="0"/>
          <a:ext cx="0" cy="0"/>
          <a:chOff x="0" y="0"/>
          <a:chExt cx="0" cy="0"/>
        </a:xfrm>
      </p:grpSpPr>
      <p:sp>
        <p:nvSpPr>
          <p:cNvPr id="49" name="Shape 49"/>
          <p:cNvSpPr/>
          <p:nvPr/>
        </p:nvSpPr>
        <p:spPr>
          <a:xfrm>
            <a:off x="4953000" y="167"/>
            <a:ext cx="4953000" cy="6858000"/>
          </a:xfrm>
          <a:prstGeom prst="rect">
            <a:avLst/>
          </a:prstGeom>
          <a:solidFill>
            <a:schemeClr val="dk1"/>
          </a:solidFill>
          <a:ln>
            <a:noFill/>
          </a:ln>
        </p:spPr>
        <p:txBody>
          <a:bodyPr lIns="99044" tIns="99044" rIns="99044" bIns="99044" anchor="ctr" anchorCtr="0">
            <a:noAutofit/>
          </a:bodyPr>
          <a:lstStyle/>
          <a:p>
            <a:pPr lvl="0">
              <a:spcBef>
                <a:spcPts val="0"/>
              </a:spcBef>
              <a:buNone/>
            </a:pPr>
            <a:endParaRPr sz="1517" dirty="0"/>
          </a:p>
        </p:txBody>
      </p:sp>
      <p:sp>
        <p:nvSpPr>
          <p:cNvPr id="51" name="Shape 51"/>
          <p:cNvSpPr txBox="1">
            <a:spLocks noGrp="1"/>
          </p:cNvSpPr>
          <p:nvPr>
            <p:ph type="title"/>
          </p:nvPr>
        </p:nvSpPr>
        <p:spPr>
          <a:xfrm>
            <a:off x="287625" y="1863133"/>
            <a:ext cx="4382300" cy="1757600"/>
          </a:xfrm>
          <a:prstGeom prst="rect">
            <a:avLst/>
          </a:prstGeom>
        </p:spPr>
        <p:txBody>
          <a:bodyPr lIns="91425" tIns="91425" rIns="91425" bIns="91425" anchor="b" anchorCtr="0"/>
          <a:lstStyle>
            <a:lvl1pPr lvl="0" algn="ctr">
              <a:spcBef>
                <a:spcPts val="0"/>
              </a:spcBef>
              <a:buClr>
                <a:schemeClr val="dk1"/>
              </a:buClr>
              <a:buSzPct val="100000"/>
              <a:defRPr sz="3900">
                <a:solidFill>
                  <a:schemeClr val="dk1"/>
                </a:solidFill>
              </a:defRPr>
            </a:lvl1pPr>
            <a:lvl2pPr lvl="1" algn="ctr">
              <a:spcBef>
                <a:spcPts val="0"/>
              </a:spcBef>
              <a:buClr>
                <a:schemeClr val="dk1"/>
              </a:buClr>
              <a:buSzPct val="100000"/>
              <a:defRPr sz="3900">
                <a:solidFill>
                  <a:schemeClr val="dk1"/>
                </a:solidFill>
              </a:defRPr>
            </a:lvl2pPr>
            <a:lvl3pPr lvl="2" algn="ctr">
              <a:spcBef>
                <a:spcPts val="0"/>
              </a:spcBef>
              <a:buClr>
                <a:schemeClr val="dk1"/>
              </a:buClr>
              <a:buSzPct val="100000"/>
              <a:defRPr sz="3900">
                <a:solidFill>
                  <a:schemeClr val="dk1"/>
                </a:solidFill>
              </a:defRPr>
            </a:lvl3pPr>
            <a:lvl4pPr lvl="3" algn="ctr">
              <a:spcBef>
                <a:spcPts val="0"/>
              </a:spcBef>
              <a:buClr>
                <a:schemeClr val="dk1"/>
              </a:buClr>
              <a:buSzPct val="100000"/>
              <a:defRPr sz="3900">
                <a:solidFill>
                  <a:schemeClr val="dk1"/>
                </a:solidFill>
              </a:defRPr>
            </a:lvl4pPr>
            <a:lvl5pPr lvl="4" algn="ctr">
              <a:spcBef>
                <a:spcPts val="0"/>
              </a:spcBef>
              <a:buClr>
                <a:schemeClr val="dk1"/>
              </a:buClr>
              <a:buSzPct val="100000"/>
              <a:defRPr sz="3900">
                <a:solidFill>
                  <a:schemeClr val="dk1"/>
                </a:solidFill>
              </a:defRPr>
            </a:lvl5pPr>
            <a:lvl6pPr lvl="5" algn="ctr">
              <a:spcBef>
                <a:spcPts val="0"/>
              </a:spcBef>
              <a:buClr>
                <a:schemeClr val="dk1"/>
              </a:buClr>
              <a:buSzPct val="100000"/>
              <a:defRPr sz="3900">
                <a:solidFill>
                  <a:schemeClr val="dk1"/>
                </a:solidFill>
              </a:defRPr>
            </a:lvl6pPr>
            <a:lvl7pPr lvl="6" algn="ctr">
              <a:spcBef>
                <a:spcPts val="0"/>
              </a:spcBef>
              <a:buClr>
                <a:schemeClr val="dk1"/>
              </a:buClr>
              <a:buSzPct val="100000"/>
              <a:defRPr sz="3900">
                <a:solidFill>
                  <a:schemeClr val="dk1"/>
                </a:solidFill>
              </a:defRPr>
            </a:lvl7pPr>
            <a:lvl8pPr lvl="7" algn="ctr">
              <a:spcBef>
                <a:spcPts val="0"/>
              </a:spcBef>
              <a:buClr>
                <a:schemeClr val="dk1"/>
              </a:buClr>
              <a:buSzPct val="100000"/>
              <a:defRPr sz="3900">
                <a:solidFill>
                  <a:schemeClr val="dk1"/>
                </a:solidFill>
              </a:defRPr>
            </a:lvl8pPr>
            <a:lvl9pPr lvl="8" algn="ctr">
              <a:spcBef>
                <a:spcPts val="0"/>
              </a:spcBef>
              <a:buClr>
                <a:schemeClr val="dk1"/>
              </a:buClr>
              <a:buSzPct val="100000"/>
              <a:defRPr sz="3900">
                <a:solidFill>
                  <a:schemeClr val="dk1"/>
                </a:solidFill>
              </a:defRPr>
            </a:lvl9pPr>
          </a:lstStyle>
          <a:p>
            <a:endParaRPr/>
          </a:p>
        </p:txBody>
      </p:sp>
      <p:sp>
        <p:nvSpPr>
          <p:cNvPr id="52" name="Shape 52"/>
          <p:cNvSpPr txBox="1">
            <a:spLocks noGrp="1"/>
          </p:cNvSpPr>
          <p:nvPr>
            <p:ph type="subTitle" idx="1"/>
          </p:nvPr>
        </p:nvSpPr>
        <p:spPr>
          <a:xfrm>
            <a:off x="287625" y="3647163"/>
            <a:ext cx="4382300" cy="1793999"/>
          </a:xfrm>
          <a:prstGeom prst="rect">
            <a:avLst/>
          </a:prstGeom>
        </p:spPr>
        <p:txBody>
          <a:bodyPr lIns="91425" tIns="91425" rIns="91425" bIns="91425" anchor="t" anchorCtr="0"/>
          <a:lstStyle>
            <a:lvl1pPr lvl="0" algn="ctr">
              <a:lnSpc>
                <a:spcPct val="100000"/>
              </a:lnSpc>
              <a:spcBef>
                <a:spcPts val="0"/>
              </a:spcBef>
              <a:spcAft>
                <a:spcPts val="0"/>
              </a:spcAft>
              <a:buSzPct val="100000"/>
              <a:buNone/>
              <a:defRPr sz="2275"/>
            </a:lvl1pPr>
            <a:lvl2pPr lvl="1" algn="ctr">
              <a:lnSpc>
                <a:spcPct val="100000"/>
              </a:lnSpc>
              <a:spcBef>
                <a:spcPts val="0"/>
              </a:spcBef>
              <a:spcAft>
                <a:spcPts val="0"/>
              </a:spcAft>
              <a:buSzPct val="100000"/>
              <a:buNone/>
              <a:defRPr sz="2275"/>
            </a:lvl2pPr>
            <a:lvl3pPr lvl="2" algn="ctr">
              <a:lnSpc>
                <a:spcPct val="100000"/>
              </a:lnSpc>
              <a:spcBef>
                <a:spcPts val="0"/>
              </a:spcBef>
              <a:spcAft>
                <a:spcPts val="0"/>
              </a:spcAft>
              <a:buSzPct val="100000"/>
              <a:buNone/>
              <a:defRPr sz="2275"/>
            </a:lvl3pPr>
            <a:lvl4pPr lvl="3" algn="ctr">
              <a:lnSpc>
                <a:spcPct val="100000"/>
              </a:lnSpc>
              <a:spcBef>
                <a:spcPts val="0"/>
              </a:spcBef>
              <a:spcAft>
                <a:spcPts val="0"/>
              </a:spcAft>
              <a:buSzPct val="100000"/>
              <a:buNone/>
              <a:defRPr sz="2275"/>
            </a:lvl4pPr>
            <a:lvl5pPr lvl="4" algn="ctr">
              <a:lnSpc>
                <a:spcPct val="100000"/>
              </a:lnSpc>
              <a:spcBef>
                <a:spcPts val="0"/>
              </a:spcBef>
              <a:spcAft>
                <a:spcPts val="0"/>
              </a:spcAft>
              <a:buSzPct val="100000"/>
              <a:buNone/>
              <a:defRPr sz="2275"/>
            </a:lvl5pPr>
            <a:lvl6pPr lvl="5" algn="ctr">
              <a:lnSpc>
                <a:spcPct val="100000"/>
              </a:lnSpc>
              <a:spcBef>
                <a:spcPts val="0"/>
              </a:spcBef>
              <a:spcAft>
                <a:spcPts val="0"/>
              </a:spcAft>
              <a:buSzPct val="100000"/>
              <a:buNone/>
              <a:defRPr sz="2275"/>
            </a:lvl6pPr>
            <a:lvl7pPr lvl="6" algn="ctr">
              <a:lnSpc>
                <a:spcPct val="100000"/>
              </a:lnSpc>
              <a:spcBef>
                <a:spcPts val="0"/>
              </a:spcBef>
              <a:spcAft>
                <a:spcPts val="0"/>
              </a:spcAft>
              <a:buSzPct val="100000"/>
              <a:buNone/>
              <a:defRPr sz="2275"/>
            </a:lvl7pPr>
            <a:lvl8pPr lvl="7" algn="ctr">
              <a:lnSpc>
                <a:spcPct val="100000"/>
              </a:lnSpc>
              <a:spcBef>
                <a:spcPts val="0"/>
              </a:spcBef>
              <a:spcAft>
                <a:spcPts val="0"/>
              </a:spcAft>
              <a:buSzPct val="100000"/>
              <a:buNone/>
              <a:defRPr sz="2275"/>
            </a:lvl8pPr>
            <a:lvl9pPr lvl="8" algn="ctr">
              <a:lnSpc>
                <a:spcPct val="100000"/>
              </a:lnSpc>
              <a:spcBef>
                <a:spcPts val="0"/>
              </a:spcBef>
              <a:spcAft>
                <a:spcPts val="0"/>
              </a:spcAft>
              <a:buSzPct val="100000"/>
              <a:buNone/>
              <a:defRPr sz="2275"/>
            </a:lvl9pPr>
          </a:lstStyle>
          <a:p>
            <a:endParaRPr/>
          </a:p>
        </p:txBody>
      </p:sp>
      <p:sp>
        <p:nvSpPr>
          <p:cNvPr id="53" name="Shape 53"/>
          <p:cNvSpPr txBox="1">
            <a:spLocks noGrp="1"/>
          </p:cNvSpPr>
          <p:nvPr>
            <p:ph type="body" idx="2"/>
          </p:nvPr>
        </p:nvSpPr>
        <p:spPr>
          <a:xfrm>
            <a:off x="5351125" y="965600"/>
            <a:ext cx="4156750" cy="4926800"/>
          </a:xfrm>
          <a:prstGeom prst="rect">
            <a:avLst/>
          </a:prstGeom>
        </p:spPr>
        <p:txBody>
          <a:bodyPr lIns="91425" tIns="91425" rIns="91425" bIns="91425" anchor="ctr" anchorCtr="0"/>
          <a:lstStyle>
            <a:lvl1pPr lvl="0">
              <a:spcBef>
                <a:spcPts val="0"/>
              </a:spcBef>
              <a:buClr>
                <a:schemeClr val="lt1"/>
              </a:buClr>
              <a:defRPr>
                <a:solidFill>
                  <a:schemeClr val="lt1"/>
                </a:solidFill>
              </a:defRPr>
            </a:lvl1pPr>
            <a:lvl2pPr lvl="1">
              <a:spcBef>
                <a:spcPts val="0"/>
              </a:spcBef>
              <a:buClr>
                <a:schemeClr val="lt1"/>
              </a:buClr>
              <a:defRPr>
                <a:solidFill>
                  <a:schemeClr val="lt1"/>
                </a:solidFill>
              </a:defRPr>
            </a:lvl2pPr>
            <a:lvl3pPr lvl="2">
              <a:spcBef>
                <a:spcPts val="0"/>
              </a:spcBef>
              <a:buClr>
                <a:schemeClr val="lt1"/>
              </a:buClr>
              <a:defRPr>
                <a:solidFill>
                  <a:schemeClr val="lt1"/>
                </a:solidFill>
              </a:defRPr>
            </a:lvl3pPr>
            <a:lvl4pPr lvl="3">
              <a:spcBef>
                <a:spcPts val="0"/>
              </a:spcBef>
              <a:buClr>
                <a:schemeClr val="lt1"/>
              </a:buClr>
              <a:defRPr>
                <a:solidFill>
                  <a:schemeClr val="lt1"/>
                </a:solidFill>
              </a:defRPr>
            </a:lvl4pPr>
            <a:lvl5pPr lvl="4">
              <a:spcBef>
                <a:spcPts val="0"/>
              </a:spcBef>
              <a:buClr>
                <a:schemeClr val="lt1"/>
              </a:buClr>
              <a:defRPr>
                <a:solidFill>
                  <a:schemeClr val="lt1"/>
                </a:solidFill>
              </a:defRPr>
            </a:lvl5pPr>
            <a:lvl6pPr lvl="5">
              <a:spcBef>
                <a:spcPts val="0"/>
              </a:spcBef>
              <a:buClr>
                <a:schemeClr val="lt1"/>
              </a:buClr>
              <a:defRPr>
                <a:solidFill>
                  <a:schemeClr val="lt1"/>
                </a:solidFill>
              </a:defRPr>
            </a:lvl6pPr>
            <a:lvl7pPr lvl="6">
              <a:spcBef>
                <a:spcPts val="0"/>
              </a:spcBef>
              <a:buClr>
                <a:schemeClr val="lt1"/>
              </a:buClr>
              <a:defRPr>
                <a:solidFill>
                  <a:schemeClr val="lt1"/>
                </a:solidFill>
              </a:defRPr>
            </a:lvl7pPr>
            <a:lvl8pPr lvl="7">
              <a:spcBef>
                <a:spcPts val="0"/>
              </a:spcBef>
              <a:buClr>
                <a:schemeClr val="lt1"/>
              </a:buClr>
              <a:defRPr>
                <a:solidFill>
                  <a:schemeClr val="lt1"/>
                </a:solidFill>
              </a:defRPr>
            </a:lvl8pPr>
            <a:lvl9pPr lvl="8">
              <a:spcBef>
                <a:spcPts val="0"/>
              </a:spcBef>
              <a:buClr>
                <a:schemeClr val="lt1"/>
              </a:buClr>
              <a:defRPr>
                <a:solidFill>
                  <a:schemeClr val="lt1"/>
                </a:solidFill>
              </a:defRPr>
            </a:lvl9pPr>
          </a:lstStyle>
          <a:p>
            <a:endParaRPr/>
          </a:p>
        </p:txBody>
      </p:sp>
      <p:sp>
        <p:nvSpPr>
          <p:cNvPr id="54" name="Shape 54"/>
          <p:cNvSpPr txBox="1">
            <a:spLocks noGrp="1"/>
          </p:cNvSpPr>
          <p:nvPr>
            <p:ph type="sldNum" idx="12"/>
          </p:nvPr>
        </p:nvSpPr>
        <p:spPr>
          <a:xfrm>
            <a:off x="9206166" y="6251677"/>
            <a:ext cx="594425" cy="524800"/>
          </a:xfrm>
          <a:prstGeom prst="rect">
            <a:avLst/>
          </a:prstGeom>
        </p:spPr>
        <p:txBody>
          <a:bodyPr lIns="91425" tIns="91425" rIns="91425" bIns="91425" anchor="ctr" anchorCtr="0">
            <a:noAutofit/>
          </a:bodyPr>
          <a:lstStyle/>
          <a:p>
            <a:fld id="{00000000-1234-1234-1234-123412341234}" type="slidenum">
              <a:rPr lang="en" smtClean="0">
                <a:solidFill>
                  <a:schemeClr val="lt1"/>
                </a:solidFill>
              </a:rPr>
              <a:pPr/>
              <a:t>‹#›</a:t>
            </a:fld>
            <a:endParaRPr lang="en" dirty="0">
              <a:solidFill>
                <a:schemeClr val="lt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55"/>
        <p:cNvGrpSpPr/>
        <p:nvPr/>
      </p:nvGrpSpPr>
      <p:grpSpPr>
        <a:xfrm>
          <a:off x="0" y="0"/>
          <a:ext cx="0" cy="0"/>
          <a:chOff x="0" y="0"/>
          <a:chExt cx="0" cy="0"/>
        </a:xfrm>
      </p:grpSpPr>
      <p:cxnSp>
        <p:nvCxnSpPr>
          <p:cNvPr id="56" name="Shape 56"/>
          <p:cNvCxnSpPr/>
          <p:nvPr/>
        </p:nvCxnSpPr>
        <p:spPr>
          <a:xfrm>
            <a:off x="460633" y="6320000"/>
            <a:ext cx="8988200" cy="0"/>
          </a:xfrm>
          <a:prstGeom prst="straightConnector1">
            <a:avLst/>
          </a:prstGeom>
          <a:noFill/>
          <a:ln w="19050" cap="flat" cmpd="sng">
            <a:solidFill>
              <a:schemeClr val="dk2"/>
            </a:solidFill>
            <a:prstDash val="solid"/>
            <a:round/>
            <a:headEnd type="none" w="med" len="med"/>
            <a:tailEnd type="none" w="med" len="med"/>
          </a:ln>
        </p:spPr>
      </p:cxnSp>
      <p:cxnSp>
        <p:nvCxnSpPr>
          <p:cNvPr id="57" name="Shape 57"/>
          <p:cNvCxnSpPr/>
          <p:nvPr/>
        </p:nvCxnSpPr>
        <p:spPr>
          <a:xfrm>
            <a:off x="460632" y="554200"/>
            <a:ext cx="198575" cy="0"/>
          </a:xfrm>
          <a:prstGeom prst="straightConnector1">
            <a:avLst/>
          </a:prstGeom>
          <a:noFill/>
          <a:ln w="19050" cap="flat" cmpd="sng">
            <a:solidFill>
              <a:schemeClr val="dk2"/>
            </a:solidFill>
            <a:prstDash val="solid"/>
            <a:round/>
            <a:headEnd type="none" w="med" len="med"/>
            <a:tailEnd type="none" w="med" len="med"/>
          </a:ln>
        </p:spPr>
      </p:cxnSp>
      <p:sp>
        <p:nvSpPr>
          <p:cNvPr id="58" name="Shape 58"/>
          <p:cNvSpPr txBox="1">
            <a:spLocks noGrp="1"/>
          </p:cNvSpPr>
          <p:nvPr>
            <p:ph type="body" idx="1"/>
          </p:nvPr>
        </p:nvSpPr>
        <p:spPr>
          <a:xfrm>
            <a:off x="355352" y="5634700"/>
            <a:ext cx="9087650" cy="524800"/>
          </a:xfrm>
          <a:prstGeom prst="rect">
            <a:avLst/>
          </a:prstGeom>
        </p:spPr>
        <p:txBody>
          <a:bodyPr lIns="91425" tIns="91425" rIns="91425" bIns="91425" anchor="ctr" anchorCtr="0"/>
          <a:lstStyle>
            <a:lvl1pPr lvl="0">
              <a:lnSpc>
                <a:spcPct val="100000"/>
              </a:lnSpc>
              <a:spcBef>
                <a:spcPts val="0"/>
              </a:spcBef>
              <a:spcAft>
                <a:spcPts val="0"/>
              </a:spcAft>
              <a:buNone/>
              <a:defRPr/>
            </a:lvl1pPr>
          </a:lstStyle>
          <a:p>
            <a:endParaRPr/>
          </a:p>
        </p:txBody>
      </p:sp>
      <p:sp>
        <p:nvSpPr>
          <p:cNvPr id="59" name="Shape 59"/>
          <p:cNvSpPr txBox="1">
            <a:spLocks noGrp="1"/>
          </p:cNvSpPr>
          <p:nvPr>
            <p:ph type="sldNum" idx="12"/>
          </p:nvPr>
        </p:nvSpPr>
        <p:spPr>
          <a:xfrm>
            <a:off x="9206166" y="6251677"/>
            <a:ext cx="594425" cy="524800"/>
          </a:xfrm>
          <a:prstGeom prst="rect">
            <a:avLst/>
          </a:prstGeom>
        </p:spPr>
        <p:txBody>
          <a:bodyPr lIns="91425" tIns="91425" rIns="91425" bIns="91425" anchor="ctr" anchorCtr="0">
            <a:noAutofit/>
          </a:bodyPr>
          <a:lstStyle/>
          <a:p>
            <a:fld id="{00000000-1234-1234-1234-123412341234}" type="slidenum">
              <a:rPr lang="en" smtClean="0"/>
              <a:pPr/>
              <a:t>‹#›</a:t>
            </a:fld>
            <a:endParaRPr lang="e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spTree>
      <p:nvGrpSpPr>
        <p:cNvPr id="1" name="Shape 60"/>
        <p:cNvGrpSpPr/>
        <p:nvPr/>
      </p:nvGrpSpPr>
      <p:grpSpPr>
        <a:xfrm>
          <a:off x="0" y="0"/>
          <a:ext cx="0" cy="0"/>
          <a:chOff x="0" y="0"/>
          <a:chExt cx="0" cy="0"/>
        </a:xfrm>
      </p:grpSpPr>
      <p:cxnSp>
        <p:nvCxnSpPr>
          <p:cNvPr id="61" name="Shape 61"/>
          <p:cNvCxnSpPr/>
          <p:nvPr/>
        </p:nvCxnSpPr>
        <p:spPr>
          <a:xfrm>
            <a:off x="460633" y="6320000"/>
            <a:ext cx="8988200" cy="0"/>
          </a:xfrm>
          <a:prstGeom prst="straightConnector1">
            <a:avLst/>
          </a:prstGeom>
          <a:noFill/>
          <a:ln w="19050" cap="flat" cmpd="sng">
            <a:solidFill>
              <a:schemeClr val="dk2"/>
            </a:solidFill>
            <a:prstDash val="solid"/>
            <a:round/>
            <a:headEnd type="none" w="med" len="med"/>
            <a:tailEnd type="none" w="med" len="med"/>
          </a:ln>
        </p:spPr>
      </p:cxnSp>
      <p:cxnSp>
        <p:nvCxnSpPr>
          <p:cNvPr id="62" name="Shape 62"/>
          <p:cNvCxnSpPr/>
          <p:nvPr/>
        </p:nvCxnSpPr>
        <p:spPr>
          <a:xfrm>
            <a:off x="460633" y="554200"/>
            <a:ext cx="8988200" cy="0"/>
          </a:xfrm>
          <a:prstGeom prst="straightConnector1">
            <a:avLst/>
          </a:prstGeom>
          <a:noFill/>
          <a:ln w="38100" cap="flat" cmpd="sng">
            <a:solidFill>
              <a:schemeClr val="dk2"/>
            </a:solidFill>
            <a:prstDash val="solid"/>
            <a:round/>
            <a:headEnd type="none" w="med" len="med"/>
            <a:tailEnd type="none" w="med" len="med"/>
          </a:ln>
        </p:spPr>
      </p:cxnSp>
      <p:sp>
        <p:nvSpPr>
          <p:cNvPr id="63" name="Shape 63"/>
          <p:cNvSpPr txBox="1">
            <a:spLocks noGrp="1"/>
          </p:cNvSpPr>
          <p:nvPr>
            <p:ph type="title"/>
          </p:nvPr>
        </p:nvSpPr>
        <p:spPr>
          <a:xfrm>
            <a:off x="925114" y="1739800"/>
            <a:ext cx="8055775" cy="2051200"/>
          </a:xfrm>
          <a:prstGeom prst="rect">
            <a:avLst/>
          </a:prstGeom>
        </p:spPr>
        <p:txBody>
          <a:bodyPr lIns="91425" tIns="91425" rIns="91425" bIns="91425" anchor="ctr" anchorCtr="0"/>
          <a:lstStyle>
            <a:lvl1pPr lvl="0" algn="ctr">
              <a:spcBef>
                <a:spcPts val="0"/>
              </a:spcBef>
              <a:buClr>
                <a:schemeClr val="dk1"/>
              </a:buClr>
              <a:buSzPct val="100000"/>
              <a:buFont typeface="Lato"/>
              <a:defRPr sz="10400">
                <a:solidFill>
                  <a:schemeClr val="dk1"/>
                </a:solidFill>
                <a:latin typeface="Lato"/>
                <a:ea typeface="Lato"/>
                <a:cs typeface="Lato"/>
                <a:sym typeface="Lato"/>
              </a:defRPr>
            </a:lvl1pPr>
            <a:lvl2pPr lvl="1" algn="ctr">
              <a:spcBef>
                <a:spcPts val="0"/>
              </a:spcBef>
              <a:buClr>
                <a:schemeClr val="dk1"/>
              </a:buClr>
              <a:buSzPct val="100000"/>
              <a:buFont typeface="Lato"/>
              <a:defRPr sz="10400">
                <a:solidFill>
                  <a:schemeClr val="dk1"/>
                </a:solidFill>
                <a:latin typeface="Lato"/>
                <a:ea typeface="Lato"/>
                <a:cs typeface="Lato"/>
                <a:sym typeface="Lato"/>
              </a:defRPr>
            </a:lvl2pPr>
            <a:lvl3pPr lvl="2" algn="ctr">
              <a:spcBef>
                <a:spcPts val="0"/>
              </a:spcBef>
              <a:buClr>
                <a:schemeClr val="dk1"/>
              </a:buClr>
              <a:buSzPct val="100000"/>
              <a:buFont typeface="Lato"/>
              <a:defRPr sz="10400">
                <a:solidFill>
                  <a:schemeClr val="dk1"/>
                </a:solidFill>
                <a:latin typeface="Lato"/>
                <a:ea typeface="Lato"/>
                <a:cs typeface="Lato"/>
                <a:sym typeface="Lato"/>
              </a:defRPr>
            </a:lvl3pPr>
            <a:lvl4pPr lvl="3" algn="ctr">
              <a:spcBef>
                <a:spcPts val="0"/>
              </a:spcBef>
              <a:buClr>
                <a:schemeClr val="dk1"/>
              </a:buClr>
              <a:buSzPct val="100000"/>
              <a:buFont typeface="Lato"/>
              <a:defRPr sz="10400">
                <a:solidFill>
                  <a:schemeClr val="dk1"/>
                </a:solidFill>
                <a:latin typeface="Lato"/>
                <a:ea typeface="Lato"/>
                <a:cs typeface="Lato"/>
                <a:sym typeface="Lato"/>
              </a:defRPr>
            </a:lvl4pPr>
            <a:lvl5pPr lvl="4" algn="ctr">
              <a:spcBef>
                <a:spcPts val="0"/>
              </a:spcBef>
              <a:buClr>
                <a:schemeClr val="dk1"/>
              </a:buClr>
              <a:buSzPct val="100000"/>
              <a:buFont typeface="Lato"/>
              <a:defRPr sz="10400">
                <a:solidFill>
                  <a:schemeClr val="dk1"/>
                </a:solidFill>
                <a:latin typeface="Lato"/>
                <a:ea typeface="Lato"/>
                <a:cs typeface="Lato"/>
                <a:sym typeface="Lato"/>
              </a:defRPr>
            </a:lvl5pPr>
            <a:lvl6pPr lvl="5" algn="ctr">
              <a:spcBef>
                <a:spcPts val="0"/>
              </a:spcBef>
              <a:buClr>
                <a:schemeClr val="dk1"/>
              </a:buClr>
              <a:buSzPct val="100000"/>
              <a:buFont typeface="Lato"/>
              <a:defRPr sz="10400">
                <a:solidFill>
                  <a:schemeClr val="dk1"/>
                </a:solidFill>
                <a:latin typeface="Lato"/>
                <a:ea typeface="Lato"/>
                <a:cs typeface="Lato"/>
                <a:sym typeface="Lato"/>
              </a:defRPr>
            </a:lvl6pPr>
            <a:lvl7pPr lvl="6" algn="ctr">
              <a:spcBef>
                <a:spcPts val="0"/>
              </a:spcBef>
              <a:buClr>
                <a:schemeClr val="dk1"/>
              </a:buClr>
              <a:buSzPct val="100000"/>
              <a:buFont typeface="Lato"/>
              <a:defRPr sz="10400">
                <a:solidFill>
                  <a:schemeClr val="dk1"/>
                </a:solidFill>
                <a:latin typeface="Lato"/>
                <a:ea typeface="Lato"/>
                <a:cs typeface="Lato"/>
                <a:sym typeface="Lato"/>
              </a:defRPr>
            </a:lvl7pPr>
            <a:lvl8pPr lvl="7" algn="ctr">
              <a:spcBef>
                <a:spcPts val="0"/>
              </a:spcBef>
              <a:buClr>
                <a:schemeClr val="dk1"/>
              </a:buClr>
              <a:buSzPct val="100000"/>
              <a:buFont typeface="Lato"/>
              <a:defRPr sz="10400">
                <a:solidFill>
                  <a:schemeClr val="dk1"/>
                </a:solidFill>
                <a:latin typeface="Lato"/>
                <a:ea typeface="Lato"/>
                <a:cs typeface="Lato"/>
                <a:sym typeface="Lato"/>
              </a:defRPr>
            </a:lvl8pPr>
            <a:lvl9pPr lvl="8" algn="ctr">
              <a:spcBef>
                <a:spcPts val="0"/>
              </a:spcBef>
              <a:buClr>
                <a:schemeClr val="dk1"/>
              </a:buClr>
              <a:buSzPct val="100000"/>
              <a:buFont typeface="Lato"/>
              <a:defRPr sz="10400">
                <a:solidFill>
                  <a:schemeClr val="dk1"/>
                </a:solidFill>
                <a:latin typeface="Lato"/>
                <a:ea typeface="Lato"/>
                <a:cs typeface="Lato"/>
                <a:sym typeface="Lato"/>
              </a:defRPr>
            </a:lvl9pPr>
          </a:lstStyle>
          <a:p>
            <a:endParaRPr/>
          </a:p>
        </p:txBody>
      </p:sp>
      <p:sp>
        <p:nvSpPr>
          <p:cNvPr id="64" name="Shape 64"/>
          <p:cNvSpPr txBox="1">
            <a:spLocks noGrp="1"/>
          </p:cNvSpPr>
          <p:nvPr>
            <p:ph type="body" idx="1"/>
          </p:nvPr>
        </p:nvSpPr>
        <p:spPr>
          <a:xfrm>
            <a:off x="925114" y="3892600"/>
            <a:ext cx="8055775" cy="1428800"/>
          </a:xfrm>
          <a:prstGeom prst="rect">
            <a:avLst/>
          </a:prstGeom>
        </p:spPr>
        <p:txBody>
          <a:bodyPr lIns="91425" tIns="91425" rIns="91425" bIns="91425" anchor="t" anchorCtr="0"/>
          <a:lstStyle>
            <a:lvl1pPr lvl="0" algn="ctr">
              <a:spcBef>
                <a:spcPts val="0"/>
              </a:spcBef>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a:endParaRPr/>
          </a:p>
        </p:txBody>
      </p:sp>
      <p:sp>
        <p:nvSpPr>
          <p:cNvPr id="65" name="Shape 65"/>
          <p:cNvSpPr txBox="1">
            <a:spLocks noGrp="1"/>
          </p:cNvSpPr>
          <p:nvPr>
            <p:ph type="sldNum" idx="12"/>
          </p:nvPr>
        </p:nvSpPr>
        <p:spPr>
          <a:xfrm>
            <a:off x="9206166" y="6251677"/>
            <a:ext cx="594425" cy="524800"/>
          </a:xfrm>
          <a:prstGeom prst="rect">
            <a:avLst/>
          </a:prstGeom>
        </p:spPr>
        <p:txBody>
          <a:bodyPr lIns="91425" tIns="91425" rIns="91425" bIns="91425" anchor="ctr" anchorCtr="0">
            <a:noAutofit/>
          </a:bodyPr>
          <a:lstStyle/>
          <a:p>
            <a:fld id="{00000000-1234-1234-1234-123412341234}" type="slidenum">
              <a:rPr lang="en" smtClean="0"/>
              <a:pPr/>
              <a:t>‹#›</a:t>
            </a:fld>
            <a:endParaRPr lang="e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6"/>
        <p:cNvGrpSpPr/>
        <p:nvPr/>
      </p:nvGrpSpPr>
      <p:grpSpPr>
        <a:xfrm>
          <a:off x="0" y="0"/>
          <a:ext cx="0" cy="0"/>
          <a:chOff x="0" y="0"/>
          <a:chExt cx="0" cy="0"/>
        </a:xfrm>
      </p:grpSpPr>
      <p:sp>
        <p:nvSpPr>
          <p:cNvPr id="67" name="Shape 67"/>
          <p:cNvSpPr txBox="1">
            <a:spLocks noGrp="1"/>
          </p:cNvSpPr>
          <p:nvPr>
            <p:ph type="sldNum" idx="12"/>
          </p:nvPr>
        </p:nvSpPr>
        <p:spPr>
          <a:xfrm>
            <a:off x="9206166" y="6251677"/>
            <a:ext cx="594425" cy="524800"/>
          </a:xfrm>
          <a:prstGeom prst="rect">
            <a:avLst/>
          </a:prstGeom>
        </p:spPr>
        <p:txBody>
          <a:bodyPr lIns="91425" tIns="91425" rIns="91425" bIns="91425" anchor="ctr" anchorCtr="0">
            <a:noAutofit/>
          </a:bodyPr>
          <a:lstStyle/>
          <a:p>
            <a:fld id="{00000000-1234-1234-1234-123412341234}" type="slidenum">
              <a:rPr lang="en" smtClean="0"/>
              <a:pPr/>
              <a:t>‹#›</a:t>
            </a:fld>
            <a:endParaRPr lang="e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2600270" y="767933"/>
            <a:ext cx="6848400" cy="847200"/>
          </a:xfrm>
          <a:prstGeom prst="rect">
            <a:avLst/>
          </a:prstGeom>
          <a:noFill/>
          <a:ln>
            <a:noFill/>
          </a:ln>
        </p:spPr>
        <p:txBody>
          <a:bodyPr lIns="91425" tIns="91425" rIns="91425" bIns="91425" anchor="t" anchorCtr="0"/>
          <a:lstStyle>
            <a:lvl1pPr lvl="0">
              <a:spcBef>
                <a:spcPts val="0"/>
              </a:spcBef>
              <a:buClr>
                <a:schemeClr val="dk2"/>
              </a:buClr>
              <a:buSzPct val="100000"/>
              <a:buFont typeface="Raleway"/>
              <a:buNone/>
              <a:defRPr sz="3000" b="1">
                <a:solidFill>
                  <a:schemeClr val="dk2"/>
                </a:solidFill>
                <a:latin typeface="Raleway"/>
                <a:ea typeface="Raleway"/>
                <a:cs typeface="Raleway"/>
                <a:sym typeface="Raleway"/>
              </a:defRPr>
            </a:lvl1pPr>
            <a:lvl2pPr lvl="1">
              <a:spcBef>
                <a:spcPts val="0"/>
              </a:spcBef>
              <a:buClr>
                <a:schemeClr val="dk2"/>
              </a:buClr>
              <a:buSzPct val="100000"/>
              <a:buFont typeface="Raleway"/>
              <a:buNone/>
              <a:defRPr sz="3000" b="1">
                <a:solidFill>
                  <a:schemeClr val="dk2"/>
                </a:solidFill>
                <a:latin typeface="Raleway"/>
                <a:ea typeface="Raleway"/>
                <a:cs typeface="Raleway"/>
                <a:sym typeface="Raleway"/>
              </a:defRPr>
            </a:lvl2pPr>
            <a:lvl3pPr lvl="2">
              <a:spcBef>
                <a:spcPts val="0"/>
              </a:spcBef>
              <a:buClr>
                <a:schemeClr val="dk2"/>
              </a:buClr>
              <a:buSzPct val="100000"/>
              <a:buFont typeface="Raleway"/>
              <a:buNone/>
              <a:defRPr sz="3000" b="1">
                <a:solidFill>
                  <a:schemeClr val="dk2"/>
                </a:solidFill>
                <a:latin typeface="Raleway"/>
                <a:ea typeface="Raleway"/>
                <a:cs typeface="Raleway"/>
                <a:sym typeface="Raleway"/>
              </a:defRPr>
            </a:lvl3pPr>
            <a:lvl4pPr lvl="3">
              <a:spcBef>
                <a:spcPts val="0"/>
              </a:spcBef>
              <a:buClr>
                <a:schemeClr val="dk2"/>
              </a:buClr>
              <a:buSzPct val="100000"/>
              <a:buFont typeface="Raleway"/>
              <a:buNone/>
              <a:defRPr sz="3000" b="1">
                <a:solidFill>
                  <a:schemeClr val="dk2"/>
                </a:solidFill>
                <a:latin typeface="Raleway"/>
                <a:ea typeface="Raleway"/>
                <a:cs typeface="Raleway"/>
                <a:sym typeface="Raleway"/>
              </a:defRPr>
            </a:lvl4pPr>
            <a:lvl5pPr lvl="4">
              <a:spcBef>
                <a:spcPts val="0"/>
              </a:spcBef>
              <a:buClr>
                <a:schemeClr val="dk2"/>
              </a:buClr>
              <a:buSzPct val="100000"/>
              <a:buFont typeface="Raleway"/>
              <a:buNone/>
              <a:defRPr sz="3000" b="1">
                <a:solidFill>
                  <a:schemeClr val="dk2"/>
                </a:solidFill>
                <a:latin typeface="Raleway"/>
                <a:ea typeface="Raleway"/>
                <a:cs typeface="Raleway"/>
                <a:sym typeface="Raleway"/>
              </a:defRPr>
            </a:lvl5pPr>
            <a:lvl6pPr lvl="5">
              <a:spcBef>
                <a:spcPts val="0"/>
              </a:spcBef>
              <a:buClr>
                <a:schemeClr val="dk2"/>
              </a:buClr>
              <a:buSzPct val="100000"/>
              <a:buFont typeface="Raleway"/>
              <a:buNone/>
              <a:defRPr sz="3000" b="1">
                <a:solidFill>
                  <a:schemeClr val="dk2"/>
                </a:solidFill>
                <a:latin typeface="Raleway"/>
                <a:ea typeface="Raleway"/>
                <a:cs typeface="Raleway"/>
                <a:sym typeface="Raleway"/>
              </a:defRPr>
            </a:lvl6pPr>
            <a:lvl7pPr lvl="6">
              <a:spcBef>
                <a:spcPts val="0"/>
              </a:spcBef>
              <a:buClr>
                <a:schemeClr val="dk2"/>
              </a:buClr>
              <a:buSzPct val="100000"/>
              <a:buFont typeface="Raleway"/>
              <a:buNone/>
              <a:defRPr sz="3000" b="1">
                <a:solidFill>
                  <a:schemeClr val="dk2"/>
                </a:solidFill>
                <a:latin typeface="Raleway"/>
                <a:ea typeface="Raleway"/>
                <a:cs typeface="Raleway"/>
                <a:sym typeface="Raleway"/>
              </a:defRPr>
            </a:lvl7pPr>
            <a:lvl8pPr lvl="7">
              <a:spcBef>
                <a:spcPts val="0"/>
              </a:spcBef>
              <a:buClr>
                <a:schemeClr val="dk2"/>
              </a:buClr>
              <a:buSzPct val="100000"/>
              <a:buFont typeface="Raleway"/>
              <a:buNone/>
              <a:defRPr sz="3000" b="1">
                <a:solidFill>
                  <a:schemeClr val="dk2"/>
                </a:solidFill>
                <a:latin typeface="Raleway"/>
                <a:ea typeface="Raleway"/>
                <a:cs typeface="Raleway"/>
                <a:sym typeface="Raleway"/>
              </a:defRPr>
            </a:lvl8pPr>
            <a:lvl9pPr lvl="8">
              <a:spcBef>
                <a:spcPts val="0"/>
              </a:spcBef>
              <a:buClr>
                <a:schemeClr val="dk2"/>
              </a:buClr>
              <a:buSzPct val="100000"/>
              <a:buFont typeface="Raleway"/>
              <a:buNone/>
              <a:defRPr sz="3000" b="1">
                <a:solidFill>
                  <a:schemeClr val="dk2"/>
                </a:solidFill>
                <a:latin typeface="Raleway"/>
                <a:ea typeface="Raleway"/>
                <a:cs typeface="Raleway"/>
                <a:sym typeface="Raleway"/>
              </a:defRPr>
            </a:lvl9pPr>
          </a:lstStyle>
          <a:p>
            <a:endParaRPr/>
          </a:p>
        </p:txBody>
      </p:sp>
      <p:sp>
        <p:nvSpPr>
          <p:cNvPr id="7" name="Shape 7"/>
          <p:cNvSpPr txBox="1">
            <a:spLocks noGrp="1"/>
          </p:cNvSpPr>
          <p:nvPr>
            <p:ph type="body" idx="1"/>
          </p:nvPr>
        </p:nvSpPr>
        <p:spPr>
          <a:xfrm>
            <a:off x="2610955" y="2127703"/>
            <a:ext cx="6848400" cy="4003199"/>
          </a:xfrm>
          <a:prstGeom prst="rect">
            <a:avLst/>
          </a:prstGeom>
          <a:noFill/>
          <a:ln>
            <a:noFill/>
          </a:ln>
        </p:spPr>
        <p:txBody>
          <a:bodyPr lIns="91425" tIns="91425" rIns="91425" bIns="91425" anchor="t" anchorCtr="0"/>
          <a:lstStyle>
            <a:lvl1pPr lvl="0">
              <a:lnSpc>
                <a:spcPct val="115000"/>
              </a:lnSpc>
              <a:spcBef>
                <a:spcPts val="0"/>
              </a:spcBef>
              <a:spcAft>
                <a:spcPts val="1600"/>
              </a:spcAft>
              <a:buClr>
                <a:schemeClr val="dk2"/>
              </a:buClr>
              <a:buSzPct val="100000"/>
              <a:buFont typeface="Lato"/>
              <a:defRPr sz="1800">
                <a:solidFill>
                  <a:schemeClr val="dk2"/>
                </a:solidFill>
                <a:latin typeface="Lato"/>
                <a:ea typeface="Lato"/>
                <a:cs typeface="Lato"/>
                <a:sym typeface="Lato"/>
              </a:defRPr>
            </a:lvl1pPr>
            <a:lvl2pPr lvl="1">
              <a:lnSpc>
                <a:spcPct val="115000"/>
              </a:lnSpc>
              <a:spcBef>
                <a:spcPts val="0"/>
              </a:spcBef>
              <a:spcAft>
                <a:spcPts val="1600"/>
              </a:spcAft>
              <a:buClr>
                <a:schemeClr val="dk2"/>
              </a:buClr>
              <a:buFont typeface="Lato"/>
              <a:defRPr>
                <a:solidFill>
                  <a:schemeClr val="dk2"/>
                </a:solidFill>
                <a:latin typeface="Lato"/>
                <a:ea typeface="Lato"/>
                <a:cs typeface="Lato"/>
                <a:sym typeface="Lato"/>
              </a:defRPr>
            </a:lvl2pPr>
            <a:lvl3pPr lvl="2">
              <a:lnSpc>
                <a:spcPct val="115000"/>
              </a:lnSpc>
              <a:spcBef>
                <a:spcPts val="0"/>
              </a:spcBef>
              <a:spcAft>
                <a:spcPts val="1600"/>
              </a:spcAft>
              <a:buClr>
                <a:schemeClr val="dk2"/>
              </a:buClr>
              <a:buFont typeface="Lato"/>
              <a:defRPr>
                <a:solidFill>
                  <a:schemeClr val="dk2"/>
                </a:solidFill>
                <a:latin typeface="Lato"/>
                <a:ea typeface="Lato"/>
                <a:cs typeface="Lato"/>
                <a:sym typeface="Lato"/>
              </a:defRPr>
            </a:lvl3pPr>
            <a:lvl4pPr lvl="3">
              <a:lnSpc>
                <a:spcPct val="115000"/>
              </a:lnSpc>
              <a:spcBef>
                <a:spcPts val="0"/>
              </a:spcBef>
              <a:spcAft>
                <a:spcPts val="1600"/>
              </a:spcAft>
              <a:buClr>
                <a:schemeClr val="dk2"/>
              </a:buClr>
              <a:buFont typeface="Lato"/>
              <a:defRPr>
                <a:solidFill>
                  <a:schemeClr val="dk2"/>
                </a:solidFill>
                <a:latin typeface="Lato"/>
                <a:ea typeface="Lato"/>
                <a:cs typeface="Lato"/>
                <a:sym typeface="Lato"/>
              </a:defRPr>
            </a:lvl4pPr>
            <a:lvl5pPr lvl="4">
              <a:lnSpc>
                <a:spcPct val="115000"/>
              </a:lnSpc>
              <a:spcBef>
                <a:spcPts val="0"/>
              </a:spcBef>
              <a:spcAft>
                <a:spcPts val="1600"/>
              </a:spcAft>
              <a:buClr>
                <a:schemeClr val="dk2"/>
              </a:buClr>
              <a:buFont typeface="Lato"/>
              <a:defRPr>
                <a:solidFill>
                  <a:schemeClr val="dk2"/>
                </a:solidFill>
                <a:latin typeface="Lato"/>
                <a:ea typeface="Lato"/>
                <a:cs typeface="Lato"/>
                <a:sym typeface="Lato"/>
              </a:defRPr>
            </a:lvl5pPr>
            <a:lvl6pPr lvl="5">
              <a:lnSpc>
                <a:spcPct val="115000"/>
              </a:lnSpc>
              <a:spcBef>
                <a:spcPts val="0"/>
              </a:spcBef>
              <a:spcAft>
                <a:spcPts val="1600"/>
              </a:spcAft>
              <a:buClr>
                <a:schemeClr val="dk2"/>
              </a:buClr>
              <a:buFont typeface="Lato"/>
              <a:defRPr>
                <a:solidFill>
                  <a:schemeClr val="dk2"/>
                </a:solidFill>
                <a:latin typeface="Lato"/>
                <a:ea typeface="Lato"/>
                <a:cs typeface="Lato"/>
                <a:sym typeface="Lato"/>
              </a:defRPr>
            </a:lvl6pPr>
            <a:lvl7pPr lvl="6">
              <a:lnSpc>
                <a:spcPct val="115000"/>
              </a:lnSpc>
              <a:spcBef>
                <a:spcPts val="0"/>
              </a:spcBef>
              <a:spcAft>
                <a:spcPts val="1600"/>
              </a:spcAft>
              <a:buClr>
                <a:schemeClr val="dk2"/>
              </a:buClr>
              <a:buFont typeface="Lato"/>
              <a:defRPr>
                <a:solidFill>
                  <a:schemeClr val="dk2"/>
                </a:solidFill>
                <a:latin typeface="Lato"/>
                <a:ea typeface="Lato"/>
                <a:cs typeface="Lato"/>
                <a:sym typeface="Lato"/>
              </a:defRPr>
            </a:lvl7pPr>
            <a:lvl8pPr lvl="7">
              <a:lnSpc>
                <a:spcPct val="115000"/>
              </a:lnSpc>
              <a:spcBef>
                <a:spcPts val="0"/>
              </a:spcBef>
              <a:spcAft>
                <a:spcPts val="1600"/>
              </a:spcAft>
              <a:buClr>
                <a:schemeClr val="dk2"/>
              </a:buClr>
              <a:buFont typeface="Lato"/>
              <a:defRPr>
                <a:solidFill>
                  <a:schemeClr val="dk2"/>
                </a:solidFill>
                <a:latin typeface="Lato"/>
                <a:ea typeface="Lato"/>
                <a:cs typeface="Lato"/>
                <a:sym typeface="Lato"/>
              </a:defRPr>
            </a:lvl8pPr>
            <a:lvl9pPr lvl="8">
              <a:lnSpc>
                <a:spcPct val="115000"/>
              </a:lnSpc>
              <a:spcBef>
                <a:spcPts val="0"/>
              </a:spcBef>
              <a:spcAft>
                <a:spcPts val="1600"/>
              </a:spcAft>
              <a:buClr>
                <a:schemeClr val="dk2"/>
              </a:buClr>
              <a:buFont typeface="Lato"/>
              <a:defRPr>
                <a:solidFill>
                  <a:schemeClr val="dk2"/>
                </a:solidFill>
                <a:latin typeface="Lato"/>
                <a:ea typeface="Lato"/>
                <a:cs typeface="Lato"/>
                <a:sym typeface="Lato"/>
              </a:defRPr>
            </a:lvl9pPr>
          </a:lstStyle>
          <a:p>
            <a:endParaRPr/>
          </a:p>
        </p:txBody>
      </p:sp>
      <p:sp>
        <p:nvSpPr>
          <p:cNvPr id="8" name="Shape 8"/>
          <p:cNvSpPr txBox="1">
            <a:spLocks noGrp="1"/>
          </p:cNvSpPr>
          <p:nvPr>
            <p:ph type="sldNum" idx="12"/>
          </p:nvPr>
        </p:nvSpPr>
        <p:spPr>
          <a:xfrm>
            <a:off x="9206166" y="6251677"/>
            <a:ext cx="594425" cy="524800"/>
          </a:xfrm>
          <a:prstGeom prst="rect">
            <a:avLst/>
          </a:prstGeom>
          <a:noFill/>
          <a:ln>
            <a:noFill/>
          </a:ln>
        </p:spPr>
        <p:txBody>
          <a:bodyPr lIns="91425" tIns="91425" rIns="91425" bIns="91425" anchor="ctr" anchorCtr="0">
            <a:noAutofit/>
          </a:bodyPr>
          <a:lstStyle/>
          <a:p>
            <a:pPr algn="r"/>
            <a:fld id="{00000000-1234-1234-1234-123412341234}" type="slidenum">
              <a:rPr lang="en" sz="1083" smtClean="0">
                <a:solidFill>
                  <a:schemeClr val="dk2"/>
                </a:solidFill>
                <a:latin typeface="Lato"/>
                <a:ea typeface="Lato"/>
                <a:cs typeface="Lato"/>
                <a:sym typeface="Lato"/>
              </a:rPr>
              <a:pPr algn="r"/>
              <a:t>‹#›</a:t>
            </a:fld>
            <a:endParaRPr lang="en" sz="1083" dirty="0">
              <a:solidFill>
                <a:schemeClr val="dk2"/>
              </a:solidFill>
              <a:latin typeface="Lato"/>
              <a:ea typeface="Lato"/>
              <a:cs typeface="Lato"/>
              <a:sym typeface="La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517"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51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51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51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51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51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51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51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51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51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51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51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51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51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51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51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51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51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51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pic>
        <p:nvPicPr>
          <p:cNvPr id="83" name="Shape 83" descr="ICLE_LOGO_Invoice copy.png"/>
          <p:cNvPicPr preferRelativeResize="0"/>
          <p:nvPr/>
        </p:nvPicPr>
        <p:blipFill>
          <a:blip r:embed="rId3">
            <a:alphaModFix/>
          </a:blip>
          <a:stretch>
            <a:fillRect/>
          </a:stretch>
        </p:blipFill>
        <p:spPr>
          <a:xfrm>
            <a:off x="176785" y="2861035"/>
            <a:ext cx="4632982" cy="1135930"/>
          </a:xfrm>
          <a:prstGeom prst="rect">
            <a:avLst/>
          </a:prstGeom>
          <a:noFill/>
          <a:ln>
            <a:noFill/>
          </a:ln>
        </p:spPr>
      </p:pic>
      <p:sp>
        <p:nvSpPr>
          <p:cNvPr id="84" name="Shape 84"/>
          <p:cNvSpPr txBox="1">
            <a:spLocks noGrp="1"/>
          </p:cNvSpPr>
          <p:nvPr>
            <p:ph type="body" idx="2"/>
          </p:nvPr>
        </p:nvSpPr>
        <p:spPr>
          <a:xfrm>
            <a:off x="5096235" y="364250"/>
            <a:ext cx="4526151" cy="6294245"/>
          </a:xfrm>
          <a:prstGeom prst="rect">
            <a:avLst/>
          </a:prstGeom>
        </p:spPr>
        <p:txBody>
          <a:bodyPr lIns="99044" tIns="99044" rIns="99044" bIns="99044" anchor="ctr" anchorCtr="0">
            <a:noAutofit/>
          </a:bodyPr>
          <a:lstStyle/>
          <a:p>
            <a:pPr>
              <a:lnSpc>
                <a:spcPct val="100000"/>
              </a:lnSpc>
            </a:pPr>
            <a:r>
              <a:rPr lang="en-US" sz="3250" b="1" dirty="0">
                <a:latin typeface="+mj-lt"/>
                <a:ea typeface="Raleway"/>
                <a:cs typeface="Raleway"/>
                <a:sym typeface="Raleway"/>
              </a:rPr>
              <a:t>TPRI Conference on Technology and Declining Economic Dynamism</a:t>
            </a:r>
          </a:p>
          <a:p>
            <a:pPr>
              <a:lnSpc>
                <a:spcPct val="100000"/>
              </a:lnSpc>
            </a:pPr>
            <a:r>
              <a:rPr lang="en-US" sz="2400" b="1" dirty="0">
                <a:latin typeface="+mj-lt"/>
                <a:ea typeface="Raleway"/>
                <a:cs typeface="Raleway"/>
                <a:sym typeface="Raleway"/>
              </a:rPr>
              <a:t>Acquisitions by Dominant Firms</a:t>
            </a:r>
            <a:endParaRPr lang="en-US" sz="2400" b="1" dirty="0">
              <a:solidFill>
                <a:schemeClr val="accent1">
                  <a:lumMod val="20000"/>
                  <a:lumOff val="80000"/>
                </a:schemeClr>
              </a:solidFill>
              <a:latin typeface="+mj-lt"/>
              <a:ea typeface="Raleway"/>
              <a:cs typeface="Raleway"/>
              <a:sym typeface="Raleway"/>
            </a:endParaRPr>
          </a:p>
          <a:p>
            <a:pPr>
              <a:lnSpc>
                <a:spcPct val="100000"/>
              </a:lnSpc>
            </a:pPr>
            <a:r>
              <a:rPr lang="en-US" sz="2000" b="1" i="1" dirty="0">
                <a:solidFill>
                  <a:schemeClr val="accent2">
                    <a:lumMod val="60000"/>
                    <a:lumOff val="40000"/>
                  </a:schemeClr>
                </a:solidFill>
                <a:latin typeface="+mj-lt"/>
                <a:ea typeface="Raleway"/>
                <a:cs typeface="Raleway"/>
                <a:sym typeface="Raleway"/>
              </a:rPr>
              <a:t>“Kill Zones! Killer Acquisitions! Anticompetitive Appropriation!: A Public Policy Perspective</a:t>
            </a:r>
            <a:r>
              <a:rPr lang="en-US" sz="2000" b="1" i="1" dirty="0">
                <a:solidFill>
                  <a:schemeClr val="accent2"/>
                </a:solidFill>
                <a:latin typeface="+mj-lt"/>
                <a:ea typeface="Raleway"/>
                <a:cs typeface="Raleway"/>
                <a:sym typeface="Raleway"/>
              </a:rPr>
              <a:t>”</a:t>
            </a:r>
            <a:endParaRPr lang="en" sz="2000" b="1" i="1" dirty="0">
              <a:latin typeface="+mj-lt"/>
              <a:ea typeface="Raleway"/>
              <a:cs typeface="Raleway"/>
              <a:sym typeface="Raleway"/>
            </a:endParaRPr>
          </a:p>
          <a:p>
            <a:pPr marL="7938">
              <a:lnSpc>
                <a:spcPct val="100000"/>
              </a:lnSpc>
            </a:pPr>
            <a:r>
              <a:rPr lang="en" sz="2000" b="1" dirty="0">
                <a:solidFill>
                  <a:schemeClr val="accent2">
                    <a:lumMod val="40000"/>
                    <a:lumOff val="60000"/>
                  </a:schemeClr>
                </a:solidFill>
                <a:latin typeface="+mj-lt"/>
                <a:ea typeface="Raleway"/>
                <a:cs typeface="Raleway"/>
                <a:sym typeface="Raleway"/>
              </a:rPr>
              <a:t>Geoffrey A. Manne, Dirk Auer &amp; Alec Stapp</a:t>
            </a:r>
            <a:endParaRPr lang="en" sz="2000" b="1" i="1" dirty="0">
              <a:solidFill>
                <a:schemeClr val="accent2">
                  <a:lumMod val="40000"/>
                  <a:lumOff val="60000"/>
                </a:schemeClr>
              </a:solidFill>
              <a:latin typeface="+mj-lt"/>
              <a:ea typeface="Raleway"/>
              <a:cs typeface="Raleway"/>
              <a:sym typeface="Raleway"/>
            </a:endParaRPr>
          </a:p>
          <a:p>
            <a:pPr>
              <a:lnSpc>
                <a:spcPct val="100000"/>
              </a:lnSpc>
            </a:pPr>
            <a:r>
              <a:rPr lang="en" sz="2000" b="1" i="1" dirty="0">
                <a:latin typeface="+mj-lt"/>
                <a:ea typeface="Raleway"/>
                <a:cs typeface="Raleway"/>
                <a:sym typeface="Raleway"/>
              </a:rPr>
              <a:t>September 12, 2020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328575" y="412153"/>
            <a:ext cx="9230650" cy="982179"/>
          </a:xfrm>
          <a:prstGeom prst="rect">
            <a:avLst/>
          </a:prstGeom>
        </p:spPr>
        <p:txBody>
          <a:bodyPr lIns="99044" tIns="99044" rIns="99044" bIns="99044" anchor="t" anchorCtr="0">
            <a:normAutofit fontScale="90000"/>
          </a:bodyPr>
          <a:lstStyle/>
          <a:p>
            <a:r>
              <a:rPr lang="en" sz="2800" dirty="0">
                <a:latin typeface="+mj-lt"/>
              </a:rPr>
              <a:t>Kill Zones, Killer Acquisitions &amp; Anticompetitive Appropriation</a:t>
            </a:r>
          </a:p>
        </p:txBody>
      </p:sp>
      <p:sp>
        <p:nvSpPr>
          <p:cNvPr id="206" name="Shape 206"/>
          <p:cNvSpPr txBox="1">
            <a:spLocks noGrp="1"/>
          </p:cNvSpPr>
          <p:nvPr>
            <p:ph type="body" idx="4294967295"/>
          </p:nvPr>
        </p:nvSpPr>
        <p:spPr>
          <a:xfrm>
            <a:off x="328575" y="1394332"/>
            <a:ext cx="9230650" cy="5051515"/>
          </a:xfrm>
          <a:prstGeom prst="rect">
            <a:avLst/>
          </a:prstGeom>
        </p:spPr>
        <p:txBody>
          <a:bodyPr lIns="99044" tIns="99044" rIns="99044" bIns="99044" anchor="t" anchorCtr="0">
            <a:noAutofit/>
          </a:bodyPr>
          <a:lstStyle/>
          <a:p>
            <a:pPr lvl="1" fontAlgn="base">
              <a:lnSpc>
                <a:spcPct val="100000"/>
              </a:lnSpc>
              <a:spcBef>
                <a:spcPts val="1000"/>
              </a:spcBef>
              <a:spcAft>
                <a:spcPts val="400"/>
              </a:spcAft>
            </a:pPr>
            <a:r>
              <a:rPr lang="en-US" sz="1700" dirty="0">
                <a:latin typeface="+mn-lt"/>
              </a:rPr>
              <a:t>The relevant claims boil down to three related, but distinct, forms of alleged anticompetitive behavior that reduce innovation (even though they are often conflated in public debate):</a:t>
            </a:r>
          </a:p>
          <a:p>
            <a:pPr marL="342900" lvl="8" indent="-342900" fontAlgn="base">
              <a:lnSpc>
                <a:spcPct val="100000"/>
              </a:lnSpc>
              <a:spcBef>
                <a:spcPts val="1000"/>
              </a:spcBef>
              <a:spcAft>
                <a:spcPts val="400"/>
              </a:spcAft>
              <a:buFont typeface="+mj-lt"/>
              <a:buAutoNum type="arabicPeriod"/>
            </a:pPr>
            <a:endParaRPr lang="en-US" sz="1700" b="1" dirty="0">
              <a:latin typeface="+mn-lt"/>
            </a:endParaRPr>
          </a:p>
          <a:p>
            <a:pPr marL="342900" lvl="8" indent="-342900" fontAlgn="base">
              <a:lnSpc>
                <a:spcPct val="100000"/>
              </a:lnSpc>
              <a:spcBef>
                <a:spcPts val="1000"/>
              </a:spcBef>
              <a:spcAft>
                <a:spcPts val="400"/>
              </a:spcAft>
              <a:buFont typeface="+mj-lt"/>
              <a:buAutoNum type="arabicPeriod"/>
            </a:pPr>
            <a:r>
              <a:rPr lang="en-US" sz="1700" b="1" dirty="0">
                <a:latin typeface="+mn-lt"/>
              </a:rPr>
              <a:t>Large incumbents have become so dominant and aggressive in their primary markets (including through acquisitions and appropriation) that venture capitalists decline to fund startups that compete head-on.</a:t>
            </a:r>
          </a:p>
          <a:p>
            <a:pPr marL="342900" lvl="8" indent="-342900" fontAlgn="base">
              <a:lnSpc>
                <a:spcPct val="100000"/>
              </a:lnSpc>
              <a:spcBef>
                <a:spcPts val="1000"/>
              </a:spcBef>
              <a:spcAft>
                <a:spcPts val="400"/>
              </a:spcAft>
              <a:buFont typeface="+mj-lt"/>
              <a:buAutoNum type="arabicPeriod"/>
            </a:pPr>
            <a:r>
              <a:rPr lang="en-US" sz="1700" b="1" dirty="0">
                <a:latin typeface="+mn-lt"/>
              </a:rPr>
              <a:t>Large incumbents acquire nascent, potential competitors and shut down their businesses before they become competitive threats.</a:t>
            </a:r>
          </a:p>
          <a:p>
            <a:pPr marL="342900" lvl="8" indent="-342900" fontAlgn="base">
              <a:lnSpc>
                <a:spcPct val="100000"/>
              </a:lnSpc>
              <a:spcBef>
                <a:spcPts val="1000"/>
              </a:spcBef>
              <a:spcAft>
                <a:spcPts val="400"/>
              </a:spcAft>
              <a:buFont typeface="+mj-lt"/>
              <a:buAutoNum type="arabicPeriod"/>
            </a:pPr>
            <a:r>
              <a:rPr lang="en-US" sz="1700" b="1" dirty="0">
                <a:latin typeface="+mn-lt"/>
              </a:rPr>
              <a:t>Large incumbents, particularly those that operate platforms used by third parties, leverage their existing networks (and access to platform data) to identify and “appropriate” the most profitable complementors, either through internal development (copying) or external acquisition (merger).</a:t>
            </a:r>
          </a:p>
        </p:txBody>
      </p:sp>
      <p:sp>
        <p:nvSpPr>
          <p:cNvPr id="207" name="Shape 20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1674527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Shape 95"/>
          <p:cNvSpPr txBox="1">
            <a:spLocks noGrp="1"/>
          </p:cNvSpPr>
          <p:nvPr>
            <p:ph type="title"/>
          </p:nvPr>
        </p:nvSpPr>
        <p:spPr>
          <a:xfrm>
            <a:off x="328575" y="414602"/>
            <a:ext cx="9230650" cy="692900"/>
          </a:xfrm>
          <a:prstGeom prst="rect">
            <a:avLst/>
          </a:prstGeom>
        </p:spPr>
        <p:txBody>
          <a:bodyPr lIns="99044" tIns="99044" rIns="99044" bIns="99044" anchor="t" anchorCtr="0">
            <a:noAutofit/>
          </a:bodyPr>
          <a:lstStyle/>
          <a:p>
            <a:pPr marR="61910">
              <a:spcAft>
                <a:spcPts val="1083"/>
              </a:spcAft>
            </a:pPr>
            <a:r>
              <a:rPr lang="en-US" sz="2800" dirty="0">
                <a:solidFill>
                  <a:srgbClr val="262626"/>
                </a:solidFill>
                <a:highlight>
                  <a:srgbClr val="FFFFFF"/>
                </a:highlight>
                <a:latin typeface="+mj-lt"/>
              </a:rPr>
              <a:t>Potential Competition</a:t>
            </a:r>
            <a:endParaRPr lang="en" sz="2800" dirty="0">
              <a:solidFill>
                <a:srgbClr val="262626"/>
              </a:solidFill>
              <a:highlight>
                <a:srgbClr val="FFFFFF"/>
              </a:highlight>
              <a:latin typeface="+mj-lt"/>
            </a:endParaRPr>
          </a:p>
        </p:txBody>
      </p:sp>
      <p:sp>
        <p:nvSpPr>
          <p:cNvPr id="96" name="Shape 96"/>
          <p:cNvSpPr txBox="1">
            <a:spLocks noGrp="1"/>
          </p:cNvSpPr>
          <p:nvPr>
            <p:ph type="body" idx="4294967295"/>
          </p:nvPr>
        </p:nvSpPr>
        <p:spPr>
          <a:xfrm>
            <a:off x="305445" y="1021441"/>
            <a:ext cx="9271980" cy="5421957"/>
          </a:xfrm>
          <a:prstGeom prst="rect">
            <a:avLst/>
          </a:prstGeom>
        </p:spPr>
        <p:txBody>
          <a:bodyPr lIns="99044" tIns="99044" rIns="99044" bIns="99044" anchor="t" anchorCtr="0">
            <a:noAutofit/>
          </a:bodyPr>
          <a:lstStyle/>
          <a:p>
            <a:pPr marL="9525">
              <a:lnSpc>
                <a:spcPct val="100000"/>
              </a:lnSpc>
              <a:spcBef>
                <a:spcPts val="1000"/>
              </a:spcBef>
              <a:spcAft>
                <a:spcPts val="400"/>
              </a:spcAft>
              <a:buClr>
                <a:srgbClr val="262626"/>
              </a:buClr>
            </a:pPr>
            <a:r>
              <a:rPr lang="en-US" sz="1700" b="1" dirty="0">
                <a:solidFill>
                  <a:srgbClr val="262626"/>
                </a:solidFill>
                <a:latin typeface="+mn-lt"/>
              </a:rPr>
              <a:t>If we think there is a pervasive problem with large tech firms routinely purchasing future rivals, then we also must think there is </a:t>
            </a:r>
            <a:r>
              <a:rPr lang="en-US" sz="1700" b="1" i="1" dirty="0">
                <a:solidFill>
                  <a:srgbClr val="262626"/>
                </a:solidFill>
                <a:latin typeface="+mn-lt"/>
              </a:rPr>
              <a:t>routine entry </a:t>
            </a:r>
            <a:r>
              <a:rPr lang="en-US" sz="1700" b="1" dirty="0">
                <a:solidFill>
                  <a:srgbClr val="262626"/>
                </a:solidFill>
                <a:latin typeface="+mn-lt"/>
              </a:rPr>
              <a:t>in these digital markets — </a:t>
            </a:r>
            <a:r>
              <a:rPr lang="en-US" sz="1700" dirty="0">
                <a:solidFill>
                  <a:srgbClr val="262626"/>
                </a:solidFill>
                <a:latin typeface="+mn-lt"/>
              </a:rPr>
              <a:t>thus undermining a durable market power assumption.</a:t>
            </a:r>
          </a:p>
          <a:p>
            <a:pPr marL="292100" indent="-282575">
              <a:lnSpc>
                <a:spcPct val="100000"/>
              </a:lnSpc>
              <a:spcBef>
                <a:spcPts val="1000"/>
              </a:spcBef>
              <a:spcAft>
                <a:spcPts val="400"/>
              </a:spcAft>
              <a:buClr>
                <a:srgbClr val="262626"/>
              </a:buClr>
              <a:buFont typeface="Wingdings" charset="2"/>
              <a:buChar char="§"/>
            </a:pPr>
            <a:r>
              <a:rPr lang="en-US" sz="1700" dirty="0">
                <a:solidFill>
                  <a:srgbClr val="262626"/>
                </a:solidFill>
                <a:latin typeface="+mn-lt"/>
              </a:rPr>
              <a:t>E.g., if Instagram’s product in 2012 represented a future/potential constraint on Facebook, then LinkedIn, Pinterest, Snapchat, Twitter, TikTok, et al. must also be considered actual or potential competitors to Facebook. </a:t>
            </a:r>
          </a:p>
          <a:p>
            <a:pPr lvl="8" fontAlgn="base">
              <a:lnSpc>
                <a:spcPct val="100000"/>
              </a:lnSpc>
              <a:spcBef>
                <a:spcPts val="1000"/>
              </a:spcBef>
              <a:spcAft>
                <a:spcPts val="400"/>
              </a:spcAft>
            </a:pPr>
            <a:r>
              <a:rPr lang="en-US" sz="1700" b="1" dirty="0">
                <a:latin typeface="+mn-lt"/>
              </a:rPr>
              <a:t>Killing a potential </a:t>
            </a:r>
            <a:r>
              <a:rPr lang="en-US" sz="1700" b="1" i="1" dirty="0">
                <a:latin typeface="+mn-lt"/>
              </a:rPr>
              <a:t>competitor</a:t>
            </a:r>
            <a:r>
              <a:rPr lang="en-US" sz="1700" b="1" dirty="0">
                <a:latin typeface="+mn-lt"/>
              </a:rPr>
              <a:t> is not the same as killing potential </a:t>
            </a:r>
            <a:r>
              <a:rPr lang="en-US" sz="1700" b="1" i="1" dirty="0">
                <a:latin typeface="+mn-lt"/>
              </a:rPr>
              <a:t>competition</a:t>
            </a:r>
            <a:r>
              <a:rPr lang="en-US" sz="1700" b="1" dirty="0">
                <a:latin typeface="+mn-lt"/>
              </a:rPr>
              <a:t>. </a:t>
            </a:r>
          </a:p>
          <a:p>
            <a:pPr marL="285750" lvl="8" indent="-285750" fontAlgn="base">
              <a:lnSpc>
                <a:spcPct val="100000"/>
              </a:lnSpc>
              <a:spcBef>
                <a:spcPts val="1000"/>
              </a:spcBef>
              <a:spcAft>
                <a:spcPts val="400"/>
              </a:spcAft>
              <a:buFont typeface="Wingdings" pitchFamily="2" charset="2"/>
              <a:buChar char="§"/>
            </a:pPr>
            <a:r>
              <a:rPr lang="en-US" sz="1700" dirty="0">
                <a:latin typeface="+mn-lt"/>
              </a:rPr>
              <a:t>For threat of competition to restrain an incumbent, not even a single actual firm is required. For removal of potential competition to enable incumbent, removal of a single firm is not enough.</a:t>
            </a:r>
            <a:endParaRPr lang="en-US" sz="1700" b="1" dirty="0">
              <a:latin typeface="+mn-lt"/>
            </a:endParaRPr>
          </a:p>
          <a:p>
            <a:pPr marL="9525" lvl="8" fontAlgn="base">
              <a:lnSpc>
                <a:spcPct val="100000"/>
              </a:lnSpc>
              <a:spcBef>
                <a:spcPts val="1000"/>
              </a:spcBef>
              <a:spcAft>
                <a:spcPts val="400"/>
              </a:spcAft>
              <a:buClr>
                <a:srgbClr val="262626"/>
              </a:buClr>
              <a:buSzPct val="100000"/>
            </a:pPr>
            <a:r>
              <a:rPr lang="en-US" sz="1700" b="1" dirty="0">
                <a:solidFill>
                  <a:srgbClr val="262626"/>
                </a:solidFill>
                <a:latin typeface="+mn-lt"/>
              </a:rPr>
              <a:t>And it is by no means clear that killing one potential competitor even reduces potential competition</a:t>
            </a:r>
            <a:r>
              <a:rPr lang="en-US" sz="1700" dirty="0">
                <a:solidFill>
                  <a:srgbClr val="262626"/>
                </a:solidFill>
                <a:latin typeface="+mn-lt"/>
              </a:rPr>
              <a:t> </a:t>
            </a:r>
          </a:p>
          <a:p>
            <a:pPr marL="295275" lvl="8" indent="-285750" fontAlgn="base">
              <a:lnSpc>
                <a:spcPct val="100000"/>
              </a:lnSpc>
              <a:spcBef>
                <a:spcPts val="1000"/>
              </a:spcBef>
              <a:spcAft>
                <a:spcPts val="400"/>
              </a:spcAft>
              <a:buClr>
                <a:srgbClr val="262626"/>
              </a:buClr>
              <a:buSzPct val="100000"/>
              <a:buFont typeface="Wingdings" pitchFamily="2" charset="2"/>
              <a:buChar char="§"/>
            </a:pPr>
            <a:r>
              <a:rPr lang="en-US" sz="1700" dirty="0">
                <a:solidFill>
                  <a:srgbClr val="262626"/>
                </a:solidFill>
                <a:latin typeface="+mn-lt"/>
              </a:rPr>
              <a:t>As Lemley &amp; McCready lament, the prospect of acquisition by an incumbent is an important spur to startup investment and, presumably, to startup founders, as well. </a:t>
            </a:r>
          </a:p>
          <a:p>
            <a:pPr marL="287338" lvl="8" indent="-277813" fontAlgn="base">
              <a:lnSpc>
                <a:spcPct val="100000"/>
              </a:lnSpc>
              <a:spcBef>
                <a:spcPts val="1000"/>
              </a:spcBef>
              <a:spcAft>
                <a:spcPts val="400"/>
              </a:spcAft>
              <a:buClr>
                <a:srgbClr val="262626"/>
              </a:buClr>
              <a:buSzPct val="100000"/>
              <a:buFont typeface="Wingdings" charset="2"/>
              <a:buChar char="§"/>
            </a:pPr>
            <a:r>
              <a:rPr lang="en-US" sz="1700" dirty="0">
                <a:solidFill>
                  <a:srgbClr val="262626"/>
                </a:solidFill>
                <a:latin typeface="+mn-lt"/>
              </a:rPr>
              <a:t>By purchasing a few potential competitors, incumbents may sow the seeds of their own demise by encouraging a flood of new entrants for each one they purchase.</a:t>
            </a:r>
          </a:p>
          <a:p>
            <a:pPr marL="403225" lvl="8" indent="-284163" fontAlgn="base">
              <a:lnSpc>
                <a:spcPct val="100000"/>
              </a:lnSpc>
              <a:spcBef>
                <a:spcPts val="1000"/>
              </a:spcBef>
              <a:spcAft>
                <a:spcPts val="400"/>
              </a:spcAft>
              <a:buClr>
                <a:srgbClr val="262626"/>
              </a:buClr>
              <a:buSzPct val="100000"/>
              <a:buFont typeface="Wingdings" charset="2"/>
              <a:buChar char="§"/>
            </a:pPr>
            <a:endParaRPr lang="en-US" sz="1700" dirty="0">
              <a:solidFill>
                <a:srgbClr val="262626"/>
              </a:solidFill>
              <a:latin typeface="+mn-lt"/>
            </a:endParaRPr>
          </a:p>
        </p:txBody>
      </p:sp>
      <p:sp>
        <p:nvSpPr>
          <p:cNvPr id="97" name="Shape 9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2250148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Shape 95"/>
          <p:cNvSpPr txBox="1">
            <a:spLocks noGrp="1"/>
          </p:cNvSpPr>
          <p:nvPr>
            <p:ph type="title"/>
          </p:nvPr>
        </p:nvSpPr>
        <p:spPr>
          <a:xfrm>
            <a:off x="328575" y="414602"/>
            <a:ext cx="9230650" cy="692900"/>
          </a:xfrm>
          <a:prstGeom prst="rect">
            <a:avLst/>
          </a:prstGeom>
        </p:spPr>
        <p:txBody>
          <a:bodyPr lIns="99044" tIns="99044" rIns="99044" bIns="99044" anchor="t" anchorCtr="0">
            <a:noAutofit/>
          </a:bodyPr>
          <a:lstStyle/>
          <a:p>
            <a:pPr marR="61910">
              <a:spcAft>
                <a:spcPts val="1083"/>
              </a:spcAft>
            </a:pPr>
            <a:r>
              <a:rPr lang="en-US" sz="2800" dirty="0">
                <a:solidFill>
                  <a:srgbClr val="262626"/>
                </a:solidFill>
                <a:highlight>
                  <a:srgbClr val="FFFFFF"/>
                </a:highlight>
                <a:latin typeface="+mj-lt"/>
              </a:rPr>
              <a:t>Potential Competition: Error Costs</a:t>
            </a:r>
            <a:endParaRPr lang="en" sz="2800" dirty="0">
              <a:solidFill>
                <a:srgbClr val="262626"/>
              </a:solidFill>
              <a:highlight>
                <a:srgbClr val="FFFFFF"/>
              </a:highlight>
              <a:latin typeface="+mj-lt"/>
            </a:endParaRPr>
          </a:p>
        </p:txBody>
      </p:sp>
      <p:sp>
        <p:nvSpPr>
          <p:cNvPr id="96" name="Shape 96"/>
          <p:cNvSpPr txBox="1">
            <a:spLocks noGrp="1"/>
          </p:cNvSpPr>
          <p:nvPr>
            <p:ph type="body" idx="4294967295"/>
          </p:nvPr>
        </p:nvSpPr>
        <p:spPr>
          <a:xfrm>
            <a:off x="305445" y="1021441"/>
            <a:ext cx="9271980" cy="5421957"/>
          </a:xfrm>
          <a:prstGeom prst="rect">
            <a:avLst/>
          </a:prstGeom>
        </p:spPr>
        <p:txBody>
          <a:bodyPr lIns="99044" tIns="99044" rIns="99044" bIns="99044" anchor="t" anchorCtr="0">
            <a:noAutofit/>
          </a:bodyPr>
          <a:lstStyle/>
          <a:p>
            <a:pPr lvl="8" fontAlgn="base">
              <a:lnSpc>
                <a:spcPct val="100000"/>
              </a:lnSpc>
              <a:spcBef>
                <a:spcPts val="1000"/>
              </a:spcBef>
              <a:spcAft>
                <a:spcPts val="400"/>
              </a:spcAft>
            </a:pPr>
            <a:endParaRPr lang="en-US" sz="1700" b="1" dirty="0">
              <a:latin typeface="+mn-lt"/>
            </a:endParaRPr>
          </a:p>
          <a:p>
            <a:pPr lvl="8" fontAlgn="base">
              <a:lnSpc>
                <a:spcPct val="100000"/>
              </a:lnSpc>
              <a:spcBef>
                <a:spcPts val="1000"/>
              </a:spcBef>
              <a:spcAft>
                <a:spcPts val="400"/>
              </a:spcAft>
            </a:pPr>
            <a:endParaRPr lang="en-US" sz="1700" b="1" dirty="0">
              <a:latin typeface="+mn-lt"/>
            </a:endParaRPr>
          </a:p>
          <a:p>
            <a:pPr lvl="8" fontAlgn="base">
              <a:lnSpc>
                <a:spcPct val="100000"/>
              </a:lnSpc>
              <a:spcBef>
                <a:spcPts val="1000"/>
              </a:spcBef>
              <a:spcAft>
                <a:spcPts val="400"/>
              </a:spcAft>
            </a:pPr>
            <a:r>
              <a:rPr lang="en-US" sz="1700" b="1" dirty="0">
                <a:latin typeface="+mn-lt"/>
              </a:rPr>
              <a:t>Now imagine shifting that burden onto regulators.</a:t>
            </a:r>
          </a:p>
          <a:p>
            <a:pPr marL="285750" lvl="8" indent="-285750" fontAlgn="base">
              <a:lnSpc>
                <a:spcPct val="100000"/>
              </a:lnSpc>
              <a:spcBef>
                <a:spcPts val="1000"/>
              </a:spcBef>
              <a:spcAft>
                <a:spcPts val="400"/>
              </a:spcAft>
              <a:buFont typeface="Wingdings" pitchFamily="2" charset="2"/>
              <a:buChar char="§"/>
            </a:pPr>
            <a:r>
              <a:rPr lang="en-US" sz="1700" dirty="0">
                <a:latin typeface="+mn-lt"/>
              </a:rPr>
              <a:t>If anticompetitive mergers are such a tiny percentage of total mergers—and identifying them </a:t>
            </a:r>
            <a:r>
              <a:rPr lang="en-US" sz="1700" i="1" dirty="0">
                <a:latin typeface="+mn-lt"/>
              </a:rPr>
              <a:t>a priori </a:t>
            </a:r>
            <a:r>
              <a:rPr lang="en-US" sz="1700" dirty="0">
                <a:latin typeface="+mn-lt"/>
              </a:rPr>
              <a:t>is difficult—then a precautionary principle strategy that results in many false positives for enforcement would likely not merit the benefits from blocking one or two anticompetitive mergers</a:t>
            </a:r>
            <a:r>
              <a:rPr lang="en-US" sz="1700" dirty="0">
                <a:solidFill>
                  <a:srgbClr val="262626"/>
                </a:solidFill>
                <a:latin typeface="+mn-lt"/>
              </a:rPr>
              <a:t>. </a:t>
            </a:r>
          </a:p>
          <a:p>
            <a:pPr marL="295275" lvl="8" indent="-285750" fontAlgn="base">
              <a:lnSpc>
                <a:spcPct val="100000"/>
              </a:lnSpc>
              <a:spcBef>
                <a:spcPts val="1000"/>
              </a:spcBef>
              <a:spcAft>
                <a:spcPts val="400"/>
              </a:spcAft>
              <a:buClr>
                <a:srgbClr val="262626"/>
              </a:buClr>
              <a:buSzPct val="100000"/>
              <a:buFont typeface="Wingdings" pitchFamily="2" charset="2"/>
              <a:buChar char="§"/>
            </a:pPr>
            <a:r>
              <a:rPr lang="en-US" sz="1700" dirty="0">
                <a:solidFill>
                  <a:srgbClr val="262626"/>
                </a:solidFill>
                <a:latin typeface="+mn-lt"/>
              </a:rPr>
              <a:t>Could anyone—least of all a non-expert, outsider regulator—really have accurately predicted in 2006 that YouTube could be a competitive adjunct to General Search?</a:t>
            </a:r>
          </a:p>
          <a:p>
            <a:pPr marL="295275" lvl="8" indent="-285750" fontAlgn="base">
              <a:lnSpc>
                <a:spcPct val="100000"/>
              </a:lnSpc>
              <a:spcBef>
                <a:spcPts val="1000"/>
              </a:spcBef>
              <a:spcAft>
                <a:spcPts val="400"/>
              </a:spcAft>
              <a:buClr>
                <a:srgbClr val="262626"/>
              </a:buClr>
              <a:buSzPct val="100000"/>
              <a:buFont typeface="Wingdings" pitchFamily="2" charset="2"/>
              <a:buChar char="§"/>
            </a:pPr>
            <a:r>
              <a:rPr lang="en-US" sz="1700" dirty="0">
                <a:solidFill>
                  <a:srgbClr val="262626"/>
                </a:solidFill>
                <a:latin typeface="+mn-lt"/>
              </a:rPr>
              <a:t>Furthermore, but for Google and Facebook’s investments in YouTube and Instagram, it is far from clear that a mere “video-hosting service” or “photo-sharing app” would have grown into the competitor that advocates assume.</a:t>
            </a:r>
          </a:p>
        </p:txBody>
      </p:sp>
      <p:sp>
        <p:nvSpPr>
          <p:cNvPr id="97" name="Shape 9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1027587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328575" y="412153"/>
            <a:ext cx="9230650" cy="685127"/>
          </a:xfrm>
          <a:prstGeom prst="rect">
            <a:avLst/>
          </a:prstGeom>
        </p:spPr>
        <p:txBody>
          <a:bodyPr lIns="99044" tIns="99044" rIns="99044" bIns="99044" anchor="t" anchorCtr="0">
            <a:noAutofit/>
          </a:bodyPr>
          <a:lstStyle/>
          <a:p>
            <a:r>
              <a:rPr lang="en-US" sz="2800" dirty="0">
                <a:latin typeface="+mj-lt"/>
              </a:rPr>
              <a:t>Killer Acquisitions – Cunningham, et al. (2019)</a:t>
            </a:r>
            <a:endParaRPr lang="en" sz="2800" dirty="0">
              <a:latin typeface="+mj-lt"/>
            </a:endParaRPr>
          </a:p>
        </p:txBody>
      </p:sp>
      <p:sp>
        <p:nvSpPr>
          <p:cNvPr id="206" name="Shape 206"/>
          <p:cNvSpPr txBox="1">
            <a:spLocks noGrp="1"/>
          </p:cNvSpPr>
          <p:nvPr>
            <p:ph type="body" idx="4294967295"/>
          </p:nvPr>
        </p:nvSpPr>
        <p:spPr>
          <a:xfrm>
            <a:off x="328575" y="1097280"/>
            <a:ext cx="9230650" cy="5516319"/>
          </a:xfrm>
          <a:prstGeom prst="rect">
            <a:avLst/>
          </a:prstGeom>
        </p:spPr>
        <p:txBody>
          <a:bodyPr lIns="99044" tIns="99044" rIns="99044" bIns="99044" anchor="t" anchorCtr="0">
            <a:noAutofit/>
          </a:bodyPr>
          <a:lstStyle/>
          <a:p>
            <a:pPr lvl="1" fontAlgn="base">
              <a:lnSpc>
                <a:spcPct val="100000"/>
              </a:lnSpc>
              <a:spcBef>
                <a:spcPts val="1000"/>
              </a:spcBef>
              <a:spcAft>
                <a:spcPts val="400"/>
              </a:spcAft>
            </a:pPr>
            <a:r>
              <a:rPr lang="en-US" sz="1600" b="1" dirty="0">
                <a:latin typeface="+mn-lt"/>
              </a:rPr>
              <a:t>Some findings seem concerning: “</a:t>
            </a:r>
            <a:r>
              <a:rPr lang="en-US" sz="1600" dirty="0">
                <a:latin typeface="+mn-lt"/>
              </a:rPr>
              <a:t>[W]e ﬁnd that projects acquired by an incumbent with an overlapping drug are 23.4 percent less likely to have continued development activity compared to drugs acquired by non-overlapping incumbents.”</a:t>
            </a:r>
          </a:p>
          <a:p>
            <a:pPr lvl="1" fontAlgn="base">
              <a:lnSpc>
                <a:spcPct val="100000"/>
              </a:lnSpc>
              <a:spcBef>
                <a:spcPts val="1000"/>
              </a:spcBef>
              <a:spcAft>
                <a:spcPts val="400"/>
              </a:spcAft>
            </a:pPr>
            <a:r>
              <a:rPr lang="en-US" sz="1600" b="1" dirty="0">
                <a:latin typeface="+mn-lt"/>
              </a:rPr>
              <a:t>However, the study’s industry-specific methodology means it is not clearly a useful guide to understand such acquisitions in other areas, especially digital platforms</a:t>
            </a:r>
            <a:r>
              <a:rPr lang="en-US" sz="1600" dirty="0">
                <a:latin typeface="+mn-lt"/>
              </a:rPr>
              <a:t>. </a:t>
            </a:r>
          </a:p>
          <a:p>
            <a:pPr marL="285750" lvl="1" indent="-285750" fontAlgn="base">
              <a:lnSpc>
                <a:spcPct val="100000"/>
              </a:lnSpc>
              <a:spcBef>
                <a:spcPts val="1000"/>
              </a:spcBef>
              <a:spcAft>
                <a:spcPts val="400"/>
              </a:spcAft>
              <a:buFont typeface="Wingdings" charset="2"/>
              <a:buChar char="§"/>
            </a:pPr>
            <a:r>
              <a:rPr lang="en-US" sz="1600" dirty="0">
                <a:latin typeface="+mn-lt"/>
              </a:rPr>
              <a:t>Drug development is highly regulated and documented and contains set milestones. It’s often straightforward to identify substitute products. </a:t>
            </a:r>
            <a:r>
              <a:rPr lang="en-US" sz="1600" b="1" dirty="0">
                <a:latin typeface="+mn-lt"/>
              </a:rPr>
              <a:t>Not so for digital markets where products are highly differentiated</a:t>
            </a:r>
            <a:r>
              <a:rPr lang="en-US" sz="1600" dirty="0">
                <a:latin typeface="+mn-lt"/>
              </a:rPr>
              <a:t>. </a:t>
            </a:r>
            <a:r>
              <a:rPr lang="en-US" sz="1600" b="1" dirty="0">
                <a:latin typeface="+mn-lt"/>
              </a:rPr>
              <a:t>Neither acquirers nor regulators can be as readily presumed able to identify potential competitors.</a:t>
            </a:r>
          </a:p>
          <a:p>
            <a:pPr marL="285750" lvl="1" indent="-285750" fontAlgn="base">
              <a:lnSpc>
                <a:spcPct val="100000"/>
              </a:lnSpc>
              <a:spcBef>
                <a:spcPts val="1000"/>
              </a:spcBef>
              <a:spcAft>
                <a:spcPts val="400"/>
              </a:spcAft>
              <a:buFont typeface="Wingdings" charset="2"/>
              <a:buChar char="§"/>
            </a:pPr>
            <a:r>
              <a:rPr lang="en-US" sz="1600" dirty="0">
                <a:latin typeface="+mn-lt"/>
              </a:rPr>
              <a:t>Also, killer acquisition is “not the typical scenario” (Crémer, et al Report (2019)) in tech platforms; integration is the norm.</a:t>
            </a:r>
          </a:p>
          <a:p>
            <a:pPr lvl="1" fontAlgn="base">
              <a:lnSpc>
                <a:spcPct val="100000"/>
              </a:lnSpc>
              <a:spcBef>
                <a:spcPts val="1000"/>
              </a:spcBef>
              <a:spcAft>
                <a:spcPts val="400"/>
              </a:spcAft>
            </a:pPr>
            <a:r>
              <a:rPr lang="en-US" sz="1600" b="1" dirty="0">
                <a:latin typeface="+mn-lt"/>
              </a:rPr>
              <a:t>Also, these “killer acquisitions” represent only a small fraction — 5.3 to 7.4 percent — of the pharmaceutical acquisitions studied. </a:t>
            </a:r>
          </a:p>
          <a:p>
            <a:pPr marL="285750" lvl="1" indent="-285750" fontAlgn="base">
              <a:lnSpc>
                <a:spcPct val="100000"/>
              </a:lnSpc>
              <a:spcBef>
                <a:spcPts val="1000"/>
              </a:spcBef>
              <a:spcAft>
                <a:spcPts val="400"/>
              </a:spcAft>
              <a:buFont typeface="Wingdings" pitchFamily="2" charset="2"/>
              <a:buChar char="§"/>
            </a:pPr>
            <a:r>
              <a:rPr lang="en-US" sz="1600" dirty="0">
                <a:latin typeface="+mn-lt"/>
              </a:rPr>
              <a:t>And which companies are in that six percent, ex ante?</a:t>
            </a:r>
          </a:p>
          <a:p>
            <a:pPr lvl="1" fontAlgn="base">
              <a:lnSpc>
                <a:spcPct val="100000"/>
              </a:lnSpc>
              <a:spcBef>
                <a:spcPts val="1000"/>
              </a:spcBef>
              <a:spcAft>
                <a:spcPts val="400"/>
              </a:spcAft>
            </a:pPr>
            <a:r>
              <a:rPr lang="en-US" sz="1600" b="1" dirty="0">
                <a:latin typeface="+mn-lt"/>
              </a:rPr>
              <a:t>And we don’t know direction of causation</a:t>
            </a:r>
            <a:r>
              <a:rPr lang="en-US" sz="1600" dirty="0">
                <a:latin typeface="+mn-lt"/>
              </a:rPr>
              <a:t>: </a:t>
            </a:r>
          </a:p>
          <a:p>
            <a:pPr marL="285750" lvl="1" indent="-285750" fontAlgn="base">
              <a:lnSpc>
                <a:spcPct val="100000"/>
              </a:lnSpc>
              <a:spcBef>
                <a:spcPts val="1000"/>
              </a:spcBef>
              <a:spcAft>
                <a:spcPts val="400"/>
              </a:spcAft>
              <a:buFont typeface="Wingdings" pitchFamily="2" charset="2"/>
              <a:buChar char="§"/>
            </a:pPr>
            <a:r>
              <a:rPr lang="en-US" sz="1600" dirty="0">
                <a:latin typeface="+mn-lt"/>
              </a:rPr>
              <a:t>Was R&amp;D discontinued because a more knowledgeable purchaser made a more accurate prediction? </a:t>
            </a:r>
          </a:p>
          <a:p>
            <a:pPr marL="285750" lvl="1" indent="-285750" fontAlgn="base">
              <a:lnSpc>
                <a:spcPct val="100000"/>
              </a:lnSpc>
              <a:spcBef>
                <a:spcPts val="1000"/>
              </a:spcBef>
              <a:spcAft>
                <a:spcPts val="400"/>
              </a:spcAft>
              <a:buFont typeface="Wingdings" charset="2"/>
              <a:buChar char="§"/>
            </a:pPr>
            <a:endParaRPr lang="en-US" sz="1600" dirty="0">
              <a:latin typeface="+mn-lt"/>
            </a:endParaRPr>
          </a:p>
          <a:p>
            <a:pPr lvl="8" fontAlgn="base">
              <a:lnSpc>
                <a:spcPct val="100000"/>
              </a:lnSpc>
              <a:spcBef>
                <a:spcPts val="1000"/>
              </a:spcBef>
              <a:spcAft>
                <a:spcPts val="400"/>
              </a:spcAft>
            </a:pPr>
            <a:endParaRPr lang="en-US" sz="1600" dirty="0">
              <a:latin typeface="+mn-lt"/>
            </a:endParaRPr>
          </a:p>
        </p:txBody>
      </p:sp>
      <p:sp>
        <p:nvSpPr>
          <p:cNvPr id="207" name="Shape 20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1210463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6">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6">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328575" y="412153"/>
            <a:ext cx="9230650" cy="674369"/>
          </a:xfrm>
          <a:prstGeom prst="rect">
            <a:avLst/>
          </a:prstGeom>
        </p:spPr>
        <p:txBody>
          <a:bodyPr lIns="99044" tIns="99044" rIns="99044" bIns="99044" anchor="t" anchorCtr="0">
            <a:noAutofit/>
          </a:bodyPr>
          <a:lstStyle/>
          <a:p>
            <a:r>
              <a:rPr lang="en-US" sz="2800" dirty="0">
                <a:latin typeface="+mj-lt"/>
              </a:rPr>
              <a:t>Missing value of drugs with and without acquisition</a:t>
            </a:r>
            <a:br>
              <a:rPr lang="en-US" sz="2800" dirty="0">
                <a:latin typeface="+mj-lt"/>
              </a:rPr>
            </a:br>
            <a:br>
              <a:rPr lang="en-US" sz="2800" dirty="0">
                <a:latin typeface="+mj-lt"/>
              </a:rPr>
            </a:br>
            <a:endParaRPr lang="en" sz="2800" dirty="0">
              <a:latin typeface="+mj-lt"/>
            </a:endParaRPr>
          </a:p>
        </p:txBody>
      </p:sp>
      <p:sp>
        <p:nvSpPr>
          <p:cNvPr id="206" name="Shape 206"/>
          <p:cNvSpPr txBox="1">
            <a:spLocks noGrp="1"/>
          </p:cNvSpPr>
          <p:nvPr>
            <p:ph type="body" idx="4294967295"/>
          </p:nvPr>
        </p:nvSpPr>
        <p:spPr>
          <a:xfrm>
            <a:off x="328575" y="1086522"/>
            <a:ext cx="9230650" cy="5527077"/>
          </a:xfrm>
          <a:prstGeom prst="rect">
            <a:avLst/>
          </a:prstGeom>
        </p:spPr>
        <p:txBody>
          <a:bodyPr lIns="99044" tIns="99044" rIns="99044" bIns="99044" anchor="t" anchorCtr="0">
            <a:noAutofit/>
          </a:bodyPr>
          <a:lstStyle/>
          <a:p>
            <a:pPr lvl="1" fontAlgn="base">
              <a:lnSpc>
                <a:spcPct val="100000"/>
              </a:lnSpc>
              <a:spcBef>
                <a:spcPts val="1000"/>
              </a:spcBef>
              <a:spcAft>
                <a:spcPts val="400"/>
              </a:spcAft>
            </a:pPr>
            <a:endParaRPr lang="en-US" sz="1700" b="1" dirty="0">
              <a:latin typeface="+mn-lt"/>
            </a:endParaRPr>
          </a:p>
          <a:p>
            <a:pPr lvl="1" fontAlgn="base">
              <a:lnSpc>
                <a:spcPct val="100000"/>
              </a:lnSpc>
              <a:spcBef>
                <a:spcPts val="1000"/>
              </a:spcBef>
              <a:spcAft>
                <a:spcPts val="400"/>
              </a:spcAft>
            </a:pPr>
            <a:r>
              <a:rPr lang="en-US" sz="1700" b="1" dirty="0">
                <a:latin typeface="+mn-lt"/>
              </a:rPr>
              <a:t>Only a fraction of even the small share of drugs that make it to FDA approval is commercially successful (and, obviously, to varying degrees). </a:t>
            </a:r>
          </a:p>
          <a:p>
            <a:pPr lvl="1" fontAlgn="base">
              <a:lnSpc>
                <a:spcPct val="100000"/>
              </a:lnSpc>
              <a:spcBef>
                <a:spcPts val="1000"/>
              </a:spcBef>
              <a:spcAft>
                <a:spcPts val="400"/>
              </a:spcAft>
            </a:pPr>
            <a:r>
              <a:rPr lang="en-US" sz="1700" b="1" dirty="0">
                <a:latin typeface="+mn-lt"/>
              </a:rPr>
              <a:t>If true for all drugs equally, we shouldn’t see differences between overlapping and non-overlapping acquirers. </a:t>
            </a:r>
          </a:p>
          <a:p>
            <a:pPr marL="285750" lvl="1" indent="-285750" fontAlgn="base">
              <a:lnSpc>
                <a:spcPct val="100000"/>
              </a:lnSpc>
              <a:spcBef>
                <a:spcPts val="1000"/>
              </a:spcBef>
              <a:spcAft>
                <a:spcPts val="400"/>
              </a:spcAft>
              <a:buFont typeface="Wingdings" pitchFamily="2" charset="2"/>
              <a:buChar char="§"/>
            </a:pPr>
            <a:r>
              <a:rPr lang="en-US" sz="1700" dirty="0">
                <a:latin typeface="+mn-lt"/>
              </a:rPr>
              <a:t>But there are seemingly plausible reasons to think that the drugs that are acquired by competitors with overlapping drugs might be more likely to fail.</a:t>
            </a:r>
          </a:p>
          <a:p>
            <a:pPr lvl="1" fontAlgn="base">
              <a:lnSpc>
                <a:spcPct val="100000"/>
              </a:lnSpc>
              <a:spcBef>
                <a:spcPts val="1000"/>
              </a:spcBef>
              <a:spcAft>
                <a:spcPts val="400"/>
              </a:spcAft>
            </a:pPr>
            <a:r>
              <a:rPr lang="en-US" sz="1700" b="1" dirty="0">
                <a:latin typeface="+mn-lt"/>
              </a:rPr>
              <a:t>Missing the likelihood that a drug will make it to market — let alone be successful in the market — absent an acquisition, and the likelihood of commercialization and success for the drugs acquired by overlapping acquirers but not killed.</a:t>
            </a:r>
          </a:p>
          <a:p>
            <a:pPr lvl="1" fontAlgn="base">
              <a:lnSpc>
                <a:spcPct val="100000"/>
              </a:lnSpc>
              <a:spcBef>
                <a:spcPts val="1000"/>
              </a:spcBef>
              <a:spcAft>
                <a:spcPts val="400"/>
              </a:spcAft>
            </a:pPr>
            <a:r>
              <a:rPr lang="en-US" sz="1700" b="1" dirty="0">
                <a:latin typeface="+mn-lt"/>
              </a:rPr>
              <a:t>Maybe overlapping acquirers’ information advantage enables them to better evaluate the likelihood of commercial success post-acquisition</a:t>
            </a:r>
          </a:p>
          <a:p>
            <a:pPr marL="285750" lvl="1" indent="-285750" fontAlgn="base">
              <a:lnSpc>
                <a:spcPct val="100000"/>
              </a:lnSpc>
              <a:spcBef>
                <a:spcPts val="1000"/>
              </a:spcBef>
              <a:spcAft>
                <a:spcPts val="400"/>
              </a:spcAft>
              <a:buFont typeface="Wingdings" pitchFamily="2" charset="2"/>
              <a:buChar char="§"/>
            </a:pPr>
            <a:r>
              <a:rPr lang="en-US" sz="1700" dirty="0">
                <a:latin typeface="+mn-lt"/>
              </a:rPr>
              <a:t>Resulting in both quicker terminations but also, on net, greater success with non-terminated drugs.</a:t>
            </a:r>
          </a:p>
          <a:p>
            <a:pPr marL="285750" lvl="1" indent="-285750" fontAlgn="base">
              <a:lnSpc>
                <a:spcPct val="100000"/>
              </a:lnSpc>
              <a:spcBef>
                <a:spcPts val="1000"/>
              </a:spcBef>
              <a:spcAft>
                <a:spcPts val="400"/>
              </a:spcAft>
              <a:buFont typeface="Wingdings" charset="2"/>
              <a:buChar char="§"/>
            </a:pPr>
            <a:endParaRPr lang="en-US" sz="1700" dirty="0">
              <a:latin typeface="+mn-lt"/>
            </a:endParaRPr>
          </a:p>
          <a:p>
            <a:pPr lvl="8" fontAlgn="base">
              <a:lnSpc>
                <a:spcPct val="100000"/>
              </a:lnSpc>
              <a:spcBef>
                <a:spcPts val="1000"/>
              </a:spcBef>
              <a:spcAft>
                <a:spcPts val="400"/>
              </a:spcAft>
            </a:pPr>
            <a:endParaRPr lang="en-US" sz="1700" dirty="0">
              <a:latin typeface="+mn-lt"/>
            </a:endParaRPr>
          </a:p>
        </p:txBody>
      </p:sp>
      <p:sp>
        <p:nvSpPr>
          <p:cNvPr id="207" name="Shape 20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2374746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328575" y="412153"/>
            <a:ext cx="9230650" cy="674369"/>
          </a:xfrm>
          <a:prstGeom prst="rect">
            <a:avLst/>
          </a:prstGeom>
        </p:spPr>
        <p:txBody>
          <a:bodyPr lIns="99044" tIns="99044" rIns="99044" bIns="99044" anchor="t" anchorCtr="0">
            <a:noAutofit/>
          </a:bodyPr>
          <a:lstStyle/>
          <a:p>
            <a:r>
              <a:rPr lang="en-US" sz="2800" dirty="0">
                <a:latin typeface="+mj-lt"/>
              </a:rPr>
              <a:t>Optimal investment incentives</a:t>
            </a:r>
            <a:br>
              <a:rPr lang="en-US" sz="2800" dirty="0">
                <a:latin typeface="+mj-lt"/>
              </a:rPr>
            </a:br>
            <a:br>
              <a:rPr lang="en-US" sz="2800" dirty="0">
                <a:latin typeface="+mj-lt"/>
              </a:rPr>
            </a:br>
            <a:endParaRPr lang="en" sz="2800" dirty="0">
              <a:latin typeface="+mj-lt"/>
            </a:endParaRPr>
          </a:p>
        </p:txBody>
      </p:sp>
      <p:sp>
        <p:nvSpPr>
          <p:cNvPr id="206" name="Shape 206"/>
          <p:cNvSpPr txBox="1">
            <a:spLocks noGrp="1"/>
          </p:cNvSpPr>
          <p:nvPr>
            <p:ph type="body" idx="4294967295"/>
          </p:nvPr>
        </p:nvSpPr>
        <p:spPr>
          <a:xfrm>
            <a:off x="328575" y="1086522"/>
            <a:ext cx="9230650" cy="5152913"/>
          </a:xfrm>
          <a:prstGeom prst="rect">
            <a:avLst/>
          </a:prstGeom>
        </p:spPr>
        <p:txBody>
          <a:bodyPr lIns="99044" tIns="99044" rIns="99044" bIns="99044" anchor="t" anchorCtr="0">
            <a:noAutofit/>
          </a:bodyPr>
          <a:lstStyle/>
          <a:p>
            <a:pPr lvl="1" fontAlgn="base">
              <a:lnSpc>
                <a:spcPct val="100000"/>
              </a:lnSpc>
              <a:spcBef>
                <a:spcPts val="1000"/>
              </a:spcBef>
              <a:spcAft>
                <a:spcPts val="400"/>
              </a:spcAft>
            </a:pPr>
            <a:endParaRPr lang="en-US" sz="1700" b="1" dirty="0">
              <a:latin typeface="+mn-lt"/>
            </a:endParaRPr>
          </a:p>
          <a:p>
            <a:pPr lvl="1" fontAlgn="base">
              <a:lnSpc>
                <a:spcPct val="100000"/>
              </a:lnSpc>
              <a:spcBef>
                <a:spcPts val="1000"/>
              </a:spcBef>
              <a:spcAft>
                <a:spcPts val="400"/>
              </a:spcAft>
            </a:pPr>
            <a:r>
              <a:rPr lang="en-US" sz="1700" b="1" dirty="0">
                <a:latin typeface="+mn-lt"/>
              </a:rPr>
              <a:t>Killer acquisitions may be valuable tools for redirecting R&amp;D resources to higher value projects, and, by the same token, for mitigating the possible incentive for startup firms (and the industry as a whole) to </a:t>
            </a:r>
            <a:r>
              <a:rPr lang="en-US" sz="1700" b="1" i="1" dirty="0">
                <a:latin typeface="+mn-lt"/>
              </a:rPr>
              <a:t>over</a:t>
            </a:r>
            <a:r>
              <a:rPr lang="en-US" sz="1700" b="1" dirty="0">
                <a:latin typeface="+mn-lt"/>
              </a:rPr>
              <a:t>-invest in R&amp;D activity. </a:t>
            </a:r>
          </a:p>
          <a:p>
            <a:pPr marL="285750" lvl="1" indent="-285750" fontAlgn="base">
              <a:lnSpc>
                <a:spcPct val="100000"/>
              </a:lnSpc>
              <a:spcBef>
                <a:spcPts val="1000"/>
              </a:spcBef>
              <a:spcAft>
                <a:spcPts val="400"/>
              </a:spcAft>
              <a:buFont typeface="Wingdings" pitchFamily="2" charset="2"/>
              <a:buChar char="§"/>
            </a:pPr>
            <a:r>
              <a:rPr lang="en-US" sz="1700" dirty="0">
                <a:latin typeface="+mn-lt"/>
              </a:rPr>
              <a:t>Incumbents can presumably better afford failure, whereas startups may be more inclined to over-invest to salvage what may be the firm’s only product.</a:t>
            </a:r>
          </a:p>
          <a:p>
            <a:pPr marL="285750" lvl="1" indent="-285750" fontAlgn="base">
              <a:lnSpc>
                <a:spcPct val="100000"/>
              </a:lnSpc>
              <a:spcBef>
                <a:spcPts val="1000"/>
              </a:spcBef>
              <a:spcAft>
                <a:spcPts val="400"/>
              </a:spcAft>
              <a:buFont typeface="Wingdings" pitchFamily="2" charset="2"/>
              <a:buChar char="§"/>
            </a:pPr>
            <a:r>
              <a:rPr lang="en-US" sz="1700" dirty="0">
                <a:latin typeface="+mn-lt"/>
              </a:rPr>
              <a:t>The financial need to make this decision may come for the startup before gaining the optimal information to judge the likely success of the project. </a:t>
            </a:r>
          </a:p>
          <a:p>
            <a:pPr marL="285750" lvl="1" indent="-285750" fontAlgn="base">
              <a:lnSpc>
                <a:spcPct val="100000"/>
              </a:lnSpc>
              <a:spcBef>
                <a:spcPts val="1000"/>
              </a:spcBef>
              <a:spcAft>
                <a:spcPts val="400"/>
              </a:spcAft>
              <a:buFont typeface="Wingdings" pitchFamily="2" charset="2"/>
              <a:buChar char="§"/>
            </a:pPr>
            <a:r>
              <a:rPr lang="en-US" sz="1700" dirty="0">
                <a:latin typeface="+mn-lt"/>
              </a:rPr>
              <a:t>Incumbents may acquire particularly risky projects precisely with the intention to invest some relatively small amount to take them to the optimal information stage. (Hence development is </a:t>
            </a:r>
            <a:r>
              <a:rPr lang="en-US" sz="1700" i="1" dirty="0">
                <a:latin typeface="+mn-lt"/>
              </a:rPr>
              <a:t>also </a:t>
            </a:r>
            <a:r>
              <a:rPr lang="en-US" sz="1700" dirty="0">
                <a:latin typeface="+mn-lt"/>
              </a:rPr>
              <a:t>less likely in non-overlapping acquisitions).</a:t>
            </a:r>
          </a:p>
          <a:p>
            <a:pPr marL="285750" lvl="1" indent="-285750" fontAlgn="base">
              <a:lnSpc>
                <a:spcPct val="100000"/>
              </a:lnSpc>
              <a:spcBef>
                <a:spcPts val="1000"/>
              </a:spcBef>
              <a:spcAft>
                <a:spcPts val="400"/>
              </a:spcAft>
              <a:buFont typeface="Wingdings" pitchFamily="2" charset="2"/>
              <a:buChar char="§"/>
            </a:pPr>
            <a:r>
              <a:rPr lang="en-US" sz="1700" dirty="0">
                <a:latin typeface="+mn-lt"/>
              </a:rPr>
              <a:t>Plausibly the ability to make these decisions effectively is improved in firms that have overlapping products and thus better information about the project in question. </a:t>
            </a:r>
          </a:p>
          <a:p>
            <a:pPr lvl="1" fontAlgn="base">
              <a:lnSpc>
                <a:spcPct val="100000"/>
              </a:lnSpc>
              <a:spcBef>
                <a:spcPts val="1000"/>
              </a:spcBef>
              <a:spcAft>
                <a:spcPts val="400"/>
              </a:spcAft>
            </a:pPr>
            <a:endParaRPr lang="en-US" sz="1700" dirty="0">
              <a:latin typeface="+mn-lt"/>
            </a:endParaRPr>
          </a:p>
        </p:txBody>
      </p:sp>
      <p:sp>
        <p:nvSpPr>
          <p:cNvPr id="207" name="Shape 20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3639800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328575" y="412153"/>
            <a:ext cx="9230650" cy="674369"/>
          </a:xfrm>
          <a:prstGeom prst="rect">
            <a:avLst/>
          </a:prstGeom>
        </p:spPr>
        <p:txBody>
          <a:bodyPr lIns="99044" tIns="99044" rIns="99044" bIns="99044" anchor="t" anchorCtr="0">
            <a:noAutofit/>
          </a:bodyPr>
          <a:lstStyle/>
          <a:p>
            <a:r>
              <a:rPr lang="en-US" sz="2800" dirty="0">
                <a:latin typeface="+mj-lt"/>
              </a:rPr>
              <a:t>Optimal investment incentives</a:t>
            </a:r>
            <a:br>
              <a:rPr lang="en-US" sz="2800" dirty="0">
                <a:latin typeface="+mj-lt"/>
              </a:rPr>
            </a:br>
            <a:br>
              <a:rPr lang="en-US" sz="2800" dirty="0">
                <a:latin typeface="+mj-lt"/>
              </a:rPr>
            </a:br>
            <a:endParaRPr lang="en" sz="2800" dirty="0">
              <a:latin typeface="+mj-lt"/>
            </a:endParaRPr>
          </a:p>
        </p:txBody>
      </p:sp>
      <p:sp>
        <p:nvSpPr>
          <p:cNvPr id="206" name="Shape 206"/>
          <p:cNvSpPr txBox="1">
            <a:spLocks noGrp="1"/>
          </p:cNvSpPr>
          <p:nvPr>
            <p:ph type="body" idx="4294967295"/>
          </p:nvPr>
        </p:nvSpPr>
        <p:spPr>
          <a:xfrm>
            <a:off x="328575" y="1086522"/>
            <a:ext cx="9230650" cy="5077609"/>
          </a:xfrm>
          <a:prstGeom prst="rect">
            <a:avLst/>
          </a:prstGeom>
        </p:spPr>
        <p:txBody>
          <a:bodyPr lIns="99044" tIns="99044" rIns="99044" bIns="99044" anchor="t" anchorCtr="0">
            <a:noAutofit/>
          </a:bodyPr>
          <a:lstStyle/>
          <a:p>
            <a:pPr lvl="1" fontAlgn="base">
              <a:lnSpc>
                <a:spcPct val="100000"/>
              </a:lnSpc>
              <a:spcBef>
                <a:spcPts val="1000"/>
              </a:spcBef>
              <a:spcAft>
                <a:spcPts val="400"/>
              </a:spcAft>
            </a:pPr>
            <a:endParaRPr lang="en-US" sz="1700" b="1" dirty="0">
              <a:latin typeface="+mn-lt"/>
            </a:endParaRPr>
          </a:p>
          <a:p>
            <a:pPr lvl="1" fontAlgn="base">
              <a:lnSpc>
                <a:spcPct val="100000"/>
              </a:lnSpc>
              <a:spcBef>
                <a:spcPts val="1000"/>
              </a:spcBef>
              <a:spcAft>
                <a:spcPts val="400"/>
              </a:spcAft>
            </a:pPr>
            <a:endParaRPr lang="en-US" sz="1700" b="1" dirty="0">
              <a:latin typeface="+mn-lt"/>
            </a:endParaRPr>
          </a:p>
          <a:p>
            <a:pPr lvl="1" fontAlgn="base">
              <a:lnSpc>
                <a:spcPct val="100000"/>
              </a:lnSpc>
              <a:spcBef>
                <a:spcPts val="1000"/>
              </a:spcBef>
              <a:spcAft>
                <a:spcPts val="400"/>
              </a:spcAft>
            </a:pPr>
            <a:r>
              <a:rPr lang="en-US" sz="1700" b="1" dirty="0">
                <a:latin typeface="+mn-lt"/>
              </a:rPr>
              <a:t>Cunningham et al:</a:t>
            </a:r>
          </a:p>
          <a:p>
            <a:pPr marL="285750" lvl="1" indent="-285750" fontAlgn="base">
              <a:lnSpc>
                <a:spcPct val="100000"/>
              </a:lnSpc>
              <a:spcBef>
                <a:spcPts val="1000"/>
              </a:spcBef>
              <a:spcAft>
                <a:spcPts val="400"/>
              </a:spcAft>
              <a:buFont typeface="Wingdings" pitchFamily="2" charset="2"/>
              <a:buChar char="§"/>
            </a:pPr>
            <a:r>
              <a:rPr lang="en-US" sz="1700" dirty="0">
                <a:latin typeface="+mn-lt"/>
              </a:rPr>
              <a:t>“We model acquisitions that occur when the innovative target ﬁrm’s project is still under development, and therefore further development is necessary and costly and the ultimate project success is uncertain. </a:t>
            </a:r>
            <a:r>
              <a:rPr lang="en-US" sz="1700" b="1" dirty="0">
                <a:latin typeface="+mn-lt"/>
              </a:rPr>
              <a:t>An incumbent acquirer has weaker incentives to continue development than an entrepreneur if the new project overlaps with (i.e., substitutes for) a product or project in the incumbent’s portfolio</a:t>
            </a:r>
            <a:r>
              <a:rPr lang="en-US" sz="1700" dirty="0">
                <a:latin typeface="+mn-lt"/>
              </a:rPr>
              <a:t>.”</a:t>
            </a:r>
          </a:p>
          <a:p>
            <a:pPr lvl="1" fontAlgn="base">
              <a:lnSpc>
                <a:spcPct val="100000"/>
              </a:lnSpc>
              <a:spcBef>
                <a:spcPts val="1000"/>
              </a:spcBef>
              <a:spcAft>
                <a:spcPts val="400"/>
              </a:spcAft>
            </a:pPr>
            <a:r>
              <a:rPr lang="en-US" sz="1700" b="1" dirty="0">
                <a:latin typeface="+mn-lt"/>
              </a:rPr>
              <a:t>But an incumbent also has weaker incentives to continue development than an entrepreneur if it knows better than the entrepreneur that the project is unlikely to succeed.</a:t>
            </a:r>
          </a:p>
        </p:txBody>
      </p:sp>
      <p:sp>
        <p:nvSpPr>
          <p:cNvPr id="207" name="Shape 20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3926745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328575" y="412153"/>
            <a:ext cx="9230650" cy="669395"/>
          </a:xfrm>
          <a:prstGeom prst="rect">
            <a:avLst/>
          </a:prstGeom>
        </p:spPr>
        <p:txBody>
          <a:bodyPr lIns="99044" tIns="99044" rIns="99044" bIns="99044" anchor="t" anchorCtr="0">
            <a:noAutofit/>
          </a:bodyPr>
          <a:lstStyle/>
          <a:p>
            <a:r>
              <a:rPr lang="en-US" sz="2800" dirty="0">
                <a:latin typeface="+mj-lt"/>
              </a:rPr>
              <a:t>Lemley &amp; McCreary (2020)</a:t>
            </a:r>
            <a:endParaRPr lang="en" sz="2800" dirty="0">
              <a:latin typeface="+mj-lt"/>
            </a:endParaRPr>
          </a:p>
        </p:txBody>
      </p:sp>
      <p:sp>
        <p:nvSpPr>
          <p:cNvPr id="206" name="Shape 206"/>
          <p:cNvSpPr txBox="1">
            <a:spLocks noGrp="1"/>
          </p:cNvSpPr>
          <p:nvPr>
            <p:ph type="body" idx="4294967295"/>
          </p:nvPr>
        </p:nvSpPr>
        <p:spPr>
          <a:xfrm>
            <a:off x="337675" y="1081548"/>
            <a:ext cx="9230650" cy="5218753"/>
          </a:xfrm>
          <a:prstGeom prst="rect">
            <a:avLst/>
          </a:prstGeom>
        </p:spPr>
        <p:txBody>
          <a:bodyPr lIns="99044" tIns="99044" rIns="99044" bIns="99044" anchor="t" anchorCtr="0">
            <a:noAutofit/>
          </a:bodyPr>
          <a:lstStyle/>
          <a:p>
            <a:pPr lvl="1" fontAlgn="base">
              <a:lnSpc>
                <a:spcPct val="100000"/>
              </a:lnSpc>
              <a:spcBef>
                <a:spcPts val="1000"/>
              </a:spcBef>
              <a:spcAft>
                <a:spcPts val="400"/>
              </a:spcAft>
            </a:pPr>
            <a:r>
              <a:rPr lang="en-US" sz="1700" dirty="0">
                <a:latin typeface="+mn-lt"/>
              </a:rPr>
              <a:t>IPOs have grown scarce: </a:t>
            </a:r>
            <a:r>
              <a:rPr lang="en-US" sz="1700" b="1" dirty="0">
                <a:latin typeface="+mn-lt"/>
              </a:rPr>
              <a:t>”In short, high-tech startups must increasingly sell out in order to succeed”</a:t>
            </a:r>
          </a:p>
          <a:p>
            <a:pPr lvl="1" fontAlgn="base">
              <a:lnSpc>
                <a:spcPct val="100000"/>
              </a:lnSpc>
              <a:spcBef>
                <a:spcPts val="1000"/>
              </a:spcBef>
              <a:spcAft>
                <a:spcPts val="400"/>
              </a:spcAft>
            </a:pPr>
            <a:r>
              <a:rPr lang="en-US" sz="1700" b="1" dirty="0">
                <a:latin typeface="+mn-lt"/>
              </a:rPr>
              <a:t>Why is this a problem?</a:t>
            </a:r>
          </a:p>
          <a:p>
            <a:pPr marL="307975" lvl="4" indent="-307975" fontAlgn="base">
              <a:lnSpc>
                <a:spcPct val="100000"/>
              </a:lnSpc>
              <a:spcBef>
                <a:spcPts val="1000"/>
              </a:spcBef>
              <a:spcAft>
                <a:spcPts val="400"/>
              </a:spcAft>
              <a:buFont typeface="Wingdings" charset="2"/>
              <a:buChar char="§"/>
            </a:pPr>
            <a:r>
              <a:rPr lang="en-US" sz="1700" dirty="0">
                <a:latin typeface="+mn-lt"/>
              </a:rPr>
              <a:t>“It’s not surprising, then, that the exit strategy for most startups is acquisition, and that the most likely acquirer is the very incumbent the startup’s technology might otherwise challenge. Given that, it also shouldn’t be a surprise that many of those technologies are quietly shut down a few years after acquisition.</a:t>
            </a:r>
          </a:p>
          <a:p>
            <a:pPr marL="307975" lvl="4" indent="-307975" fontAlgn="base">
              <a:lnSpc>
                <a:spcPct val="100000"/>
              </a:lnSpc>
              <a:spcBef>
                <a:spcPts val="1000"/>
              </a:spcBef>
              <a:spcAft>
                <a:spcPts val="400"/>
              </a:spcAft>
              <a:buFont typeface="Wingdings" charset="2"/>
              <a:buChar char="§"/>
            </a:pPr>
            <a:r>
              <a:rPr lang="en-US" sz="1700" b="1" dirty="0">
                <a:latin typeface="+mn-lt"/>
              </a:rPr>
              <a:t>“The result is that a culture of vibrant startups that should drive Schumpeterian competition by leapfrogging less nimble incumbents has been coopted by the structure of the VC market.”</a:t>
            </a:r>
          </a:p>
          <a:p>
            <a:pPr lvl="4" fontAlgn="base">
              <a:lnSpc>
                <a:spcPct val="100000"/>
              </a:lnSpc>
              <a:spcBef>
                <a:spcPts val="1000"/>
              </a:spcBef>
              <a:spcAft>
                <a:spcPts val="400"/>
              </a:spcAft>
            </a:pPr>
            <a:r>
              <a:rPr lang="en-US" sz="1700" b="1" dirty="0">
                <a:latin typeface="+mn-lt"/>
              </a:rPr>
              <a:t>What should we do?</a:t>
            </a:r>
          </a:p>
          <a:p>
            <a:pPr marL="285750" lvl="4" indent="-285750" fontAlgn="base">
              <a:lnSpc>
                <a:spcPct val="100000"/>
              </a:lnSpc>
              <a:spcBef>
                <a:spcPts val="1000"/>
              </a:spcBef>
              <a:spcAft>
                <a:spcPts val="400"/>
              </a:spcAft>
              <a:buFont typeface="Wingdings" pitchFamily="2" charset="2"/>
              <a:buChar char="§"/>
            </a:pPr>
            <a:r>
              <a:rPr lang="en-US" sz="1700" dirty="0">
                <a:latin typeface="+mn-lt"/>
              </a:rPr>
              <a:t>While an outright ban on mergers would threaten the VC industry and therefore startups, a targeted ban on acquisitions of thriving companies by dominant firms in the same or adjacent markets might be welfare-enhancing.</a:t>
            </a:r>
          </a:p>
          <a:p>
            <a:pPr marL="285750" lvl="1" indent="-285750" fontAlgn="base">
              <a:lnSpc>
                <a:spcPct val="100000"/>
              </a:lnSpc>
              <a:spcBef>
                <a:spcPts val="1000"/>
              </a:spcBef>
              <a:spcAft>
                <a:spcPts val="400"/>
              </a:spcAft>
              <a:buFont typeface="Wingdings" charset="2"/>
              <a:buChar char="§"/>
            </a:pPr>
            <a:endParaRPr lang="en-US" sz="1700" dirty="0">
              <a:latin typeface="+mn-lt"/>
            </a:endParaRPr>
          </a:p>
        </p:txBody>
      </p:sp>
      <p:sp>
        <p:nvSpPr>
          <p:cNvPr id="207" name="Shape 20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2548944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6">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328575" y="412153"/>
            <a:ext cx="9230650" cy="669395"/>
          </a:xfrm>
          <a:prstGeom prst="rect">
            <a:avLst/>
          </a:prstGeom>
        </p:spPr>
        <p:txBody>
          <a:bodyPr lIns="99044" tIns="99044" rIns="99044" bIns="99044" anchor="t" anchorCtr="0">
            <a:noAutofit/>
          </a:bodyPr>
          <a:lstStyle/>
          <a:p>
            <a:r>
              <a:rPr lang="en-US" sz="2800" dirty="0">
                <a:latin typeface="+mj-lt"/>
              </a:rPr>
              <a:t>Some issues with the assumptions</a:t>
            </a:r>
            <a:endParaRPr lang="en" sz="2800" dirty="0">
              <a:latin typeface="+mj-lt"/>
            </a:endParaRPr>
          </a:p>
        </p:txBody>
      </p:sp>
      <p:sp>
        <p:nvSpPr>
          <p:cNvPr id="206" name="Shape 206"/>
          <p:cNvSpPr txBox="1">
            <a:spLocks noGrp="1"/>
          </p:cNvSpPr>
          <p:nvPr>
            <p:ph type="body" idx="4294967295"/>
          </p:nvPr>
        </p:nvSpPr>
        <p:spPr>
          <a:xfrm>
            <a:off x="337675" y="1081548"/>
            <a:ext cx="9230650" cy="5218753"/>
          </a:xfrm>
          <a:prstGeom prst="rect">
            <a:avLst/>
          </a:prstGeom>
        </p:spPr>
        <p:txBody>
          <a:bodyPr lIns="99044" tIns="99044" rIns="99044" bIns="99044" anchor="t" anchorCtr="0">
            <a:noAutofit/>
          </a:bodyPr>
          <a:lstStyle/>
          <a:p>
            <a:pPr lvl="1" fontAlgn="base">
              <a:lnSpc>
                <a:spcPct val="100000"/>
              </a:lnSpc>
              <a:spcBef>
                <a:spcPts val="1000"/>
              </a:spcBef>
              <a:spcAft>
                <a:spcPts val="400"/>
              </a:spcAft>
            </a:pPr>
            <a:endParaRPr lang="en-US" sz="1700" b="1" dirty="0">
              <a:latin typeface="+mn-lt"/>
            </a:endParaRPr>
          </a:p>
          <a:p>
            <a:pPr lvl="1" fontAlgn="base">
              <a:lnSpc>
                <a:spcPct val="100000"/>
              </a:lnSpc>
              <a:spcBef>
                <a:spcPts val="1000"/>
              </a:spcBef>
              <a:spcAft>
                <a:spcPts val="400"/>
              </a:spcAft>
            </a:pPr>
            <a:r>
              <a:rPr lang="en-US" sz="1700" b="1" dirty="0">
                <a:latin typeface="+mn-lt"/>
              </a:rPr>
              <a:t>SCP Presumptions: “Stay in business rather than sell out”</a:t>
            </a:r>
          </a:p>
          <a:p>
            <a:pPr lvl="1" fontAlgn="base">
              <a:lnSpc>
                <a:spcPct val="100000"/>
              </a:lnSpc>
              <a:spcBef>
                <a:spcPts val="1000"/>
              </a:spcBef>
              <a:spcAft>
                <a:spcPts val="400"/>
              </a:spcAft>
            </a:pPr>
            <a:r>
              <a:rPr lang="en-US" sz="1700" b="1" dirty="0">
                <a:latin typeface="+mn-lt"/>
              </a:rPr>
              <a:t>Neglects/dismisses counterfactual</a:t>
            </a:r>
          </a:p>
          <a:p>
            <a:pPr marL="800100" lvl="1" indent="-341313" fontAlgn="base">
              <a:lnSpc>
                <a:spcPct val="100000"/>
              </a:lnSpc>
              <a:spcBef>
                <a:spcPts val="1000"/>
              </a:spcBef>
              <a:spcAft>
                <a:spcPts val="400"/>
              </a:spcAft>
              <a:buFont typeface="Wingdings" pitchFamily="2" charset="2"/>
              <a:buChar char="§"/>
            </a:pPr>
            <a:r>
              <a:rPr lang="en-US" sz="1700" dirty="0">
                <a:latin typeface="+mn-lt"/>
              </a:rPr>
              <a:t>Would company continue without acquisition?</a:t>
            </a:r>
          </a:p>
          <a:p>
            <a:pPr marL="800100" lvl="1" indent="-341313" fontAlgn="base">
              <a:lnSpc>
                <a:spcPct val="100000"/>
              </a:lnSpc>
              <a:spcBef>
                <a:spcPts val="1000"/>
              </a:spcBef>
              <a:spcAft>
                <a:spcPts val="400"/>
              </a:spcAft>
              <a:buFont typeface="Wingdings" pitchFamily="2" charset="2"/>
              <a:buChar char="§"/>
            </a:pPr>
            <a:r>
              <a:rPr lang="en-US" sz="1700" dirty="0">
                <a:latin typeface="+mn-lt"/>
              </a:rPr>
              <a:t>Would company have been funded in the first place?</a:t>
            </a:r>
          </a:p>
          <a:p>
            <a:pPr marL="800100" lvl="1" indent="-341313" fontAlgn="base">
              <a:lnSpc>
                <a:spcPct val="100000"/>
              </a:lnSpc>
              <a:spcBef>
                <a:spcPts val="1000"/>
              </a:spcBef>
              <a:spcAft>
                <a:spcPts val="400"/>
              </a:spcAft>
              <a:buFont typeface="Wingdings" pitchFamily="2" charset="2"/>
              <a:buChar char="§"/>
            </a:pPr>
            <a:r>
              <a:rPr lang="en-US" sz="1700" dirty="0">
                <a:latin typeface="+mn-lt"/>
              </a:rPr>
              <a:t>Would standalone company deliver more welfare?</a:t>
            </a:r>
          </a:p>
          <a:p>
            <a:pPr marL="9525" lvl="1" fontAlgn="base">
              <a:lnSpc>
                <a:spcPct val="100000"/>
              </a:lnSpc>
              <a:spcBef>
                <a:spcPts val="1000"/>
              </a:spcBef>
              <a:spcAft>
                <a:spcPts val="400"/>
              </a:spcAft>
            </a:pPr>
            <a:r>
              <a:rPr lang="en-US" sz="1700" b="1" dirty="0">
                <a:latin typeface="+mn-lt"/>
              </a:rPr>
              <a:t>Assumes concentration is bad</a:t>
            </a:r>
          </a:p>
          <a:p>
            <a:pPr marL="746125" lvl="1" indent="-277813" fontAlgn="base">
              <a:lnSpc>
                <a:spcPct val="100000"/>
              </a:lnSpc>
              <a:spcBef>
                <a:spcPts val="1000"/>
              </a:spcBef>
              <a:spcAft>
                <a:spcPts val="400"/>
              </a:spcAft>
              <a:buFont typeface="Wingdings" pitchFamily="2" charset="2"/>
              <a:buChar char="§"/>
            </a:pPr>
            <a:r>
              <a:rPr lang="en-US" sz="1700" dirty="0">
                <a:latin typeface="+mn-lt"/>
              </a:rPr>
              <a:t>This isn’t the point of the paper, but it is key underlying assumption</a:t>
            </a:r>
          </a:p>
          <a:p>
            <a:pPr marL="746125" lvl="1" indent="-277813" fontAlgn="base">
              <a:lnSpc>
                <a:spcPct val="100000"/>
              </a:lnSpc>
              <a:spcBef>
                <a:spcPts val="1000"/>
              </a:spcBef>
              <a:spcAft>
                <a:spcPts val="400"/>
              </a:spcAft>
              <a:buFont typeface="Wingdings" pitchFamily="2" charset="2"/>
              <a:buChar char="§"/>
            </a:pPr>
            <a:r>
              <a:rPr lang="en-US" sz="1700" dirty="0">
                <a:latin typeface="+mn-lt"/>
              </a:rPr>
              <a:t>Arguments aren’t limited to VC context; they apply to all mergers</a:t>
            </a:r>
            <a:br>
              <a:rPr lang="en-US" dirty="0"/>
            </a:br>
            <a:endParaRPr lang="en-US" sz="1700" dirty="0">
              <a:latin typeface="+mn-lt"/>
            </a:endParaRPr>
          </a:p>
          <a:p>
            <a:pPr marL="295275" lvl="1" indent="-285750" fontAlgn="base">
              <a:lnSpc>
                <a:spcPct val="100000"/>
              </a:lnSpc>
              <a:spcBef>
                <a:spcPts val="1000"/>
              </a:spcBef>
              <a:spcAft>
                <a:spcPts val="400"/>
              </a:spcAft>
              <a:buFont typeface="Wingdings" pitchFamily="2" charset="2"/>
              <a:buChar char="§"/>
            </a:pPr>
            <a:endParaRPr lang="en-US" sz="1700" dirty="0">
              <a:latin typeface="+mn-lt"/>
            </a:endParaRPr>
          </a:p>
          <a:p>
            <a:pPr marL="285750" lvl="1" indent="-285750" fontAlgn="base">
              <a:lnSpc>
                <a:spcPct val="100000"/>
              </a:lnSpc>
              <a:spcBef>
                <a:spcPts val="1000"/>
              </a:spcBef>
              <a:spcAft>
                <a:spcPts val="400"/>
              </a:spcAft>
              <a:buFont typeface="Wingdings" charset="2"/>
              <a:buChar char="§"/>
            </a:pPr>
            <a:endParaRPr lang="en-US" sz="1700" dirty="0">
              <a:latin typeface="+mn-lt"/>
            </a:endParaRPr>
          </a:p>
          <a:p>
            <a:pPr marL="285750" lvl="1" indent="-285750" fontAlgn="base">
              <a:lnSpc>
                <a:spcPct val="100000"/>
              </a:lnSpc>
              <a:spcBef>
                <a:spcPts val="1000"/>
              </a:spcBef>
              <a:spcAft>
                <a:spcPts val="400"/>
              </a:spcAft>
              <a:buFont typeface="Wingdings" charset="2"/>
              <a:buChar char="§"/>
            </a:pPr>
            <a:endParaRPr lang="en-US" sz="1700" dirty="0">
              <a:latin typeface="+mn-lt"/>
            </a:endParaRPr>
          </a:p>
        </p:txBody>
      </p:sp>
      <p:sp>
        <p:nvSpPr>
          <p:cNvPr id="207" name="Shape 20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3238499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6">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6">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6">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328575" y="412153"/>
            <a:ext cx="9230650" cy="669395"/>
          </a:xfrm>
          <a:prstGeom prst="rect">
            <a:avLst/>
          </a:prstGeom>
        </p:spPr>
        <p:txBody>
          <a:bodyPr lIns="99044" tIns="99044" rIns="99044" bIns="99044" anchor="t" anchorCtr="0">
            <a:noAutofit/>
          </a:bodyPr>
          <a:lstStyle/>
          <a:p>
            <a:r>
              <a:rPr lang="en-US" sz="2800" dirty="0">
                <a:latin typeface="+mj-lt"/>
              </a:rPr>
              <a:t>What does the but-for world look like?</a:t>
            </a:r>
            <a:endParaRPr lang="en" sz="2800" dirty="0">
              <a:latin typeface="+mj-lt"/>
            </a:endParaRPr>
          </a:p>
        </p:txBody>
      </p:sp>
      <p:sp>
        <p:nvSpPr>
          <p:cNvPr id="206" name="Shape 206"/>
          <p:cNvSpPr txBox="1">
            <a:spLocks noGrp="1"/>
          </p:cNvSpPr>
          <p:nvPr>
            <p:ph type="body" idx="4294967295"/>
          </p:nvPr>
        </p:nvSpPr>
        <p:spPr>
          <a:xfrm>
            <a:off x="337675" y="1081548"/>
            <a:ext cx="9230650" cy="5218753"/>
          </a:xfrm>
          <a:prstGeom prst="rect">
            <a:avLst/>
          </a:prstGeom>
        </p:spPr>
        <p:txBody>
          <a:bodyPr lIns="99044" tIns="99044" rIns="99044" bIns="99044" anchor="t" anchorCtr="0">
            <a:noAutofit/>
          </a:bodyPr>
          <a:lstStyle/>
          <a:p>
            <a:pPr fontAlgn="base"/>
            <a:endParaRPr lang="en-US" b="1" dirty="0">
              <a:latin typeface="+mn-lt"/>
            </a:endParaRPr>
          </a:p>
          <a:p>
            <a:pPr fontAlgn="base"/>
            <a:r>
              <a:rPr lang="en-US" b="1" dirty="0">
                <a:latin typeface="+mn-lt"/>
              </a:rPr>
              <a:t>How do we know that acquisitions aren’t a better solution than the alternative? </a:t>
            </a:r>
          </a:p>
          <a:p>
            <a:pPr marL="285750" indent="-285750" fontAlgn="base">
              <a:buFont typeface="Wingdings" pitchFamily="2" charset="2"/>
              <a:buChar char="§"/>
            </a:pPr>
            <a:r>
              <a:rPr lang="en-US" dirty="0">
                <a:latin typeface="+mn-lt"/>
              </a:rPr>
              <a:t>VC funders aren’t likely the best managers long-term. They specialize. So a VC would exit regardless. Whether the company continues as a standalone operation or as a part of another company hardly seems so important to that.</a:t>
            </a:r>
          </a:p>
          <a:p>
            <a:pPr marL="285750" indent="-285750" fontAlgn="base">
              <a:buFont typeface="Wingdings" pitchFamily="2" charset="2"/>
              <a:buChar char="§"/>
            </a:pPr>
            <a:r>
              <a:rPr lang="en-US" dirty="0">
                <a:latin typeface="+mn-lt"/>
              </a:rPr>
              <a:t>Specialization is important: Acquisitions enable </a:t>
            </a:r>
            <a:r>
              <a:rPr lang="en-US" i="1" dirty="0">
                <a:latin typeface="+mn-lt"/>
              </a:rPr>
              <a:t>technology</a:t>
            </a:r>
            <a:r>
              <a:rPr lang="en-US" dirty="0">
                <a:latin typeface="+mn-lt"/>
              </a:rPr>
              <a:t> development separately from </a:t>
            </a:r>
            <a:r>
              <a:rPr lang="en-US" i="1" dirty="0">
                <a:latin typeface="+mn-lt"/>
              </a:rPr>
              <a:t>business</a:t>
            </a:r>
            <a:r>
              <a:rPr lang="en-US" dirty="0">
                <a:latin typeface="+mn-lt"/>
              </a:rPr>
              <a:t> development</a:t>
            </a:r>
          </a:p>
          <a:p>
            <a:pPr marL="285750" indent="-285750" fontAlgn="base">
              <a:buFont typeface="Wingdings" pitchFamily="2" charset="2"/>
              <a:buChar char="§"/>
            </a:pPr>
            <a:r>
              <a:rPr lang="en-US" dirty="0">
                <a:latin typeface="+mn-lt"/>
              </a:rPr>
              <a:t>More rapid adoption and broader deployment</a:t>
            </a:r>
          </a:p>
          <a:p>
            <a:pPr marL="746125" indent="-277813" fontAlgn="base">
              <a:buFont typeface="Wingdings" pitchFamily="2" charset="2"/>
              <a:buChar char="§"/>
            </a:pPr>
            <a:r>
              <a:rPr lang="en-US" dirty="0">
                <a:latin typeface="+mn-lt"/>
              </a:rPr>
              <a:t>Google/Waze</a:t>
            </a:r>
          </a:p>
          <a:p>
            <a:pPr marL="287338" indent="-277813" fontAlgn="base">
              <a:buFont typeface="Wingdings" pitchFamily="2" charset="2"/>
              <a:buChar char="§"/>
            </a:pPr>
            <a:r>
              <a:rPr lang="en-US" dirty="0">
                <a:latin typeface="+mn-lt"/>
              </a:rPr>
              <a:t>Related: More effective, outsourced form of R&amp;D for large company</a:t>
            </a:r>
          </a:p>
          <a:p>
            <a:pPr marL="287338" indent="-277813" fontAlgn="base">
              <a:buFont typeface="Wingdings" pitchFamily="2" charset="2"/>
              <a:buChar char="§"/>
            </a:pPr>
            <a:r>
              <a:rPr lang="en-US" dirty="0">
                <a:latin typeface="+mn-lt"/>
              </a:rPr>
              <a:t>Incumbent firm activity as </a:t>
            </a:r>
            <a:r>
              <a:rPr lang="en-US" i="1" dirty="0">
                <a:latin typeface="+mn-lt"/>
              </a:rPr>
              <a:t>pathway, </a:t>
            </a:r>
            <a:r>
              <a:rPr lang="en-US" dirty="0">
                <a:latin typeface="+mn-lt"/>
              </a:rPr>
              <a:t>rather than barrier, to entry</a:t>
            </a:r>
            <a:br>
              <a:rPr lang="en-US" dirty="0">
                <a:latin typeface="+mn-lt"/>
              </a:rPr>
            </a:br>
            <a:endParaRPr lang="en-US" sz="1700" dirty="0">
              <a:latin typeface="+mn-lt"/>
            </a:endParaRPr>
          </a:p>
          <a:p>
            <a:pPr marL="295275" lvl="1" indent="-285750" fontAlgn="base">
              <a:lnSpc>
                <a:spcPct val="100000"/>
              </a:lnSpc>
              <a:spcBef>
                <a:spcPts val="1000"/>
              </a:spcBef>
              <a:spcAft>
                <a:spcPts val="400"/>
              </a:spcAft>
              <a:buFont typeface="Wingdings" pitchFamily="2" charset="2"/>
              <a:buChar char="§"/>
            </a:pPr>
            <a:endParaRPr lang="en-US" sz="1700" dirty="0">
              <a:latin typeface="+mn-lt"/>
            </a:endParaRPr>
          </a:p>
          <a:p>
            <a:pPr marL="285750" lvl="1" indent="-285750" fontAlgn="base">
              <a:lnSpc>
                <a:spcPct val="100000"/>
              </a:lnSpc>
              <a:spcBef>
                <a:spcPts val="1000"/>
              </a:spcBef>
              <a:spcAft>
                <a:spcPts val="400"/>
              </a:spcAft>
              <a:buFont typeface="Wingdings" charset="2"/>
              <a:buChar char="§"/>
            </a:pPr>
            <a:endParaRPr lang="en-US" sz="1700" dirty="0">
              <a:latin typeface="+mn-lt"/>
            </a:endParaRPr>
          </a:p>
          <a:p>
            <a:pPr marL="285750" lvl="1" indent="-285750" fontAlgn="base">
              <a:lnSpc>
                <a:spcPct val="100000"/>
              </a:lnSpc>
              <a:spcBef>
                <a:spcPts val="1000"/>
              </a:spcBef>
              <a:spcAft>
                <a:spcPts val="400"/>
              </a:spcAft>
              <a:buFont typeface="Wingdings" charset="2"/>
              <a:buChar char="§"/>
            </a:pPr>
            <a:endParaRPr lang="en-US" sz="1700" dirty="0">
              <a:latin typeface="+mn-lt"/>
            </a:endParaRPr>
          </a:p>
        </p:txBody>
      </p:sp>
      <p:sp>
        <p:nvSpPr>
          <p:cNvPr id="207" name="Shape 20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1655990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328575" y="412153"/>
            <a:ext cx="9230650" cy="669395"/>
          </a:xfrm>
          <a:prstGeom prst="rect">
            <a:avLst/>
          </a:prstGeom>
        </p:spPr>
        <p:txBody>
          <a:bodyPr lIns="99044" tIns="99044" rIns="99044" bIns="99044" anchor="t" anchorCtr="0">
            <a:noAutofit/>
          </a:bodyPr>
          <a:lstStyle/>
          <a:p>
            <a:r>
              <a:rPr lang="en-US" sz="2800" dirty="0">
                <a:latin typeface="+mj-lt"/>
              </a:rPr>
              <a:t>Relationship between IPOs and VC</a:t>
            </a:r>
            <a:endParaRPr lang="en" sz="2800" dirty="0">
              <a:latin typeface="+mj-lt"/>
            </a:endParaRPr>
          </a:p>
        </p:txBody>
      </p:sp>
      <p:sp>
        <p:nvSpPr>
          <p:cNvPr id="206" name="Shape 206"/>
          <p:cNvSpPr txBox="1">
            <a:spLocks noGrp="1"/>
          </p:cNvSpPr>
          <p:nvPr>
            <p:ph type="body" idx="4294967295"/>
          </p:nvPr>
        </p:nvSpPr>
        <p:spPr>
          <a:xfrm>
            <a:off x="337675" y="1081548"/>
            <a:ext cx="9230650" cy="5218753"/>
          </a:xfrm>
          <a:prstGeom prst="rect">
            <a:avLst/>
          </a:prstGeom>
        </p:spPr>
        <p:txBody>
          <a:bodyPr lIns="99044" tIns="99044" rIns="99044" bIns="99044" anchor="t" anchorCtr="0">
            <a:noAutofit/>
          </a:bodyPr>
          <a:lstStyle/>
          <a:p>
            <a:pPr fontAlgn="base"/>
            <a:endParaRPr lang="en-US" b="1" dirty="0">
              <a:latin typeface="+mn-lt"/>
            </a:endParaRPr>
          </a:p>
          <a:p>
            <a:pPr fontAlgn="base"/>
            <a:r>
              <a:rPr lang="en-US" dirty="0">
                <a:latin typeface="+mn-lt"/>
              </a:rPr>
              <a:t>In recent years, about 60 percent of all IPOs were VC-backed companies. </a:t>
            </a:r>
          </a:p>
          <a:p>
            <a:pPr fontAlgn="base"/>
            <a:r>
              <a:rPr lang="en-US" dirty="0">
                <a:latin typeface="+mn-lt"/>
              </a:rPr>
              <a:t>Public companies with VC backing employ four million people and account for one-fifth of the market capitalization of US public companies and 44% of the R&amp;D spending of US public companies. </a:t>
            </a:r>
          </a:p>
          <a:p>
            <a:pPr fontAlgn="base"/>
            <a:r>
              <a:rPr lang="en-US" b="1" dirty="0">
                <a:latin typeface="+mn-lt"/>
              </a:rPr>
              <a:t>Changing competition standards with the intention of reducing the number of tech acquisitions would therefore risk disabling the mechanism that currently provides roughly two-thirds of the liquidity for startups and one-fifth of GDP. </a:t>
            </a:r>
          </a:p>
          <a:p>
            <a:pPr marL="285750" indent="-285750" fontAlgn="base">
              <a:buFont typeface="Wingdings" pitchFamily="2" charset="2"/>
              <a:buChar char="§"/>
            </a:pPr>
            <a:r>
              <a:rPr lang="en-US" dirty="0">
                <a:latin typeface="+mn-lt"/>
              </a:rPr>
              <a:t>Perhaps some other set of market conditions might provide a more optimal set of incentives for entrepreneurs, but it certainly isn’t clear, and disrupting the status quo could impose significant costs.</a:t>
            </a:r>
            <a:br>
              <a:rPr lang="en-US" dirty="0">
                <a:latin typeface="+mn-lt"/>
              </a:rPr>
            </a:br>
            <a:endParaRPr lang="en-US" sz="1700" dirty="0">
              <a:latin typeface="+mn-lt"/>
            </a:endParaRPr>
          </a:p>
          <a:p>
            <a:pPr marL="295275" lvl="1" indent="-285750" fontAlgn="base">
              <a:lnSpc>
                <a:spcPct val="100000"/>
              </a:lnSpc>
              <a:spcBef>
                <a:spcPts val="1000"/>
              </a:spcBef>
              <a:spcAft>
                <a:spcPts val="400"/>
              </a:spcAft>
              <a:buFont typeface="Wingdings" pitchFamily="2" charset="2"/>
              <a:buChar char="§"/>
            </a:pPr>
            <a:endParaRPr lang="en-US" sz="1700" dirty="0">
              <a:latin typeface="+mn-lt"/>
            </a:endParaRPr>
          </a:p>
          <a:p>
            <a:pPr marL="285750" lvl="1" indent="-285750" fontAlgn="base">
              <a:lnSpc>
                <a:spcPct val="100000"/>
              </a:lnSpc>
              <a:spcBef>
                <a:spcPts val="1000"/>
              </a:spcBef>
              <a:spcAft>
                <a:spcPts val="400"/>
              </a:spcAft>
              <a:buFont typeface="Wingdings" charset="2"/>
              <a:buChar char="§"/>
            </a:pPr>
            <a:endParaRPr lang="en-US" sz="1700" dirty="0">
              <a:latin typeface="+mn-lt"/>
            </a:endParaRPr>
          </a:p>
          <a:p>
            <a:pPr marL="285750" lvl="1" indent="-285750" fontAlgn="base">
              <a:lnSpc>
                <a:spcPct val="100000"/>
              </a:lnSpc>
              <a:spcBef>
                <a:spcPts val="1000"/>
              </a:spcBef>
              <a:spcAft>
                <a:spcPts val="400"/>
              </a:spcAft>
              <a:buFont typeface="Wingdings" charset="2"/>
              <a:buChar char="§"/>
            </a:pPr>
            <a:endParaRPr lang="en-US" sz="1700" dirty="0">
              <a:latin typeface="+mn-lt"/>
            </a:endParaRPr>
          </a:p>
        </p:txBody>
      </p:sp>
      <p:sp>
        <p:nvSpPr>
          <p:cNvPr id="207" name="Shape 20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3949100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337675" y="244402"/>
            <a:ext cx="9230650" cy="626968"/>
          </a:xfrm>
          <a:prstGeom prst="rect">
            <a:avLst/>
          </a:prstGeom>
        </p:spPr>
        <p:txBody>
          <a:bodyPr lIns="99044" tIns="99044" rIns="99044" bIns="99044" anchor="t" anchorCtr="0">
            <a:noAutofit/>
          </a:bodyPr>
          <a:lstStyle/>
          <a:p>
            <a:r>
              <a:rPr lang="en-US" sz="2800" dirty="0"/>
              <a:t>Kamepalli, Rajan &amp; Zingales (2019)</a:t>
            </a:r>
            <a:br>
              <a:rPr lang="en-US" sz="2800" dirty="0"/>
            </a:br>
            <a:endParaRPr lang="en" sz="2800" dirty="0">
              <a:latin typeface="+mj-lt"/>
            </a:endParaRPr>
          </a:p>
        </p:txBody>
      </p:sp>
      <p:sp>
        <p:nvSpPr>
          <p:cNvPr id="206" name="Shape 206"/>
          <p:cNvSpPr txBox="1">
            <a:spLocks noGrp="1"/>
          </p:cNvSpPr>
          <p:nvPr>
            <p:ph type="body" idx="4294967295"/>
          </p:nvPr>
        </p:nvSpPr>
        <p:spPr>
          <a:xfrm>
            <a:off x="337675" y="871370"/>
            <a:ext cx="9230650" cy="5426057"/>
          </a:xfrm>
          <a:prstGeom prst="rect">
            <a:avLst/>
          </a:prstGeom>
        </p:spPr>
        <p:txBody>
          <a:bodyPr lIns="99044" tIns="99044" rIns="99044" bIns="99044" anchor="t" anchorCtr="0">
            <a:noAutofit/>
          </a:bodyPr>
          <a:lstStyle/>
          <a:p>
            <a:pPr lvl="1" fontAlgn="base">
              <a:lnSpc>
                <a:spcPct val="100000"/>
              </a:lnSpc>
              <a:spcBef>
                <a:spcPts val="1000"/>
              </a:spcBef>
              <a:spcAft>
                <a:spcPts val="400"/>
              </a:spcAft>
            </a:pPr>
            <a:r>
              <a:rPr lang="en-US" sz="1800" b="1" dirty="0">
                <a:latin typeface="+mn-lt"/>
              </a:rPr>
              <a:t>The model seems to be based on a fundamentally flawed assumption</a:t>
            </a:r>
          </a:p>
          <a:p>
            <a:pPr marL="285750" lvl="1" indent="-285750" fontAlgn="base">
              <a:lnSpc>
                <a:spcPct val="100000"/>
              </a:lnSpc>
              <a:spcBef>
                <a:spcPts val="1000"/>
              </a:spcBef>
              <a:spcAft>
                <a:spcPts val="400"/>
              </a:spcAft>
              <a:buFont typeface="Wingdings" pitchFamily="2" charset="2"/>
              <a:buChar char="§"/>
            </a:pPr>
            <a:r>
              <a:rPr lang="en-US" sz="1800" dirty="0">
                <a:latin typeface="+mn-lt"/>
              </a:rPr>
              <a:t>“Consider the decision of techies. They care primarily about the fundamental technical quality of the platform. However, they also engage deeply in any technology, so they have high switching costs (of learning every minor aspect of any platform they adopt). </a:t>
            </a:r>
          </a:p>
          <a:p>
            <a:pPr marL="285750" lvl="1" indent="-285750" fontAlgn="base">
              <a:lnSpc>
                <a:spcPct val="100000"/>
              </a:lnSpc>
              <a:spcBef>
                <a:spcPts val="1000"/>
              </a:spcBef>
              <a:spcAft>
                <a:spcPts val="400"/>
              </a:spcAft>
              <a:buFont typeface="Wingdings" pitchFamily="2" charset="2"/>
              <a:buChar char="§"/>
            </a:pPr>
            <a:r>
              <a:rPr lang="en-US" sz="1800" dirty="0">
                <a:latin typeface="+mn-lt"/>
              </a:rPr>
              <a:t>“If techies expect two platforms to merge, they will be reluctant to pay the switching costs and adopt the new platform early on, unless the new platform significantly outperforms the incumbent one. </a:t>
            </a:r>
          </a:p>
          <a:p>
            <a:pPr marL="285750" lvl="1" indent="-285750" fontAlgn="base">
              <a:lnSpc>
                <a:spcPct val="100000"/>
              </a:lnSpc>
              <a:spcBef>
                <a:spcPts val="1000"/>
              </a:spcBef>
              <a:spcAft>
                <a:spcPts val="400"/>
              </a:spcAft>
              <a:buFont typeface="Wingdings" pitchFamily="2" charset="2"/>
              <a:buChar char="§"/>
            </a:pPr>
            <a:r>
              <a:rPr lang="en-US" sz="1800" dirty="0">
                <a:latin typeface="+mn-lt"/>
              </a:rPr>
              <a:t>“After all, they know that if the entering platform’s technology is a net improvement over the existing technology, it will be adopted by the incumbent after merger, with new features melded with old features so that the techies’ adjustment costs are minimized. </a:t>
            </a:r>
          </a:p>
          <a:p>
            <a:pPr marL="285750" lvl="1" indent="-285750" fontAlgn="base">
              <a:lnSpc>
                <a:spcPct val="100000"/>
              </a:lnSpc>
              <a:spcBef>
                <a:spcPts val="1000"/>
              </a:spcBef>
              <a:spcAft>
                <a:spcPts val="400"/>
              </a:spcAft>
              <a:buFont typeface="Wingdings" pitchFamily="2" charset="2"/>
              <a:buChar char="§"/>
            </a:pPr>
            <a:r>
              <a:rPr lang="en-US" sz="1800" dirty="0">
                <a:latin typeface="+mn-lt"/>
              </a:rPr>
              <a:t>“Thus, the prospect of a merger will dissuade many techies from trying the new technology. By staying with the incumbent, however, they reduce the stand-alone value of the entering platform.”</a:t>
            </a:r>
          </a:p>
        </p:txBody>
      </p:sp>
      <p:sp>
        <p:nvSpPr>
          <p:cNvPr id="207" name="Shape 20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381329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337675" y="244402"/>
            <a:ext cx="9230650" cy="626968"/>
          </a:xfrm>
          <a:prstGeom prst="rect">
            <a:avLst/>
          </a:prstGeom>
        </p:spPr>
        <p:txBody>
          <a:bodyPr lIns="99044" tIns="99044" rIns="99044" bIns="99044" anchor="t" anchorCtr="0">
            <a:noAutofit/>
          </a:bodyPr>
          <a:lstStyle/>
          <a:p>
            <a:r>
              <a:rPr lang="en-US" sz="2800" dirty="0"/>
              <a:t>Kamepalli, Rajan &amp; Zingales (2019)</a:t>
            </a:r>
            <a:br>
              <a:rPr lang="en-US" sz="2800" dirty="0"/>
            </a:br>
            <a:endParaRPr lang="en" sz="2800" dirty="0">
              <a:latin typeface="+mj-lt"/>
            </a:endParaRPr>
          </a:p>
        </p:txBody>
      </p:sp>
      <p:sp>
        <p:nvSpPr>
          <p:cNvPr id="206" name="Shape 206"/>
          <p:cNvSpPr txBox="1">
            <a:spLocks noGrp="1"/>
          </p:cNvSpPr>
          <p:nvPr>
            <p:ph type="body" idx="4294967295"/>
          </p:nvPr>
        </p:nvSpPr>
        <p:spPr>
          <a:xfrm>
            <a:off x="337675" y="871370"/>
            <a:ext cx="9230650" cy="5426057"/>
          </a:xfrm>
          <a:prstGeom prst="rect">
            <a:avLst/>
          </a:prstGeom>
        </p:spPr>
        <p:txBody>
          <a:bodyPr lIns="99044" tIns="99044" rIns="99044" bIns="99044" anchor="t" anchorCtr="0">
            <a:noAutofit/>
          </a:bodyPr>
          <a:lstStyle/>
          <a:p>
            <a:pPr lvl="1" fontAlgn="base">
              <a:lnSpc>
                <a:spcPct val="100000"/>
              </a:lnSpc>
              <a:spcBef>
                <a:spcPts val="1000"/>
              </a:spcBef>
              <a:spcAft>
                <a:spcPts val="400"/>
              </a:spcAft>
            </a:pPr>
            <a:endParaRPr lang="en-US" sz="1800" b="1" dirty="0">
              <a:latin typeface="+mn-lt"/>
            </a:endParaRPr>
          </a:p>
          <a:p>
            <a:pPr lvl="1" fontAlgn="base">
              <a:lnSpc>
                <a:spcPct val="100000"/>
              </a:lnSpc>
              <a:spcBef>
                <a:spcPts val="1000"/>
              </a:spcBef>
              <a:spcAft>
                <a:spcPts val="400"/>
              </a:spcAft>
            </a:pPr>
            <a:r>
              <a:rPr lang="en-US" sz="1800" b="1" dirty="0">
                <a:latin typeface="+mn-lt"/>
              </a:rPr>
              <a:t>First, techies have </a:t>
            </a:r>
            <a:r>
              <a:rPr lang="en-US" sz="1800" b="1" i="1" dirty="0">
                <a:latin typeface="+mn-lt"/>
              </a:rPr>
              <a:t>low</a:t>
            </a:r>
            <a:r>
              <a:rPr lang="en-US" sz="1800" b="1" dirty="0">
                <a:latin typeface="+mn-lt"/>
              </a:rPr>
              <a:t> switching costs to begin with, given greater facility with technology, and may even see them as negative.</a:t>
            </a:r>
          </a:p>
          <a:p>
            <a:pPr lvl="1" fontAlgn="base">
              <a:lnSpc>
                <a:spcPct val="100000"/>
              </a:lnSpc>
              <a:spcBef>
                <a:spcPts val="1000"/>
              </a:spcBef>
              <a:spcAft>
                <a:spcPts val="400"/>
              </a:spcAft>
            </a:pPr>
            <a:r>
              <a:rPr lang="en-US" sz="1800" b="1" dirty="0">
                <a:latin typeface="+mn-lt"/>
              </a:rPr>
              <a:t>Second, the “sunk switching cost” notion seems inapplicable here.</a:t>
            </a:r>
          </a:p>
          <a:p>
            <a:pPr marL="285750" lvl="1" indent="-285750" fontAlgn="base">
              <a:lnSpc>
                <a:spcPct val="100000"/>
              </a:lnSpc>
              <a:spcBef>
                <a:spcPts val="1000"/>
              </a:spcBef>
              <a:spcAft>
                <a:spcPts val="400"/>
              </a:spcAft>
              <a:buFont typeface="Wingdings" pitchFamily="2" charset="2"/>
              <a:buChar char="§"/>
            </a:pPr>
            <a:r>
              <a:rPr lang="en-US" sz="1800" dirty="0">
                <a:latin typeface="+mn-lt"/>
              </a:rPr>
              <a:t>If the new technology is better and there is a merger, none of the costs will be wasted because, by assumption in the model, the new tech will be adopted by the incumbent. </a:t>
            </a:r>
          </a:p>
          <a:p>
            <a:pPr marL="285750" lvl="1" indent="-285750" fontAlgn="base">
              <a:lnSpc>
                <a:spcPct val="100000"/>
              </a:lnSpc>
              <a:spcBef>
                <a:spcPts val="1000"/>
              </a:spcBef>
              <a:spcAft>
                <a:spcPts val="400"/>
              </a:spcAft>
              <a:buFont typeface="Wingdings" pitchFamily="2" charset="2"/>
              <a:buChar char="§"/>
            </a:pPr>
            <a:r>
              <a:rPr lang="en-US" sz="1800" dirty="0">
                <a:latin typeface="+mn-lt"/>
              </a:rPr>
              <a:t>If there is no merger there could be a loss, assuming the tech disappears </a:t>
            </a:r>
          </a:p>
          <a:p>
            <a:pPr marL="746125" lvl="1" indent="-277813" fontAlgn="base">
              <a:lnSpc>
                <a:spcPct val="100000"/>
              </a:lnSpc>
              <a:spcBef>
                <a:spcPts val="1000"/>
              </a:spcBef>
              <a:spcAft>
                <a:spcPts val="400"/>
              </a:spcAft>
              <a:buFont typeface="Wingdings" pitchFamily="2" charset="2"/>
              <a:buChar char="§"/>
            </a:pPr>
            <a:r>
              <a:rPr lang="en-US" sz="1800" dirty="0">
                <a:latin typeface="+mn-lt"/>
              </a:rPr>
              <a:t>(another common alternative though is that it remains and is used by the techies only who know its real value but don’t require the broader network effects). </a:t>
            </a:r>
          </a:p>
          <a:p>
            <a:pPr marL="746125" lvl="1" indent="-277813" fontAlgn="base">
              <a:lnSpc>
                <a:spcPct val="100000"/>
              </a:lnSpc>
              <a:spcBef>
                <a:spcPts val="1000"/>
              </a:spcBef>
              <a:spcAft>
                <a:spcPts val="400"/>
              </a:spcAft>
              <a:buFont typeface="Wingdings" pitchFamily="2" charset="2"/>
              <a:buChar char="§"/>
            </a:pPr>
            <a:r>
              <a:rPr lang="en-US" sz="1800" dirty="0">
                <a:latin typeface="+mn-lt"/>
              </a:rPr>
              <a:t>But then the whole mechanism of the model and the issue of the paper is removed: </a:t>
            </a:r>
          </a:p>
          <a:p>
            <a:pPr marL="285750" lvl="1" indent="-285750" fontAlgn="base">
              <a:lnSpc>
                <a:spcPct val="100000"/>
              </a:lnSpc>
              <a:spcBef>
                <a:spcPts val="1000"/>
              </a:spcBef>
              <a:spcAft>
                <a:spcPts val="400"/>
              </a:spcAft>
              <a:buFont typeface="Wingdings" pitchFamily="2" charset="2"/>
              <a:buChar char="§"/>
            </a:pPr>
            <a:r>
              <a:rPr lang="en-US" sz="1800" dirty="0">
                <a:latin typeface="+mn-lt"/>
              </a:rPr>
              <a:t>If it is only when the incumbent doesn’t buy the new entrant that there is a problem, then there’s nothing to talk about — except finding ways to incentivize </a:t>
            </a:r>
            <a:r>
              <a:rPr lang="en-US" sz="1800" i="1" dirty="0">
                <a:latin typeface="+mn-lt"/>
              </a:rPr>
              <a:t>more</a:t>
            </a:r>
            <a:r>
              <a:rPr lang="en-US" sz="1800" dirty="0">
                <a:latin typeface="+mn-lt"/>
              </a:rPr>
              <a:t> mergers.</a:t>
            </a:r>
          </a:p>
        </p:txBody>
      </p:sp>
      <p:sp>
        <p:nvSpPr>
          <p:cNvPr id="207" name="Shape 20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3146849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6">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337675" y="244402"/>
            <a:ext cx="9230650" cy="626968"/>
          </a:xfrm>
          <a:prstGeom prst="rect">
            <a:avLst/>
          </a:prstGeom>
        </p:spPr>
        <p:txBody>
          <a:bodyPr lIns="99044" tIns="99044" rIns="99044" bIns="99044" anchor="t" anchorCtr="0">
            <a:noAutofit/>
          </a:bodyPr>
          <a:lstStyle/>
          <a:p>
            <a:r>
              <a:rPr lang="en-US" sz="2800" dirty="0"/>
              <a:t>Kamepalli, Rajan &amp; Zingales (2019)</a:t>
            </a:r>
            <a:br>
              <a:rPr lang="en-US" sz="2800" dirty="0"/>
            </a:br>
            <a:endParaRPr lang="en" sz="2800" dirty="0">
              <a:latin typeface="+mj-lt"/>
            </a:endParaRPr>
          </a:p>
        </p:txBody>
      </p:sp>
      <p:sp>
        <p:nvSpPr>
          <p:cNvPr id="206" name="Shape 206"/>
          <p:cNvSpPr txBox="1">
            <a:spLocks noGrp="1"/>
          </p:cNvSpPr>
          <p:nvPr>
            <p:ph type="body" idx="4294967295"/>
          </p:nvPr>
        </p:nvSpPr>
        <p:spPr>
          <a:xfrm>
            <a:off x="337675" y="871370"/>
            <a:ext cx="9230650" cy="5572461"/>
          </a:xfrm>
          <a:prstGeom prst="rect">
            <a:avLst/>
          </a:prstGeom>
        </p:spPr>
        <p:txBody>
          <a:bodyPr lIns="99044" tIns="99044" rIns="99044" bIns="99044" anchor="t" anchorCtr="0">
            <a:noAutofit/>
          </a:bodyPr>
          <a:lstStyle/>
          <a:p>
            <a:pPr lvl="1" fontAlgn="base">
              <a:lnSpc>
                <a:spcPct val="100000"/>
              </a:lnSpc>
              <a:spcBef>
                <a:spcPts val="1000"/>
              </a:spcBef>
              <a:spcAft>
                <a:spcPts val="400"/>
              </a:spcAft>
            </a:pPr>
            <a:r>
              <a:rPr lang="en-US" sz="1800" b="1" dirty="0">
                <a:latin typeface="+mn-lt"/>
              </a:rPr>
              <a:t>This seems unlikely:</a:t>
            </a:r>
          </a:p>
          <a:p>
            <a:pPr marL="285750" lvl="1" indent="-285750" fontAlgn="base">
              <a:lnSpc>
                <a:spcPct val="100000"/>
              </a:lnSpc>
              <a:spcBef>
                <a:spcPts val="1000"/>
              </a:spcBef>
              <a:spcAft>
                <a:spcPts val="400"/>
              </a:spcAft>
              <a:buFont typeface="Wingdings" pitchFamily="2" charset="2"/>
              <a:buChar char="§"/>
            </a:pPr>
            <a:r>
              <a:rPr lang="en-US" sz="1800" dirty="0">
                <a:latin typeface="+mn-lt"/>
              </a:rPr>
              <a:t>“For example, the more an incumbent can freely copy the technological innovations of new entrants, the worse the incentives of early adopters to switch to a new entrant will be.”</a:t>
            </a:r>
          </a:p>
          <a:p>
            <a:pPr lvl="1" fontAlgn="base">
              <a:lnSpc>
                <a:spcPct val="100000"/>
              </a:lnSpc>
              <a:spcBef>
                <a:spcPts val="1000"/>
              </a:spcBef>
              <a:spcAft>
                <a:spcPts val="400"/>
              </a:spcAft>
            </a:pPr>
            <a:r>
              <a:rPr lang="en-US" sz="1800" b="1" dirty="0">
                <a:latin typeface="+mn-lt"/>
              </a:rPr>
              <a:t>For same reason as above, the prospect that any investment in learning new technology on a new platform will be usable on the old if/when it copies the new entrant should </a:t>
            </a:r>
            <a:r>
              <a:rPr lang="en-US" sz="1800" b="1" i="1" dirty="0">
                <a:latin typeface="+mn-lt"/>
              </a:rPr>
              <a:t>decrease</a:t>
            </a:r>
            <a:r>
              <a:rPr lang="en-US" sz="1800" b="1" dirty="0">
                <a:latin typeface="+mn-lt"/>
              </a:rPr>
              <a:t> the cost of switching</a:t>
            </a:r>
          </a:p>
          <a:p>
            <a:pPr marL="285750" lvl="1" indent="-285750" fontAlgn="base">
              <a:lnSpc>
                <a:spcPct val="100000"/>
              </a:lnSpc>
              <a:spcBef>
                <a:spcPts val="1000"/>
              </a:spcBef>
              <a:spcAft>
                <a:spcPts val="400"/>
              </a:spcAft>
              <a:buFont typeface="Wingdings" pitchFamily="2" charset="2"/>
              <a:buChar char="§"/>
            </a:pPr>
            <a:r>
              <a:rPr lang="en-US" sz="1800" dirty="0">
                <a:latin typeface="+mn-lt"/>
              </a:rPr>
              <a:t>NB: There may be an implicit assumption in the paper of single-homing. That could change the calculus. But it would also be entirely inapplicable to the tech platform setting at issue where multi-homing (especially by techies) is the norm. </a:t>
            </a:r>
          </a:p>
          <a:p>
            <a:pPr marL="285750" lvl="1" indent="-285750" fontAlgn="base">
              <a:lnSpc>
                <a:spcPct val="100000"/>
              </a:lnSpc>
              <a:spcBef>
                <a:spcPts val="1000"/>
              </a:spcBef>
              <a:spcAft>
                <a:spcPts val="400"/>
              </a:spcAft>
              <a:buFont typeface="Wingdings" pitchFamily="2" charset="2"/>
              <a:buChar char="§"/>
            </a:pPr>
            <a:r>
              <a:rPr lang="en-US" sz="1800" dirty="0">
                <a:latin typeface="+mn-lt"/>
              </a:rPr>
              <a:t>“In our setting, if the incumbent can freely copy the new features of an entrant, the new entrant will be left with insignificant profits since no one will switch.”</a:t>
            </a:r>
          </a:p>
          <a:p>
            <a:pPr lvl="1" fontAlgn="base">
              <a:lnSpc>
                <a:spcPct val="100000"/>
              </a:lnSpc>
              <a:spcBef>
                <a:spcPts val="1000"/>
              </a:spcBef>
              <a:spcAft>
                <a:spcPts val="400"/>
              </a:spcAft>
            </a:pPr>
            <a:r>
              <a:rPr lang="en-US" sz="1800" b="1" dirty="0">
                <a:latin typeface="+mn-lt"/>
              </a:rPr>
              <a:t>It is rarely the innovation per se that determines the value of an innovation; it is how it is implemented. Not only can that mean that a new entrant might be able to persist even if an innovation is copied, but by the same token it means that an incumbent may not be able to extract as much value from simply copying an innovation.</a:t>
            </a:r>
          </a:p>
        </p:txBody>
      </p:sp>
      <p:sp>
        <p:nvSpPr>
          <p:cNvPr id="207" name="Shape 20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1892522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6">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6">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6">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6">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6">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337675" y="244402"/>
            <a:ext cx="9230650" cy="626968"/>
          </a:xfrm>
          <a:prstGeom prst="rect">
            <a:avLst/>
          </a:prstGeom>
        </p:spPr>
        <p:txBody>
          <a:bodyPr lIns="99044" tIns="99044" rIns="99044" bIns="99044" anchor="t" anchorCtr="0">
            <a:noAutofit/>
          </a:bodyPr>
          <a:lstStyle/>
          <a:p>
            <a:r>
              <a:rPr lang="en-US" sz="2800" dirty="0"/>
              <a:t>Kamepalli, Rajan &amp; Zingales (2019)</a:t>
            </a:r>
            <a:br>
              <a:rPr lang="en-US" sz="2800" dirty="0"/>
            </a:br>
            <a:endParaRPr lang="en" sz="2800" dirty="0">
              <a:latin typeface="+mj-lt"/>
            </a:endParaRPr>
          </a:p>
        </p:txBody>
      </p:sp>
      <p:sp>
        <p:nvSpPr>
          <p:cNvPr id="206" name="Shape 206"/>
          <p:cNvSpPr txBox="1">
            <a:spLocks noGrp="1"/>
          </p:cNvSpPr>
          <p:nvPr>
            <p:ph type="body" idx="4294967295"/>
          </p:nvPr>
        </p:nvSpPr>
        <p:spPr>
          <a:xfrm>
            <a:off x="337675" y="871370"/>
            <a:ext cx="9230650" cy="5572461"/>
          </a:xfrm>
          <a:prstGeom prst="rect">
            <a:avLst/>
          </a:prstGeom>
        </p:spPr>
        <p:txBody>
          <a:bodyPr lIns="99044" tIns="99044" rIns="99044" bIns="99044" anchor="t" anchorCtr="0">
            <a:noAutofit/>
          </a:bodyPr>
          <a:lstStyle/>
          <a:p>
            <a:pPr lvl="1" fontAlgn="base">
              <a:lnSpc>
                <a:spcPct val="100000"/>
              </a:lnSpc>
              <a:spcBef>
                <a:spcPts val="1000"/>
              </a:spcBef>
              <a:spcAft>
                <a:spcPts val="400"/>
              </a:spcAft>
            </a:pPr>
            <a:r>
              <a:rPr lang="en-US" sz="1800" dirty="0">
                <a:latin typeface="+mn-lt"/>
              </a:rPr>
              <a:t>“If there is a policy conclusion to be drawn from our model, it is this: interoperability across platforms helps resolve many of the distortions in digital platforms because it reduces the incumbency advantage from network externalities and switching costs.”</a:t>
            </a:r>
          </a:p>
          <a:p>
            <a:pPr lvl="1" fontAlgn="base">
              <a:lnSpc>
                <a:spcPct val="100000"/>
              </a:lnSpc>
              <a:spcBef>
                <a:spcPts val="1000"/>
              </a:spcBef>
              <a:spcAft>
                <a:spcPts val="400"/>
              </a:spcAft>
            </a:pPr>
            <a:r>
              <a:rPr lang="en-US" sz="1800" b="1" dirty="0">
                <a:latin typeface="+mn-lt"/>
              </a:rPr>
              <a:t>Seems not self-evident. </a:t>
            </a:r>
          </a:p>
          <a:p>
            <a:pPr marL="285750" lvl="1" indent="-285750" fontAlgn="base">
              <a:lnSpc>
                <a:spcPct val="100000"/>
              </a:lnSpc>
              <a:spcBef>
                <a:spcPts val="1000"/>
              </a:spcBef>
              <a:spcAft>
                <a:spcPts val="400"/>
              </a:spcAft>
              <a:buFont typeface="Wingdings" pitchFamily="2" charset="2"/>
              <a:buChar char="§"/>
            </a:pPr>
            <a:r>
              <a:rPr lang="en-US" sz="1800" dirty="0">
                <a:latin typeface="+mn-lt"/>
              </a:rPr>
              <a:t>Surely it’s better than alternatives like structural separation. But it still assumes a lot, including for example that mandated interoperability won’t diminish the attributes of a platform that are attractive in the first place. </a:t>
            </a:r>
          </a:p>
          <a:p>
            <a:pPr marL="285750" lvl="1" indent="-285750" fontAlgn="base">
              <a:lnSpc>
                <a:spcPct val="100000"/>
              </a:lnSpc>
              <a:spcBef>
                <a:spcPts val="1000"/>
              </a:spcBef>
              <a:spcAft>
                <a:spcPts val="400"/>
              </a:spcAft>
              <a:buFont typeface="Wingdings" pitchFamily="2" charset="2"/>
              <a:buChar char="§"/>
            </a:pPr>
            <a:r>
              <a:rPr lang="en-US" sz="1800" dirty="0">
                <a:latin typeface="+mn-lt"/>
              </a:rPr>
              <a:t>At the very least, interop would likely constrain the types and forms of data collected and a platform’s ability to change them over time.</a:t>
            </a:r>
          </a:p>
          <a:p>
            <a:pPr lvl="1" fontAlgn="base">
              <a:lnSpc>
                <a:spcPct val="100000"/>
              </a:lnSpc>
              <a:spcBef>
                <a:spcPts val="1000"/>
              </a:spcBef>
              <a:spcAft>
                <a:spcPts val="400"/>
              </a:spcAft>
            </a:pPr>
            <a:r>
              <a:rPr lang="en-US" sz="1800" dirty="0">
                <a:latin typeface="+mn-lt"/>
              </a:rPr>
              <a:t>“The new European data protection rule – also known as GDPR – limits the use of these data by incumbents, unless they have asked explicit authorization from the customers. </a:t>
            </a:r>
            <a:r>
              <a:rPr lang="en-US" sz="1800" b="1" dirty="0">
                <a:latin typeface="+mn-lt"/>
              </a:rPr>
              <a:t>In so doing, it reduces the incumbent’s advantage somewhat, promoting innovation.</a:t>
            </a:r>
            <a:r>
              <a:rPr lang="en-US" sz="1800" dirty="0">
                <a:latin typeface="+mn-lt"/>
              </a:rPr>
              <a:t> Of course, it also means that entrants will have to ask each customer for permission to use their data, increasing their costs of fine-tuning also.”</a:t>
            </a:r>
          </a:p>
          <a:p>
            <a:pPr lvl="1" fontAlgn="base">
              <a:lnSpc>
                <a:spcPct val="100000"/>
              </a:lnSpc>
              <a:spcBef>
                <a:spcPts val="1000"/>
              </a:spcBef>
              <a:spcAft>
                <a:spcPts val="400"/>
              </a:spcAft>
            </a:pPr>
            <a:r>
              <a:rPr lang="en-US" sz="1800" b="1" dirty="0">
                <a:latin typeface="+mn-lt"/>
              </a:rPr>
              <a:t>Hamstringing the functionality of an incumbent might promote entry, but it is by no means clear it would increase innovation or consumer welfare on net. </a:t>
            </a:r>
          </a:p>
        </p:txBody>
      </p:sp>
      <p:sp>
        <p:nvSpPr>
          <p:cNvPr id="207" name="Shape 20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3445041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337675" y="244402"/>
            <a:ext cx="9230650" cy="636748"/>
          </a:xfrm>
          <a:prstGeom prst="rect">
            <a:avLst/>
          </a:prstGeom>
        </p:spPr>
        <p:txBody>
          <a:bodyPr lIns="99044" tIns="99044" rIns="99044" bIns="99044" anchor="t" anchorCtr="0">
            <a:noAutofit/>
          </a:bodyPr>
          <a:lstStyle/>
          <a:p>
            <a:r>
              <a:rPr lang="en-US" sz="2800" dirty="0"/>
              <a:t>Maybe the right solution is stronger IP</a:t>
            </a:r>
            <a:br>
              <a:rPr lang="en-US" sz="2800" dirty="0"/>
            </a:br>
            <a:endParaRPr lang="en" sz="2800" dirty="0">
              <a:latin typeface="+mj-lt"/>
            </a:endParaRPr>
          </a:p>
        </p:txBody>
      </p:sp>
      <p:sp>
        <p:nvSpPr>
          <p:cNvPr id="206" name="Shape 206"/>
          <p:cNvSpPr txBox="1">
            <a:spLocks noGrp="1"/>
          </p:cNvSpPr>
          <p:nvPr>
            <p:ph type="body" idx="4294967295"/>
          </p:nvPr>
        </p:nvSpPr>
        <p:spPr>
          <a:xfrm>
            <a:off x="337675" y="972589"/>
            <a:ext cx="9230650" cy="5299119"/>
          </a:xfrm>
          <a:prstGeom prst="rect">
            <a:avLst/>
          </a:prstGeom>
        </p:spPr>
        <p:txBody>
          <a:bodyPr lIns="99044" tIns="99044" rIns="99044" bIns="99044" anchor="t" anchorCtr="0">
            <a:noAutofit/>
          </a:bodyPr>
          <a:lstStyle/>
          <a:p>
            <a:pPr lvl="1" fontAlgn="base">
              <a:lnSpc>
                <a:spcPct val="100000"/>
              </a:lnSpc>
              <a:spcBef>
                <a:spcPts val="1000"/>
              </a:spcBef>
              <a:spcAft>
                <a:spcPts val="400"/>
              </a:spcAft>
            </a:pPr>
            <a:r>
              <a:rPr lang="en-US" sz="1800" b="1" dirty="0">
                <a:latin typeface="+mn-lt"/>
              </a:rPr>
              <a:t>The problem is incentives to innovate:</a:t>
            </a:r>
          </a:p>
          <a:p>
            <a:pPr marL="285750" lvl="1" indent="-285750" fontAlgn="base">
              <a:lnSpc>
                <a:spcPct val="100000"/>
              </a:lnSpc>
              <a:spcBef>
                <a:spcPts val="1000"/>
              </a:spcBef>
              <a:spcAft>
                <a:spcPts val="400"/>
              </a:spcAft>
              <a:buFont typeface="Wingdings" pitchFamily="2" charset="2"/>
              <a:buChar char="§"/>
            </a:pPr>
            <a:r>
              <a:rPr lang="en-US" sz="1800" dirty="0">
                <a:latin typeface="+mn-lt"/>
              </a:rPr>
              <a:t>“[T]he more an incumbent can freely copy the technological innovations of new entrants, the worse the incentives of early adopters to switch to a new entrant will be. These reduced incentives will lower the stand-alone valuation of new entrants and thus lower the return to innovation…. </a:t>
            </a:r>
            <a:r>
              <a:rPr lang="en-US" sz="1800" b="1" dirty="0">
                <a:latin typeface="+mn-lt"/>
              </a:rPr>
              <a:t>[T]he ability to copy freely an innovation always reduces the incentives to invest.</a:t>
            </a:r>
            <a:r>
              <a:rPr lang="en-US" sz="1800" dirty="0">
                <a:latin typeface="+mn-lt"/>
              </a:rPr>
              <a:t>”</a:t>
            </a:r>
          </a:p>
          <a:p>
            <a:pPr lvl="1" fontAlgn="base">
              <a:lnSpc>
                <a:spcPct val="100000"/>
              </a:lnSpc>
              <a:spcBef>
                <a:spcPts val="1000"/>
              </a:spcBef>
              <a:spcAft>
                <a:spcPts val="400"/>
              </a:spcAft>
            </a:pPr>
            <a:r>
              <a:rPr lang="en-US" sz="1800" b="1" dirty="0">
                <a:latin typeface="+mn-lt"/>
              </a:rPr>
              <a:t>So, perhaps what we should be focused on is better patent/copyright system design.</a:t>
            </a:r>
          </a:p>
          <a:p>
            <a:pPr marL="285750" lvl="1" indent="-285750" fontAlgn="base">
              <a:lnSpc>
                <a:spcPct val="100000"/>
              </a:lnSpc>
              <a:spcBef>
                <a:spcPts val="1000"/>
              </a:spcBef>
              <a:spcAft>
                <a:spcPts val="400"/>
              </a:spcAft>
              <a:buFont typeface="Wingdings" pitchFamily="2" charset="2"/>
              <a:buChar char="§"/>
            </a:pPr>
            <a:r>
              <a:rPr lang="en-US" sz="1800" dirty="0">
                <a:latin typeface="+mn-lt"/>
              </a:rPr>
              <a:t>Most relevant to appropriation, but also mergers because appropriation may be the outside option.</a:t>
            </a:r>
          </a:p>
          <a:p>
            <a:pPr lvl="1" fontAlgn="base">
              <a:lnSpc>
                <a:spcPct val="100000"/>
              </a:lnSpc>
              <a:spcBef>
                <a:spcPts val="1000"/>
              </a:spcBef>
              <a:spcAft>
                <a:spcPts val="400"/>
              </a:spcAft>
            </a:pPr>
            <a:r>
              <a:rPr lang="en-US" sz="1800" b="1" dirty="0">
                <a:latin typeface="+mn-lt"/>
              </a:rPr>
              <a:t>Here and elsewhere: Selection bias?</a:t>
            </a:r>
          </a:p>
          <a:p>
            <a:pPr marL="285750" lvl="1" indent="-285750" fontAlgn="base">
              <a:lnSpc>
                <a:spcPct val="100000"/>
              </a:lnSpc>
              <a:spcBef>
                <a:spcPts val="1000"/>
              </a:spcBef>
              <a:spcAft>
                <a:spcPts val="400"/>
              </a:spcAft>
              <a:buFont typeface="Wingdings" pitchFamily="2" charset="2"/>
              <a:buChar char="§"/>
            </a:pPr>
            <a:r>
              <a:rPr lang="en-US" sz="1800" dirty="0">
                <a:latin typeface="+mn-lt"/>
              </a:rPr>
              <a:t>We look at mergers that happen and appropriations that happen, but these are the situations where incumbent, by definition, gains advantage.</a:t>
            </a:r>
          </a:p>
          <a:p>
            <a:pPr marL="285750" lvl="1" indent="-285750" fontAlgn="base">
              <a:lnSpc>
                <a:spcPct val="100000"/>
              </a:lnSpc>
              <a:spcBef>
                <a:spcPts val="1000"/>
              </a:spcBef>
              <a:spcAft>
                <a:spcPts val="400"/>
              </a:spcAft>
              <a:buFont typeface="Wingdings" pitchFamily="2" charset="2"/>
              <a:buChar char="§"/>
            </a:pPr>
            <a:r>
              <a:rPr lang="en-US" sz="1800" b="1" dirty="0">
                <a:latin typeface="+mn-lt"/>
              </a:rPr>
              <a:t>But the vast majority of entrants aren’t bought by/appropriated by incumbents.  </a:t>
            </a:r>
          </a:p>
        </p:txBody>
      </p:sp>
      <p:sp>
        <p:nvSpPr>
          <p:cNvPr id="207" name="Shape 20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4147660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337675" y="244401"/>
            <a:ext cx="9230650" cy="1045585"/>
          </a:xfrm>
          <a:prstGeom prst="rect">
            <a:avLst/>
          </a:prstGeom>
        </p:spPr>
        <p:txBody>
          <a:bodyPr lIns="99044" tIns="99044" rIns="99044" bIns="99044" anchor="t" anchorCtr="0">
            <a:noAutofit/>
          </a:bodyPr>
          <a:lstStyle/>
          <a:p>
            <a:r>
              <a:rPr lang="en-US" sz="2800" dirty="0"/>
              <a:t>Bryan &amp; Hovenkamp (2020)</a:t>
            </a:r>
            <a:br>
              <a:rPr lang="en-US" sz="2800" dirty="0"/>
            </a:br>
            <a:endParaRPr lang="en" sz="2800" dirty="0">
              <a:latin typeface="+mj-lt"/>
            </a:endParaRPr>
          </a:p>
        </p:txBody>
      </p:sp>
      <p:sp>
        <p:nvSpPr>
          <p:cNvPr id="206" name="Shape 206"/>
          <p:cNvSpPr txBox="1">
            <a:spLocks noGrp="1"/>
          </p:cNvSpPr>
          <p:nvPr>
            <p:ph type="body" idx="4294967295"/>
          </p:nvPr>
        </p:nvSpPr>
        <p:spPr>
          <a:xfrm>
            <a:off x="337675" y="1061981"/>
            <a:ext cx="9230650" cy="5454127"/>
          </a:xfrm>
          <a:prstGeom prst="rect">
            <a:avLst/>
          </a:prstGeom>
        </p:spPr>
        <p:txBody>
          <a:bodyPr lIns="99044" tIns="99044" rIns="99044" bIns="99044" anchor="t" anchorCtr="0">
            <a:noAutofit/>
          </a:bodyPr>
          <a:lstStyle/>
          <a:p>
            <a:pPr lvl="1" fontAlgn="base">
              <a:lnSpc>
                <a:spcPct val="100000"/>
              </a:lnSpc>
              <a:spcBef>
                <a:spcPts val="1000"/>
              </a:spcBef>
              <a:spcAft>
                <a:spcPts val="400"/>
              </a:spcAft>
            </a:pPr>
            <a:r>
              <a:rPr lang="en-US" sz="1600" b="1" dirty="0">
                <a:latin typeface="+mn-lt"/>
              </a:rPr>
              <a:t>Compulsory licensing to encourage startups to invest in laggard-promoting technology, rather than incumbent-promoting technology.</a:t>
            </a:r>
          </a:p>
          <a:p>
            <a:pPr marL="285750" lvl="1" indent="-285750" fontAlgn="base">
              <a:lnSpc>
                <a:spcPct val="100000"/>
              </a:lnSpc>
              <a:spcBef>
                <a:spcPts val="1000"/>
              </a:spcBef>
              <a:spcAft>
                <a:spcPts val="400"/>
              </a:spcAft>
              <a:buFont typeface="Wingdings" pitchFamily="2" charset="2"/>
              <a:buChar char="§"/>
            </a:pPr>
            <a:r>
              <a:rPr lang="en-US" sz="1600" dirty="0">
                <a:latin typeface="+mn-lt"/>
              </a:rPr>
              <a:t>Here as elsewhere: what explains the pattern of acquisitions we see? Incumbents don’t buy all challenger technology/firms. </a:t>
            </a:r>
          </a:p>
          <a:p>
            <a:pPr marL="285750" lvl="1" indent="-285750" fontAlgn="base">
              <a:lnSpc>
                <a:spcPct val="100000"/>
              </a:lnSpc>
              <a:spcBef>
                <a:spcPts val="1000"/>
              </a:spcBef>
              <a:spcAft>
                <a:spcPts val="400"/>
              </a:spcAft>
              <a:buFont typeface="Wingdings" pitchFamily="2" charset="2"/>
              <a:buChar char="§"/>
            </a:pPr>
            <a:r>
              <a:rPr lang="en-US" sz="1600" dirty="0">
                <a:latin typeface="+mn-lt"/>
              </a:rPr>
              <a:t>As elsewhere, consumer welfare benefits of improved incumbent are insufficiently accounted for. This is certainly true in static model; question likely relative magnitudes in dynamic.</a:t>
            </a:r>
          </a:p>
          <a:p>
            <a:pPr marL="285750" lvl="1" indent="-285750" fontAlgn="base">
              <a:lnSpc>
                <a:spcPct val="100000"/>
              </a:lnSpc>
              <a:spcBef>
                <a:spcPts val="1000"/>
              </a:spcBef>
              <a:spcAft>
                <a:spcPts val="400"/>
              </a:spcAft>
              <a:buFont typeface="Wingdings" pitchFamily="2" charset="2"/>
              <a:buChar char="§"/>
            </a:pPr>
            <a:r>
              <a:rPr lang="en-US" sz="1600" dirty="0">
                <a:latin typeface="+mn-lt"/>
              </a:rPr>
              <a:t>Information problems seem significant:</a:t>
            </a:r>
          </a:p>
          <a:p>
            <a:pPr marL="746125" lvl="1" indent="-277813" fontAlgn="base">
              <a:lnSpc>
                <a:spcPct val="100000"/>
              </a:lnSpc>
              <a:spcBef>
                <a:spcPts val="1000"/>
              </a:spcBef>
              <a:spcAft>
                <a:spcPts val="400"/>
              </a:spcAft>
              <a:buFont typeface="Wingdings" pitchFamily="2" charset="2"/>
              <a:buChar char="§"/>
            </a:pPr>
            <a:r>
              <a:rPr lang="en-US" sz="1600" dirty="0">
                <a:latin typeface="+mn-lt"/>
              </a:rPr>
              <a:t>Incumbent omniscience can’t be presumed</a:t>
            </a:r>
          </a:p>
          <a:p>
            <a:pPr marL="746125" lvl="1" indent="-277813" fontAlgn="base">
              <a:lnSpc>
                <a:spcPct val="100000"/>
              </a:lnSpc>
              <a:spcBef>
                <a:spcPts val="1000"/>
              </a:spcBef>
              <a:spcAft>
                <a:spcPts val="400"/>
              </a:spcAft>
              <a:buFont typeface="Wingdings" pitchFamily="2" charset="2"/>
              <a:buChar char="§"/>
            </a:pPr>
            <a:r>
              <a:rPr lang="en-US" sz="1600" dirty="0">
                <a:latin typeface="+mn-lt"/>
              </a:rPr>
              <a:t>Nor challenger omniscience re which technologies are likely to be valuable to incumbent</a:t>
            </a:r>
          </a:p>
          <a:p>
            <a:pPr marL="746125" lvl="1" indent="-277813" fontAlgn="base">
              <a:lnSpc>
                <a:spcPct val="100000"/>
              </a:lnSpc>
              <a:spcBef>
                <a:spcPts val="1000"/>
              </a:spcBef>
              <a:spcAft>
                <a:spcPts val="400"/>
              </a:spcAft>
              <a:buFont typeface="Wingdings" pitchFamily="2" charset="2"/>
              <a:buChar char="§"/>
            </a:pPr>
            <a:r>
              <a:rPr lang="en-US" sz="1600" dirty="0">
                <a:latin typeface="+mn-lt"/>
              </a:rPr>
              <a:t>Nor even which industry (and which dominant company) the startup is most relevant to</a:t>
            </a:r>
          </a:p>
          <a:p>
            <a:pPr marL="746125" lvl="1" indent="-277813" fontAlgn="base">
              <a:lnSpc>
                <a:spcPct val="100000"/>
              </a:lnSpc>
              <a:spcBef>
                <a:spcPts val="1000"/>
              </a:spcBef>
              <a:spcAft>
                <a:spcPts val="400"/>
              </a:spcAft>
              <a:buFont typeface="Wingdings" pitchFamily="2" charset="2"/>
              <a:buChar char="§"/>
            </a:pPr>
            <a:r>
              <a:rPr lang="en-US" sz="1600" dirty="0">
                <a:latin typeface="+mn-lt"/>
              </a:rPr>
              <a:t>Nor especially court/regulator omniscience</a:t>
            </a:r>
          </a:p>
          <a:p>
            <a:pPr marL="287338" lvl="1" indent="-287338" fontAlgn="base">
              <a:lnSpc>
                <a:spcPct val="100000"/>
              </a:lnSpc>
              <a:spcBef>
                <a:spcPts val="1000"/>
              </a:spcBef>
              <a:spcAft>
                <a:spcPts val="400"/>
              </a:spcAft>
              <a:buFont typeface="Wingdings" pitchFamily="2" charset="2"/>
              <a:buChar char="§"/>
            </a:pPr>
            <a:r>
              <a:rPr lang="en-US" sz="1600" dirty="0">
                <a:latin typeface="+mn-lt"/>
              </a:rPr>
              <a:t>As Bryan &amp; Hovenkamp recognize, the administrative costs (of compulsory license as well as preemptive blocking) are significant</a:t>
            </a:r>
          </a:p>
          <a:p>
            <a:pPr marL="285750" lvl="1" indent="-285750" fontAlgn="base">
              <a:lnSpc>
                <a:spcPct val="100000"/>
              </a:lnSpc>
              <a:spcBef>
                <a:spcPts val="1000"/>
              </a:spcBef>
              <a:spcAft>
                <a:spcPts val="400"/>
              </a:spcAft>
              <a:buFont typeface="Wingdings" pitchFamily="2" charset="2"/>
              <a:buChar char="§"/>
            </a:pPr>
            <a:r>
              <a:rPr lang="en-US" sz="1600" dirty="0">
                <a:latin typeface="+mn-lt"/>
              </a:rPr>
              <a:t>Unclear how ability to appropriate without acquisition affects analysis. Where that is the norm, what are startup incentives? IP regime, again, seems more important.</a:t>
            </a:r>
          </a:p>
          <a:p>
            <a:pPr marL="285750" lvl="1" indent="-285750" fontAlgn="base">
              <a:lnSpc>
                <a:spcPct val="100000"/>
              </a:lnSpc>
              <a:spcBef>
                <a:spcPts val="1000"/>
              </a:spcBef>
              <a:spcAft>
                <a:spcPts val="400"/>
              </a:spcAft>
              <a:buFont typeface="Wingdings" pitchFamily="2" charset="2"/>
              <a:buChar char="§"/>
            </a:pPr>
            <a:endParaRPr lang="en-US" sz="1600" b="1" dirty="0">
              <a:latin typeface="+mn-lt"/>
            </a:endParaRPr>
          </a:p>
        </p:txBody>
      </p:sp>
      <p:sp>
        <p:nvSpPr>
          <p:cNvPr id="207" name="Shape 20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3505532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6">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6">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328575" y="412154"/>
            <a:ext cx="9230650" cy="692900"/>
          </a:xfrm>
          <a:prstGeom prst="rect">
            <a:avLst/>
          </a:prstGeom>
        </p:spPr>
        <p:txBody>
          <a:bodyPr lIns="99044" tIns="99044" rIns="99044" bIns="99044" anchor="t" anchorCtr="0">
            <a:noAutofit/>
          </a:bodyPr>
          <a:lstStyle/>
          <a:p>
            <a:r>
              <a:rPr lang="en" sz="2800" dirty="0">
                <a:latin typeface="+mj-lt"/>
              </a:rPr>
              <a:t>Anticompetitive Appropriation / Self-preferencing</a:t>
            </a:r>
          </a:p>
        </p:txBody>
      </p:sp>
      <p:sp>
        <p:nvSpPr>
          <p:cNvPr id="206" name="Shape 206"/>
          <p:cNvSpPr txBox="1">
            <a:spLocks noGrp="1"/>
          </p:cNvSpPr>
          <p:nvPr>
            <p:ph type="body" idx="4294967295"/>
          </p:nvPr>
        </p:nvSpPr>
        <p:spPr>
          <a:xfrm>
            <a:off x="383088" y="1298713"/>
            <a:ext cx="9121624" cy="4876176"/>
          </a:xfrm>
          <a:prstGeom prst="rect">
            <a:avLst/>
          </a:prstGeom>
        </p:spPr>
        <p:txBody>
          <a:bodyPr lIns="99044" tIns="99044" rIns="99044" bIns="99044" anchor="t" anchorCtr="0">
            <a:noAutofit/>
          </a:bodyPr>
          <a:lstStyle/>
          <a:p>
            <a:pPr lvl="1" fontAlgn="base">
              <a:lnSpc>
                <a:spcPct val="100000"/>
              </a:lnSpc>
              <a:spcBef>
                <a:spcPts val="1000"/>
              </a:spcBef>
              <a:spcAft>
                <a:spcPts val="400"/>
              </a:spcAft>
            </a:pPr>
            <a:r>
              <a:rPr lang="en-US" sz="1700" b="1" dirty="0">
                <a:solidFill>
                  <a:srgbClr val="262626"/>
                </a:solidFill>
                <a:latin typeface="+mn-lt"/>
              </a:rPr>
              <a:t>Claim is that big tech platforms harm competition by favoring their own content over that of their complementors. </a:t>
            </a:r>
          </a:p>
          <a:p>
            <a:pPr marL="285750" lvl="1" indent="-285750" fontAlgn="base">
              <a:lnSpc>
                <a:spcPct val="100000"/>
              </a:lnSpc>
              <a:spcBef>
                <a:spcPts val="1000"/>
              </a:spcBef>
              <a:spcAft>
                <a:spcPts val="400"/>
              </a:spcAft>
              <a:buFont typeface="Wingdings" pitchFamily="2" charset="2"/>
              <a:buChar char="§"/>
            </a:pPr>
            <a:r>
              <a:rPr lang="en-US" sz="1700" dirty="0">
                <a:solidFill>
                  <a:srgbClr val="262626"/>
                </a:solidFill>
                <a:latin typeface="+mn-lt"/>
              </a:rPr>
              <a:t>According to this line of argument, complementors are “at the mercy” of tech platforms.</a:t>
            </a:r>
          </a:p>
          <a:p>
            <a:pPr lvl="1" fontAlgn="base">
              <a:lnSpc>
                <a:spcPct val="100000"/>
              </a:lnSpc>
              <a:spcBef>
                <a:spcPts val="1000"/>
              </a:spcBef>
              <a:spcAft>
                <a:spcPts val="400"/>
              </a:spcAft>
            </a:pPr>
            <a:r>
              <a:rPr lang="en-US" sz="1700" b="1" dirty="0">
                <a:solidFill>
                  <a:srgbClr val="262626"/>
                </a:solidFill>
                <a:latin typeface="+mn-lt"/>
              </a:rPr>
              <a:t>By discriminating in favor of their own content and against independent “edge providers,” tech platforms cause “the rewards for edge innovation [to be] dampened by runaway appropriation,” leading to “dismal” prospects “for independents in the internet economy—and edge innovation generally.” </a:t>
            </a:r>
          </a:p>
          <a:p>
            <a:pPr lvl="1" fontAlgn="base">
              <a:lnSpc>
                <a:spcPct val="100000"/>
              </a:lnSpc>
              <a:spcBef>
                <a:spcPts val="1000"/>
              </a:spcBef>
              <a:spcAft>
                <a:spcPts val="400"/>
              </a:spcAft>
            </a:pPr>
            <a:r>
              <a:rPr lang="en-US" sz="1700" b="1" dirty="0">
                <a:solidFill>
                  <a:srgbClr val="262626"/>
                </a:solidFill>
                <a:latin typeface="+mn-lt"/>
              </a:rPr>
              <a:t>Proposals to ban vertical discrimination:</a:t>
            </a:r>
          </a:p>
          <a:p>
            <a:pPr marL="285750" lvl="1" indent="-285750" fontAlgn="base">
              <a:lnSpc>
                <a:spcPct val="100000"/>
              </a:lnSpc>
              <a:spcBef>
                <a:spcPts val="1000"/>
              </a:spcBef>
              <a:spcAft>
                <a:spcPts val="400"/>
              </a:spcAft>
              <a:buFont typeface="Wingdings" pitchFamily="2" charset="2"/>
              <a:buChar char="§"/>
            </a:pPr>
            <a:r>
              <a:rPr lang="en-US" sz="1700" dirty="0">
                <a:solidFill>
                  <a:srgbClr val="262626"/>
                </a:solidFill>
                <a:latin typeface="+mn-lt"/>
              </a:rPr>
              <a:t>Lina Khan, Antitrust Paradox:</a:t>
            </a:r>
          </a:p>
          <a:p>
            <a:pPr marL="746125" lvl="1" indent="-277813" fontAlgn="base">
              <a:lnSpc>
                <a:spcPct val="100000"/>
              </a:lnSpc>
              <a:spcBef>
                <a:spcPts val="1000"/>
              </a:spcBef>
              <a:spcAft>
                <a:spcPts val="400"/>
              </a:spcAft>
              <a:buFont typeface="Wingdings" pitchFamily="2" charset="2"/>
              <a:buChar char="§"/>
            </a:pPr>
            <a:r>
              <a:rPr lang="en-US" sz="1700" dirty="0">
                <a:solidFill>
                  <a:srgbClr val="262626"/>
                </a:solidFill>
                <a:latin typeface="+mn-lt"/>
              </a:rPr>
              <a:t>“Adopting this prophylactic approach would mean banning a dominant firm from entering any market that it already serves as a platform—in other words, from competing directly with the businesses that depend on it.”</a:t>
            </a:r>
          </a:p>
          <a:p>
            <a:pPr lvl="1" fontAlgn="base">
              <a:lnSpc>
                <a:spcPct val="100000"/>
              </a:lnSpc>
              <a:spcBef>
                <a:spcPts val="1000"/>
              </a:spcBef>
              <a:spcAft>
                <a:spcPts val="400"/>
              </a:spcAft>
            </a:pPr>
            <a:r>
              <a:rPr lang="en-US" sz="1700" b="1" dirty="0">
                <a:solidFill>
                  <a:srgbClr val="262626"/>
                </a:solidFill>
                <a:latin typeface="+mn-lt"/>
              </a:rPr>
              <a:t>But… why?</a:t>
            </a:r>
          </a:p>
        </p:txBody>
      </p:sp>
      <p:sp>
        <p:nvSpPr>
          <p:cNvPr id="207" name="Shape 20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715214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328575" y="412154"/>
            <a:ext cx="9230650" cy="692900"/>
          </a:xfrm>
          <a:prstGeom prst="rect">
            <a:avLst/>
          </a:prstGeom>
        </p:spPr>
        <p:txBody>
          <a:bodyPr lIns="99044" tIns="99044" rIns="99044" bIns="99044" anchor="t" anchorCtr="0">
            <a:noAutofit/>
          </a:bodyPr>
          <a:lstStyle/>
          <a:p>
            <a:r>
              <a:rPr lang="en" sz="2800" dirty="0">
                <a:latin typeface="+mj-lt"/>
              </a:rPr>
              <a:t>Anticompetitive Appropriation / Self-preferencing</a:t>
            </a:r>
          </a:p>
        </p:txBody>
      </p:sp>
      <p:sp>
        <p:nvSpPr>
          <p:cNvPr id="206" name="Shape 206"/>
          <p:cNvSpPr txBox="1">
            <a:spLocks noGrp="1"/>
          </p:cNvSpPr>
          <p:nvPr>
            <p:ph type="body" idx="4294967295"/>
          </p:nvPr>
        </p:nvSpPr>
        <p:spPr>
          <a:xfrm>
            <a:off x="383088" y="1021976"/>
            <a:ext cx="9121624" cy="5423870"/>
          </a:xfrm>
          <a:prstGeom prst="rect">
            <a:avLst/>
          </a:prstGeom>
        </p:spPr>
        <p:txBody>
          <a:bodyPr lIns="99044" tIns="99044" rIns="99044" bIns="99044" anchor="t" anchorCtr="0">
            <a:noAutofit/>
          </a:bodyPr>
          <a:lstStyle/>
          <a:p>
            <a:pPr lvl="1" fontAlgn="base">
              <a:lnSpc>
                <a:spcPct val="100000"/>
              </a:lnSpc>
              <a:spcBef>
                <a:spcPts val="1000"/>
              </a:spcBef>
              <a:spcAft>
                <a:spcPts val="400"/>
              </a:spcAft>
            </a:pPr>
            <a:r>
              <a:rPr lang="en-US" sz="1500" b="1" dirty="0">
                <a:solidFill>
                  <a:srgbClr val="262626"/>
                </a:solidFill>
                <a:latin typeface="+mn-lt"/>
              </a:rPr>
              <a:t>The notion that platform entry into competition with edge providers is harmful to innovation is entirely speculative. And contrary to a range of studies showing that the opposite is likely true. </a:t>
            </a:r>
          </a:p>
          <a:p>
            <a:pPr marL="285750" lvl="1" indent="-285750" fontAlgn="base">
              <a:lnSpc>
                <a:spcPct val="100000"/>
              </a:lnSpc>
              <a:spcBef>
                <a:spcPts val="1000"/>
              </a:spcBef>
              <a:spcAft>
                <a:spcPts val="400"/>
              </a:spcAft>
              <a:buFont typeface="Wingdings" pitchFamily="2" charset="2"/>
              <a:buChar char="§"/>
            </a:pPr>
            <a:r>
              <a:rPr lang="en-US" sz="1500" b="1" dirty="0">
                <a:solidFill>
                  <a:srgbClr val="262626"/>
                </a:solidFill>
                <a:latin typeface="+mn-lt"/>
              </a:rPr>
              <a:t>Li and Agarwal (2017) </a:t>
            </a:r>
            <a:r>
              <a:rPr lang="en-US" sz="1500" dirty="0">
                <a:solidFill>
                  <a:srgbClr val="262626"/>
                </a:solidFill>
                <a:latin typeface="+mn-lt"/>
              </a:rPr>
              <a:t>Facebook’s integration of Instagram led to a significant increase in user demand for Instagram—and for the entire category of photography apps. The integration of Instagram increased consumer awareness of photography apps on Facebook, which benefited independent developers, as well as Facebook.</a:t>
            </a:r>
          </a:p>
          <a:p>
            <a:pPr marL="285750" lvl="1" indent="-285750" fontAlgn="base">
              <a:lnSpc>
                <a:spcPct val="100000"/>
              </a:lnSpc>
              <a:spcBef>
                <a:spcPts val="1000"/>
              </a:spcBef>
              <a:spcAft>
                <a:spcPts val="400"/>
              </a:spcAft>
              <a:buFont typeface="Wingdings" pitchFamily="2" charset="2"/>
              <a:buChar char="§"/>
            </a:pPr>
            <a:r>
              <a:rPr lang="en-US" sz="1500" b="1" dirty="0">
                <a:solidFill>
                  <a:srgbClr val="262626"/>
                </a:solidFill>
                <a:latin typeface="+mn-lt"/>
              </a:rPr>
              <a:t>Foerderer, et al. (2018) </a:t>
            </a:r>
            <a:r>
              <a:rPr lang="en-US" sz="1500" dirty="0">
                <a:solidFill>
                  <a:srgbClr val="262626"/>
                </a:solidFill>
                <a:latin typeface="+mn-lt"/>
              </a:rPr>
              <a:t>Google’s 2015 entry into the market for photography apps on Android created additional user attention and demand for such apps generally. This had a positive spillover effect on complementors. Following Google’s entry, complementors were more likely to innovate their photography apps and to release new apps in other categories, as well.</a:t>
            </a:r>
          </a:p>
          <a:p>
            <a:pPr marL="285750" lvl="1" indent="-285750" fontAlgn="base">
              <a:lnSpc>
                <a:spcPct val="100000"/>
              </a:lnSpc>
              <a:spcBef>
                <a:spcPts val="1000"/>
              </a:spcBef>
              <a:spcAft>
                <a:spcPts val="400"/>
              </a:spcAft>
              <a:buFont typeface="Wingdings" pitchFamily="2" charset="2"/>
              <a:buChar char="§"/>
            </a:pPr>
            <a:r>
              <a:rPr lang="en-US" sz="1500" b="1" dirty="0">
                <a:solidFill>
                  <a:srgbClr val="262626"/>
                </a:solidFill>
                <a:latin typeface="+mn-lt"/>
              </a:rPr>
              <a:t>Cennamo, et al. (2018)</a:t>
            </a:r>
            <a:r>
              <a:rPr lang="en-US" sz="1500" dirty="0">
                <a:solidFill>
                  <a:srgbClr val="262626"/>
                </a:solidFill>
                <a:latin typeface="+mn-lt"/>
              </a:rPr>
              <a:t> Video games offered by console firms often become blockbusters and expand the installed base of the consoles. As a result, these games increase the potential for all independent game developers to profit from their games, even in the face of competition from first-party games. </a:t>
            </a:r>
          </a:p>
          <a:p>
            <a:pPr marL="285750" lvl="1" indent="-285750" fontAlgn="base">
              <a:lnSpc>
                <a:spcPct val="100000"/>
              </a:lnSpc>
              <a:spcBef>
                <a:spcPts val="1000"/>
              </a:spcBef>
              <a:spcAft>
                <a:spcPts val="400"/>
              </a:spcAft>
              <a:buFont typeface="Wingdings" pitchFamily="2" charset="2"/>
              <a:buChar char="§"/>
            </a:pPr>
            <a:r>
              <a:rPr lang="en-US" sz="1500" b="1" dirty="0">
                <a:solidFill>
                  <a:srgbClr val="262626"/>
                </a:solidFill>
                <a:latin typeface="+mn-lt"/>
              </a:rPr>
              <a:t>Zhu and Liu (2018) </a:t>
            </a:r>
            <a:r>
              <a:rPr lang="en-US" sz="1500" dirty="0">
                <a:solidFill>
                  <a:srgbClr val="262626"/>
                </a:solidFill>
                <a:latin typeface="+mn-lt"/>
              </a:rPr>
              <a:t>is held up as demonstrating harm from Amazon’s competition with third-party sellers on its platform, but its findings are actually far from clear-cut. As one of the authors notes elsewhere: </a:t>
            </a:r>
            <a:r>
              <a:rPr lang="en-US" sz="1500" b="1" dirty="0">
                <a:solidFill>
                  <a:srgbClr val="262626"/>
                </a:solidFill>
                <a:latin typeface="+mn-lt"/>
              </a:rPr>
              <a:t>“[I]f Amazon’s entries attract more consumers, the expanded customer base could incentivize more third‐party sellers to join the platform. As a result, the long‐term effects for consumers of Amazon’s entry are not clear.”</a:t>
            </a:r>
            <a:endParaRPr lang="en-US" sz="1500" dirty="0">
              <a:solidFill>
                <a:srgbClr val="262626"/>
              </a:solidFill>
              <a:latin typeface="+mn-lt"/>
            </a:endParaRPr>
          </a:p>
        </p:txBody>
      </p:sp>
      <p:sp>
        <p:nvSpPr>
          <p:cNvPr id="207" name="Shape 20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32871293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328575" y="412154"/>
            <a:ext cx="9230650" cy="692900"/>
          </a:xfrm>
          <a:prstGeom prst="rect">
            <a:avLst/>
          </a:prstGeom>
        </p:spPr>
        <p:txBody>
          <a:bodyPr lIns="99044" tIns="99044" rIns="99044" bIns="99044" anchor="t" anchorCtr="0">
            <a:noAutofit/>
          </a:bodyPr>
          <a:lstStyle/>
          <a:p>
            <a:r>
              <a:rPr lang="en" sz="2800" dirty="0">
                <a:latin typeface="+mj-lt"/>
              </a:rPr>
              <a:t>Anticompetitive Appropriation / Self-preferencing</a:t>
            </a:r>
          </a:p>
        </p:txBody>
      </p:sp>
      <p:sp>
        <p:nvSpPr>
          <p:cNvPr id="206" name="Shape 206"/>
          <p:cNvSpPr txBox="1">
            <a:spLocks noGrp="1"/>
          </p:cNvSpPr>
          <p:nvPr>
            <p:ph type="body" idx="4294967295"/>
          </p:nvPr>
        </p:nvSpPr>
        <p:spPr>
          <a:xfrm>
            <a:off x="383088" y="1021976"/>
            <a:ext cx="9121624" cy="5423870"/>
          </a:xfrm>
          <a:prstGeom prst="rect">
            <a:avLst/>
          </a:prstGeom>
        </p:spPr>
        <p:txBody>
          <a:bodyPr lIns="99044" tIns="99044" rIns="99044" bIns="99044" anchor="t" anchorCtr="0">
            <a:noAutofit/>
          </a:bodyPr>
          <a:lstStyle/>
          <a:p>
            <a:pPr lvl="1" fontAlgn="base">
              <a:lnSpc>
                <a:spcPct val="100000"/>
              </a:lnSpc>
              <a:spcBef>
                <a:spcPts val="1000"/>
              </a:spcBef>
              <a:spcAft>
                <a:spcPts val="400"/>
              </a:spcAft>
            </a:pPr>
            <a:r>
              <a:rPr lang="en-US" sz="1700" b="1" dirty="0">
                <a:solidFill>
                  <a:srgbClr val="262626"/>
                </a:solidFill>
                <a:latin typeface="+mn-lt"/>
              </a:rPr>
              <a:t>Edge providers will invest less in their businesses if their returns will be diminished by platform expropriation… </a:t>
            </a:r>
          </a:p>
          <a:p>
            <a:pPr marL="285750" lvl="1" indent="-285750" fontAlgn="base">
              <a:lnSpc>
                <a:spcPct val="100000"/>
              </a:lnSpc>
              <a:spcBef>
                <a:spcPts val="1000"/>
              </a:spcBef>
              <a:spcAft>
                <a:spcPts val="400"/>
              </a:spcAft>
              <a:buFont typeface="Wingdings" pitchFamily="2" charset="2"/>
              <a:buChar char="§"/>
            </a:pPr>
            <a:r>
              <a:rPr lang="en-US" sz="1700" dirty="0">
                <a:solidFill>
                  <a:srgbClr val="262626"/>
                </a:solidFill>
                <a:latin typeface="+mn-lt"/>
              </a:rPr>
              <a:t>But the massive size and enormous success of such platforms should allay any fears that this is actually happening. </a:t>
            </a:r>
          </a:p>
          <a:p>
            <a:pPr marL="285750" lvl="1" indent="-285750" fontAlgn="base">
              <a:lnSpc>
                <a:spcPct val="100000"/>
              </a:lnSpc>
              <a:spcBef>
                <a:spcPts val="1000"/>
              </a:spcBef>
              <a:spcAft>
                <a:spcPts val="400"/>
              </a:spcAft>
              <a:buFont typeface="Wingdings" pitchFamily="2" charset="2"/>
              <a:buChar char="§"/>
            </a:pPr>
            <a:r>
              <a:rPr lang="en-US" sz="1700" dirty="0">
                <a:solidFill>
                  <a:srgbClr val="262626"/>
                </a:solidFill>
                <a:latin typeface="+mn-lt"/>
              </a:rPr>
              <a:t>The number of apps on Apple’s App Store has grown from some 800 in July 2008 to over 2 million in January 2017, for example. </a:t>
            </a:r>
          </a:p>
          <a:p>
            <a:pPr marL="285750" lvl="1" indent="-285750" fontAlgn="base">
              <a:lnSpc>
                <a:spcPct val="100000"/>
              </a:lnSpc>
              <a:spcBef>
                <a:spcPts val="1000"/>
              </a:spcBef>
              <a:spcAft>
                <a:spcPts val="400"/>
              </a:spcAft>
              <a:buFont typeface="Wingdings" pitchFamily="2" charset="2"/>
              <a:buChar char="§"/>
            </a:pPr>
            <a:r>
              <a:rPr lang="en-US" sz="1700" dirty="0">
                <a:solidFill>
                  <a:srgbClr val="262626"/>
                </a:solidFill>
                <a:latin typeface="+mn-lt"/>
              </a:rPr>
              <a:t>Why would so many complementors continue to develop businesses in reliance on platforms like Apple’s if doing so entails a substantial risk of foreclosure and financial ruin?</a:t>
            </a:r>
          </a:p>
          <a:p>
            <a:pPr lvl="1" fontAlgn="base">
              <a:lnSpc>
                <a:spcPct val="100000"/>
              </a:lnSpc>
              <a:spcBef>
                <a:spcPts val="1000"/>
              </a:spcBef>
              <a:spcAft>
                <a:spcPts val="400"/>
              </a:spcAft>
            </a:pPr>
            <a:r>
              <a:rPr lang="en-US" sz="1700" b="1" dirty="0">
                <a:solidFill>
                  <a:srgbClr val="262626"/>
                </a:solidFill>
                <a:latin typeface="+mn-lt"/>
              </a:rPr>
              <a:t>A complementor that makes itself dependent upon a platform for distribution of its content does take a risk…. </a:t>
            </a:r>
          </a:p>
          <a:p>
            <a:pPr marL="285750" lvl="1" indent="-285750" fontAlgn="base">
              <a:lnSpc>
                <a:spcPct val="100000"/>
              </a:lnSpc>
              <a:spcBef>
                <a:spcPts val="1000"/>
              </a:spcBef>
              <a:spcAft>
                <a:spcPts val="400"/>
              </a:spcAft>
              <a:buFont typeface="Wingdings" pitchFamily="2" charset="2"/>
              <a:buChar char="§"/>
            </a:pPr>
            <a:r>
              <a:rPr lang="en-US" sz="1700" dirty="0">
                <a:solidFill>
                  <a:srgbClr val="262626"/>
                </a:solidFill>
                <a:latin typeface="+mn-lt"/>
              </a:rPr>
              <a:t>Although it may benefit from greater access to users, it places itself at the mercy of the other—or at least faces great difficulty (and great cost) adapting to unanticipated platform changes over which it has no control. </a:t>
            </a:r>
          </a:p>
          <a:p>
            <a:pPr marL="285750" lvl="1" indent="-285750" fontAlgn="base">
              <a:lnSpc>
                <a:spcPct val="100000"/>
              </a:lnSpc>
              <a:spcBef>
                <a:spcPts val="1000"/>
              </a:spcBef>
              <a:spcAft>
                <a:spcPts val="400"/>
              </a:spcAft>
              <a:buFont typeface="Wingdings" pitchFamily="2" charset="2"/>
              <a:buChar char="§"/>
            </a:pPr>
            <a:r>
              <a:rPr lang="en-US" sz="1700" dirty="0">
                <a:solidFill>
                  <a:srgbClr val="262626"/>
                </a:solidFill>
                <a:latin typeface="+mn-lt"/>
              </a:rPr>
              <a:t>But the risk may be a calculated one. </a:t>
            </a:r>
          </a:p>
        </p:txBody>
      </p:sp>
      <p:sp>
        <p:nvSpPr>
          <p:cNvPr id="207" name="Shape 20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590127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6">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328575" y="412154"/>
            <a:ext cx="9230650" cy="692900"/>
          </a:xfrm>
          <a:prstGeom prst="rect">
            <a:avLst/>
          </a:prstGeom>
        </p:spPr>
        <p:txBody>
          <a:bodyPr lIns="99044" tIns="99044" rIns="99044" bIns="99044" anchor="t" anchorCtr="0">
            <a:noAutofit/>
          </a:bodyPr>
          <a:lstStyle/>
          <a:p>
            <a:r>
              <a:rPr lang="en" sz="2800" dirty="0">
                <a:latin typeface="+mj-lt"/>
              </a:rPr>
              <a:t>Google Shopping</a:t>
            </a:r>
          </a:p>
        </p:txBody>
      </p:sp>
      <p:sp>
        <p:nvSpPr>
          <p:cNvPr id="206" name="Shape 206"/>
          <p:cNvSpPr txBox="1">
            <a:spLocks noGrp="1"/>
          </p:cNvSpPr>
          <p:nvPr>
            <p:ph type="body" idx="4294967295"/>
          </p:nvPr>
        </p:nvSpPr>
        <p:spPr>
          <a:xfrm>
            <a:off x="383088" y="1021976"/>
            <a:ext cx="9121624" cy="5423870"/>
          </a:xfrm>
          <a:prstGeom prst="rect">
            <a:avLst/>
          </a:prstGeom>
        </p:spPr>
        <p:txBody>
          <a:bodyPr lIns="99044" tIns="99044" rIns="99044" bIns="99044" anchor="t" anchorCtr="0">
            <a:noAutofit/>
          </a:bodyPr>
          <a:lstStyle/>
          <a:p>
            <a:pPr lvl="1" fontAlgn="base">
              <a:lnSpc>
                <a:spcPct val="100000"/>
              </a:lnSpc>
              <a:spcBef>
                <a:spcPts val="1000"/>
              </a:spcBef>
              <a:spcAft>
                <a:spcPts val="400"/>
              </a:spcAft>
            </a:pPr>
            <a:r>
              <a:rPr lang="en-US" sz="1500" b="1" dirty="0">
                <a:solidFill>
                  <a:srgbClr val="262626"/>
                </a:solidFill>
                <a:latin typeface="+mn-lt"/>
              </a:rPr>
              <a:t>The European Commission asserts that Google’s prioritization of its own shopping results harms competition because it reduces traffic to comparison shopping sites, potentially foreclosing them from minimum viable scale and causing them to under-innovate. </a:t>
            </a:r>
          </a:p>
          <a:p>
            <a:pPr marL="285750" lvl="1" indent="-285750" fontAlgn="base">
              <a:lnSpc>
                <a:spcPct val="100000"/>
              </a:lnSpc>
              <a:spcBef>
                <a:spcPts val="1000"/>
              </a:spcBef>
              <a:spcAft>
                <a:spcPts val="400"/>
              </a:spcAft>
              <a:buFont typeface="Wingdings" pitchFamily="2" charset="2"/>
              <a:buChar char="§"/>
            </a:pPr>
            <a:r>
              <a:rPr lang="en-US" sz="1500" dirty="0">
                <a:solidFill>
                  <a:srgbClr val="262626"/>
                </a:solidFill>
                <a:latin typeface="+mn-lt"/>
              </a:rPr>
              <a:t>The decision does not identify actual consumer harm; it infers it from the reduction in traffic to comparison shopping sites, constituting an alleged impairment of an “effective competition structure.” </a:t>
            </a:r>
          </a:p>
          <a:p>
            <a:pPr lvl="1" fontAlgn="base">
              <a:lnSpc>
                <a:spcPct val="100000"/>
              </a:lnSpc>
              <a:spcBef>
                <a:spcPts val="1000"/>
              </a:spcBef>
              <a:spcAft>
                <a:spcPts val="400"/>
              </a:spcAft>
            </a:pPr>
            <a:r>
              <a:rPr lang="en-US" sz="1500" b="1" dirty="0">
                <a:solidFill>
                  <a:srgbClr val="262626"/>
                </a:solidFill>
                <a:latin typeface="+mn-lt"/>
              </a:rPr>
              <a:t>But the fact that Google creates an opportunity for complementors to rely upon it doesn’t mean that a firm’s decision to do so—and to do so without a viable contingency plan—makes good business sense.</a:t>
            </a:r>
          </a:p>
          <a:p>
            <a:pPr lvl="1" fontAlgn="base">
              <a:lnSpc>
                <a:spcPct val="100000"/>
              </a:lnSpc>
              <a:spcBef>
                <a:spcPts val="1000"/>
              </a:spcBef>
              <a:spcAft>
                <a:spcPts val="400"/>
              </a:spcAft>
            </a:pPr>
            <a:r>
              <a:rPr lang="en-US" sz="1500" b="1" dirty="0">
                <a:solidFill>
                  <a:srgbClr val="262626"/>
                </a:solidFill>
                <a:latin typeface="+mn-lt"/>
              </a:rPr>
              <a:t>The problem with the superficial analysis that assumes harm from the diminution of traffic to independent competitors is this:</a:t>
            </a:r>
          </a:p>
          <a:p>
            <a:pPr marL="285750" lvl="1" indent="-285750" fontAlgn="base">
              <a:lnSpc>
                <a:spcPct val="100000"/>
              </a:lnSpc>
              <a:spcBef>
                <a:spcPts val="1000"/>
              </a:spcBef>
              <a:spcAft>
                <a:spcPts val="400"/>
              </a:spcAft>
              <a:buFont typeface="Wingdings" pitchFamily="2" charset="2"/>
              <a:buChar char="§"/>
            </a:pPr>
            <a:r>
              <a:rPr lang="en-US" sz="1500" dirty="0">
                <a:solidFill>
                  <a:srgbClr val="262626"/>
                </a:solidFill>
                <a:latin typeface="+mn-lt"/>
              </a:rPr>
              <a:t>Protecting complementors from the inherent risk in a business model in which they are entirely dependent upon another company with which they have no contractual relationship is at least as likely to encourage excessive risk taking and inefficient overinvestment as it is to ensure that investment and innovation aren’t too low.</a:t>
            </a:r>
          </a:p>
          <a:p>
            <a:pPr lvl="1" fontAlgn="base">
              <a:lnSpc>
                <a:spcPct val="100000"/>
              </a:lnSpc>
              <a:spcBef>
                <a:spcPts val="1000"/>
              </a:spcBef>
              <a:spcAft>
                <a:spcPts val="400"/>
              </a:spcAft>
            </a:pPr>
            <a:r>
              <a:rPr lang="en-US" sz="1500" b="1" dirty="0">
                <a:solidFill>
                  <a:srgbClr val="262626"/>
                </a:solidFill>
                <a:latin typeface="+mn-lt"/>
              </a:rPr>
              <a:t>And that any given complementor succeeded in the past is no reason to assume it “should” succeed in the future.</a:t>
            </a:r>
          </a:p>
          <a:p>
            <a:pPr marL="285750" lvl="1" indent="-285750" fontAlgn="base">
              <a:lnSpc>
                <a:spcPct val="100000"/>
              </a:lnSpc>
              <a:spcBef>
                <a:spcPts val="1000"/>
              </a:spcBef>
              <a:spcAft>
                <a:spcPts val="400"/>
              </a:spcAft>
              <a:buFont typeface="Wingdings" pitchFamily="2" charset="2"/>
              <a:buChar char="§"/>
            </a:pPr>
            <a:r>
              <a:rPr lang="en-US" sz="1500" dirty="0">
                <a:solidFill>
                  <a:srgbClr val="262626"/>
                </a:solidFill>
                <a:latin typeface="+mn-lt"/>
              </a:rPr>
              <a:t>Nor is it any reason to assume that, freed from the constraints of platform self-preferencing, it would provide any measure of innovation in the future.</a:t>
            </a:r>
          </a:p>
        </p:txBody>
      </p:sp>
      <p:sp>
        <p:nvSpPr>
          <p:cNvPr id="207" name="Shape 20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1364681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6">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328575" y="412154"/>
            <a:ext cx="9230650" cy="692900"/>
          </a:xfrm>
          <a:prstGeom prst="rect">
            <a:avLst/>
          </a:prstGeom>
        </p:spPr>
        <p:txBody>
          <a:bodyPr lIns="99044" tIns="99044" rIns="99044" bIns="99044" anchor="t" anchorCtr="0">
            <a:noAutofit/>
          </a:bodyPr>
          <a:lstStyle/>
          <a:p>
            <a:r>
              <a:rPr lang="en" sz="2800" dirty="0">
                <a:latin typeface="+mj-lt"/>
              </a:rPr>
              <a:t>Platform vs edge innovation</a:t>
            </a:r>
          </a:p>
        </p:txBody>
      </p:sp>
      <p:sp>
        <p:nvSpPr>
          <p:cNvPr id="206" name="Shape 206"/>
          <p:cNvSpPr txBox="1">
            <a:spLocks noGrp="1"/>
          </p:cNvSpPr>
          <p:nvPr>
            <p:ph type="body" idx="4294967295"/>
          </p:nvPr>
        </p:nvSpPr>
        <p:spPr>
          <a:xfrm>
            <a:off x="383088" y="1021976"/>
            <a:ext cx="9121624" cy="5423870"/>
          </a:xfrm>
          <a:prstGeom prst="rect">
            <a:avLst/>
          </a:prstGeom>
        </p:spPr>
        <p:txBody>
          <a:bodyPr lIns="99044" tIns="99044" rIns="99044" bIns="99044" anchor="t" anchorCtr="0">
            <a:noAutofit/>
          </a:bodyPr>
          <a:lstStyle/>
          <a:p>
            <a:pPr lvl="1" fontAlgn="base">
              <a:lnSpc>
                <a:spcPct val="100000"/>
              </a:lnSpc>
              <a:spcBef>
                <a:spcPts val="1000"/>
              </a:spcBef>
              <a:spcAft>
                <a:spcPts val="400"/>
              </a:spcAft>
            </a:pPr>
            <a:endParaRPr lang="en-US" sz="1700" b="1" dirty="0">
              <a:solidFill>
                <a:srgbClr val="262626"/>
              </a:solidFill>
              <a:latin typeface="+mn-lt"/>
            </a:endParaRPr>
          </a:p>
          <a:p>
            <a:pPr lvl="1" fontAlgn="base">
              <a:lnSpc>
                <a:spcPct val="100000"/>
              </a:lnSpc>
              <a:spcBef>
                <a:spcPts val="1000"/>
              </a:spcBef>
              <a:spcAft>
                <a:spcPts val="400"/>
              </a:spcAft>
            </a:pPr>
            <a:r>
              <a:rPr lang="en-US" sz="1700" b="1" dirty="0">
                <a:solidFill>
                  <a:srgbClr val="262626"/>
                </a:solidFill>
                <a:latin typeface="+mn-lt"/>
              </a:rPr>
              <a:t>Concerns about platform appropriation of edge innovations (or other advantages) discount to zero the benefits of platform innovation. </a:t>
            </a:r>
          </a:p>
          <a:p>
            <a:pPr marL="285750" lvl="1" indent="-285750" fontAlgn="base">
              <a:lnSpc>
                <a:spcPct val="100000"/>
              </a:lnSpc>
              <a:spcBef>
                <a:spcPts val="1000"/>
              </a:spcBef>
              <a:spcAft>
                <a:spcPts val="400"/>
              </a:spcAft>
              <a:buFont typeface="Wingdings" pitchFamily="2" charset="2"/>
              <a:buChar char="§"/>
            </a:pPr>
            <a:r>
              <a:rPr lang="en-US" sz="1700" dirty="0">
                <a:solidFill>
                  <a:srgbClr val="262626"/>
                </a:solidFill>
                <a:latin typeface="+mn-lt"/>
              </a:rPr>
              <a:t>Appropriation of edge innovation and its incorporation into the platform greatly enhances the innovation’s value by sharing it more broadly, ensuring its coherence with the platform, incentivizing optimal marketing and promotion, and the like. </a:t>
            </a:r>
          </a:p>
          <a:p>
            <a:pPr lvl="1" fontAlgn="base">
              <a:lnSpc>
                <a:spcPct val="100000"/>
              </a:lnSpc>
              <a:spcBef>
                <a:spcPts val="1000"/>
              </a:spcBef>
              <a:spcAft>
                <a:spcPts val="400"/>
              </a:spcAft>
            </a:pPr>
            <a:r>
              <a:rPr lang="en-US" sz="1700" b="1" dirty="0">
                <a:solidFill>
                  <a:srgbClr val="262626"/>
                </a:solidFill>
                <a:latin typeface="+mn-lt"/>
              </a:rPr>
              <a:t>Consumers benefit when platforms innovate, at least as much as they benefit from edge innovation. </a:t>
            </a:r>
          </a:p>
          <a:p>
            <a:pPr marL="285750" lvl="1" indent="-285750" fontAlgn="base">
              <a:lnSpc>
                <a:spcPct val="100000"/>
              </a:lnSpc>
              <a:spcBef>
                <a:spcPts val="1000"/>
              </a:spcBef>
              <a:spcAft>
                <a:spcPts val="400"/>
              </a:spcAft>
              <a:buFont typeface="Wingdings" pitchFamily="2" charset="2"/>
              <a:buChar char="§"/>
            </a:pPr>
            <a:r>
              <a:rPr lang="en-US" sz="1700" dirty="0">
                <a:solidFill>
                  <a:srgbClr val="262626"/>
                </a:solidFill>
                <a:latin typeface="+mn-lt"/>
              </a:rPr>
              <a:t>And when a platform implements a new technology or business process, those benefits are conferred on all platform users; when an edge company does so the benefits are conferred only on the subset of platform users who interact with the particular edge provider.</a:t>
            </a:r>
          </a:p>
          <a:p>
            <a:pPr marL="285750" lvl="1" indent="-285750" fontAlgn="base">
              <a:lnSpc>
                <a:spcPct val="100000"/>
              </a:lnSpc>
              <a:spcBef>
                <a:spcPts val="1000"/>
              </a:spcBef>
              <a:spcAft>
                <a:spcPts val="400"/>
              </a:spcAft>
              <a:buFont typeface="Wingdings" pitchFamily="2" charset="2"/>
              <a:buChar char="§"/>
            </a:pPr>
            <a:r>
              <a:rPr lang="en-US" sz="1700" dirty="0">
                <a:solidFill>
                  <a:srgbClr val="262626"/>
                </a:solidFill>
                <a:latin typeface="+mn-lt"/>
              </a:rPr>
              <a:t>Facebook/Snapchat</a:t>
            </a:r>
          </a:p>
        </p:txBody>
      </p:sp>
      <p:sp>
        <p:nvSpPr>
          <p:cNvPr id="207" name="Shape 207"/>
          <p:cNvSpPr/>
          <p:nvPr/>
        </p:nvSpPr>
        <p:spPr>
          <a:xfrm>
            <a:off x="0" y="6613600"/>
            <a:ext cx="9906000" cy="244400"/>
          </a:xfrm>
          <a:prstGeom prst="rect">
            <a:avLst/>
          </a:prstGeom>
          <a:solidFill>
            <a:schemeClr val="accent5"/>
          </a:solidFill>
          <a:ln w="9525" cap="flat" cmpd="sng">
            <a:solidFill>
              <a:schemeClr val="accent5"/>
            </a:solidFill>
            <a:prstDash val="solid"/>
            <a:round/>
            <a:headEnd type="none" w="med" len="med"/>
            <a:tailEnd type="none" w="med" len="med"/>
          </a:ln>
        </p:spPr>
        <p:txBody>
          <a:bodyPr lIns="99044" tIns="99044" rIns="99044" bIns="99044" anchor="ctr" anchorCtr="0">
            <a:noAutofit/>
          </a:bodyPr>
          <a:lstStyle/>
          <a:p>
            <a:endParaRPr sz="1517" dirty="0"/>
          </a:p>
        </p:txBody>
      </p:sp>
    </p:spTree>
    <p:extLst>
      <p:ext uri="{BB962C8B-B14F-4D97-AF65-F5344CB8AC3E}">
        <p14:creationId xmlns:p14="http://schemas.microsoft.com/office/powerpoint/2010/main" val="3521926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6">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212" name="Shape 212" descr="ICLE_LOGO_Invoice copy.png"/>
          <p:cNvPicPr preferRelativeResize="0"/>
          <p:nvPr/>
        </p:nvPicPr>
        <p:blipFill>
          <a:blip r:embed="rId3">
            <a:alphaModFix/>
          </a:blip>
          <a:stretch>
            <a:fillRect/>
          </a:stretch>
        </p:blipFill>
        <p:spPr>
          <a:xfrm>
            <a:off x="171168" y="2861034"/>
            <a:ext cx="4632982" cy="1135930"/>
          </a:xfrm>
          <a:prstGeom prst="rect">
            <a:avLst/>
          </a:prstGeom>
          <a:noFill/>
          <a:ln>
            <a:noFill/>
          </a:ln>
        </p:spPr>
      </p:pic>
    </p:spTree>
  </p:cSld>
  <p:clrMapOvr>
    <a:masterClrMapping/>
  </p:clrMapOvr>
</p:sld>
</file>

<file path=ppt/theme/theme1.xml><?xml version="1.0" encoding="utf-8"?>
<a:theme xmlns:a="http://schemas.openxmlformats.org/drawingml/2006/main" name="swiss-2">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Century Gothic-Palatino Linotyp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B2D9D38E46A8B4FB8D21064B1C15278" ma:contentTypeVersion="6" ma:contentTypeDescription="Create a new document." ma:contentTypeScope="" ma:versionID="009e202dcad7aadfaaef96989a60ae26">
  <xsd:schema xmlns:xsd="http://www.w3.org/2001/XMLSchema" xmlns:xs="http://www.w3.org/2001/XMLSchema" xmlns:p="http://schemas.microsoft.com/office/2006/metadata/properties" xmlns:ns2="b3661ad8-e2c7-4666-8525-365b27ab6cc5" xmlns:ns3="fcbfe409-0b3a-4b0c-a6fb-103a7822b906" targetNamespace="http://schemas.microsoft.com/office/2006/metadata/properties" ma:root="true" ma:fieldsID="8d6448c53080d79c1a2ef5c4b330cab3" ns2:_="" ns3:_="">
    <xsd:import namespace="b3661ad8-e2c7-4666-8525-365b27ab6cc5"/>
    <xsd:import namespace="fcbfe409-0b3a-4b0c-a6fb-103a7822b90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661ad8-e2c7-4666-8525-365b27ab6cc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cbfe409-0b3a-4b0c-a6fb-103a7822b90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3B4CC09-14F7-4771-A1E1-C24FECF89C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661ad8-e2c7-4666-8525-365b27ab6cc5"/>
    <ds:schemaRef ds:uri="fcbfe409-0b3a-4b0c-a6fb-103a7822b9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BA19FE7-1822-4E32-8540-1A3F2532A587}">
  <ds:schemaRefs>
    <ds:schemaRef ds:uri="http://schemas.microsoft.com/sharepoint/v3/contenttype/forms"/>
  </ds:schemaRefs>
</ds:datastoreItem>
</file>

<file path=customXml/itemProps3.xml><?xml version="1.0" encoding="utf-8"?>
<ds:datastoreItem xmlns:ds="http://schemas.openxmlformats.org/officeDocument/2006/customXml" ds:itemID="{BEBDAFBB-F9D0-4691-A8E1-61B97DE379E5}">
  <ds:schemaRefs>
    <ds:schemaRef ds:uri="http://schemas.microsoft.com/office/infopath/2007/PartnerControls"/>
    <ds:schemaRef ds:uri="http://schemas.microsoft.com/office/2006/metadata/properties"/>
    <ds:schemaRef ds:uri="b3661ad8-e2c7-4666-8525-365b27ab6cc5"/>
    <ds:schemaRef ds:uri="http://schemas.openxmlformats.org/package/2006/metadata/core-properties"/>
    <ds:schemaRef ds:uri="http://purl.org/dc/elements/1.1/"/>
    <ds:schemaRef ds:uri="http://purl.org/dc/dcmitype/"/>
    <ds:schemaRef ds:uri="http://purl.org/dc/terms/"/>
    <ds:schemaRef ds:uri="http://schemas.microsoft.com/office/2006/documentManagement/types"/>
    <ds:schemaRef ds:uri="fcbfe409-0b3a-4b0c-a6fb-103a7822b906"/>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5634</TotalTime>
  <Words>7420</Words>
  <Application>Microsoft Macintosh PowerPoint</Application>
  <PresentationFormat>A4 Paper (210x297 mm)</PresentationFormat>
  <Paragraphs>312</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Andale Mono</vt:lpstr>
      <vt:lpstr>Arial</vt:lpstr>
      <vt:lpstr>Century Gothic</vt:lpstr>
      <vt:lpstr>Lato</vt:lpstr>
      <vt:lpstr>Palatino Linotype</vt:lpstr>
      <vt:lpstr>Raleway</vt:lpstr>
      <vt:lpstr>Wingdings</vt:lpstr>
      <vt:lpstr>swiss-2</vt:lpstr>
      <vt:lpstr>PowerPoint Presentation</vt:lpstr>
      <vt:lpstr>Kill Zones, Killer Acquisitions &amp; Anticompetitive Appropriation</vt:lpstr>
      <vt:lpstr>Potential Competition</vt:lpstr>
      <vt:lpstr>Potential Competition: Error Costs</vt:lpstr>
      <vt:lpstr>Killer Acquisitions – Cunningham, et al. (2019)</vt:lpstr>
      <vt:lpstr>Missing value of drugs with and without acquisition  </vt:lpstr>
      <vt:lpstr>Optimal investment incentives  </vt:lpstr>
      <vt:lpstr>Optimal investment incentives  </vt:lpstr>
      <vt:lpstr>Lemley &amp; McCreary (2020)</vt:lpstr>
      <vt:lpstr>Some issues with the assumptions</vt:lpstr>
      <vt:lpstr>What does the but-for world look like?</vt:lpstr>
      <vt:lpstr>Relationship between IPOs and VC</vt:lpstr>
      <vt:lpstr>Kamepalli, Rajan &amp; Zingales (2019) </vt:lpstr>
      <vt:lpstr>Kamepalli, Rajan &amp; Zingales (2019) </vt:lpstr>
      <vt:lpstr>Kamepalli, Rajan &amp; Zingales (2019) </vt:lpstr>
      <vt:lpstr>Kamepalli, Rajan &amp; Zingales (2019) </vt:lpstr>
      <vt:lpstr>Maybe the right solution is stronger IP </vt:lpstr>
      <vt:lpstr>Bryan &amp; Hovenkamp (2020) </vt:lpstr>
      <vt:lpstr>Anticompetitive Appropriation / Self-preferencing</vt:lpstr>
      <vt:lpstr>Anticompetitive Appropriation / Self-preferencing</vt:lpstr>
      <vt:lpstr>Anticompetitive Appropriation / Self-preferencing</vt:lpstr>
      <vt:lpstr>Google Shopping</vt:lpstr>
      <vt:lpstr>Platform vs edge innovation</vt:lpstr>
      <vt:lpstr>PowerPoint Presentation</vt:lpstr>
    </vt:vector>
  </TitlesOfParts>
  <Manager/>
  <Company>ICLE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Geoffrey Manne</dc:creator>
  <cp:keywords/>
  <dc:description/>
  <cp:lastModifiedBy>Geoffrey Manne</cp:lastModifiedBy>
  <cp:revision>55</cp:revision>
  <dcterms:modified xsi:type="dcterms:W3CDTF">2020-09-12T20:29:14Z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0x0101001B2D9D38E46A8B4FB8D21064B1C15278</vt:lpwstr>
  </property>
</Properties>
</file>