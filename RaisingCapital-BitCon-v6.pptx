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93" r:id="rId3"/>
    <p:sldId id="322" r:id="rId4"/>
    <p:sldId id="351" r:id="rId5"/>
    <p:sldId id="347" r:id="rId6"/>
    <p:sldId id="333" r:id="rId7"/>
    <p:sldId id="344" r:id="rId8"/>
    <p:sldId id="325" r:id="rId9"/>
    <p:sldId id="324" r:id="rId10"/>
    <p:sldId id="327" r:id="rId11"/>
    <p:sldId id="326" r:id="rId12"/>
    <p:sldId id="348" r:id="rId13"/>
    <p:sldId id="329" r:id="rId14"/>
    <p:sldId id="354" r:id="rId15"/>
    <p:sldId id="345" r:id="rId16"/>
    <p:sldId id="346" r:id="rId17"/>
    <p:sldId id="335" r:id="rId18"/>
    <p:sldId id="332" r:id="rId19"/>
    <p:sldId id="330" r:id="rId20"/>
    <p:sldId id="334" r:id="rId21"/>
    <p:sldId id="328" r:id="rId22"/>
    <p:sldId id="350" r:id="rId23"/>
    <p:sldId id="349" r:id="rId24"/>
    <p:sldId id="352" r:id="rId25"/>
    <p:sldId id="331" r:id="rId26"/>
    <p:sldId id="353" r:id="rId27"/>
    <p:sldId id="319" r:id="rId28"/>
    <p:sldId id="323" r:id="rId29"/>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21838" autoAdjust="0"/>
    <p:restoredTop sz="94660"/>
  </p:normalViewPr>
  <p:slideViewPr>
    <p:cSldViewPr snapToGrid="0">
      <p:cViewPr varScale="1">
        <p:scale>
          <a:sx n="69" d="100"/>
          <a:sy n="69" d="100"/>
        </p:scale>
        <p:origin x="420" y="66"/>
      </p:cViewPr>
      <p:guideLst/>
    </p:cSldViewPr>
  </p:slideViewPr>
  <p:notesTextViewPr>
    <p:cViewPr>
      <p:scale>
        <a:sx n="1" d="1"/>
        <a:sy n="1" d="1"/>
      </p:scale>
      <p:origin x="0" y="0"/>
    </p:cViewPr>
  </p:notesTextViewPr>
  <p:sorterViewPr>
    <p:cViewPr varScale="1">
      <p:scale>
        <a:sx n="1" d="1"/>
        <a:sy n="1" d="1"/>
      </p:scale>
      <p:origin x="0" y="-1081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10/11/2018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5194320" y="6468095"/>
            <a:ext cx="683339" cy="365125"/>
          </a:xfrm>
        </p:spPr>
        <p:txBody>
          <a:bodyPr/>
          <a:lstStyle>
            <a:lvl1pPr algn="ctr">
              <a:defRPr/>
            </a:lvl1pPr>
          </a:lstStyle>
          <a:p>
            <a:fld id="{D57F1E4F-1CFF-5643-939E-217C01CDF565}"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dirty="0"/>
              <a:t>10/11/2018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10/11/2018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dirty="0"/>
              <a:t>10/11/2018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10/11/2018</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10/11/2018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10/11/2018</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10/11/2018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10/11/2018</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10/11/2018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10/11/2018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10/11/2018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10/11/2018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10/11/2018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10/11/2018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10/11/2018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10/11/2018</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6.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5" Type="http://schemas.openxmlformats.org/officeDocument/2006/relationships/image" Target="../media/image3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image" Target="../media/image38.png"/></Relationships>
</file>

<file path=ppt/slides/_rels/slide11.xml.rels><?xml version="1.0" encoding="UTF-8" standalone="yes"?>
<Relationships xmlns="http://schemas.openxmlformats.org/package/2006/relationships"><Relationship Id="rId8" Type="http://schemas.openxmlformats.org/officeDocument/2006/relationships/hyperlink" Target="http://www.linkedin.com/in/dancurran" TargetMode="External"/><Relationship Id="rId3" Type="http://schemas.openxmlformats.org/officeDocument/2006/relationships/hyperlink" Target="http://www.linkedin.com/in/paulbuchheit" TargetMode="External"/><Relationship Id="rId7" Type="http://schemas.openxmlformats.org/officeDocument/2006/relationships/hyperlink" Target="http://www.linkedin.com/in/navalr" TargetMode="External"/><Relationship Id="rId2" Type="http://schemas.openxmlformats.org/officeDocument/2006/relationships/hyperlink" Target="http://www.linkedin.com/in/fabricegrinda" TargetMode="External"/><Relationship Id="rId1" Type="http://schemas.openxmlformats.org/officeDocument/2006/relationships/slideLayout" Target="../slideLayouts/slideLayout2.xml"/><Relationship Id="rId6" Type="http://schemas.openxmlformats.org/officeDocument/2006/relationships/hyperlink" Target="http://www.linkedin.com/in/banister" TargetMode="External"/><Relationship Id="rId11" Type="http://schemas.openxmlformats.org/officeDocument/2006/relationships/hyperlink" Target="https://www.linkedin.com/in/simonmurdoch" TargetMode="External"/><Relationship Id="rId5" Type="http://schemas.openxmlformats.org/officeDocument/2006/relationships/hyperlink" Target="http://www.linkedin.com/in/alexisohanian" TargetMode="External"/><Relationship Id="rId10" Type="http://schemas.openxmlformats.org/officeDocument/2006/relationships/hyperlink" Target="https://www.linkedin.com/in/mark-cuban-06a0755b" TargetMode="External"/><Relationship Id="rId4" Type="http://schemas.openxmlformats.org/officeDocument/2006/relationships/hyperlink" Target="https://www.linkedin.com/in/wei-guo-b9b76038/" TargetMode="External"/><Relationship Id="rId9" Type="http://schemas.openxmlformats.org/officeDocument/2006/relationships/hyperlink" Target="http://www.linkedin.com/in/marcbenioff"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png"/></Relationships>
</file>

<file path=ppt/slides/_rels/slide2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59.png"/><Relationship Id="rId7" Type="http://schemas.openxmlformats.org/officeDocument/2006/relationships/image" Target="../media/image63.png"/><Relationship Id="rId2"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2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 Id="rId4" Type="http://schemas.openxmlformats.org/officeDocument/2006/relationships/image" Target="../media/image6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B4DCC-3855-4CB5-8DB8-21ECA421D4BF}"/>
              </a:ext>
            </a:extLst>
          </p:cNvPr>
          <p:cNvSpPr>
            <a:spLocks noGrp="1"/>
          </p:cNvSpPr>
          <p:nvPr>
            <p:ph type="ctrTitle"/>
          </p:nvPr>
        </p:nvSpPr>
        <p:spPr>
          <a:xfrm>
            <a:off x="913916" y="2872482"/>
            <a:ext cx="10383343" cy="1236891"/>
          </a:xfrm>
        </p:spPr>
        <p:txBody>
          <a:bodyPr/>
          <a:lstStyle/>
          <a:p>
            <a:pPr algn="ctr"/>
            <a:r>
              <a:rPr lang="en-US" sz="8000" b="1" dirty="0"/>
              <a:t>Raising Capital</a:t>
            </a:r>
            <a:endParaRPr lang="en-US" sz="8000" b="1" i="1" dirty="0"/>
          </a:p>
        </p:txBody>
      </p:sp>
      <p:sp>
        <p:nvSpPr>
          <p:cNvPr id="3" name="Subtitle 2">
            <a:extLst>
              <a:ext uri="{FF2B5EF4-FFF2-40B4-BE49-F238E27FC236}">
                <a16:creationId xmlns:a16="http://schemas.microsoft.com/office/drawing/2014/main" id="{3A8D1754-E0EB-4CB3-A4E6-C6A3743ECCD3}"/>
              </a:ext>
            </a:extLst>
          </p:cNvPr>
          <p:cNvSpPr>
            <a:spLocks noGrp="1"/>
          </p:cNvSpPr>
          <p:nvPr>
            <p:ph type="subTitle" idx="1"/>
          </p:nvPr>
        </p:nvSpPr>
        <p:spPr>
          <a:xfrm>
            <a:off x="2566696" y="4559125"/>
            <a:ext cx="7060851" cy="1327248"/>
          </a:xfrm>
        </p:spPr>
        <p:txBody>
          <a:bodyPr>
            <a:normAutofit/>
          </a:bodyPr>
          <a:lstStyle/>
          <a:p>
            <a:pPr algn="ctr"/>
            <a:r>
              <a:rPr lang="en-US" sz="2800" dirty="0">
                <a:solidFill>
                  <a:srgbClr val="0070C0"/>
                </a:solidFill>
              </a:rPr>
              <a:t>Andrew Kelley, III</a:t>
            </a:r>
          </a:p>
          <a:p>
            <a:pPr algn="ctr"/>
            <a:r>
              <a:rPr lang="en-US" sz="2800" dirty="0"/>
              <a:t>CEO, Bell Creek Partners</a:t>
            </a:r>
          </a:p>
        </p:txBody>
      </p:sp>
      <p:pic>
        <p:nvPicPr>
          <p:cNvPr id="4" name="Picture 3">
            <a:extLst>
              <a:ext uri="{FF2B5EF4-FFF2-40B4-BE49-F238E27FC236}">
                <a16:creationId xmlns:a16="http://schemas.microsoft.com/office/drawing/2014/main" id="{6251132A-F611-4EE7-997C-1FADD32DCF8D}"/>
              </a:ext>
            </a:extLst>
          </p:cNvPr>
          <p:cNvPicPr>
            <a:picLocks noChangeAspect="1"/>
          </p:cNvPicPr>
          <p:nvPr/>
        </p:nvPicPr>
        <p:blipFill>
          <a:blip r:embed="rId2"/>
          <a:stretch>
            <a:fillRect/>
          </a:stretch>
        </p:blipFill>
        <p:spPr>
          <a:xfrm>
            <a:off x="4154728" y="483677"/>
            <a:ext cx="3910265" cy="1955132"/>
          </a:xfrm>
          <a:prstGeom prst="rect">
            <a:avLst/>
          </a:prstGeom>
        </p:spPr>
      </p:pic>
      <p:sp>
        <p:nvSpPr>
          <p:cNvPr id="5" name="TextBox 4">
            <a:extLst>
              <a:ext uri="{FF2B5EF4-FFF2-40B4-BE49-F238E27FC236}">
                <a16:creationId xmlns:a16="http://schemas.microsoft.com/office/drawing/2014/main" id="{3C69E36D-4FD6-4F0A-B71F-86B91EB7F3CA}"/>
              </a:ext>
            </a:extLst>
          </p:cNvPr>
          <p:cNvSpPr txBox="1"/>
          <p:nvPr/>
        </p:nvSpPr>
        <p:spPr>
          <a:xfrm>
            <a:off x="4700153" y="6360468"/>
            <a:ext cx="3210044" cy="338554"/>
          </a:xfrm>
          <a:prstGeom prst="rect">
            <a:avLst/>
          </a:prstGeom>
          <a:noFill/>
        </p:spPr>
        <p:txBody>
          <a:bodyPr wrap="square" rtlCol="0">
            <a:spAutoFit/>
          </a:bodyPr>
          <a:lstStyle/>
          <a:p>
            <a:pPr algn="ctr"/>
            <a:r>
              <a:rPr lang="en-US" sz="1600" dirty="0"/>
              <a:t>www.linkedin.com/in/kelleyan</a:t>
            </a:r>
          </a:p>
        </p:txBody>
      </p:sp>
    </p:spTree>
    <p:extLst>
      <p:ext uri="{BB962C8B-B14F-4D97-AF65-F5344CB8AC3E}">
        <p14:creationId xmlns:p14="http://schemas.microsoft.com/office/powerpoint/2010/main" val="37606347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AC4CE-D3B5-4439-B956-3255F6621C36}"/>
              </a:ext>
            </a:extLst>
          </p:cNvPr>
          <p:cNvSpPr>
            <a:spLocks noGrp="1"/>
          </p:cNvSpPr>
          <p:nvPr>
            <p:ph type="title"/>
          </p:nvPr>
        </p:nvSpPr>
        <p:spPr/>
        <p:txBody>
          <a:bodyPr/>
          <a:lstStyle/>
          <a:p>
            <a:r>
              <a:rPr lang="en-US" dirty="0"/>
              <a:t>Legal Disclaimer</a:t>
            </a:r>
          </a:p>
        </p:txBody>
      </p:sp>
      <p:sp>
        <p:nvSpPr>
          <p:cNvPr id="3" name="Content Placeholder 2">
            <a:extLst>
              <a:ext uri="{FF2B5EF4-FFF2-40B4-BE49-F238E27FC236}">
                <a16:creationId xmlns:a16="http://schemas.microsoft.com/office/drawing/2014/main" id="{3AFAC7C7-4EEC-429E-A6F2-1A12A10D00EC}"/>
              </a:ext>
            </a:extLst>
          </p:cNvPr>
          <p:cNvSpPr>
            <a:spLocks noGrp="1"/>
          </p:cNvSpPr>
          <p:nvPr>
            <p:ph idx="1"/>
          </p:nvPr>
        </p:nvSpPr>
        <p:spPr>
          <a:xfrm>
            <a:off x="691187" y="1369955"/>
            <a:ext cx="8960813" cy="5056400"/>
          </a:xfrm>
        </p:spPr>
        <p:txBody>
          <a:bodyPr>
            <a:normAutofit lnSpcReduction="10000"/>
          </a:bodyPr>
          <a:lstStyle/>
          <a:p>
            <a:pPr marL="0" indent="0" algn="just">
              <a:spcBef>
                <a:spcPts val="800"/>
              </a:spcBef>
              <a:spcAft>
                <a:spcPts val="800"/>
              </a:spcAft>
              <a:buNone/>
            </a:pPr>
            <a:r>
              <a:rPr lang="en-US" sz="1600" dirty="0"/>
              <a:t>Bell Creek Partners is the d.b.a. for Exfitech, LLC which is a Delaware limited liability corporation providing management consulting services to private equity firms.</a:t>
            </a:r>
          </a:p>
          <a:p>
            <a:pPr marL="0" indent="0" algn="just">
              <a:spcBef>
                <a:spcPts val="800"/>
              </a:spcBef>
              <a:spcAft>
                <a:spcPts val="800"/>
              </a:spcAft>
              <a:buNone/>
            </a:pPr>
            <a:r>
              <a:rPr lang="en-US" sz="1600" dirty="0"/>
              <a:t>The information provided herein is for informational purposes only, should not be considered legal or financial advice, and you should consult with an attorney to determine or registered investment professional should you need to raise capital.</a:t>
            </a:r>
          </a:p>
          <a:p>
            <a:pPr marL="0" indent="0" algn="just">
              <a:spcBef>
                <a:spcPts val="800"/>
              </a:spcBef>
              <a:spcAft>
                <a:spcPts val="800"/>
              </a:spcAft>
              <a:buNone/>
            </a:pPr>
            <a:r>
              <a:rPr lang="en-US" sz="1600" dirty="0"/>
              <a:t>Bell Creek Partners nor any of its principals, directors, employees or representatives is providing you any investment advice.</a:t>
            </a:r>
          </a:p>
          <a:p>
            <a:pPr marL="0" indent="0" algn="just">
              <a:spcBef>
                <a:spcPts val="800"/>
              </a:spcBef>
              <a:spcAft>
                <a:spcPts val="800"/>
              </a:spcAft>
              <a:buNone/>
            </a:pPr>
            <a:r>
              <a:rPr lang="en-US" sz="1600" dirty="0"/>
              <a:t>Bell Creek Partners assumes no responsibility or liability for any errors or omissions in this content which is provided on an “as is” basis with no guarantees of completeness, accuracy, usefulness or timeliness.</a:t>
            </a:r>
          </a:p>
          <a:p>
            <a:pPr marL="0" indent="0" algn="just">
              <a:spcBef>
                <a:spcPts val="800"/>
              </a:spcBef>
              <a:spcAft>
                <a:spcPts val="800"/>
              </a:spcAft>
              <a:buNone/>
            </a:pPr>
            <a:r>
              <a:rPr lang="en-US" sz="1600" dirty="0"/>
              <a:t>Bell Creek Partners is not an investment adviser, and is not registered with the Securities and Exchange Commission (SEC) or any state regulator and the company does not endorse or recommend the purchase or sale of any securities. </a:t>
            </a:r>
          </a:p>
          <a:p>
            <a:pPr marL="0" indent="0" algn="just">
              <a:spcBef>
                <a:spcPts val="800"/>
              </a:spcBef>
              <a:spcAft>
                <a:spcPts val="800"/>
              </a:spcAft>
              <a:buNone/>
            </a:pPr>
            <a:r>
              <a:rPr lang="en-US" sz="1600" dirty="0"/>
              <a:t>Bell Creek Partners is not a registered broker-dealer and is not regulated by the Financial Industry Regulatory Association (FINRA).</a:t>
            </a:r>
          </a:p>
          <a:p>
            <a:pPr marL="0" indent="0" algn="just">
              <a:spcBef>
                <a:spcPts val="800"/>
              </a:spcBef>
              <a:spcAft>
                <a:spcPts val="800"/>
              </a:spcAft>
              <a:buNone/>
            </a:pPr>
            <a:r>
              <a:rPr lang="en-US" sz="1600" dirty="0"/>
              <a:t>All logos, trademarks, services marks, etc are the property of their respective owners.</a:t>
            </a:r>
          </a:p>
        </p:txBody>
      </p:sp>
      <p:sp>
        <p:nvSpPr>
          <p:cNvPr id="5" name="TextBox 4">
            <a:extLst>
              <a:ext uri="{FF2B5EF4-FFF2-40B4-BE49-F238E27FC236}">
                <a16:creationId xmlns:a16="http://schemas.microsoft.com/office/drawing/2014/main" id="{728675B2-B3FE-418C-ACB3-67E8BBB9278B}"/>
              </a:ext>
            </a:extLst>
          </p:cNvPr>
          <p:cNvSpPr txBox="1"/>
          <p:nvPr/>
        </p:nvSpPr>
        <p:spPr>
          <a:xfrm>
            <a:off x="4282925" y="6424699"/>
            <a:ext cx="2934628" cy="369332"/>
          </a:xfrm>
          <a:prstGeom prst="rect">
            <a:avLst/>
          </a:prstGeom>
          <a:noFill/>
        </p:spPr>
        <p:txBody>
          <a:bodyPr wrap="square" rtlCol="0">
            <a:spAutoFit/>
          </a:bodyPr>
          <a:lstStyle/>
          <a:p>
            <a:pPr algn="ctr"/>
            <a:r>
              <a:rPr lang="en-US" b="1" dirty="0">
                <a:solidFill>
                  <a:schemeClr val="accent2"/>
                </a:solidFill>
              </a:rPr>
              <a:t>Private &amp; Confidential</a:t>
            </a:r>
          </a:p>
        </p:txBody>
      </p:sp>
      <p:sp>
        <p:nvSpPr>
          <p:cNvPr id="6" name="Slide Number Placeholder 5">
            <a:extLst>
              <a:ext uri="{FF2B5EF4-FFF2-40B4-BE49-F238E27FC236}">
                <a16:creationId xmlns:a16="http://schemas.microsoft.com/office/drawing/2014/main" id="{A2C05D67-1851-4DC8-BBCE-A1B39D427EEA}"/>
              </a:ext>
            </a:extLst>
          </p:cNvPr>
          <p:cNvSpPr>
            <a:spLocks noGrp="1"/>
          </p:cNvSpPr>
          <p:nvPr>
            <p:ph type="sldNum" sz="quarter" idx="12"/>
          </p:nvPr>
        </p:nvSpPr>
        <p:spPr>
          <a:xfrm>
            <a:off x="11368969" y="6415051"/>
            <a:ext cx="751673" cy="365125"/>
          </a:xfrm>
        </p:spPr>
        <p:txBody>
          <a:bodyPr/>
          <a:lstStyle/>
          <a:p>
            <a:pPr algn="ctr"/>
            <a:fld id="{519954A3-9DFD-4C44-94BA-B95130A3BA1C}" type="slidenum">
              <a:rPr lang="en-US" sz="1400" dirty="0">
                <a:solidFill>
                  <a:schemeClr val="bg1"/>
                </a:solidFill>
              </a:rPr>
              <a:pPr algn="ctr"/>
              <a:t>2</a:t>
            </a:fld>
            <a:endParaRPr lang="en-US" sz="1400" dirty="0">
              <a:solidFill>
                <a:schemeClr val="bg1"/>
              </a:solidFill>
            </a:endParaRPr>
          </a:p>
        </p:txBody>
      </p:sp>
    </p:spTree>
    <p:extLst>
      <p:ext uri="{BB962C8B-B14F-4D97-AF65-F5344CB8AC3E}">
        <p14:creationId xmlns:p14="http://schemas.microsoft.com/office/powerpoint/2010/main" val="983770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AC4CE-D3B5-4439-B956-3255F6621C36}"/>
              </a:ext>
            </a:extLst>
          </p:cNvPr>
          <p:cNvSpPr>
            <a:spLocks noGrp="1"/>
          </p:cNvSpPr>
          <p:nvPr>
            <p:ph type="title"/>
          </p:nvPr>
        </p:nvSpPr>
        <p:spPr/>
        <p:txBody>
          <a:bodyPr/>
          <a:lstStyle/>
          <a:p>
            <a:r>
              <a:rPr lang="en-US" dirty="0"/>
              <a:t>Biography:   Andrew Kelley, III</a:t>
            </a:r>
          </a:p>
        </p:txBody>
      </p:sp>
      <p:sp>
        <p:nvSpPr>
          <p:cNvPr id="3" name="Content Placeholder 2">
            <a:extLst>
              <a:ext uri="{FF2B5EF4-FFF2-40B4-BE49-F238E27FC236}">
                <a16:creationId xmlns:a16="http://schemas.microsoft.com/office/drawing/2014/main" id="{3AFAC7C7-4EEC-429E-A6F2-1A12A10D00EC}"/>
              </a:ext>
            </a:extLst>
          </p:cNvPr>
          <p:cNvSpPr>
            <a:spLocks noGrp="1"/>
          </p:cNvSpPr>
          <p:nvPr>
            <p:ph idx="1"/>
          </p:nvPr>
        </p:nvSpPr>
        <p:spPr>
          <a:xfrm>
            <a:off x="3100500" y="1231405"/>
            <a:ext cx="6523791" cy="3299027"/>
          </a:xfrm>
        </p:spPr>
        <p:txBody>
          <a:bodyPr>
            <a:normAutofit fontScale="92500"/>
          </a:bodyPr>
          <a:lstStyle/>
          <a:p>
            <a:pPr marL="0" indent="0" algn="just">
              <a:spcBef>
                <a:spcPts val="800"/>
              </a:spcBef>
              <a:spcAft>
                <a:spcPts val="800"/>
              </a:spcAft>
              <a:buNone/>
            </a:pPr>
            <a:r>
              <a:rPr lang="en-US" sz="1600" dirty="0"/>
              <a:t>Andrew Kelley is a global technology executive.  He is CEO of Bell Creek Partners consulting to lower middle market private equity firms.  </a:t>
            </a:r>
          </a:p>
          <a:p>
            <a:pPr marL="0" indent="0" algn="just">
              <a:spcBef>
                <a:spcPts val="800"/>
              </a:spcBef>
              <a:spcAft>
                <a:spcPts val="800"/>
              </a:spcAft>
              <a:buNone/>
            </a:pPr>
            <a:r>
              <a:rPr lang="en-US" sz="1600" dirty="0"/>
              <a:t>Previously he was with Vista Equity-backed Omnitracs as President of Haulme and VP Corporate Development. Prior to that, he worked at Dell focused mostly on venture investing including Nutanix, a successful $2B IPO.  Overall he has executed $30B of combined M&amp;A and investments mostly with UBS Investment Bank’s Technology, Media &amp; Telecom group. </a:t>
            </a:r>
          </a:p>
          <a:p>
            <a:pPr marL="0" indent="0" algn="just">
              <a:spcBef>
                <a:spcPts val="800"/>
              </a:spcBef>
              <a:spcAft>
                <a:spcPts val="800"/>
              </a:spcAft>
              <a:buNone/>
            </a:pPr>
            <a:r>
              <a:rPr lang="en-US" sz="1600" dirty="0"/>
              <a:t>He began his professional career co-founding Virtual Ink at MIT in 1997 and that product, mimio</a:t>
            </a:r>
            <a:r>
              <a:rPr lang="en-US" sz="1600" baseline="30000" dirty="0"/>
              <a:t>TM</a:t>
            </a:r>
            <a:r>
              <a:rPr lang="en-US" sz="1600" dirty="0"/>
              <a:t>, is now part of Boxlight Corporation. Andrew has an MBA from Harvard Business School, an MSME from MIT, and a BSME from North Carolina State University.</a:t>
            </a:r>
          </a:p>
        </p:txBody>
      </p:sp>
      <p:sp>
        <p:nvSpPr>
          <p:cNvPr id="6" name="Slide Number Placeholder 5">
            <a:extLst>
              <a:ext uri="{FF2B5EF4-FFF2-40B4-BE49-F238E27FC236}">
                <a16:creationId xmlns:a16="http://schemas.microsoft.com/office/drawing/2014/main" id="{A2C05D67-1851-4DC8-BBCE-A1B39D427EEA}"/>
              </a:ext>
            </a:extLst>
          </p:cNvPr>
          <p:cNvSpPr>
            <a:spLocks noGrp="1"/>
          </p:cNvSpPr>
          <p:nvPr>
            <p:ph type="sldNum" sz="quarter" idx="12"/>
          </p:nvPr>
        </p:nvSpPr>
        <p:spPr>
          <a:xfrm>
            <a:off x="11368969" y="6415051"/>
            <a:ext cx="751673" cy="365125"/>
          </a:xfrm>
        </p:spPr>
        <p:txBody>
          <a:bodyPr/>
          <a:lstStyle/>
          <a:p>
            <a:pPr algn="ctr"/>
            <a:fld id="{519954A3-9DFD-4C44-94BA-B95130A3BA1C}" type="slidenum">
              <a:rPr lang="en-US" sz="1400" dirty="0">
                <a:solidFill>
                  <a:schemeClr val="bg1"/>
                </a:solidFill>
              </a:rPr>
              <a:pPr algn="ctr"/>
              <a:t>3</a:t>
            </a:fld>
            <a:endParaRPr lang="en-US" sz="1400" dirty="0">
              <a:solidFill>
                <a:schemeClr val="bg1"/>
              </a:solidFill>
            </a:endParaRPr>
          </a:p>
        </p:txBody>
      </p:sp>
      <p:pic>
        <p:nvPicPr>
          <p:cNvPr id="8" name="Picture 7" descr="Andrew Kelley">
            <a:extLst>
              <a:ext uri="{FF2B5EF4-FFF2-40B4-BE49-F238E27FC236}">
                <a16:creationId xmlns:a16="http://schemas.microsoft.com/office/drawing/2014/main" id="{21AC449B-FEDE-4EB8-B895-C4DF58F536C2}"/>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3869" y="1314535"/>
            <a:ext cx="2164807" cy="2263605"/>
          </a:xfrm>
          <a:prstGeom prst="rect">
            <a:avLst/>
          </a:prstGeom>
          <a:noFill/>
          <a:ln>
            <a:noFill/>
          </a:ln>
        </p:spPr>
      </p:pic>
      <p:sp>
        <p:nvSpPr>
          <p:cNvPr id="9" name="Content Placeholder 2">
            <a:extLst>
              <a:ext uri="{FF2B5EF4-FFF2-40B4-BE49-F238E27FC236}">
                <a16:creationId xmlns:a16="http://schemas.microsoft.com/office/drawing/2014/main" id="{EF30B2FE-6C40-4E62-9D47-1D725DE7B443}"/>
              </a:ext>
            </a:extLst>
          </p:cNvPr>
          <p:cNvSpPr txBox="1">
            <a:spLocks/>
          </p:cNvSpPr>
          <p:nvPr/>
        </p:nvSpPr>
        <p:spPr>
          <a:xfrm>
            <a:off x="661856" y="3619918"/>
            <a:ext cx="2462565" cy="86873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spcBef>
                <a:spcPts val="0"/>
              </a:spcBef>
              <a:buFont typeface="Wingdings 3" charset="2"/>
              <a:buNone/>
            </a:pPr>
            <a:r>
              <a:rPr lang="en-US" sz="2000" b="1" dirty="0">
                <a:solidFill>
                  <a:srgbClr val="002060"/>
                </a:solidFill>
              </a:rPr>
              <a:t>Andrew Kelley, III</a:t>
            </a:r>
          </a:p>
          <a:p>
            <a:pPr marL="0" indent="0" algn="ctr">
              <a:spcBef>
                <a:spcPts val="0"/>
              </a:spcBef>
              <a:buFont typeface="Wingdings 3" charset="2"/>
              <a:buNone/>
            </a:pPr>
            <a:r>
              <a:rPr lang="en-US" sz="1700" i="1" dirty="0">
                <a:solidFill>
                  <a:srgbClr val="002060"/>
                </a:solidFill>
              </a:rPr>
              <a:t>CEO</a:t>
            </a:r>
          </a:p>
        </p:txBody>
      </p:sp>
      <p:pic>
        <p:nvPicPr>
          <p:cNvPr id="4" name="Picture 3">
            <a:extLst>
              <a:ext uri="{FF2B5EF4-FFF2-40B4-BE49-F238E27FC236}">
                <a16:creationId xmlns:a16="http://schemas.microsoft.com/office/drawing/2014/main" id="{74EBE41C-BA22-43DC-94F0-666569A07892}"/>
              </a:ext>
            </a:extLst>
          </p:cNvPr>
          <p:cNvPicPr>
            <a:picLocks noChangeAspect="1"/>
          </p:cNvPicPr>
          <p:nvPr/>
        </p:nvPicPr>
        <p:blipFill>
          <a:blip r:embed="rId3"/>
          <a:stretch>
            <a:fillRect/>
          </a:stretch>
        </p:blipFill>
        <p:spPr>
          <a:xfrm>
            <a:off x="7202855" y="5805171"/>
            <a:ext cx="854931" cy="422123"/>
          </a:xfrm>
          <a:prstGeom prst="rect">
            <a:avLst/>
          </a:prstGeom>
        </p:spPr>
      </p:pic>
      <p:pic>
        <p:nvPicPr>
          <p:cNvPr id="10" name="Picture 9">
            <a:extLst>
              <a:ext uri="{FF2B5EF4-FFF2-40B4-BE49-F238E27FC236}">
                <a16:creationId xmlns:a16="http://schemas.microsoft.com/office/drawing/2014/main" id="{FF35C08E-571D-4153-8F6A-921F1656597F}"/>
              </a:ext>
            </a:extLst>
          </p:cNvPr>
          <p:cNvPicPr>
            <a:picLocks noChangeAspect="1"/>
          </p:cNvPicPr>
          <p:nvPr/>
        </p:nvPicPr>
        <p:blipFill>
          <a:blip r:embed="rId4"/>
          <a:stretch>
            <a:fillRect/>
          </a:stretch>
        </p:blipFill>
        <p:spPr>
          <a:xfrm>
            <a:off x="6026052" y="5828255"/>
            <a:ext cx="757780" cy="391034"/>
          </a:xfrm>
          <a:prstGeom prst="rect">
            <a:avLst/>
          </a:prstGeom>
        </p:spPr>
      </p:pic>
      <p:pic>
        <p:nvPicPr>
          <p:cNvPr id="11" name="Picture 10">
            <a:extLst>
              <a:ext uri="{FF2B5EF4-FFF2-40B4-BE49-F238E27FC236}">
                <a16:creationId xmlns:a16="http://schemas.microsoft.com/office/drawing/2014/main" id="{9FA78C89-1989-40CD-8391-B6E6619DE30B}"/>
              </a:ext>
            </a:extLst>
          </p:cNvPr>
          <p:cNvPicPr>
            <a:picLocks noChangeAspect="1"/>
          </p:cNvPicPr>
          <p:nvPr/>
        </p:nvPicPr>
        <p:blipFill>
          <a:blip r:embed="rId5"/>
          <a:stretch>
            <a:fillRect/>
          </a:stretch>
        </p:blipFill>
        <p:spPr>
          <a:xfrm>
            <a:off x="3973647" y="5815727"/>
            <a:ext cx="1789938" cy="520632"/>
          </a:xfrm>
          <a:prstGeom prst="rect">
            <a:avLst/>
          </a:prstGeom>
        </p:spPr>
      </p:pic>
      <p:pic>
        <p:nvPicPr>
          <p:cNvPr id="12" name="Picture 11">
            <a:extLst>
              <a:ext uri="{FF2B5EF4-FFF2-40B4-BE49-F238E27FC236}">
                <a16:creationId xmlns:a16="http://schemas.microsoft.com/office/drawing/2014/main" id="{3874FAE1-8E1E-4D7B-8D1E-A7A1D9E330FC}"/>
              </a:ext>
            </a:extLst>
          </p:cNvPr>
          <p:cNvPicPr>
            <a:picLocks noChangeAspect="1"/>
          </p:cNvPicPr>
          <p:nvPr/>
        </p:nvPicPr>
        <p:blipFill>
          <a:blip r:embed="rId6"/>
          <a:stretch>
            <a:fillRect/>
          </a:stretch>
        </p:blipFill>
        <p:spPr>
          <a:xfrm>
            <a:off x="889246" y="4353463"/>
            <a:ext cx="2061720" cy="702081"/>
          </a:xfrm>
          <a:prstGeom prst="rect">
            <a:avLst/>
          </a:prstGeom>
        </p:spPr>
      </p:pic>
      <p:pic>
        <p:nvPicPr>
          <p:cNvPr id="13" name="Picture 12">
            <a:extLst>
              <a:ext uri="{FF2B5EF4-FFF2-40B4-BE49-F238E27FC236}">
                <a16:creationId xmlns:a16="http://schemas.microsoft.com/office/drawing/2014/main" id="{6798B2FE-FACF-457D-AC04-BB2F510F6C76}"/>
              </a:ext>
            </a:extLst>
          </p:cNvPr>
          <p:cNvPicPr>
            <a:picLocks noChangeAspect="1"/>
          </p:cNvPicPr>
          <p:nvPr/>
        </p:nvPicPr>
        <p:blipFill>
          <a:blip r:embed="rId7"/>
          <a:stretch>
            <a:fillRect/>
          </a:stretch>
        </p:blipFill>
        <p:spPr>
          <a:xfrm>
            <a:off x="3315092" y="4383495"/>
            <a:ext cx="2400272" cy="651582"/>
          </a:xfrm>
          <a:prstGeom prst="rect">
            <a:avLst/>
          </a:prstGeom>
        </p:spPr>
      </p:pic>
      <p:pic>
        <p:nvPicPr>
          <p:cNvPr id="14" name="Picture 13">
            <a:extLst>
              <a:ext uri="{FF2B5EF4-FFF2-40B4-BE49-F238E27FC236}">
                <a16:creationId xmlns:a16="http://schemas.microsoft.com/office/drawing/2014/main" id="{A0D88BCA-3D6D-4E27-B833-2FAD735E48F7}"/>
              </a:ext>
            </a:extLst>
          </p:cNvPr>
          <p:cNvPicPr>
            <a:picLocks noChangeAspect="1"/>
          </p:cNvPicPr>
          <p:nvPr/>
        </p:nvPicPr>
        <p:blipFill>
          <a:blip r:embed="rId8"/>
          <a:stretch>
            <a:fillRect/>
          </a:stretch>
        </p:blipFill>
        <p:spPr>
          <a:xfrm>
            <a:off x="8726230" y="4270102"/>
            <a:ext cx="778041" cy="778041"/>
          </a:xfrm>
          <a:prstGeom prst="rect">
            <a:avLst/>
          </a:prstGeom>
        </p:spPr>
      </p:pic>
      <p:pic>
        <p:nvPicPr>
          <p:cNvPr id="15" name="Picture 14">
            <a:extLst>
              <a:ext uri="{FF2B5EF4-FFF2-40B4-BE49-F238E27FC236}">
                <a16:creationId xmlns:a16="http://schemas.microsoft.com/office/drawing/2014/main" id="{3CEEB6EE-2ADD-4A9F-9052-D2CF65CEF49C}"/>
              </a:ext>
            </a:extLst>
          </p:cNvPr>
          <p:cNvPicPr>
            <a:picLocks noChangeAspect="1"/>
          </p:cNvPicPr>
          <p:nvPr/>
        </p:nvPicPr>
        <p:blipFill>
          <a:blip r:embed="rId9"/>
          <a:stretch>
            <a:fillRect/>
          </a:stretch>
        </p:blipFill>
        <p:spPr>
          <a:xfrm>
            <a:off x="3494107" y="5185244"/>
            <a:ext cx="1995827" cy="443517"/>
          </a:xfrm>
          <a:prstGeom prst="rect">
            <a:avLst/>
          </a:prstGeom>
        </p:spPr>
      </p:pic>
      <p:pic>
        <p:nvPicPr>
          <p:cNvPr id="16" name="Picture 15">
            <a:extLst>
              <a:ext uri="{FF2B5EF4-FFF2-40B4-BE49-F238E27FC236}">
                <a16:creationId xmlns:a16="http://schemas.microsoft.com/office/drawing/2014/main" id="{F7D9A3DE-ECEF-467E-9574-83957D0879F0}"/>
              </a:ext>
            </a:extLst>
          </p:cNvPr>
          <p:cNvPicPr>
            <a:picLocks noChangeAspect="1"/>
          </p:cNvPicPr>
          <p:nvPr/>
        </p:nvPicPr>
        <p:blipFill>
          <a:blip r:embed="rId10"/>
          <a:stretch>
            <a:fillRect/>
          </a:stretch>
        </p:blipFill>
        <p:spPr>
          <a:xfrm>
            <a:off x="5941739" y="5162530"/>
            <a:ext cx="1014525" cy="405810"/>
          </a:xfrm>
          <a:prstGeom prst="rect">
            <a:avLst/>
          </a:prstGeom>
        </p:spPr>
      </p:pic>
      <p:pic>
        <p:nvPicPr>
          <p:cNvPr id="17" name="Picture 16">
            <a:extLst>
              <a:ext uri="{FF2B5EF4-FFF2-40B4-BE49-F238E27FC236}">
                <a16:creationId xmlns:a16="http://schemas.microsoft.com/office/drawing/2014/main" id="{70056DC3-A8D1-4EA4-9756-5729A02669FC}"/>
              </a:ext>
            </a:extLst>
          </p:cNvPr>
          <p:cNvPicPr>
            <a:picLocks noChangeAspect="1"/>
          </p:cNvPicPr>
          <p:nvPr/>
        </p:nvPicPr>
        <p:blipFill>
          <a:blip r:embed="rId11"/>
          <a:stretch>
            <a:fillRect/>
          </a:stretch>
        </p:blipFill>
        <p:spPr>
          <a:xfrm>
            <a:off x="6366292" y="4360961"/>
            <a:ext cx="1650621" cy="591427"/>
          </a:xfrm>
          <a:prstGeom prst="rect">
            <a:avLst/>
          </a:prstGeom>
        </p:spPr>
      </p:pic>
      <p:pic>
        <p:nvPicPr>
          <p:cNvPr id="18" name="Picture 17">
            <a:extLst>
              <a:ext uri="{FF2B5EF4-FFF2-40B4-BE49-F238E27FC236}">
                <a16:creationId xmlns:a16="http://schemas.microsoft.com/office/drawing/2014/main" id="{ABDEB7F1-8A48-46E3-B392-006D85C8782F}"/>
              </a:ext>
            </a:extLst>
          </p:cNvPr>
          <p:cNvPicPr>
            <a:picLocks noChangeAspect="1"/>
          </p:cNvPicPr>
          <p:nvPr/>
        </p:nvPicPr>
        <p:blipFill>
          <a:blip r:embed="rId12"/>
          <a:stretch>
            <a:fillRect/>
          </a:stretch>
        </p:blipFill>
        <p:spPr>
          <a:xfrm>
            <a:off x="7357590" y="5091736"/>
            <a:ext cx="1911143" cy="630530"/>
          </a:xfrm>
          <a:prstGeom prst="rect">
            <a:avLst/>
          </a:prstGeom>
        </p:spPr>
      </p:pic>
      <p:sp>
        <p:nvSpPr>
          <p:cNvPr id="19" name="TextBox 18">
            <a:extLst>
              <a:ext uri="{FF2B5EF4-FFF2-40B4-BE49-F238E27FC236}">
                <a16:creationId xmlns:a16="http://schemas.microsoft.com/office/drawing/2014/main" id="{AC42F6B4-6CD7-4F19-96D8-84838BFD9FF8}"/>
              </a:ext>
            </a:extLst>
          </p:cNvPr>
          <p:cNvSpPr txBox="1"/>
          <p:nvPr/>
        </p:nvSpPr>
        <p:spPr>
          <a:xfrm>
            <a:off x="4700153" y="6360468"/>
            <a:ext cx="3210044" cy="338554"/>
          </a:xfrm>
          <a:prstGeom prst="rect">
            <a:avLst/>
          </a:prstGeom>
          <a:noFill/>
        </p:spPr>
        <p:txBody>
          <a:bodyPr wrap="square" rtlCol="0">
            <a:spAutoFit/>
          </a:bodyPr>
          <a:lstStyle/>
          <a:p>
            <a:pPr algn="ctr"/>
            <a:r>
              <a:rPr lang="en-US" sz="1600" dirty="0"/>
              <a:t>www.linkedin.com/in/kelleyan</a:t>
            </a:r>
          </a:p>
        </p:txBody>
      </p:sp>
    </p:spTree>
    <p:extLst>
      <p:ext uri="{BB962C8B-B14F-4D97-AF65-F5344CB8AC3E}">
        <p14:creationId xmlns:p14="http://schemas.microsoft.com/office/powerpoint/2010/main" val="4219443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AC4CE-D3B5-4439-B956-3255F6621C36}"/>
              </a:ext>
            </a:extLst>
          </p:cNvPr>
          <p:cNvSpPr>
            <a:spLocks noGrp="1"/>
          </p:cNvSpPr>
          <p:nvPr>
            <p:ph type="title"/>
          </p:nvPr>
        </p:nvSpPr>
        <p:spPr/>
        <p:txBody>
          <a:bodyPr/>
          <a:lstStyle/>
          <a:p>
            <a:r>
              <a:rPr lang="en-US" dirty="0"/>
              <a:t>Raising Capital Outline</a:t>
            </a:r>
          </a:p>
        </p:txBody>
      </p:sp>
      <p:sp>
        <p:nvSpPr>
          <p:cNvPr id="6" name="Slide Number Placeholder 5">
            <a:extLst>
              <a:ext uri="{FF2B5EF4-FFF2-40B4-BE49-F238E27FC236}">
                <a16:creationId xmlns:a16="http://schemas.microsoft.com/office/drawing/2014/main" id="{A2C05D67-1851-4DC8-BBCE-A1B39D427EEA}"/>
              </a:ext>
            </a:extLst>
          </p:cNvPr>
          <p:cNvSpPr>
            <a:spLocks noGrp="1"/>
          </p:cNvSpPr>
          <p:nvPr>
            <p:ph type="sldNum" sz="quarter" idx="12"/>
          </p:nvPr>
        </p:nvSpPr>
        <p:spPr>
          <a:xfrm>
            <a:off x="11368969" y="6415051"/>
            <a:ext cx="751673" cy="365125"/>
          </a:xfrm>
        </p:spPr>
        <p:txBody>
          <a:bodyPr/>
          <a:lstStyle/>
          <a:p>
            <a:pPr algn="ctr"/>
            <a:fld id="{519954A3-9DFD-4C44-94BA-B95130A3BA1C}" type="slidenum">
              <a:rPr lang="en-US" sz="1400" dirty="0">
                <a:solidFill>
                  <a:schemeClr val="bg1"/>
                </a:solidFill>
              </a:rPr>
              <a:pPr algn="ctr"/>
              <a:t>4</a:t>
            </a:fld>
            <a:endParaRPr lang="en-US" sz="1400" dirty="0">
              <a:solidFill>
                <a:schemeClr val="bg1"/>
              </a:solidFill>
            </a:endParaRPr>
          </a:p>
        </p:txBody>
      </p:sp>
      <p:sp>
        <p:nvSpPr>
          <p:cNvPr id="7" name="Content Placeholder 6">
            <a:extLst>
              <a:ext uri="{FF2B5EF4-FFF2-40B4-BE49-F238E27FC236}">
                <a16:creationId xmlns:a16="http://schemas.microsoft.com/office/drawing/2014/main" id="{3715121B-65B8-43AD-B402-AA2D8523A004}"/>
              </a:ext>
            </a:extLst>
          </p:cNvPr>
          <p:cNvSpPr>
            <a:spLocks noGrp="1"/>
          </p:cNvSpPr>
          <p:nvPr>
            <p:ph idx="1"/>
          </p:nvPr>
        </p:nvSpPr>
        <p:spPr>
          <a:xfrm>
            <a:off x="882261" y="2065765"/>
            <a:ext cx="8596668" cy="4695735"/>
          </a:xfrm>
        </p:spPr>
        <p:txBody>
          <a:bodyPr>
            <a:normAutofit/>
          </a:bodyPr>
          <a:lstStyle/>
          <a:p>
            <a:pPr marL="457200" indent="-457200">
              <a:spcBef>
                <a:spcPts val="3300"/>
              </a:spcBef>
              <a:spcAft>
                <a:spcPts val="3300"/>
              </a:spcAft>
              <a:buFont typeface="+mj-lt"/>
              <a:buAutoNum type="arabicPeriod"/>
            </a:pPr>
            <a:r>
              <a:rPr lang="en-US" sz="2800" dirty="0"/>
              <a:t>Types &amp; Sources of Capital</a:t>
            </a:r>
          </a:p>
          <a:p>
            <a:pPr marL="457200" indent="-457200">
              <a:spcBef>
                <a:spcPts val="3300"/>
              </a:spcBef>
              <a:spcAft>
                <a:spcPts val="3300"/>
              </a:spcAft>
              <a:buFont typeface="+mj-lt"/>
              <a:buAutoNum type="arabicPeriod"/>
            </a:pPr>
            <a:r>
              <a:rPr lang="en-US" sz="2800" dirty="0"/>
              <a:t>Deep Dive on Venture Capital (VC)</a:t>
            </a:r>
          </a:p>
          <a:p>
            <a:pPr marL="457200" indent="-457200">
              <a:spcBef>
                <a:spcPts val="3300"/>
              </a:spcBef>
              <a:spcAft>
                <a:spcPts val="3300"/>
              </a:spcAft>
              <a:buFont typeface="+mj-lt"/>
              <a:buAutoNum type="arabicPeriod"/>
            </a:pPr>
            <a:r>
              <a:rPr lang="en-US" sz="2800" dirty="0"/>
              <a:t>Alternative Paths to Entrepreneurship</a:t>
            </a:r>
          </a:p>
        </p:txBody>
      </p:sp>
      <p:sp>
        <p:nvSpPr>
          <p:cNvPr id="3" name="Oval 2">
            <a:extLst>
              <a:ext uri="{FF2B5EF4-FFF2-40B4-BE49-F238E27FC236}">
                <a16:creationId xmlns:a16="http://schemas.microsoft.com/office/drawing/2014/main" id="{33656642-6394-4A17-A0AB-80F6CE2C9A32}"/>
              </a:ext>
            </a:extLst>
          </p:cNvPr>
          <p:cNvSpPr/>
          <p:nvPr/>
        </p:nvSpPr>
        <p:spPr>
          <a:xfrm>
            <a:off x="777926" y="2074668"/>
            <a:ext cx="545911" cy="559558"/>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1</a:t>
            </a:r>
          </a:p>
        </p:txBody>
      </p:sp>
      <p:sp>
        <p:nvSpPr>
          <p:cNvPr id="8" name="Oval 7">
            <a:extLst>
              <a:ext uri="{FF2B5EF4-FFF2-40B4-BE49-F238E27FC236}">
                <a16:creationId xmlns:a16="http://schemas.microsoft.com/office/drawing/2014/main" id="{F8BE1F77-CE31-4DD3-8AF9-38FBD503102A}"/>
              </a:ext>
            </a:extLst>
          </p:cNvPr>
          <p:cNvSpPr/>
          <p:nvPr/>
        </p:nvSpPr>
        <p:spPr>
          <a:xfrm>
            <a:off x="777926" y="4586613"/>
            <a:ext cx="545911" cy="559558"/>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3</a:t>
            </a:r>
          </a:p>
        </p:txBody>
      </p:sp>
      <p:sp>
        <p:nvSpPr>
          <p:cNvPr id="9" name="Oval 8">
            <a:extLst>
              <a:ext uri="{FF2B5EF4-FFF2-40B4-BE49-F238E27FC236}">
                <a16:creationId xmlns:a16="http://schemas.microsoft.com/office/drawing/2014/main" id="{1CE4C6F8-E4C6-4EDE-B99F-19F85DB4C693}"/>
              </a:ext>
            </a:extLst>
          </p:cNvPr>
          <p:cNvSpPr/>
          <p:nvPr/>
        </p:nvSpPr>
        <p:spPr>
          <a:xfrm>
            <a:off x="780201" y="3312889"/>
            <a:ext cx="545911" cy="559558"/>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2</a:t>
            </a:r>
          </a:p>
        </p:txBody>
      </p:sp>
      <p:sp>
        <p:nvSpPr>
          <p:cNvPr id="10" name="TextBox 9">
            <a:extLst>
              <a:ext uri="{FF2B5EF4-FFF2-40B4-BE49-F238E27FC236}">
                <a16:creationId xmlns:a16="http://schemas.microsoft.com/office/drawing/2014/main" id="{BFEABE63-640E-43E1-BCB2-965688BD5032}"/>
              </a:ext>
            </a:extLst>
          </p:cNvPr>
          <p:cNvSpPr txBox="1"/>
          <p:nvPr/>
        </p:nvSpPr>
        <p:spPr>
          <a:xfrm>
            <a:off x="4700153" y="6360468"/>
            <a:ext cx="3210044" cy="338554"/>
          </a:xfrm>
          <a:prstGeom prst="rect">
            <a:avLst/>
          </a:prstGeom>
          <a:noFill/>
        </p:spPr>
        <p:txBody>
          <a:bodyPr wrap="square" rtlCol="0">
            <a:spAutoFit/>
          </a:bodyPr>
          <a:lstStyle/>
          <a:p>
            <a:pPr algn="ctr"/>
            <a:r>
              <a:rPr lang="en-US" sz="1600" dirty="0"/>
              <a:t>www.linkedin.com/in/kelleyan</a:t>
            </a:r>
          </a:p>
        </p:txBody>
      </p:sp>
    </p:spTree>
    <p:extLst>
      <p:ext uri="{BB962C8B-B14F-4D97-AF65-F5344CB8AC3E}">
        <p14:creationId xmlns:p14="http://schemas.microsoft.com/office/powerpoint/2010/main" val="30361820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E2CDF-123F-4B97-99D9-36A524255D0D}"/>
              </a:ext>
            </a:extLst>
          </p:cNvPr>
          <p:cNvSpPr>
            <a:spLocks noGrp="1"/>
          </p:cNvSpPr>
          <p:nvPr>
            <p:ph type="title"/>
          </p:nvPr>
        </p:nvSpPr>
        <p:spPr/>
        <p:txBody>
          <a:bodyPr/>
          <a:lstStyle/>
          <a:p>
            <a:r>
              <a:rPr lang="en-US" dirty="0"/>
              <a:t>Types &amp; Sources of Capital</a:t>
            </a:r>
          </a:p>
        </p:txBody>
      </p:sp>
      <p:sp>
        <p:nvSpPr>
          <p:cNvPr id="3" name="Text Placeholder 2">
            <a:extLst>
              <a:ext uri="{FF2B5EF4-FFF2-40B4-BE49-F238E27FC236}">
                <a16:creationId xmlns:a16="http://schemas.microsoft.com/office/drawing/2014/main" id="{B9FB6BF1-CA9B-48BC-BE1B-DFC3A6B1711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60983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AC4CE-D3B5-4439-B956-3255F6621C36}"/>
              </a:ext>
            </a:extLst>
          </p:cNvPr>
          <p:cNvSpPr>
            <a:spLocks noGrp="1"/>
          </p:cNvSpPr>
          <p:nvPr>
            <p:ph type="title"/>
          </p:nvPr>
        </p:nvSpPr>
        <p:spPr/>
        <p:txBody>
          <a:bodyPr/>
          <a:lstStyle/>
          <a:p>
            <a:r>
              <a:rPr lang="en-US" dirty="0"/>
              <a:t>VCPE Funds Led by Blacks &amp; Women</a:t>
            </a:r>
          </a:p>
        </p:txBody>
      </p:sp>
      <p:sp>
        <p:nvSpPr>
          <p:cNvPr id="6" name="Slide Number Placeholder 5">
            <a:extLst>
              <a:ext uri="{FF2B5EF4-FFF2-40B4-BE49-F238E27FC236}">
                <a16:creationId xmlns:a16="http://schemas.microsoft.com/office/drawing/2014/main" id="{A2C05D67-1851-4DC8-BBCE-A1B39D427EEA}"/>
              </a:ext>
            </a:extLst>
          </p:cNvPr>
          <p:cNvSpPr>
            <a:spLocks noGrp="1"/>
          </p:cNvSpPr>
          <p:nvPr>
            <p:ph type="sldNum" sz="quarter" idx="12"/>
          </p:nvPr>
        </p:nvSpPr>
        <p:spPr>
          <a:xfrm>
            <a:off x="11368969" y="6415051"/>
            <a:ext cx="751673" cy="365125"/>
          </a:xfrm>
        </p:spPr>
        <p:txBody>
          <a:bodyPr/>
          <a:lstStyle/>
          <a:p>
            <a:pPr algn="ctr"/>
            <a:fld id="{519954A3-9DFD-4C44-94BA-B95130A3BA1C}" type="slidenum">
              <a:rPr lang="en-US" sz="1400" dirty="0">
                <a:solidFill>
                  <a:schemeClr val="bg1"/>
                </a:solidFill>
              </a:rPr>
              <a:pPr algn="ctr"/>
              <a:t>6</a:t>
            </a:fld>
            <a:endParaRPr lang="en-US" sz="1400" dirty="0">
              <a:solidFill>
                <a:schemeClr val="bg1"/>
              </a:solidFill>
            </a:endParaRPr>
          </a:p>
        </p:txBody>
      </p:sp>
      <p:sp>
        <p:nvSpPr>
          <p:cNvPr id="7" name="Content Placeholder 6">
            <a:extLst>
              <a:ext uri="{FF2B5EF4-FFF2-40B4-BE49-F238E27FC236}">
                <a16:creationId xmlns:a16="http://schemas.microsoft.com/office/drawing/2014/main" id="{3715121B-65B8-43AD-B402-AA2D8523A004}"/>
              </a:ext>
            </a:extLst>
          </p:cNvPr>
          <p:cNvSpPr>
            <a:spLocks noGrp="1"/>
          </p:cNvSpPr>
          <p:nvPr>
            <p:ph idx="1"/>
          </p:nvPr>
        </p:nvSpPr>
        <p:spPr>
          <a:xfrm>
            <a:off x="663478" y="1343169"/>
            <a:ext cx="9768995" cy="1529714"/>
          </a:xfrm>
        </p:spPr>
        <p:txBody>
          <a:bodyPr>
            <a:normAutofit/>
          </a:bodyPr>
          <a:lstStyle/>
          <a:p>
            <a:r>
              <a:rPr lang="en-US" sz="2400" b="1" dirty="0">
                <a:solidFill>
                  <a:srgbClr val="00B050"/>
                </a:solidFill>
              </a:rPr>
              <a:t>Good</a:t>
            </a:r>
            <a:r>
              <a:rPr lang="en-US" sz="2400" dirty="0">
                <a:solidFill>
                  <a:srgbClr val="00B050"/>
                </a:solidFill>
              </a:rPr>
              <a:t> news</a:t>
            </a:r>
            <a:r>
              <a:rPr lang="en-US" sz="2400" dirty="0"/>
              <a:t>:  Firms run by Blacks and Women are on the rise</a:t>
            </a:r>
          </a:p>
          <a:p>
            <a:r>
              <a:rPr lang="en-US" sz="2400" b="1" dirty="0">
                <a:solidFill>
                  <a:srgbClr val="FF0000"/>
                </a:solidFill>
              </a:rPr>
              <a:t>Bad news</a:t>
            </a:r>
            <a:r>
              <a:rPr lang="en-US" sz="2400" dirty="0"/>
              <a:t>:  This still represents only about 1% of all US GPs</a:t>
            </a:r>
          </a:p>
        </p:txBody>
      </p:sp>
      <p:pic>
        <p:nvPicPr>
          <p:cNvPr id="3" name="Picture 2">
            <a:extLst>
              <a:ext uri="{FF2B5EF4-FFF2-40B4-BE49-F238E27FC236}">
                <a16:creationId xmlns:a16="http://schemas.microsoft.com/office/drawing/2014/main" id="{4B11224A-1AA2-4F7A-83F3-A898E6ECF17B}"/>
              </a:ext>
            </a:extLst>
          </p:cNvPr>
          <p:cNvPicPr>
            <a:picLocks noChangeAspect="1"/>
          </p:cNvPicPr>
          <p:nvPr/>
        </p:nvPicPr>
        <p:blipFill>
          <a:blip r:embed="rId2"/>
          <a:stretch>
            <a:fillRect/>
          </a:stretch>
        </p:blipFill>
        <p:spPr>
          <a:xfrm>
            <a:off x="3567082" y="2601294"/>
            <a:ext cx="3676177" cy="850165"/>
          </a:xfrm>
          <a:prstGeom prst="rect">
            <a:avLst/>
          </a:prstGeom>
        </p:spPr>
      </p:pic>
      <p:pic>
        <p:nvPicPr>
          <p:cNvPr id="4" name="Picture 3">
            <a:extLst>
              <a:ext uri="{FF2B5EF4-FFF2-40B4-BE49-F238E27FC236}">
                <a16:creationId xmlns:a16="http://schemas.microsoft.com/office/drawing/2014/main" id="{31FC69E7-B389-4730-8F03-B9CD194B43F3}"/>
              </a:ext>
            </a:extLst>
          </p:cNvPr>
          <p:cNvPicPr>
            <a:picLocks noChangeAspect="1"/>
          </p:cNvPicPr>
          <p:nvPr/>
        </p:nvPicPr>
        <p:blipFill>
          <a:blip r:embed="rId3"/>
          <a:stretch>
            <a:fillRect/>
          </a:stretch>
        </p:blipFill>
        <p:spPr>
          <a:xfrm>
            <a:off x="720733" y="5294211"/>
            <a:ext cx="2175507" cy="1187941"/>
          </a:xfrm>
          <a:prstGeom prst="rect">
            <a:avLst/>
          </a:prstGeom>
        </p:spPr>
      </p:pic>
      <p:pic>
        <p:nvPicPr>
          <p:cNvPr id="8" name="Picture 7">
            <a:extLst>
              <a:ext uri="{FF2B5EF4-FFF2-40B4-BE49-F238E27FC236}">
                <a16:creationId xmlns:a16="http://schemas.microsoft.com/office/drawing/2014/main" id="{CC8A47E6-10F8-41BD-B93F-4C43E57545BC}"/>
              </a:ext>
            </a:extLst>
          </p:cNvPr>
          <p:cNvPicPr>
            <a:picLocks noChangeAspect="1"/>
          </p:cNvPicPr>
          <p:nvPr/>
        </p:nvPicPr>
        <p:blipFill>
          <a:blip r:embed="rId4"/>
          <a:stretch>
            <a:fillRect/>
          </a:stretch>
        </p:blipFill>
        <p:spPr>
          <a:xfrm>
            <a:off x="1033240" y="3896822"/>
            <a:ext cx="1948295" cy="649432"/>
          </a:xfrm>
          <a:prstGeom prst="rect">
            <a:avLst/>
          </a:prstGeom>
        </p:spPr>
      </p:pic>
      <p:pic>
        <p:nvPicPr>
          <p:cNvPr id="9" name="Picture 8">
            <a:extLst>
              <a:ext uri="{FF2B5EF4-FFF2-40B4-BE49-F238E27FC236}">
                <a16:creationId xmlns:a16="http://schemas.microsoft.com/office/drawing/2014/main" id="{AAA34547-ED77-4F58-8D43-98A3989D9FBB}"/>
              </a:ext>
            </a:extLst>
          </p:cNvPr>
          <p:cNvPicPr>
            <a:picLocks noChangeAspect="1"/>
          </p:cNvPicPr>
          <p:nvPr/>
        </p:nvPicPr>
        <p:blipFill>
          <a:blip r:embed="rId5"/>
          <a:stretch>
            <a:fillRect/>
          </a:stretch>
        </p:blipFill>
        <p:spPr>
          <a:xfrm>
            <a:off x="3522316" y="3314435"/>
            <a:ext cx="1472045" cy="1619250"/>
          </a:xfrm>
          <a:prstGeom prst="rect">
            <a:avLst/>
          </a:prstGeom>
        </p:spPr>
      </p:pic>
      <p:pic>
        <p:nvPicPr>
          <p:cNvPr id="10" name="Picture 9">
            <a:extLst>
              <a:ext uri="{FF2B5EF4-FFF2-40B4-BE49-F238E27FC236}">
                <a16:creationId xmlns:a16="http://schemas.microsoft.com/office/drawing/2014/main" id="{6BA353AA-BDB5-4A7C-8BEB-E09C75677D2E}"/>
              </a:ext>
            </a:extLst>
          </p:cNvPr>
          <p:cNvPicPr>
            <a:picLocks noChangeAspect="1"/>
          </p:cNvPicPr>
          <p:nvPr/>
        </p:nvPicPr>
        <p:blipFill>
          <a:blip r:embed="rId6"/>
          <a:stretch>
            <a:fillRect/>
          </a:stretch>
        </p:blipFill>
        <p:spPr>
          <a:xfrm>
            <a:off x="4812018" y="5785943"/>
            <a:ext cx="2572710" cy="686056"/>
          </a:xfrm>
          <a:prstGeom prst="rect">
            <a:avLst/>
          </a:prstGeom>
        </p:spPr>
      </p:pic>
      <p:pic>
        <p:nvPicPr>
          <p:cNvPr id="11" name="Picture 10">
            <a:extLst>
              <a:ext uri="{FF2B5EF4-FFF2-40B4-BE49-F238E27FC236}">
                <a16:creationId xmlns:a16="http://schemas.microsoft.com/office/drawing/2014/main" id="{35F44CC6-6220-40E0-9B7A-F342E056AD8B}"/>
              </a:ext>
            </a:extLst>
          </p:cNvPr>
          <p:cNvPicPr>
            <a:picLocks noChangeAspect="1"/>
          </p:cNvPicPr>
          <p:nvPr/>
        </p:nvPicPr>
        <p:blipFill>
          <a:blip r:embed="rId7"/>
          <a:stretch>
            <a:fillRect/>
          </a:stretch>
        </p:blipFill>
        <p:spPr>
          <a:xfrm>
            <a:off x="7900144" y="3701025"/>
            <a:ext cx="1846318" cy="1173629"/>
          </a:xfrm>
          <a:prstGeom prst="rect">
            <a:avLst/>
          </a:prstGeom>
        </p:spPr>
      </p:pic>
      <p:pic>
        <p:nvPicPr>
          <p:cNvPr id="12" name="Picture 11">
            <a:extLst>
              <a:ext uri="{FF2B5EF4-FFF2-40B4-BE49-F238E27FC236}">
                <a16:creationId xmlns:a16="http://schemas.microsoft.com/office/drawing/2014/main" id="{C3763961-719A-4C25-AF6C-A33589880D12}"/>
              </a:ext>
            </a:extLst>
          </p:cNvPr>
          <p:cNvPicPr>
            <a:picLocks noChangeAspect="1"/>
          </p:cNvPicPr>
          <p:nvPr/>
        </p:nvPicPr>
        <p:blipFill>
          <a:blip r:embed="rId8"/>
          <a:stretch>
            <a:fillRect/>
          </a:stretch>
        </p:blipFill>
        <p:spPr>
          <a:xfrm>
            <a:off x="5610208" y="4952794"/>
            <a:ext cx="2440983" cy="596805"/>
          </a:xfrm>
          <a:prstGeom prst="rect">
            <a:avLst/>
          </a:prstGeom>
        </p:spPr>
      </p:pic>
      <p:pic>
        <p:nvPicPr>
          <p:cNvPr id="13" name="Picture 12">
            <a:extLst>
              <a:ext uri="{FF2B5EF4-FFF2-40B4-BE49-F238E27FC236}">
                <a16:creationId xmlns:a16="http://schemas.microsoft.com/office/drawing/2014/main" id="{4695ABF2-92A1-4A0C-B5D2-AEAED77EA5B7}"/>
              </a:ext>
            </a:extLst>
          </p:cNvPr>
          <p:cNvPicPr>
            <a:picLocks noChangeAspect="1"/>
          </p:cNvPicPr>
          <p:nvPr/>
        </p:nvPicPr>
        <p:blipFill>
          <a:blip r:embed="rId9"/>
          <a:stretch>
            <a:fillRect/>
          </a:stretch>
        </p:blipFill>
        <p:spPr>
          <a:xfrm>
            <a:off x="2904466" y="5069604"/>
            <a:ext cx="1236345" cy="1529715"/>
          </a:xfrm>
          <a:prstGeom prst="rect">
            <a:avLst/>
          </a:prstGeom>
        </p:spPr>
      </p:pic>
      <p:pic>
        <p:nvPicPr>
          <p:cNvPr id="14" name="Picture 13">
            <a:extLst>
              <a:ext uri="{FF2B5EF4-FFF2-40B4-BE49-F238E27FC236}">
                <a16:creationId xmlns:a16="http://schemas.microsoft.com/office/drawing/2014/main" id="{D60383E6-22C8-49F7-AFDB-5B13837A033F}"/>
              </a:ext>
            </a:extLst>
          </p:cNvPr>
          <p:cNvPicPr>
            <a:picLocks noChangeAspect="1"/>
          </p:cNvPicPr>
          <p:nvPr/>
        </p:nvPicPr>
        <p:blipFill>
          <a:blip r:embed="rId10"/>
          <a:stretch>
            <a:fillRect/>
          </a:stretch>
        </p:blipFill>
        <p:spPr>
          <a:xfrm>
            <a:off x="7806585" y="2418081"/>
            <a:ext cx="1603005" cy="1037659"/>
          </a:xfrm>
          <a:prstGeom prst="rect">
            <a:avLst/>
          </a:prstGeom>
        </p:spPr>
      </p:pic>
      <p:pic>
        <p:nvPicPr>
          <p:cNvPr id="15" name="Picture 14">
            <a:extLst>
              <a:ext uri="{FF2B5EF4-FFF2-40B4-BE49-F238E27FC236}">
                <a16:creationId xmlns:a16="http://schemas.microsoft.com/office/drawing/2014/main" id="{86ADE15C-4359-4E75-AF3C-AEB841201690}"/>
              </a:ext>
            </a:extLst>
          </p:cNvPr>
          <p:cNvPicPr>
            <a:picLocks noChangeAspect="1"/>
          </p:cNvPicPr>
          <p:nvPr/>
        </p:nvPicPr>
        <p:blipFill>
          <a:blip r:embed="rId11"/>
          <a:stretch>
            <a:fillRect/>
          </a:stretch>
        </p:blipFill>
        <p:spPr>
          <a:xfrm>
            <a:off x="1199060" y="2500765"/>
            <a:ext cx="1502817" cy="923159"/>
          </a:xfrm>
          <a:prstGeom prst="rect">
            <a:avLst/>
          </a:prstGeom>
        </p:spPr>
      </p:pic>
      <p:pic>
        <p:nvPicPr>
          <p:cNvPr id="16" name="Picture 15">
            <a:extLst>
              <a:ext uri="{FF2B5EF4-FFF2-40B4-BE49-F238E27FC236}">
                <a16:creationId xmlns:a16="http://schemas.microsoft.com/office/drawing/2014/main" id="{B33E58A8-4E57-4EF2-ACEC-02BDA88485F7}"/>
              </a:ext>
            </a:extLst>
          </p:cNvPr>
          <p:cNvPicPr>
            <a:picLocks noChangeAspect="1"/>
          </p:cNvPicPr>
          <p:nvPr/>
        </p:nvPicPr>
        <p:blipFill>
          <a:blip r:embed="rId12"/>
          <a:stretch>
            <a:fillRect/>
          </a:stretch>
        </p:blipFill>
        <p:spPr>
          <a:xfrm>
            <a:off x="5189744" y="4050634"/>
            <a:ext cx="2421455" cy="418367"/>
          </a:xfrm>
          <a:prstGeom prst="rect">
            <a:avLst/>
          </a:prstGeom>
        </p:spPr>
      </p:pic>
    </p:spTree>
    <p:extLst>
      <p:ext uri="{BB962C8B-B14F-4D97-AF65-F5344CB8AC3E}">
        <p14:creationId xmlns:p14="http://schemas.microsoft.com/office/powerpoint/2010/main" val="26400749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AC4CE-D3B5-4439-B956-3255F6621C36}"/>
              </a:ext>
            </a:extLst>
          </p:cNvPr>
          <p:cNvSpPr>
            <a:spLocks noGrp="1"/>
          </p:cNvSpPr>
          <p:nvPr>
            <p:ph type="title"/>
          </p:nvPr>
        </p:nvSpPr>
        <p:spPr/>
        <p:txBody>
          <a:bodyPr/>
          <a:lstStyle/>
          <a:p>
            <a:r>
              <a:rPr lang="en-US" dirty="0"/>
              <a:t>Overview of Capital Sources</a:t>
            </a:r>
          </a:p>
        </p:txBody>
      </p:sp>
      <p:sp>
        <p:nvSpPr>
          <p:cNvPr id="6" name="Slide Number Placeholder 5">
            <a:extLst>
              <a:ext uri="{FF2B5EF4-FFF2-40B4-BE49-F238E27FC236}">
                <a16:creationId xmlns:a16="http://schemas.microsoft.com/office/drawing/2014/main" id="{A2C05D67-1851-4DC8-BBCE-A1B39D427EEA}"/>
              </a:ext>
            </a:extLst>
          </p:cNvPr>
          <p:cNvSpPr>
            <a:spLocks noGrp="1"/>
          </p:cNvSpPr>
          <p:nvPr>
            <p:ph type="sldNum" sz="quarter" idx="12"/>
          </p:nvPr>
        </p:nvSpPr>
        <p:spPr>
          <a:xfrm>
            <a:off x="11368969" y="6415051"/>
            <a:ext cx="751673" cy="365125"/>
          </a:xfrm>
        </p:spPr>
        <p:txBody>
          <a:bodyPr/>
          <a:lstStyle/>
          <a:p>
            <a:pPr algn="ctr"/>
            <a:fld id="{519954A3-9DFD-4C44-94BA-B95130A3BA1C}" type="slidenum">
              <a:rPr lang="en-US" sz="1400" dirty="0">
                <a:solidFill>
                  <a:schemeClr val="bg1"/>
                </a:solidFill>
              </a:rPr>
              <a:pPr algn="ctr"/>
              <a:t>7</a:t>
            </a:fld>
            <a:endParaRPr lang="en-US" sz="1400" dirty="0">
              <a:solidFill>
                <a:schemeClr val="bg1"/>
              </a:solidFill>
            </a:endParaRPr>
          </a:p>
        </p:txBody>
      </p:sp>
      <p:sp>
        <p:nvSpPr>
          <p:cNvPr id="7" name="Content Placeholder 6">
            <a:extLst>
              <a:ext uri="{FF2B5EF4-FFF2-40B4-BE49-F238E27FC236}">
                <a16:creationId xmlns:a16="http://schemas.microsoft.com/office/drawing/2014/main" id="{3715121B-65B8-43AD-B402-AA2D8523A004}"/>
              </a:ext>
            </a:extLst>
          </p:cNvPr>
          <p:cNvSpPr>
            <a:spLocks noGrp="1"/>
          </p:cNvSpPr>
          <p:nvPr>
            <p:ph idx="1"/>
          </p:nvPr>
        </p:nvSpPr>
        <p:spPr>
          <a:xfrm>
            <a:off x="677334" y="1219899"/>
            <a:ext cx="9367418" cy="1496004"/>
          </a:xfrm>
        </p:spPr>
        <p:txBody>
          <a:bodyPr>
            <a:normAutofit/>
          </a:bodyPr>
          <a:lstStyle/>
          <a:p>
            <a:r>
              <a:rPr lang="en-US" sz="2400" dirty="0"/>
              <a:t>A balance sheet mindset helps think through capital sources</a:t>
            </a:r>
          </a:p>
          <a:p>
            <a:r>
              <a:rPr lang="en-US" sz="2400" dirty="0"/>
              <a:t>The cost of capital for these various sources may impact how much equity you ultimately give up</a:t>
            </a:r>
          </a:p>
        </p:txBody>
      </p:sp>
      <p:graphicFrame>
        <p:nvGraphicFramePr>
          <p:cNvPr id="4" name="Table 3">
            <a:extLst>
              <a:ext uri="{FF2B5EF4-FFF2-40B4-BE49-F238E27FC236}">
                <a16:creationId xmlns:a16="http://schemas.microsoft.com/office/drawing/2014/main" id="{F1F713C3-2430-4C66-95B4-FC69F27D7678}"/>
              </a:ext>
            </a:extLst>
          </p:cNvPr>
          <p:cNvGraphicFramePr>
            <a:graphicFrameLocks noGrp="1"/>
          </p:cNvGraphicFramePr>
          <p:nvPr>
            <p:extLst>
              <p:ext uri="{D42A27DB-BD31-4B8C-83A1-F6EECF244321}">
                <p14:modId xmlns:p14="http://schemas.microsoft.com/office/powerpoint/2010/main" val="3251050053"/>
              </p:ext>
            </p:extLst>
          </p:nvPr>
        </p:nvGraphicFramePr>
        <p:xfrm>
          <a:off x="1113117" y="2673478"/>
          <a:ext cx="10106116" cy="3859699"/>
        </p:xfrm>
        <a:graphic>
          <a:graphicData uri="http://schemas.openxmlformats.org/drawingml/2006/table">
            <a:tbl>
              <a:tblPr firstRow="1" bandRow="1">
                <a:tableStyleId>{5C22544A-7EE6-4342-B048-85BDC9FD1C3A}</a:tableStyleId>
              </a:tblPr>
              <a:tblGrid>
                <a:gridCol w="1087938">
                  <a:extLst>
                    <a:ext uri="{9D8B030D-6E8A-4147-A177-3AD203B41FA5}">
                      <a16:colId xmlns:a16="http://schemas.microsoft.com/office/drawing/2014/main" val="3022636502"/>
                    </a:ext>
                  </a:extLst>
                </a:gridCol>
                <a:gridCol w="1422688">
                  <a:extLst>
                    <a:ext uri="{9D8B030D-6E8A-4147-A177-3AD203B41FA5}">
                      <a16:colId xmlns:a16="http://schemas.microsoft.com/office/drawing/2014/main" val="902340919"/>
                    </a:ext>
                  </a:extLst>
                </a:gridCol>
                <a:gridCol w="1737360">
                  <a:extLst>
                    <a:ext uri="{9D8B030D-6E8A-4147-A177-3AD203B41FA5}">
                      <a16:colId xmlns:a16="http://schemas.microsoft.com/office/drawing/2014/main" val="2515568889"/>
                    </a:ext>
                  </a:extLst>
                </a:gridCol>
                <a:gridCol w="2929065">
                  <a:extLst>
                    <a:ext uri="{9D8B030D-6E8A-4147-A177-3AD203B41FA5}">
                      <a16:colId xmlns:a16="http://schemas.microsoft.com/office/drawing/2014/main" val="2581020094"/>
                    </a:ext>
                  </a:extLst>
                </a:gridCol>
                <a:gridCol w="2929065">
                  <a:extLst>
                    <a:ext uri="{9D8B030D-6E8A-4147-A177-3AD203B41FA5}">
                      <a16:colId xmlns:a16="http://schemas.microsoft.com/office/drawing/2014/main" val="474745926"/>
                    </a:ext>
                  </a:extLst>
                </a:gridCol>
              </a:tblGrid>
              <a:tr h="603844">
                <a:tc>
                  <a:txBody>
                    <a:bodyPr/>
                    <a:lstStyle/>
                    <a:p>
                      <a:r>
                        <a:rPr lang="en-US" dirty="0"/>
                        <a:t>Capital Sources</a:t>
                      </a:r>
                    </a:p>
                  </a:txBody>
                  <a:tcPr anchor="b"/>
                </a:tc>
                <a:tc>
                  <a:txBody>
                    <a:bodyPr/>
                    <a:lstStyle/>
                    <a:p>
                      <a:r>
                        <a:rPr lang="en-US" dirty="0"/>
                        <a:t>Cost of Capital</a:t>
                      </a:r>
                    </a:p>
                  </a:txBody>
                  <a:tcPr anchor="b"/>
                </a:tc>
                <a:tc>
                  <a:txBody>
                    <a:bodyPr/>
                    <a:lstStyle/>
                    <a:p>
                      <a:r>
                        <a:rPr lang="en-US" dirty="0"/>
                        <a:t>Where to go</a:t>
                      </a:r>
                    </a:p>
                  </a:txBody>
                  <a:tcPr anchor="b"/>
                </a:tc>
                <a:tc>
                  <a:txBody>
                    <a:bodyPr/>
                    <a:lstStyle/>
                    <a:p>
                      <a:r>
                        <a:rPr lang="en-US" dirty="0"/>
                        <a:t>Pros</a:t>
                      </a:r>
                    </a:p>
                  </a:txBody>
                  <a:tcPr anchor="b"/>
                </a:tc>
                <a:tc>
                  <a:txBody>
                    <a:bodyPr/>
                    <a:lstStyle/>
                    <a:p>
                      <a:r>
                        <a:rPr lang="en-US" dirty="0"/>
                        <a:t>Cons</a:t>
                      </a:r>
                    </a:p>
                  </a:txBody>
                  <a:tcPr anchor="b"/>
                </a:tc>
                <a:extLst>
                  <a:ext uri="{0D108BD9-81ED-4DB2-BD59-A6C34878D82A}">
                    <a16:rowId xmlns:a16="http://schemas.microsoft.com/office/drawing/2014/main" val="487959449"/>
                  </a:ext>
                </a:extLst>
              </a:tr>
              <a:tr h="1268335">
                <a:tc>
                  <a:txBody>
                    <a:bodyPr/>
                    <a:lstStyle/>
                    <a:p>
                      <a:r>
                        <a:rPr lang="en-US" dirty="0"/>
                        <a:t>Cash</a:t>
                      </a:r>
                    </a:p>
                  </a:txBody>
                  <a:tcPr/>
                </a:tc>
                <a:tc>
                  <a:txBody>
                    <a:bodyPr/>
                    <a:lstStyle/>
                    <a:p>
                      <a:r>
                        <a:rPr lang="en-US" dirty="0"/>
                        <a:t>0% - 3%</a:t>
                      </a:r>
                    </a:p>
                  </a:txBody>
                  <a:tcPr/>
                </a:tc>
                <a:tc>
                  <a:txBody>
                    <a:bodyPr/>
                    <a:lstStyle/>
                    <a:p>
                      <a:r>
                        <a:rPr lang="en-US" dirty="0"/>
                        <a:t>Friends &amp; Family</a:t>
                      </a:r>
                    </a:p>
                  </a:txBody>
                  <a:tcPr/>
                </a:tc>
                <a:tc>
                  <a:txBody>
                    <a:bodyPr/>
                    <a:lstStyle/>
                    <a:p>
                      <a:pPr marL="285750" indent="-285750">
                        <a:buClr>
                          <a:schemeClr val="accent5">
                            <a:lumMod val="50000"/>
                          </a:schemeClr>
                        </a:buClr>
                        <a:buFont typeface="Wingdings" panose="05000000000000000000" pitchFamily="2" charset="2"/>
                        <a:buChar char="ü"/>
                      </a:pPr>
                      <a:r>
                        <a:rPr lang="en-US" dirty="0"/>
                        <a:t>Your counterparty already knows and trusts you</a:t>
                      </a:r>
                    </a:p>
                    <a:p>
                      <a:pPr marL="285750" indent="-285750">
                        <a:buClr>
                          <a:schemeClr val="accent5">
                            <a:lumMod val="50000"/>
                          </a:schemeClr>
                        </a:buClr>
                        <a:buFont typeface="Wingdings" panose="05000000000000000000" pitchFamily="2" charset="2"/>
                        <a:buChar char="ü"/>
                      </a:pPr>
                      <a:r>
                        <a:rPr lang="en-US" dirty="0"/>
                        <a:t>Bootstrapping is good</a:t>
                      </a:r>
                    </a:p>
                  </a:txBody>
                  <a:tcPr/>
                </a:tc>
                <a:tc>
                  <a:txBody>
                    <a:bodyPr/>
                    <a:lstStyle/>
                    <a:p>
                      <a:pPr marL="285750" indent="-285750">
                        <a:buClr>
                          <a:srgbClr val="FF0000"/>
                        </a:buClr>
                        <a:buFont typeface="Trebuchet MS" panose="020B0603020202020204" pitchFamily="34" charset="0"/>
                        <a:buChar char="х"/>
                      </a:pPr>
                      <a:r>
                        <a:rPr lang="en-US" dirty="0"/>
                        <a:t>Awkward Thanksgiving dinners if things go wrong</a:t>
                      </a:r>
                    </a:p>
                    <a:p>
                      <a:pPr marL="285750" indent="-285750">
                        <a:buClr>
                          <a:srgbClr val="FF0000"/>
                        </a:buClr>
                        <a:buFont typeface="Trebuchet MS" panose="020B0603020202020204" pitchFamily="34" charset="0"/>
                        <a:buChar char="х"/>
                      </a:pPr>
                      <a:r>
                        <a:rPr lang="en-US" dirty="0"/>
                        <a:t>Limited availability</a:t>
                      </a:r>
                    </a:p>
                  </a:txBody>
                  <a:tcPr/>
                </a:tc>
                <a:extLst>
                  <a:ext uri="{0D108BD9-81ED-4DB2-BD59-A6C34878D82A}">
                    <a16:rowId xmlns:a16="http://schemas.microsoft.com/office/drawing/2014/main" val="2698013439"/>
                  </a:ext>
                </a:extLst>
              </a:tr>
              <a:tr h="682949">
                <a:tc>
                  <a:txBody>
                    <a:bodyPr/>
                    <a:lstStyle/>
                    <a:p>
                      <a:r>
                        <a:rPr lang="en-US" dirty="0"/>
                        <a:t>Debt</a:t>
                      </a:r>
                    </a:p>
                  </a:txBody>
                  <a:tcPr/>
                </a:tc>
                <a:tc>
                  <a:txBody>
                    <a:bodyPr/>
                    <a:lstStyle/>
                    <a:p>
                      <a:r>
                        <a:rPr lang="en-US" dirty="0"/>
                        <a:t>8% - 15%</a:t>
                      </a:r>
                    </a:p>
                  </a:txBody>
                  <a:tcPr/>
                </a:tc>
                <a:tc>
                  <a:txBody>
                    <a:bodyPr/>
                    <a:lstStyle/>
                    <a:p>
                      <a:r>
                        <a:rPr lang="en-US" dirty="0"/>
                        <a:t>Lenders</a:t>
                      </a:r>
                    </a:p>
                  </a:txBody>
                  <a:tcPr/>
                </a:tc>
                <a:tc>
                  <a:txBody>
                    <a:bodyPr/>
                    <a:lstStyle/>
                    <a:p>
                      <a:pPr marL="285750" indent="-285750">
                        <a:buClr>
                          <a:schemeClr val="accent5">
                            <a:lumMod val="50000"/>
                          </a:schemeClr>
                        </a:buClr>
                        <a:buFont typeface="Wingdings" panose="05000000000000000000" pitchFamily="2" charset="2"/>
                        <a:buChar char="ü"/>
                      </a:pPr>
                      <a:r>
                        <a:rPr lang="en-US" dirty="0"/>
                        <a:t>Relatively low cost of capital</a:t>
                      </a:r>
                    </a:p>
                  </a:txBody>
                  <a:tcPr/>
                </a:tc>
                <a:tc>
                  <a:txBody>
                    <a:bodyPr/>
                    <a:lstStyle/>
                    <a:p>
                      <a:pPr marL="285750" indent="-285750">
                        <a:buClr>
                          <a:srgbClr val="FF0000"/>
                        </a:buClr>
                        <a:buFont typeface="Trebuchet MS" panose="020B0603020202020204" pitchFamily="34" charset="0"/>
                        <a:buChar char="х"/>
                      </a:pPr>
                      <a:r>
                        <a:rPr lang="en-US" dirty="0"/>
                        <a:t>Not available without ARR or EBITDA</a:t>
                      </a:r>
                    </a:p>
                  </a:txBody>
                  <a:tcPr/>
                </a:tc>
                <a:extLst>
                  <a:ext uri="{0D108BD9-81ED-4DB2-BD59-A6C34878D82A}">
                    <a16:rowId xmlns:a16="http://schemas.microsoft.com/office/drawing/2014/main" val="653703272"/>
                  </a:ext>
                </a:extLst>
              </a:tr>
              <a:tr h="1268335">
                <a:tc>
                  <a:txBody>
                    <a:bodyPr/>
                    <a:lstStyle/>
                    <a:p>
                      <a:r>
                        <a:rPr lang="en-US" dirty="0"/>
                        <a:t>Equity</a:t>
                      </a:r>
                    </a:p>
                  </a:txBody>
                  <a:tcPr/>
                </a:tc>
                <a:tc>
                  <a:txBody>
                    <a:bodyPr/>
                    <a:lstStyle/>
                    <a:p>
                      <a:r>
                        <a:rPr lang="en-US" dirty="0"/>
                        <a:t>20% - 50%</a:t>
                      </a:r>
                    </a:p>
                  </a:txBody>
                  <a:tcPr/>
                </a:tc>
                <a:tc>
                  <a:txBody>
                    <a:bodyPr/>
                    <a:lstStyle/>
                    <a:p>
                      <a:r>
                        <a:rPr lang="en-US" dirty="0"/>
                        <a:t>Accelerators, Angels, VCPE firms</a:t>
                      </a:r>
                    </a:p>
                  </a:txBody>
                  <a:tcPr/>
                </a:tc>
                <a:tc>
                  <a:txBody>
                    <a:bodyPr/>
                    <a:lstStyle/>
                    <a:p>
                      <a:pPr marL="285750" indent="-285750">
                        <a:buClr>
                          <a:schemeClr val="accent5">
                            <a:lumMod val="50000"/>
                          </a:schemeClr>
                        </a:buClr>
                        <a:buFont typeface="Wingdings" panose="05000000000000000000" pitchFamily="2" charset="2"/>
                        <a:buChar char="ü"/>
                      </a:pPr>
                      <a:r>
                        <a:rPr lang="en-US" dirty="0"/>
                        <a:t>Potential to be transformative</a:t>
                      </a:r>
                    </a:p>
                    <a:p>
                      <a:pPr marL="285750" indent="-285750">
                        <a:buClr>
                          <a:schemeClr val="accent5">
                            <a:lumMod val="50000"/>
                          </a:schemeClr>
                        </a:buClr>
                        <a:buFont typeface="Wingdings" panose="05000000000000000000" pitchFamily="2" charset="2"/>
                        <a:buChar char="ü"/>
                      </a:pPr>
                      <a:r>
                        <a:rPr lang="en-US" dirty="0"/>
                        <a:t>Multiple different sources available</a:t>
                      </a:r>
                    </a:p>
                  </a:txBody>
                  <a:tcPr/>
                </a:tc>
                <a:tc>
                  <a:txBody>
                    <a:bodyPr/>
                    <a:lstStyle/>
                    <a:p>
                      <a:pPr marL="285750" indent="-285750">
                        <a:buClr>
                          <a:srgbClr val="FF0000"/>
                        </a:buClr>
                        <a:buFont typeface="Trebuchet MS" panose="020B0603020202020204" pitchFamily="34" charset="0"/>
                        <a:buChar char="х"/>
                      </a:pPr>
                      <a:r>
                        <a:rPr lang="en-US" dirty="0"/>
                        <a:t>Highest cost of capital</a:t>
                      </a:r>
                    </a:p>
                    <a:p>
                      <a:pPr marL="285750" indent="-285750">
                        <a:buClr>
                          <a:srgbClr val="FF0000"/>
                        </a:buClr>
                        <a:buFont typeface="Trebuchet MS" panose="020B0603020202020204" pitchFamily="34" charset="0"/>
                        <a:buChar char="х"/>
                      </a:pPr>
                      <a:r>
                        <a:rPr lang="en-US" dirty="0"/>
                        <a:t>May take 6 – 12 months to raise</a:t>
                      </a:r>
                    </a:p>
                  </a:txBody>
                  <a:tcPr/>
                </a:tc>
                <a:extLst>
                  <a:ext uri="{0D108BD9-81ED-4DB2-BD59-A6C34878D82A}">
                    <a16:rowId xmlns:a16="http://schemas.microsoft.com/office/drawing/2014/main" val="4182257781"/>
                  </a:ext>
                </a:extLst>
              </a:tr>
            </a:tbl>
          </a:graphicData>
        </a:graphic>
      </p:graphicFrame>
    </p:spTree>
    <p:extLst>
      <p:ext uri="{BB962C8B-B14F-4D97-AF65-F5344CB8AC3E}">
        <p14:creationId xmlns:p14="http://schemas.microsoft.com/office/powerpoint/2010/main" val="30231773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8CAE1D3-F143-454B-A1A3-FA8FE8846A82}"/>
              </a:ext>
            </a:extLst>
          </p:cNvPr>
          <p:cNvSpPr/>
          <p:nvPr/>
        </p:nvSpPr>
        <p:spPr>
          <a:xfrm>
            <a:off x="4481042" y="4587979"/>
            <a:ext cx="4635249" cy="1592943"/>
          </a:xfrm>
          <a:prstGeom prst="rect">
            <a:avLst/>
          </a:prstGeom>
          <a:solidFill>
            <a:schemeClr val="bg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1D059D30-57E3-4839-8950-C30D35BECC45}"/>
              </a:ext>
            </a:extLst>
          </p:cNvPr>
          <p:cNvSpPr/>
          <p:nvPr/>
        </p:nvSpPr>
        <p:spPr>
          <a:xfrm>
            <a:off x="4481042" y="2393992"/>
            <a:ext cx="4635249" cy="1592943"/>
          </a:xfrm>
          <a:prstGeom prst="rect">
            <a:avLst/>
          </a:prstGeom>
          <a:solidFill>
            <a:schemeClr val="bg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9AC4CE-D3B5-4439-B956-3255F6621C36}"/>
              </a:ext>
            </a:extLst>
          </p:cNvPr>
          <p:cNvSpPr>
            <a:spLocks noGrp="1"/>
          </p:cNvSpPr>
          <p:nvPr>
            <p:ph type="title"/>
          </p:nvPr>
        </p:nvSpPr>
        <p:spPr/>
        <p:txBody>
          <a:bodyPr/>
          <a:lstStyle/>
          <a:p>
            <a:r>
              <a:rPr lang="en-US" dirty="0"/>
              <a:t>Debt Capital Sources</a:t>
            </a:r>
          </a:p>
        </p:txBody>
      </p:sp>
      <p:sp>
        <p:nvSpPr>
          <p:cNvPr id="6" name="Slide Number Placeholder 5">
            <a:extLst>
              <a:ext uri="{FF2B5EF4-FFF2-40B4-BE49-F238E27FC236}">
                <a16:creationId xmlns:a16="http://schemas.microsoft.com/office/drawing/2014/main" id="{A2C05D67-1851-4DC8-BBCE-A1B39D427EEA}"/>
              </a:ext>
            </a:extLst>
          </p:cNvPr>
          <p:cNvSpPr>
            <a:spLocks noGrp="1"/>
          </p:cNvSpPr>
          <p:nvPr>
            <p:ph type="sldNum" sz="quarter" idx="12"/>
          </p:nvPr>
        </p:nvSpPr>
        <p:spPr>
          <a:xfrm>
            <a:off x="11368969" y="6415051"/>
            <a:ext cx="751673" cy="365125"/>
          </a:xfrm>
        </p:spPr>
        <p:txBody>
          <a:bodyPr/>
          <a:lstStyle/>
          <a:p>
            <a:pPr algn="ctr"/>
            <a:fld id="{519954A3-9DFD-4C44-94BA-B95130A3BA1C}" type="slidenum">
              <a:rPr lang="en-US" sz="1400" dirty="0">
                <a:solidFill>
                  <a:schemeClr val="bg1"/>
                </a:solidFill>
              </a:rPr>
              <a:pPr algn="ctr"/>
              <a:t>8</a:t>
            </a:fld>
            <a:endParaRPr lang="en-US" sz="1400" dirty="0">
              <a:solidFill>
                <a:schemeClr val="bg1"/>
              </a:solidFill>
            </a:endParaRPr>
          </a:p>
        </p:txBody>
      </p:sp>
      <p:sp>
        <p:nvSpPr>
          <p:cNvPr id="7" name="Content Placeholder 6">
            <a:extLst>
              <a:ext uri="{FF2B5EF4-FFF2-40B4-BE49-F238E27FC236}">
                <a16:creationId xmlns:a16="http://schemas.microsoft.com/office/drawing/2014/main" id="{3715121B-65B8-43AD-B402-AA2D8523A004}"/>
              </a:ext>
            </a:extLst>
          </p:cNvPr>
          <p:cNvSpPr>
            <a:spLocks noGrp="1"/>
          </p:cNvSpPr>
          <p:nvPr>
            <p:ph idx="1"/>
          </p:nvPr>
        </p:nvSpPr>
        <p:spPr>
          <a:xfrm>
            <a:off x="677334" y="2556373"/>
            <a:ext cx="3990200" cy="3880773"/>
          </a:xfrm>
        </p:spPr>
        <p:txBody>
          <a:bodyPr>
            <a:normAutofit/>
          </a:bodyPr>
          <a:lstStyle/>
          <a:p>
            <a:pPr>
              <a:spcBef>
                <a:spcPts val="2200"/>
              </a:spcBef>
              <a:spcAft>
                <a:spcPts val="2200"/>
              </a:spcAft>
            </a:pPr>
            <a:r>
              <a:rPr lang="en-US" sz="2400" dirty="0"/>
              <a:t>Credit cards</a:t>
            </a:r>
          </a:p>
          <a:p>
            <a:pPr>
              <a:spcBef>
                <a:spcPts val="2200"/>
              </a:spcBef>
              <a:spcAft>
                <a:spcPts val="2200"/>
              </a:spcAft>
            </a:pPr>
            <a:r>
              <a:rPr lang="en-US" sz="2400" dirty="0"/>
              <a:t>Convertible notes</a:t>
            </a:r>
          </a:p>
          <a:p>
            <a:pPr>
              <a:spcBef>
                <a:spcPts val="2200"/>
              </a:spcBef>
              <a:spcAft>
                <a:spcPts val="2200"/>
              </a:spcAft>
            </a:pPr>
            <a:r>
              <a:rPr lang="en-US" sz="2400" dirty="0"/>
              <a:t>SBA loans</a:t>
            </a:r>
          </a:p>
          <a:p>
            <a:pPr>
              <a:spcBef>
                <a:spcPts val="2200"/>
              </a:spcBef>
              <a:spcAft>
                <a:spcPts val="2200"/>
              </a:spcAft>
            </a:pPr>
            <a:r>
              <a:rPr lang="en-US" sz="2400" dirty="0"/>
              <a:t>Bank debt</a:t>
            </a:r>
          </a:p>
        </p:txBody>
      </p:sp>
      <p:sp>
        <p:nvSpPr>
          <p:cNvPr id="8" name="Content Placeholder 6">
            <a:extLst>
              <a:ext uri="{FF2B5EF4-FFF2-40B4-BE49-F238E27FC236}">
                <a16:creationId xmlns:a16="http://schemas.microsoft.com/office/drawing/2014/main" id="{5572CB54-A06A-427A-B86F-313787D21B79}"/>
              </a:ext>
            </a:extLst>
          </p:cNvPr>
          <p:cNvSpPr txBox="1">
            <a:spLocks/>
          </p:cNvSpPr>
          <p:nvPr/>
        </p:nvSpPr>
        <p:spPr>
          <a:xfrm>
            <a:off x="4477656" y="2600860"/>
            <a:ext cx="4411450" cy="1432235"/>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spcBef>
                <a:spcPts val="400"/>
              </a:spcBef>
              <a:spcAft>
                <a:spcPts val="400"/>
              </a:spcAft>
            </a:pPr>
            <a:r>
              <a:rPr lang="en-US" sz="2000" dirty="0"/>
              <a:t>Typical for seed rounds</a:t>
            </a:r>
          </a:p>
          <a:p>
            <a:pPr>
              <a:spcBef>
                <a:spcPts val="400"/>
              </a:spcBef>
              <a:spcAft>
                <a:spcPts val="400"/>
              </a:spcAft>
            </a:pPr>
            <a:r>
              <a:rPr lang="en-US" sz="2000" dirty="0"/>
              <a:t>Kicks can on valuation</a:t>
            </a:r>
          </a:p>
          <a:p>
            <a:pPr>
              <a:spcBef>
                <a:spcPts val="400"/>
              </a:spcBef>
              <a:spcAft>
                <a:spcPts val="400"/>
              </a:spcAft>
            </a:pPr>
            <a:r>
              <a:rPr lang="en-US" sz="2000" dirty="0"/>
              <a:t>May have cap &amp; coupon</a:t>
            </a:r>
          </a:p>
        </p:txBody>
      </p:sp>
      <p:sp>
        <p:nvSpPr>
          <p:cNvPr id="10" name="Content Placeholder 6">
            <a:extLst>
              <a:ext uri="{FF2B5EF4-FFF2-40B4-BE49-F238E27FC236}">
                <a16:creationId xmlns:a16="http://schemas.microsoft.com/office/drawing/2014/main" id="{A26AB017-BDAB-48FE-8752-6437822A24B8}"/>
              </a:ext>
            </a:extLst>
          </p:cNvPr>
          <p:cNvSpPr txBox="1">
            <a:spLocks/>
          </p:cNvSpPr>
          <p:nvPr/>
        </p:nvSpPr>
        <p:spPr>
          <a:xfrm>
            <a:off x="4497655" y="4838502"/>
            <a:ext cx="4919486" cy="1183665"/>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spcBef>
                <a:spcPts val="400"/>
              </a:spcBef>
              <a:spcAft>
                <a:spcPts val="400"/>
              </a:spcAft>
            </a:pPr>
            <a:r>
              <a:rPr lang="en-US" sz="2000" dirty="0"/>
              <a:t>Some will lend at 1x ARR</a:t>
            </a:r>
          </a:p>
          <a:p>
            <a:pPr>
              <a:spcBef>
                <a:spcPts val="400"/>
              </a:spcBef>
              <a:spcAft>
                <a:spcPts val="400"/>
              </a:spcAft>
            </a:pPr>
            <a:r>
              <a:rPr lang="en-US" sz="2000" dirty="0"/>
              <a:t>Later stage is 3x – 6x debt/ EBITDA</a:t>
            </a:r>
          </a:p>
          <a:p>
            <a:pPr>
              <a:spcBef>
                <a:spcPts val="400"/>
              </a:spcBef>
              <a:spcAft>
                <a:spcPts val="400"/>
              </a:spcAft>
            </a:pPr>
            <a:r>
              <a:rPr lang="en-US" sz="2000" dirty="0"/>
              <a:t>Could be around LIBOR + 600 area</a:t>
            </a:r>
          </a:p>
          <a:p>
            <a:pPr>
              <a:spcBef>
                <a:spcPts val="400"/>
              </a:spcBef>
              <a:spcAft>
                <a:spcPts val="400"/>
              </a:spcAft>
            </a:pPr>
            <a:endParaRPr lang="en-US" sz="2000" dirty="0"/>
          </a:p>
        </p:txBody>
      </p:sp>
      <p:sp>
        <p:nvSpPr>
          <p:cNvPr id="4" name="Rectangle 3">
            <a:extLst>
              <a:ext uri="{FF2B5EF4-FFF2-40B4-BE49-F238E27FC236}">
                <a16:creationId xmlns:a16="http://schemas.microsoft.com/office/drawing/2014/main" id="{DA5DA850-F011-410D-9F76-AF7CE6D7B8A7}"/>
              </a:ext>
            </a:extLst>
          </p:cNvPr>
          <p:cNvSpPr/>
          <p:nvPr/>
        </p:nvSpPr>
        <p:spPr>
          <a:xfrm>
            <a:off x="1015464" y="5331874"/>
            <a:ext cx="2600572" cy="507561"/>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B24BEEAC-BDC1-4993-814F-2272F69C24DB}"/>
              </a:ext>
            </a:extLst>
          </p:cNvPr>
          <p:cNvSpPr/>
          <p:nvPr/>
        </p:nvSpPr>
        <p:spPr>
          <a:xfrm>
            <a:off x="1015464" y="3463938"/>
            <a:ext cx="2600572" cy="507561"/>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5" name="Connector: Elbow 14">
            <a:extLst>
              <a:ext uri="{FF2B5EF4-FFF2-40B4-BE49-F238E27FC236}">
                <a16:creationId xmlns:a16="http://schemas.microsoft.com/office/drawing/2014/main" id="{1B4978A6-6EEC-4624-BD31-3C5ACDD69392}"/>
              </a:ext>
            </a:extLst>
          </p:cNvPr>
          <p:cNvCxnSpPr>
            <a:cxnSpLocks/>
            <a:stCxn id="11" idx="3"/>
            <a:endCxn id="13" idx="1"/>
          </p:cNvCxnSpPr>
          <p:nvPr/>
        </p:nvCxnSpPr>
        <p:spPr>
          <a:xfrm flipV="1">
            <a:off x="3616036" y="3190464"/>
            <a:ext cx="865006" cy="527255"/>
          </a:xfrm>
          <a:prstGeom prst="bentConnector3">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4EC25871-E3B6-4DFB-AE42-F99403A8394C}"/>
              </a:ext>
            </a:extLst>
          </p:cNvPr>
          <p:cNvCxnSpPr>
            <a:cxnSpLocks/>
            <a:stCxn id="4" idx="3"/>
            <a:endCxn id="12" idx="1"/>
          </p:cNvCxnSpPr>
          <p:nvPr/>
        </p:nvCxnSpPr>
        <p:spPr>
          <a:xfrm flipV="1">
            <a:off x="3616036" y="5384451"/>
            <a:ext cx="865006" cy="201204"/>
          </a:xfrm>
          <a:prstGeom prst="bentConnector3">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1" name="Content Placeholder 6">
            <a:extLst>
              <a:ext uri="{FF2B5EF4-FFF2-40B4-BE49-F238E27FC236}">
                <a16:creationId xmlns:a16="http://schemas.microsoft.com/office/drawing/2014/main" id="{DFF56B1B-61A3-46C2-AA21-2639C87983E3}"/>
              </a:ext>
            </a:extLst>
          </p:cNvPr>
          <p:cNvSpPr txBox="1">
            <a:spLocks/>
          </p:cNvSpPr>
          <p:nvPr/>
        </p:nvSpPr>
        <p:spPr>
          <a:xfrm>
            <a:off x="677333" y="1356380"/>
            <a:ext cx="9640373" cy="97471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2000" dirty="0"/>
              <a:t>Even for convertible debt there has to be a promise or ARR or EBITDA</a:t>
            </a:r>
          </a:p>
          <a:p>
            <a:r>
              <a:rPr lang="en-US" sz="2000" dirty="0"/>
              <a:t>A ‘strong credit’ has good cash flow, credit metrics, and favorable dynamics</a:t>
            </a:r>
          </a:p>
        </p:txBody>
      </p:sp>
      <p:pic>
        <p:nvPicPr>
          <p:cNvPr id="3" name="Picture 2">
            <a:extLst>
              <a:ext uri="{FF2B5EF4-FFF2-40B4-BE49-F238E27FC236}">
                <a16:creationId xmlns:a16="http://schemas.microsoft.com/office/drawing/2014/main" id="{5615CE5D-851A-4E85-878A-AFA1B876A185}"/>
              </a:ext>
            </a:extLst>
          </p:cNvPr>
          <p:cNvPicPr>
            <a:picLocks noChangeAspect="1"/>
          </p:cNvPicPr>
          <p:nvPr/>
        </p:nvPicPr>
        <p:blipFill>
          <a:blip r:embed="rId2"/>
          <a:stretch>
            <a:fillRect/>
          </a:stretch>
        </p:blipFill>
        <p:spPr>
          <a:xfrm>
            <a:off x="9235538" y="4513577"/>
            <a:ext cx="2804303" cy="1712626"/>
          </a:xfrm>
          <a:prstGeom prst="rect">
            <a:avLst/>
          </a:prstGeom>
        </p:spPr>
      </p:pic>
      <p:sp>
        <p:nvSpPr>
          <p:cNvPr id="18" name="TextBox 17">
            <a:extLst>
              <a:ext uri="{FF2B5EF4-FFF2-40B4-BE49-F238E27FC236}">
                <a16:creationId xmlns:a16="http://schemas.microsoft.com/office/drawing/2014/main" id="{D8BED141-C4E2-41F7-8DF0-DA2A4E24D108}"/>
              </a:ext>
            </a:extLst>
          </p:cNvPr>
          <p:cNvSpPr txBox="1"/>
          <p:nvPr/>
        </p:nvSpPr>
        <p:spPr>
          <a:xfrm>
            <a:off x="9979394" y="4535366"/>
            <a:ext cx="2052140" cy="331670"/>
          </a:xfrm>
          <a:prstGeom prst="rect">
            <a:avLst/>
          </a:prstGeom>
          <a:solidFill>
            <a:schemeClr val="bg1"/>
          </a:solidFill>
        </p:spPr>
        <p:txBody>
          <a:bodyPr wrap="square" rtlCol="0">
            <a:spAutoFit/>
          </a:bodyPr>
          <a:lstStyle/>
          <a:p>
            <a:r>
              <a:rPr lang="en-US" dirty="0"/>
              <a:t>30-day US LIBOR</a:t>
            </a:r>
          </a:p>
        </p:txBody>
      </p:sp>
      <p:sp>
        <p:nvSpPr>
          <p:cNvPr id="20" name="TextBox 19">
            <a:extLst>
              <a:ext uri="{FF2B5EF4-FFF2-40B4-BE49-F238E27FC236}">
                <a16:creationId xmlns:a16="http://schemas.microsoft.com/office/drawing/2014/main" id="{EA9366AD-B75E-4C30-A938-3DD124EC40C0}"/>
              </a:ext>
            </a:extLst>
          </p:cNvPr>
          <p:cNvSpPr txBox="1"/>
          <p:nvPr/>
        </p:nvSpPr>
        <p:spPr>
          <a:xfrm>
            <a:off x="4700153" y="6360468"/>
            <a:ext cx="3210044" cy="338554"/>
          </a:xfrm>
          <a:prstGeom prst="rect">
            <a:avLst/>
          </a:prstGeom>
          <a:noFill/>
        </p:spPr>
        <p:txBody>
          <a:bodyPr wrap="square" rtlCol="0">
            <a:spAutoFit/>
          </a:bodyPr>
          <a:lstStyle/>
          <a:p>
            <a:pPr algn="ctr"/>
            <a:r>
              <a:rPr lang="en-US" sz="1600" dirty="0"/>
              <a:t>www.linkedin.com/in/kelleyan</a:t>
            </a:r>
          </a:p>
        </p:txBody>
      </p:sp>
    </p:spTree>
    <p:extLst>
      <p:ext uri="{BB962C8B-B14F-4D97-AF65-F5344CB8AC3E}">
        <p14:creationId xmlns:p14="http://schemas.microsoft.com/office/powerpoint/2010/main" val="37162437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AC4CE-D3B5-4439-B956-3255F6621C36}"/>
              </a:ext>
            </a:extLst>
          </p:cNvPr>
          <p:cNvSpPr>
            <a:spLocks noGrp="1"/>
          </p:cNvSpPr>
          <p:nvPr>
            <p:ph type="title"/>
          </p:nvPr>
        </p:nvSpPr>
        <p:spPr/>
        <p:txBody>
          <a:bodyPr/>
          <a:lstStyle/>
          <a:p>
            <a:r>
              <a:rPr lang="en-US" dirty="0"/>
              <a:t>Equity &amp; Equity-Linked Sources</a:t>
            </a:r>
          </a:p>
        </p:txBody>
      </p:sp>
      <p:sp>
        <p:nvSpPr>
          <p:cNvPr id="6" name="Slide Number Placeholder 5">
            <a:extLst>
              <a:ext uri="{FF2B5EF4-FFF2-40B4-BE49-F238E27FC236}">
                <a16:creationId xmlns:a16="http://schemas.microsoft.com/office/drawing/2014/main" id="{A2C05D67-1851-4DC8-BBCE-A1B39D427EEA}"/>
              </a:ext>
            </a:extLst>
          </p:cNvPr>
          <p:cNvSpPr>
            <a:spLocks noGrp="1"/>
          </p:cNvSpPr>
          <p:nvPr>
            <p:ph type="sldNum" sz="quarter" idx="12"/>
          </p:nvPr>
        </p:nvSpPr>
        <p:spPr>
          <a:xfrm>
            <a:off x="11368969" y="6415051"/>
            <a:ext cx="751673" cy="365125"/>
          </a:xfrm>
        </p:spPr>
        <p:txBody>
          <a:bodyPr/>
          <a:lstStyle/>
          <a:p>
            <a:pPr algn="ctr"/>
            <a:fld id="{519954A3-9DFD-4C44-94BA-B95130A3BA1C}" type="slidenum">
              <a:rPr lang="en-US" sz="1400" dirty="0">
                <a:solidFill>
                  <a:schemeClr val="bg1"/>
                </a:solidFill>
              </a:rPr>
              <a:pPr algn="ctr"/>
              <a:t>9</a:t>
            </a:fld>
            <a:endParaRPr lang="en-US" sz="1400" dirty="0">
              <a:solidFill>
                <a:schemeClr val="bg1"/>
              </a:solidFill>
            </a:endParaRPr>
          </a:p>
        </p:txBody>
      </p:sp>
      <p:sp>
        <p:nvSpPr>
          <p:cNvPr id="7" name="Content Placeholder 6">
            <a:extLst>
              <a:ext uri="{FF2B5EF4-FFF2-40B4-BE49-F238E27FC236}">
                <a16:creationId xmlns:a16="http://schemas.microsoft.com/office/drawing/2014/main" id="{3715121B-65B8-43AD-B402-AA2D8523A004}"/>
              </a:ext>
            </a:extLst>
          </p:cNvPr>
          <p:cNvSpPr>
            <a:spLocks noGrp="1"/>
          </p:cNvSpPr>
          <p:nvPr>
            <p:ph idx="1"/>
          </p:nvPr>
        </p:nvSpPr>
        <p:spPr>
          <a:xfrm>
            <a:off x="677334" y="1415539"/>
            <a:ext cx="8596668" cy="4958378"/>
          </a:xfrm>
        </p:spPr>
        <p:txBody>
          <a:bodyPr>
            <a:normAutofit/>
          </a:bodyPr>
          <a:lstStyle/>
          <a:p>
            <a:pPr>
              <a:spcBef>
                <a:spcPts val="600"/>
              </a:spcBef>
              <a:spcAft>
                <a:spcPts val="600"/>
              </a:spcAft>
            </a:pPr>
            <a:r>
              <a:rPr lang="en-US" sz="2800" dirty="0"/>
              <a:t>Friends &amp; Family</a:t>
            </a:r>
          </a:p>
          <a:p>
            <a:pPr>
              <a:spcBef>
                <a:spcPts val="600"/>
              </a:spcBef>
              <a:spcAft>
                <a:spcPts val="600"/>
              </a:spcAft>
            </a:pPr>
            <a:r>
              <a:rPr lang="en-US" sz="2800" dirty="0"/>
              <a:t>Angel Investors</a:t>
            </a:r>
          </a:p>
          <a:p>
            <a:pPr>
              <a:spcBef>
                <a:spcPts val="600"/>
              </a:spcBef>
              <a:spcAft>
                <a:spcPts val="600"/>
              </a:spcAft>
            </a:pPr>
            <a:r>
              <a:rPr lang="en-US" sz="2800" dirty="0"/>
              <a:t>Accelerators</a:t>
            </a:r>
          </a:p>
          <a:p>
            <a:pPr>
              <a:spcBef>
                <a:spcPts val="600"/>
              </a:spcBef>
              <a:spcAft>
                <a:spcPts val="600"/>
              </a:spcAft>
            </a:pPr>
            <a:r>
              <a:rPr lang="en-US" sz="2800" dirty="0"/>
              <a:t>VCs</a:t>
            </a:r>
          </a:p>
          <a:p>
            <a:pPr>
              <a:spcBef>
                <a:spcPts val="600"/>
              </a:spcBef>
              <a:spcAft>
                <a:spcPts val="600"/>
              </a:spcAft>
            </a:pPr>
            <a:r>
              <a:rPr lang="en-US" sz="2800" dirty="0"/>
              <a:t>Mezzanine Lenders</a:t>
            </a:r>
          </a:p>
          <a:p>
            <a:pPr>
              <a:spcBef>
                <a:spcPts val="600"/>
              </a:spcBef>
              <a:spcAft>
                <a:spcPts val="600"/>
              </a:spcAft>
            </a:pPr>
            <a:r>
              <a:rPr lang="en-US" sz="2800" dirty="0"/>
              <a:t>Growth Equity</a:t>
            </a:r>
          </a:p>
          <a:p>
            <a:pPr>
              <a:spcBef>
                <a:spcPts val="600"/>
              </a:spcBef>
              <a:spcAft>
                <a:spcPts val="600"/>
              </a:spcAft>
            </a:pPr>
            <a:r>
              <a:rPr lang="en-US" sz="2800" dirty="0"/>
              <a:t>Private Equity</a:t>
            </a:r>
          </a:p>
          <a:p>
            <a:pPr>
              <a:spcBef>
                <a:spcPts val="600"/>
              </a:spcBef>
              <a:spcAft>
                <a:spcPts val="600"/>
              </a:spcAft>
            </a:pPr>
            <a:r>
              <a:rPr lang="en-US" sz="2800" dirty="0"/>
              <a:t>Public Equity</a:t>
            </a:r>
          </a:p>
        </p:txBody>
      </p:sp>
      <p:sp>
        <p:nvSpPr>
          <p:cNvPr id="8" name="Rectangle 7">
            <a:extLst>
              <a:ext uri="{FF2B5EF4-FFF2-40B4-BE49-F238E27FC236}">
                <a16:creationId xmlns:a16="http://schemas.microsoft.com/office/drawing/2014/main" id="{79A856F9-EEAB-4FE8-BF45-5829EEF3F7C6}"/>
              </a:ext>
            </a:extLst>
          </p:cNvPr>
          <p:cNvSpPr/>
          <p:nvPr/>
        </p:nvSpPr>
        <p:spPr>
          <a:xfrm>
            <a:off x="1015464" y="1974788"/>
            <a:ext cx="3220684" cy="1642284"/>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spcAft>
                <a:spcPts val="600"/>
              </a:spcAft>
            </a:pPr>
            <a:endParaRPr lang="en-US" dirty="0"/>
          </a:p>
        </p:txBody>
      </p:sp>
      <p:pic>
        <p:nvPicPr>
          <p:cNvPr id="3" name="Picture 2">
            <a:extLst>
              <a:ext uri="{FF2B5EF4-FFF2-40B4-BE49-F238E27FC236}">
                <a16:creationId xmlns:a16="http://schemas.microsoft.com/office/drawing/2014/main" id="{82CB960A-4764-4087-8111-148F6F1E9433}"/>
              </a:ext>
            </a:extLst>
          </p:cNvPr>
          <p:cNvPicPr>
            <a:picLocks noChangeAspect="1"/>
          </p:cNvPicPr>
          <p:nvPr/>
        </p:nvPicPr>
        <p:blipFill>
          <a:blip r:embed="rId2"/>
          <a:stretch>
            <a:fillRect/>
          </a:stretch>
        </p:blipFill>
        <p:spPr>
          <a:xfrm>
            <a:off x="4824245" y="1409103"/>
            <a:ext cx="4593981" cy="4593981"/>
          </a:xfrm>
          <a:prstGeom prst="rect">
            <a:avLst/>
          </a:prstGeom>
        </p:spPr>
      </p:pic>
      <p:sp>
        <p:nvSpPr>
          <p:cNvPr id="4" name="TextBox 3">
            <a:extLst>
              <a:ext uri="{FF2B5EF4-FFF2-40B4-BE49-F238E27FC236}">
                <a16:creationId xmlns:a16="http://schemas.microsoft.com/office/drawing/2014/main" id="{A49D41BE-FDBF-4BC2-8E75-5F662477EF32}"/>
              </a:ext>
            </a:extLst>
          </p:cNvPr>
          <p:cNvSpPr txBox="1"/>
          <p:nvPr/>
        </p:nvSpPr>
        <p:spPr>
          <a:xfrm>
            <a:off x="6382729" y="4033271"/>
            <a:ext cx="1504722" cy="707886"/>
          </a:xfrm>
          <a:prstGeom prst="rect">
            <a:avLst/>
          </a:prstGeom>
          <a:noFill/>
        </p:spPr>
        <p:txBody>
          <a:bodyPr wrap="square" rtlCol="0">
            <a:spAutoFit/>
          </a:bodyPr>
          <a:lstStyle/>
          <a:p>
            <a:pPr algn="ctr"/>
            <a:r>
              <a:rPr lang="en-US" sz="2000" dirty="0">
                <a:solidFill>
                  <a:schemeClr val="accent5">
                    <a:lumMod val="50000"/>
                  </a:schemeClr>
                </a:solidFill>
              </a:rPr>
              <a:t>Increasing Raise Size</a:t>
            </a:r>
          </a:p>
        </p:txBody>
      </p:sp>
      <p:sp>
        <p:nvSpPr>
          <p:cNvPr id="9" name="TextBox 8">
            <a:extLst>
              <a:ext uri="{FF2B5EF4-FFF2-40B4-BE49-F238E27FC236}">
                <a16:creationId xmlns:a16="http://schemas.microsoft.com/office/drawing/2014/main" id="{EBF38836-EFF0-41D3-94C7-69F054D8684C}"/>
              </a:ext>
            </a:extLst>
          </p:cNvPr>
          <p:cNvSpPr txBox="1"/>
          <p:nvPr/>
        </p:nvSpPr>
        <p:spPr>
          <a:xfrm>
            <a:off x="4700153" y="6360468"/>
            <a:ext cx="3210044" cy="338554"/>
          </a:xfrm>
          <a:prstGeom prst="rect">
            <a:avLst/>
          </a:prstGeom>
          <a:noFill/>
        </p:spPr>
        <p:txBody>
          <a:bodyPr wrap="square" rtlCol="0">
            <a:spAutoFit/>
          </a:bodyPr>
          <a:lstStyle/>
          <a:p>
            <a:pPr algn="ctr"/>
            <a:r>
              <a:rPr lang="en-US" sz="1600" dirty="0"/>
              <a:t>www.linkedin.com/in/kelleyan</a:t>
            </a:r>
          </a:p>
        </p:txBody>
      </p:sp>
    </p:spTree>
    <p:extLst>
      <p:ext uri="{BB962C8B-B14F-4D97-AF65-F5344CB8AC3E}">
        <p14:creationId xmlns:p14="http://schemas.microsoft.com/office/powerpoint/2010/main" val="32224731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AC4CE-D3B5-4439-B956-3255F6621C36}"/>
              </a:ext>
            </a:extLst>
          </p:cNvPr>
          <p:cNvSpPr>
            <a:spLocks noGrp="1"/>
          </p:cNvSpPr>
          <p:nvPr>
            <p:ph type="title"/>
          </p:nvPr>
        </p:nvSpPr>
        <p:spPr/>
        <p:txBody>
          <a:bodyPr/>
          <a:lstStyle/>
          <a:p>
            <a:r>
              <a:rPr lang="en-US" dirty="0"/>
              <a:t>Accelerators</a:t>
            </a:r>
          </a:p>
        </p:txBody>
      </p:sp>
      <p:sp>
        <p:nvSpPr>
          <p:cNvPr id="6" name="Slide Number Placeholder 5">
            <a:extLst>
              <a:ext uri="{FF2B5EF4-FFF2-40B4-BE49-F238E27FC236}">
                <a16:creationId xmlns:a16="http://schemas.microsoft.com/office/drawing/2014/main" id="{A2C05D67-1851-4DC8-BBCE-A1B39D427EEA}"/>
              </a:ext>
            </a:extLst>
          </p:cNvPr>
          <p:cNvSpPr>
            <a:spLocks noGrp="1"/>
          </p:cNvSpPr>
          <p:nvPr>
            <p:ph type="sldNum" sz="quarter" idx="12"/>
          </p:nvPr>
        </p:nvSpPr>
        <p:spPr>
          <a:xfrm>
            <a:off x="11368969" y="6415051"/>
            <a:ext cx="751673" cy="365125"/>
          </a:xfrm>
        </p:spPr>
        <p:txBody>
          <a:bodyPr/>
          <a:lstStyle/>
          <a:p>
            <a:pPr algn="ctr"/>
            <a:fld id="{519954A3-9DFD-4C44-94BA-B95130A3BA1C}" type="slidenum">
              <a:rPr lang="en-US" sz="1400" dirty="0">
                <a:solidFill>
                  <a:schemeClr val="bg1"/>
                </a:solidFill>
              </a:rPr>
              <a:pPr algn="ctr"/>
              <a:t>10</a:t>
            </a:fld>
            <a:endParaRPr lang="en-US" sz="1400" dirty="0">
              <a:solidFill>
                <a:schemeClr val="bg1"/>
              </a:solidFill>
            </a:endParaRPr>
          </a:p>
        </p:txBody>
      </p:sp>
      <p:sp>
        <p:nvSpPr>
          <p:cNvPr id="7" name="Content Placeholder 6">
            <a:extLst>
              <a:ext uri="{FF2B5EF4-FFF2-40B4-BE49-F238E27FC236}">
                <a16:creationId xmlns:a16="http://schemas.microsoft.com/office/drawing/2014/main" id="{3715121B-65B8-43AD-B402-AA2D8523A004}"/>
              </a:ext>
            </a:extLst>
          </p:cNvPr>
          <p:cNvSpPr>
            <a:spLocks noGrp="1"/>
          </p:cNvSpPr>
          <p:nvPr>
            <p:ph idx="1"/>
          </p:nvPr>
        </p:nvSpPr>
        <p:spPr>
          <a:xfrm>
            <a:off x="677334" y="1320540"/>
            <a:ext cx="8977818" cy="1791046"/>
          </a:xfrm>
        </p:spPr>
        <p:txBody>
          <a:bodyPr>
            <a:normAutofit/>
          </a:bodyPr>
          <a:lstStyle/>
          <a:p>
            <a:pPr>
              <a:spcAft>
                <a:spcPts val="1000"/>
              </a:spcAft>
            </a:pPr>
            <a:r>
              <a:rPr lang="en-US" sz="2000" dirty="0"/>
              <a:t>Good networking opportunity and support typically for seed to Series B</a:t>
            </a:r>
          </a:p>
          <a:p>
            <a:pPr>
              <a:spcAft>
                <a:spcPts val="1000"/>
              </a:spcAft>
            </a:pPr>
            <a:r>
              <a:rPr lang="en-US" sz="2000" dirty="0"/>
              <a:t>May add a stamp of credibility if company ‘graduates’</a:t>
            </a:r>
          </a:p>
          <a:p>
            <a:pPr>
              <a:spcAft>
                <a:spcPts val="1000"/>
              </a:spcAft>
            </a:pPr>
            <a:r>
              <a:rPr lang="en-US" sz="2000" dirty="0"/>
              <a:t>May or may not take equity in your business</a:t>
            </a:r>
          </a:p>
        </p:txBody>
      </p:sp>
      <p:pic>
        <p:nvPicPr>
          <p:cNvPr id="3" name="Picture 2">
            <a:extLst>
              <a:ext uri="{FF2B5EF4-FFF2-40B4-BE49-F238E27FC236}">
                <a16:creationId xmlns:a16="http://schemas.microsoft.com/office/drawing/2014/main" id="{B3EBCE24-CBE3-41BC-8E3F-73C5E638035A}"/>
              </a:ext>
            </a:extLst>
          </p:cNvPr>
          <p:cNvPicPr>
            <a:picLocks noChangeAspect="1"/>
          </p:cNvPicPr>
          <p:nvPr/>
        </p:nvPicPr>
        <p:blipFill>
          <a:blip r:embed="rId2"/>
          <a:stretch>
            <a:fillRect/>
          </a:stretch>
        </p:blipFill>
        <p:spPr>
          <a:xfrm>
            <a:off x="628764" y="3259947"/>
            <a:ext cx="2590572" cy="551033"/>
          </a:xfrm>
          <a:prstGeom prst="rect">
            <a:avLst/>
          </a:prstGeom>
        </p:spPr>
      </p:pic>
      <p:pic>
        <p:nvPicPr>
          <p:cNvPr id="4" name="Picture 3">
            <a:extLst>
              <a:ext uri="{FF2B5EF4-FFF2-40B4-BE49-F238E27FC236}">
                <a16:creationId xmlns:a16="http://schemas.microsoft.com/office/drawing/2014/main" id="{E09D7914-DC8C-4503-BAD1-B6A37D5640A1}"/>
              </a:ext>
            </a:extLst>
          </p:cNvPr>
          <p:cNvPicPr>
            <a:picLocks noChangeAspect="1"/>
          </p:cNvPicPr>
          <p:nvPr/>
        </p:nvPicPr>
        <p:blipFill>
          <a:blip r:embed="rId3"/>
          <a:stretch>
            <a:fillRect/>
          </a:stretch>
        </p:blipFill>
        <p:spPr>
          <a:xfrm>
            <a:off x="839958" y="5485935"/>
            <a:ext cx="1306735" cy="858037"/>
          </a:xfrm>
          <a:prstGeom prst="rect">
            <a:avLst/>
          </a:prstGeom>
        </p:spPr>
      </p:pic>
      <p:pic>
        <p:nvPicPr>
          <p:cNvPr id="8" name="Picture 7">
            <a:extLst>
              <a:ext uri="{FF2B5EF4-FFF2-40B4-BE49-F238E27FC236}">
                <a16:creationId xmlns:a16="http://schemas.microsoft.com/office/drawing/2014/main" id="{04595405-CE14-4038-8D16-8D9857858AD6}"/>
              </a:ext>
            </a:extLst>
          </p:cNvPr>
          <p:cNvPicPr>
            <a:picLocks noChangeAspect="1"/>
          </p:cNvPicPr>
          <p:nvPr/>
        </p:nvPicPr>
        <p:blipFill>
          <a:blip r:embed="rId4"/>
          <a:stretch>
            <a:fillRect/>
          </a:stretch>
        </p:blipFill>
        <p:spPr>
          <a:xfrm>
            <a:off x="6149175" y="3178242"/>
            <a:ext cx="2744932" cy="632114"/>
          </a:xfrm>
          <a:prstGeom prst="rect">
            <a:avLst/>
          </a:prstGeom>
        </p:spPr>
      </p:pic>
      <p:pic>
        <p:nvPicPr>
          <p:cNvPr id="9" name="Picture 8">
            <a:extLst>
              <a:ext uri="{FF2B5EF4-FFF2-40B4-BE49-F238E27FC236}">
                <a16:creationId xmlns:a16="http://schemas.microsoft.com/office/drawing/2014/main" id="{42007EA8-E2D0-4B7D-B130-7621F97D0C01}"/>
              </a:ext>
            </a:extLst>
          </p:cNvPr>
          <p:cNvPicPr>
            <a:picLocks noChangeAspect="1"/>
          </p:cNvPicPr>
          <p:nvPr/>
        </p:nvPicPr>
        <p:blipFill>
          <a:blip r:embed="rId5"/>
          <a:stretch>
            <a:fillRect/>
          </a:stretch>
        </p:blipFill>
        <p:spPr>
          <a:xfrm>
            <a:off x="9562169" y="4429672"/>
            <a:ext cx="1525004" cy="791829"/>
          </a:xfrm>
          <a:prstGeom prst="rect">
            <a:avLst/>
          </a:prstGeom>
        </p:spPr>
      </p:pic>
      <p:pic>
        <p:nvPicPr>
          <p:cNvPr id="10" name="Picture 9">
            <a:extLst>
              <a:ext uri="{FF2B5EF4-FFF2-40B4-BE49-F238E27FC236}">
                <a16:creationId xmlns:a16="http://schemas.microsoft.com/office/drawing/2014/main" id="{822AC433-E6C6-4C20-8091-A078D24EDFFB}"/>
              </a:ext>
            </a:extLst>
          </p:cNvPr>
          <p:cNvPicPr>
            <a:picLocks noChangeAspect="1"/>
          </p:cNvPicPr>
          <p:nvPr/>
        </p:nvPicPr>
        <p:blipFill>
          <a:blip r:embed="rId6"/>
          <a:stretch>
            <a:fillRect/>
          </a:stretch>
        </p:blipFill>
        <p:spPr>
          <a:xfrm>
            <a:off x="746518" y="4401332"/>
            <a:ext cx="1400175" cy="866775"/>
          </a:xfrm>
          <a:prstGeom prst="rect">
            <a:avLst/>
          </a:prstGeom>
        </p:spPr>
      </p:pic>
      <p:pic>
        <p:nvPicPr>
          <p:cNvPr id="11" name="Picture 10">
            <a:extLst>
              <a:ext uri="{FF2B5EF4-FFF2-40B4-BE49-F238E27FC236}">
                <a16:creationId xmlns:a16="http://schemas.microsoft.com/office/drawing/2014/main" id="{775E546B-0FA7-4C95-B316-1B7D7E47741A}"/>
              </a:ext>
            </a:extLst>
          </p:cNvPr>
          <p:cNvPicPr>
            <a:picLocks noChangeAspect="1"/>
          </p:cNvPicPr>
          <p:nvPr/>
        </p:nvPicPr>
        <p:blipFill>
          <a:blip r:embed="rId7"/>
          <a:stretch>
            <a:fillRect/>
          </a:stretch>
        </p:blipFill>
        <p:spPr>
          <a:xfrm>
            <a:off x="2536848" y="4330157"/>
            <a:ext cx="1753286" cy="980409"/>
          </a:xfrm>
          <a:prstGeom prst="rect">
            <a:avLst/>
          </a:prstGeom>
        </p:spPr>
      </p:pic>
      <p:pic>
        <p:nvPicPr>
          <p:cNvPr id="12" name="Picture 11">
            <a:extLst>
              <a:ext uri="{FF2B5EF4-FFF2-40B4-BE49-F238E27FC236}">
                <a16:creationId xmlns:a16="http://schemas.microsoft.com/office/drawing/2014/main" id="{18027CF7-A339-4D05-B0D6-12FC0EB35A6E}"/>
              </a:ext>
            </a:extLst>
          </p:cNvPr>
          <p:cNvPicPr>
            <a:picLocks noChangeAspect="1"/>
          </p:cNvPicPr>
          <p:nvPr/>
        </p:nvPicPr>
        <p:blipFill>
          <a:blip r:embed="rId8"/>
          <a:stretch>
            <a:fillRect/>
          </a:stretch>
        </p:blipFill>
        <p:spPr>
          <a:xfrm>
            <a:off x="4826327" y="4434254"/>
            <a:ext cx="1574380" cy="837285"/>
          </a:xfrm>
          <a:prstGeom prst="rect">
            <a:avLst/>
          </a:prstGeom>
        </p:spPr>
      </p:pic>
      <p:pic>
        <p:nvPicPr>
          <p:cNvPr id="13" name="Picture 12">
            <a:extLst>
              <a:ext uri="{FF2B5EF4-FFF2-40B4-BE49-F238E27FC236}">
                <a16:creationId xmlns:a16="http://schemas.microsoft.com/office/drawing/2014/main" id="{CFA3EB8F-69A9-40E0-AEB5-ED78028B87E4}"/>
              </a:ext>
            </a:extLst>
          </p:cNvPr>
          <p:cNvPicPr>
            <a:picLocks noChangeAspect="1"/>
          </p:cNvPicPr>
          <p:nvPr/>
        </p:nvPicPr>
        <p:blipFill>
          <a:blip r:embed="rId9"/>
          <a:stretch>
            <a:fillRect/>
          </a:stretch>
        </p:blipFill>
        <p:spPr>
          <a:xfrm>
            <a:off x="7039114" y="4398075"/>
            <a:ext cx="1792025" cy="981769"/>
          </a:xfrm>
          <a:prstGeom prst="rect">
            <a:avLst/>
          </a:prstGeom>
        </p:spPr>
      </p:pic>
      <p:pic>
        <p:nvPicPr>
          <p:cNvPr id="14" name="Picture 13">
            <a:extLst>
              <a:ext uri="{FF2B5EF4-FFF2-40B4-BE49-F238E27FC236}">
                <a16:creationId xmlns:a16="http://schemas.microsoft.com/office/drawing/2014/main" id="{24508B8A-AE9C-4EF1-A8CA-0986CAAAC779}"/>
              </a:ext>
            </a:extLst>
          </p:cNvPr>
          <p:cNvPicPr>
            <a:picLocks noChangeAspect="1"/>
          </p:cNvPicPr>
          <p:nvPr/>
        </p:nvPicPr>
        <p:blipFill>
          <a:blip r:embed="rId10"/>
          <a:stretch>
            <a:fillRect/>
          </a:stretch>
        </p:blipFill>
        <p:spPr>
          <a:xfrm>
            <a:off x="2505511" y="5514894"/>
            <a:ext cx="1960104" cy="787190"/>
          </a:xfrm>
          <a:prstGeom prst="rect">
            <a:avLst/>
          </a:prstGeom>
        </p:spPr>
      </p:pic>
      <p:pic>
        <p:nvPicPr>
          <p:cNvPr id="15" name="Picture 14">
            <a:extLst>
              <a:ext uri="{FF2B5EF4-FFF2-40B4-BE49-F238E27FC236}">
                <a16:creationId xmlns:a16="http://schemas.microsoft.com/office/drawing/2014/main" id="{569E4FEE-0F7C-4018-95C8-6DE972612E55}"/>
              </a:ext>
            </a:extLst>
          </p:cNvPr>
          <p:cNvPicPr>
            <a:picLocks noChangeAspect="1"/>
          </p:cNvPicPr>
          <p:nvPr/>
        </p:nvPicPr>
        <p:blipFill>
          <a:blip r:embed="rId11"/>
          <a:stretch>
            <a:fillRect/>
          </a:stretch>
        </p:blipFill>
        <p:spPr>
          <a:xfrm>
            <a:off x="3588046" y="3177013"/>
            <a:ext cx="2504695" cy="689605"/>
          </a:xfrm>
          <a:prstGeom prst="rect">
            <a:avLst/>
          </a:prstGeom>
        </p:spPr>
      </p:pic>
      <p:pic>
        <p:nvPicPr>
          <p:cNvPr id="16" name="Picture 15">
            <a:extLst>
              <a:ext uri="{FF2B5EF4-FFF2-40B4-BE49-F238E27FC236}">
                <a16:creationId xmlns:a16="http://schemas.microsoft.com/office/drawing/2014/main" id="{B42E8FB8-A522-4F63-ACE0-E38A1149EF0B}"/>
              </a:ext>
            </a:extLst>
          </p:cNvPr>
          <p:cNvPicPr>
            <a:picLocks noChangeAspect="1"/>
          </p:cNvPicPr>
          <p:nvPr/>
        </p:nvPicPr>
        <p:blipFill>
          <a:blip r:embed="rId12"/>
          <a:stretch>
            <a:fillRect/>
          </a:stretch>
        </p:blipFill>
        <p:spPr>
          <a:xfrm>
            <a:off x="4760086" y="5441811"/>
            <a:ext cx="1543087" cy="946285"/>
          </a:xfrm>
          <a:prstGeom prst="rect">
            <a:avLst/>
          </a:prstGeom>
        </p:spPr>
      </p:pic>
      <p:pic>
        <p:nvPicPr>
          <p:cNvPr id="17" name="Picture 16">
            <a:extLst>
              <a:ext uri="{FF2B5EF4-FFF2-40B4-BE49-F238E27FC236}">
                <a16:creationId xmlns:a16="http://schemas.microsoft.com/office/drawing/2014/main" id="{712B5C08-4EF7-4B1C-A110-13E78A63798E}"/>
              </a:ext>
            </a:extLst>
          </p:cNvPr>
          <p:cNvPicPr>
            <a:picLocks noChangeAspect="1"/>
          </p:cNvPicPr>
          <p:nvPr/>
        </p:nvPicPr>
        <p:blipFill>
          <a:blip r:embed="rId13"/>
          <a:stretch>
            <a:fillRect/>
          </a:stretch>
        </p:blipFill>
        <p:spPr>
          <a:xfrm>
            <a:off x="6636944" y="5351062"/>
            <a:ext cx="2194195" cy="804341"/>
          </a:xfrm>
          <a:prstGeom prst="rect">
            <a:avLst/>
          </a:prstGeom>
        </p:spPr>
      </p:pic>
      <p:pic>
        <p:nvPicPr>
          <p:cNvPr id="18" name="Picture 17">
            <a:extLst>
              <a:ext uri="{FF2B5EF4-FFF2-40B4-BE49-F238E27FC236}">
                <a16:creationId xmlns:a16="http://schemas.microsoft.com/office/drawing/2014/main" id="{DF5D9C24-27F9-4F4C-A436-81F22903B352}"/>
              </a:ext>
            </a:extLst>
          </p:cNvPr>
          <p:cNvPicPr>
            <a:picLocks noChangeAspect="1"/>
          </p:cNvPicPr>
          <p:nvPr/>
        </p:nvPicPr>
        <p:blipFill>
          <a:blip r:embed="rId14"/>
          <a:stretch>
            <a:fillRect/>
          </a:stretch>
        </p:blipFill>
        <p:spPr>
          <a:xfrm>
            <a:off x="9047896" y="3350174"/>
            <a:ext cx="2696909" cy="419914"/>
          </a:xfrm>
          <a:prstGeom prst="rect">
            <a:avLst/>
          </a:prstGeom>
        </p:spPr>
      </p:pic>
      <p:pic>
        <p:nvPicPr>
          <p:cNvPr id="19" name="Picture 18">
            <a:extLst>
              <a:ext uri="{FF2B5EF4-FFF2-40B4-BE49-F238E27FC236}">
                <a16:creationId xmlns:a16="http://schemas.microsoft.com/office/drawing/2014/main" id="{3BD3F492-E4DA-4569-BD7F-DBDB93AF20A8}"/>
              </a:ext>
            </a:extLst>
          </p:cNvPr>
          <p:cNvPicPr>
            <a:picLocks noChangeAspect="1"/>
          </p:cNvPicPr>
          <p:nvPr/>
        </p:nvPicPr>
        <p:blipFill>
          <a:blip r:embed="rId15"/>
          <a:stretch>
            <a:fillRect/>
          </a:stretch>
        </p:blipFill>
        <p:spPr>
          <a:xfrm>
            <a:off x="9317931" y="5440725"/>
            <a:ext cx="1631631" cy="1109224"/>
          </a:xfrm>
          <a:prstGeom prst="rect">
            <a:avLst/>
          </a:prstGeom>
        </p:spPr>
      </p:pic>
    </p:spTree>
    <p:extLst>
      <p:ext uri="{BB962C8B-B14F-4D97-AF65-F5344CB8AC3E}">
        <p14:creationId xmlns:p14="http://schemas.microsoft.com/office/powerpoint/2010/main" val="6788736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AC4CE-D3B5-4439-B956-3255F6621C36}"/>
              </a:ext>
            </a:extLst>
          </p:cNvPr>
          <p:cNvSpPr>
            <a:spLocks noGrp="1"/>
          </p:cNvSpPr>
          <p:nvPr>
            <p:ph type="title"/>
          </p:nvPr>
        </p:nvSpPr>
        <p:spPr/>
        <p:txBody>
          <a:bodyPr/>
          <a:lstStyle/>
          <a:p>
            <a:r>
              <a:rPr lang="en-US" dirty="0"/>
              <a:t>Angel Investors</a:t>
            </a:r>
          </a:p>
        </p:txBody>
      </p:sp>
      <p:sp>
        <p:nvSpPr>
          <p:cNvPr id="6" name="Slide Number Placeholder 5">
            <a:extLst>
              <a:ext uri="{FF2B5EF4-FFF2-40B4-BE49-F238E27FC236}">
                <a16:creationId xmlns:a16="http://schemas.microsoft.com/office/drawing/2014/main" id="{A2C05D67-1851-4DC8-BBCE-A1B39D427EEA}"/>
              </a:ext>
            </a:extLst>
          </p:cNvPr>
          <p:cNvSpPr>
            <a:spLocks noGrp="1"/>
          </p:cNvSpPr>
          <p:nvPr>
            <p:ph type="sldNum" sz="quarter" idx="12"/>
          </p:nvPr>
        </p:nvSpPr>
        <p:spPr>
          <a:xfrm>
            <a:off x="11368969" y="6415051"/>
            <a:ext cx="751673" cy="365125"/>
          </a:xfrm>
        </p:spPr>
        <p:txBody>
          <a:bodyPr/>
          <a:lstStyle/>
          <a:p>
            <a:pPr algn="ctr"/>
            <a:fld id="{519954A3-9DFD-4C44-94BA-B95130A3BA1C}" type="slidenum">
              <a:rPr lang="en-US" sz="1400" dirty="0">
                <a:solidFill>
                  <a:schemeClr val="bg1"/>
                </a:solidFill>
              </a:rPr>
              <a:pPr algn="ctr"/>
              <a:t>11</a:t>
            </a:fld>
            <a:endParaRPr lang="en-US" sz="1400" dirty="0">
              <a:solidFill>
                <a:schemeClr val="bg1"/>
              </a:solidFill>
            </a:endParaRPr>
          </a:p>
        </p:txBody>
      </p:sp>
      <p:sp>
        <p:nvSpPr>
          <p:cNvPr id="7" name="Content Placeholder 6">
            <a:extLst>
              <a:ext uri="{FF2B5EF4-FFF2-40B4-BE49-F238E27FC236}">
                <a16:creationId xmlns:a16="http://schemas.microsoft.com/office/drawing/2014/main" id="{3715121B-65B8-43AD-B402-AA2D8523A004}"/>
              </a:ext>
            </a:extLst>
          </p:cNvPr>
          <p:cNvSpPr>
            <a:spLocks noGrp="1"/>
          </p:cNvSpPr>
          <p:nvPr>
            <p:ph idx="1"/>
          </p:nvPr>
        </p:nvSpPr>
        <p:spPr>
          <a:xfrm>
            <a:off x="677334" y="1246183"/>
            <a:ext cx="9490248" cy="3880773"/>
          </a:xfrm>
        </p:spPr>
        <p:txBody>
          <a:bodyPr>
            <a:normAutofit/>
          </a:bodyPr>
          <a:lstStyle/>
          <a:p>
            <a:pPr>
              <a:spcBef>
                <a:spcPts val="400"/>
              </a:spcBef>
            </a:pPr>
            <a:r>
              <a:rPr lang="en-US" sz="2000" dirty="0"/>
              <a:t>Typically write $25K - $1M checks &amp; so more than friends &amp; family</a:t>
            </a:r>
          </a:p>
          <a:p>
            <a:pPr>
              <a:spcBef>
                <a:spcPts val="400"/>
              </a:spcBef>
            </a:pPr>
            <a:r>
              <a:rPr lang="en-US" sz="2000" dirty="0"/>
              <a:t>High net worth individuals that you know or can get to through a friend</a:t>
            </a:r>
          </a:p>
          <a:p>
            <a:pPr>
              <a:spcBef>
                <a:spcPts val="400"/>
              </a:spcBef>
            </a:pPr>
            <a:r>
              <a:rPr lang="en-US" sz="2000" dirty="0"/>
              <a:t>You will need to work your own personal network</a:t>
            </a:r>
          </a:p>
        </p:txBody>
      </p:sp>
      <p:sp>
        <p:nvSpPr>
          <p:cNvPr id="3" name="TextBox 2">
            <a:extLst>
              <a:ext uri="{FF2B5EF4-FFF2-40B4-BE49-F238E27FC236}">
                <a16:creationId xmlns:a16="http://schemas.microsoft.com/office/drawing/2014/main" id="{74A51789-403B-4540-829B-D9404A9C5DA4}"/>
              </a:ext>
            </a:extLst>
          </p:cNvPr>
          <p:cNvSpPr txBox="1"/>
          <p:nvPr/>
        </p:nvSpPr>
        <p:spPr>
          <a:xfrm>
            <a:off x="709676" y="2947914"/>
            <a:ext cx="5609230" cy="3570208"/>
          </a:xfrm>
          <a:prstGeom prst="rect">
            <a:avLst/>
          </a:prstGeom>
          <a:noFill/>
        </p:spPr>
        <p:txBody>
          <a:bodyPr wrap="square" rtlCol="0">
            <a:spAutoFit/>
          </a:bodyPr>
          <a:lstStyle/>
          <a:p>
            <a:pPr>
              <a:spcBef>
                <a:spcPts val="300"/>
              </a:spcBef>
              <a:spcAft>
                <a:spcPts val="300"/>
              </a:spcAft>
            </a:pPr>
            <a:r>
              <a:rPr lang="en-US" sz="1600" b="1" dirty="0"/>
              <a:t>1) </a:t>
            </a:r>
            <a:r>
              <a:rPr lang="en-US" sz="1600" b="1" dirty="0">
                <a:hlinkClick r:id="rId2"/>
              </a:rPr>
              <a:t>Fabrice Grinda </a:t>
            </a:r>
            <a:r>
              <a:rPr lang="en-US" sz="1600" dirty="0"/>
              <a:t>(245 investments)</a:t>
            </a:r>
          </a:p>
          <a:p>
            <a:pPr>
              <a:spcBef>
                <a:spcPts val="300"/>
              </a:spcBef>
              <a:spcAft>
                <a:spcPts val="300"/>
              </a:spcAft>
            </a:pPr>
            <a:r>
              <a:rPr lang="en-US" sz="1600" b="1" dirty="0"/>
              <a:t>2) </a:t>
            </a:r>
            <a:r>
              <a:rPr lang="en-US" sz="1600" b="1" dirty="0">
                <a:hlinkClick r:id="rId3"/>
              </a:rPr>
              <a:t>Paul Buchheit</a:t>
            </a:r>
            <a:r>
              <a:rPr lang="en-US" sz="1600" b="1" dirty="0"/>
              <a:t> </a:t>
            </a:r>
            <a:r>
              <a:rPr lang="en-US" sz="1600" dirty="0"/>
              <a:t>(135 investments)</a:t>
            </a:r>
          </a:p>
          <a:p>
            <a:pPr>
              <a:spcBef>
                <a:spcPts val="300"/>
              </a:spcBef>
              <a:spcAft>
                <a:spcPts val="300"/>
              </a:spcAft>
            </a:pPr>
            <a:r>
              <a:rPr lang="en-US" sz="1600" b="1" dirty="0"/>
              <a:t>3) </a:t>
            </a:r>
            <a:r>
              <a:rPr lang="en-US" sz="1600" b="1" dirty="0">
                <a:hlinkClick r:id="rId4"/>
              </a:rPr>
              <a:t>Wei Guo </a:t>
            </a:r>
            <a:r>
              <a:rPr lang="en-US" sz="1600" dirty="0"/>
              <a:t>(129 investments)</a:t>
            </a:r>
          </a:p>
          <a:p>
            <a:pPr>
              <a:spcBef>
                <a:spcPts val="300"/>
              </a:spcBef>
              <a:spcAft>
                <a:spcPts val="300"/>
              </a:spcAft>
            </a:pPr>
            <a:r>
              <a:rPr lang="en-US" sz="1600" b="1" dirty="0"/>
              <a:t>4) </a:t>
            </a:r>
            <a:r>
              <a:rPr lang="en-US" sz="1600" b="1" dirty="0">
                <a:hlinkClick r:id="rId5"/>
              </a:rPr>
              <a:t>Alexis Ohanian</a:t>
            </a:r>
            <a:r>
              <a:rPr lang="en-US" sz="1600" b="1" dirty="0"/>
              <a:t> </a:t>
            </a:r>
            <a:r>
              <a:rPr lang="en-US" sz="1600" dirty="0"/>
              <a:t>(126 investments)</a:t>
            </a:r>
          </a:p>
          <a:p>
            <a:pPr>
              <a:spcBef>
                <a:spcPts val="300"/>
              </a:spcBef>
              <a:spcAft>
                <a:spcPts val="300"/>
              </a:spcAft>
            </a:pPr>
            <a:r>
              <a:rPr lang="en-US" sz="1600" b="1" dirty="0"/>
              <a:t>5) </a:t>
            </a:r>
            <a:r>
              <a:rPr lang="en-US" sz="1600" b="1" dirty="0">
                <a:hlinkClick r:id="rId6"/>
              </a:rPr>
              <a:t>Scott Banister</a:t>
            </a:r>
            <a:r>
              <a:rPr lang="en-US" sz="1600" dirty="0"/>
              <a:t> (126 investments)</a:t>
            </a:r>
          </a:p>
          <a:p>
            <a:pPr>
              <a:spcBef>
                <a:spcPts val="300"/>
              </a:spcBef>
              <a:spcAft>
                <a:spcPts val="300"/>
              </a:spcAft>
            </a:pPr>
            <a:r>
              <a:rPr lang="en-US" sz="1600" b="1" dirty="0"/>
              <a:t>6) </a:t>
            </a:r>
            <a:r>
              <a:rPr lang="en-US" sz="1600" b="1" dirty="0">
                <a:hlinkClick r:id="rId7"/>
              </a:rPr>
              <a:t>Naval Ravikant </a:t>
            </a:r>
            <a:r>
              <a:rPr lang="en-US" sz="1600" dirty="0"/>
              <a:t>(121 investments)</a:t>
            </a:r>
          </a:p>
          <a:p>
            <a:pPr>
              <a:spcBef>
                <a:spcPts val="300"/>
              </a:spcBef>
              <a:spcAft>
                <a:spcPts val="300"/>
              </a:spcAft>
            </a:pPr>
            <a:r>
              <a:rPr lang="en-US" sz="1600" b="1" dirty="0"/>
              <a:t>7) </a:t>
            </a:r>
            <a:r>
              <a:rPr lang="en-US" sz="1600" b="1" dirty="0">
                <a:hlinkClick r:id="rId8"/>
              </a:rPr>
              <a:t>Daniel Curran</a:t>
            </a:r>
            <a:r>
              <a:rPr lang="en-US" sz="1600" b="1" dirty="0"/>
              <a:t> </a:t>
            </a:r>
            <a:r>
              <a:rPr lang="en-US" sz="1600" dirty="0"/>
              <a:t>(114 investments)</a:t>
            </a:r>
          </a:p>
          <a:p>
            <a:pPr>
              <a:spcBef>
                <a:spcPts val="300"/>
              </a:spcBef>
              <a:spcAft>
                <a:spcPts val="300"/>
              </a:spcAft>
            </a:pPr>
            <a:r>
              <a:rPr lang="en-US" sz="1600" b="1" dirty="0"/>
              <a:t>8) </a:t>
            </a:r>
            <a:r>
              <a:rPr lang="en-US" sz="1600" b="1" dirty="0">
                <a:hlinkClick r:id="rId9"/>
              </a:rPr>
              <a:t>Marc Benioff </a:t>
            </a:r>
            <a:r>
              <a:rPr lang="en-US" sz="1600" dirty="0"/>
              <a:t>(113 investments)</a:t>
            </a:r>
          </a:p>
          <a:p>
            <a:pPr>
              <a:spcBef>
                <a:spcPts val="300"/>
              </a:spcBef>
              <a:spcAft>
                <a:spcPts val="300"/>
              </a:spcAft>
            </a:pPr>
            <a:r>
              <a:rPr lang="en-US" sz="1600" b="1" dirty="0"/>
              <a:t>9) </a:t>
            </a:r>
            <a:r>
              <a:rPr lang="en-US" sz="1600" b="1" dirty="0">
                <a:hlinkClick r:id="rId10"/>
              </a:rPr>
              <a:t>Mark Cuban</a:t>
            </a:r>
            <a:r>
              <a:rPr lang="en-US" sz="1600" b="1" dirty="0"/>
              <a:t> </a:t>
            </a:r>
            <a:r>
              <a:rPr lang="en-US" sz="1600" dirty="0"/>
              <a:t>(110 investments)</a:t>
            </a:r>
          </a:p>
          <a:p>
            <a:pPr>
              <a:spcBef>
                <a:spcPts val="300"/>
              </a:spcBef>
              <a:spcAft>
                <a:spcPts val="300"/>
              </a:spcAft>
            </a:pPr>
            <a:r>
              <a:rPr lang="en-US" sz="1600" b="1" dirty="0"/>
              <a:t>10) </a:t>
            </a:r>
            <a:r>
              <a:rPr lang="en-US" sz="1600" b="1" dirty="0">
                <a:hlinkClick r:id="rId11"/>
              </a:rPr>
              <a:t>Simon Murdoch</a:t>
            </a:r>
            <a:r>
              <a:rPr lang="en-US" sz="1600" b="1" dirty="0"/>
              <a:t> </a:t>
            </a:r>
            <a:r>
              <a:rPr lang="en-US" sz="1600" dirty="0"/>
              <a:t>(99 investments)</a:t>
            </a:r>
          </a:p>
          <a:p>
            <a:pPr>
              <a:spcBef>
                <a:spcPts val="300"/>
              </a:spcBef>
              <a:spcAft>
                <a:spcPts val="300"/>
              </a:spcAft>
            </a:pPr>
            <a:r>
              <a:rPr lang="en-US" sz="1200" i="1" dirty="0"/>
              <a:t>Source:  Forbes</a:t>
            </a:r>
          </a:p>
        </p:txBody>
      </p:sp>
      <p:sp>
        <p:nvSpPr>
          <p:cNvPr id="4" name="Rectangle 3">
            <a:extLst>
              <a:ext uri="{FF2B5EF4-FFF2-40B4-BE49-F238E27FC236}">
                <a16:creationId xmlns:a16="http://schemas.microsoft.com/office/drawing/2014/main" id="{F329026F-0D99-4BC8-93DD-AD0580CF9F01}"/>
              </a:ext>
            </a:extLst>
          </p:cNvPr>
          <p:cNvSpPr/>
          <p:nvPr/>
        </p:nvSpPr>
        <p:spPr>
          <a:xfrm>
            <a:off x="764274" y="2355315"/>
            <a:ext cx="4031774" cy="4652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Selected Individuals</a:t>
            </a:r>
          </a:p>
        </p:txBody>
      </p:sp>
      <p:sp>
        <p:nvSpPr>
          <p:cNvPr id="8" name="Rectangle 7">
            <a:extLst>
              <a:ext uri="{FF2B5EF4-FFF2-40B4-BE49-F238E27FC236}">
                <a16:creationId xmlns:a16="http://schemas.microsoft.com/office/drawing/2014/main" id="{09C2ED9B-D9B7-4261-A092-47A699935059}"/>
              </a:ext>
            </a:extLst>
          </p:cNvPr>
          <p:cNvSpPr/>
          <p:nvPr/>
        </p:nvSpPr>
        <p:spPr>
          <a:xfrm>
            <a:off x="5344232" y="2359405"/>
            <a:ext cx="4031774" cy="4652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Selected Investor Groups</a:t>
            </a:r>
          </a:p>
        </p:txBody>
      </p:sp>
      <p:sp>
        <p:nvSpPr>
          <p:cNvPr id="13" name="TextBox 12">
            <a:extLst>
              <a:ext uri="{FF2B5EF4-FFF2-40B4-BE49-F238E27FC236}">
                <a16:creationId xmlns:a16="http://schemas.microsoft.com/office/drawing/2014/main" id="{3118890F-4F69-4928-94BB-6764902B994E}"/>
              </a:ext>
            </a:extLst>
          </p:cNvPr>
          <p:cNvSpPr txBox="1"/>
          <p:nvPr/>
        </p:nvSpPr>
        <p:spPr>
          <a:xfrm>
            <a:off x="5353637" y="2932415"/>
            <a:ext cx="5099300" cy="3570208"/>
          </a:xfrm>
          <a:prstGeom prst="rect">
            <a:avLst/>
          </a:prstGeom>
          <a:noFill/>
        </p:spPr>
        <p:txBody>
          <a:bodyPr wrap="square" rtlCol="0">
            <a:spAutoFit/>
          </a:bodyPr>
          <a:lstStyle/>
          <a:p>
            <a:pPr>
              <a:spcBef>
                <a:spcPts val="300"/>
              </a:spcBef>
              <a:spcAft>
                <a:spcPts val="300"/>
              </a:spcAft>
            </a:pPr>
            <a:r>
              <a:rPr lang="en-US" sz="1600" b="1" dirty="0"/>
              <a:t>1) Lifescience Angels</a:t>
            </a:r>
            <a:endParaRPr lang="en-US" sz="1600" dirty="0"/>
          </a:p>
          <a:p>
            <a:pPr>
              <a:spcBef>
                <a:spcPts val="300"/>
              </a:spcBef>
              <a:spcAft>
                <a:spcPts val="300"/>
              </a:spcAft>
            </a:pPr>
            <a:r>
              <a:rPr lang="en-US" sz="1600" b="1" dirty="0"/>
              <a:t>2) Queen City Angels</a:t>
            </a:r>
            <a:endParaRPr lang="en-US" sz="1600" dirty="0"/>
          </a:p>
          <a:p>
            <a:pPr>
              <a:spcBef>
                <a:spcPts val="300"/>
              </a:spcBef>
              <a:spcAft>
                <a:spcPts val="300"/>
              </a:spcAft>
            </a:pPr>
            <a:r>
              <a:rPr lang="en-US" sz="1600" b="1" dirty="0"/>
              <a:t>3) Boston Harbor Angels</a:t>
            </a:r>
            <a:endParaRPr lang="en-US" sz="1600" dirty="0"/>
          </a:p>
          <a:p>
            <a:pPr>
              <a:spcBef>
                <a:spcPts val="300"/>
              </a:spcBef>
              <a:spcAft>
                <a:spcPts val="300"/>
              </a:spcAft>
            </a:pPr>
            <a:r>
              <a:rPr lang="en-US" sz="1600" b="1" dirty="0"/>
              <a:t>4) Atlanta Technology Angels</a:t>
            </a:r>
            <a:endParaRPr lang="en-US" sz="1600" dirty="0"/>
          </a:p>
          <a:p>
            <a:pPr>
              <a:spcBef>
                <a:spcPts val="300"/>
              </a:spcBef>
              <a:spcAft>
                <a:spcPts val="300"/>
              </a:spcAft>
            </a:pPr>
            <a:r>
              <a:rPr lang="en-US" sz="1600" b="1" dirty="0"/>
              <a:t>5) Tech Coast Angels</a:t>
            </a:r>
          </a:p>
          <a:p>
            <a:pPr>
              <a:spcBef>
                <a:spcPts val="300"/>
              </a:spcBef>
              <a:spcAft>
                <a:spcPts val="300"/>
              </a:spcAft>
            </a:pPr>
            <a:r>
              <a:rPr lang="en-US" sz="1600" b="1" dirty="0"/>
              <a:t>6) Band of Angels</a:t>
            </a:r>
            <a:endParaRPr lang="en-US" sz="1600" dirty="0"/>
          </a:p>
          <a:p>
            <a:pPr>
              <a:spcBef>
                <a:spcPts val="300"/>
              </a:spcBef>
              <a:spcAft>
                <a:spcPts val="300"/>
              </a:spcAft>
            </a:pPr>
            <a:r>
              <a:rPr lang="en-US" sz="1600" b="1" dirty="0"/>
              <a:t>7) Pasadena Angels</a:t>
            </a:r>
            <a:endParaRPr lang="en-US" sz="1600" dirty="0"/>
          </a:p>
          <a:p>
            <a:pPr>
              <a:spcBef>
                <a:spcPts val="300"/>
              </a:spcBef>
              <a:spcAft>
                <a:spcPts val="300"/>
              </a:spcAft>
            </a:pPr>
            <a:r>
              <a:rPr lang="en-US" sz="1600" b="1" dirty="0"/>
              <a:t>8) Upstate Carolina Angel Network</a:t>
            </a:r>
            <a:endParaRPr lang="en-US" sz="1600" dirty="0"/>
          </a:p>
          <a:p>
            <a:pPr>
              <a:spcBef>
                <a:spcPts val="300"/>
              </a:spcBef>
              <a:spcAft>
                <a:spcPts val="300"/>
              </a:spcAft>
            </a:pPr>
            <a:r>
              <a:rPr lang="en-US" sz="1600" b="1" dirty="0"/>
              <a:t>9) Launchpad Venture Group</a:t>
            </a:r>
            <a:endParaRPr lang="en-US" sz="1600" dirty="0"/>
          </a:p>
          <a:p>
            <a:pPr>
              <a:spcBef>
                <a:spcPts val="300"/>
              </a:spcBef>
              <a:spcAft>
                <a:spcPts val="300"/>
              </a:spcAft>
            </a:pPr>
            <a:r>
              <a:rPr lang="en-US" sz="1600" b="1" dirty="0"/>
              <a:t>10) Keiretsu Forum</a:t>
            </a:r>
            <a:endParaRPr lang="en-US" sz="1600" dirty="0"/>
          </a:p>
          <a:p>
            <a:pPr>
              <a:spcBef>
                <a:spcPts val="300"/>
              </a:spcBef>
              <a:spcAft>
                <a:spcPts val="300"/>
              </a:spcAft>
            </a:pPr>
            <a:r>
              <a:rPr lang="en-US" sz="1200" i="1" dirty="0"/>
              <a:t>Source:  CBI nsights</a:t>
            </a:r>
          </a:p>
        </p:txBody>
      </p:sp>
    </p:spTree>
    <p:extLst>
      <p:ext uri="{BB962C8B-B14F-4D97-AF65-F5344CB8AC3E}">
        <p14:creationId xmlns:p14="http://schemas.microsoft.com/office/powerpoint/2010/main" val="8119835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E2CDF-123F-4B97-99D9-36A524255D0D}"/>
              </a:ext>
            </a:extLst>
          </p:cNvPr>
          <p:cNvSpPr>
            <a:spLocks noGrp="1"/>
          </p:cNvSpPr>
          <p:nvPr>
            <p:ph type="title"/>
          </p:nvPr>
        </p:nvSpPr>
        <p:spPr/>
        <p:txBody>
          <a:bodyPr/>
          <a:lstStyle/>
          <a:p>
            <a:r>
              <a:rPr lang="en-US" dirty="0"/>
              <a:t>Deep Dive on Venture Capital (VC)</a:t>
            </a:r>
          </a:p>
        </p:txBody>
      </p:sp>
      <p:sp>
        <p:nvSpPr>
          <p:cNvPr id="3" name="Text Placeholder 2">
            <a:extLst>
              <a:ext uri="{FF2B5EF4-FFF2-40B4-BE49-F238E27FC236}">
                <a16:creationId xmlns:a16="http://schemas.microsoft.com/office/drawing/2014/main" id="{B9FB6BF1-CA9B-48BC-BE1B-DFC3A6B1711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245920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AC4CE-D3B5-4439-B956-3255F6621C36}"/>
              </a:ext>
            </a:extLst>
          </p:cNvPr>
          <p:cNvSpPr>
            <a:spLocks noGrp="1"/>
          </p:cNvSpPr>
          <p:nvPr>
            <p:ph type="title"/>
          </p:nvPr>
        </p:nvSpPr>
        <p:spPr/>
        <p:txBody>
          <a:bodyPr/>
          <a:lstStyle/>
          <a:p>
            <a:r>
              <a:rPr lang="en-US" dirty="0"/>
              <a:t>US VC Market Overview</a:t>
            </a:r>
          </a:p>
        </p:txBody>
      </p:sp>
      <p:sp>
        <p:nvSpPr>
          <p:cNvPr id="6" name="Slide Number Placeholder 5">
            <a:extLst>
              <a:ext uri="{FF2B5EF4-FFF2-40B4-BE49-F238E27FC236}">
                <a16:creationId xmlns:a16="http://schemas.microsoft.com/office/drawing/2014/main" id="{A2C05D67-1851-4DC8-BBCE-A1B39D427EEA}"/>
              </a:ext>
            </a:extLst>
          </p:cNvPr>
          <p:cNvSpPr>
            <a:spLocks noGrp="1"/>
          </p:cNvSpPr>
          <p:nvPr>
            <p:ph type="sldNum" sz="quarter" idx="12"/>
          </p:nvPr>
        </p:nvSpPr>
        <p:spPr>
          <a:xfrm>
            <a:off x="11368969" y="6415051"/>
            <a:ext cx="751673" cy="365125"/>
          </a:xfrm>
        </p:spPr>
        <p:txBody>
          <a:bodyPr/>
          <a:lstStyle/>
          <a:p>
            <a:pPr algn="ctr"/>
            <a:fld id="{519954A3-9DFD-4C44-94BA-B95130A3BA1C}" type="slidenum">
              <a:rPr lang="en-US" sz="1400" dirty="0">
                <a:solidFill>
                  <a:schemeClr val="bg1"/>
                </a:solidFill>
              </a:rPr>
              <a:pPr algn="ctr"/>
              <a:t>13</a:t>
            </a:fld>
            <a:endParaRPr lang="en-US" sz="1400" dirty="0">
              <a:solidFill>
                <a:schemeClr val="bg1"/>
              </a:solidFill>
            </a:endParaRPr>
          </a:p>
        </p:txBody>
      </p:sp>
      <p:sp>
        <p:nvSpPr>
          <p:cNvPr id="7" name="Content Placeholder 6">
            <a:extLst>
              <a:ext uri="{FF2B5EF4-FFF2-40B4-BE49-F238E27FC236}">
                <a16:creationId xmlns:a16="http://schemas.microsoft.com/office/drawing/2014/main" id="{3715121B-65B8-43AD-B402-AA2D8523A004}"/>
              </a:ext>
            </a:extLst>
          </p:cNvPr>
          <p:cNvSpPr>
            <a:spLocks noGrp="1"/>
          </p:cNvSpPr>
          <p:nvPr>
            <p:ph idx="1"/>
          </p:nvPr>
        </p:nvSpPr>
        <p:spPr>
          <a:xfrm>
            <a:off x="677334" y="1219835"/>
            <a:ext cx="9879830" cy="669000"/>
          </a:xfrm>
        </p:spPr>
        <p:txBody>
          <a:bodyPr>
            <a:normAutofit/>
          </a:bodyPr>
          <a:lstStyle/>
          <a:p>
            <a:pPr>
              <a:spcBef>
                <a:spcPts val="1400"/>
              </a:spcBef>
              <a:spcAft>
                <a:spcPts val="1400"/>
              </a:spcAft>
            </a:pPr>
            <a:r>
              <a:rPr lang="en-US" sz="2400" dirty="0"/>
              <a:t>There is a tremendous amount of VC money available</a:t>
            </a:r>
          </a:p>
        </p:txBody>
      </p:sp>
      <p:pic>
        <p:nvPicPr>
          <p:cNvPr id="4" name="Picture 3">
            <a:extLst>
              <a:ext uri="{FF2B5EF4-FFF2-40B4-BE49-F238E27FC236}">
                <a16:creationId xmlns:a16="http://schemas.microsoft.com/office/drawing/2014/main" id="{62D1121F-FE11-4B61-9A48-4D19712802BC}"/>
              </a:ext>
            </a:extLst>
          </p:cNvPr>
          <p:cNvPicPr>
            <a:picLocks noChangeAspect="1"/>
          </p:cNvPicPr>
          <p:nvPr/>
        </p:nvPicPr>
        <p:blipFill>
          <a:blip r:embed="rId2"/>
          <a:stretch>
            <a:fillRect/>
          </a:stretch>
        </p:blipFill>
        <p:spPr>
          <a:xfrm>
            <a:off x="608424" y="1750170"/>
            <a:ext cx="10975150" cy="4992508"/>
          </a:xfrm>
          <a:prstGeom prst="rect">
            <a:avLst/>
          </a:prstGeom>
        </p:spPr>
      </p:pic>
      <p:sp>
        <p:nvSpPr>
          <p:cNvPr id="8" name="Content Placeholder 6">
            <a:extLst>
              <a:ext uri="{FF2B5EF4-FFF2-40B4-BE49-F238E27FC236}">
                <a16:creationId xmlns:a16="http://schemas.microsoft.com/office/drawing/2014/main" id="{18A54549-5207-43D6-9667-0ABEA322D19D}"/>
              </a:ext>
            </a:extLst>
          </p:cNvPr>
          <p:cNvSpPr txBox="1">
            <a:spLocks/>
          </p:cNvSpPr>
          <p:nvPr/>
        </p:nvSpPr>
        <p:spPr>
          <a:xfrm>
            <a:off x="1790880" y="1715194"/>
            <a:ext cx="1335068" cy="34330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spcBef>
                <a:spcPts val="1400"/>
              </a:spcBef>
              <a:spcAft>
                <a:spcPts val="1400"/>
              </a:spcAft>
              <a:buNone/>
            </a:pPr>
            <a:r>
              <a:rPr lang="en-US" sz="1400" b="1" i="1" dirty="0"/>
              <a:t>($ billions)</a:t>
            </a:r>
          </a:p>
        </p:txBody>
      </p:sp>
    </p:spTree>
    <p:extLst>
      <p:ext uri="{BB962C8B-B14F-4D97-AF65-F5344CB8AC3E}">
        <p14:creationId xmlns:p14="http://schemas.microsoft.com/office/powerpoint/2010/main" val="19035070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AC4CE-D3B5-4439-B956-3255F6621C36}"/>
              </a:ext>
            </a:extLst>
          </p:cNvPr>
          <p:cNvSpPr>
            <a:spLocks noGrp="1"/>
          </p:cNvSpPr>
          <p:nvPr>
            <p:ph type="title"/>
          </p:nvPr>
        </p:nvSpPr>
        <p:spPr/>
        <p:txBody>
          <a:bodyPr/>
          <a:lstStyle/>
          <a:p>
            <a:r>
              <a:rPr lang="en-US" dirty="0"/>
              <a:t>Think Like a VC</a:t>
            </a:r>
          </a:p>
        </p:txBody>
      </p:sp>
      <p:sp>
        <p:nvSpPr>
          <p:cNvPr id="6" name="Slide Number Placeholder 5">
            <a:extLst>
              <a:ext uri="{FF2B5EF4-FFF2-40B4-BE49-F238E27FC236}">
                <a16:creationId xmlns:a16="http://schemas.microsoft.com/office/drawing/2014/main" id="{A2C05D67-1851-4DC8-BBCE-A1B39D427EEA}"/>
              </a:ext>
            </a:extLst>
          </p:cNvPr>
          <p:cNvSpPr>
            <a:spLocks noGrp="1"/>
          </p:cNvSpPr>
          <p:nvPr>
            <p:ph type="sldNum" sz="quarter" idx="12"/>
          </p:nvPr>
        </p:nvSpPr>
        <p:spPr>
          <a:xfrm>
            <a:off x="11368969" y="6415051"/>
            <a:ext cx="751673" cy="365125"/>
          </a:xfrm>
        </p:spPr>
        <p:txBody>
          <a:bodyPr/>
          <a:lstStyle/>
          <a:p>
            <a:pPr algn="ctr"/>
            <a:fld id="{519954A3-9DFD-4C44-94BA-B95130A3BA1C}" type="slidenum">
              <a:rPr lang="en-US" sz="1400" dirty="0">
                <a:solidFill>
                  <a:schemeClr val="bg1"/>
                </a:solidFill>
              </a:rPr>
              <a:pPr algn="ctr"/>
              <a:t>14</a:t>
            </a:fld>
            <a:endParaRPr lang="en-US" sz="1400" dirty="0">
              <a:solidFill>
                <a:schemeClr val="bg1"/>
              </a:solidFill>
            </a:endParaRPr>
          </a:p>
        </p:txBody>
      </p:sp>
      <p:sp>
        <p:nvSpPr>
          <p:cNvPr id="7" name="Content Placeholder 6">
            <a:extLst>
              <a:ext uri="{FF2B5EF4-FFF2-40B4-BE49-F238E27FC236}">
                <a16:creationId xmlns:a16="http://schemas.microsoft.com/office/drawing/2014/main" id="{3715121B-65B8-43AD-B402-AA2D8523A004}"/>
              </a:ext>
            </a:extLst>
          </p:cNvPr>
          <p:cNvSpPr>
            <a:spLocks noGrp="1"/>
          </p:cNvSpPr>
          <p:nvPr>
            <p:ph idx="1"/>
          </p:nvPr>
        </p:nvSpPr>
        <p:spPr>
          <a:xfrm>
            <a:off x="677334" y="1469217"/>
            <a:ext cx="6979060" cy="5083980"/>
          </a:xfrm>
        </p:spPr>
        <p:txBody>
          <a:bodyPr>
            <a:normAutofit lnSpcReduction="10000"/>
          </a:bodyPr>
          <a:lstStyle/>
          <a:p>
            <a:pPr>
              <a:spcBef>
                <a:spcPts val="1400"/>
              </a:spcBef>
              <a:spcAft>
                <a:spcPts val="1400"/>
              </a:spcAft>
            </a:pPr>
            <a:r>
              <a:rPr lang="en-US" sz="2400" dirty="0"/>
              <a:t>Begin with the end in mind and give yourself an opportunity to get your fair share</a:t>
            </a:r>
          </a:p>
          <a:p>
            <a:pPr>
              <a:spcBef>
                <a:spcPts val="1400"/>
              </a:spcBef>
              <a:spcAft>
                <a:spcPts val="1400"/>
              </a:spcAft>
            </a:pPr>
            <a:r>
              <a:rPr lang="en-US" sz="2400" dirty="0"/>
              <a:t>Know that your investor must eventually exit your investment opportunity</a:t>
            </a:r>
          </a:p>
          <a:p>
            <a:pPr>
              <a:spcBef>
                <a:spcPts val="1400"/>
              </a:spcBef>
              <a:spcAft>
                <a:spcPts val="1400"/>
              </a:spcAft>
            </a:pPr>
            <a:r>
              <a:rPr lang="en-US" sz="2400" dirty="0"/>
              <a:t>Ideally you’ll first find an investor who is a true partner who brings skills you lack</a:t>
            </a:r>
          </a:p>
          <a:p>
            <a:pPr>
              <a:spcBef>
                <a:spcPts val="1400"/>
              </a:spcBef>
              <a:spcAft>
                <a:spcPts val="1400"/>
              </a:spcAft>
            </a:pPr>
            <a:r>
              <a:rPr lang="en-US" sz="2400" dirty="0"/>
              <a:t>That will make it easier to understand their incentives to drive value for their LPs</a:t>
            </a:r>
          </a:p>
          <a:p>
            <a:pPr>
              <a:spcBef>
                <a:spcPts val="1400"/>
              </a:spcBef>
              <a:spcAft>
                <a:spcPts val="1400"/>
              </a:spcAft>
            </a:pPr>
            <a:r>
              <a:rPr lang="en-US" sz="2400" dirty="0"/>
              <a:t>Together, you’ll need to be on the same page regarding milestones you need to achieve</a:t>
            </a:r>
          </a:p>
          <a:p>
            <a:pPr>
              <a:spcBef>
                <a:spcPts val="1400"/>
              </a:spcBef>
              <a:spcAft>
                <a:spcPts val="1400"/>
              </a:spcAft>
            </a:pPr>
            <a:endParaRPr lang="en-US" sz="2400" dirty="0"/>
          </a:p>
        </p:txBody>
      </p:sp>
      <p:pic>
        <p:nvPicPr>
          <p:cNvPr id="3" name="Picture 2">
            <a:extLst>
              <a:ext uri="{FF2B5EF4-FFF2-40B4-BE49-F238E27FC236}">
                <a16:creationId xmlns:a16="http://schemas.microsoft.com/office/drawing/2014/main" id="{1FF888AD-5050-4C36-B6EF-AEA572CBA604}"/>
              </a:ext>
            </a:extLst>
          </p:cNvPr>
          <p:cNvPicPr>
            <a:picLocks noChangeAspect="1"/>
          </p:cNvPicPr>
          <p:nvPr/>
        </p:nvPicPr>
        <p:blipFill>
          <a:blip r:embed="rId2"/>
          <a:stretch>
            <a:fillRect/>
          </a:stretch>
        </p:blipFill>
        <p:spPr>
          <a:xfrm>
            <a:off x="7656394" y="3781467"/>
            <a:ext cx="4235357" cy="2349849"/>
          </a:xfrm>
          <a:prstGeom prst="rect">
            <a:avLst/>
          </a:prstGeom>
        </p:spPr>
      </p:pic>
      <p:sp>
        <p:nvSpPr>
          <p:cNvPr id="8" name="TextBox 7">
            <a:extLst>
              <a:ext uri="{FF2B5EF4-FFF2-40B4-BE49-F238E27FC236}">
                <a16:creationId xmlns:a16="http://schemas.microsoft.com/office/drawing/2014/main" id="{5408B9AA-DF6F-46F5-A06A-D6DC306BC8D4}"/>
              </a:ext>
            </a:extLst>
          </p:cNvPr>
          <p:cNvSpPr txBox="1"/>
          <p:nvPr/>
        </p:nvSpPr>
        <p:spPr>
          <a:xfrm>
            <a:off x="4700153" y="6360468"/>
            <a:ext cx="3210044" cy="338554"/>
          </a:xfrm>
          <a:prstGeom prst="rect">
            <a:avLst/>
          </a:prstGeom>
          <a:noFill/>
        </p:spPr>
        <p:txBody>
          <a:bodyPr wrap="square" rtlCol="0">
            <a:spAutoFit/>
          </a:bodyPr>
          <a:lstStyle/>
          <a:p>
            <a:pPr algn="ctr"/>
            <a:r>
              <a:rPr lang="en-US" sz="1600" dirty="0"/>
              <a:t>www.linkedin.com/in/kelleyan</a:t>
            </a:r>
          </a:p>
        </p:txBody>
      </p:sp>
    </p:spTree>
    <p:extLst>
      <p:ext uri="{BB962C8B-B14F-4D97-AF65-F5344CB8AC3E}">
        <p14:creationId xmlns:p14="http://schemas.microsoft.com/office/powerpoint/2010/main" val="6419048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AC4CE-D3B5-4439-B956-3255F6621C36}"/>
              </a:ext>
            </a:extLst>
          </p:cNvPr>
          <p:cNvSpPr>
            <a:spLocks noGrp="1"/>
          </p:cNvSpPr>
          <p:nvPr>
            <p:ph type="title"/>
          </p:nvPr>
        </p:nvSpPr>
        <p:spPr/>
        <p:txBody>
          <a:bodyPr/>
          <a:lstStyle/>
          <a:p>
            <a:r>
              <a:rPr lang="en-US" dirty="0"/>
              <a:t>How to create value for investors</a:t>
            </a:r>
          </a:p>
        </p:txBody>
      </p:sp>
      <p:sp>
        <p:nvSpPr>
          <p:cNvPr id="6" name="Slide Number Placeholder 5">
            <a:extLst>
              <a:ext uri="{FF2B5EF4-FFF2-40B4-BE49-F238E27FC236}">
                <a16:creationId xmlns:a16="http://schemas.microsoft.com/office/drawing/2014/main" id="{A2C05D67-1851-4DC8-BBCE-A1B39D427EEA}"/>
              </a:ext>
            </a:extLst>
          </p:cNvPr>
          <p:cNvSpPr>
            <a:spLocks noGrp="1"/>
          </p:cNvSpPr>
          <p:nvPr>
            <p:ph type="sldNum" sz="quarter" idx="12"/>
          </p:nvPr>
        </p:nvSpPr>
        <p:spPr>
          <a:xfrm>
            <a:off x="11368969" y="6415051"/>
            <a:ext cx="751673" cy="365125"/>
          </a:xfrm>
        </p:spPr>
        <p:txBody>
          <a:bodyPr/>
          <a:lstStyle/>
          <a:p>
            <a:pPr algn="ctr"/>
            <a:fld id="{519954A3-9DFD-4C44-94BA-B95130A3BA1C}" type="slidenum">
              <a:rPr lang="en-US" sz="1400" dirty="0">
                <a:solidFill>
                  <a:schemeClr val="bg1"/>
                </a:solidFill>
              </a:rPr>
              <a:pPr algn="ctr"/>
              <a:t>15</a:t>
            </a:fld>
            <a:endParaRPr lang="en-US" sz="1400" dirty="0">
              <a:solidFill>
                <a:schemeClr val="bg1"/>
              </a:solidFill>
            </a:endParaRPr>
          </a:p>
        </p:txBody>
      </p:sp>
      <p:sp>
        <p:nvSpPr>
          <p:cNvPr id="7" name="Content Placeholder 6">
            <a:extLst>
              <a:ext uri="{FF2B5EF4-FFF2-40B4-BE49-F238E27FC236}">
                <a16:creationId xmlns:a16="http://schemas.microsoft.com/office/drawing/2014/main" id="{3715121B-65B8-43AD-B402-AA2D8523A004}"/>
              </a:ext>
            </a:extLst>
          </p:cNvPr>
          <p:cNvSpPr>
            <a:spLocks noGrp="1"/>
          </p:cNvSpPr>
          <p:nvPr>
            <p:ph idx="1"/>
          </p:nvPr>
        </p:nvSpPr>
        <p:spPr>
          <a:xfrm>
            <a:off x="677335" y="1487607"/>
            <a:ext cx="5819000" cy="4950740"/>
          </a:xfrm>
        </p:spPr>
        <p:txBody>
          <a:bodyPr>
            <a:normAutofit lnSpcReduction="10000"/>
          </a:bodyPr>
          <a:lstStyle/>
          <a:p>
            <a:pPr>
              <a:spcBef>
                <a:spcPts val="1400"/>
              </a:spcBef>
              <a:spcAft>
                <a:spcPts val="1400"/>
              </a:spcAft>
            </a:pPr>
            <a:r>
              <a:rPr lang="en-US" sz="2400" dirty="0"/>
              <a:t>Recognize that 9 out of 10 exits are through an M&amp;A exit vs IPO</a:t>
            </a:r>
          </a:p>
          <a:p>
            <a:pPr>
              <a:spcBef>
                <a:spcPts val="1400"/>
              </a:spcBef>
              <a:spcAft>
                <a:spcPts val="1400"/>
              </a:spcAft>
            </a:pPr>
            <a:r>
              <a:rPr lang="en-US" sz="2400" dirty="0"/>
              <a:t>Focus on revenue growth (vs profitability)</a:t>
            </a:r>
          </a:p>
          <a:p>
            <a:pPr>
              <a:spcBef>
                <a:spcPts val="1400"/>
              </a:spcBef>
              <a:spcAft>
                <a:spcPts val="1400"/>
              </a:spcAft>
            </a:pPr>
            <a:r>
              <a:rPr lang="en-US" sz="2400" dirty="0"/>
              <a:t>Know the top 25 strategic buyers for your particular business</a:t>
            </a:r>
          </a:p>
          <a:p>
            <a:pPr>
              <a:spcBef>
                <a:spcPts val="1400"/>
              </a:spcBef>
              <a:spcAft>
                <a:spcPts val="1400"/>
              </a:spcAft>
            </a:pPr>
            <a:r>
              <a:rPr lang="en-US" sz="2400" dirty="0"/>
              <a:t>Work with your capital sources to prepare the business for sale</a:t>
            </a:r>
          </a:p>
          <a:p>
            <a:pPr>
              <a:spcBef>
                <a:spcPts val="1400"/>
              </a:spcBef>
              <a:spcAft>
                <a:spcPts val="1400"/>
              </a:spcAft>
            </a:pPr>
            <a:r>
              <a:rPr lang="en-US" sz="2400" dirty="0"/>
              <a:t>Lean on your investors to field inbound M&amp;A inquiries</a:t>
            </a:r>
          </a:p>
        </p:txBody>
      </p:sp>
      <p:pic>
        <p:nvPicPr>
          <p:cNvPr id="3" name="Picture 2">
            <a:extLst>
              <a:ext uri="{FF2B5EF4-FFF2-40B4-BE49-F238E27FC236}">
                <a16:creationId xmlns:a16="http://schemas.microsoft.com/office/drawing/2014/main" id="{E9FF36D4-9391-4A5B-97E0-F32BFD4FCD18}"/>
              </a:ext>
            </a:extLst>
          </p:cNvPr>
          <p:cNvPicPr>
            <a:picLocks noChangeAspect="1"/>
          </p:cNvPicPr>
          <p:nvPr/>
        </p:nvPicPr>
        <p:blipFill>
          <a:blip r:embed="rId2"/>
          <a:stretch>
            <a:fillRect/>
          </a:stretch>
        </p:blipFill>
        <p:spPr>
          <a:xfrm>
            <a:off x="6413327" y="1594744"/>
            <a:ext cx="5288487" cy="3613918"/>
          </a:xfrm>
          <a:prstGeom prst="rect">
            <a:avLst/>
          </a:prstGeom>
        </p:spPr>
      </p:pic>
      <p:sp>
        <p:nvSpPr>
          <p:cNvPr id="8" name="TextBox 7">
            <a:extLst>
              <a:ext uri="{FF2B5EF4-FFF2-40B4-BE49-F238E27FC236}">
                <a16:creationId xmlns:a16="http://schemas.microsoft.com/office/drawing/2014/main" id="{973D4979-FC62-49C3-A8B7-905006A9E971}"/>
              </a:ext>
            </a:extLst>
          </p:cNvPr>
          <p:cNvSpPr txBox="1"/>
          <p:nvPr/>
        </p:nvSpPr>
        <p:spPr>
          <a:xfrm>
            <a:off x="6378453" y="5247559"/>
            <a:ext cx="5099300" cy="276999"/>
          </a:xfrm>
          <a:prstGeom prst="rect">
            <a:avLst/>
          </a:prstGeom>
          <a:noFill/>
        </p:spPr>
        <p:txBody>
          <a:bodyPr wrap="square" rtlCol="0">
            <a:spAutoFit/>
          </a:bodyPr>
          <a:lstStyle/>
          <a:p>
            <a:pPr>
              <a:spcBef>
                <a:spcPts val="300"/>
              </a:spcBef>
              <a:spcAft>
                <a:spcPts val="300"/>
              </a:spcAft>
            </a:pPr>
            <a:r>
              <a:rPr lang="en-US" sz="1200" i="1" dirty="0"/>
              <a:t>Source:  CapShare</a:t>
            </a:r>
          </a:p>
        </p:txBody>
      </p:sp>
      <p:sp>
        <p:nvSpPr>
          <p:cNvPr id="9" name="TextBox 8">
            <a:extLst>
              <a:ext uri="{FF2B5EF4-FFF2-40B4-BE49-F238E27FC236}">
                <a16:creationId xmlns:a16="http://schemas.microsoft.com/office/drawing/2014/main" id="{BCDCEDCD-B92F-48D4-8DB0-9B51B72CE23D}"/>
              </a:ext>
            </a:extLst>
          </p:cNvPr>
          <p:cNvSpPr txBox="1"/>
          <p:nvPr/>
        </p:nvSpPr>
        <p:spPr>
          <a:xfrm>
            <a:off x="4700153" y="6360468"/>
            <a:ext cx="3210044" cy="338554"/>
          </a:xfrm>
          <a:prstGeom prst="rect">
            <a:avLst/>
          </a:prstGeom>
          <a:noFill/>
        </p:spPr>
        <p:txBody>
          <a:bodyPr wrap="square" rtlCol="0">
            <a:spAutoFit/>
          </a:bodyPr>
          <a:lstStyle/>
          <a:p>
            <a:pPr algn="ctr"/>
            <a:r>
              <a:rPr lang="en-US" sz="1600" dirty="0"/>
              <a:t>www.linkedin.com/in/kelleyan</a:t>
            </a:r>
          </a:p>
        </p:txBody>
      </p:sp>
    </p:spTree>
    <p:extLst>
      <p:ext uri="{BB962C8B-B14F-4D97-AF65-F5344CB8AC3E}">
        <p14:creationId xmlns:p14="http://schemas.microsoft.com/office/powerpoint/2010/main" val="7095990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AC4CE-D3B5-4439-B956-3255F6621C36}"/>
              </a:ext>
            </a:extLst>
          </p:cNvPr>
          <p:cNvSpPr>
            <a:spLocks noGrp="1"/>
          </p:cNvSpPr>
          <p:nvPr>
            <p:ph type="title"/>
          </p:nvPr>
        </p:nvSpPr>
        <p:spPr/>
        <p:txBody>
          <a:bodyPr/>
          <a:lstStyle/>
          <a:p>
            <a:r>
              <a:rPr lang="en-US" dirty="0"/>
              <a:t>Investment Grading Framework</a:t>
            </a:r>
          </a:p>
        </p:txBody>
      </p:sp>
      <p:sp>
        <p:nvSpPr>
          <p:cNvPr id="6" name="Slide Number Placeholder 5">
            <a:extLst>
              <a:ext uri="{FF2B5EF4-FFF2-40B4-BE49-F238E27FC236}">
                <a16:creationId xmlns:a16="http://schemas.microsoft.com/office/drawing/2014/main" id="{A2C05D67-1851-4DC8-BBCE-A1B39D427EEA}"/>
              </a:ext>
            </a:extLst>
          </p:cNvPr>
          <p:cNvSpPr>
            <a:spLocks noGrp="1"/>
          </p:cNvSpPr>
          <p:nvPr>
            <p:ph type="sldNum" sz="quarter" idx="12"/>
          </p:nvPr>
        </p:nvSpPr>
        <p:spPr>
          <a:xfrm>
            <a:off x="11368969" y="6415051"/>
            <a:ext cx="751673" cy="365125"/>
          </a:xfrm>
        </p:spPr>
        <p:txBody>
          <a:bodyPr/>
          <a:lstStyle/>
          <a:p>
            <a:pPr algn="ctr"/>
            <a:fld id="{519954A3-9DFD-4C44-94BA-B95130A3BA1C}" type="slidenum">
              <a:rPr lang="en-US" sz="1400" dirty="0">
                <a:solidFill>
                  <a:schemeClr val="bg1"/>
                </a:solidFill>
              </a:rPr>
              <a:pPr algn="ctr"/>
              <a:t>16</a:t>
            </a:fld>
            <a:endParaRPr lang="en-US" sz="1400" dirty="0">
              <a:solidFill>
                <a:schemeClr val="bg1"/>
              </a:solidFill>
            </a:endParaRPr>
          </a:p>
        </p:txBody>
      </p:sp>
      <p:sp>
        <p:nvSpPr>
          <p:cNvPr id="7" name="Content Placeholder 6">
            <a:extLst>
              <a:ext uri="{FF2B5EF4-FFF2-40B4-BE49-F238E27FC236}">
                <a16:creationId xmlns:a16="http://schemas.microsoft.com/office/drawing/2014/main" id="{3715121B-65B8-43AD-B402-AA2D8523A004}"/>
              </a:ext>
            </a:extLst>
          </p:cNvPr>
          <p:cNvSpPr>
            <a:spLocks noGrp="1"/>
          </p:cNvSpPr>
          <p:nvPr>
            <p:ph idx="1"/>
          </p:nvPr>
        </p:nvSpPr>
        <p:spPr>
          <a:xfrm>
            <a:off x="677333" y="1279595"/>
            <a:ext cx="10554773" cy="524648"/>
          </a:xfrm>
        </p:spPr>
        <p:txBody>
          <a:bodyPr>
            <a:normAutofit/>
          </a:bodyPr>
          <a:lstStyle/>
          <a:p>
            <a:r>
              <a:rPr lang="en-US" sz="2400" dirty="0"/>
              <a:t>I’ve used this framework to grade potential investments</a:t>
            </a:r>
          </a:p>
        </p:txBody>
      </p:sp>
      <p:graphicFrame>
        <p:nvGraphicFramePr>
          <p:cNvPr id="8" name="Table 7">
            <a:extLst>
              <a:ext uri="{FF2B5EF4-FFF2-40B4-BE49-F238E27FC236}">
                <a16:creationId xmlns:a16="http://schemas.microsoft.com/office/drawing/2014/main" id="{F2EEC4F6-1B76-4F72-B34C-6C39DCD79C53}"/>
              </a:ext>
            </a:extLst>
          </p:cNvPr>
          <p:cNvGraphicFramePr>
            <a:graphicFrameLocks noGrp="1"/>
          </p:cNvGraphicFramePr>
          <p:nvPr>
            <p:extLst>
              <p:ext uri="{D42A27DB-BD31-4B8C-83A1-F6EECF244321}">
                <p14:modId xmlns:p14="http://schemas.microsoft.com/office/powerpoint/2010/main" val="3111355368"/>
              </p:ext>
            </p:extLst>
          </p:nvPr>
        </p:nvGraphicFramePr>
        <p:xfrm>
          <a:off x="749376" y="1763297"/>
          <a:ext cx="9875520" cy="4630233"/>
        </p:xfrm>
        <a:graphic>
          <a:graphicData uri="http://schemas.openxmlformats.org/drawingml/2006/table">
            <a:tbl>
              <a:tblPr firstRow="1" bandRow="1">
                <a:tableStyleId>{5C22544A-7EE6-4342-B048-85BDC9FD1C3A}</a:tableStyleId>
              </a:tblPr>
              <a:tblGrid>
                <a:gridCol w="365760">
                  <a:extLst>
                    <a:ext uri="{9D8B030D-6E8A-4147-A177-3AD203B41FA5}">
                      <a16:colId xmlns:a16="http://schemas.microsoft.com/office/drawing/2014/main" val="3719428815"/>
                    </a:ext>
                  </a:extLst>
                </a:gridCol>
                <a:gridCol w="1737360">
                  <a:extLst>
                    <a:ext uri="{9D8B030D-6E8A-4147-A177-3AD203B41FA5}">
                      <a16:colId xmlns:a16="http://schemas.microsoft.com/office/drawing/2014/main" val="2480199724"/>
                    </a:ext>
                  </a:extLst>
                </a:gridCol>
                <a:gridCol w="6949440">
                  <a:extLst>
                    <a:ext uri="{9D8B030D-6E8A-4147-A177-3AD203B41FA5}">
                      <a16:colId xmlns:a16="http://schemas.microsoft.com/office/drawing/2014/main" val="1956774978"/>
                    </a:ext>
                  </a:extLst>
                </a:gridCol>
                <a:gridCol w="822960">
                  <a:extLst>
                    <a:ext uri="{9D8B030D-6E8A-4147-A177-3AD203B41FA5}">
                      <a16:colId xmlns:a16="http://schemas.microsoft.com/office/drawing/2014/main" val="4064733791"/>
                    </a:ext>
                  </a:extLst>
                </a:gridCol>
              </a:tblGrid>
              <a:tr h="0">
                <a:tc>
                  <a:txBody>
                    <a:bodyPr/>
                    <a:lstStyle/>
                    <a:p>
                      <a:endParaRPr lang="en-US" sz="1600" dirty="0"/>
                    </a:p>
                  </a:txBody>
                  <a:tcPr/>
                </a:tc>
                <a:tc>
                  <a:txBody>
                    <a:bodyPr/>
                    <a:lstStyle/>
                    <a:p>
                      <a:r>
                        <a:rPr lang="en-US" sz="1600" dirty="0"/>
                        <a:t>Key Factors</a:t>
                      </a:r>
                    </a:p>
                  </a:txBody>
                  <a:tcPr anchor="b"/>
                </a:tc>
                <a:tc>
                  <a:txBody>
                    <a:bodyPr/>
                    <a:lstStyle/>
                    <a:p>
                      <a:r>
                        <a:rPr lang="en-US" sz="1600" dirty="0"/>
                        <a:t>Critical Questions</a:t>
                      </a:r>
                    </a:p>
                  </a:txBody>
                  <a:tcPr anchor="b"/>
                </a:tc>
                <a:tc>
                  <a:txBody>
                    <a:bodyPr/>
                    <a:lstStyle/>
                    <a:p>
                      <a:pPr algn="ctr"/>
                      <a:r>
                        <a:rPr lang="en-US" sz="1600" dirty="0"/>
                        <a:t>Rating</a:t>
                      </a:r>
                    </a:p>
                  </a:txBody>
                  <a:tcPr anchor="b"/>
                </a:tc>
                <a:extLst>
                  <a:ext uri="{0D108BD9-81ED-4DB2-BD59-A6C34878D82A}">
                    <a16:rowId xmlns:a16="http://schemas.microsoft.com/office/drawing/2014/main" val="1040194592"/>
                  </a:ext>
                </a:extLst>
              </a:tr>
              <a:tr h="792273">
                <a:tc>
                  <a:txBody>
                    <a:bodyPr/>
                    <a:lstStyle/>
                    <a:p>
                      <a:pPr marL="0" indent="0">
                        <a:buFont typeface="Arial" panose="020B0604020202020204" pitchFamily="34" charset="0"/>
                        <a:buNone/>
                      </a:pPr>
                      <a:r>
                        <a:rPr lang="en-US" sz="1600" dirty="0"/>
                        <a:t>1</a:t>
                      </a:r>
                    </a:p>
                  </a:txBody>
                  <a:tcPr anchor="ctr"/>
                </a:tc>
                <a:tc>
                  <a:txBody>
                    <a:bodyPr/>
                    <a:lstStyle/>
                    <a:p>
                      <a:pPr marL="0" indent="0">
                        <a:buFont typeface="Arial" panose="020B0604020202020204" pitchFamily="34" charset="0"/>
                        <a:buNone/>
                      </a:pPr>
                      <a:r>
                        <a:rPr lang="en-US" sz="1600" b="1" dirty="0"/>
                        <a:t>Experienced Team</a:t>
                      </a:r>
                    </a:p>
                  </a:txBody>
                  <a:tcPr anchor="ctr"/>
                </a:tc>
                <a:tc>
                  <a:txBody>
                    <a:bodyPr/>
                    <a:lstStyle/>
                    <a:p>
                      <a:pPr marL="285750" indent="-285750">
                        <a:buFont typeface="Arial" panose="020B0604020202020204" pitchFamily="34" charset="0"/>
                        <a:buChar char="•"/>
                      </a:pPr>
                      <a:r>
                        <a:rPr lang="en-US" sz="1600" dirty="0"/>
                        <a:t>Has the founder, CEO, or team had a successful exit before?</a:t>
                      </a:r>
                    </a:p>
                    <a:p>
                      <a:pPr marL="285750" indent="-285750">
                        <a:buFont typeface="Arial" panose="020B0604020202020204" pitchFamily="34" charset="0"/>
                        <a:buChar char="•"/>
                      </a:pPr>
                      <a:r>
                        <a:rPr lang="en-US" sz="1600" dirty="0"/>
                        <a:t>Who is the next mission-critical hire to bolster the team and why?</a:t>
                      </a:r>
                    </a:p>
                  </a:txBody>
                  <a:tcPr anchor="ctr"/>
                </a:tc>
                <a:tc>
                  <a:txBody>
                    <a:bodyPr/>
                    <a:lstStyle/>
                    <a:p>
                      <a:endParaRPr lang="en-US" sz="1600" dirty="0"/>
                    </a:p>
                  </a:txBody>
                  <a:tcPr/>
                </a:tc>
                <a:extLst>
                  <a:ext uri="{0D108BD9-81ED-4DB2-BD59-A6C34878D82A}">
                    <a16:rowId xmlns:a16="http://schemas.microsoft.com/office/drawing/2014/main" val="1962992361"/>
                  </a:ext>
                </a:extLst>
              </a:tr>
              <a:tr h="792273">
                <a:tc>
                  <a:txBody>
                    <a:bodyPr/>
                    <a:lstStyle/>
                    <a:p>
                      <a:r>
                        <a:rPr lang="en-US" sz="1600" dirty="0"/>
                        <a:t>2</a:t>
                      </a:r>
                    </a:p>
                  </a:txBody>
                  <a:tcPr anchor="ctr"/>
                </a:tc>
                <a:tc>
                  <a:txBody>
                    <a:bodyPr/>
                    <a:lstStyle/>
                    <a:p>
                      <a:r>
                        <a:rPr lang="en-US" sz="1600" b="1" dirty="0"/>
                        <a:t>Market Opportunity</a:t>
                      </a:r>
                    </a:p>
                  </a:txBody>
                  <a:tcPr anchor="ctr"/>
                </a:tc>
                <a:tc>
                  <a:txBody>
                    <a:bodyPr/>
                    <a:lstStyle/>
                    <a:p>
                      <a:pPr marL="285750" indent="-285750">
                        <a:buFont typeface="Arial" panose="020B0604020202020204" pitchFamily="34" charset="0"/>
                        <a:buChar char="•"/>
                      </a:pPr>
                      <a:r>
                        <a:rPr lang="en-US" sz="1600" dirty="0"/>
                        <a:t>Is the addressable market at least $1B and growing greater than 10%?</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Who are the top 3 competitors?</a:t>
                      </a:r>
                    </a:p>
                  </a:txBody>
                  <a:tcPr anchor="ctr"/>
                </a:tc>
                <a:tc>
                  <a:txBody>
                    <a:bodyPr/>
                    <a:lstStyle/>
                    <a:p>
                      <a:endParaRPr lang="en-US" sz="1600" dirty="0"/>
                    </a:p>
                  </a:txBody>
                  <a:tcPr/>
                </a:tc>
                <a:extLst>
                  <a:ext uri="{0D108BD9-81ED-4DB2-BD59-A6C34878D82A}">
                    <a16:rowId xmlns:a16="http://schemas.microsoft.com/office/drawing/2014/main" val="201399328"/>
                  </a:ext>
                </a:extLst>
              </a:tr>
              <a:tr h="792273">
                <a:tc>
                  <a:txBody>
                    <a:bodyPr/>
                    <a:lstStyle/>
                    <a:p>
                      <a:r>
                        <a:rPr lang="en-US" sz="1600" dirty="0"/>
                        <a:t>3</a:t>
                      </a:r>
                    </a:p>
                  </a:txBody>
                  <a:tcPr anchor="ctr"/>
                </a:tc>
                <a:tc>
                  <a:txBody>
                    <a:bodyPr/>
                    <a:lstStyle/>
                    <a:p>
                      <a:r>
                        <a:rPr lang="en-US" sz="1600" b="1" dirty="0"/>
                        <a:t>Go-to-Market &amp; Customers</a:t>
                      </a:r>
                    </a:p>
                  </a:txBody>
                  <a:tcPr anchor="ctr"/>
                </a:tc>
                <a:tc>
                  <a:txBody>
                    <a:bodyPr/>
                    <a:lstStyle/>
                    <a:p>
                      <a:pPr marL="285750" indent="-285750">
                        <a:buFont typeface="Arial" panose="020B0604020202020204" pitchFamily="34" charset="0"/>
                        <a:buChar char="•"/>
                      </a:pPr>
                      <a:r>
                        <a:rPr lang="en-US" sz="1600" dirty="0"/>
                        <a:t>Why do customers buy and why do customers churn?</a:t>
                      </a:r>
                    </a:p>
                    <a:p>
                      <a:pPr marL="285750" indent="-285750">
                        <a:buFont typeface="Arial" panose="020B0604020202020204" pitchFamily="34" charset="0"/>
                        <a:buChar char="•"/>
                      </a:pPr>
                      <a:r>
                        <a:rPr lang="en-US" sz="1600" dirty="0"/>
                        <a:t>Is the Sales strategy consistent with the vision for the business?</a:t>
                      </a:r>
                    </a:p>
                  </a:txBody>
                  <a:tcPr anchor="ctr"/>
                </a:tc>
                <a:tc>
                  <a:txBody>
                    <a:bodyPr/>
                    <a:lstStyle/>
                    <a:p>
                      <a:endParaRPr lang="en-US" sz="1600" dirty="0"/>
                    </a:p>
                  </a:txBody>
                  <a:tcPr/>
                </a:tc>
                <a:extLst>
                  <a:ext uri="{0D108BD9-81ED-4DB2-BD59-A6C34878D82A}">
                    <a16:rowId xmlns:a16="http://schemas.microsoft.com/office/drawing/2014/main" val="2246443075"/>
                  </a:ext>
                </a:extLst>
              </a:tr>
              <a:tr h="792273">
                <a:tc>
                  <a:txBody>
                    <a:bodyPr/>
                    <a:lstStyle/>
                    <a:p>
                      <a:r>
                        <a:rPr lang="en-US" sz="1600" dirty="0"/>
                        <a:t>4</a:t>
                      </a:r>
                    </a:p>
                  </a:txBody>
                  <a:tcPr anchor="ctr"/>
                </a:tc>
                <a:tc>
                  <a:txBody>
                    <a:bodyPr/>
                    <a:lstStyle/>
                    <a:p>
                      <a:r>
                        <a:rPr lang="en-US" sz="1600" b="1" dirty="0"/>
                        <a:t>Operating Plan</a:t>
                      </a:r>
                    </a:p>
                  </a:txBody>
                  <a:tcPr anchor="ctr"/>
                </a:tc>
                <a:tc>
                  <a:txBody>
                    <a:bodyPr/>
                    <a:lstStyle/>
                    <a:p>
                      <a:pPr marL="285750" indent="-285750">
                        <a:buFont typeface="Arial" panose="020B0604020202020204" pitchFamily="34" charset="0"/>
                        <a:buChar char="•"/>
                      </a:pPr>
                      <a:r>
                        <a:rPr lang="en-US" sz="1600" dirty="0"/>
                        <a:t>Is a 25% or 50% haircut to the financial plan appropriate?</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How much total capital is required to get to cash flow break even?</a:t>
                      </a:r>
                    </a:p>
                  </a:txBody>
                  <a:tcPr anchor="ctr"/>
                </a:tc>
                <a:tc>
                  <a:txBody>
                    <a:bodyPr/>
                    <a:lstStyle/>
                    <a:p>
                      <a:endParaRPr lang="en-US" sz="1600" dirty="0"/>
                    </a:p>
                  </a:txBody>
                  <a:tcPr/>
                </a:tc>
                <a:extLst>
                  <a:ext uri="{0D108BD9-81ED-4DB2-BD59-A6C34878D82A}">
                    <a16:rowId xmlns:a16="http://schemas.microsoft.com/office/drawing/2014/main" val="2642215744"/>
                  </a:ext>
                </a:extLst>
              </a:tr>
              <a:tr h="1125861">
                <a:tc>
                  <a:txBody>
                    <a:bodyPr/>
                    <a:lstStyle/>
                    <a:p>
                      <a:r>
                        <a:rPr lang="en-US" sz="1600" dirty="0"/>
                        <a:t>5</a:t>
                      </a:r>
                    </a:p>
                  </a:txBody>
                  <a:tcPr anchor="ctr"/>
                </a:tc>
                <a:tc>
                  <a:txBody>
                    <a:bodyPr/>
                    <a:lstStyle/>
                    <a:p>
                      <a:r>
                        <a:rPr lang="en-US" sz="1600" b="1" dirty="0"/>
                        <a:t>Financial </a:t>
                      </a:r>
                    </a:p>
                    <a:p>
                      <a:r>
                        <a:rPr lang="en-US" sz="1600" b="1" dirty="0"/>
                        <a:t>Return</a:t>
                      </a:r>
                    </a:p>
                  </a:txBody>
                  <a:tcPr anchor="ctr"/>
                </a:tc>
                <a:tc>
                  <a:txBody>
                    <a:bodyPr/>
                    <a:lstStyle/>
                    <a:p>
                      <a:pPr marL="285750" indent="-285750">
                        <a:buFont typeface="Arial" panose="020B0604020202020204" pitchFamily="34" charset="0"/>
                        <a:buChar char="•"/>
                      </a:pPr>
                      <a:r>
                        <a:rPr lang="en-US" sz="1600" dirty="0"/>
                        <a:t>What are the most successful exits in this particular industry vertical?</a:t>
                      </a:r>
                    </a:p>
                    <a:p>
                      <a:pPr marL="285750" indent="-285750">
                        <a:buFont typeface="Arial" panose="020B0604020202020204" pitchFamily="34" charset="0"/>
                        <a:buChar char="•"/>
                      </a:pPr>
                      <a:r>
                        <a:rPr lang="en-US" sz="1600" dirty="0"/>
                        <a:t>Who are the most likely acquirers for the target?</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Can this investment potentially return 5x – 10x cash-on-cash?</a:t>
                      </a:r>
                    </a:p>
                  </a:txBody>
                  <a:tcPr anchor="ctr"/>
                </a:tc>
                <a:tc>
                  <a:txBody>
                    <a:bodyPr/>
                    <a:lstStyle/>
                    <a:p>
                      <a:endParaRPr lang="en-US" sz="1600" dirty="0"/>
                    </a:p>
                  </a:txBody>
                  <a:tcPr/>
                </a:tc>
                <a:extLst>
                  <a:ext uri="{0D108BD9-81ED-4DB2-BD59-A6C34878D82A}">
                    <a16:rowId xmlns:a16="http://schemas.microsoft.com/office/drawing/2014/main" val="734545853"/>
                  </a:ext>
                </a:extLst>
              </a:tr>
            </a:tbl>
          </a:graphicData>
        </a:graphic>
      </p:graphicFrame>
      <p:sp>
        <p:nvSpPr>
          <p:cNvPr id="9" name="Oval 8">
            <a:extLst>
              <a:ext uri="{FF2B5EF4-FFF2-40B4-BE49-F238E27FC236}">
                <a16:creationId xmlns:a16="http://schemas.microsoft.com/office/drawing/2014/main" id="{700D5EA4-0A6A-4760-B9A5-89725BA056F1}"/>
              </a:ext>
            </a:extLst>
          </p:cNvPr>
          <p:cNvSpPr/>
          <p:nvPr/>
        </p:nvSpPr>
        <p:spPr>
          <a:xfrm>
            <a:off x="9977628" y="2232951"/>
            <a:ext cx="478820" cy="468411"/>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301EBDDD-9031-4720-B597-AC9D63862C50}"/>
              </a:ext>
            </a:extLst>
          </p:cNvPr>
          <p:cNvSpPr/>
          <p:nvPr/>
        </p:nvSpPr>
        <p:spPr>
          <a:xfrm>
            <a:off x="9997927" y="3852935"/>
            <a:ext cx="478820" cy="468411"/>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ACE85E4A-0CB5-4EB4-A5F5-8C269ACA22B6}"/>
              </a:ext>
            </a:extLst>
          </p:cNvPr>
          <p:cNvSpPr/>
          <p:nvPr/>
        </p:nvSpPr>
        <p:spPr>
          <a:xfrm>
            <a:off x="10001092" y="3091614"/>
            <a:ext cx="478820" cy="468411"/>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9FE6BC60-6CEB-45B6-93EA-9D8ABACA7CD5}"/>
              </a:ext>
            </a:extLst>
          </p:cNvPr>
          <p:cNvSpPr/>
          <p:nvPr/>
        </p:nvSpPr>
        <p:spPr>
          <a:xfrm>
            <a:off x="9977628" y="4572604"/>
            <a:ext cx="478820" cy="46841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92D2DBAC-045C-4B6B-86FF-D55A5633C82D}"/>
              </a:ext>
            </a:extLst>
          </p:cNvPr>
          <p:cNvSpPr/>
          <p:nvPr/>
        </p:nvSpPr>
        <p:spPr>
          <a:xfrm>
            <a:off x="9999391" y="5420601"/>
            <a:ext cx="478820" cy="468411"/>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4230E11B-0981-4275-A4FF-9C36C352FF2C}"/>
              </a:ext>
            </a:extLst>
          </p:cNvPr>
          <p:cNvSpPr txBox="1"/>
          <p:nvPr/>
        </p:nvSpPr>
        <p:spPr>
          <a:xfrm>
            <a:off x="4700153" y="6360468"/>
            <a:ext cx="3210044" cy="338554"/>
          </a:xfrm>
          <a:prstGeom prst="rect">
            <a:avLst/>
          </a:prstGeom>
          <a:noFill/>
        </p:spPr>
        <p:txBody>
          <a:bodyPr wrap="square" rtlCol="0">
            <a:spAutoFit/>
          </a:bodyPr>
          <a:lstStyle/>
          <a:p>
            <a:pPr algn="ctr"/>
            <a:r>
              <a:rPr lang="en-US" sz="1600" dirty="0"/>
              <a:t>www.linkedin.com/in/kelleyan</a:t>
            </a:r>
          </a:p>
        </p:txBody>
      </p:sp>
    </p:spTree>
    <p:extLst>
      <p:ext uri="{BB962C8B-B14F-4D97-AF65-F5344CB8AC3E}">
        <p14:creationId xmlns:p14="http://schemas.microsoft.com/office/powerpoint/2010/main" val="448971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AC4CE-D3B5-4439-B956-3255F6621C36}"/>
              </a:ext>
            </a:extLst>
          </p:cNvPr>
          <p:cNvSpPr>
            <a:spLocks noGrp="1"/>
          </p:cNvSpPr>
          <p:nvPr>
            <p:ph type="title"/>
          </p:nvPr>
        </p:nvSpPr>
        <p:spPr/>
        <p:txBody>
          <a:bodyPr/>
          <a:lstStyle/>
          <a:p>
            <a:r>
              <a:rPr lang="en-US" dirty="0"/>
              <a:t>Venture Capital Returns Math</a:t>
            </a:r>
          </a:p>
        </p:txBody>
      </p:sp>
      <p:sp>
        <p:nvSpPr>
          <p:cNvPr id="6" name="Slide Number Placeholder 5">
            <a:extLst>
              <a:ext uri="{FF2B5EF4-FFF2-40B4-BE49-F238E27FC236}">
                <a16:creationId xmlns:a16="http://schemas.microsoft.com/office/drawing/2014/main" id="{A2C05D67-1851-4DC8-BBCE-A1B39D427EEA}"/>
              </a:ext>
            </a:extLst>
          </p:cNvPr>
          <p:cNvSpPr>
            <a:spLocks noGrp="1"/>
          </p:cNvSpPr>
          <p:nvPr>
            <p:ph type="sldNum" sz="quarter" idx="12"/>
          </p:nvPr>
        </p:nvSpPr>
        <p:spPr>
          <a:xfrm>
            <a:off x="11368969" y="6415051"/>
            <a:ext cx="751673" cy="365125"/>
          </a:xfrm>
        </p:spPr>
        <p:txBody>
          <a:bodyPr/>
          <a:lstStyle/>
          <a:p>
            <a:pPr algn="ctr"/>
            <a:fld id="{519954A3-9DFD-4C44-94BA-B95130A3BA1C}" type="slidenum">
              <a:rPr lang="en-US" sz="1400" dirty="0">
                <a:solidFill>
                  <a:schemeClr val="bg1"/>
                </a:solidFill>
              </a:rPr>
              <a:pPr algn="ctr"/>
              <a:t>17</a:t>
            </a:fld>
            <a:endParaRPr lang="en-US" sz="1400" dirty="0">
              <a:solidFill>
                <a:schemeClr val="bg1"/>
              </a:solidFill>
            </a:endParaRPr>
          </a:p>
        </p:txBody>
      </p:sp>
      <p:sp>
        <p:nvSpPr>
          <p:cNvPr id="7" name="Content Placeholder 6">
            <a:extLst>
              <a:ext uri="{FF2B5EF4-FFF2-40B4-BE49-F238E27FC236}">
                <a16:creationId xmlns:a16="http://schemas.microsoft.com/office/drawing/2014/main" id="{3715121B-65B8-43AD-B402-AA2D8523A004}"/>
              </a:ext>
            </a:extLst>
          </p:cNvPr>
          <p:cNvSpPr>
            <a:spLocks noGrp="1"/>
          </p:cNvSpPr>
          <p:nvPr>
            <p:ph idx="1"/>
          </p:nvPr>
        </p:nvSpPr>
        <p:spPr>
          <a:xfrm>
            <a:off x="677334" y="1401055"/>
            <a:ext cx="8596668" cy="4982700"/>
          </a:xfrm>
        </p:spPr>
        <p:txBody>
          <a:bodyPr>
            <a:normAutofit/>
          </a:bodyPr>
          <a:lstStyle/>
          <a:p>
            <a:pPr>
              <a:spcBef>
                <a:spcPts val="1400"/>
              </a:spcBef>
              <a:spcAft>
                <a:spcPts val="1400"/>
              </a:spcAft>
            </a:pPr>
            <a:r>
              <a:rPr lang="en-US" sz="2400" dirty="0"/>
              <a:t>Generally VCs don’t build discounted cash flow models</a:t>
            </a:r>
          </a:p>
          <a:p>
            <a:pPr>
              <a:spcBef>
                <a:spcPts val="1400"/>
              </a:spcBef>
              <a:spcAft>
                <a:spcPts val="1400"/>
              </a:spcAft>
            </a:pPr>
            <a:r>
              <a:rPr lang="en-US" sz="2400" dirty="0"/>
              <a:t>Early stage investors need to get a 5x – 10x “cash-on-cash” return on their invested capital</a:t>
            </a:r>
          </a:p>
          <a:p>
            <a:pPr>
              <a:spcBef>
                <a:spcPts val="1400"/>
              </a:spcBef>
              <a:spcAft>
                <a:spcPts val="1400"/>
              </a:spcAft>
            </a:pPr>
            <a:r>
              <a:rPr lang="en-US" sz="2400" dirty="0"/>
              <a:t>Example math:</a:t>
            </a:r>
          </a:p>
          <a:p>
            <a:pPr>
              <a:spcBef>
                <a:spcPts val="1400"/>
              </a:spcBef>
              <a:spcAft>
                <a:spcPts val="1400"/>
              </a:spcAft>
            </a:pPr>
            <a:endParaRPr lang="en-US" sz="2400" dirty="0"/>
          </a:p>
          <a:p>
            <a:pPr>
              <a:spcBef>
                <a:spcPts val="1400"/>
              </a:spcBef>
              <a:spcAft>
                <a:spcPts val="1400"/>
              </a:spcAft>
            </a:pPr>
            <a:endParaRPr lang="en-US" sz="2400" dirty="0"/>
          </a:p>
          <a:p>
            <a:pPr>
              <a:spcBef>
                <a:spcPts val="1400"/>
              </a:spcBef>
              <a:spcAft>
                <a:spcPts val="1400"/>
              </a:spcAft>
            </a:pPr>
            <a:r>
              <a:rPr lang="en-US" sz="2400" dirty="0"/>
              <a:t>Of course, the variables the entrepreneur controls most directly above are the $ figures ….</a:t>
            </a:r>
          </a:p>
        </p:txBody>
      </p:sp>
      <p:sp>
        <p:nvSpPr>
          <p:cNvPr id="8" name="Content Placeholder 6">
            <a:extLst>
              <a:ext uri="{FF2B5EF4-FFF2-40B4-BE49-F238E27FC236}">
                <a16:creationId xmlns:a16="http://schemas.microsoft.com/office/drawing/2014/main" id="{25BA950F-2357-4E40-9D4E-123D5FE255BD}"/>
              </a:ext>
            </a:extLst>
          </p:cNvPr>
          <p:cNvSpPr txBox="1">
            <a:spLocks/>
          </p:cNvSpPr>
          <p:nvPr/>
        </p:nvSpPr>
        <p:spPr>
          <a:xfrm>
            <a:off x="1314811" y="4211570"/>
            <a:ext cx="2010117" cy="65024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400" b="1" dirty="0">
                <a:solidFill>
                  <a:srgbClr val="00B050"/>
                </a:solidFill>
              </a:rPr>
              <a:t>10x</a:t>
            </a:r>
            <a:r>
              <a:rPr lang="en-US" sz="2400" dirty="0"/>
              <a:t> Return </a:t>
            </a:r>
            <a:r>
              <a:rPr lang="en-US" sz="2400" b="1" dirty="0"/>
              <a:t>=</a:t>
            </a:r>
            <a:r>
              <a:rPr lang="en-US" sz="2400" dirty="0"/>
              <a:t> </a:t>
            </a:r>
          </a:p>
        </p:txBody>
      </p:sp>
      <p:sp>
        <p:nvSpPr>
          <p:cNvPr id="9" name="Content Placeholder 6">
            <a:extLst>
              <a:ext uri="{FF2B5EF4-FFF2-40B4-BE49-F238E27FC236}">
                <a16:creationId xmlns:a16="http://schemas.microsoft.com/office/drawing/2014/main" id="{2112548D-A7B9-4001-877F-D179B93D3A92}"/>
              </a:ext>
            </a:extLst>
          </p:cNvPr>
          <p:cNvSpPr txBox="1">
            <a:spLocks/>
          </p:cNvSpPr>
          <p:nvPr/>
        </p:nvSpPr>
        <p:spPr>
          <a:xfrm>
            <a:off x="3761339" y="4528575"/>
            <a:ext cx="4980876" cy="65024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None/>
            </a:pPr>
            <a:r>
              <a:rPr lang="en-US" sz="2400" b="1" dirty="0">
                <a:solidFill>
                  <a:srgbClr val="00B050"/>
                </a:solidFill>
              </a:rPr>
              <a:t>$1M</a:t>
            </a:r>
            <a:r>
              <a:rPr lang="en-US" sz="2400" dirty="0">
                <a:solidFill>
                  <a:srgbClr val="00B050"/>
                </a:solidFill>
              </a:rPr>
              <a:t> </a:t>
            </a:r>
            <a:r>
              <a:rPr lang="en-US" sz="2400" dirty="0"/>
              <a:t>Seed Investment </a:t>
            </a:r>
          </a:p>
        </p:txBody>
      </p:sp>
      <p:cxnSp>
        <p:nvCxnSpPr>
          <p:cNvPr id="4" name="Straight Connector 3">
            <a:extLst>
              <a:ext uri="{FF2B5EF4-FFF2-40B4-BE49-F238E27FC236}">
                <a16:creationId xmlns:a16="http://schemas.microsoft.com/office/drawing/2014/main" id="{3C98B9E9-1E16-4A7D-B464-8491B4B4BA62}"/>
              </a:ext>
            </a:extLst>
          </p:cNvPr>
          <p:cNvCxnSpPr/>
          <p:nvPr/>
        </p:nvCxnSpPr>
        <p:spPr>
          <a:xfrm>
            <a:off x="3308084" y="4460956"/>
            <a:ext cx="603302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6">
            <a:extLst>
              <a:ext uri="{FF2B5EF4-FFF2-40B4-BE49-F238E27FC236}">
                <a16:creationId xmlns:a16="http://schemas.microsoft.com/office/drawing/2014/main" id="{E1C1E615-701E-46B9-931D-A46F41054B5B}"/>
              </a:ext>
            </a:extLst>
          </p:cNvPr>
          <p:cNvSpPr txBox="1">
            <a:spLocks/>
          </p:cNvSpPr>
          <p:nvPr/>
        </p:nvSpPr>
        <p:spPr>
          <a:xfrm>
            <a:off x="3210041" y="3959821"/>
            <a:ext cx="6244396" cy="65024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None/>
            </a:pPr>
            <a:r>
              <a:rPr lang="en-US" sz="2400" dirty="0"/>
              <a:t>(</a:t>
            </a:r>
            <a:r>
              <a:rPr lang="en-US" sz="2400" b="1" dirty="0">
                <a:solidFill>
                  <a:srgbClr val="00B050"/>
                </a:solidFill>
              </a:rPr>
              <a:t>4x</a:t>
            </a:r>
            <a:r>
              <a:rPr lang="en-US" sz="2400" dirty="0"/>
              <a:t> EV / ARR ) (Yr 7 </a:t>
            </a:r>
            <a:r>
              <a:rPr lang="en-US" sz="2400" b="1" dirty="0">
                <a:solidFill>
                  <a:srgbClr val="00B050"/>
                </a:solidFill>
              </a:rPr>
              <a:t>$10M</a:t>
            </a:r>
            <a:r>
              <a:rPr lang="en-US" sz="2400" dirty="0">
                <a:solidFill>
                  <a:srgbClr val="00B050"/>
                </a:solidFill>
              </a:rPr>
              <a:t> </a:t>
            </a:r>
            <a:r>
              <a:rPr lang="en-US" sz="2400" dirty="0"/>
              <a:t>ARR) (</a:t>
            </a:r>
            <a:r>
              <a:rPr lang="en-US" sz="2400" b="1" dirty="0">
                <a:solidFill>
                  <a:srgbClr val="00B050"/>
                </a:solidFill>
              </a:rPr>
              <a:t>25%</a:t>
            </a:r>
            <a:r>
              <a:rPr lang="en-US" sz="2400" dirty="0">
                <a:solidFill>
                  <a:srgbClr val="00B050"/>
                </a:solidFill>
              </a:rPr>
              <a:t> </a:t>
            </a:r>
            <a:r>
              <a:rPr lang="en-US" sz="2400" dirty="0"/>
              <a:t>stake) </a:t>
            </a:r>
          </a:p>
        </p:txBody>
      </p:sp>
      <p:pic>
        <p:nvPicPr>
          <p:cNvPr id="11" name="Picture 10">
            <a:extLst>
              <a:ext uri="{FF2B5EF4-FFF2-40B4-BE49-F238E27FC236}">
                <a16:creationId xmlns:a16="http://schemas.microsoft.com/office/drawing/2014/main" id="{3D8EBB7F-CC64-462C-81B1-37153110D289}"/>
              </a:ext>
            </a:extLst>
          </p:cNvPr>
          <p:cNvPicPr>
            <a:picLocks noChangeAspect="1"/>
          </p:cNvPicPr>
          <p:nvPr/>
        </p:nvPicPr>
        <p:blipFill>
          <a:blip r:embed="rId2"/>
          <a:stretch>
            <a:fillRect/>
          </a:stretch>
        </p:blipFill>
        <p:spPr>
          <a:xfrm>
            <a:off x="9341109" y="833581"/>
            <a:ext cx="2457450" cy="1352550"/>
          </a:xfrm>
          <a:prstGeom prst="rect">
            <a:avLst/>
          </a:prstGeom>
        </p:spPr>
      </p:pic>
      <p:sp>
        <p:nvSpPr>
          <p:cNvPr id="12" name="TextBox 11">
            <a:extLst>
              <a:ext uri="{FF2B5EF4-FFF2-40B4-BE49-F238E27FC236}">
                <a16:creationId xmlns:a16="http://schemas.microsoft.com/office/drawing/2014/main" id="{AC1804A6-702B-4C9E-A4AF-45435CD83D1A}"/>
              </a:ext>
            </a:extLst>
          </p:cNvPr>
          <p:cNvSpPr txBox="1"/>
          <p:nvPr/>
        </p:nvSpPr>
        <p:spPr>
          <a:xfrm>
            <a:off x="4700153" y="6360468"/>
            <a:ext cx="3210044" cy="338554"/>
          </a:xfrm>
          <a:prstGeom prst="rect">
            <a:avLst/>
          </a:prstGeom>
          <a:noFill/>
        </p:spPr>
        <p:txBody>
          <a:bodyPr wrap="square" rtlCol="0">
            <a:spAutoFit/>
          </a:bodyPr>
          <a:lstStyle/>
          <a:p>
            <a:pPr algn="ctr"/>
            <a:r>
              <a:rPr lang="en-US" sz="1600" dirty="0"/>
              <a:t>www.linkedin.com/in/kelleyan</a:t>
            </a:r>
          </a:p>
        </p:txBody>
      </p:sp>
    </p:spTree>
    <p:extLst>
      <p:ext uri="{BB962C8B-B14F-4D97-AF65-F5344CB8AC3E}">
        <p14:creationId xmlns:p14="http://schemas.microsoft.com/office/powerpoint/2010/main" val="11711107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AC4CE-D3B5-4439-B956-3255F6621C36}"/>
              </a:ext>
            </a:extLst>
          </p:cNvPr>
          <p:cNvSpPr>
            <a:spLocks noGrp="1"/>
          </p:cNvSpPr>
          <p:nvPr>
            <p:ph type="title"/>
          </p:nvPr>
        </p:nvSpPr>
        <p:spPr/>
        <p:txBody>
          <a:bodyPr/>
          <a:lstStyle/>
          <a:p>
            <a:r>
              <a:rPr lang="en-US" dirty="0"/>
              <a:t>VCPE Investment Committee Process</a:t>
            </a:r>
          </a:p>
        </p:txBody>
      </p:sp>
      <p:sp>
        <p:nvSpPr>
          <p:cNvPr id="6" name="Slide Number Placeholder 5">
            <a:extLst>
              <a:ext uri="{FF2B5EF4-FFF2-40B4-BE49-F238E27FC236}">
                <a16:creationId xmlns:a16="http://schemas.microsoft.com/office/drawing/2014/main" id="{A2C05D67-1851-4DC8-BBCE-A1B39D427EEA}"/>
              </a:ext>
            </a:extLst>
          </p:cNvPr>
          <p:cNvSpPr>
            <a:spLocks noGrp="1"/>
          </p:cNvSpPr>
          <p:nvPr>
            <p:ph type="sldNum" sz="quarter" idx="12"/>
          </p:nvPr>
        </p:nvSpPr>
        <p:spPr>
          <a:xfrm>
            <a:off x="11368969" y="6415051"/>
            <a:ext cx="751673" cy="365125"/>
          </a:xfrm>
        </p:spPr>
        <p:txBody>
          <a:bodyPr/>
          <a:lstStyle/>
          <a:p>
            <a:pPr algn="ctr"/>
            <a:fld id="{519954A3-9DFD-4C44-94BA-B95130A3BA1C}" type="slidenum">
              <a:rPr lang="en-US" sz="1400" dirty="0">
                <a:solidFill>
                  <a:schemeClr val="bg1"/>
                </a:solidFill>
              </a:rPr>
              <a:pPr algn="ctr"/>
              <a:t>18</a:t>
            </a:fld>
            <a:endParaRPr lang="en-US" sz="1400" dirty="0">
              <a:solidFill>
                <a:schemeClr val="bg1"/>
              </a:solidFill>
            </a:endParaRPr>
          </a:p>
        </p:txBody>
      </p:sp>
      <p:sp>
        <p:nvSpPr>
          <p:cNvPr id="7" name="Content Placeholder 6">
            <a:extLst>
              <a:ext uri="{FF2B5EF4-FFF2-40B4-BE49-F238E27FC236}">
                <a16:creationId xmlns:a16="http://schemas.microsoft.com/office/drawing/2014/main" id="{3715121B-65B8-43AD-B402-AA2D8523A004}"/>
              </a:ext>
            </a:extLst>
          </p:cNvPr>
          <p:cNvSpPr>
            <a:spLocks noGrp="1"/>
          </p:cNvSpPr>
          <p:nvPr>
            <p:ph idx="1"/>
          </p:nvPr>
        </p:nvSpPr>
        <p:spPr>
          <a:xfrm>
            <a:off x="677334" y="1440873"/>
            <a:ext cx="5709818" cy="4807527"/>
          </a:xfrm>
        </p:spPr>
        <p:txBody>
          <a:bodyPr>
            <a:normAutofit/>
          </a:bodyPr>
          <a:lstStyle/>
          <a:p>
            <a:r>
              <a:rPr lang="en-US" sz="2400" dirty="0"/>
              <a:t>Investment Committee or “IC” is where decisions get made</a:t>
            </a:r>
          </a:p>
          <a:p>
            <a:r>
              <a:rPr lang="en-US" sz="2400" dirty="0"/>
              <a:t>Most VCPE firms have weekly IC meetings either on Monday or Friday</a:t>
            </a:r>
          </a:p>
          <a:p>
            <a:r>
              <a:rPr lang="en-US" sz="2400" dirty="0"/>
              <a:t>At small firms it may be all the GPs</a:t>
            </a:r>
          </a:p>
          <a:p>
            <a:r>
              <a:rPr lang="en-US" sz="2400" dirty="0"/>
              <a:t>At larger firms it’s typically a subset of the senior most GPs</a:t>
            </a:r>
          </a:p>
          <a:p>
            <a:r>
              <a:rPr lang="en-US" sz="2400" dirty="0"/>
              <a:t>You should hope for a robust IC discussion about your opportunity</a:t>
            </a:r>
          </a:p>
          <a:p>
            <a:r>
              <a:rPr lang="en-US" sz="2400" dirty="0"/>
              <a:t>Approval means you get capital</a:t>
            </a:r>
          </a:p>
        </p:txBody>
      </p:sp>
      <p:pic>
        <p:nvPicPr>
          <p:cNvPr id="3" name="Picture 2">
            <a:extLst>
              <a:ext uri="{FF2B5EF4-FFF2-40B4-BE49-F238E27FC236}">
                <a16:creationId xmlns:a16="http://schemas.microsoft.com/office/drawing/2014/main" id="{14CA54D5-39F9-43B7-A119-99570165D910}"/>
              </a:ext>
            </a:extLst>
          </p:cNvPr>
          <p:cNvPicPr>
            <a:picLocks noChangeAspect="1"/>
          </p:cNvPicPr>
          <p:nvPr/>
        </p:nvPicPr>
        <p:blipFill>
          <a:blip r:embed="rId2"/>
          <a:stretch>
            <a:fillRect/>
          </a:stretch>
        </p:blipFill>
        <p:spPr>
          <a:xfrm>
            <a:off x="6576102" y="2067481"/>
            <a:ext cx="4417645" cy="3174023"/>
          </a:xfrm>
          <a:prstGeom prst="rect">
            <a:avLst/>
          </a:prstGeom>
        </p:spPr>
      </p:pic>
      <p:sp>
        <p:nvSpPr>
          <p:cNvPr id="8" name="TextBox 7">
            <a:extLst>
              <a:ext uri="{FF2B5EF4-FFF2-40B4-BE49-F238E27FC236}">
                <a16:creationId xmlns:a16="http://schemas.microsoft.com/office/drawing/2014/main" id="{C8799F14-B19E-44D3-9FA9-4495703A8979}"/>
              </a:ext>
            </a:extLst>
          </p:cNvPr>
          <p:cNvSpPr txBox="1"/>
          <p:nvPr/>
        </p:nvSpPr>
        <p:spPr>
          <a:xfrm>
            <a:off x="4700153" y="6360468"/>
            <a:ext cx="3210044" cy="338554"/>
          </a:xfrm>
          <a:prstGeom prst="rect">
            <a:avLst/>
          </a:prstGeom>
          <a:noFill/>
        </p:spPr>
        <p:txBody>
          <a:bodyPr wrap="square" rtlCol="0">
            <a:spAutoFit/>
          </a:bodyPr>
          <a:lstStyle/>
          <a:p>
            <a:pPr algn="ctr"/>
            <a:r>
              <a:rPr lang="en-US" sz="1600" dirty="0"/>
              <a:t>www.linkedin.com/in/kelleyan</a:t>
            </a:r>
          </a:p>
        </p:txBody>
      </p:sp>
    </p:spTree>
    <p:extLst>
      <p:ext uri="{BB962C8B-B14F-4D97-AF65-F5344CB8AC3E}">
        <p14:creationId xmlns:p14="http://schemas.microsoft.com/office/powerpoint/2010/main" val="11002841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AC4CE-D3B5-4439-B956-3255F6621C36}"/>
              </a:ext>
            </a:extLst>
          </p:cNvPr>
          <p:cNvSpPr>
            <a:spLocks noGrp="1"/>
          </p:cNvSpPr>
          <p:nvPr>
            <p:ph type="title"/>
          </p:nvPr>
        </p:nvSpPr>
        <p:spPr/>
        <p:txBody>
          <a:bodyPr/>
          <a:lstStyle/>
          <a:p>
            <a:r>
              <a:rPr lang="en-US" dirty="0"/>
              <a:t>Venture Terms 101</a:t>
            </a:r>
          </a:p>
        </p:txBody>
      </p:sp>
      <p:sp>
        <p:nvSpPr>
          <p:cNvPr id="6" name="Slide Number Placeholder 5">
            <a:extLst>
              <a:ext uri="{FF2B5EF4-FFF2-40B4-BE49-F238E27FC236}">
                <a16:creationId xmlns:a16="http://schemas.microsoft.com/office/drawing/2014/main" id="{A2C05D67-1851-4DC8-BBCE-A1B39D427EEA}"/>
              </a:ext>
            </a:extLst>
          </p:cNvPr>
          <p:cNvSpPr>
            <a:spLocks noGrp="1"/>
          </p:cNvSpPr>
          <p:nvPr>
            <p:ph type="sldNum" sz="quarter" idx="12"/>
          </p:nvPr>
        </p:nvSpPr>
        <p:spPr>
          <a:xfrm>
            <a:off x="11368969" y="6415051"/>
            <a:ext cx="751673" cy="365125"/>
          </a:xfrm>
        </p:spPr>
        <p:txBody>
          <a:bodyPr/>
          <a:lstStyle/>
          <a:p>
            <a:pPr algn="ctr"/>
            <a:fld id="{519954A3-9DFD-4C44-94BA-B95130A3BA1C}" type="slidenum">
              <a:rPr lang="en-US" sz="1400" dirty="0">
                <a:solidFill>
                  <a:schemeClr val="bg1"/>
                </a:solidFill>
              </a:rPr>
              <a:pPr algn="ctr"/>
              <a:t>19</a:t>
            </a:fld>
            <a:endParaRPr lang="en-US" sz="1400" dirty="0">
              <a:solidFill>
                <a:schemeClr val="bg1"/>
              </a:solidFill>
            </a:endParaRPr>
          </a:p>
        </p:txBody>
      </p:sp>
      <p:sp>
        <p:nvSpPr>
          <p:cNvPr id="7" name="Content Placeholder 6">
            <a:extLst>
              <a:ext uri="{FF2B5EF4-FFF2-40B4-BE49-F238E27FC236}">
                <a16:creationId xmlns:a16="http://schemas.microsoft.com/office/drawing/2014/main" id="{3715121B-65B8-43AD-B402-AA2D8523A004}"/>
              </a:ext>
            </a:extLst>
          </p:cNvPr>
          <p:cNvSpPr>
            <a:spLocks noGrp="1"/>
          </p:cNvSpPr>
          <p:nvPr>
            <p:ph idx="1"/>
          </p:nvPr>
        </p:nvSpPr>
        <p:spPr>
          <a:xfrm>
            <a:off x="677334" y="1315454"/>
            <a:ext cx="10184630" cy="5237745"/>
          </a:xfrm>
        </p:spPr>
        <p:txBody>
          <a:bodyPr>
            <a:normAutofit/>
          </a:bodyPr>
          <a:lstStyle/>
          <a:p>
            <a:pPr>
              <a:spcAft>
                <a:spcPts val="1000"/>
              </a:spcAft>
            </a:pPr>
            <a:r>
              <a:rPr lang="en-US" sz="2400" dirty="0"/>
              <a:t>Main terms in a venture term sheet include:</a:t>
            </a:r>
          </a:p>
          <a:p>
            <a:pPr lvl="1">
              <a:spcAft>
                <a:spcPts val="1000"/>
              </a:spcAft>
            </a:pPr>
            <a:r>
              <a:rPr lang="en-US" sz="1800" b="1" dirty="0"/>
              <a:t>Securities:</a:t>
            </a:r>
            <a:r>
              <a:rPr lang="en-US" sz="1800" dirty="0"/>
              <a:t> 				typically preferred stock vs common stock</a:t>
            </a:r>
          </a:p>
          <a:p>
            <a:pPr lvl="1">
              <a:spcAft>
                <a:spcPts val="1000"/>
              </a:spcAft>
            </a:pPr>
            <a:r>
              <a:rPr lang="en-US" sz="1800" b="1" dirty="0"/>
              <a:t>Investment Amount:</a:t>
            </a:r>
            <a:r>
              <a:rPr lang="en-US" sz="1800" dirty="0"/>
              <a:t> 		how much money is being raised </a:t>
            </a:r>
          </a:p>
          <a:p>
            <a:pPr lvl="1">
              <a:spcAft>
                <a:spcPts val="1000"/>
              </a:spcAft>
            </a:pPr>
            <a:r>
              <a:rPr lang="en-US" sz="1800" b="1" dirty="0"/>
              <a:t>Price per share:</a:t>
            </a:r>
            <a:r>
              <a:rPr lang="en-US" sz="1800" dirty="0"/>
              <a:t> 			fully diluted to 4 decimals via spreadsheet waterfall</a:t>
            </a:r>
          </a:p>
          <a:p>
            <a:pPr lvl="1">
              <a:spcAft>
                <a:spcPts val="1000"/>
              </a:spcAft>
            </a:pPr>
            <a:r>
              <a:rPr lang="en-US" sz="1800" b="1" dirty="0"/>
              <a:t>Valuation:  				p</a:t>
            </a:r>
            <a:r>
              <a:rPr lang="en-US" sz="1800" dirty="0"/>
              <a:t>ost-money = pre-money + Investment Amount</a:t>
            </a:r>
          </a:p>
          <a:p>
            <a:pPr lvl="1">
              <a:spcAft>
                <a:spcPts val="1000"/>
              </a:spcAft>
            </a:pPr>
            <a:r>
              <a:rPr lang="en-US" sz="1800" b="1" dirty="0"/>
              <a:t>Liquidation preference:</a:t>
            </a:r>
            <a:r>
              <a:rPr lang="en-US" sz="1800" dirty="0"/>
              <a:t> 	typically 1x … the “double dip”</a:t>
            </a:r>
          </a:p>
          <a:p>
            <a:pPr lvl="1">
              <a:spcAft>
                <a:spcPts val="1000"/>
              </a:spcAft>
            </a:pPr>
            <a:r>
              <a:rPr lang="en-US" sz="1800" b="1" dirty="0"/>
              <a:t>Closing date:</a:t>
            </a:r>
            <a:r>
              <a:rPr lang="en-US" sz="1800" dirty="0"/>
              <a:t> 				moving target but CEO should put a stake in the ground</a:t>
            </a:r>
          </a:p>
          <a:p>
            <a:pPr lvl="1">
              <a:spcAft>
                <a:spcPts val="1000"/>
              </a:spcAft>
            </a:pPr>
            <a:r>
              <a:rPr lang="en-US" sz="1800" b="1" dirty="0"/>
              <a:t>Others:  </a:t>
            </a:r>
            <a:r>
              <a:rPr lang="en-US" sz="1800" dirty="0"/>
              <a:t>					voting rights, info rights, board seats, etc</a:t>
            </a:r>
          </a:p>
          <a:p>
            <a:pPr>
              <a:spcAft>
                <a:spcPts val="1000"/>
              </a:spcAft>
            </a:pPr>
            <a:r>
              <a:rPr lang="en-US" sz="2400" b="1" u="sng" dirty="0"/>
              <a:t>Get a lawyer even if you’ve raised capital before</a:t>
            </a:r>
          </a:p>
        </p:txBody>
      </p:sp>
      <p:pic>
        <p:nvPicPr>
          <p:cNvPr id="4" name="Picture 3">
            <a:extLst>
              <a:ext uri="{FF2B5EF4-FFF2-40B4-BE49-F238E27FC236}">
                <a16:creationId xmlns:a16="http://schemas.microsoft.com/office/drawing/2014/main" id="{ADA66200-11DB-459C-BD9D-96D3A69F49BB}"/>
              </a:ext>
            </a:extLst>
          </p:cNvPr>
          <p:cNvPicPr>
            <a:picLocks noChangeAspect="1"/>
          </p:cNvPicPr>
          <p:nvPr/>
        </p:nvPicPr>
        <p:blipFill>
          <a:blip r:embed="rId2"/>
          <a:stretch>
            <a:fillRect/>
          </a:stretch>
        </p:blipFill>
        <p:spPr>
          <a:xfrm>
            <a:off x="9129677" y="762190"/>
            <a:ext cx="2367915" cy="1770698"/>
          </a:xfrm>
          <a:prstGeom prst="rect">
            <a:avLst/>
          </a:prstGeom>
        </p:spPr>
      </p:pic>
      <p:sp>
        <p:nvSpPr>
          <p:cNvPr id="9" name="TextBox 8">
            <a:extLst>
              <a:ext uri="{FF2B5EF4-FFF2-40B4-BE49-F238E27FC236}">
                <a16:creationId xmlns:a16="http://schemas.microsoft.com/office/drawing/2014/main" id="{F65F6222-62A4-4DBD-B731-1E05F86119BA}"/>
              </a:ext>
            </a:extLst>
          </p:cNvPr>
          <p:cNvSpPr txBox="1"/>
          <p:nvPr/>
        </p:nvSpPr>
        <p:spPr>
          <a:xfrm>
            <a:off x="4700153" y="6360468"/>
            <a:ext cx="3210044" cy="338554"/>
          </a:xfrm>
          <a:prstGeom prst="rect">
            <a:avLst/>
          </a:prstGeom>
          <a:noFill/>
        </p:spPr>
        <p:txBody>
          <a:bodyPr wrap="square" rtlCol="0">
            <a:spAutoFit/>
          </a:bodyPr>
          <a:lstStyle/>
          <a:p>
            <a:pPr algn="ctr"/>
            <a:r>
              <a:rPr lang="en-US" sz="1600" dirty="0"/>
              <a:t>www.linkedin.com/in/kelleyan</a:t>
            </a:r>
          </a:p>
        </p:txBody>
      </p:sp>
    </p:spTree>
    <p:extLst>
      <p:ext uri="{BB962C8B-B14F-4D97-AF65-F5344CB8AC3E}">
        <p14:creationId xmlns:p14="http://schemas.microsoft.com/office/powerpoint/2010/main" val="13524550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AC4CE-D3B5-4439-B956-3255F6621C36}"/>
              </a:ext>
            </a:extLst>
          </p:cNvPr>
          <p:cNvSpPr>
            <a:spLocks noGrp="1"/>
          </p:cNvSpPr>
          <p:nvPr>
            <p:ph type="title"/>
          </p:nvPr>
        </p:nvSpPr>
        <p:spPr/>
        <p:txBody>
          <a:bodyPr/>
          <a:lstStyle/>
          <a:p>
            <a:r>
              <a:rPr lang="en-US" dirty="0"/>
              <a:t>Selected Law Firms Good at VC</a:t>
            </a:r>
          </a:p>
        </p:txBody>
      </p:sp>
      <p:sp>
        <p:nvSpPr>
          <p:cNvPr id="6" name="Slide Number Placeholder 5">
            <a:extLst>
              <a:ext uri="{FF2B5EF4-FFF2-40B4-BE49-F238E27FC236}">
                <a16:creationId xmlns:a16="http://schemas.microsoft.com/office/drawing/2014/main" id="{A2C05D67-1851-4DC8-BBCE-A1B39D427EEA}"/>
              </a:ext>
            </a:extLst>
          </p:cNvPr>
          <p:cNvSpPr>
            <a:spLocks noGrp="1"/>
          </p:cNvSpPr>
          <p:nvPr>
            <p:ph type="sldNum" sz="quarter" idx="12"/>
          </p:nvPr>
        </p:nvSpPr>
        <p:spPr>
          <a:xfrm>
            <a:off x="11368969" y="6415051"/>
            <a:ext cx="751673" cy="365125"/>
          </a:xfrm>
        </p:spPr>
        <p:txBody>
          <a:bodyPr/>
          <a:lstStyle/>
          <a:p>
            <a:pPr algn="ctr"/>
            <a:fld id="{519954A3-9DFD-4C44-94BA-B95130A3BA1C}" type="slidenum">
              <a:rPr lang="en-US" sz="1400" dirty="0">
                <a:solidFill>
                  <a:schemeClr val="bg1"/>
                </a:solidFill>
              </a:rPr>
              <a:pPr algn="ctr"/>
              <a:t>20</a:t>
            </a:fld>
            <a:endParaRPr lang="en-US" sz="1400" dirty="0">
              <a:solidFill>
                <a:schemeClr val="bg1"/>
              </a:solidFill>
            </a:endParaRPr>
          </a:p>
        </p:txBody>
      </p:sp>
      <p:sp>
        <p:nvSpPr>
          <p:cNvPr id="7" name="Content Placeholder 6">
            <a:extLst>
              <a:ext uri="{FF2B5EF4-FFF2-40B4-BE49-F238E27FC236}">
                <a16:creationId xmlns:a16="http://schemas.microsoft.com/office/drawing/2014/main" id="{3715121B-65B8-43AD-B402-AA2D8523A004}"/>
              </a:ext>
            </a:extLst>
          </p:cNvPr>
          <p:cNvSpPr>
            <a:spLocks noGrp="1"/>
          </p:cNvSpPr>
          <p:nvPr>
            <p:ph idx="1"/>
          </p:nvPr>
        </p:nvSpPr>
        <p:spPr>
          <a:xfrm>
            <a:off x="677333" y="1348955"/>
            <a:ext cx="9558487" cy="1622846"/>
          </a:xfrm>
        </p:spPr>
        <p:txBody>
          <a:bodyPr>
            <a:normAutofit/>
          </a:bodyPr>
          <a:lstStyle/>
          <a:p>
            <a:pPr>
              <a:spcBef>
                <a:spcPts val="2200"/>
              </a:spcBef>
              <a:spcAft>
                <a:spcPts val="2200"/>
              </a:spcAft>
            </a:pPr>
            <a:r>
              <a:rPr lang="en-US" sz="2400" dirty="0"/>
              <a:t>You need someone who understands share holder agreements, investor rights agreements, corporate formation docs, etc</a:t>
            </a:r>
          </a:p>
        </p:txBody>
      </p:sp>
      <p:sp>
        <p:nvSpPr>
          <p:cNvPr id="8" name="Content Placeholder 6">
            <a:extLst>
              <a:ext uri="{FF2B5EF4-FFF2-40B4-BE49-F238E27FC236}">
                <a16:creationId xmlns:a16="http://schemas.microsoft.com/office/drawing/2014/main" id="{29EB9579-F66D-4E46-873C-2E41F83C32B2}"/>
              </a:ext>
            </a:extLst>
          </p:cNvPr>
          <p:cNvSpPr txBox="1">
            <a:spLocks/>
          </p:cNvSpPr>
          <p:nvPr/>
        </p:nvSpPr>
        <p:spPr>
          <a:xfrm rot="16200000">
            <a:off x="5827587" y="3495248"/>
            <a:ext cx="3681807" cy="550288"/>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spcBef>
                <a:spcPts val="2200"/>
              </a:spcBef>
              <a:spcAft>
                <a:spcPts val="2200"/>
              </a:spcAft>
              <a:buNone/>
            </a:pPr>
            <a:r>
              <a:rPr lang="en-US" sz="3200" dirty="0">
                <a:solidFill>
                  <a:schemeClr val="bg1"/>
                </a:solidFill>
              </a:rPr>
              <a:t>Increasing Risk</a:t>
            </a:r>
          </a:p>
        </p:txBody>
      </p:sp>
      <p:pic>
        <p:nvPicPr>
          <p:cNvPr id="4" name="Picture 3">
            <a:extLst>
              <a:ext uri="{FF2B5EF4-FFF2-40B4-BE49-F238E27FC236}">
                <a16:creationId xmlns:a16="http://schemas.microsoft.com/office/drawing/2014/main" id="{2FD10755-BB2B-49E8-AF18-230BEDFBC024}"/>
              </a:ext>
            </a:extLst>
          </p:cNvPr>
          <p:cNvPicPr>
            <a:picLocks noChangeAspect="1"/>
          </p:cNvPicPr>
          <p:nvPr/>
        </p:nvPicPr>
        <p:blipFill>
          <a:blip r:embed="rId2"/>
          <a:stretch>
            <a:fillRect/>
          </a:stretch>
        </p:blipFill>
        <p:spPr>
          <a:xfrm>
            <a:off x="2963370" y="5145881"/>
            <a:ext cx="3584864" cy="831273"/>
          </a:xfrm>
          <a:prstGeom prst="rect">
            <a:avLst/>
          </a:prstGeom>
        </p:spPr>
      </p:pic>
      <p:pic>
        <p:nvPicPr>
          <p:cNvPr id="9" name="Picture 8">
            <a:extLst>
              <a:ext uri="{FF2B5EF4-FFF2-40B4-BE49-F238E27FC236}">
                <a16:creationId xmlns:a16="http://schemas.microsoft.com/office/drawing/2014/main" id="{12453C3E-F12E-445A-A0BC-B777DFD57529}"/>
              </a:ext>
            </a:extLst>
          </p:cNvPr>
          <p:cNvPicPr>
            <a:picLocks noChangeAspect="1"/>
          </p:cNvPicPr>
          <p:nvPr/>
        </p:nvPicPr>
        <p:blipFill>
          <a:blip r:embed="rId3"/>
          <a:stretch>
            <a:fillRect/>
          </a:stretch>
        </p:blipFill>
        <p:spPr>
          <a:xfrm>
            <a:off x="6322483" y="4405070"/>
            <a:ext cx="3105823" cy="830128"/>
          </a:xfrm>
          <a:prstGeom prst="rect">
            <a:avLst/>
          </a:prstGeom>
        </p:spPr>
      </p:pic>
      <p:pic>
        <p:nvPicPr>
          <p:cNvPr id="10" name="Picture 9">
            <a:extLst>
              <a:ext uri="{FF2B5EF4-FFF2-40B4-BE49-F238E27FC236}">
                <a16:creationId xmlns:a16="http://schemas.microsoft.com/office/drawing/2014/main" id="{212D87C8-0A77-4322-A11B-D6514AEDF065}"/>
              </a:ext>
            </a:extLst>
          </p:cNvPr>
          <p:cNvPicPr>
            <a:picLocks noChangeAspect="1"/>
          </p:cNvPicPr>
          <p:nvPr/>
        </p:nvPicPr>
        <p:blipFill>
          <a:blip r:embed="rId4"/>
          <a:stretch>
            <a:fillRect/>
          </a:stretch>
        </p:blipFill>
        <p:spPr>
          <a:xfrm>
            <a:off x="2867834" y="2640083"/>
            <a:ext cx="1670750" cy="595427"/>
          </a:xfrm>
          <a:prstGeom prst="rect">
            <a:avLst/>
          </a:prstGeom>
        </p:spPr>
      </p:pic>
      <p:pic>
        <p:nvPicPr>
          <p:cNvPr id="11" name="Picture 10">
            <a:extLst>
              <a:ext uri="{FF2B5EF4-FFF2-40B4-BE49-F238E27FC236}">
                <a16:creationId xmlns:a16="http://schemas.microsoft.com/office/drawing/2014/main" id="{C233D890-2BFB-4AE7-8CC8-EA3F39C32280}"/>
              </a:ext>
            </a:extLst>
          </p:cNvPr>
          <p:cNvPicPr>
            <a:picLocks noChangeAspect="1"/>
          </p:cNvPicPr>
          <p:nvPr/>
        </p:nvPicPr>
        <p:blipFill>
          <a:blip r:embed="rId5"/>
          <a:stretch>
            <a:fillRect/>
          </a:stretch>
        </p:blipFill>
        <p:spPr>
          <a:xfrm>
            <a:off x="771531" y="3804112"/>
            <a:ext cx="2138795" cy="666750"/>
          </a:xfrm>
          <a:prstGeom prst="rect">
            <a:avLst/>
          </a:prstGeom>
        </p:spPr>
      </p:pic>
      <p:pic>
        <p:nvPicPr>
          <p:cNvPr id="12" name="Picture 11">
            <a:extLst>
              <a:ext uri="{FF2B5EF4-FFF2-40B4-BE49-F238E27FC236}">
                <a16:creationId xmlns:a16="http://schemas.microsoft.com/office/drawing/2014/main" id="{0E2020F5-59F5-4EB8-A4D9-D32EC856C379}"/>
              </a:ext>
            </a:extLst>
          </p:cNvPr>
          <p:cNvPicPr>
            <a:picLocks noChangeAspect="1"/>
          </p:cNvPicPr>
          <p:nvPr/>
        </p:nvPicPr>
        <p:blipFill>
          <a:blip r:embed="rId6"/>
          <a:stretch>
            <a:fillRect/>
          </a:stretch>
        </p:blipFill>
        <p:spPr>
          <a:xfrm>
            <a:off x="1038387" y="4874298"/>
            <a:ext cx="1977350" cy="502114"/>
          </a:xfrm>
          <a:prstGeom prst="rect">
            <a:avLst/>
          </a:prstGeom>
        </p:spPr>
      </p:pic>
      <p:pic>
        <p:nvPicPr>
          <p:cNvPr id="13" name="Picture 12">
            <a:extLst>
              <a:ext uri="{FF2B5EF4-FFF2-40B4-BE49-F238E27FC236}">
                <a16:creationId xmlns:a16="http://schemas.microsoft.com/office/drawing/2014/main" id="{746BF640-9C92-4EC6-B59F-7F146CDADB4C}"/>
              </a:ext>
            </a:extLst>
          </p:cNvPr>
          <p:cNvPicPr>
            <a:picLocks noChangeAspect="1"/>
          </p:cNvPicPr>
          <p:nvPr/>
        </p:nvPicPr>
        <p:blipFill>
          <a:blip r:embed="rId7"/>
          <a:stretch>
            <a:fillRect/>
          </a:stretch>
        </p:blipFill>
        <p:spPr>
          <a:xfrm>
            <a:off x="3582164" y="3891568"/>
            <a:ext cx="3723463" cy="418367"/>
          </a:xfrm>
          <a:prstGeom prst="rect">
            <a:avLst/>
          </a:prstGeom>
        </p:spPr>
      </p:pic>
      <p:pic>
        <p:nvPicPr>
          <p:cNvPr id="15" name="Picture 14">
            <a:extLst>
              <a:ext uri="{FF2B5EF4-FFF2-40B4-BE49-F238E27FC236}">
                <a16:creationId xmlns:a16="http://schemas.microsoft.com/office/drawing/2014/main" id="{59F1A1DE-5747-43AD-8CCD-A6B517F7E1F8}"/>
              </a:ext>
            </a:extLst>
          </p:cNvPr>
          <p:cNvPicPr>
            <a:picLocks noChangeAspect="1"/>
          </p:cNvPicPr>
          <p:nvPr/>
        </p:nvPicPr>
        <p:blipFill>
          <a:blip r:embed="rId8"/>
          <a:stretch>
            <a:fillRect/>
          </a:stretch>
        </p:blipFill>
        <p:spPr>
          <a:xfrm>
            <a:off x="4763285" y="2642263"/>
            <a:ext cx="2001203" cy="670560"/>
          </a:xfrm>
          <a:prstGeom prst="rect">
            <a:avLst/>
          </a:prstGeom>
        </p:spPr>
      </p:pic>
      <p:pic>
        <p:nvPicPr>
          <p:cNvPr id="16" name="Picture 15">
            <a:extLst>
              <a:ext uri="{FF2B5EF4-FFF2-40B4-BE49-F238E27FC236}">
                <a16:creationId xmlns:a16="http://schemas.microsoft.com/office/drawing/2014/main" id="{4B428A28-87D6-4EBF-AF32-9C5A5C4D0D60}"/>
              </a:ext>
            </a:extLst>
          </p:cNvPr>
          <p:cNvPicPr>
            <a:picLocks noChangeAspect="1"/>
          </p:cNvPicPr>
          <p:nvPr/>
        </p:nvPicPr>
        <p:blipFill>
          <a:blip r:embed="rId9"/>
          <a:stretch>
            <a:fillRect/>
          </a:stretch>
        </p:blipFill>
        <p:spPr>
          <a:xfrm>
            <a:off x="6925021" y="2586769"/>
            <a:ext cx="2908050" cy="735145"/>
          </a:xfrm>
          <a:prstGeom prst="rect">
            <a:avLst/>
          </a:prstGeom>
        </p:spPr>
      </p:pic>
      <p:pic>
        <p:nvPicPr>
          <p:cNvPr id="17" name="Picture 16">
            <a:extLst>
              <a:ext uri="{FF2B5EF4-FFF2-40B4-BE49-F238E27FC236}">
                <a16:creationId xmlns:a16="http://schemas.microsoft.com/office/drawing/2014/main" id="{FB267720-529E-40D6-B233-4C8B0FD88FE7}"/>
              </a:ext>
            </a:extLst>
          </p:cNvPr>
          <p:cNvPicPr>
            <a:picLocks noChangeAspect="1"/>
          </p:cNvPicPr>
          <p:nvPr/>
        </p:nvPicPr>
        <p:blipFill>
          <a:blip r:embed="rId10"/>
          <a:stretch>
            <a:fillRect/>
          </a:stretch>
        </p:blipFill>
        <p:spPr>
          <a:xfrm>
            <a:off x="680016" y="2654230"/>
            <a:ext cx="1920917" cy="625643"/>
          </a:xfrm>
          <a:prstGeom prst="rect">
            <a:avLst/>
          </a:prstGeom>
        </p:spPr>
      </p:pic>
      <p:sp>
        <p:nvSpPr>
          <p:cNvPr id="18" name="TextBox 17">
            <a:extLst>
              <a:ext uri="{FF2B5EF4-FFF2-40B4-BE49-F238E27FC236}">
                <a16:creationId xmlns:a16="http://schemas.microsoft.com/office/drawing/2014/main" id="{8AA52D58-297C-4DC8-B191-41D2DB001769}"/>
              </a:ext>
            </a:extLst>
          </p:cNvPr>
          <p:cNvSpPr txBox="1"/>
          <p:nvPr/>
        </p:nvSpPr>
        <p:spPr>
          <a:xfrm>
            <a:off x="4700153" y="6360468"/>
            <a:ext cx="3210044" cy="338554"/>
          </a:xfrm>
          <a:prstGeom prst="rect">
            <a:avLst/>
          </a:prstGeom>
          <a:noFill/>
        </p:spPr>
        <p:txBody>
          <a:bodyPr wrap="square" rtlCol="0">
            <a:spAutoFit/>
          </a:bodyPr>
          <a:lstStyle/>
          <a:p>
            <a:pPr algn="ctr"/>
            <a:r>
              <a:rPr lang="en-US" sz="1600" dirty="0"/>
              <a:t>www.linkedin.com/in/kelleyan</a:t>
            </a:r>
          </a:p>
        </p:txBody>
      </p:sp>
    </p:spTree>
    <p:extLst>
      <p:ext uri="{BB962C8B-B14F-4D97-AF65-F5344CB8AC3E}">
        <p14:creationId xmlns:p14="http://schemas.microsoft.com/office/powerpoint/2010/main" val="39458183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2C05D67-1851-4DC8-BBCE-A1B39D427EEA}"/>
              </a:ext>
            </a:extLst>
          </p:cNvPr>
          <p:cNvSpPr>
            <a:spLocks noGrp="1"/>
          </p:cNvSpPr>
          <p:nvPr>
            <p:ph type="sldNum" sz="quarter" idx="12"/>
          </p:nvPr>
        </p:nvSpPr>
        <p:spPr>
          <a:xfrm>
            <a:off x="11368969" y="6415051"/>
            <a:ext cx="751673" cy="365125"/>
          </a:xfrm>
        </p:spPr>
        <p:txBody>
          <a:bodyPr/>
          <a:lstStyle/>
          <a:p>
            <a:pPr algn="ctr"/>
            <a:fld id="{519954A3-9DFD-4C44-94BA-B95130A3BA1C}" type="slidenum">
              <a:rPr lang="en-US" sz="1400" dirty="0">
                <a:solidFill>
                  <a:schemeClr val="bg1"/>
                </a:solidFill>
              </a:rPr>
              <a:pPr algn="ctr"/>
              <a:t>21</a:t>
            </a:fld>
            <a:endParaRPr lang="en-US" sz="1400" dirty="0">
              <a:solidFill>
                <a:schemeClr val="bg1"/>
              </a:solidFill>
            </a:endParaRPr>
          </a:p>
        </p:txBody>
      </p:sp>
      <p:sp>
        <p:nvSpPr>
          <p:cNvPr id="7" name="Content Placeholder 6">
            <a:extLst>
              <a:ext uri="{FF2B5EF4-FFF2-40B4-BE49-F238E27FC236}">
                <a16:creationId xmlns:a16="http://schemas.microsoft.com/office/drawing/2014/main" id="{3715121B-65B8-43AD-B402-AA2D8523A004}"/>
              </a:ext>
            </a:extLst>
          </p:cNvPr>
          <p:cNvSpPr>
            <a:spLocks noGrp="1"/>
          </p:cNvSpPr>
          <p:nvPr>
            <p:ph idx="1"/>
          </p:nvPr>
        </p:nvSpPr>
        <p:spPr>
          <a:xfrm>
            <a:off x="997663" y="750629"/>
            <a:ext cx="9136188" cy="4772120"/>
          </a:xfrm>
        </p:spPr>
        <p:txBody>
          <a:bodyPr>
            <a:normAutofit/>
          </a:bodyPr>
          <a:lstStyle/>
          <a:p>
            <a:pPr marL="0" indent="0" algn="ctr">
              <a:buNone/>
            </a:pPr>
            <a:r>
              <a:rPr lang="en-US" sz="7200" dirty="0"/>
              <a:t>So now that you know how VCs think what’s your pitch?</a:t>
            </a:r>
            <a:endParaRPr lang="en-US" sz="7200" b="1" dirty="0"/>
          </a:p>
        </p:txBody>
      </p:sp>
      <p:pic>
        <p:nvPicPr>
          <p:cNvPr id="8" name="Picture 7">
            <a:extLst>
              <a:ext uri="{FF2B5EF4-FFF2-40B4-BE49-F238E27FC236}">
                <a16:creationId xmlns:a16="http://schemas.microsoft.com/office/drawing/2014/main" id="{5653B796-91DD-442A-B416-E45CC7A3F017}"/>
              </a:ext>
            </a:extLst>
          </p:cNvPr>
          <p:cNvPicPr>
            <a:picLocks noChangeAspect="1"/>
          </p:cNvPicPr>
          <p:nvPr/>
        </p:nvPicPr>
        <p:blipFill>
          <a:blip r:embed="rId2"/>
          <a:stretch>
            <a:fillRect/>
          </a:stretch>
        </p:blipFill>
        <p:spPr>
          <a:xfrm>
            <a:off x="3728661" y="4413391"/>
            <a:ext cx="4183666" cy="1939700"/>
          </a:xfrm>
          <a:prstGeom prst="rect">
            <a:avLst/>
          </a:prstGeom>
        </p:spPr>
      </p:pic>
      <p:sp>
        <p:nvSpPr>
          <p:cNvPr id="5" name="TextBox 4">
            <a:extLst>
              <a:ext uri="{FF2B5EF4-FFF2-40B4-BE49-F238E27FC236}">
                <a16:creationId xmlns:a16="http://schemas.microsoft.com/office/drawing/2014/main" id="{7C7C67AF-A28B-4236-9230-21B2C49BC819}"/>
              </a:ext>
            </a:extLst>
          </p:cNvPr>
          <p:cNvSpPr txBox="1"/>
          <p:nvPr/>
        </p:nvSpPr>
        <p:spPr>
          <a:xfrm>
            <a:off x="4700153" y="6360468"/>
            <a:ext cx="3210044" cy="338554"/>
          </a:xfrm>
          <a:prstGeom prst="rect">
            <a:avLst/>
          </a:prstGeom>
          <a:noFill/>
        </p:spPr>
        <p:txBody>
          <a:bodyPr wrap="square" rtlCol="0">
            <a:spAutoFit/>
          </a:bodyPr>
          <a:lstStyle/>
          <a:p>
            <a:pPr algn="ctr"/>
            <a:r>
              <a:rPr lang="en-US" sz="1600" dirty="0"/>
              <a:t>www.linkedin.com/in/kelleyan</a:t>
            </a:r>
          </a:p>
        </p:txBody>
      </p:sp>
    </p:spTree>
    <p:extLst>
      <p:ext uri="{BB962C8B-B14F-4D97-AF65-F5344CB8AC3E}">
        <p14:creationId xmlns:p14="http://schemas.microsoft.com/office/powerpoint/2010/main" val="19572118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AC4CE-D3B5-4439-B956-3255F6621C36}"/>
              </a:ext>
            </a:extLst>
          </p:cNvPr>
          <p:cNvSpPr>
            <a:spLocks noGrp="1"/>
          </p:cNvSpPr>
          <p:nvPr>
            <p:ph type="title"/>
          </p:nvPr>
        </p:nvSpPr>
        <p:spPr/>
        <p:txBody>
          <a:bodyPr/>
          <a:lstStyle/>
          <a:p>
            <a:r>
              <a:rPr lang="en-US" dirty="0"/>
              <a:t>Investor Pitches 101</a:t>
            </a:r>
          </a:p>
        </p:txBody>
      </p:sp>
      <p:sp>
        <p:nvSpPr>
          <p:cNvPr id="6" name="Slide Number Placeholder 5">
            <a:extLst>
              <a:ext uri="{FF2B5EF4-FFF2-40B4-BE49-F238E27FC236}">
                <a16:creationId xmlns:a16="http://schemas.microsoft.com/office/drawing/2014/main" id="{A2C05D67-1851-4DC8-BBCE-A1B39D427EEA}"/>
              </a:ext>
            </a:extLst>
          </p:cNvPr>
          <p:cNvSpPr>
            <a:spLocks noGrp="1"/>
          </p:cNvSpPr>
          <p:nvPr>
            <p:ph type="sldNum" sz="quarter" idx="12"/>
          </p:nvPr>
        </p:nvSpPr>
        <p:spPr>
          <a:xfrm>
            <a:off x="11368969" y="6415051"/>
            <a:ext cx="751673" cy="365125"/>
          </a:xfrm>
        </p:spPr>
        <p:txBody>
          <a:bodyPr/>
          <a:lstStyle/>
          <a:p>
            <a:pPr algn="ctr"/>
            <a:fld id="{519954A3-9DFD-4C44-94BA-B95130A3BA1C}" type="slidenum">
              <a:rPr lang="en-US" sz="1400" dirty="0">
                <a:solidFill>
                  <a:schemeClr val="bg1"/>
                </a:solidFill>
              </a:rPr>
              <a:pPr algn="ctr"/>
              <a:t>22</a:t>
            </a:fld>
            <a:endParaRPr lang="en-US" sz="1400" dirty="0">
              <a:solidFill>
                <a:schemeClr val="bg1"/>
              </a:solidFill>
            </a:endParaRPr>
          </a:p>
        </p:txBody>
      </p:sp>
      <p:sp>
        <p:nvSpPr>
          <p:cNvPr id="7" name="Content Placeholder 6">
            <a:extLst>
              <a:ext uri="{FF2B5EF4-FFF2-40B4-BE49-F238E27FC236}">
                <a16:creationId xmlns:a16="http://schemas.microsoft.com/office/drawing/2014/main" id="{3715121B-65B8-43AD-B402-AA2D8523A004}"/>
              </a:ext>
            </a:extLst>
          </p:cNvPr>
          <p:cNvSpPr>
            <a:spLocks noGrp="1"/>
          </p:cNvSpPr>
          <p:nvPr>
            <p:ph idx="1"/>
          </p:nvPr>
        </p:nvSpPr>
        <p:spPr>
          <a:xfrm>
            <a:off x="677334" y="1538477"/>
            <a:ext cx="9121759" cy="4838751"/>
          </a:xfrm>
        </p:spPr>
        <p:txBody>
          <a:bodyPr>
            <a:normAutofit/>
          </a:bodyPr>
          <a:lstStyle/>
          <a:p>
            <a:pPr>
              <a:spcAft>
                <a:spcPts val="1000"/>
              </a:spcAft>
            </a:pPr>
            <a:r>
              <a:rPr lang="en-US" sz="2400" dirty="0"/>
              <a:t>You get just </a:t>
            </a:r>
            <a:r>
              <a:rPr lang="en-US" sz="2400" u="sng" dirty="0"/>
              <a:t>one</a:t>
            </a:r>
            <a:r>
              <a:rPr lang="en-US" sz="2400" dirty="0"/>
              <a:t> shot to make a 1</a:t>
            </a:r>
            <a:r>
              <a:rPr lang="en-US" sz="2400" baseline="30000" dirty="0"/>
              <a:t>st</a:t>
            </a:r>
            <a:r>
              <a:rPr lang="en-US" sz="2400" dirty="0"/>
              <a:t> impression with a VC</a:t>
            </a:r>
          </a:p>
          <a:p>
            <a:pPr>
              <a:spcAft>
                <a:spcPts val="1000"/>
              </a:spcAft>
            </a:pPr>
            <a:r>
              <a:rPr lang="en-US" sz="2400" dirty="0"/>
              <a:t>If you don’t impress in your first meeting you may be shelved for 12 – 24 months until after you’ve raised money for others</a:t>
            </a:r>
          </a:p>
          <a:p>
            <a:pPr>
              <a:spcAft>
                <a:spcPts val="1000"/>
              </a:spcAft>
            </a:pPr>
            <a:r>
              <a:rPr lang="en-US" sz="2400" dirty="0"/>
              <a:t>There are </a:t>
            </a:r>
            <a:r>
              <a:rPr lang="en-US" sz="2400" i="1" dirty="0"/>
              <a:t>many </a:t>
            </a:r>
            <a:r>
              <a:rPr lang="en-US" sz="2400" dirty="0"/>
              <a:t>different Dos and Don’ts for pitches &amp; here’s </a:t>
            </a:r>
            <a:r>
              <a:rPr lang="en-US" sz="2400" b="1" u="sng" dirty="0"/>
              <a:t>my top 3 “Dos”:</a:t>
            </a:r>
          </a:p>
          <a:p>
            <a:pPr lvl="1">
              <a:spcAft>
                <a:spcPts val="1000"/>
              </a:spcAft>
              <a:buFont typeface="+mj-lt"/>
              <a:buAutoNum type="arabicPeriod"/>
            </a:pPr>
            <a:r>
              <a:rPr lang="en-US" sz="2000" b="1" dirty="0"/>
              <a:t>Do make deck professional, visually arresting, and to the point</a:t>
            </a:r>
          </a:p>
          <a:p>
            <a:pPr lvl="1">
              <a:spcAft>
                <a:spcPts val="1000"/>
              </a:spcAft>
              <a:buFont typeface="+mj-lt"/>
              <a:buAutoNum type="arabicPeriod"/>
            </a:pPr>
            <a:r>
              <a:rPr lang="en-US" sz="2000" b="1" dirty="0"/>
              <a:t>Do must convince the investor that the market opportunity matters</a:t>
            </a:r>
          </a:p>
          <a:p>
            <a:pPr lvl="1">
              <a:spcAft>
                <a:spcPts val="1000"/>
              </a:spcAft>
              <a:buFont typeface="+mj-lt"/>
              <a:buAutoNum type="arabicPeriod"/>
            </a:pPr>
            <a:r>
              <a:rPr lang="en-US" sz="2000" b="1" dirty="0"/>
              <a:t>Do demonstrate your traction and why you’re uniquely qualified</a:t>
            </a:r>
          </a:p>
        </p:txBody>
      </p:sp>
      <p:pic>
        <p:nvPicPr>
          <p:cNvPr id="3" name="Picture 2">
            <a:extLst>
              <a:ext uri="{FF2B5EF4-FFF2-40B4-BE49-F238E27FC236}">
                <a16:creationId xmlns:a16="http://schemas.microsoft.com/office/drawing/2014/main" id="{A4959C56-7430-4EFF-BACF-E2DD8903B412}"/>
              </a:ext>
            </a:extLst>
          </p:cNvPr>
          <p:cNvPicPr>
            <a:picLocks noChangeAspect="1"/>
          </p:cNvPicPr>
          <p:nvPr/>
        </p:nvPicPr>
        <p:blipFill>
          <a:blip r:embed="rId2"/>
          <a:stretch>
            <a:fillRect/>
          </a:stretch>
        </p:blipFill>
        <p:spPr>
          <a:xfrm>
            <a:off x="9274002" y="346075"/>
            <a:ext cx="2466975" cy="1847850"/>
          </a:xfrm>
          <a:prstGeom prst="rect">
            <a:avLst/>
          </a:prstGeom>
        </p:spPr>
      </p:pic>
      <p:sp>
        <p:nvSpPr>
          <p:cNvPr id="8" name="TextBox 7">
            <a:extLst>
              <a:ext uri="{FF2B5EF4-FFF2-40B4-BE49-F238E27FC236}">
                <a16:creationId xmlns:a16="http://schemas.microsoft.com/office/drawing/2014/main" id="{894315EA-2213-4D1B-8847-CAB901E633DB}"/>
              </a:ext>
            </a:extLst>
          </p:cNvPr>
          <p:cNvSpPr txBox="1"/>
          <p:nvPr/>
        </p:nvSpPr>
        <p:spPr>
          <a:xfrm>
            <a:off x="4700153" y="6360468"/>
            <a:ext cx="3210044" cy="338554"/>
          </a:xfrm>
          <a:prstGeom prst="rect">
            <a:avLst/>
          </a:prstGeom>
          <a:noFill/>
        </p:spPr>
        <p:txBody>
          <a:bodyPr wrap="square" rtlCol="0">
            <a:spAutoFit/>
          </a:bodyPr>
          <a:lstStyle/>
          <a:p>
            <a:pPr algn="ctr"/>
            <a:r>
              <a:rPr lang="en-US" sz="1600" dirty="0"/>
              <a:t>www.linkedin.com/in/kelleyan</a:t>
            </a:r>
          </a:p>
        </p:txBody>
      </p:sp>
    </p:spTree>
    <p:extLst>
      <p:ext uri="{BB962C8B-B14F-4D97-AF65-F5344CB8AC3E}">
        <p14:creationId xmlns:p14="http://schemas.microsoft.com/office/powerpoint/2010/main" val="18820428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E2CDF-123F-4B97-99D9-36A524255D0D}"/>
              </a:ext>
            </a:extLst>
          </p:cNvPr>
          <p:cNvSpPr>
            <a:spLocks noGrp="1"/>
          </p:cNvSpPr>
          <p:nvPr>
            <p:ph type="title"/>
          </p:nvPr>
        </p:nvSpPr>
        <p:spPr>
          <a:xfrm>
            <a:off x="677334" y="2700867"/>
            <a:ext cx="9353769" cy="1826581"/>
          </a:xfrm>
        </p:spPr>
        <p:txBody>
          <a:bodyPr/>
          <a:lstStyle/>
          <a:p>
            <a:r>
              <a:rPr lang="en-US" dirty="0"/>
              <a:t>Alternative Paths to Entrepreneurship</a:t>
            </a:r>
          </a:p>
        </p:txBody>
      </p:sp>
      <p:sp>
        <p:nvSpPr>
          <p:cNvPr id="3" name="Text Placeholder 2">
            <a:extLst>
              <a:ext uri="{FF2B5EF4-FFF2-40B4-BE49-F238E27FC236}">
                <a16:creationId xmlns:a16="http://schemas.microsoft.com/office/drawing/2014/main" id="{B9FB6BF1-CA9B-48BC-BE1B-DFC3A6B1711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389140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F47780-1753-478D-9294-3E13B8BE0371}"/>
              </a:ext>
            </a:extLst>
          </p:cNvPr>
          <p:cNvPicPr>
            <a:picLocks noChangeAspect="1"/>
          </p:cNvPicPr>
          <p:nvPr/>
        </p:nvPicPr>
        <p:blipFill>
          <a:blip r:embed="rId2"/>
          <a:stretch>
            <a:fillRect/>
          </a:stretch>
        </p:blipFill>
        <p:spPr>
          <a:xfrm>
            <a:off x="5262187" y="1694435"/>
            <a:ext cx="3796678" cy="3796678"/>
          </a:xfrm>
          <a:prstGeom prst="rect">
            <a:avLst/>
          </a:prstGeom>
        </p:spPr>
      </p:pic>
      <p:sp>
        <p:nvSpPr>
          <p:cNvPr id="2" name="Title 1">
            <a:extLst>
              <a:ext uri="{FF2B5EF4-FFF2-40B4-BE49-F238E27FC236}">
                <a16:creationId xmlns:a16="http://schemas.microsoft.com/office/drawing/2014/main" id="{3C9AC4CE-D3B5-4439-B956-3255F6621C36}"/>
              </a:ext>
            </a:extLst>
          </p:cNvPr>
          <p:cNvSpPr>
            <a:spLocks noGrp="1"/>
          </p:cNvSpPr>
          <p:nvPr>
            <p:ph type="title"/>
          </p:nvPr>
        </p:nvSpPr>
        <p:spPr/>
        <p:txBody>
          <a:bodyPr/>
          <a:lstStyle/>
          <a:p>
            <a:r>
              <a:rPr lang="en-US" dirty="0"/>
              <a:t>Paths to Entrepreneurship</a:t>
            </a:r>
          </a:p>
        </p:txBody>
      </p:sp>
      <p:sp>
        <p:nvSpPr>
          <p:cNvPr id="6" name="Slide Number Placeholder 5">
            <a:extLst>
              <a:ext uri="{FF2B5EF4-FFF2-40B4-BE49-F238E27FC236}">
                <a16:creationId xmlns:a16="http://schemas.microsoft.com/office/drawing/2014/main" id="{A2C05D67-1851-4DC8-BBCE-A1B39D427EEA}"/>
              </a:ext>
            </a:extLst>
          </p:cNvPr>
          <p:cNvSpPr>
            <a:spLocks noGrp="1"/>
          </p:cNvSpPr>
          <p:nvPr>
            <p:ph type="sldNum" sz="quarter" idx="12"/>
          </p:nvPr>
        </p:nvSpPr>
        <p:spPr>
          <a:xfrm>
            <a:off x="11368969" y="6415051"/>
            <a:ext cx="751673" cy="365125"/>
          </a:xfrm>
        </p:spPr>
        <p:txBody>
          <a:bodyPr/>
          <a:lstStyle/>
          <a:p>
            <a:pPr algn="ctr"/>
            <a:fld id="{519954A3-9DFD-4C44-94BA-B95130A3BA1C}" type="slidenum">
              <a:rPr lang="en-US" sz="1400" dirty="0">
                <a:solidFill>
                  <a:schemeClr val="bg1"/>
                </a:solidFill>
              </a:rPr>
              <a:pPr algn="ctr"/>
              <a:t>24</a:t>
            </a:fld>
            <a:endParaRPr lang="en-US" sz="1400" dirty="0">
              <a:solidFill>
                <a:schemeClr val="bg1"/>
              </a:solidFill>
            </a:endParaRPr>
          </a:p>
        </p:txBody>
      </p:sp>
      <p:sp>
        <p:nvSpPr>
          <p:cNvPr id="7" name="Content Placeholder 6">
            <a:extLst>
              <a:ext uri="{FF2B5EF4-FFF2-40B4-BE49-F238E27FC236}">
                <a16:creationId xmlns:a16="http://schemas.microsoft.com/office/drawing/2014/main" id="{3715121B-65B8-43AD-B402-AA2D8523A004}"/>
              </a:ext>
            </a:extLst>
          </p:cNvPr>
          <p:cNvSpPr>
            <a:spLocks noGrp="1"/>
          </p:cNvSpPr>
          <p:nvPr>
            <p:ph idx="1"/>
          </p:nvPr>
        </p:nvSpPr>
        <p:spPr>
          <a:xfrm>
            <a:off x="677334" y="1785686"/>
            <a:ext cx="4734928" cy="3880773"/>
          </a:xfrm>
        </p:spPr>
        <p:txBody>
          <a:bodyPr>
            <a:normAutofit/>
          </a:bodyPr>
          <a:lstStyle/>
          <a:p>
            <a:pPr>
              <a:spcBef>
                <a:spcPts val="2700"/>
              </a:spcBef>
              <a:spcAft>
                <a:spcPts val="2700"/>
              </a:spcAft>
            </a:pPr>
            <a:r>
              <a:rPr lang="en-US" sz="2400" dirty="0"/>
              <a:t>Start a business</a:t>
            </a:r>
          </a:p>
          <a:p>
            <a:pPr>
              <a:spcBef>
                <a:spcPts val="2700"/>
              </a:spcBef>
              <a:spcAft>
                <a:spcPts val="2700"/>
              </a:spcAft>
            </a:pPr>
            <a:r>
              <a:rPr lang="en-US" sz="2400" dirty="0"/>
              <a:t>Buy a business</a:t>
            </a:r>
          </a:p>
          <a:p>
            <a:pPr>
              <a:spcBef>
                <a:spcPts val="2700"/>
              </a:spcBef>
              <a:spcAft>
                <a:spcPts val="2700"/>
              </a:spcAft>
            </a:pPr>
            <a:r>
              <a:rPr lang="en-US" sz="2400" dirty="0"/>
              <a:t>Incubate a business</a:t>
            </a:r>
          </a:p>
          <a:p>
            <a:pPr>
              <a:spcBef>
                <a:spcPts val="2700"/>
              </a:spcBef>
              <a:spcAft>
                <a:spcPts val="2700"/>
              </a:spcAft>
            </a:pPr>
            <a:r>
              <a:rPr lang="en-US" sz="2400" dirty="0"/>
              <a:t>Think like an entrepreneur</a:t>
            </a:r>
          </a:p>
        </p:txBody>
      </p:sp>
      <p:sp>
        <p:nvSpPr>
          <p:cNvPr id="8" name="Content Placeholder 6">
            <a:extLst>
              <a:ext uri="{FF2B5EF4-FFF2-40B4-BE49-F238E27FC236}">
                <a16:creationId xmlns:a16="http://schemas.microsoft.com/office/drawing/2014/main" id="{29EB9579-F66D-4E46-873C-2E41F83C32B2}"/>
              </a:ext>
            </a:extLst>
          </p:cNvPr>
          <p:cNvSpPr txBox="1">
            <a:spLocks/>
          </p:cNvSpPr>
          <p:nvPr/>
        </p:nvSpPr>
        <p:spPr>
          <a:xfrm rot="16200000">
            <a:off x="5791050" y="3318418"/>
            <a:ext cx="2766195" cy="55028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spcBef>
                <a:spcPts val="2200"/>
              </a:spcBef>
              <a:spcAft>
                <a:spcPts val="2200"/>
              </a:spcAft>
              <a:buNone/>
            </a:pPr>
            <a:r>
              <a:rPr lang="en-US" sz="2400" b="1" dirty="0">
                <a:solidFill>
                  <a:srgbClr val="FF0000"/>
                </a:solidFill>
              </a:rPr>
              <a:t>Increasing Risk</a:t>
            </a:r>
          </a:p>
        </p:txBody>
      </p:sp>
      <p:sp>
        <p:nvSpPr>
          <p:cNvPr id="9" name="TextBox 8">
            <a:extLst>
              <a:ext uri="{FF2B5EF4-FFF2-40B4-BE49-F238E27FC236}">
                <a16:creationId xmlns:a16="http://schemas.microsoft.com/office/drawing/2014/main" id="{312E3B80-A4C6-4695-B73C-D06AA7F4E12D}"/>
              </a:ext>
            </a:extLst>
          </p:cNvPr>
          <p:cNvSpPr txBox="1"/>
          <p:nvPr/>
        </p:nvSpPr>
        <p:spPr>
          <a:xfrm>
            <a:off x="4700153" y="6360468"/>
            <a:ext cx="3210044" cy="338554"/>
          </a:xfrm>
          <a:prstGeom prst="rect">
            <a:avLst/>
          </a:prstGeom>
          <a:noFill/>
        </p:spPr>
        <p:txBody>
          <a:bodyPr wrap="square" rtlCol="0">
            <a:spAutoFit/>
          </a:bodyPr>
          <a:lstStyle/>
          <a:p>
            <a:pPr algn="ctr"/>
            <a:r>
              <a:rPr lang="en-US" sz="1600" dirty="0"/>
              <a:t>www.linkedin.com/in/kelleyan</a:t>
            </a:r>
          </a:p>
        </p:txBody>
      </p:sp>
    </p:spTree>
    <p:extLst>
      <p:ext uri="{BB962C8B-B14F-4D97-AF65-F5344CB8AC3E}">
        <p14:creationId xmlns:p14="http://schemas.microsoft.com/office/powerpoint/2010/main" val="10600836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AC4CE-D3B5-4439-B956-3255F6621C36}"/>
              </a:ext>
            </a:extLst>
          </p:cNvPr>
          <p:cNvSpPr>
            <a:spLocks noGrp="1"/>
          </p:cNvSpPr>
          <p:nvPr>
            <p:ph type="title"/>
          </p:nvPr>
        </p:nvSpPr>
        <p:spPr/>
        <p:txBody>
          <a:bodyPr/>
          <a:lstStyle/>
          <a:p>
            <a:r>
              <a:rPr lang="en-US" dirty="0"/>
              <a:t>Search Funds &amp; Independent Sponsors</a:t>
            </a:r>
          </a:p>
        </p:txBody>
      </p:sp>
      <p:sp>
        <p:nvSpPr>
          <p:cNvPr id="6" name="Slide Number Placeholder 5">
            <a:extLst>
              <a:ext uri="{FF2B5EF4-FFF2-40B4-BE49-F238E27FC236}">
                <a16:creationId xmlns:a16="http://schemas.microsoft.com/office/drawing/2014/main" id="{A2C05D67-1851-4DC8-BBCE-A1B39D427EEA}"/>
              </a:ext>
            </a:extLst>
          </p:cNvPr>
          <p:cNvSpPr>
            <a:spLocks noGrp="1"/>
          </p:cNvSpPr>
          <p:nvPr>
            <p:ph type="sldNum" sz="quarter" idx="12"/>
          </p:nvPr>
        </p:nvSpPr>
        <p:spPr>
          <a:xfrm>
            <a:off x="11368969" y="6415051"/>
            <a:ext cx="751673" cy="365125"/>
          </a:xfrm>
        </p:spPr>
        <p:txBody>
          <a:bodyPr/>
          <a:lstStyle/>
          <a:p>
            <a:pPr algn="ctr"/>
            <a:fld id="{519954A3-9DFD-4C44-94BA-B95130A3BA1C}" type="slidenum">
              <a:rPr lang="en-US" sz="1400" dirty="0">
                <a:solidFill>
                  <a:schemeClr val="bg1"/>
                </a:solidFill>
              </a:rPr>
              <a:pPr algn="ctr"/>
              <a:t>25</a:t>
            </a:fld>
            <a:endParaRPr lang="en-US" sz="1400" dirty="0">
              <a:solidFill>
                <a:schemeClr val="bg1"/>
              </a:solidFill>
            </a:endParaRPr>
          </a:p>
        </p:txBody>
      </p:sp>
      <p:sp>
        <p:nvSpPr>
          <p:cNvPr id="7" name="Content Placeholder 6">
            <a:extLst>
              <a:ext uri="{FF2B5EF4-FFF2-40B4-BE49-F238E27FC236}">
                <a16:creationId xmlns:a16="http://schemas.microsoft.com/office/drawing/2014/main" id="{3715121B-65B8-43AD-B402-AA2D8523A004}"/>
              </a:ext>
            </a:extLst>
          </p:cNvPr>
          <p:cNvSpPr>
            <a:spLocks noGrp="1"/>
          </p:cNvSpPr>
          <p:nvPr>
            <p:ph idx="1"/>
          </p:nvPr>
        </p:nvSpPr>
        <p:spPr>
          <a:xfrm>
            <a:off x="677334" y="1246182"/>
            <a:ext cx="9131684" cy="1292207"/>
          </a:xfrm>
        </p:spPr>
        <p:txBody>
          <a:bodyPr>
            <a:normAutofit/>
          </a:bodyPr>
          <a:lstStyle/>
          <a:p>
            <a:pPr>
              <a:spcBef>
                <a:spcPts val="300"/>
              </a:spcBef>
              <a:spcAft>
                <a:spcPts val="300"/>
              </a:spcAft>
            </a:pPr>
            <a:r>
              <a:rPr lang="en-US" sz="2000" dirty="0"/>
              <a:t>Search funds allow a searcher to buy a small business to run</a:t>
            </a:r>
          </a:p>
          <a:p>
            <a:pPr>
              <a:spcBef>
                <a:spcPts val="300"/>
              </a:spcBef>
              <a:spcAft>
                <a:spcPts val="300"/>
              </a:spcAft>
            </a:pPr>
            <a:r>
              <a:rPr lang="en-US" sz="2000" dirty="0"/>
              <a:t>Typically takes 15 – 24 months to execute starting with $350K - $750K raise</a:t>
            </a:r>
          </a:p>
          <a:p>
            <a:pPr>
              <a:spcBef>
                <a:spcPts val="300"/>
              </a:spcBef>
              <a:spcAft>
                <a:spcPts val="300"/>
              </a:spcAft>
            </a:pPr>
            <a:r>
              <a:rPr lang="en-US" sz="2000" dirty="0"/>
              <a:t>Average search typically ~30 years old and may contact 300 – 500 prospects</a:t>
            </a:r>
          </a:p>
        </p:txBody>
      </p:sp>
      <p:pic>
        <p:nvPicPr>
          <p:cNvPr id="4" name="Picture 3">
            <a:extLst>
              <a:ext uri="{FF2B5EF4-FFF2-40B4-BE49-F238E27FC236}">
                <a16:creationId xmlns:a16="http://schemas.microsoft.com/office/drawing/2014/main" id="{47BB6ADF-71DF-4268-BF62-A10A0BC40CEC}"/>
              </a:ext>
            </a:extLst>
          </p:cNvPr>
          <p:cNvPicPr>
            <a:picLocks noChangeAspect="1"/>
          </p:cNvPicPr>
          <p:nvPr/>
        </p:nvPicPr>
        <p:blipFill>
          <a:blip r:embed="rId2"/>
          <a:stretch>
            <a:fillRect/>
          </a:stretch>
        </p:blipFill>
        <p:spPr>
          <a:xfrm>
            <a:off x="4726288" y="6186502"/>
            <a:ext cx="3467100" cy="381000"/>
          </a:xfrm>
          <a:prstGeom prst="rect">
            <a:avLst/>
          </a:prstGeom>
        </p:spPr>
      </p:pic>
      <p:pic>
        <p:nvPicPr>
          <p:cNvPr id="8" name="Picture 7">
            <a:extLst>
              <a:ext uri="{FF2B5EF4-FFF2-40B4-BE49-F238E27FC236}">
                <a16:creationId xmlns:a16="http://schemas.microsoft.com/office/drawing/2014/main" id="{00F2A92A-B8E0-4E0C-894F-0038E9472353}"/>
              </a:ext>
            </a:extLst>
          </p:cNvPr>
          <p:cNvPicPr>
            <a:picLocks noChangeAspect="1"/>
          </p:cNvPicPr>
          <p:nvPr/>
        </p:nvPicPr>
        <p:blipFill>
          <a:blip r:embed="rId3"/>
          <a:stretch>
            <a:fillRect/>
          </a:stretch>
        </p:blipFill>
        <p:spPr>
          <a:xfrm>
            <a:off x="9362432" y="5471016"/>
            <a:ext cx="2156901" cy="645495"/>
          </a:xfrm>
          <a:prstGeom prst="rect">
            <a:avLst/>
          </a:prstGeom>
        </p:spPr>
      </p:pic>
      <p:pic>
        <p:nvPicPr>
          <p:cNvPr id="9" name="Picture 8">
            <a:extLst>
              <a:ext uri="{FF2B5EF4-FFF2-40B4-BE49-F238E27FC236}">
                <a16:creationId xmlns:a16="http://schemas.microsoft.com/office/drawing/2014/main" id="{AC05443B-5C79-4B10-B777-501041B9301D}"/>
              </a:ext>
            </a:extLst>
          </p:cNvPr>
          <p:cNvPicPr>
            <a:picLocks noChangeAspect="1"/>
          </p:cNvPicPr>
          <p:nvPr/>
        </p:nvPicPr>
        <p:blipFill>
          <a:blip r:embed="rId4"/>
          <a:stretch>
            <a:fillRect/>
          </a:stretch>
        </p:blipFill>
        <p:spPr>
          <a:xfrm>
            <a:off x="2349009" y="5452596"/>
            <a:ext cx="2485159" cy="545523"/>
          </a:xfrm>
          <a:prstGeom prst="rect">
            <a:avLst/>
          </a:prstGeom>
        </p:spPr>
      </p:pic>
      <p:pic>
        <p:nvPicPr>
          <p:cNvPr id="11" name="Picture 10">
            <a:extLst>
              <a:ext uri="{FF2B5EF4-FFF2-40B4-BE49-F238E27FC236}">
                <a16:creationId xmlns:a16="http://schemas.microsoft.com/office/drawing/2014/main" id="{6D3A0870-2A56-45B6-A5CC-3D193649D330}"/>
              </a:ext>
            </a:extLst>
          </p:cNvPr>
          <p:cNvPicPr>
            <a:picLocks noChangeAspect="1"/>
          </p:cNvPicPr>
          <p:nvPr/>
        </p:nvPicPr>
        <p:blipFill>
          <a:blip r:embed="rId5"/>
          <a:stretch>
            <a:fillRect/>
          </a:stretch>
        </p:blipFill>
        <p:spPr>
          <a:xfrm>
            <a:off x="5698038" y="5467815"/>
            <a:ext cx="2635710" cy="474150"/>
          </a:xfrm>
          <a:prstGeom prst="rect">
            <a:avLst/>
          </a:prstGeom>
        </p:spPr>
      </p:pic>
      <p:pic>
        <p:nvPicPr>
          <p:cNvPr id="12" name="Picture 11">
            <a:extLst>
              <a:ext uri="{FF2B5EF4-FFF2-40B4-BE49-F238E27FC236}">
                <a16:creationId xmlns:a16="http://schemas.microsoft.com/office/drawing/2014/main" id="{6901878F-5CF4-49F5-8E4D-5125D732A3AE}"/>
              </a:ext>
            </a:extLst>
          </p:cNvPr>
          <p:cNvPicPr>
            <a:picLocks noChangeAspect="1"/>
          </p:cNvPicPr>
          <p:nvPr/>
        </p:nvPicPr>
        <p:blipFill>
          <a:blip r:embed="rId6"/>
          <a:stretch>
            <a:fillRect/>
          </a:stretch>
        </p:blipFill>
        <p:spPr>
          <a:xfrm>
            <a:off x="740322" y="2568283"/>
            <a:ext cx="10822210" cy="1970818"/>
          </a:xfrm>
          <a:prstGeom prst="rect">
            <a:avLst/>
          </a:prstGeom>
        </p:spPr>
      </p:pic>
      <p:sp>
        <p:nvSpPr>
          <p:cNvPr id="13" name="Rectangle 12">
            <a:extLst>
              <a:ext uri="{FF2B5EF4-FFF2-40B4-BE49-F238E27FC236}">
                <a16:creationId xmlns:a16="http://schemas.microsoft.com/office/drawing/2014/main" id="{2894A680-5C79-46B7-A1BE-14AC226F5262}"/>
              </a:ext>
            </a:extLst>
          </p:cNvPr>
          <p:cNvSpPr/>
          <p:nvPr/>
        </p:nvSpPr>
        <p:spPr>
          <a:xfrm>
            <a:off x="526473" y="4947362"/>
            <a:ext cx="11022204" cy="3961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Sample Search Fund Resources</a:t>
            </a:r>
          </a:p>
        </p:txBody>
      </p:sp>
      <p:sp>
        <p:nvSpPr>
          <p:cNvPr id="14" name="Content Placeholder 6">
            <a:extLst>
              <a:ext uri="{FF2B5EF4-FFF2-40B4-BE49-F238E27FC236}">
                <a16:creationId xmlns:a16="http://schemas.microsoft.com/office/drawing/2014/main" id="{BC440A98-ECDA-4C0A-A948-A3F41FD8E202}"/>
              </a:ext>
            </a:extLst>
          </p:cNvPr>
          <p:cNvSpPr txBox="1">
            <a:spLocks/>
          </p:cNvSpPr>
          <p:nvPr/>
        </p:nvSpPr>
        <p:spPr>
          <a:xfrm>
            <a:off x="788169" y="4568995"/>
            <a:ext cx="8596668" cy="39399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1200" i="1" dirty="0"/>
              <a:t>Source:  Stanford GSB</a:t>
            </a:r>
          </a:p>
        </p:txBody>
      </p:sp>
      <p:pic>
        <p:nvPicPr>
          <p:cNvPr id="15" name="Picture 14">
            <a:extLst>
              <a:ext uri="{FF2B5EF4-FFF2-40B4-BE49-F238E27FC236}">
                <a16:creationId xmlns:a16="http://schemas.microsoft.com/office/drawing/2014/main" id="{5430372F-927F-44EB-819C-D631F958A92A}"/>
              </a:ext>
            </a:extLst>
          </p:cNvPr>
          <p:cNvPicPr>
            <a:picLocks noChangeAspect="1"/>
          </p:cNvPicPr>
          <p:nvPr/>
        </p:nvPicPr>
        <p:blipFill>
          <a:blip r:embed="rId7"/>
          <a:stretch>
            <a:fillRect/>
          </a:stretch>
        </p:blipFill>
        <p:spPr>
          <a:xfrm>
            <a:off x="1959348" y="6140170"/>
            <a:ext cx="2043113" cy="513398"/>
          </a:xfrm>
          <a:prstGeom prst="rect">
            <a:avLst/>
          </a:prstGeom>
        </p:spPr>
      </p:pic>
      <p:pic>
        <p:nvPicPr>
          <p:cNvPr id="16" name="Picture 15">
            <a:extLst>
              <a:ext uri="{FF2B5EF4-FFF2-40B4-BE49-F238E27FC236}">
                <a16:creationId xmlns:a16="http://schemas.microsoft.com/office/drawing/2014/main" id="{1A1E0491-D146-488B-AE21-7169928149FE}"/>
              </a:ext>
            </a:extLst>
          </p:cNvPr>
          <p:cNvPicPr>
            <a:picLocks noChangeAspect="1"/>
          </p:cNvPicPr>
          <p:nvPr/>
        </p:nvPicPr>
        <p:blipFill>
          <a:blip r:embed="rId8"/>
          <a:stretch>
            <a:fillRect/>
          </a:stretch>
        </p:blipFill>
        <p:spPr>
          <a:xfrm>
            <a:off x="534956" y="5517987"/>
            <a:ext cx="1362075" cy="366713"/>
          </a:xfrm>
          <a:prstGeom prst="rect">
            <a:avLst/>
          </a:prstGeom>
        </p:spPr>
      </p:pic>
    </p:spTree>
    <p:extLst>
      <p:ext uri="{BB962C8B-B14F-4D97-AF65-F5344CB8AC3E}">
        <p14:creationId xmlns:p14="http://schemas.microsoft.com/office/powerpoint/2010/main" val="15126133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AC4CE-D3B5-4439-B956-3255F6621C36}"/>
              </a:ext>
            </a:extLst>
          </p:cNvPr>
          <p:cNvSpPr>
            <a:spLocks noGrp="1"/>
          </p:cNvSpPr>
          <p:nvPr>
            <p:ph type="title"/>
          </p:nvPr>
        </p:nvSpPr>
        <p:spPr/>
        <p:txBody>
          <a:bodyPr/>
          <a:lstStyle/>
          <a:p>
            <a:r>
              <a:rPr lang="en-US" dirty="0"/>
              <a:t>Sample Investment Thesis:  Logistics</a:t>
            </a:r>
          </a:p>
        </p:txBody>
      </p:sp>
      <p:sp>
        <p:nvSpPr>
          <p:cNvPr id="6" name="Slide Number Placeholder 5">
            <a:extLst>
              <a:ext uri="{FF2B5EF4-FFF2-40B4-BE49-F238E27FC236}">
                <a16:creationId xmlns:a16="http://schemas.microsoft.com/office/drawing/2014/main" id="{A2C05D67-1851-4DC8-BBCE-A1B39D427EEA}"/>
              </a:ext>
            </a:extLst>
          </p:cNvPr>
          <p:cNvSpPr>
            <a:spLocks noGrp="1"/>
          </p:cNvSpPr>
          <p:nvPr>
            <p:ph type="sldNum" sz="quarter" idx="12"/>
          </p:nvPr>
        </p:nvSpPr>
        <p:spPr>
          <a:xfrm>
            <a:off x="11368969" y="6415051"/>
            <a:ext cx="751673" cy="365125"/>
          </a:xfrm>
        </p:spPr>
        <p:txBody>
          <a:bodyPr/>
          <a:lstStyle/>
          <a:p>
            <a:pPr algn="ctr"/>
            <a:fld id="{519954A3-9DFD-4C44-94BA-B95130A3BA1C}" type="slidenum">
              <a:rPr lang="en-US" sz="1400" dirty="0">
                <a:solidFill>
                  <a:schemeClr val="bg1"/>
                </a:solidFill>
              </a:rPr>
              <a:pPr algn="ctr"/>
              <a:t>26</a:t>
            </a:fld>
            <a:endParaRPr lang="en-US" sz="1400" dirty="0">
              <a:solidFill>
                <a:schemeClr val="bg1"/>
              </a:solidFill>
            </a:endParaRPr>
          </a:p>
        </p:txBody>
      </p:sp>
      <p:sp>
        <p:nvSpPr>
          <p:cNvPr id="17" name="Content Placeholder 6">
            <a:extLst>
              <a:ext uri="{FF2B5EF4-FFF2-40B4-BE49-F238E27FC236}">
                <a16:creationId xmlns:a16="http://schemas.microsoft.com/office/drawing/2014/main" id="{C9B80208-9F33-4FA4-95F7-50AF9055DE9E}"/>
              </a:ext>
            </a:extLst>
          </p:cNvPr>
          <p:cNvSpPr>
            <a:spLocks noGrp="1"/>
          </p:cNvSpPr>
          <p:nvPr>
            <p:ph idx="1"/>
          </p:nvPr>
        </p:nvSpPr>
        <p:spPr>
          <a:xfrm>
            <a:off x="677334" y="1246182"/>
            <a:ext cx="9131684" cy="1292207"/>
          </a:xfrm>
        </p:spPr>
        <p:txBody>
          <a:bodyPr>
            <a:normAutofit/>
          </a:bodyPr>
          <a:lstStyle/>
          <a:p>
            <a:pPr>
              <a:spcBef>
                <a:spcPts val="300"/>
              </a:spcBef>
              <a:spcAft>
                <a:spcPts val="300"/>
              </a:spcAft>
            </a:pPr>
            <a:r>
              <a:rPr lang="en-US" sz="2000" dirty="0"/>
              <a:t>Lead with expertise and have a clear point of view</a:t>
            </a:r>
          </a:p>
        </p:txBody>
      </p:sp>
      <p:graphicFrame>
        <p:nvGraphicFramePr>
          <p:cNvPr id="18" name="Table 17">
            <a:extLst>
              <a:ext uri="{FF2B5EF4-FFF2-40B4-BE49-F238E27FC236}">
                <a16:creationId xmlns:a16="http://schemas.microsoft.com/office/drawing/2014/main" id="{501AB638-8C1E-4531-A44D-5530BCCC3986}"/>
              </a:ext>
            </a:extLst>
          </p:cNvPr>
          <p:cNvGraphicFramePr>
            <a:graphicFrameLocks noGrp="1"/>
          </p:cNvGraphicFramePr>
          <p:nvPr>
            <p:extLst>
              <p:ext uri="{D42A27DB-BD31-4B8C-83A1-F6EECF244321}">
                <p14:modId xmlns:p14="http://schemas.microsoft.com/office/powerpoint/2010/main" val="827363686"/>
              </p:ext>
            </p:extLst>
          </p:nvPr>
        </p:nvGraphicFramePr>
        <p:xfrm>
          <a:off x="5892325" y="1741373"/>
          <a:ext cx="4138779" cy="4617002"/>
        </p:xfrm>
        <a:graphic>
          <a:graphicData uri="http://schemas.openxmlformats.org/drawingml/2006/table">
            <a:tbl>
              <a:tblPr firstRow="1" bandRow="1">
                <a:tableStyleId>{1E171933-4619-4E11-9A3F-F7608DF75F80}</a:tableStyleId>
              </a:tblPr>
              <a:tblGrid>
                <a:gridCol w="1401015">
                  <a:extLst>
                    <a:ext uri="{9D8B030D-6E8A-4147-A177-3AD203B41FA5}">
                      <a16:colId xmlns:a16="http://schemas.microsoft.com/office/drawing/2014/main" val="153224421"/>
                    </a:ext>
                  </a:extLst>
                </a:gridCol>
                <a:gridCol w="2737764">
                  <a:extLst>
                    <a:ext uri="{9D8B030D-6E8A-4147-A177-3AD203B41FA5}">
                      <a16:colId xmlns:a16="http://schemas.microsoft.com/office/drawing/2014/main" val="3370226074"/>
                    </a:ext>
                  </a:extLst>
                </a:gridCol>
              </a:tblGrid>
              <a:tr h="299334">
                <a:tc>
                  <a:txBody>
                    <a:bodyPr/>
                    <a:lstStyle/>
                    <a:p>
                      <a:r>
                        <a:rPr lang="en-US" sz="1400" dirty="0"/>
                        <a:t>Our Approach</a:t>
                      </a:r>
                    </a:p>
                  </a:txBody>
                  <a:tcPr marL="68580" marR="68580" marT="34290" marB="34290" anchor="b"/>
                </a:tc>
                <a:tc>
                  <a:txBody>
                    <a:bodyPr/>
                    <a:lstStyle/>
                    <a:p>
                      <a:r>
                        <a:rPr lang="en-US" sz="1400" dirty="0"/>
                        <a:t>Guiding Parameters</a:t>
                      </a:r>
                    </a:p>
                  </a:txBody>
                  <a:tcPr marL="68580" marR="68580" marT="34290" marB="34290" anchor="b"/>
                </a:tc>
                <a:extLst>
                  <a:ext uri="{0D108BD9-81ED-4DB2-BD59-A6C34878D82A}">
                    <a16:rowId xmlns:a16="http://schemas.microsoft.com/office/drawing/2014/main" val="2553720121"/>
                  </a:ext>
                </a:extLst>
              </a:tr>
              <a:tr h="960006">
                <a:tc>
                  <a:txBody>
                    <a:bodyPr/>
                    <a:lstStyle/>
                    <a:p>
                      <a:r>
                        <a:rPr lang="en-US" sz="1400" dirty="0"/>
                        <a:t>Sector Focus</a:t>
                      </a:r>
                    </a:p>
                  </a:txBody>
                  <a:tcPr marL="68580" marR="68580" marT="34290" marB="34290"/>
                </a:tc>
                <a:tc>
                  <a:txBody>
                    <a:bodyPr/>
                    <a:lstStyle/>
                    <a:p>
                      <a:pPr marL="285750" indent="-285750">
                        <a:buFont typeface="Arial" panose="020B0604020202020204" pitchFamily="34" charset="0"/>
                        <a:buChar char="•"/>
                      </a:pPr>
                      <a:r>
                        <a:rPr lang="en-US" sz="1200" dirty="0"/>
                        <a:t>Logistics and Supply Chain SaaS and Software companies broadly defined</a:t>
                      </a:r>
                    </a:p>
                    <a:p>
                      <a:pPr marL="285750" indent="-285750">
                        <a:buFont typeface="Arial" panose="020B0604020202020204" pitchFamily="34" charset="0"/>
                        <a:buChar char="•"/>
                      </a:pPr>
                      <a:r>
                        <a:rPr lang="en-US" sz="1200" dirty="0"/>
                        <a:t>No distractions</a:t>
                      </a:r>
                    </a:p>
                  </a:txBody>
                  <a:tcPr marL="68580" marR="68580" marT="34290" marB="34290"/>
                </a:tc>
                <a:extLst>
                  <a:ext uri="{0D108BD9-81ED-4DB2-BD59-A6C34878D82A}">
                    <a16:rowId xmlns:a16="http://schemas.microsoft.com/office/drawing/2014/main" val="3976954879"/>
                  </a:ext>
                </a:extLst>
              </a:tr>
              <a:tr h="1600011">
                <a:tc>
                  <a:txBody>
                    <a:bodyPr/>
                    <a:lstStyle/>
                    <a:p>
                      <a:r>
                        <a:rPr lang="en-US" sz="1400" dirty="0"/>
                        <a:t>Our Value Added</a:t>
                      </a:r>
                    </a:p>
                  </a:txBody>
                  <a:tcPr marL="68580" marR="68580" marT="34290" marB="34290"/>
                </a:tc>
                <a:tc>
                  <a:txBody>
                    <a:bodyPr/>
                    <a:lstStyle/>
                    <a:p>
                      <a:pPr marL="285750" indent="-285750">
                        <a:buFont typeface="Arial" panose="020B0604020202020204" pitchFamily="34" charset="0"/>
                        <a:buChar char="•"/>
                      </a:pPr>
                      <a:r>
                        <a:rPr lang="en-US" sz="1200" dirty="0"/>
                        <a:t>Deep domain expertise</a:t>
                      </a:r>
                    </a:p>
                    <a:p>
                      <a:pPr marL="285750" indent="-285750">
                        <a:buFont typeface="Arial" panose="020B0604020202020204" pitchFamily="34" charset="0"/>
                        <a:buChar char="•"/>
                      </a:pPr>
                      <a:r>
                        <a:rPr lang="en-US" sz="1200" dirty="0"/>
                        <a:t>Hands-on operational</a:t>
                      </a:r>
                    </a:p>
                    <a:p>
                      <a:pPr marL="285750" indent="-285750">
                        <a:buFont typeface="Arial" panose="020B0604020202020204" pitchFamily="34" charset="0"/>
                        <a:buChar char="•"/>
                      </a:pPr>
                      <a:r>
                        <a:rPr lang="en-US" sz="1200" dirty="0"/>
                        <a:t>Partnership approach</a:t>
                      </a:r>
                    </a:p>
                    <a:p>
                      <a:pPr marL="285750" indent="-285750">
                        <a:buFont typeface="Arial" panose="020B0604020202020204" pitchFamily="34" charset="0"/>
                        <a:buChar char="•"/>
                      </a:pPr>
                      <a:r>
                        <a:rPr lang="en-US" sz="1200" dirty="0"/>
                        <a:t>Startup &amp; Big company experience</a:t>
                      </a:r>
                    </a:p>
                    <a:p>
                      <a:pPr marL="285750" indent="-285750">
                        <a:buFont typeface="Arial" panose="020B0604020202020204" pitchFamily="34" charset="0"/>
                        <a:buChar char="•"/>
                      </a:pPr>
                      <a:r>
                        <a:rPr lang="en-US" sz="1200" dirty="0"/>
                        <a:t>Committed executive</a:t>
                      </a:r>
                    </a:p>
                    <a:p>
                      <a:pPr marL="285750" indent="-285750">
                        <a:buFont typeface="Arial" panose="020B0604020202020204" pitchFamily="34" charset="0"/>
                        <a:buChar char="•"/>
                      </a:pPr>
                      <a:r>
                        <a:rPr lang="en-US" sz="1200" dirty="0"/>
                        <a:t>Committed capital</a:t>
                      </a:r>
                    </a:p>
                  </a:txBody>
                  <a:tcPr marL="68580" marR="68580" marT="34290" marB="34290"/>
                </a:tc>
                <a:extLst>
                  <a:ext uri="{0D108BD9-81ED-4DB2-BD59-A6C34878D82A}">
                    <a16:rowId xmlns:a16="http://schemas.microsoft.com/office/drawing/2014/main" val="3549344825"/>
                  </a:ext>
                </a:extLst>
              </a:tr>
              <a:tr h="1013855">
                <a:tc>
                  <a:txBody>
                    <a:bodyPr/>
                    <a:lstStyle/>
                    <a:p>
                      <a:r>
                        <a:rPr lang="en-US" sz="1400" dirty="0"/>
                        <a:t>Platform Deal Size Criteria</a:t>
                      </a:r>
                    </a:p>
                  </a:txBody>
                  <a:tcPr marL="68580" marR="68580" marT="34290" marB="34290"/>
                </a:tc>
                <a:tc>
                  <a:txBody>
                    <a:bodyPr/>
                    <a:lstStyle/>
                    <a:p>
                      <a:pPr marL="285750" indent="-285750">
                        <a:buFont typeface="Arial" panose="020B0604020202020204" pitchFamily="34" charset="0"/>
                        <a:buChar char="•"/>
                      </a:pPr>
                      <a:r>
                        <a:rPr lang="en-US" sz="1200" dirty="0"/>
                        <a:t>Revenue:      $15 - $50M </a:t>
                      </a:r>
                    </a:p>
                    <a:p>
                      <a:pPr marL="285750" indent="-285750">
                        <a:buFont typeface="Arial" panose="020B0604020202020204" pitchFamily="34" charset="0"/>
                        <a:buChar char="•"/>
                      </a:pPr>
                      <a:r>
                        <a:rPr lang="en-US" sz="1200" dirty="0"/>
                        <a:t>EBITDA:        $3 - $15M</a:t>
                      </a:r>
                    </a:p>
                    <a:p>
                      <a:pPr marL="285750" indent="-285750">
                        <a:buFont typeface="Arial" panose="020B0604020202020204" pitchFamily="34" charset="0"/>
                        <a:buChar char="•"/>
                      </a:pPr>
                      <a:r>
                        <a:rPr lang="en-US" sz="1200" dirty="0"/>
                        <a:t>Employees:   50 – 150</a:t>
                      </a:r>
                    </a:p>
                    <a:p>
                      <a:pPr marL="285750" indent="-285750">
                        <a:buFont typeface="Arial" panose="020B0604020202020204" pitchFamily="34" charset="0"/>
                        <a:buChar char="•"/>
                      </a:pPr>
                      <a:r>
                        <a:rPr lang="en-US" sz="1200" dirty="0"/>
                        <a:t>Customers:   100+</a:t>
                      </a:r>
                    </a:p>
                  </a:txBody>
                  <a:tcPr marL="68580" marR="68580" marT="34290" marB="34290"/>
                </a:tc>
                <a:extLst>
                  <a:ext uri="{0D108BD9-81ED-4DB2-BD59-A6C34878D82A}">
                    <a16:rowId xmlns:a16="http://schemas.microsoft.com/office/drawing/2014/main" val="1707720875"/>
                  </a:ext>
                </a:extLst>
              </a:tr>
              <a:tr h="74379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dirty="0"/>
                        <a:t>Style</a:t>
                      </a:r>
                    </a:p>
                    <a:p>
                      <a:endParaRPr lang="en-US" sz="1400" dirty="0"/>
                    </a:p>
                  </a:txBody>
                  <a:tcPr marL="68580" marR="68580" marT="34290" marB="34290"/>
                </a:tc>
                <a:tc>
                  <a:txBody>
                    <a:bodyPr/>
                    <a:lstStyle/>
                    <a:p>
                      <a:pPr marL="285750" indent="-285750">
                        <a:buFont typeface="Arial" panose="020B0604020202020204" pitchFamily="34" charset="0"/>
                        <a:buChar char="•"/>
                      </a:pPr>
                      <a:r>
                        <a:rPr lang="en-US" sz="1200" dirty="0"/>
                        <a:t>Buyout</a:t>
                      </a:r>
                    </a:p>
                    <a:p>
                      <a:pPr marL="285750" indent="-285750">
                        <a:buFont typeface="Arial" panose="020B0604020202020204" pitchFamily="34" charset="0"/>
                        <a:buChar char="•"/>
                      </a:pPr>
                      <a:r>
                        <a:rPr lang="en-US" sz="1200" dirty="0"/>
                        <a:t>51% - 100% control</a:t>
                      </a:r>
                    </a:p>
                  </a:txBody>
                  <a:tcPr marL="68580" marR="68580" marT="34290" marB="34290"/>
                </a:tc>
                <a:extLst>
                  <a:ext uri="{0D108BD9-81ED-4DB2-BD59-A6C34878D82A}">
                    <a16:rowId xmlns:a16="http://schemas.microsoft.com/office/drawing/2014/main" val="3063231113"/>
                  </a:ext>
                </a:extLst>
              </a:tr>
            </a:tbl>
          </a:graphicData>
        </a:graphic>
      </p:graphicFrame>
      <p:pic>
        <p:nvPicPr>
          <p:cNvPr id="19" name="Picture 18">
            <a:extLst>
              <a:ext uri="{FF2B5EF4-FFF2-40B4-BE49-F238E27FC236}">
                <a16:creationId xmlns:a16="http://schemas.microsoft.com/office/drawing/2014/main" id="{4106CD6B-DF45-4AC9-A195-2211120A4D79}"/>
              </a:ext>
            </a:extLst>
          </p:cNvPr>
          <p:cNvPicPr>
            <a:picLocks noChangeAspect="1"/>
          </p:cNvPicPr>
          <p:nvPr/>
        </p:nvPicPr>
        <p:blipFill>
          <a:blip r:embed="rId2"/>
          <a:stretch>
            <a:fillRect/>
          </a:stretch>
        </p:blipFill>
        <p:spPr>
          <a:xfrm>
            <a:off x="748950" y="1741373"/>
            <a:ext cx="4478144" cy="4617002"/>
          </a:xfrm>
          <a:prstGeom prst="rect">
            <a:avLst/>
          </a:prstGeom>
        </p:spPr>
      </p:pic>
      <p:sp>
        <p:nvSpPr>
          <p:cNvPr id="20" name="TextBox 19">
            <a:extLst>
              <a:ext uri="{FF2B5EF4-FFF2-40B4-BE49-F238E27FC236}">
                <a16:creationId xmlns:a16="http://schemas.microsoft.com/office/drawing/2014/main" id="{4FEAEB3F-7DD5-4C7D-AB34-9FD78752A1D0}"/>
              </a:ext>
            </a:extLst>
          </p:cNvPr>
          <p:cNvSpPr txBox="1"/>
          <p:nvPr/>
        </p:nvSpPr>
        <p:spPr>
          <a:xfrm>
            <a:off x="4282925" y="6424699"/>
            <a:ext cx="2934628" cy="369332"/>
          </a:xfrm>
          <a:prstGeom prst="rect">
            <a:avLst/>
          </a:prstGeom>
          <a:noFill/>
        </p:spPr>
        <p:txBody>
          <a:bodyPr wrap="square" rtlCol="0">
            <a:spAutoFit/>
          </a:bodyPr>
          <a:lstStyle/>
          <a:p>
            <a:pPr algn="ctr"/>
            <a:r>
              <a:rPr lang="en-US" b="1" dirty="0">
                <a:solidFill>
                  <a:schemeClr val="accent2"/>
                </a:solidFill>
              </a:rPr>
              <a:t>Private &amp; Confidential</a:t>
            </a:r>
          </a:p>
        </p:txBody>
      </p:sp>
    </p:spTree>
    <p:extLst>
      <p:ext uri="{BB962C8B-B14F-4D97-AF65-F5344CB8AC3E}">
        <p14:creationId xmlns:p14="http://schemas.microsoft.com/office/powerpoint/2010/main" val="30267250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FAC7C7-4EEC-429E-A6F2-1A12A10D00EC}"/>
              </a:ext>
            </a:extLst>
          </p:cNvPr>
          <p:cNvSpPr>
            <a:spLocks noGrp="1"/>
          </p:cNvSpPr>
          <p:nvPr>
            <p:ph idx="1"/>
          </p:nvPr>
        </p:nvSpPr>
        <p:spPr>
          <a:xfrm>
            <a:off x="2026754" y="2360247"/>
            <a:ext cx="8146194" cy="1878565"/>
          </a:xfrm>
        </p:spPr>
        <p:txBody>
          <a:bodyPr>
            <a:normAutofit/>
          </a:bodyPr>
          <a:lstStyle/>
          <a:p>
            <a:pPr marL="0" indent="0" algn="ctr">
              <a:spcBef>
                <a:spcPts val="200"/>
              </a:spcBef>
              <a:spcAft>
                <a:spcPts val="200"/>
              </a:spcAft>
              <a:buNone/>
            </a:pPr>
            <a:r>
              <a:rPr lang="en-US" sz="8800" b="1" dirty="0">
                <a:solidFill>
                  <a:schemeClr val="accent2"/>
                </a:solidFill>
              </a:rPr>
              <a:t>Thank You!</a:t>
            </a:r>
          </a:p>
        </p:txBody>
      </p:sp>
      <p:sp>
        <p:nvSpPr>
          <p:cNvPr id="6" name="Slide Number Placeholder 5">
            <a:extLst>
              <a:ext uri="{FF2B5EF4-FFF2-40B4-BE49-F238E27FC236}">
                <a16:creationId xmlns:a16="http://schemas.microsoft.com/office/drawing/2014/main" id="{A2C05D67-1851-4DC8-BBCE-A1B39D427EEA}"/>
              </a:ext>
            </a:extLst>
          </p:cNvPr>
          <p:cNvSpPr>
            <a:spLocks noGrp="1"/>
          </p:cNvSpPr>
          <p:nvPr>
            <p:ph type="sldNum" sz="quarter" idx="12"/>
          </p:nvPr>
        </p:nvSpPr>
        <p:spPr>
          <a:xfrm>
            <a:off x="11368969" y="6415051"/>
            <a:ext cx="751673" cy="365125"/>
          </a:xfrm>
        </p:spPr>
        <p:txBody>
          <a:bodyPr/>
          <a:lstStyle/>
          <a:p>
            <a:pPr algn="ctr"/>
            <a:fld id="{519954A3-9DFD-4C44-94BA-B95130A3BA1C}" type="slidenum">
              <a:rPr lang="en-US" sz="1400" dirty="0">
                <a:solidFill>
                  <a:schemeClr val="bg1"/>
                </a:solidFill>
              </a:rPr>
              <a:pPr algn="ctr"/>
              <a:t>27</a:t>
            </a:fld>
            <a:endParaRPr lang="en-US" sz="1400" dirty="0">
              <a:solidFill>
                <a:schemeClr val="bg1"/>
              </a:solidFill>
            </a:endParaRPr>
          </a:p>
        </p:txBody>
      </p:sp>
      <p:sp>
        <p:nvSpPr>
          <p:cNvPr id="4" name="TextBox 3">
            <a:extLst>
              <a:ext uri="{FF2B5EF4-FFF2-40B4-BE49-F238E27FC236}">
                <a16:creationId xmlns:a16="http://schemas.microsoft.com/office/drawing/2014/main" id="{B9F5A7D0-0E26-4003-8E4C-D5440F4BD8BC}"/>
              </a:ext>
            </a:extLst>
          </p:cNvPr>
          <p:cNvSpPr txBox="1"/>
          <p:nvPr/>
        </p:nvSpPr>
        <p:spPr>
          <a:xfrm>
            <a:off x="4700153" y="6360468"/>
            <a:ext cx="3210044" cy="338554"/>
          </a:xfrm>
          <a:prstGeom prst="rect">
            <a:avLst/>
          </a:prstGeom>
          <a:noFill/>
        </p:spPr>
        <p:txBody>
          <a:bodyPr wrap="square" rtlCol="0">
            <a:spAutoFit/>
          </a:bodyPr>
          <a:lstStyle/>
          <a:p>
            <a:pPr algn="ctr"/>
            <a:r>
              <a:rPr lang="en-US" sz="1600" dirty="0"/>
              <a:t>www.linkedin.com/in/kelleyan</a:t>
            </a:r>
          </a:p>
        </p:txBody>
      </p:sp>
    </p:spTree>
    <p:extLst>
      <p:ext uri="{BB962C8B-B14F-4D97-AF65-F5344CB8AC3E}">
        <p14:creationId xmlns:p14="http://schemas.microsoft.com/office/powerpoint/2010/main" val="42327896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2C05D67-1851-4DC8-BBCE-A1B39D427EEA}"/>
              </a:ext>
            </a:extLst>
          </p:cNvPr>
          <p:cNvSpPr>
            <a:spLocks noGrp="1"/>
          </p:cNvSpPr>
          <p:nvPr>
            <p:ph type="sldNum" sz="quarter" idx="12"/>
          </p:nvPr>
        </p:nvSpPr>
        <p:spPr>
          <a:xfrm>
            <a:off x="11368969" y="6415051"/>
            <a:ext cx="751673" cy="365125"/>
          </a:xfrm>
        </p:spPr>
        <p:txBody>
          <a:bodyPr/>
          <a:lstStyle/>
          <a:p>
            <a:pPr algn="ctr"/>
            <a:fld id="{519954A3-9DFD-4C44-94BA-B95130A3BA1C}" type="slidenum">
              <a:rPr lang="en-US" sz="1400" dirty="0">
                <a:solidFill>
                  <a:schemeClr val="bg1"/>
                </a:solidFill>
              </a:rPr>
              <a:pPr algn="ctr"/>
              <a:t>28</a:t>
            </a:fld>
            <a:endParaRPr lang="en-US" sz="1400" dirty="0">
              <a:solidFill>
                <a:schemeClr val="bg1"/>
              </a:solidFill>
            </a:endParaRPr>
          </a:p>
        </p:txBody>
      </p:sp>
      <p:sp>
        <p:nvSpPr>
          <p:cNvPr id="7" name="Subtitle 2">
            <a:extLst>
              <a:ext uri="{FF2B5EF4-FFF2-40B4-BE49-F238E27FC236}">
                <a16:creationId xmlns:a16="http://schemas.microsoft.com/office/drawing/2014/main" id="{B02C14F6-ADC1-4EDB-B643-911FD4DD18CB}"/>
              </a:ext>
            </a:extLst>
          </p:cNvPr>
          <p:cNvSpPr txBox="1">
            <a:spLocks/>
          </p:cNvSpPr>
          <p:nvPr/>
        </p:nvSpPr>
        <p:spPr>
          <a:xfrm>
            <a:off x="2566696" y="3397337"/>
            <a:ext cx="7060851" cy="1766567"/>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None/>
            </a:pPr>
            <a:r>
              <a:rPr lang="en-US" sz="3600" dirty="0"/>
              <a:t>Andrew Kelley, III</a:t>
            </a:r>
          </a:p>
          <a:p>
            <a:pPr marL="0" indent="0" algn="ctr">
              <a:buNone/>
            </a:pPr>
            <a:endParaRPr lang="en-US" sz="3600" dirty="0"/>
          </a:p>
        </p:txBody>
      </p:sp>
      <p:pic>
        <p:nvPicPr>
          <p:cNvPr id="2" name="Picture 1">
            <a:extLst>
              <a:ext uri="{FF2B5EF4-FFF2-40B4-BE49-F238E27FC236}">
                <a16:creationId xmlns:a16="http://schemas.microsoft.com/office/drawing/2014/main" id="{D1CF221B-4836-47F6-B213-ACAA13A6458E}"/>
              </a:ext>
            </a:extLst>
          </p:cNvPr>
          <p:cNvPicPr>
            <a:picLocks noChangeAspect="1"/>
          </p:cNvPicPr>
          <p:nvPr/>
        </p:nvPicPr>
        <p:blipFill>
          <a:blip r:embed="rId2"/>
          <a:stretch>
            <a:fillRect/>
          </a:stretch>
        </p:blipFill>
        <p:spPr>
          <a:xfrm>
            <a:off x="3478345" y="5863964"/>
            <a:ext cx="524205" cy="524205"/>
          </a:xfrm>
          <a:prstGeom prst="rect">
            <a:avLst/>
          </a:prstGeom>
        </p:spPr>
      </p:pic>
      <p:pic>
        <p:nvPicPr>
          <p:cNvPr id="9" name="Picture 8">
            <a:extLst>
              <a:ext uri="{FF2B5EF4-FFF2-40B4-BE49-F238E27FC236}">
                <a16:creationId xmlns:a16="http://schemas.microsoft.com/office/drawing/2014/main" id="{677735FB-21AF-4E56-9EC0-3CD72002EEC5}"/>
              </a:ext>
            </a:extLst>
          </p:cNvPr>
          <p:cNvPicPr>
            <a:picLocks noChangeAspect="1"/>
          </p:cNvPicPr>
          <p:nvPr/>
        </p:nvPicPr>
        <p:blipFill>
          <a:blip r:embed="rId3"/>
          <a:stretch>
            <a:fillRect/>
          </a:stretch>
        </p:blipFill>
        <p:spPr>
          <a:xfrm>
            <a:off x="3478345" y="5149577"/>
            <a:ext cx="513047" cy="513047"/>
          </a:xfrm>
          <a:prstGeom prst="rect">
            <a:avLst/>
          </a:prstGeom>
        </p:spPr>
      </p:pic>
      <p:sp>
        <p:nvSpPr>
          <p:cNvPr id="4" name="TextBox 3">
            <a:extLst>
              <a:ext uri="{FF2B5EF4-FFF2-40B4-BE49-F238E27FC236}">
                <a16:creationId xmlns:a16="http://schemas.microsoft.com/office/drawing/2014/main" id="{97B41B76-69AA-4697-AAAE-35C74DC4B5F1}"/>
              </a:ext>
            </a:extLst>
          </p:cNvPr>
          <p:cNvSpPr txBox="1"/>
          <p:nvPr/>
        </p:nvSpPr>
        <p:spPr>
          <a:xfrm>
            <a:off x="4091569" y="4461021"/>
            <a:ext cx="4699825" cy="1938992"/>
          </a:xfrm>
          <a:prstGeom prst="rect">
            <a:avLst/>
          </a:prstGeom>
          <a:noFill/>
        </p:spPr>
        <p:txBody>
          <a:bodyPr wrap="square" rtlCol="0">
            <a:spAutoFit/>
          </a:bodyPr>
          <a:lstStyle/>
          <a:p>
            <a:r>
              <a:rPr lang="en-US" sz="2400" dirty="0"/>
              <a:t>akelley@bellcreekpartners.com</a:t>
            </a:r>
          </a:p>
          <a:p>
            <a:endParaRPr lang="en-US" sz="2400" dirty="0"/>
          </a:p>
          <a:p>
            <a:r>
              <a:rPr lang="en-US" sz="2400" dirty="0">
                <a:solidFill>
                  <a:schemeClr val="accent2">
                    <a:lumMod val="75000"/>
                  </a:schemeClr>
                </a:solidFill>
              </a:rPr>
              <a:t>linkedin.com/in/kelleyan</a:t>
            </a:r>
          </a:p>
          <a:p>
            <a:endParaRPr lang="en-US" sz="2400" dirty="0"/>
          </a:p>
          <a:p>
            <a:r>
              <a:rPr lang="en-US" sz="2400" dirty="0"/>
              <a:t>@akelleyiii</a:t>
            </a:r>
          </a:p>
        </p:txBody>
      </p:sp>
      <p:pic>
        <p:nvPicPr>
          <p:cNvPr id="5" name="Picture 4">
            <a:extLst>
              <a:ext uri="{FF2B5EF4-FFF2-40B4-BE49-F238E27FC236}">
                <a16:creationId xmlns:a16="http://schemas.microsoft.com/office/drawing/2014/main" id="{F09940C4-1F36-42D7-85BD-3A10E7A26556}"/>
              </a:ext>
            </a:extLst>
          </p:cNvPr>
          <p:cNvPicPr>
            <a:picLocks noChangeAspect="1"/>
          </p:cNvPicPr>
          <p:nvPr/>
        </p:nvPicPr>
        <p:blipFill>
          <a:blip r:embed="rId4"/>
          <a:stretch>
            <a:fillRect/>
          </a:stretch>
        </p:blipFill>
        <p:spPr>
          <a:xfrm>
            <a:off x="3478345" y="4477649"/>
            <a:ext cx="513047" cy="513047"/>
          </a:xfrm>
          <a:prstGeom prst="rect">
            <a:avLst/>
          </a:prstGeom>
        </p:spPr>
      </p:pic>
      <p:sp>
        <p:nvSpPr>
          <p:cNvPr id="13" name="Content Placeholder 2">
            <a:extLst>
              <a:ext uri="{FF2B5EF4-FFF2-40B4-BE49-F238E27FC236}">
                <a16:creationId xmlns:a16="http://schemas.microsoft.com/office/drawing/2014/main" id="{3863EBFB-2C5D-4CDD-B002-A27DA06C9EB4}"/>
              </a:ext>
            </a:extLst>
          </p:cNvPr>
          <p:cNvSpPr>
            <a:spLocks noGrp="1"/>
          </p:cNvSpPr>
          <p:nvPr>
            <p:ph idx="1"/>
          </p:nvPr>
        </p:nvSpPr>
        <p:spPr>
          <a:xfrm>
            <a:off x="2026754" y="919368"/>
            <a:ext cx="8146194" cy="1878565"/>
          </a:xfrm>
        </p:spPr>
        <p:txBody>
          <a:bodyPr>
            <a:normAutofit/>
          </a:bodyPr>
          <a:lstStyle/>
          <a:p>
            <a:pPr marL="0" indent="0" algn="ctr">
              <a:spcBef>
                <a:spcPts val="200"/>
              </a:spcBef>
              <a:spcAft>
                <a:spcPts val="200"/>
              </a:spcAft>
              <a:buNone/>
            </a:pPr>
            <a:r>
              <a:rPr lang="en-US" sz="8800" b="1" dirty="0">
                <a:solidFill>
                  <a:schemeClr val="accent2"/>
                </a:solidFill>
              </a:rPr>
              <a:t>Q&amp;A</a:t>
            </a:r>
          </a:p>
        </p:txBody>
      </p:sp>
    </p:spTree>
    <p:extLst>
      <p:ext uri="{BB962C8B-B14F-4D97-AF65-F5344CB8AC3E}">
        <p14:creationId xmlns:p14="http://schemas.microsoft.com/office/powerpoint/2010/main" val="311939839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14069</TotalTime>
  <Words>1698</Words>
  <Application>Microsoft Office PowerPoint</Application>
  <PresentationFormat>Widescreen</PresentationFormat>
  <Paragraphs>278</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Trebuchet MS</vt:lpstr>
      <vt:lpstr>Wingdings</vt:lpstr>
      <vt:lpstr>Wingdings 3</vt:lpstr>
      <vt:lpstr>Facet</vt:lpstr>
      <vt:lpstr>Raising Capital</vt:lpstr>
      <vt:lpstr>Legal Disclaimer</vt:lpstr>
      <vt:lpstr>Biography:   Andrew Kelley, III</vt:lpstr>
      <vt:lpstr>Raising Capital Outline</vt:lpstr>
      <vt:lpstr>Types &amp; Sources of Capital</vt:lpstr>
      <vt:lpstr>VCPE Funds Led by Blacks &amp; Women</vt:lpstr>
      <vt:lpstr>Overview of Capital Sources</vt:lpstr>
      <vt:lpstr>Debt Capital Sources</vt:lpstr>
      <vt:lpstr>Equity &amp; Equity-Linked Sources</vt:lpstr>
      <vt:lpstr>Accelerators</vt:lpstr>
      <vt:lpstr>Angel Investors</vt:lpstr>
      <vt:lpstr>Deep Dive on Venture Capital (VC)</vt:lpstr>
      <vt:lpstr>US VC Market Overview</vt:lpstr>
      <vt:lpstr>Think Like a VC</vt:lpstr>
      <vt:lpstr>How to create value for investors</vt:lpstr>
      <vt:lpstr>Investment Grading Framework</vt:lpstr>
      <vt:lpstr>Venture Capital Returns Math</vt:lpstr>
      <vt:lpstr>VCPE Investment Committee Process</vt:lpstr>
      <vt:lpstr>Venture Terms 101</vt:lpstr>
      <vt:lpstr>Selected Law Firms Good at VC</vt:lpstr>
      <vt:lpstr>PowerPoint Presentation</vt:lpstr>
      <vt:lpstr>Investor Pitches 101</vt:lpstr>
      <vt:lpstr>Alternative Paths to Entrepreneurship</vt:lpstr>
      <vt:lpstr>Paths to Entrepreneurship</vt:lpstr>
      <vt:lpstr>Search Funds &amp; Independent Sponsors</vt:lpstr>
      <vt:lpstr>Sample Investment Thesis:  Logistics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Executive-in-Proximity Materials</dc:title>
  <dc:creator>First Last</dc:creator>
  <cp:lastModifiedBy>Andrew Kelley</cp:lastModifiedBy>
  <cp:revision>319</cp:revision>
  <cp:lastPrinted>2018-10-11T02:11:16Z</cp:lastPrinted>
  <dcterms:created xsi:type="dcterms:W3CDTF">2018-06-06T01:20:22Z</dcterms:created>
  <dcterms:modified xsi:type="dcterms:W3CDTF">2018-10-11T20:24:39Z</dcterms:modified>
</cp:coreProperties>
</file>