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63" r:id="rId4"/>
    <p:sldMasterId id="2147483884" r:id="rId5"/>
  </p:sldMasterIdLst>
  <p:notesMasterIdLst>
    <p:notesMasterId r:id="rId19"/>
  </p:notesMasterIdLst>
  <p:sldIdLst>
    <p:sldId id="256" r:id="rId6"/>
    <p:sldId id="359" r:id="rId7"/>
    <p:sldId id="360" r:id="rId8"/>
    <p:sldId id="608" r:id="rId9"/>
    <p:sldId id="611" r:id="rId10"/>
    <p:sldId id="612" r:id="rId11"/>
    <p:sldId id="613" r:id="rId12"/>
    <p:sldId id="616" r:id="rId13"/>
    <p:sldId id="614" r:id="rId14"/>
    <p:sldId id="617" r:id="rId15"/>
    <p:sldId id="615" r:id="rId16"/>
    <p:sldId id="619" r:id="rId17"/>
    <p:sldId id="358" r:id="rId18"/>
  </p:sldIdLst>
  <p:sldSz cx="12192000" cy="6858000"/>
  <p:notesSz cx="6735763" cy="9866313"/>
  <p:custDataLst>
    <p:tags r:id="rId20"/>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an-Baptiste HERVET" initials="JH" lastIdx="5" clrIdx="0">
    <p:extLst>
      <p:ext uri="{19B8F6BF-5375-455C-9EA6-DF929625EA0E}">
        <p15:presenceInfo xmlns:p15="http://schemas.microsoft.com/office/powerpoint/2012/main" userId="S::jb.hervet@sefico-nexia.com::f9ea7bba-9d9e-41d1-a3e9-b0d2cd870bd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0D5257"/>
    <a:srgbClr val="00B2A9"/>
    <a:srgbClr val="575756"/>
    <a:srgbClr val="5C607E"/>
    <a:srgbClr val="CC9900"/>
    <a:srgbClr val="9242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5" autoAdjust="0"/>
    <p:restoredTop sz="94660"/>
  </p:normalViewPr>
  <p:slideViewPr>
    <p:cSldViewPr>
      <p:cViewPr varScale="1">
        <p:scale>
          <a:sx n="68" d="100"/>
          <a:sy n="68" d="100"/>
        </p:scale>
        <p:origin x="822"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Pardo Schneider" userId="a875a72dd726dcb2" providerId="LiveId" clId="{57FF03B2-A5C7-4663-A1F7-C69ECBD1B63F}"/>
    <pc:docChg chg="undo redo custSel modSld">
      <pc:chgData name="Daniel Pardo Schneider" userId="a875a72dd726dcb2" providerId="LiveId" clId="{57FF03B2-A5C7-4663-A1F7-C69ECBD1B63F}" dt="2020-03-17T19:39:31.241" v="95" actId="14100"/>
      <pc:docMkLst>
        <pc:docMk/>
      </pc:docMkLst>
      <pc:sldChg chg="modSp">
        <pc:chgData name="Daniel Pardo Schneider" userId="a875a72dd726dcb2" providerId="LiveId" clId="{57FF03B2-A5C7-4663-A1F7-C69ECBD1B63F}" dt="2020-03-17T19:17:24.435" v="47" actId="14100"/>
        <pc:sldMkLst>
          <pc:docMk/>
          <pc:sldMk cId="1378859476" sldId="359"/>
        </pc:sldMkLst>
        <pc:spChg chg="mod">
          <ac:chgData name="Daniel Pardo Schneider" userId="a875a72dd726dcb2" providerId="LiveId" clId="{57FF03B2-A5C7-4663-A1F7-C69ECBD1B63F}" dt="2020-03-17T19:15:32.082" v="12" actId="14100"/>
          <ac:spMkLst>
            <pc:docMk/>
            <pc:sldMk cId="1378859476" sldId="359"/>
            <ac:spMk id="28" creationId="{CBD9B4C9-8AA9-42E7-ADD3-0404CE73C383}"/>
          </ac:spMkLst>
        </pc:spChg>
        <pc:spChg chg="mod">
          <ac:chgData name="Daniel Pardo Schneider" userId="a875a72dd726dcb2" providerId="LiveId" clId="{57FF03B2-A5C7-4663-A1F7-C69ECBD1B63F}" dt="2020-03-17T19:16:11.136" v="24" actId="121"/>
          <ac:spMkLst>
            <pc:docMk/>
            <pc:sldMk cId="1378859476" sldId="359"/>
            <ac:spMk id="35" creationId="{2A2D03A4-06C6-4496-9F60-918FCDA8E802}"/>
          </ac:spMkLst>
        </pc:spChg>
        <pc:spChg chg="mod">
          <ac:chgData name="Daniel Pardo Schneider" userId="a875a72dd726dcb2" providerId="LiveId" clId="{57FF03B2-A5C7-4663-A1F7-C69ECBD1B63F}" dt="2020-03-17T19:16:16.556" v="27" actId="20577"/>
          <ac:spMkLst>
            <pc:docMk/>
            <pc:sldMk cId="1378859476" sldId="359"/>
            <ac:spMk id="37" creationId="{9780830A-991E-45BC-9C4A-08EE789113DA}"/>
          </ac:spMkLst>
        </pc:spChg>
        <pc:spChg chg="mod">
          <ac:chgData name="Daniel Pardo Schneider" userId="a875a72dd726dcb2" providerId="LiveId" clId="{57FF03B2-A5C7-4663-A1F7-C69ECBD1B63F}" dt="2020-03-17T19:16:26.281" v="30" actId="1076"/>
          <ac:spMkLst>
            <pc:docMk/>
            <pc:sldMk cId="1378859476" sldId="359"/>
            <ac:spMk id="39" creationId="{5888F38C-31DC-42C6-8C4A-5ED519C66E95}"/>
          </ac:spMkLst>
        </pc:spChg>
        <pc:spChg chg="mod">
          <ac:chgData name="Daniel Pardo Schneider" userId="a875a72dd726dcb2" providerId="LiveId" clId="{57FF03B2-A5C7-4663-A1F7-C69ECBD1B63F}" dt="2020-03-17T19:17:24.435" v="47" actId="14100"/>
          <ac:spMkLst>
            <pc:docMk/>
            <pc:sldMk cId="1378859476" sldId="359"/>
            <ac:spMk id="72" creationId="{A4B6BEAA-CAB8-4B17-985A-941716C1061E}"/>
          </ac:spMkLst>
        </pc:spChg>
        <pc:spChg chg="mod">
          <ac:chgData name="Daniel Pardo Schneider" userId="a875a72dd726dcb2" providerId="LiveId" clId="{57FF03B2-A5C7-4663-A1F7-C69ECBD1B63F}" dt="2020-03-17T19:15:06.506" v="1" actId="14100"/>
          <ac:spMkLst>
            <pc:docMk/>
            <pc:sldMk cId="1378859476" sldId="359"/>
            <ac:spMk id="81" creationId="{08AF29C3-ECAD-4C3C-9E29-EC81B40679C2}"/>
          </ac:spMkLst>
        </pc:spChg>
        <pc:spChg chg="mod">
          <ac:chgData name="Daniel Pardo Schneider" userId="a875a72dd726dcb2" providerId="LiveId" clId="{57FF03B2-A5C7-4663-A1F7-C69ECBD1B63F}" dt="2020-03-17T19:15:27.131" v="8" actId="1076"/>
          <ac:spMkLst>
            <pc:docMk/>
            <pc:sldMk cId="1378859476" sldId="359"/>
            <ac:spMk id="83" creationId="{761FD3F2-844C-4227-8D59-834DB3F4745B}"/>
          </ac:spMkLst>
        </pc:spChg>
        <pc:spChg chg="mod">
          <ac:chgData name="Daniel Pardo Schneider" userId="a875a72dd726dcb2" providerId="LiveId" clId="{57FF03B2-A5C7-4663-A1F7-C69ECBD1B63F}" dt="2020-03-17T19:15:50.651" v="16" actId="1076"/>
          <ac:spMkLst>
            <pc:docMk/>
            <pc:sldMk cId="1378859476" sldId="359"/>
            <ac:spMk id="92" creationId="{BBBBA99F-67F1-4537-AF24-8734A3B5600E}"/>
          </ac:spMkLst>
        </pc:spChg>
        <pc:spChg chg="mod">
          <ac:chgData name="Daniel Pardo Schneider" userId="a875a72dd726dcb2" providerId="LiveId" clId="{57FF03B2-A5C7-4663-A1F7-C69ECBD1B63F}" dt="2020-03-17T19:15:58.007" v="18" actId="1076"/>
          <ac:spMkLst>
            <pc:docMk/>
            <pc:sldMk cId="1378859476" sldId="359"/>
            <ac:spMk id="98" creationId="{B2CC031E-ABAD-4AF4-997F-A8E97426FBBB}"/>
          </ac:spMkLst>
        </pc:spChg>
        <pc:spChg chg="mod">
          <ac:chgData name="Daniel Pardo Schneider" userId="a875a72dd726dcb2" providerId="LiveId" clId="{57FF03B2-A5C7-4663-A1F7-C69ECBD1B63F}" dt="2020-03-17T19:16:06.469" v="22" actId="14100"/>
          <ac:spMkLst>
            <pc:docMk/>
            <pc:sldMk cId="1378859476" sldId="359"/>
            <ac:spMk id="101" creationId="{E34668D3-543C-4840-BD28-BAC0C62FFA1B}"/>
          </ac:spMkLst>
        </pc:spChg>
      </pc:sldChg>
      <pc:sldChg chg="modSp">
        <pc:chgData name="Daniel Pardo Schneider" userId="a875a72dd726dcb2" providerId="LiveId" clId="{57FF03B2-A5C7-4663-A1F7-C69ECBD1B63F}" dt="2020-03-17T19:17:29.479" v="48" actId="14100"/>
        <pc:sldMkLst>
          <pc:docMk/>
          <pc:sldMk cId="2303718182" sldId="360"/>
        </pc:sldMkLst>
        <pc:spChg chg="mod">
          <ac:chgData name="Daniel Pardo Schneider" userId="a875a72dd726dcb2" providerId="LiveId" clId="{57FF03B2-A5C7-4663-A1F7-C69ECBD1B63F}" dt="2020-03-17T19:16:53.875" v="40" actId="14100"/>
          <ac:spMkLst>
            <pc:docMk/>
            <pc:sldMk cId="2303718182" sldId="360"/>
            <ac:spMk id="26" creationId="{D869E1B8-E798-41C1-B4D9-23205EC9684C}"/>
          </ac:spMkLst>
        </pc:spChg>
        <pc:spChg chg="mod">
          <ac:chgData name="Daniel Pardo Schneider" userId="a875a72dd726dcb2" providerId="LiveId" clId="{57FF03B2-A5C7-4663-A1F7-C69ECBD1B63F}" dt="2020-03-17T19:16:56.086" v="41" actId="404"/>
          <ac:spMkLst>
            <pc:docMk/>
            <pc:sldMk cId="2303718182" sldId="360"/>
            <ac:spMk id="27" creationId="{5E5336AD-25B3-47F9-A83D-859D5BE4AF54}"/>
          </ac:spMkLst>
        </pc:spChg>
        <pc:spChg chg="mod">
          <ac:chgData name="Daniel Pardo Schneider" userId="a875a72dd726dcb2" providerId="LiveId" clId="{57FF03B2-A5C7-4663-A1F7-C69ECBD1B63F}" dt="2020-03-17T19:16:47.558" v="37" actId="404"/>
          <ac:spMkLst>
            <pc:docMk/>
            <pc:sldMk cId="2303718182" sldId="360"/>
            <ac:spMk id="28" creationId="{3ABAADE5-3FBA-46F6-9B54-37137BC28A30}"/>
          </ac:spMkLst>
        </pc:spChg>
        <pc:spChg chg="mod">
          <ac:chgData name="Daniel Pardo Schneider" userId="a875a72dd726dcb2" providerId="LiveId" clId="{57FF03B2-A5C7-4663-A1F7-C69ECBD1B63F}" dt="2020-03-17T19:17:01.816" v="43" actId="404"/>
          <ac:spMkLst>
            <pc:docMk/>
            <pc:sldMk cId="2303718182" sldId="360"/>
            <ac:spMk id="46" creationId="{41171BE8-5E93-44DE-B252-AEEDB9C4F9FC}"/>
          </ac:spMkLst>
        </pc:spChg>
        <pc:spChg chg="mod">
          <ac:chgData name="Daniel Pardo Schneider" userId="a875a72dd726dcb2" providerId="LiveId" clId="{57FF03B2-A5C7-4663-A1F7-C69ECBD1B63F}" dt="2020-03-17T19:16:38.548" v="34" actId="14100"/>
          <ac:spMkLst>
            <pc:docMk/>
            <pc:sldMk cId="2303718182" sldId="360"/>
            <ac:spMk id="62" creationId="{ED01E564-8C61-4103-8E96-605A8F33C40F}"/>
          </ac:spMkLst>
        </pc:spChg>
        <pc:spChg chg="mod">
          <ac:chgData name="Daniel Pardo Schneider" userId="a875a72dd726dcb2" providerId="LiveId" clId="{57FF03B2-A5C7-4663-A1F7-C69ECBD1B63F}" dt="2020-03-17T19:17:29.479" v="48" actId="14100"/>
          <ac:spMkLst>
            <pc:docMk/>
            <pc:sldMk cId="2303718182" sldId="360"/>
            <ac:spMk id="72" creationId="{A4B6BEAA-CAB8-4B17-985A-941716C1061E}"/>
          </ac:spMkLst>
        </pc:spChg>
        <pc:spChg chg="mod">
          <ac:chgData name="Daniel Pardo Schneider" userId="a875a72dd726dcb2" providerId="LiveId" clId="{57FF03B2-A5C7-4663-A1F7-C69ECBD1B63F}" dt="2020-03-17T19:16:43.426" v="36" actId="14100"/>
          <ac:spMkLst>
            <pc:docMk/>
            <pc:sldMk cId="2303718182" sldId="360"/>
            <ac:spMk id="73" creationId="{53FC3683-0FBB-410D-82A3-9A0708DBFB29}"/>
          </ac:spMkLst>
        </pc:spChg>
      </pc:sldChg>
      <pc:sldChg chg="modSp">
        <pc:chgData name="Daniel Pardo Schneider" userId="a875a72dd726dcb2" providerId="LiveId" clId="{57FF03B2-A5C7-4663-A1F7-C69ECBD1B63F}" dt="2020-03-17T19:18:12.588" v="50" actId="947"/>
        <pc:sldMkLst>
          <pc:docMk/>
          <pc:sldMk cId="152386829" sldId="608"/>
        </pc:sldMkLst>
        <pc:spChg chg="mod">
          <ac:chgData name="Daniel Pardo Schneider" userId="a875a72dd726dcb2" providerId="LiveId" clId="{57FF03B2-A5C7-4663-A1F7-C69ECBD1B63F}" dt="2020-03-17T19:18:12.588" v="50" actId="947"/>
          <ac:spMkLst>
            <pc:docMk/>
            <pc:sldMk cId="152386829" sldId="608"/>
            <ac:spMk id="80" creationId="{F1C39BD5-5BCD-43F7-926F-00CB5A9110B0}"/>
          </ac:spMkLst>
        </pc:spChg>
      </pc:sldChg>
      <pc:sldChg chg="modSp">
        <pc:chgData name="Daniel Pardo Schneider" userId="a875a72dd726dcb2" providerId="LiveId" clId="{57FF03B2-A5C7-4663-A1F7-C69ECBD1B63F}" dt="2020-03-17T19:19:33.383" v="77" actId="122"/>
        <pc:sldMkLst>
          <pc:docMk/>
          <pc:sldMk cId="2388039400" sldId="612"/>
        </pc:sldMkLst>
        <pc:spChg chg="mod">
          <ac:chgData name="Daniel Pardo Schneider" userId="a875a72dd726dcb2" providerId="LiveId" clId="{57FF03B2-A5C7-4663-A1F7-C69ECBD1B63F}" dt="2020-03-17T19:19:33.383" v="77" actId="122"/>
          <ac:spMkLst>
            <pc:docMk/>
            <pc:sldMk cId="2388039400" sldId="612"/>
            <ac:spMk id="17" creationId="{2F8E6FE4-B9C1-4B9C-BC7C-D59076781923}"/>
          </ac:spMkLst>
        </pc:spChg>
        <pc:spChg chg="mod">
          <ac:chgData name="Daniel Pardo Schneider" userId="a875a72dd726dcb2" providerId="LiveId" clId="{57FF03B2-A5C7-4663-A1F7-C69ECBD1B63F}" dt="2020-03-17T19:19:32.795" v="75" actId="947"/>
          <ac:spMkLst>
            <pc:docMk/>
            <pc:sldMk cId="2388039400" sldId="612"/>
            <ac:spMk id="72" creationId="{3C7A34A8-4D07-42D3-A1CA-47835A4414CE}"/>
          </ac:spMkLst>
        </pc:spChg>
        <pc:spChg chg="mod">
          <ac:chgData name="Daniel Pardo Schneider" userId="a875a72dd726dcb2" providerId="LiveId" clId="{57FF03B2-A5C7-4663-A1F7-C69ECBD1B63F}" dt="2020-03-17T19:19:32.795" v="75" actId="947"/>
          <ac:spMkLst>
            <pc:docMk/>
            <pc:sldMk cId="2388039400" sldId="612"/>
            <ac:spMk id="79" creationId="{D90ABCE5-1408-454B-B245-44906C756238}"/>
          </ac:spMkLst>
        </pc:spChg>
        <pc:spChg chg="mod">
          <ac:chgData name="Daniel Pardo Schneider" userId="a875a72dd726dcb2" providerId="LiveId" clId="{57FF03B2-A5C7-4663-A1F7-C69ECBD1B63F}" dt="2020-03-17T19:19:32.795" v="75" actId="947"/>
          <ac:spMkLst>
            <pc:docMk/>
            <pc:sldMk cId="2388039400" sldId="612"/>
            <ac:spMk id="80" creationId="{F1C39BD5-5BCD-43F7-926F-00CB5A9110B0}"/>
          </ac:spMkLst>
        </pc:spChg>
        <pc:spChg chg="mod">
          <ac:chgData name="Daniel Pardo Schneider" userId="a875a72dd726dcb2" providerId="LiveId" clId="{57FF03B2-A5C7-4663-A1F7-C69ECBD1B63F}" dt="2020-03-17T19:19:32.795" v="75" actId="947"/>
          <ac:spMkLst>
            <pc:docMk/>
            <pc:sldMk cId="2388039400" sldId="612"/>
            <ac:spMk id="200" creationId="{00000000-0000-0000-0000-000000000000}"/>
          </ac:spMkLst>
        </pc:spChg>
      </pc:sldChg>
      <pc:sldChg chg="modSp">
        <pc:chgData name="Daniel Pardo Schneider" userId="a875a72dd726dcb2" providerId="LiveId" clId="{57FF03B2-A5C7-4663-A1F7-C69ECBD1B63F}" dt="2020-03-17T19:19:49.763" v="86" actId="27636"/>
        <pc:sldMkLst>
          <pc:docMk/>
          <pc:sldMk cId="121221207" sldId="613"/>
        </pc:sldMkLst>
        <pc:spChg chg="mod">
          <ac:chgData name="Daniel Pardo Schneider" userId="a875a72dd726dcb2" providerId="LiveId" clId="{57FF03B2-A5C7-4663-A1F7-C69ECBD1B63F}" dt="2020-03-17T19:19:49.763" v="86" actId="27636"/>
          <ac:spMkLst>
            <pc:docMk/>
            <pc:sldMk cId="121221207" sldId="613"/>
            <ac:spMk id="17" creationId="{2F8E6FE4-B9C1-4B9C-BC7C-D59076781923}"/>
          </ac:spMkLst>
        </pc:spChg>
      </pc:sldChg>
      <pc:sldChg chg="modSp">
        <pc:chgData name="Daniel Pardo Schneider" userId="a875a72dd726dcb2" providerId="LiveId" clId="{57FF03B2-A5C7-4663-A1F7-C69ECBD1B63F}" dt="2020-03-17T19:20:10.500" v="89" actId="14100"/>
        <pc:sldMkLst>
          <pc:docMk/>
          <pc:sldMk cId="1058303620" sldId="614"/>
        </pc:sldMkLst>
        <pc:spChg chg="mod">
          <ac:chgData name="Daniel Pardo Schneider" userId="a875a72dd726dcb2" providerId="LiveId" clId="{57FF03B2-A5C7-4663-A1F7-C69ECBD1B63F}" dt="2020-03-17T19:20:10.500" v="89" actId="14100"/>
          <ac:spMkLst>
            <pc:docMk/>
            <pc:sldMk cId="1058303620" sldId="614"/>
            <ac:spMk id="79" creationId="{D90ABCE5-1408-454B-B245-44906C756238}"/>
          </ac:spMkLst>
        </pc:spChg>
      </pc:sldChg>
      <pc:sldChg chg="modSp">
        <pc:chgData name="Daniel Pardo Schneider" userId="a875a72dd726dcb2" providerId="LiveId" clId="{57FF03B2-A5C7-4663-A1F7-C69ECBD1B63F}" dt="2020-03-17T19:19:38.604" v="84" actId="14100"/>
        <pc:sldMkLst>
          <pc:docMk/>
          <pc:sldMk cId="1871172353" sldId="616"/>
        </pc:sldMkLst>
        <pc:spChg chg="mod">
          <ac:chgData name="Daniel Pardo Schneider" userId="a875a72dd726dcb2" providerId="LiveId" clId="{57FF03B2-A5C7-4663-A1F7-C69ECBD1B63F}" dt="2020-03-17T19:19:38.604" v="84" actId="14100"/>
          <ac:spMkLst>
            <pc:docMk/>
            <pc:sldMk cId="1871172353" sldId="616"/>
            <ac:spMk id="17" creationId="{2F8E6FE4-B9C1-4B9C-BC7C-D59076781923}"/>
          </ac:spMkLst>
        </pc:spChg>
      </pc:sldChg>
      <pc:sldChg chg="modSp">
        <pc:chgData name="Daniel Pardo Schneider" userId="a875a72dd726dcb2" providerId="LiveId" clId="{57FF03B2-A5C7-4663-A1F7-C69ECBD1B63F}" dt="2020-03-17T19:20:50.210" v="94" actId="2710"/>
        <pc:sldMkLst>
          <pc:docMk/>
          <pc:sldMk cId="2334218615" sldId="617"/>
        </pc:sldMkLst>
        <pc:spChg chg="mod">
          <ac:chgData name="Daniel Pardo Schneider" userId="a875a72dd726dcb2" providerId="LiveId" clId="{57FF03B2-A5C7-4663-A1F7-C69ECBD1B63F}" dt="2020-03-17T19:20:50.210" v="94" actId="2710"/>
          <ac:spMkLst>
            <pc:docMk/>
            <pc:sldMk cId="2334218615" sldId="617"/>
            <ac:spMk id="197" creationId="{00000000-0000-0000-0000-000000000000}"/>
          </ac:spMkLst>
        </pc:spChg>
      </pc:sldChg>
      <pc:sldChg chg="modSp">
        <pc:chgData name="Daniel Pardo Schneider" userId="a875a72dd726dcb2" providerId="LiveId" clId="{57FF03B2-A5C7-4663-A1F7-C69ECBD1B63F}" dt="2020-03-17T19:39:31.241" v="95" actId="14100"/>
        <pc:sldMkLst>
          <pc:docMk/>
          <pc:sldMk cId="868316397" sldId="619"/>
        </pc:sldMkLst>
        <pc:spChg chg="mod">
          <ac:chgData name="Daniel Pardo Schneider" userId="a875a72dd726dcb2" providerId="LiveId" clId="{57FF03B2-A5C7-4663-A1F7-C69ECBD1B63F}" dt="2020-03-17T19:39:31.241" v="95" actId="14100"/>
          <ac:spMkLst>
            <pc:docMk/>
            <pc:sldMk cId="868316397" sldId="619"/>
            <ac:spMk id="17" creationId="{63DF4224-0ABE-4A46-BBDB-3A43B90F0EC6}"/>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580" cy="494311"/>
          </a:xfrm>
          <a:prstGeom prst="rect">
            <a:avLst/>
          </a:prstGeom>
        </p:spPr>
        <p:txBody>
          <a:bodyPr vert="horz" lIns="87554" tIns="43777" rIns="87554" bIns="43777" rtlCol="0"/>
          <a:lstStyle>
            <a:lvl1pPr algn="l">
              <a:defRPr sz="1100"/>
            </a:lvl1pPr>
          </a:lstStyle>
          <a:p>
            <a:endParaRPr lang="en-US" dirty="0"/>
          </a:p>
        </p:txBody>
      </p:sp>
      <p:sp>
        <p:nvSpPr>
          <p:cNvPr id="3" name="Date Placeholder 2"/>
          <p:cNvSpPr>
            <a:spLocks noGrp="1"/>
          </p:cNvSpPr>
          <p:nvPr>
            <p:ph type="dt" idx="1"/>
          </p:nvPr>
        </p:nvSpPr>
        <p:spPr>
          <a:xfrm>
            <a:off x="3815678" y="0"/>
            <a:ext cx="2918579" cy="494311"/>
          </a:xfrm>
          <a:prstGeom prst="rect">
            <a:avLst/>
          </a:prstGeom>
        </p:spPr>
        <p:txBody>
          <a:bodyPr vert="horz" lIns="87554" tIns="43777" rIns="87554" bIns="43777" rtlCol="0"/>
          <a:lstStyle>
            <a:lvl1pPr algn="r">
              <a:defRPr sz="1100"/>
            </a:lvl1pPr>
          </a:lstStyle>
          <a:p>
            <a:fld id="{83EE8697-5B7D-4608-ABD1-2FF5A9FCCA05}" type="datetimeFigureOut">
              <a:rPr lang="en-US" smtClean="0"/>
              <a:t>10/12/2020</a:t>
            </a:fld>
            <a:endParaRPr lang="en-US" dirty="0"/>
          </a:p>
        </p:txBody>
      </p:sp>
      <p:sp>
        <p:nvSpPr>
          <p:cNvPr id="4" name="Slide Image Placeholder 3"/>
          <p:cNvSpPr>
            <a:spLocks noGrp="1" noRot="1" noChangeAspect="1"/>
          </p:cNvSpPr>
          <p:nvPr>
            <p:ph type="sldImg" idx="2"/>
          </p:nvPr>
        </p:nvSpPr>
        <p:spPr>
          <a:xfrm>
            <a:off x="409575" y="1233488"/>
            <a:ext cx="5918200" cy="3330575"/>
          </a:xfrm>
          <a:prstGeom prst="rect">
            <a:avLst/>
          </a:prstGeom>
          <a:noFill/>
          <a:ln w="12700">
            <a:solidFill>
              <a:prstClr val="black"/>
            </a:solidFill>
          </a:ln>
        </p:spPr>
        <p:txBody>
          <a:bodyPr vert="horz" lIns="87554" tIns="43777" rIns="87554" bIns="43777" rtlCol="0" anchor="ctr"/>
          <a:lstStyle/>
          <a:p>
            <a:endParaRPr lang="en-US" dirty="0"/>
          </a:p>
        </p:txBody>
      </p:sp>
      <p:sp>
        <p:nvSpPr>
          <p:cNvPr id="5" name="Notes Placeholder 4"/>
          <p:cNvSpPr>
            <a:spLocks noGrp="1"/>
          </p:cNvSpPr>
          <p:nvPr>
            <p:ph type="body" sz="quarter" idx="3"/>
          </p:nvPr>
        </p:nvSpPr>
        <p:spPr>
          <a:xfrm>
            <a:off x="674329" y="4748747"/>
            <a:ext cx="5388610" cy="3884086"/>
          </a:xfrm>
          <a:prstGeom prst="rect">
            <a:avLst/>
          </a:prstGeom>
        </p:spPr>
        <p:txBody>
          <a:bodyPr vert="horz" lIns="87554" tIns="43777" rIns="87554" bIns="43777"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2003"/>
            <a:ext cx="2918580" cy="494311"/>
          </a:xfrm>
          <a:prstGeom prst="rect">
            <a:avLst/>
          </a:prstGeom>
        </p:spPr>
        <p:txBody>
          <a:bodyPr vert="horz" lIns="87554" tIns="43777" rIns="87554" bIns="43777" rtlCol="0" anchor="b"/>
          <a:lstStyle>
            <a:lvl1pPr algn="l">
              <a:defRPr sz="1100"/>
            </a:lvl1pPr>
          </a:lstStyle>
          <a:p>
            <a:endParaRPr lang="en-US" dirty="0"/>
          </a:p>
        </p:txBody>
      </p:sp>
      <p:sp>
        <p:nvSpPr>
          <p:cNvPr id="7" name="Slide Number Placeholder 6"/>
          <p:cNvSpPr>
            <a:spLocks noGrp="1"/>
          </p:cNvSpPr>
          <p:nvPr>
            <p:ph type="sldNum" sz="quarter" idx="5"/>
          </p:nvPr>
        </p:nvSpPr>
        <p:spPr>
          <a:xfrm>
            <a:off x="3815678" y="9372003"/>
            <a:ext cx="2918579" cy="494311"/>
          </a:xfrm>
          <a:prstGeom prst="rect">
            <a:avLst/>
          </a:prstGeom>
        </p:spPr>
        <p:txBody>
          <a:bodyPr vert="horz" lIns="87554" tIns="43777" rIns="87554" bIns="43777" rtlCol="0" anchor="b"/>
          <a:lstStyle>
            <a:lvl1pPr algn="r">
              <a:defRPr sz="1100"/>
            </a:lvl1pPr>
          </a:lstStyle>
          <a:p>
            <a:fld id="{FBB6FEAC-C7F6-440B-8F2E-5F5A1CB0E362}" type="slidenum">
              <a:rPr lang="en-US" smtClean="0"/>
              <a:t>‹N°›</a:t>
            </a:fld>
            <a:endParaRPr lang="en-US" dirty="0"/>
          </a:p>
        </p:txBody>
      </p:sp>
    </p:spTree>
    <p:extLst>
      <p:ext uri="{BB962C8B-B14F-4D97-AF65-F5344CB8AC3E}">
        <p14:creationId xmlns:p14="http://schemas.microsoft.com/office/powerpoint/2010/main" val="478088552"/>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https://mail.ck.dk/owa/auth/maillogo.gif"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https://mail.ck.dk/owa/auth/Nexia.png"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https://mail.ck.dk/owa/auth/maillogo.gif"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https://mail.ck.dk/owa/auth/Nexia.png"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6.emf"/><Relationship Id="rId5" Type="http://schemas.openxmlformats.org/officeDocument/2006/relationships/oleObject" Target="../embeddings/oleObject1.bin"/><Relationship Id="rId4"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5875" y="0"/>
            <a:ext cx="10590836" cy="6858000"/>
          </a:xfrm>
          <a:prstGeom prst="rect">
            <a:avLst/>
          </a:prstGeom>
        </p:spPr>
      </p:pic>
      <p:sp>
        <p:nvSpPr>
          <p:cNvPr id="2" name="Title 1"/>
          <p:cNvSpPr>
            <a:spLocks noGrp="1"/>
          </p:cNvSpPr>
          <p:nvPr>
            <p:ph type="ctrTitle" hasCustomPrompt="1"/>
          </p:nvPr>
        </p:nvSpPr>
        <p:spPr>
          <a:xfrm>
            <a:off x="1061151" y="1380068"/>
            <a:ext cx="4097872" cy="719667"/>
          </a:xfrm>
        </p:spPr>
        <p:txBody>
          <a:bodyPr anchor="b">
            <a:normAutofit/>
          </a:bodyPr>
          <a:lstStyle>
            <a:lvl1pPr algn="l">
              <a:defRPr sz="2200">
                <a:solidFill>
                  <a:srgbClr val="575756"/>
                </a:solidFill>
                <a:latin typeface="Tahoma" panose="020B0604030504040204" pitchFamily="34" charset="0"/>
                <a:ea typeface="Tahoma" panose="020B0604030504040204" pitchFamily="34" charset="0"/>
                <a:cs typeface="Tahoma" panose="020B0604030504040204" pitchFamily="34" charset="0"/>
              </a:defRPr>
            </a:lvl1pPr>
          </a:lstStyle>
          <a:p>
            <a:r>
              <a:rPr lang="en-US" dirty="0"/>
              <a:t>Document Title </a:t>
            </a:r>
          </a:p>
        </p:txBody>
      </p:sp>
      <p:sp>
        <p:nvSpPr>
          <p:cNvPr id="3" name="Subtitle 2"/>
          <p:cNvSpPr>
            <a:spLocks noGrp="1"/>
          </p:cNvSpPr>
          <p:nvPr>
            <p:ph type="subTitle" idx="1" hasCustomPrompt="1"/>
          </p:nvPr>
        </p:nvSpPr>
        <p:spPr>
          <a:xfrm>
            <a:off x="1072441" y="2154238"/>
            <a:ext cx="4086583" cy="512762"/>
          </a:xfrm>
        </p:spPr>
        <p:txBody>
          <a:bodyPr>
            <a:normAutofit/>
          </a:bodyPr>
          <a:lstStyle>
            <a:lvl1pPr marL="0" indent="0" algn="l">
              <a:buNone/>
              <a:defRPr sz="1200" baseline="0">
                <a:solidFill>
                  <a:srgbClr val="00B2A9"/>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Detail text </a:t>
            </a:r>
          </a:p>
        </p:txBody>
      </p:sp>
      <p:pic>
        <p:nvPicPr>
          <p:cNvPr id="7" name="Imag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9028" y="416409"/>
            <a:ext cx="1906369" cy="719667"/>
          </a:xfrm>
          <a:prstGeom prst="rect">
            <a:avLst/>
          </a:prstGeom>
        </p:spPr>
      </p:pic>
    </p:spTree>
    <p:extLst>
      <p:ext uri="{BB962C8B-B14F-4D97-AF65-F5344CB8AC3E}">
        <p14:creationId xmlns:p14="http://schemas.microsoft.com/office/powerpoint/2010/main" val="2437665741"/>
      </p:ext>
    </p:extLst>
  </p:cSld>
  <p:clrMapOvr>
    <a:masterClrMapping/>
  </p:clrMapOvr>
  <p:extLst>
    <p:ext uri="{DCECCB84-F9BA-43D5-87BE-67443E8EF086}">
      <p15:sldGuideLst xmlns:p15="http://schemas.microsoft.com/office/powerpoint/2012/main">
        <p15:guide id="0" orient="horz" pos="2160">
          <p15:clr>
            <a:srgbClr val="FBAE40"/>
          </p15:clr>
        </p15:guide>
        <p15:guide id="1" pos="56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r="41660"/>
          <a:stretch/>
        </p:blipFill>
        <p:spPr>
          <a:xfrm>
            <a:off x="6769427" y="814201"/>
            <a:ext cx="5445152" cy="6043800"/>
          </a:xfrm>
          <a:prstGeom prst="rect">
            <a:avLst/>
          </a:prstGeom>
        </p:spPr>
      </p:pic>
      <p:sp>
        <p:nvSpPr>
          <p:cNvPr id="2" name="Title 1"/>
          <p:cNvSpPr>
            <a:spLocks noGrp="1"/>
          </p:cNvSpPr>
          <p:nvPr>
            <p:ph type="ctrTitle" hasCustomPrompt="1"/>
          </p:nvPr>
        </p:nvSpPr>
        <p:spPr>
          <a:xfrm>
            <a:off x="1061150" y="1380068"/>
            <a:ext cx="8319001" cy="719667"/>
          </a:xfrm>
        </p:spPr>
        <p:txBody>
          <a:bodyPr anchor="b">
            <a:normAutofit/>
          </a:bodyPr>
          <a:lstStyle>
            <a:lvl1pPr algn="l">
              <a:defRPr sz="2200">
                <a:solidFill>
                  <a:srgbClr val="575756"/>
                </a:solidFill>
                <a:latin typeface="Tahoma" panose="020B0604030504040204" pitchFamily="34" charset="0"/>
                <a:ea typeface="Tahoma" panose="020B0604030504040204" pitchFamily="34" charset="0"/>
                <a:cs typeface="Tahoma" panose="020B0604030504040204" pitchFamily="34" charset="0"/>
              </a:defRPr>
            </a:lvl1pPr>
          </a:lstStyle>
          <a:p>
            <a:r>
              <a:rPr lang="en-US" dirty="0"/>
              <a:t>Document Title </a:t>
            </a:r>
          </a:p>
        </p:txBody>
      </p:sp>
      <p:sp>
        <p:nvSpPr>
          <p:cNvPr id="3" name="Subtitle 2"/>
          <p:cNvSpPr>
            <a:spLocks noGrp="1"/>
          </p:cNvSpPr>
          <p:nvPr>
            <p:ph type="subTitle" idx="1" hasCustomPrompt="1"/>
          </p:nvPr>
        </p:nvSpPr>
        <p:spPr>
          <a:xfrm>
            <a:off x="1072441" y="2154238"/>
            <a:ext cx="4086583" cy="512762"/>
          </a:xfrm>
        </p:spPr>
        <p:txBody>
          <a:bodyPr>
            <a:normAutofit/>
          </a:bodyPr>
          <a:lstStyle>
            <a:lvl1pPr marL="0" indent="0" algn="l">
              <a:buNone/>
              <a:defRPr sz="1200" baseline="0">
                <a:solidFill>
                  <a:srgbClr val="00B2A9"/>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Detail text </a:t>
            </a:r>
          </a:p>
        </p:txBody>
      </p:sp>
      <p:pic>
        <p:nvPicPr>
          <p:cNvPr id="6" name="Imag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9028" y="416409"/>
            <a:ext cx="1906369" cy="521437"/>
          </a:xfrm>
          <a:prstGeom prst="rect">
            <a:avLst/>
          </a:prstGeom>
        </p:spPr>
      </p:pic>
    </p:spTree>
    <p:extLst>
      <p:ext uri="{BB962C8B-B14F-4D97-AF65-F5344CB8AC3E}">
        <p14:creationId xmlns:p14="http://schemas.microsoft.com/office/powerpoint/2010/main" val="3283738964"/>
      </p:ext>
    </p:extLst>
  </p:cSld>
  <p:clrMapOvr>
    <a:masterClrMapping/>
  </p:clrMapOvr>
  <p:extLst>
    <p:ext uri="{DCECCB84-F9BA-43D5-87BE-67443E8EF086}">
      <p15:sldGuideLst xmlns:p15="http://schemas.microsoft.com/office/powerpoint/2012/main">
        <p15:guide id="1" orient="horz" pos="2160">
          <p15:clr>
            <a:srgbClr val="FBAE40"/>
          </p15:clr>
        </p15:guide>
        <p15:guide id="2" pos="56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2777" y="213257"/>
            <a:ext cx="11470448" cy="514878"/>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52777" y="1551781"/>
            <a:ext cx="11470449" cy="4351338"/>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7"/>
          <p:cNvSpPr>
            <a:spLocks noGrp="1"/>
          </p:cNvSpPr>
          <p:nvPr>
            <p:ph sz="quarter" idx="13" hasCustomPrompt="1"/>
          </p:nvPr>
        </p:nvSpPr>
        <p:spPr>
          <a:xfrm>
            <a:off x="353484" y="795338"/>
            <a:ext cx="11469741"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sp>
        <p:nvSpPr>
          <p:cNvPr id="4" name="Espace réservé de la date 3">
            <a:extLst>
              <a:ext uri="{FF2B5EF4-FFF2-40B4-BE49-F238E27FC236}">
                <a16:creationId xmlns:a16="http://schemas.microsoft.com/office/drawing/2014/main" id="{9C596FEE-E3A3-4BDA-B704-B1A8C6A1B224}"/>
              </a:ext>
            </a:extLst>
          </p:cNvPr>
          <p:cNvSpPr>
            <a:spLocks noGrp="1"/>
          </p:cNvSpPr>
          <p:nvPr>
            <p:ph type="dt" sz="half" idx="14"/>
          </p:nvPr>
        </p:nvSpPr>
        <p:spPr/>
        <p:txBody>
          <a:bodyPr/>
          <a:lstStyle/>
          <a:p>
            <a:endParaRPr lang="en-GB" dirty="0"/>
          </a:p>
        </p:txBody>
      </p:sp>
      <p:sp>
        <p:nvSpPr>
          <p:cNvPr id="5" name="Espace réservé du pied de page 4">
            <a:extLst>
              <a:ext uri="{FF2B5EF4-FFF2-40B4-BE49-F238E27FC236}">
                <a16:creationId xmlns:a16="http://schemas.microsoft.com/office/drawing/2014/main" id="{F6503580-DAFF-48D8-A7DB-D85C6E40AA51}"/>
              </a:ext>
            </a:extLst>
          </p:cNvPr>
          <p:cNvSpPr>
            <a:spLocks noGrp="1"/>
          </p:cNvSpPr>
          <p:nvPr>
            <p:ph type="ftr" sz="quarter" idx="15"/>
          </p:nvPr>
        </p:nvSpPr>
        <p:spPr/>
        <p:txBody>
          <a:bodyPr/>
          <a:lstStyle/>
          <a:p>
            <a:endParaRPr lang="en-GB" dirty="0"/>
          </a:p>
        </p:txBody>
      </p:sp>
      <p:sp>
        <p:nvSpPr>
          <p:cNvPr id="6" name="Espace réservé du numéro de diapositive 5">
            <a:extLst>
              <a:ext uri="{FF2B5EF4-FFF2-40B4-BE49-F238E27FC236}">
                <a16:creationId xmlns:a16="http://schemas.microsoft.com/office/drawing/2014/main" id="{BCB92BCC-AA76-4B42-8398-E8AD76066926}"/>
              </a:ext>
            </a:extLst>
          </p:cNvPr>
          <p:cNvSpPr>
            <a:spLocks noGrp="1"/>
          </p:cNvSpPr>
          <p:nvPr>
            <p:ph type="sldNum" sz="quarter" idx="16"/>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464016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6000" y="1724021"/>
            <a:ext cx="5257800" cy="4329646"/>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sp>
        <p:nvSpPr>
          <p:cNvPr id="5" name="Espace réservé de la date 4">
            <a:extLst>
              <a:ext uri="{FF2B5EF4-FFF2-40B4-BE49-F238E27FC236}">
                <a16:creationId xmlns:a16="http://schemas.microsoft.com/office/drawing/2014/main" id="{A12E9C0A-0392-47A1-8CEB-74DA3E83914C}"/>
              </a:ext>
            </a:extLst>
          </p:cNvPr>
          <p:cNvSpPr>
            <a:spLocks noGrp="1"/>
          </p:cNvSpPr>
          <p:nvPr>
            <p:ph type="dt" sz="half" idx="14"/>
          </p:nvPr>
        </p:nvSpPr>
        <p:spPr/>
        <p:txBody>
          <a:bodyPr/>
          <a:lstStyle/>
          <a:p>
            <a:endParaRPr lang="en-GB" dirty="0"/>
          </a:p>
        </p:txBody>
      </p:sp>
      <p:sp>
        <p:nvSpPr>
          <p:cNvPr id="6" name="Espace réservé du pied de page 5">
            <a:extLst>
              <a:ext uri="{FF2B5EF4-FFF2-40B4-BE49-F238E27FC236}">
                <a16:creationId xmlns:a16="http://schemas.microsoft.com/office/drawing/2014/main" id="{20D85B9E-C371-47BB-9E90-27EBE2614ABC}"/>
              </a:ext>
            </a:extLst>
          </p:cNvPr>
          <p:cNvSpPr>
            <a:spLocks noGrp="1"/>
          </p:cNvSpPr>
          <p:nvPr>
            <p:ph type="ftr" sz="quarter" idx="15"/>
          </p:nvPr>
        </p:nvSpPr>
        <p:spPr/>
        <p:txBody>
          <a:bodyPr/>
          <a:lstStyle/>
          <a:p>
            <a:endParaRPr lang="en-GB" dirty="0"/>
          </a:p>
        </p:txBody>
      </p:sp>
      <p:sp>
        <p:nvSpPr>
          <p:cNvPr id="7" name="Espace réservé du numéro de diapositive 6">
            <a:extLst>
              <a:ext uri="{FF2B5EF4-FFF2-40B4-BE49-F238E27FC236}">
                <a16:creationId xmlns:a16="http://schemas.microsoft.com/office/drawing/2014/main" id="{E28BC995-FFF6-48BA-A844-3292562A6F06}"/>
              </a:ext>
            </a:extLst>
          </p:cNvPr>
          <p:cNvSpPr>
            <a:spLocks noGrp="1"/>
          </p:cNvSpPr>
          <p:nvPr>
            <p:ph type="sldNum" sz="quarter" idx="16"/>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174259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sp>
        <p:nvSpPr>
          <p:cNvPr id="6" name="Chart Placeholder 5"/>
          <p:cNvSpPr>
            <a:spLocks noGrp="1"/>
          </p:cNvSpPr>
          <p:nvPr>
            <p:ph type="chart" sz="quarter" idx="14"/>
          </p:nvPr>
        </p:nvSpPr>
        <p:spPr>
          <a:xfrm>
            <a:off x="6172200" y="1732495"/>
            <a:ext cx="5181600" cy="4321172"/>
          </a:xfrm>
        </p:spPr>
        <p:txBody>
          <a:bodyPr>
            <a:normAutofit/>
          </a:bodyPr>
          <a:lstStyle>
            <a:lvl1pPr>
              <a:defRPr sz="2000"/>
            </a:lvl1pPr>
          </a:lstStyle>
          <a:p>
            <a:r>
              <a:rPr lang="en-US" dirty="0"/>
              <a:t>Click icon to add chart</a:t>
            </a:r>
            <a:endParaRPr lang="en-GB" dirty="0"/>
          </a:p>
        </p:txBody>
      </p:sp>
      <p:sp>
        <p:nvSpPr>
          <p:cNvPr id="4" name="Espace réservé de la date 3">
            <a:extLst>
              <a:ext uri="{FF2B5EF4-FFF2-40B4-BE49-F238E27FC236}">
                <a16:creationId xmlns:a16="http://schemas.microsoft.com/office/drawing/2014/main" id="{A9B12866-DC54-440D-9B75-99E6142C91FF}"/>
              </a:ext>
            </a:extLst>
          </p:cNvPr>
          <p:cNvSpPr>
            <a:spLocks noGrp="1"/>
          </p:cNvSpPr>
          <p:nvPr>
            <p:ph type="dt" sz="half" idx="15"/>
          </p:nvPr>
        </p:nvSpPr>
        <p:spPr/>
        <p:txBody>
          <a:bodyPr/>
          <a:lstStyle/>
          <a:p>
            <a:endParaRPr lang="en-GB" dirty="0"/>
          </a:p>
        </p:txBody>
      </p:sp>
      <p:sp>
        <p:nvSpPr>
          <p:cNvPr id="5" name="Espace réservé du pied de page 4">
            <a:extLst>
              <a:ext uri="{FF2B5EF4-FFF2-40B4-BE49-F238E27FC236}">
                <a16:creationId xmlns:a16="http://schemas.microsoft.com/office/drawing/2014/main" id="{101F18BA-A21B-42DE-9837-4B5C35CF9212}"/>
              </a:ext>
            </a:extLst>
          </p:cNvPr>
          <p:cNvSpPr>
            <a:spLocks noGrp="1"/>
          </p:cNvSpPr>
          <p:nvPr>
            <p:ph type="ftr" sz="quarter" idx="16"/>
          </p:nvPr>
        </p:nvSpPr>
        <p:spPr/>
        <p:txBody>
          <a:bodyPr/>
          <a:lstStyle/>
          <a:p>
            <a:endParaRPr lang="en-GB" dirty="0"/>
          </a:p>
        </p:txBody>
      </p:sp>
      <p:sp>
        <p:nvSpPr>
          <p:cNvPr id="7" name="Espace réservé du numéro de diapositive 6">
            <a:extLst>
              <a:ext uri="{FF2B5EF4-FFF2-40B4-BE49-F238E27FC236}">
                <a16:creationId xmlns:a16="http://schemas.microsoft.com/office/drawing/2014/main" id="{5644F815-F496-40E3-A067-9BF8162109D5}"/>
              </a:ext>
            </a:extLst>
          </p:cNvPr>
          <p:cNvSpPr>
            <a:spLocks noGrp="1"/>
          </p:cNvSpPr>
          <p:nvPr>
            <p:ph type="sldNum" sz="quarter" idx="17"/>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287776384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sp>
        <p:nvSpPr>
          <p:cNvPr id="6" name="Chart Placeholder 5"/>
          <p:cNvSpPr>
            <a:spLocks noGrp="1"/>
          </p:cNvSpPr>
          <p:nvPr>
            <p:ph type="chart" sz="quarter" idx="14"/>
          </p:nvPr>
        </p:nvSpPr>
        <p:spPr>
          <a:xfrm>
            <a:off x="6172200" y="1732495"/>
            <a:ext cx="5181600" cy="4321172"/>
          </a:xfrm>
        </p:spPr>
        <p:txBody>
          <a:bodyPr>
            <a:normAutofit/>
          </a:bodyPr>
          <a:lstStyle>
            <a:lvl1pPr>
              <a:defRPr sz="2000"/>
            </a:lvl1pPr>
          </a:lstStyle>
          <a:p>
            <a:r>
              <a:rPr lang="en-US" dirty="0"/>
              <a:t>Click icon to add chart</a:t>
            </a:r>
            <a:endParaRPr lang="en-GB" dirty="0"/>
          </a:p>
        </p:txBody>
      </p:sp>
      <p:sp>
        <p:nvSpPr>
          <p:cNvPr id="4" name="Espace réservé de la date 3">
            <a:extLst>
              <a:ext uri="{FF2B5EF4-FFF2-40B4-BE49-F238E27FC236}">
                <a16:creationId xmlns:a16="http://schemas.microsoft.com/office/drawing/2014/main" id="{7C656AF3-5BC4-46C4-9349-810F16323A82}"/>
              </a:ext>
            </a:extLst>
          </p:cNvPr>
          <p:cNvSpPr>
            <a:spLocks noGrp="1"/>
          </p:cNvSpPr>
          <p:nvPr>
            <p:ph type="dt" sz="half" idx="15"/>
          </p:nvPr>
        </p:nvSpPr>
        <p:spPr/>
        <p:txBody>
          <a:bodyPr/>
          <a:lstStyle/>
          <a:p>
            <a:endParaRPr lang="en-GB" dirty="0"/>
          </a:p>
        </p:txBody>
      </p:sp>
      <p:sp>
        <p:nvSpPr>
          <p:cNvPr id="5" name="Espace réservé du pied de page 4">
            <a:extLst>
              <a:ext uri="{FF2B5EF4-FFF2-40B4-BE49-F238E27FC236}">
                <a16:creationId xmlns:a16="http://schemas.microsoft.com/office/drawing/2014/main" id="{C3BCEF34-9FE2-449E-A4F1-2ECC10A83ACB}"/>
              </a:ext>
            </a:extLst>
          </p:cNvPr>
          <p:cNvSpPr>
            <a:spLocks noGrp="1"/>
          </p:cNvSpPr>
          <p:nvPr>
            <p:ph type="ftr" sz="quarter" idx="16"/>
          </p:nvPr>
        </p:nvSpPr>
        <p:spPr/>
        <p:txBody>
          <a:bodyPr/>
          <a:lstStyle/>
          <a:p>
            <a:endParaRPr lang="en-GB" dirty="0"/>
          </a:p>
        </p:txBody>
      </p:sp>
      <p:sp>
        <p:nvSpPr>
          <p:cNvPr id="7" name="Espace réservé du numéro de diapositive 6">
            <a:extLst>
              <a:ext uri="{FF2B5EF4-FFF2-40B4-BE49-F238E27FC236}">
                <a16:creationId xmlns:a16="http://schemas.microsoft.com/office/drawing/2014/main" id="{2E634F8E-3EA9-480F-A5D8-57B0B4A2F522}"/>
              </a:ext>
            </a:extLst>
          </p:cNvPr>
          <p:cNvSpPr>
            <a:spLocks noGrp="1"/>
          </p:cNvSpPr>
          <p:nvPr>
            <p:ph type="sldNum" sz="quarter" idx="17"/>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2436233467"/>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wo Content">
    <p:bg>
      <p:bgRef idx="1001">
        <a:schemeClr val="bg1"/>
      </p:bgRef>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50663" y="6316134"/>
            <a:ext cx="11559116" cy="406400"/>
          </a:xfrm>
        </p:spPr>
        <p:txBody>
          <a:bodyPr>
            <a:normAutofit/>
          </a:bodyPr>
          <a:lstStyle>
            <a:lvl1pPr marL="0" indent="0">
              <a:buNone/>
              <a:defRPr sz="600">
                <a:solidFill>
                  <a:srgbClr val="575756"/>
                </a:solidFill>
              </a:defRPr>
            </a:lvl1pPr>
          </a:lstStyle>
          <a:p>
            <a:pPr lvl="0"/>
            <a:endParaRPr lang="en-GB" dirty="0"/>
          </a:p>
        </p:txBody>
      </p:sp>
      <p:pic>
        <p:nvPicPr>
          <p:cNvPr id="5" name="Imag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9028" y="416409"/>
            <a:ext cx="1906369" cy="521437"/>
          </a:xfrm>
          <a:prstGeom prst="rect">
            <a:avLst/>
          </a:prstGeom>
        </p:spPr>
      </p:pic>
      <p:sp>
        <p:nvSpPr>
          <p:cNvPr id="2" name="Espace réservé de la date 1">
            <a:extLst>
              <a:ext uri="{FF2B5EF4-FFF2-40B4-BE49-F238E27FC236}">
                <a16:creationId xmlns:a16="http://schemas.microsoft.com/office/drawing/2014/main" id="{E6B9E0C8-3D9E-4B8E-8FF4-4293FDBEC720}"/>
              </a:ext>
            </a:extLst>
          </p:cNvPr>
          <p:cNvSpPr>
            <a:spLocks noGrp="1"/>
          </p:cNvSpPr>
          <p:nvPr>
            <p:ph type="dt" sz="half" idx="11"/>
          </p:nvPr>
        </p:nvSpPr>
        <p:spPr/>
        <p:txBody>
          <a:bodyPr/>
          <a:lstStyle/>
          <a:p>
            <a:endParaRPr lang="en-GB" dirty="0"/>
          </a:p>
        </p:txBody>
      </p:sp>
      <p:sp>
        <p:nvSpPr>
          <p:cNvPr id="3" name="Espace réservé du pied de page 2">
            <a:extLst>
              <a:ext uri="{FF2B5EF4-FFF2-40B4-BE49-F238E27FC236}">
                <a16:creationId xmlns:a16="http://schemas.microsoft.com/office/drawing/2014/main" id="{CE079114-3983-4C2A-B1BA-C3BF8B22C4D7}"/>
              </a:ext>
            </a:extLst>
          </p:cNvPr>
          <p:cNvSpPr>
            <a:spLocks noGrp="1"/>
          </p:cNvSpPr>
          <p:nvPr>
            <p:ph type="ftr" sz="quarter" idx="12"/>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B245382-2655-4A91-9093-BA7FC43B1E84}"/>
              </a:ext>
            </a:extLst>
          </p:cNvPr>
          <p:cNvSpPr>
            <a:spLocks noGrp="1"/>
          </p:cNvSpPr>
          <p:nvPr>
            <p:ph type="sldNum" sz="quarter" idx="13"/>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34172049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D5257"/>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50271" y="12700"/>
            <a:ext cx="10590836" cy="6858000"/>
          </a:xfrm>
          <a:prstGeom prst="rect">
            <a:avLst/>
          </a:prstGeom>
        </p:spPr>
      </p:pic>
      <p:sp>
        <p:nvSpPr>
          <p:cNvPr id="3" name="Text Placeholder 2"/>
          <p:cNvSpPr>
            <a:spLocks noGrp="1"/>
          </p:cNvSpPr>
          <p:nvPr>
            <p:ph type="body" sz="quarter" idx="10"/>
          </p:nvPr>
        </p:nvSpPr>
        <p:spPr>
          <a:xfrm>
            <a:off x="236362" y="1108605"/>
            <a:ext cx="6728883" cy="1092729"/>
          </a:xfrm>
        </p:spPr>
        <p:txBody>
          <a:bodyPr/>
          <a:lstStyle>
            <a:lvl1pPr marL="0" indent="0">
              <a:buNone/>
              <a:defRPr sz="2800"/>
            </a:lvl1pPr>
            <a:lvl2pPr marL="457200" indent="0">
              <a:buNone/>
              <a:defRPr/>
            </a:lvl2pPr>
          </a:lstStyle>
          <a:p>
            <a:pPr lvl="0"/>
            <a:r>
              <a:rPr lang="en-US" dirty="0"/>
              <a:t>Click to edit Master </a:t>
            </a:r>
          </a:p>
          <a:p>
            <a:pPr lvl="0"/>
            <a:r>
              <a:rPr lang="en-US" dirty="0"/>
              <a:t>text styles</a:t>
            </a:r>
          </a:p>
          <a:p>
            <a:pPr lvl="1"/>
            <a:endParaRPr lang="en-US" dirty="0"/>
          </a:p>
        </p:txBody>
      </p:sp>
      <p:sp>
        <p:nvSpPr>
          <p:cNvPr id="7" name="Text Placeholder 6"/>
          <p:cNvSpPr>
            <a:spLocks noGrp="1"/>
          </p:cNvSpPr>
          <p:nvPr>
            <p:ph type="body" sz="quarter" idx="11"/>
          </p:nvPr>
        </p:nvSpPr>
        <p:spPr>
          <a:xfrm>
            <a:off x="236363" y="2425700"/>
            <a:ext cx="5746749" cy="685800"/>
          </a:xfrm>
        </p:spPr>
        <p:txBody>
          <a:bodyPr>
            <a:normAutofit/>
          </a:bodyPr>
          <a:lstStyle>
            <a:lvl1pPr marL="0" indent="0">
              <a:buNone/>
              <a:defRPr sz="2000"/>
            </a:lvl1pPr>
          </a:lstStyle>
          <a:p>
            <a:pPr lvl="0"/>
            <a:r>
              <a:rPr lang="en-US" dirty="0"/>
              <a:t>Click to edit Master text styles</a:t>
            </a:r>
          </a:p>
        </p:txBody>
      </p:sp>
    </p:spTree>
    <p:extLst>
      <p:ext uri="{BB962C8B-B14F-4D97-AF65-F5344CB8AC3E}">
        <p14:creationId xmlns:p14="http://schemas.microsoft.com/office/powerpoint/2010/main" val="426586448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1128299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1065145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8085804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16685101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2777" y="213257"/>
            <a:ext cx="11470448" cy="514878"/>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352777" y="1551781"/>
            <a:ext cx="11470449" cy="4351338"/>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Content Placeholder 7"/>
          <p:cNvSpPr>
            <a:spLocks noGrp="1"/>
          </p:cNvSpPr>
          <p:nvPr>
            <p:ph sz="quarter" idx="13" hasCustomPrompt="1"/>
          </p:nvPr>
        </p:nvSpPr>
        <p:spPr>
          <a:xfrm>
            <a:off x="353484" y="795338"/>
            <a:ext cx="11469741"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7734" y="6176963"/>
            <a:ext cx="1595493" cy="360000"/>
          </a:xfrm>
          <a:prstGeom prst="rect">
            <a:avLst/>
          </a:prstGeom>
        </p:spPr>
      </p:pic>
    </p:spTree>
    <p:extLst>
      <p:ext uri="{BB962C8B-B14F-4D97-AF65-F5344CB8AC3E}">
        <p14:creationId xmlns:p14="http://schemas.microsoft.com/office/powerpoint/2010/main" val="3498042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096000" y="1724021"/>
            <a:ext cx="5257800" cy="4329646"/>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7734" y="6176963"/>
            <a:ext cx="1595493" cy="360000"/>
          </a:xfrm>
          <a:prstGeom prst="rect">
            <a:avLst/>
          </a:prstGeom>
        </p:spPr>
      </p:pic>
    </p:spTree>
    <p:extLst>
      <p:ext uri="{BB962C8B-B14F-4D97-AF65-F5344CB8AC3E}">
        <p14:creationId xmlns:p14="http://schemas.microsoft.com/office/powerpoint/2010/main" val="297628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7734" y="6176963"/>
            <a:ext cx="1595493" cy="360000"/>
          </a:xfrm>
          <a:prstGeom prst="rect">
            <a:avLst/>
          </a:prstGeom>
        </p:spPr>
      </p:pic>
      <p:sp>
        <p:nvSpPr>
          <p:cNvPr id="6" name="Chart Placeholder 5"/>
          <p:cNvSpPr>
            <a:spLocks noGrp="1"/>
          </p:cNvSpPr>
          <p:nvPr>
            <p:ph type="chart" sz="quarter" idx="14"/>
          </p:nvPr>
        </p:nvSpPr>
        <p:spPr>
          <a:xfrm>
            <a:off x="6172200" y="1732495"/>
            <a:ext cx="5181600" cy="4321172"/>
          </a:xfrm>
        </p:spPr>
        <p:txBody>
          <a:bodyPr/>
          <a:lstStyle/>
          <a:p>
            <a:endParaRPr lang="en-GB" dirty="0"/>
          </a:p>
        </p:txBody>
      </p:sp>
    </p:spTree>
    <p:extLst>
      <p:ext uri="{BB962C8B-B14F-4D97-AF65-F5344CB8AC3E}">
        <p14:creationId xmlns:p14="http://schemas.microsoft.com/office/powerpoint/2010/main" val="3979729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26885D9F-DC6E-4D58-988B-92D3F08E43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76895" y="2294905"/>
            <a:ext cx="3782872" cy="1034705"/>
          </a:xfrm>
          <a:prstGeom prst="rect">
            <a:avLst/>
          </a:prstGeom>
        </p:spPr>
      </p:pic>
      <p:pic>
        <p:nvPicPr>
          <p:cNvPr id="3" name="Picture 2">
            <a:extLst>
              <a:ext uri="{FF2B5EF4-FFF2-40B4-BE49-F238E27FC236}">
                <a16:creationId xmlns:a16="http://schemas.microsoft.com/office/drawing/2014/main" id="{A96C62A9-1C3D-40CE-88BA-3AF08C1EE96B}"/>
              </a:ext>
            </a:extLst>
          </p:cNvPr>
          <p:cNvPicPr>
            <a:picLocks noChangeAspect="1" noChangeArrowheads="1"/>
          </p:cNvPicPr>
          <p:nvPr userDrawn="1"/>
        </p:nvPicPr>
        <p:blipFill>
          <a:blip r:link="rId3">
            <a:extLst>
              <a:ext uri="{28A0092B-C50C-407E-A947-70E740481C1C}">
                <a14:useLocalDpi xmlns:a14="http://schemas.microsoft.com/office/drawing/2010/main" val="0"/>
              </a:ext>
            </a:extLst>
          </a:blip>
          <a:srcRect/>
          <a:stretch>
            <a:fillRect/>
          </a:stretch>
        </p:blipFill>
        <p:spPr bwMode="auto">
          <a:xfrm>
            <a:off x="6286143" y="2294904"/>
            <a:ext cx="4628963" cy="113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4" name="Picture 2">
            <a:extLst>
              <a:ext uri="{FF2B5EF4-FFF2-40B4-BE49-F238E27FC236}">
                <a16:creationId xmlns:a16="http://schemas.microsoft.com/office/drawing/2014/main" id="{62A5C8D8-C186-4934-8604-BEE7AF11C4C4}"/>
              </a:ext>
            </a:extLst>
          </p:cNvPr>
          <p:cNvPicPr>
            <a:picLocks noChangeAspect="1" noChangeArrowheads="1"/>
          </p:cNvPicPr>
          <p:nvPr userDrawn="1"/>
        </p:nvPicPr>
        <p:blipFill>
          <a:blip r:link="rId4">
            <a:extLst>
              <a:ext uri="{28A0092B-C50C-407E-A947-70E740481C1C}">
                <a14:useLocalDpi xmlns:a14="http://schemas.microsoft.com/office/drawing/2010/main" val="0"/>
              </a:ext>
            </a:extLst>
          </a:blip>
          <a:srcRect/>
          <a:stretch>
            <a:fillRect/>
          </a:stretch>
        </p:blipFill>
        <p:spPr bwMode="auto">
          <a:xfrm>
            <a:off x="4733666" y="4467433"/>
            <a:ext cx="2724669" cy="91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0266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Main Slide">
    <p:spTree>
      <p:nvGrpSpPr>
        <p:cNvPr id="1" name=""/>
        <p:cNvGrpSpPr/>
        <p:nvPr/>
      </p:nvGrpSpPr>
      <p:grpSpPr>
        <a:xfrm>
          <a:off x="0" y="0"/>
          <a:ext cx="0" cy="0"/>
          <a:chOff x="0" y="0"/>
          <a:chExt cx="0" cy="0"/>
        </a:xfrm>
      </p:grpSpPr>
      <p:sp>
        <p:nvSpPr>
          <p:cNvPr id="16" name="Slide Number"/>
          <p:cNvSpPr txBox="1">
            <a:spLocks noGrp="1"/>
          </p:cNvSpPr>
          <p:nvPr>
            <p:ph type="sldNum" sz="quarter" idx="2"/>
          </p:nvPr>
        </p:nvSpPr>
        <p:spPr>
          <a:xfrm>
            <a:off x="11096625" y="6351290"/>
            <a:ext cx="329175" cy="177801"/>
          </a:xfrm>
          <a:prstGeom prst="rect">
            <a:avLst/>
          </a:prstGeom>
        </p:spPr>
        <p:txBody>
          <a:bodyPr lIns="0" tIns="0" rIns="0" bIns="0"/>
          <a:lstStyle>
            <a:lvl1pPr algn="r">
              <a:defRPr sz="1100">
                <a:solidFill>
                  <a:srgbClr val="2C2E3C"/>
                </a:solidFill>
                <a:latin typeface="Quicksand Bold"/>
                <a:ea typeface="Quicksand Bold"/>
                <a:cs typeface="Quicksand Bold"/>
                <a:sym typeface="Quicksand Bold"/>
              </a:defRPr>
            </a:lvl1pPr>
          </a:lstStyle>
          <a:p>
            <a:fld id="{86CB4B4D-7CA3-9044-876B-883B54F8677D}" type="slidenum">
              <a:t>‹N°›</a:t>
            </a:fld>
            <a:endParaRPr dirty="0"/>
          </a:p>
        </p:txBody>
      </p:sp>
    </p:spTree>
    <p:extLst>
      <p:ext uri="{BB962C8B-B14F-4D97-AF65-F5344CB8AC3E}">
        <p14:creationId xmlns:p14="http://schemas.microsoft.com/office/powerpoint/2010/main" val="254733101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7_Blank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9496825B-2CE5-4107-BA55-AA4EAB69987A}"/>
              </a:ext>
            </a:extLst>
          </p:cNvPr>
          <p:cNvSpPr>
            <a:spLocks noGrp="1"/>
          </p:cNvSpPr>
          <p:nvPr>
            <p:ph type="pic" sz="quarter" idx="11" hasCustomPrompt="1"/>
          </p:nvPr>
        </p:nvSpPr>
        <p:spPr>
          <a:xfrm>
            <a:off x="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ACB1BB"/>
          </a:solidFill>
        </p:spPr>
        <p:txBody>
          <a:bodyPr wrap="square" anchor="ctr">
            <a:noAutofit/>
          </a:bodyPr>
          <a:lstStyle>
            <a:lvl1pPr marL="0" indent="0" algn="ctr">
              <a:buNone/>
              <a:defRPr sz="1000" b="1">
                <a:solidFill>
                  <a:srgbClr val="FFFFFF"/>
                </a:solidFill>
              </a:defRPr>
            </a:lvl1pPr>
          </a:lstStyle>
          <a:p>
            <a:r>
              <a:rPr lang="en-US" dirty="0"/>
              <a:t>IMAGE REPLACE</a:t>
            </a:r>
          </a:p>
        </p:txBody>
      </p:sp>
      <p:sp>
        <p:nvSpPr>
          <p:cNvPr id="3" name="Slide Number">
            <a:extLst>
              <a:ext uri="{FF2B5EF4-FFF2-40B4-BE49-F238E27FC236}">
                <a16:creationId xmlns:a16="http://schemas.microsoft.com/office/drawing/2014/main" id="{8605534B-544A-4501-89DA-6B96C76B7BC7}"/>
              </a:ext>
            </a:extLst>
          </p:cNvPr>
          <p:cNvSpPr txBox="1">
            <a:spLocks noGrp="1"/>
          </p:cNvSpPr>
          <p:nvPr>
            <p:ph type="sldNum" sz="quarter" idx="4"/>
          </p:nvPr>
        </p:nvSpPr>
        <p:spPr>
          <a:xfrm>
            <a:off x="11190159" y="6355552"/>
            <a:ext cx="235641" cy="169277"/>
          </a:xfrm>
          <a:prstGeom prst="rect">
            <a:avLst/>
          </a:prstGeom>
        </p:spPr>
        <p:txBody>
          <a:bodyPr lIns="0" tIns="0" rIns="0" bIns="0"/>
          <a:lstStyle>
            <a:lvl1pPr algn="r">
              <a:defRPr sz="1100">
                <a:solidFill>
                  <a:srgbClr val="2C2E3C"/>
                </a:solidFill>
                <a:latin typeface="Quicksand Bold"/>
                <a:ea typeface="Quicksand Bold"/>
                <a:cs typeface="Quicksand Bold"/>
                <a:sym typeface="Quicksand Bold"/>
              </a:defRPr>
            </a:lvl1pPr>
          </a:lstStyle>
          <a:p>
            <a:fld id="{86CB4B4D-7CA3-9044-876B-883B54F8677D}" type="slidenum">
              <a:t>‹N°›</a:t>
            </a:fld>
            <a:endParaRPr dirty="0"/>
          </a:p>
        </p:txBody>
      </p:sp>
    </p:spTree>
    <p:extLst>
      <p:ext uri="{BB962C8B-B14F-4D97-AF65-F5344CB8AC3E}">
        <p14:creationId xmlns:p14="http://schemas.microsoft.com/office/powerpoint/2010/main" val="82530382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5875" y="0"/>
            <a:ext cx="10590836" cy="6858000"/>
          </a:xfrm>
          <a:prstGeom prst="rect">
            <a:avLst/>
          </a:prstGeom>
        </p:spPr>
      </p:pic>
      <p:sp>
        <p:nvSpPr>
          <p:cNvPr id="2" name="Title 1"/>
          <p:cNvSpPr>
            <a:spLocks noGrp="1"/>
          </p:cNvSpPr>
          <p:nvPr>
            <p:ph type="ctrTitle" hasCustomPrompt="1"/>
          </p:nvPr>
        </p:nvSpPr>
        <p:spPr>
          <a:xfrm>
            <a:off x="1061151" y="1380068"/>
            <a:ext cx="4097872" cy="719667"/>
          </a:xfrm>
        </p:spPr>
        <p:txBody>
          <a:bodyPr anchor="b">
            <a:normAutofit/>
          </a:bodyPr>
          <a:lstStyle>
            <a:lvl1pPr algn="l">
              <a:defRPr sz="2200">
                <a:solidFill>
                  <a:srgbClr val="575756"/>
                </a:solidFill>
                <a:latin typeface="Tahoma" panose="020B0604030504040204" pitchFamily="34" charset="0"/>
                <a:ea typeface="Tahoma" panose="020B0604030504040204" pitchFamily="34" charset="0"/>
                <a:cs typeface="Tahoma" panose="020B0604030504040204" pitchFamily="34" charset="0"/>
              </a:defRPr>
            </a:lvl1pPr>
          </a:lstStyle>
          <a:p>
            <a:r>
              <a:rPr lang="en-US" dirty="0"/>
              <a:t>Document Title </a:t>
            </a:r>
          </a:p>
        </p:txBody>
      </p:sp>
      <p:sp>
        <p:nvSpPr>
          <p:cNvPr id="3" name="Subtitle 2"/>
          <p:cNvSpPr>
            <a:spLocks noGrp="1"/>
          </p:cNvSpPr>
          <p:nvPr>
            <p:ph type="subTitle" idx="1" hasCustomPrompt="1"/>
          </p:nvPr>
        </p:nvSpPr>
        <p:spPr>
          <a:xfrm>
            <a:off x="1072441" y="2154238"/>
            <a:ext cx="4086583" cy="512762"/>
          </a:xfrm>
        </p:spPr>
        <p:txBody>
          <a:bodyPr>
            <a:normAutofit/>
          </a:bodyPr>
          <a:lstStyle>
            <a:lvl1pPr marL="0" indent="0" algn="l">
              <a:buNone/>
              <a:defRPr sz="1200" baseline="0">
                <a:solidFill>
                  <a:srgbClr val="00B2A9"/>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Detail text </a:t>
            </a:r>
          </a:p>
        </p:txBody>
      </p:sp>
      <p:pic>
        <p:nvPicPr>
          <p:cNvPr id="7" name="Imag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9028" y="416409"/>
            <a:ext cx="1906369" cy="719667"/>
          </a:xfrm>
          <a:prstGeom prst="rect">
            <a:avLst/>
          </a:prstGeom>
        </p:spPr>
      </p:pic>
    </p:spTree>
    <p:extLst>
      <p:ext uri="{BB962C8B-B14F-4D97-AF65-F5344CB8AC3E}">
        <p14:creationId xmlns:p14="http://schemas.microsoft.com/office/powerpoint/2010/main" val="4182521237"/>
      </p:ext>
    </p:extLst>
  </p:cSld>
  <p:clrMapOvr>
    <a:masterClrMapping/>
  </p:clrMapOvr>
  <p:extLst>
    <p:ext uri="{DCECCB84-F9BA-43D5-87BE-67443E8EF086}">
      <p15:sldGuideLst xmlns:p15="http://schemas.microsoft.com/office/powerpoint/2012/main">
        <p15:guide id="0" orient="horz" pos="2160">
          <p15:clr>
            <a:srgbClr val="FBAE40"/>
          </p15:clr>
        </p15:guide>
        <p15:guide id="1" pos="56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r="41660"/>
          <a:stretch/>
        </p:blipFill>
        <p:spPr>
          <a:xfrm>
            <a:off x="6769427" y="814201"/>
            <a:ext cx="5445152" cy="6043800"/>
          </a:xfrm>
          <a:prstGeom prst="rect">
            <a:avLst/>
          </a:prstGeom>
        </p:spPr>
      </p:pic>
      <p:sp>
        <p:nvSpPr>
          <p:cNvPr id="2" name="Title 1"/>
          <p:cNvSpPr>
            <a:spLocks noGrp="1"/>
          </p:cNvSpPr>
          <p:nvPr>
            <p:ph type="ctrTitle" hasCustomPrompt="1"/>
          </p:nvPr>
        </p:nvSpPr>
        <p:spPr>
          <a:xfrm>
            <a:off x="1061150" y="1380068"/>
            <a:ext cx="8319001" cy="719667"/>
          </a:xfrm>
        </p:spPr>
        <p:txBody>
          <a:bodyPr anchor="b">
            <a:normAutofit/>
          </a:bodyPr>
          <a:lstStyle>
            <a:lvl1pPr algn="l">
              <a:defRPr sz="2200">
                <a:solidFill>
                  <a:srgbClr val="575756"/>
                </a:solidFill>
                <a:latin typeface="Tahoma" panose="020B0604030504040204" pitchFamily="34" charset="0"/>
                <a:ea typeface="Tahoma" panose="020B0604030504040204" pitchFamily="34" charset="0"/>
                <a:cs typeface="Tahoma" panose="020B0604030504040204" pitchFamily="34" charset="0"/>
              </a:defRPr>
            </a:lvl1pPr>
          </a:lstStyle>
          <a:p>
            <a:r>
              <a:rPr lang="en-US" dirty="0"/>
              <a:t>Document Title </a:t>
            </a:r>
          </a:p>
        </p:txBody>
      </p:sp>
      <p:sp>
        <p:nvSpPr>
          <p:cNvPr id="3" name="Subtitle 2"/>
          <p:cNvSpPr>
            <a:spLocks noGrp="1"/>
          </p:cNvSpPr>
          <p:nvPr>
            <p:ph type="subTitle" idx="1" hasCustomPrompt="1"/>
          </p:nvPr>
        </p:nvSpPr>
        <p:spPr>
          <a:xfrm>
            <a:off x="1072441" y="2154238"/>
            <a:ext cx="4086583" cy="512762"/>
          </a:xfrm>
        </p:spPr>
        <p:txBody>
          <a:bodyPr>
            <a:normAutofit/>
          </a:bodyPr>
          <a:lstStyle>
            <a:lvl1pPr marL="0" indent="0" algn="l">
              <a:buNone/>
              <a:defRPr sz="1200" baseline="0">
                <a:solidFill>
                  <a:srgbClr val="00B2A9"/>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Detail text </a:t>
            </a:r>
          </a:p>
        </p:txBody>
      </p:sp>
      <p:pic>
        <p:nvPicPr>
          <p:cNvPr id="6" name="Imag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9028" y="416409"/>
            <a:ext cx="1906369" cy="521437"/>
          </a:xfrm>
          <a:prstGeom prst="rect">
            <a:avLst/>
          </a:prstGeom>
        </p:spPr>
      </p:pic>
    </p:spTree>
    <p:extLst>
      <p:ext uri="{BB962C8B-B14F-4D97-AF65-F5344CB8AC3E}">
        <p14:creationId xmlns:p14="http://schemas.microsoft.com/office/powerpoint/2010/main" val="2878081118"/>
      </p:ext>
    </p:extLst>
  </p:cSld>
  <p:clrMapOvr>
    <a:masterClrMapping/>
  </p:clrMapOvr>
  <p:extLst>
    <p:ext uri="{DCECCB84-F9BA-43D5-87BE-67443E8EF086}">
      <p15:sldGuideLst xmlns:p15="http://schemas.microsoft.com/office/powerpoint/2012/main">
        <p15:guide id="1" orient="horz" pos="2160">
          <p15:clr>
            <a:srgbClr val="FBAE40"/>
          </p15:clr>
        </p15:guide>
        <p15:guide id="2" pos="56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2777" y="213257"/>
            <a:ext cx="11470448" cy="514878"/>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52777" y="1551781"/>
            <a:ext cx="11470449" cy="4351338"/>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7"/>
          <p:cNvSpPr>
            <a:spLocks noGrp="1"/>
          </p:cNvSpPr>
          <p:nvPr>
            <p:ph sz="quarter" idx="13" hasCustomPrompt="1"/>
          </p:nvPr>
        </p:nvSpPr>
        <p:spPr>
          <a:xfrm>
            <a:off x="353484" y="795338"/>
            <a:ext cx="11469741"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sp>
        <p:nvSpPr>
          <p:cNvPr id="4" name="Espace réservé de la date 3">
            <a:extLst>
              <a:ext uri="{FF2B5EF4-FFF2-40B4-BE49-F238E27FC236}">
                <a16:creationId xmlns:a16="http://schemas.microsoft.com/office/drawing/2014/main" id="{9C596FEE-E3A3-4BDA-B704-B1A8C6A1B224}"/>
              </a:ext>
            </a:extLst>
          </p:cNvPr>
          <p:cNvSpPr>
            <a:spLocks noGrp="1"/>
          </p:cNvSpPr>
          <p:nvPr>
            <p:ph type="dt" sz="half" idx="14"/>
          </p:nvPr>
        </p:nvSpPr>
        <p:spPr/>
        <p:txBody>
          <a:bodyPr/>
          <a:lstStyle/>
          <a:p>
            <a:fld id="{31B79F4C-360F-4F14-A821-570B3FE8A958}" type="datetime1">
              <a:rPr lang="en-GB" smtClean="0"/>
              <a:t>12/10/2020</a:t>
            </a:fld>
            <a:endParaRPr lang="en-GB" dirty="0"/>
          </a:p>
        </p:txBody>
      </p:sp>
      <p:sp>
        <p:nvSpPr>
          <p:cNvPr id="5" name="Espace réservé du pied de page 4">
            <a:extLst>
              <a:ext uri="{FF2B5EF4-FFF2-40B4-BE49-F238E27FC236}">
                <a16:creationId xmlns:a16="http://schemas.microsoft.com/office/drawing/2014/main" id="{F6503580-DAFF-48D8-A7DB-D85C6E40AA51}"/>
              </a:ext>
            </a:extLst>
          </p:cNvPr>
          <p:cNvSpPr>
            <a:spLocks noGrp="1"/>
          </p:cNvSpPr>
          <p:nvPr>
            <p:ph type="ftr" sz="quarter" idx="15"/>
          </p:nvPr>
        </p:nvSpPr>
        <p:spPr/>
        <p:txBody>
          <a:bodyPr/>
          <a:lstStyle/>
          <a:p>
            <a:endParaRPr lang="en-GB" dirty="0"/>
          </a:p>
        </p:txBody>
      </p:sp>
      <p:sp>
        <p:nvSpPr>
          <p:cNvPr id="6" name="Espace réservé du numéro de diapositive 5">
            <a:extLst>
              <a:ext uri="{FF2B5EF4-FFF2-40B4-BE49-F238E27FC236}">
                <a16:creationId xmlns:a16="http://schemas.microsoft.com/office/drawing/2014/main" id="{BCB92BCC-AA76-4B42-8398-E8AD76066926}"/>
              </a:ext>
            </a:extLst>
          </p:cNvPr>
          <p:cNvSpPr>
            <a:spLocks noGrp="1"/>
          </p:cNvSpPr>
          <p:nvPr>
            <p:ph type="sldNum" sz="quarter" idx="16"/>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11645700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6000" y="1724021"/>
            <a:ext cx="5257800" cy="4329646"/>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sp>
        <p:nvSpPr>
          <p:cNvPr id="5" name="Espace réservé de la date 4">
            <a:extLst>
              <a:ext uri="{FF2B5EF4-FFF2-40B4-BE49-F238E27FC236}">
                <a16:creationId xmlns:a16="http://schemas.microsoft.com/office/drawing/2014/main" id="{A12E9C0A-0392-47A1-8CEB-74DA3E83914C}"/>
              </a:ext>
            </a:extLst>
          </p:cNvPr>
          <p:cNvSpPr>
            <a:spLocks noGrp="1"/>
          </p:cNvSpPr>
          <p:nvPr>
            <p:ph type="dt" sz="half" idx="14"/>
          </p:nvPr>
        </p:nvSpPr>
        <p:spPr/>
        <p:txBody>
          <a:bodyPr/>
          <a:lstStyle/>
          <a:p>
            <a:fld id="{CB7E4126-567D-4F6C-8EEB-5509B0690579}" type="datetime1">
              <a:rPr lang="en-GB" smtClean="0"/>
              <a:t>12/10/2020</a:t>
            </a:fld>
            <a:endParaRPr lang="en-GB" dirty="0"/>
          </a:p>
        </p:txBody>
      </p:sp>
      <p:sp>
        <p:nvSpPr>
          <p:cNvPr id="6" name="Espace réservé du pied de page 5">
            <a:extLst>
              <a:ext uri="{FF2B5EF4-FFF2-40B4-BE49-F238E27FC236}">
                <a16:creationId xmlns:a16="http://schemas.microsoft.com/office/drawing/2014/main" id="{20D85B9E-C371-47BB-9E90-27EBE2614ABC}"/>
              </a:ext>
            </a:extLst>
          </p:cNvPr>
          <p:cNvSpPr>
            <a:spLocks noGrp="1"/>
          </p:cNvSpPr>
          <p:nvPr>
            <p:ph type="ftr" sz="quarter" idx="15"/>
          </p:nvPr>
        </p:nvSpPr>
        <p:spPr/>
        <p:txBody>
          <a:bodyPr/>
          <a:lstStyle/>
          <a:p>
            <a:endParaRPr lang="en-GB" dirty="0"/>
          </a:p>
        </p:txBody>
      </p:sp>
      <p:sp>
        <p:nvSpPr>
          <p:cNvPr id="7" name="Espace réservé du numéro de diapositive 6">
            <a:extLst>
              <a:ext uri="{FF2B5EF4-FFF2-40B4-BE49-F238E27FC236}">
                <a16:creationId xmlns:a16="http://schemas.microsoft.com/office/drawing/2014/main" id="{E28BC995-FFF6-48BA-A844-3292562A6F06}"/>
              </a:ext>
            </a:extLst>
          </p:cNvPr>
          <p:cNvSpPr>
            <a:spLocks noGrp="1"/>
          </p:cNvSpPr>
          <p:nvPr>
            <p:ph type="sldNum" sz="quarter" idx="16"/>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33843650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sp>
        <p:nvSpPr>
          <p:cNvPr id="6" name="Chart Placeholder 5"/>
          <p:cNvSpPr>
            <a:spLocks noGrp="1"/>
          </p:cNvSpPr>
          <p:nvPr>
            <p:ph type="chart" sz="quarter" idx="14"/>
          </p:nvPr>
        </p:nvSpPr>
        <p:spPr>
          <a:xfrm>
            <a:off x="6172200" y="1732495"/>
            <a:ext cx="5181600" cy="4321172"/>
          </a:xfrm>
        </p:spPr>
        <p:txBody>
          <a:bodyPr>
            <a:normAutofit/>
          </a:bodyPr>
          <a:lstStyle>
            <a:lvl1pPr>
              <a:defRPr sz="2000"/>
            </a:lvl1pPr>
          </a:lstStyle>
          <a:p>
            <a:r>
              <a:rPr lang="en-US" dirty="0"/>
              <a:t>Click icon to add chart</a:t>
            </a:r>
            <a:endParaRPr lang="en-GB" dirty="0"/>
          </a:p>
        </p:txBody>
      </p:sp>
      <p:sp>
        <p:nvSpPr>
          <p:cNvPr id="4" name="Espace réservé de la date 3">
            <a:extLst>
              <a:ext uri="{FF2B5EF4-FFF2-40B4-BE49-F238E27FC236}">
                <a16:creationId xmlns:a16="http://schemas.microsoft.com/office/drawing/2014/main" id="{A9B12866-DC54-440D-9B75-99E6142C91FF}"/>
              </a:ext>
            </a:extLst>
          </p:cNvPr>
          <p:cNvSpPr>
            <a:spLocks noGrp="1"/>
          </p:cNvSpPr>
          <p:nvPr>
            <p:ph type="dt" sz="half" idx="15"/>
          </p:nvPr>
        </p:nvSpPr>
        <p:spPr/>
        <p:txBody>
          <a:bodyPr/>
          <a:lstStyle/>
          <a:p>
            <a:fld id="{F06F57CC-5B99-4BBC-9416-5B071FDBCAA6}" type="datetime1">
              <a:rPr lang="en-GB" smtClean="0"/>
              <a:t>12/10/2020</a:t>
            </a:fld>
            <a:endParaRPr lang="en-GB" dirty="0"/>
          </a:p>
        </p:txBody>
      </p:sp>
      <p:sp>
        <p:nvSpPr>
          <p:cNvPr id="5" name="Espace réservé du pied de page 4">
            <a:extLst>
              <a:ext uri="{FF2B5EF4-FFF2-40B4-BE49-F238E27FC236}">
                <a16:creationId xmlns:a16="http://schemas.microsoft.com/office/drawing/2014/main" id="{101F18BA-A21B-42DE-9837-4B5C35CF9212}"/>
              </a:ext>
            </a:extLst>
          </p:cNvPr>
          <p:cNvSpPr>
            <a:spLocks noGrp="1"/>
          </p:cNvSpPr>
          <p:nvPr>
            <p:ph type="ftr" sz="quarter" idx="16"/>
          </p:nvPr>
        </p:nvSpPr>
        <p:spPr/>
        <p:txBody>
          <a:bodyPr/>
          <a:lstStyle/>
          <a:p>
            <a:endParaRPr lang="en-GB" dirty="0"/>
          </a:p>
        </p:txBody>
      </p:sp>
      <p:sp>
        <p:nvSpPr>
          <p:cNvPr id="7" name="Espace réservé du numéro de diapositive 6">
            <a:extLst>
              <a:ext uri="{FF2B5EF4-FFF2-40B4-BE49-F238E27FC236}">
                <a16:creationId xmlns:a16="http://schemas.microsoft.com/office/drawing/2014/main" id="{5644F815-F496-40E3-A067-9BF8162109D5}"/>
              </a:ext>
            </a:extLst>
          </p:cNvPr>
          <p:cNvSpPr>
            <a:spLocks noGrp="1"/>
          </p:cNvSpPr>
          <p:nvPr>
            <p:ph type="sldNum" sz="quarter" idx="17"/>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283950538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_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sp>
        <p:nvSpPr>
          <p:cNvPr id="6" name="Chart Placeholder 5"/>
          <p:cNvSpPr>
            <a:spLocks noGrp="1"/>
          </p:cNvSpPr>
          <p:nvPr>
            <p:ph type="chart" sz="quarter" idx="14"/>
          </p:nvPr>
        </p:nvSpPr>
        <p:spPr>
          <a:xfrm>
            <a:off x="6172200" y="1732495"/>
            <a:ext cx="5181600" cy="4321172"/>
          </a:xfrm>
        </p:spPr>
        <p:txBody>
          <a:bodyPr>
            <a:normAutofit/>
          </a:bodyPr>
          <a:lstStyle>
            <a:lvl1pPr>
              <a:defRPr sz="2000"/>
            </a:lvl1pPr>
          </a:lstStyle>
          <a:p>
            <a:r>
              <a:rPr lang="en-US" dirty="0"/>
              <a:t>Click icon to add chart</a:t>
            </a:r>
            <a:endParaRPr lang="en-GB" dirty="0"/>
          </a:p>
        </p:txBody>
      </p:sp>
      <p:sp>
        <p:nvSpPr>
          <p:cNvPr id="4" name="Espace réservé de la date 3">
            <a:extLst>
              <a:ext uri="{FF2B5EF4-FFF2-40B4-BE49-F238E27FC236}">
                <a16:creationId xmlns:a16="http://schemas.microsoft.com/office/drawing/2014/main" id="{7C656AF3-5BC4-46C4-9349-810F16323A82}"/>
              </a:ext>
            </a:extLst>
          </p:cNvPr>
          <p:cNvSpPr>
            <a:spLocks noGrp="1"/>
          </p:cNvSpPr>
          <p:nvPr>
            <p:ph type="dt" sz="half" idx="15"/>
          </p:nvPr>
        </p:nvSpPr>
        <p:spPr/>
        <p:txBody>
          <a:bodyPr/>
          <a:lstStyle/>
          <a:p>
            <a:fld id="{57300658-E096-4970-AAD5-6D806D7D3C59}" type="datetime1">
              <a:rPr lang="en-GB" smtClean="0"/>
              <a:t>12/10/2020</a:t>
            </a:fld>
            <a:endParaRPr lang="en-GB" dirty="0"/>
          </a:p>
        </p:txBody>
      </p:sp>
      <p:sp>
        <p:nvSpPr>
          <p:cNvPr id="5" name="Espace réservé du pied de page 4">
            <a:extLst>
              <a:ext uri="{FF2B5EF4-FFF2-40B4-BE49-F238E27FC236}">
                <a16:creationId xmlns:a16="http://schemas.microsoft.com/office/drawing/2014/main" id="{C3BCEF34-9FE2-449E-A4F1-2ECC10A83ACB}"/>
              </a:ext>
            </a:extLst>
          </p:cNvPr>
          <p:cNvSpPr>
            <a:spLocks noGrp="1"/>
          </p:cNvSpPr>
          <p:nvPr>
            <p:ph type="ftr" sz="quarter" idx="16"/>
          </p:nvPr>
        </p:nvSpPr>
        <p:spPr/>
        <p:txBody>
          <a:bodyPr/>
          <a:lstStyle/>
          <a:p>
            <a:endParaRPr lang="en-GB" dirty="0"/>
          </a:p>
        </p:txBody>
      </p:sp>
      <p:sp>
        <p:nvSpPr>
          <p:cNvPr id="7" name="Espace réservé du numéro de diapositive 6">
            <a:extLst>
              <a:ext uri="{FF2B5EF4-FFF2-40B4-BE49-F238E27FC236}">
                <a16:creationId xmlns:a16="http://schemas.microsoft.com/office/drawing/2014/main" id="{2E634F8E-3EA9-480F-A5D8-57B0B4A2F522}"/>
              </a:ext>
            </a:extLst>
          </p:cNvPr>
          <p:cNvSpPr>
            <a:spLocks noGrp="1"/>
          </p:cNvSpPr>
          <p:nvPr>
            <p:ph type="sldNum" sz="quarter" idx="17"/>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206291528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Two Content">
    <p:bg>
      <p:bgRef idx="1001">
        <a:schemeClr val="bg1"/>
      </p:bgRef>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50663" y="6316134"/>
            <a:ext cx="11559116" cy="406400"/>
          </a:xfrm>
        </p:spPr>
        <p:txBody>
          <a:bodyPr>
            <a:normAutofit/>
          </a:bodyPr>
          <a:lstStyle>
            <a:lvl1pPr marL="0" indent="0">
              <a:buNone/>
              <a:defRPr sz="600">
                <a:solidFill>
                  <a:srgbClr val="575756"/>
                </a:solidFill>
              </a:defRPr>
            </a:lvl1pPr>
          </a:lstStyle>
          <a:p>
            <a:pPr lvl="0"/>
            <a:endParaRPr lang="en-GB" dirty="0"/>
          </a:p>
        </p:txBody>
      </p:sp>
      <p:pic>
        <p:nvPicPr>
          <p:cNvPr id="5" name="Imag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9028" y="416409"/>
            <a:ext cx="1906369" cy="521437"/>
          </a:xfrm>
          <a:prstGeom prst="rect">
            <a:avLst/>
          </a:prstGeom>
        </p:spPr>
      </p:pic>
      <p:sp>
        <p:nvSpPr>
          <p:cNvPr id="2" name="Espace réservé de la date 1">
            <a:extLst>
              <a:ext uri="{FF2B5EF4-FFF2-40B4-BE49-F238E27FC236}">
                <a16:creationId xmlns:a16="http://schemas.microsoft.com/office/drawing/2014/main" id="{E6B9E0C8-3D9E-4B8E-8FF4-4293FDBEC720}"/>
              </a:ext>
            </a:extLst>
          </p:cNvPr>
          <p:cNvSpPr>
            <a:spLocks noGrp="1"/>
          </p:cNvSpPr>
          <p:nvPr>
            <p:ph type="dt" sz="half" idx="11"/>
          </p:nvPr>
        </p:nvSpPr>
        <p:spPr/>
        <p:txBody>
          <a:bodyPr/>
          <a:lstStyle/>
          <a:p>
            <a:fld id="{388969D4-C7E6-43D2-A384-043076194867}" type="datetime1">
              <a:rPr lang="en-GB" smtClean="0"/>
              <a:t>12/10/2020</a:t>
            </a:fld>
            <a:endParaRPr lang="en-GB" dirty="0"/>
          </a:p>
        </p:txBody>
      </p:sp>
      <p:sp>
        <p:nvSpPr>
          <p:cNvPr id="3" name="Espace réservé du pied de page 2">
            <a:extLst>
              <a:ext uri="{FF2B5EF4-FFF2-40B4-BE49-F238E27FC236}">
                <a16:creationId xmlns:a16="http://schemas.microsoft.com/office/drawing/2014/main" id="{CE079114-3983-4C2A-B1BA-C3BF8B22C4D7}"/>
              </a:ext>
            </a:extLst>
          </p:cNvPr>
          <p:cNvSpPr>
            <a:spLocks noGrp="1"/>
          </p:cNvSpPr>
          <p:nvPr>
            <p:ph type="ftr" sz="quarter" idx="12"/>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B245382-2655-4A91-9093-BA7FC43B1E84}"/>
              </a:ext>
            </a:extLst>
          </p:cNvPr>
          <p:cNvSpPr>
            <a:spLocks noGrp="1"/>
          </p:cNvSpPr>
          <p:nvPr>
            <p:ph type="sldNum" sz="quarter" idx="13"/>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331009743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D5257"/>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50271" y="12700"/>
            <a:ext cx="10590836" cy="6858000"/>
          </a:xfrm>
          <a:prstGeom prst="rect">
            <a:avLst/>
          </a:prstGeom>
        </p:spPr>
      </p:pic>
      <p:sp>
        <p:nvSpPr>
          <p:cNvPr id="3" name="Text Placeholder 2"/>
          <p:cNvSpPr>
            <a:spLocks noGrp="1"/>
          </p:cNvSpPr>
          <p:nvPr>
            <p:ph type="body" sz="quarter" idx="10"/>
          </p:nvPr>
        </p:nvSpPr>
        <p:spPr>
          <a:xfrm>
            <a:off x="236362" y="1108605"/>
            <a:ext cx="6728883" cy="1092729"/>
          </a:xfrm>
        </p:spPr>
        <p:txBody>
          <a:bodyPr/>
          <a:lstStyle>
            <a:lvl1pPr marL="0" indent="0">
              <a:buNone/>
              <a:defRPr sz="2800"/>
            </a:lvl1pPr>
            <a:lvl2pPr marL="457200" indent="0">
              <a:buNone/>
              <a:defRPr/>
            </a:lvl2pPr>
          </a:lstStyle>
          <a:p>
            <a:pPr lvl="0"/>
            <a:r>
              <a:rPr lang="en-US" dirty="0"/>
              <a:t>Click to edit Master </a:t>
            </a:r>
          </a:p>
          <a:p>
            <a:pPr lvl="0"/>
            <a:r>
              <a:rPr lang="en-US" dirty="0"/>
              <a:t>text styles</a:t>
            </a:r>
          </a:p>
          <a:p>
            <a:pPr lvl="1"/>
            <a:endParaRPr lang="en-US" dirty="0"/>
          </a:p>
        </p:txBody>
      </p:sp>
      <p:sp>
        <p:nvSpPr>
          <p:cNvPr id="7" name="Text Placeholder 6"/>
          <p:cNvSpPr>
            <a:spLocks noGrp="1"/>
          </p:cNvSpPr>
          <p:nvPr>
            <p:ph type="body" sz="quarter" idx="11"/>
          </p:nvPr>
        </p:nvSpPr>
        <p:spPr>
          <a:xfrm>
            <a:off x="236363" y="2425700"/>
            <a:ext cx="5746749" cy="685800"/>
          </a:xfrm>
        </p:spPr>
        <p:txBody>
          <a:bodyPr>
            <a:normAutofit/>
          </a:bodyPr>
          <a:lstStyle>
            <a:lvl1pPr marL="0" indent="0">
              <a:buNone/>
              <a:defRPr sz="2000"/>
            </a:lvl1pPr>
          </a:lstStyle>
          <a:p>
            <a:pPr lvl="0"/>
            <a:r>
              <a:rPr lang="en-US" dirty="0"/>
              <a:t>Click to edit Master text styles</a:t>
            </a:r>
          </a:p>
        </p:txBody>
      </p:sp>
    </p:spTree>
    <p:extLst>
      <p:ext uri="{BB962C8B-B14F-4D97-AF65-F5344CB8AC3E}">
        <p14:creationId xmlns:p14="http://schemas.microsoft.com/office/powerpoint/2010/main" val="320711768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87C7DA-B9FB-43F0-BC0A-695A2E33236C}" type="datetime1">
              <a:rPr lang="en-GB" smtClean="0"/>
              <a:t>12/10/2020</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13476406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003330-0832-4950-9EA5-CEED4A7F59D7}" type="datetime1">
              <a:rPr lang="en-GB" smtClean="0"/>
              <a:t>12/10/2020</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29102972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69835C-ABFB-40AE-AB56-B154A03DF4AA}" type="datetime1">
              <a:rPr lang="en-GB" smtClean="0"/>
              <a:t>12/10/2020</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7536297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F599AF-A6DB-4AF3-8730-A14B91FECBA9}" type="datetime1">
              <a:rPr lang="en-GB" smtClean="0"/>
              <a:t>12/10/2020</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881AD53-1CB2-4337-8CF8-816887FB0A3E}" type="slidenum">
              <a:rPr lang="en-GB" smtClean="0"/>
              <a:t>‹N°›</a:t>
            </a:fld>
            <a:endParaRPr lang="en-GB" dirty="0"/>
          </a:p>
        </p:txBody>
      </p:sp>
    </p:spTree>
    <p:extLst>
      <p:ext uri="{BB962C8B-B14F-4D97-AF65-F5344CB8AC3E}">
        <p14:creationId xmlns:p14="http://schemas.microsoft.com/office/powerpoint/2010/main" val="29422081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2777" y="213257"/>
            <a:ext cx="11470448" cy="514878"/>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352777" y="1551781"/>
            <a:ext cx="11470449" cy="4351338"/>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Content Placeholder 7"/>
          <p:cNvSpPr>
            <a:spLocks noGrp="1"/>
          </p:cNvSpPr>
          <p:nvPr>
            <p:ph sz="quarter" idx="13" hasCustomPrompt="1"/>
          </p:nvPr>
        </p:nvSpPr>
        <p:spPr>
          <a:xfrm>
            <a:off x="353484" y="795338"/>
            <a:ext cx="11469741"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7734" y="6176963"/>
            <a:ext cx="1595493" cy="360000"/>
          </a:xfrm>
          <a:prstGeom prst="rect">
            <a:avLst/>
          </a:prstGeom>
        </p:spPr>
      </p:pic>
    </p:spTree>
    <p:extLst>
      <p:ext uri="{BB962C8B-B14F-4D97-AF65-F5344CB8AC3E}">
        <p14:creationId xmlns:p14="http://schemas.microsoft.com/office/powerpoint/2010/main" val="21283883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096000" y="1724021"/>
            <a:ext cx="5257800" cy="4329646"/>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7734" y="6176963"/>
            <a:ext cx="1595493" cy="360000"/>
          </a:xfrm>
          <a:prstGeom prst="rect">
            <a:avLst/>
          </a:prstGeom>
        </p:spPr>
      </p:pic>
    </p:spTree>
    <p:extLst>
      <p:ext uri="{BB962C8B-B14F-4D97-AF65-F5344CB8AC3E}">
        <p14:creationId xmlns:p14="http://schemas.microsoft.com/office/powerpoint/2010/main" val="479784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41488" y="221197"/>
            <a:ext cx="11012312" cy="498469"/>
          </a:xfrm>
        </p:spPr>
        <p:txBody>
          <a:bodyPr>
            <a:normAutofit/>
          </a:bodyPr>
          <a:lstStyle>
            <a:lvl1pPr>
              <a:defRPr sz="2200">
                <a:solidFill>
                  <a:srgbClr val="00B2A9"/>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sz="half" idx="1"/>
          </p:nvPr>
        </p:nvSpPr>
        <p:spPr>
          <a:xfrm>
            <a:off x="341488" y="1732495"/>
            <a:ext cx="5181600" cy="4321172"/>
          </a:xfrm>
        </p:spPr>
        <p:txBody>
          <a:bodyPr/>
          <a:lstStyle>
            <a:lvl1pPr>
              <a:defRPr sz="2000">
                <a:solidFill>
                  <a:srgbClr val="00B2A9"/>
                </a:solidFill>
                <a:latin typeface="Tahoma" panose="020B0604030504040204" pitchFamily="34" charset="0"/>
                <a:ea typeface="Tahoma" panose="020B0604030504040204" pitchFamily="34" charset="0"/>
                <a:cs typeface="Tahoma" panose="020B0604030504040204" pitchFamily="34" charset="0"/>
              </a:defRPr>
            </a:lvl1pPr>
            <a:lvl2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2pPr>
            <a:lvl3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3pPr>
            <a:lvl4pPr>
              <a:defRPr sz="1800">
                <a:solidFill>
                  <a:srgbClr val="575756"/>
                </a:solidFill>
                <a:latin typeface="Tahoma" panose="020B0604030504040204" pitchFamily="34" charset="0"/>
                <a:ea typeface="Tahoma" panose="020B0604030504040204" pitchFamily="34" charset="0"/>
                <a:cs typeface="Tahoma" panose="020B0604030504040204" pitchFamily="34" charset="0"/>
              </a:defRPr>
            </a:lvl4pPr>
            <a:lvl5pPr>
              <a:defRPr>
                <a:solidFill>
                  <a:srgbClr val="575756"/>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hasCustomPrompt="1"/>
          </p:nvPr>
        </p:nvSpPr>
        <p:spPr>
          <a:xfrm>
            <a:off x="353485" y="795338"/>
            <a:ext cx="11000316" cy="482600"/>
          </a:xfrm>
        </p:spPr>
        <p:txBody>
          <a:bodyPr>
            <a:normAutofit/>
          </a:bodyPr>
          <a:lstStyle>
            <a:lvl1pPr marL="0" indent="0">
              <a:buNone/>
              <a:defRPr sz="2200" b="0">
                <a:solidFill>
                  <a:srgbClr val="0D5257"/>
                </a:solidFill>
                <a:latin typeface="Tahoma" panose="020B0604030504040204" pitchFamily="34" charset="0"/>
                <a:ea typeface="Tahoma" panose="020B0604030504040204" pitchFamily="34" charset="0"/>
                <a:cs typeface="Tahoma" panose="020B0604030504040204" pitchFamily="34" charset="0"/>
              </a:defRPr>
            </a:lvl1pPr>
          </a:lstStyle>
          <a:p>
            <a:pPr lvl="0"/>
            <a:r>
              <a:rPr lang="en-GB" dirty="0"/>
              <a:t>Subtitle </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7734" y="6176963"/>
            <a:ext cx="1595493" cy="360000"/>
          </a:xfrm>
          <a:prstGeom prst="rect">
            <a:avLst/>
          </a:prstGeom>
        </p:spPr>
      </p:pic>
      <p:sp>
        <p:nvSpPr>
          <p:cNvPr id="6" name="Chart Placeholder 5"/>
          <p:cNvSpPr>
            <a:spLocks noGrp="1"/>
          </p:cNvSpPr>
          <p:nvPr>
            <p:ph type="chart" sz="quarter" idx="14"/>
          </p:nvPr>
        </p:nvSpPr>
        <p:spPr>
          <a:xfrm>
            <a:off x="6172200" y="1732495"/>
            <a:ext cx="5181600" cy="4321172"/>
          </a:xfrm>
        </p:spPr>
        <p:txBody>
          <a:bodyPr/>
          <a:lstStyle/>
          <a:p>
            <a:endParaRPr lang="en-GB" dirty="0"/>
          </a:p>
        </p:txBody>
      </p:sp>
    </p:spTree>
    <p:extLst>
      <p:ext uri="{BB962C8B-B14F-4D97-AF65-F5344CB8AC3E}">
        <p14:creationId xmlns:p14="http://schemas.microsoft.com/office/powerpoint/2010/main" val="18967145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26885D9F-DC6E-4D58-988B-92D3F08E43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76895" y="2294905"/>
            <a:ext cx="3782872" cy="1034705"/>
          </a:xfrm>
          <a:prstGeom prst="rect">
            <a:avLst/>
          </a:prstGeom>
        </p:spPr>
      </p:pic>
      <p:pic>
        <p:nvPicPr>
          <p:cNvPr id="3" name="Picture 2">
            <a:extLst>
              <a:ext uri="{FF2B5EF4-FFF2-40B4-BE49-F238E27FC236}">
                <a16:creationId xmlns:a16="http://schemas.microsoft.com/office/drawing/2014/main" id="{A96C62A9-1C3D-40CE-88BA-3AF08C1EE96B}"/>
              </a:ext>
            </a:extLst>
          </p:cNvPr>
          <p:cNvPicPr>
            <a:picLocks noChangeAspect="1" noChangeArrowheads="1"/>
          </p:cNvPicPr>
          <p:nvPr userDrawn="1"/>
        </p:nvPicPr>
        <p:blipFill>
          <a:blip r:link="rId3">
            <a:extLst>
              <a:ext uri="{28A0092B-C50C-407E-A947-70E740481C1C}">
                <a14:useLocalDpi xmlns:a14="http://schemas.microsoft.com/office/drawing/2010/main" val="0"/>
              </a:ext>
            </a:extLst>
          </a:blip>
          <a:srcRect/>
          <a:stretch>
            <a:fillRect/>
          </a:stretch>
        </p:blipFill>
        <p:spPr bwMode="auto">
          <a:xfrm>
            <a:off x="6286143" y="2294904"/>
            <a:ext cx="4628963" cy="113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4" name="Picture 2">
            <a:extLst>
              <a:ext uri="{FF2B5EF4-FFF2-40B4-BE49-F238E27FC236}">
                <a16:creationId xmlns:a16="http://schemas.microsoft.com/office/drawing/2014/main" id="{62A5C8D8-C186-4934-8604-BEE7AF11C4C4}"/>
              </a:ext>
            </a:extLst>
          </p:cNvPr>
          <p:cNvPicPr>
            <a:picLocks noChangeAspect="1" noChangeArrowheads="1"/>
          </p:cNvPicPr>
          <p:nvPr userDrawn="1"/>
        </p:nvPicPr>
        <p:blipFill>
          <a:blip r:link="rId4">
            <a:extLst>
              <a:ext uri="{28A0092B-C50C-407E-A947-70E740481C1C}">
                <a14:useLocalDpi xmlns:a14="http://schemas.microsoft.com/office/drawing/2010/main" val="0"/>
              </a:ext>
            </a:extLst>
          </a:blip>
          <a:srcRect/>
          <a:stretch>
            <a:fillRect/>
          </a:stretch>
        </p:blipFill>
        <p:spPr bwMode="auto">
          <a:xfrm>
            <a:off x="4733666" y="4467433"/>
            <a:ext cx="2724669" cy="91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47949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Main Slide">
    <p:spTree>
      <p:nvGrpSpPr>
        <p:cNvPr id="1" name=""/>
        <p:cNvGrpSpPr/>
        <p:nvPr/>
      </p:nvGrpSpPr>
      <p:grpSpPr>
        <a:xfrm>
          <a:off x="0" y="0"/>
          <a:ext cx="0" cy="0"/>
          <a:chOff x="0" y="0"/>
          <a:chExt cx="0" cy="0"/>
        </a:xfrm>
      </p:grpSpPr>
      <p:sp>
        <p:nvSpPr>
          <p:cNvPr id="16" name="Slide Number"/>
          <p:cNvSpPr txBox="1">
            <a:spLocks noGrp="1"/>
          </p:cNvSpPr>
          <p:nvPr>
            <p:ph type="sldNum" sz="quarter" idx="2"/>
          </p:nvPr>
        </p:nvSpPr>
        <p:spPr>
          <a:xfrm>
            <a:off x="11096625" y="6351290"/>
            <a:ext cx="329175" cy="177801"/>
          </a:xfrm>
          <a:prstGeom prst="rect">
            <a:avLst/>
          </a:prstGeom>
        </p:spPr>
        <p:txBody>
          <a:bodyPr lIns="0" tIns="0" rIns="0" bIns="0"/>
          <a:lstStyle>
            <a:lvl1pPr algn="r">
              <a:defRPr sz="1100">
                <a:solidFill>
                  <a:srgbClr val="2C2E3C"/>
                </a:solidFill>
                <a:latin typeface="Quicksand Bold"/>
                <a:ea typeface="Quicksand Bold"/>
                <a:cs typeface="Quicksand Bold"/>
                <a:sym typeface="Quicksand Bold"/>
              </a:defRPr>
            </a:lvl1pPr>
          </a:lstStyle>
          <a:p>
            <a:fld id="{86CB4B4D-7CA3-9044-876B-883B54F8677D}" type="slidenum">
              <a:t>‹N°›</a:t>
            </a:fld>
            <a:endParaRPr dirty="0"/>
          </a:p>
        </p:txBody>
      </p:sp>
    </p:spTree>
    <p:extLst>
      <p:ext uri="{BB962C8B-B14F-4D97-AF65-F5344CB8AC3E}">
        <p14:creationId xmlns:p14="http://schemas.microsoft.com/office/powerpoint/2010/main" val="269153440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BA2064D-F3C3-4247-BB0E-3A8B9A2204D7}"/>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9" name="think-cell Slide" r:id="rId5" imgW="383" imgH="384" progId="TCLayout.ActiveDocument.1">
                  <p:embed/>
                </p:oleObj>
              </mc:Choice>
              <mc:Fallback>
                <p:oleObj name="think-cell Slide" r:id="rId5" imgW="383" imgH="384" progId="TCLayout.ActiveDocument.1">
                  <p:embed/>
                  <p:pic>
                    <p:nvPicPr>
                      <p:cNvPr id="8" name="Object 7" hidden="1">
                        <a:extLst>
                          <a:ext uri="{FF2B5EF4-FFF2-40B4-BE49-F238E27FC236}">
                            <a16:creationId xmlns:a16="http://schemas.microsoft.com/office/drawing/2014/main" id="{DBA2064D-F3C3-4247-BB0E-3A8B9A2204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F16F16FD-2C53-403B-BF33-81984B8570A7}"/>
              </a:ext>
            </a:extLst>
          </p:cNvPr>
          <p:cNvSpPr/>
          <p:nvPr userDrawn="1">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endParaRPr lang="en-US" sz="3600" b="1" i="0" baseline="0" dirty="0">
              <a:latin typeface="Calibri" panose="020F0502020204030204" pitchFamily="34" charset="0"/>
              <a:ea typeface="+mj-ea"/>
              <a:cs typeface="+mj-cs"/>
              <a:sym typeface="Calibri" panose="020F0502020204030204" pitchFamily="34" charset="0"/>
            </a:endParaRPr>
          </a:p>
        </p:txBody>
      </p:sp>
      <p:sp>
        <p:nvSpPr>
          <p:cNvPr id="2" name="Title 1">
            <a:extLst>
              <a:ext uri="{FF2B5EF4-FFF2-40B4-BE49-F238E27FC236}">
                <a16:creationId xmlns:a16="http://schemas.microsoft.com/office/drawing/2014/main" id="{7634B0F8-76FB-42F2-8E67-4517D27F0A9D}"/>
              </a:ext>
            </a:extLst>
          </p:cNvPr>
          <p:cNvSpPr>
            <a:spLocks noGrp="1"/>
          </p:cNvSpPr>
          <p:nvPr>
            <p:ph type="title"/>
          </p:nvPr>
        </p:nvSpPr>
        <p:spPr>
          <a:xfrm>
            <a:off x="609600" y="365126"/>
            <a:ext cx="10972800" cy="775612"/>
          </a:xfrm>
        </p:spPr>
        <p:txBody>
          <a:bodyPr lIns="0" tIns="0" rIns="0" bIns="0" anchor="ctr"/>
          <a:lstStyle/>
          <a:p>
            <a:r>
              <a:rPr lang="en-US"/>
              <a:t>Click to edit Master title style</a:t>
            </a:r>
          </a:p>
        </p:txBody>
      </p:sp>
      <p:sp>
        <p:nvSpPr>
          <p:cNvPr id="3" name="Content Placeholder 2">
            <a:extLst>
              <a:ext uri="{FF2B5EF4-FFF2-40B4-BE49-F238E27FC236}">
                <a16:creationId xmlns:a16="http://schemas.microsoft.com/office/drawing/2014/main" id="{9B9F3021-AB9D-4B2B-987A-B25B40257112}"/>
              </a:ext>
            </a:extLst>
          </p:cNvPr>
          <p:cNvSpPr>
            <a:spLocks noGrp="1"/>
          </p:cNvSpPr>
          <p:nvPr>
            <p:ph idx="1"/>
          </p:nvPr>
        </p:nvSpPr>
        <p:spPr>
          <a:xfrm>
            <a:off x="609600" y="1330859"/>
            <a:ext cx="10972800" cy="484610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a:extLst>
              <a:ext uri="{FF2B5EF4-FFF2-40B4-BE49-F238E27FC236}">
                <a16:creationId xmlns:a16="http://schemas.microsoft.com/office/drawing/2014/main" id="{BF14A7C7-1984-4854-9D29-7402A14F46DF}"/>
              </a:ext>
            </a:extLst>
          </p:cNvPr>
          <p:cNvSpPr>
            <a:spLocks noGrp="1"/>
          </p:cNvSpPr>
          <p:nvPr>
            <p:ph type="sldNum" sz="quarter" idx="4"/>
          </p:nvPr>
        </p:nvSpPr>
        <p:spPr>
          <a:xfrm>
            <a:off x="11492632" y="6400413"/>
            <a:ext cx="367408" cy="276999"/>
          </a:xfrm>
          <a:prstGeom prst="rect">
            <a:avLst/>
          </a:prstGeom>
        </p:spPr>
        <p:txBody>
          <a:bodyPr wrap="none" anchor="ctr">
            <a:spAutoFit/>
          </a:bodyPr>
          <a:lstStyle>
            <a:lvl1pPr algn="ctr">
              <a:defRPr sz="1200"/>
            </a:lvl1pPr>
          </a:lstStyle>
          <a:p>
            <a:fld id="{B84D2E29-67F4-44D8-B0E3-F54815B4F123}" type="slidenum">
              <a:rPr lang="en-US" smtClean="0"/>
              <a:pPr/>
              <a:t>‹N°›</a:t>
            </a:fld>
            <a:endParaRPr lang="en-US" dirty="0"/>
          </a:p>
        </p:txBody>
      </p:sp>
    </p:spTree>
    <p:extLst>
      <p:ext uri="{BB962C8B-B14F-4D97-AF65-F5344CB8AC3E}">
        <p14:creationId xmlns:p14="http://schemas.microsoft.com/office/powerpoint/2010/main" val="26808960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87_Blank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9496825B-2CE5-4107-BA55-AA4EAB69987A}"/>
              </a:ext>
            </a:extLst>
          </p:cNvPr>
          <p:cNvSpPr>
            <a:spLocks noGrp="1"/>
          </p:cNvSpPr>
          <p:nvPr>
            <p:ph type="pic" sz="quarter" idx="11" hasCustomPrompt="1"/>
          </p:nvPr>
        </p:nvSpPr>
        <p:spPr>
          <a:xfrm>
            <a:off x="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ACB1BB"/>
          </a:solidFill>
        </p:spPr>
        <p:txBody>
          <a:bodyPr wrap="square" anchor="ctr">
            <a:noAutofit/>
          </a:bodyPr>
          <a:lstStyle>
            <a:lvl1pPr marL="0" indent="0" algn="ctr">
              <a:buNone/>
              <a:defRPr sz="1000" b="1">
                <a:solidFill>
                  <a:srgbClr val="FFFFFF"/>
                </a:solidFill>
              </a:defRPr>
            </a:lvl1pPr>
          </a:lstStyle>
          <a:p>
            <a:r>
              <a:rPr lang="en-US" dirty="0"/>
              <a:t>IMAGE REPLACE</a:t>
            </a:r>
          </a:p>
        </p:txBody>
      </p:sp>
      <p:sp>
        <p:nvSpPr>
          <p:cNvPr id="3" name="Slide Number">
            <a:extLst>
              <a:ext uri="{FF2B5EF4-FFF2-40B4-BE49-F238E27FC236}">
                <a16:creationId xmlns:a16="http://schemas.microsoft.com/office/drawing/2014/main" id="{8605534B-544A-4501-89DA-6B96C76B7BC7}"/>
              </a:ext>
            </a:extLst>
          </p:cNvPr>
          <p:cNvSpPr txBox="1">
            <a:spLocks noGrp="1"/>
          </p:cNvSpPr>
          <p:nvPr>
            <p:ph type="sldNum" sz="quarter" idx="4"/>
          </p:nvPr>
        </p:nvSpPr>
        <p:spPr>
          <a:xfrm>
            <a:off x="11190159" y="6355552"/>
            <a:ext cx="235641" cy="169277"/>
          </a:xfrm>
          <a:prstGeom prst="rect">
            <a:avLst/>
          </a:prstGeom>
        </p:spPr>
        <p:txBody>
          <a:bodyPr lIns="0" tIns="0" rIns="0" bIns="0"/>
          <a:lstStyle>
            <a:lvl1pPr algn="r">
              <a:defRPr sz="1100">
                <a:solidFill>
                  <a:srgbClr val="2C2E3C"/>
                </a:solidFill>
                <a:latin typeface="Quicksand Bold"/>
                <a:ea typeface="Quicksand Bold"/>
                <a:cs typeface="Quicksand Bold"/>
                <a:sym typeface="Quicksand Bold"/>
              </a:defRPr>
            </a:lvl1pPr>
          </a:lstStyle>
          <a:p>
            <a:fld id="{86CB4B4D-7CA3-9044-876B-883B54F8677D}" type="slidenum">
              <a:t>‹N°›</a:t>
            </a:fld>
            <a:endParaRPr dirty="0"/>
          </a:p>
        </p:txBody>
      </p:sp>
    </p:spTree>
    <p:extLst>
      <p:ext uri="{BB962C8B-B14F-4D97-AF65-F5344CB8AC3E}">
        <p14:creationId xmlns:p14="http://schemas.microsoft.com/office/powerpoint/2010/main" val="122883535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81AD53-1CB2-4337-8CF8-816887FB0A3E}" type="slidenum">
              <a:rPr lang="en-GB" smtClean="0"/>
              <a:t>‹N°›</a:t>
            </a:fld>
            <a:endParaRPr lang="en-GB" dirty="0"/>
          </a:p>
        </p:txBody>
      </p:sp>
    </p:spTree>
    <p:extLst>
      <p:ext uri="{BB962C8B-B14F-4D97-AF65-F5344CB8AC3E}">
        <p14:creationId xmlns:p14="http://schemas.microsoft.com/office/powerpoint/2010/main" val="682243552"/>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5" r:id="rId12"/>
    <p:sldLayoutId id="2147483876" r:id="rId13"/>
    <p:sldLayoutId id="2147483877" r:id="rId14"/>
    <p:sldLayoutId id="2147483878" r:id="rId15"/>
    <p:sldLayoutId id="2147483879" r:id="rId16"/>
    <p:sldLayoutId id="2147483881" r:id="rId17"/>
    <p:sldLayoutId id="2147483883"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A40624-3D1A-495F-A5FD-0B9FF846AF51}" type="datetime1">
              <a:rPr lang="en-GB" smtClean="0"/>
              <a:t>12/10/2020</a:t>
            </a:fld>
            <a:endParaRPr lang="en-GB"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81AD53-1CB2-4337-8CF8-816887FB0A3E}" type="slidenum">
              <a:rPr lang="en-GB" smtClean="0"/>
              <a:t>‹N°›</a:t>
            </a:fld>
            <a:endParaRPr lang="en-GB" dirty="0"/>
          </a:p>
        </p:txBody>
      </p:sp>
    </p:spTree>
    <p:extLst>
      <p:ext uri="{BB962C8B-B14F-4D97-AF65-F5344CB8AC3E}">
        <p14:creationId xmlns:p14="http://schemas.microsoft.com/office/powerpoint/2010/main" val="3825518103"/>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99" r:id="rId15"/>
    <p:sldLayoutId id="2147483900" r:id="rId16"/>
    <p:sldLayoutId id="2147483901" r:id="rId17"/>
    <p:sldLayoutId id="2147483902" r:id="rId18"/>
    <p:sldLayoutId id="2147483903"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svg"/><Relationship Id="rId7" Type="http://schemas.openxmlformats.org/officeDocument/2006/relationships/image" Target="../media/image12.png"/><Relationship Id="rId12" Type="http://schemas.openxmlformats.org/officeDocument/2006/relationships/image" Target="../media/image17.svg"/><Relationship Id="rId17" Type="http://schemas.openxmlformats.org/officeDocument/2006/relationships/image" Target="../media/image22.png"/><Relationship Id="rId2" Type="http://schemas.openxmlformats.org/officeDocument/2006/relationships/image" Target="../media/image7.jpg"/><Relationship Id="rId16" Type="http://schemas.openxmlformats.org/officeDocument/2006/relationships/image" Target="../media/image21.svg"/><Relationship Id="rId20" Type="http://schemas.openxmlformats.org/officeDocument/2006/relationships/image" Target="../media/image25.png"/><Relationship Id="rId1" Type="http://schemas.openxmlformats.org/officeDocument/2006/relationships/slideLayout" Target="../slideLayouts/slideLayout17.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svg"/><Relationship Id="rId10" Type="http://schemas.openxmlformats.org/officeDocument/2006/relationships/image" Target="../media/image15.svg"/><Relationship Id="rId19" Type="http://schemas.openxmlformats.org/officeDocument/2006/relationships/image" Target="../media/image24.sv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 Id="rId22" Type="http://schemas.openxmlformats.org/officeDocument/2006/relationships/image" Target="../media/image27.png"/></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2.png"/><Relationship Id="rId7" Type="http://schemas.openxmlformats.org/officeDocument/2006/relationships/image" Target="../media/image32.svg"/><Relationship Id="rId2" Type="http://schemas.openxmlformats.org/officeDocument/2006/relationships/image" Target="../media/image7.jpg"/><Relationship Id="rId1" Type="http://schemas.openxmlformats.org/officeDocument/2006/relationships/slideLayout" Target="../slideLayouts/slideLayout17.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s>
</file>

<file path=ppt/slides/_rels/slide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2.png"/><Relationship Id="rId7" Type="http://schemas.openxmlformats.org/officeDocument/2006/relationships/image" Target="../media/image32.svg"/><Relationship Id="rId2" Type="http://schemas.openxmlformats.org/officeDocument/2006/relationships/image" Target="../media/image7.jpg"/><Relationship Id="rId1" Type="http://schemas.openxmlformats.org/officeDocument/2006/relationships/slideLayout" Target="../slideLayouts/slideLayout17.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2.png"/><Relationship Id="rId7" Type="http://schemas.openxmlformats.org/officeDocument/2006/relationships/image" Target="../media/image32.svg"/><Relationship Id="rId2" Type="http://schemas.openxmlformats.org/officeDocument/2006/relationships/image" Target="../media/image7.jpg"/><Relationship Id="rId1" Type="http://schemas.openxmlformats.org/officeDocument/2006/relationships/slideLayout" Target="../slideLayouts/slideLayout17.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2.png"/><Relationship Id="rId7" Type="http://schemas.openxmlformats.org/officeDocument/2006/relationships/image" Target="../media/image32.svg"/><Relationship Id="rId2" Type="http://schemas.openxmlformats.org/officeDocument/2006/relationships/image" Target="../media/image7.jpg"/><Relationship Id="rId1" Type="http://schemas.openxmlformats.org/officeDocument/2006/relationships/slideLayout" Target="../slideLayouts/slideLayout17.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2.png"/><Relationship Id="rId7" Type="http://schemas.openxmlformats.org/officeDocument/2006/relationships/image" Target="../media/image36.svg"/><Relationship Id="rId2" Type="http://schemas.openxmlformats.org/officeDocument/2006/relationships/image" Target="../media/image7.jpg"/><Relationship Id="rId1" Type="http://schemas.openxmlformats.org/officeDocument/2006/relationships/slideLayout" Target="../slideLayouts/slideLayout17.xml"/><Relationship Id="rId6" Type="http://schemas.openxmlformats.org/officeDocument/2006/relationships/image" Target="../media/image35.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2.png"/><Relationship Id="rId7" Type="http://schemas.openxmlformats.org/officeDocument/2006/relationships/image" Target="../media/image34.svg"/><Relationship Id="rId2" Type="http://schemas.openxmlformats.org/officeDocument/2006/relationships/image" Target="../media/image7.jpg"/><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6.svg"/></Relationships>
</file>

<file path=ppt/slides/_rels/slide1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35.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22.png"/><Relationship Id="rId1" Type="http://schemas.openxmlformats.org/officeDocument/2006/relationships/slideLayout" Target="../slideLayouts/slideLayout17.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2.png"/><Relationship Id="rId7" Type="http://schemas.openxmlformats.org/officeDocument/2006/relationships/image" Target="../media/image42.emf"/><Relationship Id="rId2" Type="http://schemas.openxmlformats.org/officeDocument/2006/relationships/image" Target="../media/image7.jpg"/><Relationship Id="rId1" Type="http://schemas.openxmlformats.org/officeDocument/2006/relationships/slideLayout" Target="../slideLayouts/slideLayout1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13.xml.rels><?xml version="1.0" encoding="UTF-8" standalone="yes"?>
<Relationships xmlns="http://schemas.openxmlformats.org/package/2006/relationships"><Relationship Id="rId8" Type="http://schemas.openxmlformats.org/officeDocument/2006/relationships/image" Target="../media/image47.jpg"/><Relationship Id="rId3" Type="http://schemas.openxmlformats.org/officeDocument/2006/relationships/hyperlink" Target="https://www.facebook.com/GroupeSefico" TargetMode="External"/><Relationship Id="rId7" Type="http://schemas.openxmlformats.org/officeDocument/2006/relationships/hyperlink" Target="https://twitter.com/groupesefico" TargetMode="External"/><Relationship Id="rId2" Type="http://schemas.openxmlformats.org/officeDocument/2006/relationships/image" Target="../media/image22.png"/><Relationship Id="rId1" Type="http://schemas.openxmlformats.org/officeDocument/2006/relationships/slideLayout" Target="../slideLayouts/slideLayout18.xml"/><Relationship Id="rId6" Type="http://schemas.openxmlformats.org/officeDocument/2006/relationships/image" Target="../media/image46.jpg"/><Relationship Id="rId5" Type="http://schemas.openxmlformats.org/officeDocument/2006/relationships/hyperlink" Target="https://fr.linkedin.com/company/groupe-sefico" TargetMode="External"/><Relationship Id="rId10" Type="http://schemas.openxmlformats.org/officeDocument/2006/relationships/image" Target="../media/image48.png"/><Relationship Id="rId4" Type="http://schemas.openxmlformats.org/officeDocument/2006/relationships/image" Target="../media/image45.jpg"/><Relationship Id="rId9"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C3895C6-E7B5-478D-AA62-350A8820F3B3}"/>
              </a:ext>
            </a:extLst>
          </p:cNvPr>
          <p:cNvSpPr>
            <a:spLocks noGrp="1"/>
          </p:cNvSpPr>
          <p:nvPr>
            <p:ph type="ctrTitle"/>
          </p:nvPr>
        </p:nvSpPr>
        <p:spPr>
          <a:xfrm>
            <a:off x="407368" y="3069166"/>
            <a:ext cx="5688632" cy="719667"/>
          </a:xfrm>
        </p:spPr>
        <p:txBody>
          <a:bodyPr>
            <a:normAutofit fontScale="90000"/>
          </a:bodyPr>
          <a:lstStyle/>
          <a:p>
            <a:br>
              <a:rPr lang="fr-FR" dirty="0"/>
            </a:br>
            <a:br>
              <a:rPr lang="fr-FR" dirty="0"/>
            </a:br>
            <a:r>
              <a:rPr lang="fr-FR" sz="4400" b="1" dirty="0"/>
              <a:t>Le Cabinet</a:t>
            </a:r>
            <a:endParaRPr lang="fr-FR" dirty="0">
              <a:solidFill>
                <a:srgbClr val="FF0000"/>
              </a:solidFill>
            </a:endParaRPr>
          </a:p>
        </p:txBody>
      </p:sp>
    </p:spTree>
    <p:extLst>
      <p:ext uri="{BB962C8B-B14F-4D97-AF65-F5344CB8AC3E}">
        <p14:creationId xmlns:p14="http://schemas.microsoft.com/office/powerpoint/2010/main" val="3592427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p:cNvSpPr/>
          <p:nvPr/>
        </p:nvSpPr>
        <p:spPr>
          <a:xfrm>
            <a:off x="45243" y="0"/>
            <a:ext cx="2599587" cy="6858001"/>
          </a:xfrm>
          <a:prstGeom prst="rect">
            <a:avLst/>
          </a:prstGeom>
          <a:solidFill>
            <a:srgbClr val="1C1F25"/>
          </a:solidFill>
          <a:ln w="12700">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pic>
        <p:nvPicPr>
          <p:cNvPr id="57" name="Image 56" descr="Une image contenant objet, corde, portant, regardant  Description générée automatiquement">
            <a:extLst>
              <a:ext uri="{FF2B5EF4-FFF2-40B4-BE49-F238E27FC236}">
                <a16:creationId xmlns:a16="http://schemas.microsoft.com/office/drawing/2014/main" id="{F4EAE2F9-C6CC-454F-B0C7-43B2859039E6}"/>
              </a:ext>
            </a:extLst>
          </p:cNvPr>
          <p:cNvPicPr>
            <a:picLocks noChangeAspect="1"/>
          </p:cNvPicPr>
          <p:nvPr/>
        </p:nvPicPr>
        <p:blipFill rotWithShape="1">
          <a:blip r:embed="rId2">
            <a:extLst>
              <a:ext uri="{28A0092B-C50C-407E-A947-70E740481C1C}">
                <a14:useLocalDpi xmlns:a14="http://schemas.microsoft.com/office/drawing/2010/main" val="0"/>
              </a:ext>
            </a:extLst>
          </a:blip>
          <a:srcRect l="25949" r="52508"/>
          <a:stretch/>
        </p:blipFill>
        <p:spPr>
          <a:xfrm>
            <a:off x="-135096" y="-2"/>
            <a:ext cx="2779926" cy="6858002"/>
          </a:xfrm>
          <a:prstGeom prst="rect">
            <a:avLst/>
          </a:prstGeom>
        </p:spPr>
      </p:pic>
      <p:sp>
        <p:nvSpPr>
          <p:cNvPr id="72" name="Titre 4">
            <a:extLst>
              <a:ext uri="{FF2B5EF4-FFF2-40B4-BE49-F238E27FC236}">
                <a16:creationId xmlns:a16="http://schemas.microsoft.com/office/drawing/2014/main" id="{A4B6BEAA-CAB8-4B17-985A-941716C1061E}"/>
              </a:ext>
            </a:extLst>
          </p:cNvPr>
          <p:cNvSpPr txBox="1">
            <a:spLocks/>
          </p:cNvSpPr>
          <p:nvPr/>
        </p:nvSpPr>
        <p:spPr>
          <a:xfrm>
            <a:off x="263352" y="254375"/>
            <a:ext cx="2771989" cy="1158401"/>
          </a:xfrm>
          <a:prstGeom prst="rect">
            <a:avLst/>
          </a:prstGeom>
        </p:spPr>
        <p:txBody>
          <a:bodyPr vert="horz" lIns="0" tIns="0" rIns="0" bIns="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5100" b="1" dirty="0"/>
              <a:t>Notre entreprise</a:t>
            </a:r>
          </a:p>
          <a:p>
            <a:endParaRPr lang="fr-FR" dirty="0">
              <a:solidFill>
                <a:srgbClr val="FF0000"/>
              </a:solidFill>
            </a:endParaRPr>
          </a:p>
        </p:txBody>
      </p:sp>
      <p:sp>
        <p:nvSpPr>
          <p:cNvPr id="79" name="ZoneTexte 78">
            <a:extLst>
              <a:ext uri="{FF2B5EF4-FFF2-40B4-BE49-F238E27FC236}">
                <a16:creationId xmlns:a16="http://schemas.microsoft.com/office/drawing/2014/main" id="{3A3C9468-0EC9-4E3B-ACFB-B4A3A0112A9E}"/>
              </a:ext>
            </a:extLst>
          </p:cNvPr>
          <p:cNvSpPr txBox="1"/>
          <p:nvPr/>
        </p:nvSpPr>
        <p:spPr>
          <a:xfrm>
            <a:off x="3215680" y="835002"/>
            <a:ext cx="8712968" cy="4499693"/>
          </a:xfrm>
          <a:prstGeom prst="rect">
            <a:avLst/>
          </a:prstGeom>
          <a:noFill/>
        </p:spPr>
        <p:txBody>
          <a:bodyPr wrap="square">
            <a:spAutoFit/>
          </a:bodyPr>
          <a:lstStyle/>
          <a:p>
            <a:pPr algn="just"/>
            <a:r>
              <a:rPr lang="fr-FR" sz="20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Sefico</a:t>
            </a:r>
            <a:r>
              <a:rPr lang="en-US" sz="2000" b="1" kern="0" dirty="0">
                <a:solidFill>
                  <a:srgbClr val="0D5257"/>
                </a:solidFill>
                <a:latin typeface="Tahoma" panose="020B0604030504040204" pitchFamily="34" charset="0"/>
                <a:ea typeface="Tahoma" panose="020B0604030504040204" pitchFamily="34" charset="0"/>
                <a:cs typeface="Tahoma" panose="020B0604030504040204" pitchFamily="34" charset="0"/>
              </a:rPr>
              <a:t> Nexia </a:t>
            </a:r>
            <a:r>
              <a:rPr lang="en-US" sz="20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est</a:t>
            </a:r>
            <a:r>
              <a:rPr lang="en-US" sz="20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20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une</a:t>
            </a:r>
            <a:r>
              <a:rPr lang="en-US" sz="20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2000" b="1" kern="0" dirty="0" err="1">
                <a:solidFill>
                  <a:srgbClr val="009999"/>
                </a:solidFill>
                <a:latin typeface="Tahoma" panose="020B0604030504040204" pitchFamily="34" charset="0"/>
                <a:ea typeface="Tahoma" panose="020B0604030504040204" pitchFamily="34" charset="0"/>
                <a:cs typeface="Tahoma" panose="020B0604030504040204" pitchFamily="34" charset="0"/>
              </a:rPr>
              <a:t>plateforme</a:t>
            </a:r>
            <a:r>
              <a:rPr lang="en-US" sz="2000" b="1" kern="0" dirty="0">
                <a:solidFill>
                  <a:srgbClr val="009999"/>
                </a:solidFill>
                <a:latin typeface="Tahoma" panose="020B0604030504040204" pitchFamily="34" charset="0"/>
                <a:ea typeface="Tahoma" panose="020B0604030504040204" pitchFamily="34" charset="0"/>
                <a:cs typeface="Tahoma" panose="020B0604030504040204" pitchFamily="34" charset="0"/>
              </a:rPr>
              <a:t> </a:t>
            </a:r>
            <a:r>
              <a:rPr lang="en-US" sz="2000" b="1" kern="0" dirty="0" err="1">
                <a:solidFill>
                  <a:srgbClr val="009999"/>
                </a:solidFill>
                <a:latin typeface="Tahoma" panose="020B0604030504040204" pitchFamily="34" charset="0"/>
                <a:ea typeface="Tahoma" panose="020B0604030504040204" pitchFamily="34" charset="0"/>
                <a:cs typeface="Tahoma" panose="020B0604030504040204" pitchFamily="34" charset="0"/>
              </a:rPr>
              <a:t>pluridisciplinaire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d’expertise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comptable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d’audit</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conseil</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fiscalité</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Depuis</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près</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de 60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ans</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mettons</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expérience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à la disposition de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clients,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tant</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au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niveau</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national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qu'international</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Chaque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mission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est</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soigneusement</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pilotée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par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l'un</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associés</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avec le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soutien</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d'une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d’experts</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capable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d'agir</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 </a:t>
            </a:r>
            <a:r>
              <a:rPr lang="en-US" sz="14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conseiller</a:t>
            </a:r>
            <a:r>
              <a:rPr lang="en-US" sz="1400" kern="0" dirty="0">
                <a:solidFill>
                  <a:srgbClr val="575756"/>
                </a:solidFill>
                <a:latin typeface="Tahoma" panose="020B0604030504040204" pitchFamily="34" charset="0"/>
                <a:ea typeface="Tahoma" panose="020B0604030504040204" pitchFamily="34" charset="0"/>
                <a:cs typeface="Tahoma" panose="020B0604030504040204" pitchFamily="34" charset="0"/>
              </a:rPr>
              <a:t> avec pertinence.</a:t>
            </a:r>
          </a:p>
          <a:p>
            <a:pPr>
              <a:lnSpc>
                <a:spcPct val="90000"/>
              </a:lnSpc>
              <a:spcBef>
                <a:spcPct val="0"/>
              </a:spcBef>
            </a:pPr>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nSpc>
                <a:spcPct val="90000"/>
              </a:lnSpc>
              <a:spcBef>
                <a:spcPct val="0"/>
              </a:spcBef>
            </a:pPr>
            <a:endParaRPr lang="fr-FR" sz="2000" b="1"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en-US" altLang="zh-CN"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r>
              <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r>
              <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fr-FR" sz="16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sp>
        <p:nvSpPr>
          <p:cNvPr id="81" name="Rectangle 80">
            <a:extLst>
              <a:ext uri="{FF2B5EF4-FFF2-40B4-BE49-F238E27FC236}">
                <a16:creationId xmlns:a16="http://schemas.microsoft.com/office/drawing/2014/main" id="{08AF29C3-ECAD-4C3C-9E29-EC81B40679C2}"/>
              </a:ext>
            </a:extLst>
          </p:cNvPr>
          <p:cNvSpPr/>
          <p:nvPr/>
        </p:nvSpPr>
        <p:spPr>
          <a:xfrm>
            <a:off x="2851388" y="2376864"/>
            <a:ext cx="2267599" cy="523220"/>
          </a:xfrm>
          <a:prstGeom prst="rect">
            <a:avLst/>
          </a:prstGeom>
        </p:spPr>
        <p:txBody>
          <a:bodyPr wrap="square">
            <a:spAutoFit/>
          </a:bodyPr>
          <a:lstStyle/>
          <a:p>
            <a:pPr algn="r"/>
            <a:r>
              <a:rPr lang="fr-FR" sz="2800" b="1" dirty="0">
                <a:ln w="10160">
                  <a:noFill/>
                  <a:prstDash val="solid"/>
                </a:ln>
                <a:solidFill>
                  <a:srgbClr val="009999"/>
                </a:solidFill>
                <a:effectLst>
                  <a:outerShdw blurRad="38100" dist="22860" dir="5400000" algn="tl" rotWithShape="0">
                    <a:srgbClr val="000000">
                      <a:alpha val="30000"/>
                    </a:srgbClr>
                  </a:outerShdw>
                </a:effectLst>
                <a:latin typeface="+mj-lt"/>
                <a:ea typeface="DotumChe" panose="020B0609000101010101" pitchFamily="49" charset="-127"/>
                <a:cs typeface="Consolas" panose="020B0609020204030204" pitchFamily="49" charset="0"/>
              </a:rPr>
              <a:t>20M€+</a:t>
            </a:r>
            <a:endParaRPr lang="fr-FR" sz="1400" b="1" dirty="0">
              <a:ln w="10160">
                <a:noFill/>
                <a:prstDash val="solid"/>
              </a:ln>
              <a:solidFill>
                <a:srgbClr val="009999"/>
              </a:solidFill>
              <a:effectLst>
                <a:outerShdw blurRad="38100" dist="22860" dir="5400000" algn="tl" rotWithShape="0">
                  <a:srgbClr val="000000">
                    <a:alpha val="30000"/>
                  </a:srgbClr>
                </a:outerShdw>
              </a:effectLst>
              <a:latin typeface="+mj-lt"/>
              <a:ea typeface="DotumChe" panose="020B0609000101010101" pitchFamily="49" charset="-127"/>
              <a:cs typeface="Consolas" panose="020B0609020204030204" pitchFamily="49" charset="0"/>
            </a:endParaRPr>
          </a:p>
        </p:txBody>
      </p:sp>
      <p:sp>
        <p:nvSpPr>
          <p:cNvPr id="83" name="Rectangle 82">
            <a:extLst>
              <a:ext uri="{FF2B5EF4-FFF2-40B4-BE49-F238E27FC236}">
                <a16:creationId xmlns:a16="http://schemas.microsoft.com/office/drawing/2014/main" id="{761FD3F2-844C-4227-8D59-834DB3F4745B}"/>
              </a:ext>
            </a:extLst>
          </p:cNvPr>
          <p:cNvSpPr/>
          <p:nvPr/>
        </p:nvSpPr>
        <p:spPr>
          <a:xfrm>
            <a:off x="5689837" y="2324167"/>
            <a:ext cx="2315690" cy="584775"/>
          </a:xfrm>
          <a:prstGeom prst="rect">
            <a:avLst/>
          </a:prstGeom>
        </p:spPr>
        <p:txBody>
          <a:bodyPr wrap="square">
            <a:spAutoFit/>
          </a:bodyPr>
          <a:lstStyle/>
          <a:p>
            <a:pPr algn="r"/>
            <a:r>
              <a:rPr lang="fr-FR" sz="3200" b="1" dirty="0">
                <a:ln w="10160">
                  <a:noFill/>
                  <a:prstDash val="solid"/>
                </a:ln>
                <a:solidFill>
                  <a:srgbClr val="009999"/>
                </a:solidFill>
                <a:effectLst>
                  <a:outerShdw blurRad="38100" dist="22860" dir="5400000" algn="tl" rotWithShape="0">
                    <a:srgbClr val="000000">
                      <a:alpha val="30000"/>
                    </a:srgbClr>
                  </a:outerShdw>
                </a:effectLst>
                <a:latin typeface="+mj-lt"/>
                <a:ea typeface="DotumChe" panose="020B0609000101010101" pitchFamily="49" charset="-127"/>
                <a:cs typeface="Consolas" panose="020B0609020204030204" pitchFamily="49" charset="0"/>
              </a:rPr>
              <a:t>175+</a:t>
            </a:r>
          </a:p>
        </p:txBody>
      </p:sp>
      <p:sp>
        <p:nvSpPr>
          <p:cNvPr id="85" name="Rectangle 84">
            <a:extLst>
              <a:ext uri="{FF2B5EF4-FFF2-40B4-BE49-F238E27FC236}">
                <a16:creationId xmlns:a16="http://schemas.microsoft.com/office/drawing/2014/main" id="{F25083CE-F27B-4246-8ADF-AFC632CAC9BB}"/>
              </a:ext>
            </a:extLst>
          </p:cNvPr>
          <p:cNvSpPr/>
          <p:nvPr/>
        </p:nvSpPr>
        <p:spPr>
          <a:xfrm>
            <a:off x="3511683" y="3903235"/>
            <a:ext cx="1520600" cy="584775"/>
          </a:xfrm>
          <a:prstGeom prst="rect">
            <a:avLst/>
          </a:prstGeom>
        </p:spPr>
        <p:txBody>
          <a:bodyPr wrap="square">
            <a:spAutoFit/>
          </a:bodyPr>
          <a:lstStyle/>
          <a:p>
            <a:pPr algn="ctr"/>
            <a:r>
              <a:rPr lang="fr-FR" altLang="zh-CN" sz="3200" b="1" dirty="0">
                <a:ln w="10160">
                  <a:noFill/>
                  <a:prstDash val="solid"/>
                </a:ln>
                <a:solidFill>
                  <a:srgbClr val="009999"/>
                </a:solidFill>
                <a:effectLst>
                  <a:outerShdw blurRad="38100" dist="22860" dir="5400000" algn="tl" rotWithShape="0">
                    <a:srgbClr val="000000">
                      <a:alpha val="30000"/>
                    </a:srgbClr>
                  </a:outerShdw>
                </a:effectLst>
                <a:latin typeface="Consolas" panose="020B0609020204030204" pitchFamily="49" charset="0"/>
                <a:ea typeface="DotumChe" panose="020B0609000101010101" pitchFamily="49" charset="-127"/>
                <a:cs typeface="Consolas" panose="020B0609020204030204" pitchFamily="49" charset="0"/>
              </a:rPr>
              <a:t>60 </a:t>
            </a:r>
            <a:endParaRPr lang="fr-FR" sz="3200" b="1" dirty="0">
              <a:ln w="10160">
                <a:noFill/>
                <a:prstDash val="solid"/>
              </a:ln>
              <a:solidFill>
                <a:srgbClr val="009999"/>
              </a:solidFill>
              <a:effectLst>
                <a:outerShdw blurRad="38100" dist="22860" dir="5400000" algn="tl" rotWithShape="0">
                  <a:srgbClr val="000000">
                    <a:alpha val="30000"/>
                  </a:srgbClr>
                </a:outerShdw>
              </a:effectLst>
              <a:latin typeface="Consolas" panose="020B0609020204030204" pitchFamily="49" charset="0"/>
              <a:ea typeface="DotumChe" panose="020B0609000101010101" pitchFamily="49" charset="-127"/>
              <a:cs typeface="Consolas" panose="020B0609020204030204" pitchFamily="49" charset="0"/>
            </a:endParaRPr>
          </a:p>
        </p:txBody>
      </p:sp>
      <p:sp>
        <p:nvSpPr>
          <p:cNvPr id="87" name="Rectangle 86">
            <a:extLst>
              <a:ext uri="{FF2B5EF4-FFF2-40B4-BE49-F238E27FC236}">
                <a16:creationId xmlns:a16="http://schemas.microsoft.com/office/drawing/2014/main" id="{7952F8C5-3949-48A4-A493-654BBD22946E}"/>
              </a:ext>
            </a:extLst>
          </p:cNvPr>
          <p:cNvSpPr/>
          <p:nvPr/>
        </p:nvSpPr>
        <p:spPr>
          <a:xfrm>
            <a:off x="3101948" y="4319967"/>
            <a:ext cx="1912472" cy="276999"/>
          </a:xfrm>
          <a:prstGeom prst="rect">
            <a:avLst/>
          </a:prstGeom>
        </p:spPr>
        <p:txBody>
          <a:bodyPr wrap="square">
            <a:spAutoFit/>
          </a:bodyPr>
          <a:lstStyle/>
          <a:p>
            <a:r>
              <a:rPr lang="fr-FR" altLang="zh-CN"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Années d’expérience</a:t>
            </a:r>
          </a:p>
        </p:txBody>
      </p:sp>
      <p:sp>
        <p:nvSpPr>
          <p:cNvPr id="92" name="Rectangle 91">
            <a:extLst>
              <a:ext uri="{FF2B5EF4-FFF2-40B4-BE49-F238E27FC236}">
                <a16:creationId xmlns:a16="http://schemas.microsoft.com/office/drawing/2014/main" id="{BBBBA99F-67F1-4537-AF24-8734A3B5600E}"/>
              </a:ext>
            </a:extLst>
          </p:cNvPr>
          <p:cNvSpPr/>
          <p:nvPr/>
        </p:nvSpPr>
        <p:spPr>
          <a:xfrm>
            <a:off x="6182853" y="3901875"/>
            <a:ext cx="1694696" cy="584775"/>
          </a:xfrm>
          <a:prstGeom prst="rect">
            <a:avLst/>
          </a:prstGeom>
        </p:spPr>
        <p:txBody>
          <a:bodyPr wrap="none">
            <a:spAutoFit/>
          </a:bodyPr>
          <a:lstStyle/>
          <a:p>
            <a:pPr algn="r"/>
            <a:r>
              <a:rPr lang="fr-FR" sz="3200" b="1" dirty="0">
                <a:ln w="10160">
                  <a:noFill/>
                  <a:prstDash val="solid"/>
                </a:ln>
                <a:solidFill>
                  <a:srgbClr val="009999"/>
                </a:solidFill>
                <a:effectLst>
                  <a:outerShdw blurRad="38100" dist="22860" dir="5400000" algn="tl" rotWithShape="0">
                    <a:srgbClr val="000000">
                      <a:alpha val="30000"/>
                    </a:srgbClr>
                  </a:outerShdw>
                </a:effectLst>
                <a:latin typeface="+mj-lt"/>
                <a:ea typeface="DotumChe" panose="020B0609000101010101" pitchFamily="49" charset="-127"/>
                <a:cs typeface="Consolas" panose="020B0609020204030204" pitchFamily="49" charset="0"/>
              </a:rPr>
              <a:t>1.000+</a:t>
            </a:r>
          </a:p>
        </p:txBody>
      </p:sp>
      <p:sp>
        <p:nvSpPr>
          <p:cNvPr id="95" name="Rectangle 94">
            <a:extLst>
              <a:ext uri="{FF2B5EF4-FFF2-40B4-BE49-F238E27FC236}">
                <a16:creationId xmlns:a16="http://schemas.microsoft.com/office/drawing/2014/main" id="{0B034AC7-26D6-413E-B54E-4135FB6C78FD}"/>
              </a:ext>
            </a:extLst>
          </p:cNvPr>
          <p:cNvSpPr/>
          <p:nvPr/>
        </p:nvSpPr>
        <p:spPr>
          <a:xfrm>
            <a:off x="9449208" y="2371192"/>
            <a:ext cx="1364901" cy="584775"/>
          </a:xfrm>
          <a:prstGeom prst="rect">
            <a:avLst/>
          </a:prstGeom>
        </p:spPr>
        <p:txBody>
          <a:bodyPr wrap="square">
            <a:spAutoFit/>
          </a:bodyPr>
          <a:lstStyle/>
          <a:p>
            <a:pPr algn="ctr"/>
            <a:r>
              <a:rPr lang="fr-FR" sz="3200" b="1" dirty="0">
                <a:ln w="10160">
                  <a:noFill/>
                  <a:prstDash val="solid"/>
                </a:ln>
                <a:solidFill>
                  <a:srgbClr val="009999"/>
                </a:solidFill>
                <a:effectLst>
                  <a:outerShdw blurRad="38100" dist="22860" dir="5400000" algn="tl" rotWithShape="0">
                    <a:srgbClr val="000000">
                      <a:alpha val="30000"/>
                    </a:srgbClr>
                  </a:outerShdw>
                </a:effectLst>
                <a:latin typeface="+mj-lt"/>
                <a:ea typeface="DotumChe" panose="020B0609000101010101" pitchFamily="49" charset="-127"/>
                <a:cs typeface="Consolas" panose="020B0609020204030204" pitchFamily="49" charset="0"/>
              </a:rPr>
              <a:t>18</a:t>
            </a:r>
          </a:p>
        </p:txBody>
      </p:sp>
      <p:sp>
        <p:nvSpPr>
          <p:cNvPr id="97" name="Rectangle 96">
            <a:extLst>
              <a:ext uri="{FF2B5EF4-FFF2-40B4-BE49-F238E27FC236}">
                <a16:creationId xmlns:a16="http://schemas.microsoft.com/office/drawing/2014/main" id="{CCD958CB-5ECC-4813-9DA3-7B6F671891FB}"/>
              </a:ext>
            </a:extLst>
          </p:cNvPr>
          <p:cNvSpPr/>
          <p:nvPr/>
        </p:nvSpPr>
        <p:spPr>
          <a:xfrm>
            <a:off x="9370714" y="2837220"/>
            <a:ext cx="1540958" cy="276999"/>
          </a:xfrm>
          <a:prstGeom prst="rect">
            <a:avLst/>
          </a:prstGeom>
        </p:spPr>
        <p:txBody>
          <a:bodyPr wrap="square">
            <a:spAutoFit/>
          </a:bodyPr>
          <a:lstStyle/>
          <a:p>
            <a:pPr algn="ctr"/>
            <a:r>
              <a:rPr lang="fr-FR" altLang="zh-CN"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Associés</a:t>
            </a:r>
            <a:endParaRPr lang="fr-FR" sz="1200" b="1" dirty="0">
              <a:ln w="10160">
                <a:noFill/>
                <a:prstDash val="solid"/>
              </a:ln>
              <a:solidFill>
                <a:srgbClr val="009999"/>
              </a:solidFill>
              <a:latin typeface="+mn-ea"/>
              <a:cs typeface="Consolas" panose="020B0609020204030204" pitchFamily="49" charset="0"/>
            </a:endParaRPr>
          </a:p>
        </p:txBody>
      </p:sp>
      <p:sp>
        <p:nvSpPr>
          <p:cNvPr id="98" name="Rectangle 97">
            <a:extLst>
              <a:ext uri="{FF2B5EF4-FFF2-40B4-BE49-F238E27FC236}">
                <a16:creationId xmlns:a16="http://schemas.microsoft.com/office/drawing/2014/main" id="{B2CC031E-ABAD-4AF4-997F-A8E97426FBBB}"/>
              </a:ext>
            </a:extLst>
          </p:cNvPr>
          <p:cNvSpPr/>
          <p:nvPr/>
        </p:nvSpPr>
        <p:spPr>
          <a:xfrm>
            <a:off x="8994099" y="3895828"/>
            <a:ext cx="1885544" cy="584775"/>
          </a:xfrm>
          <a:prstGeom prst="rect">
            <a:avLst/>
          </a:prstGeom>
        </p:spPr>
        <p:txBody>
          <a:bodyPr wrap="square">
            <a:spAutoFit/>
          </a:bodyPr>
          <a:lstStyle/>
          <a:p>
            <a:pPr algn="r"/>
            <a:r>
              <a:rPr lang="en-US" altLang="zh-CN" sz="3200" b="1" dirty="0">
                <a:ln w="10160">
                  <a:noFill/>
                  <a:prstDash val="solid"/>
                </a:ln>
                <a:solidFill>
                  <a:srgbClr val="009999"/>
                </a:solidFill>
                <a:effectLst>
                  <a:outerShdw blurRad="38100" dist="22860" dir="5400000" algn="tl" rotWithShape="0">
                    <a:srgbClr val="000000">
                      <a:alpha val="30000"/>
                    </a:srgbClr>
                  </a:outerShdw>
                </a:effectLst>
                <a:latin typeface="+mj-lt"/>
                <a:ea typeface="DotumChe" panose="020B0609000101010101" pitchFamily="49" charset="-127"/>
                <a:cs typeface="Consolas" panose="020B0609020204030204" pitchFamily="49" charset="0"/>
              </a:rPr>
              <a:t>6</a:t>
            </a:r>
            <a:r>
              <a:rPr lang="fr-FR" sz="3200" b="1" dirty="0">
                <a:ln w="10160">
                  <a:noFill/>
                  <a:prstDash val="solid"/>
                </a:ln>
                <a:solidFill>
                  <a:srgbClr val="009999"/>
                </a:solidFill>
                <a:effectLst>
                  <a:outerShdw blurRad="38100" dist="22860" dir="5400000" algn="tl" rotWithShape="0">
                    <a:srgbClr val="000000">
                      <a:alpha val="30000"/>
                    </a:srgbClr>
                  </a:outerShdw>
                </a:effectLst>
                <a:latin typeface="+mj-lt"/>
                <a:ea typeface="DotumChe" panose="020B0609000101010101" pitchFamily="49" charset="-127"/>
                <a:cs typeface="Consolas" panose="020B0609020204030204" pitchFamily="49" charset="0"/>
              </a:rPr>
              <a:t>0+</a:t>
            </a:r>
          </a:p>
        </p:txBody>
      </p:sp>
      <p:sp>
        <p:nvSpPr>
          <p:cNvPr id="101" name="Rectangle 100">
            <a:extLst>
              <a:ext uri="{FF2B5EF4-FFF2-40B4-BE49-F238E27FC236}">
                <a16:creationId xmlns:a16="http://schemas.microsoft.com/office/drawing/2014/main" id="{E34668D3-543C-4840-BD28-BAC0C62FFA1B}"/>
              </a:ext>
            </a:extLst>
          </p:cNvPr>
          <p:cNvSpPr/>
          <p:nvPr/>
        </p:nvSpPr>
        <p:spPr>
          <a:xfrm>
            <a:off x="8862891" y="4293390"/>
            <a:ext cx="2405684" cy="461665"/>
          </a:xfrm>
          <a:prstGeom prst="rect">
            <a:avLst/>
          </a:prstGeom>
        </p:spPr>
        <p:txBody>
          <a:bodyPr wrap="square">
            <a:spAutoFit/>
          </a:bodyPr>
          <a:lstStyle/>
          <a:p>
            <a:pPr algn="ctr"/>
            <a:r>
              <a:rPr lang="fr-FR" altLang="zh-CN"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Groupes cotés en France</a:t>
            </a:r>
          </a:p>
          <a:p>
            <a:pPr algn="ctr"/>
            <a:r>
              <a:rPr lang="fr-FR" altLang="zh-CN"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et à l'étranger</a:t>
            </a:r>
          </a:p>
        </p:txBody>
      </p:sp>
      <p:pic>
        <p:nvPicPr>
          <p:cNvPr id="7" name="Graphique 6" descr="Graphique à barres avec tendance à la hausse">
            <a:extLst>
              <a:ext uri="{FF2B5EF4-FFF2-40B4-BE49-F238E27FC236}">
                <a16:creationId xmlns:a16="http://schemas.microsoft.com/office/drawing/2014/main" id="{A703AB2E-3722-459B-99D6-B367A08DC51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69703" y="2271502"/>
            <a:ext cx="914400" cy="914400"/>
          </a:xfrm>
          <a:prstGeom prst="rect">
            <a:avLst/>
          </a:prstGeom>
        </p:spPr>
      </p:pic>
      <p:pic>
        <p:nvPicPr>
          <p:cNvPr id="9" name="Graphique 8" descr="Groupe">
            <a:extLst>
              <a:ext uri="{FF2B5EF4-FFF2-40B4-BE49-F238E27FC236}">
                <a16:creationId xmlns:a16="http://schemas.microsoft.com/office/drawing/2014/main" id="{E888523F-7725-4DFD-808E-A90BA2FBE4E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66349" y="2181274"/>
            <a:ext cx="914400" cy="914400"/>
          </a:xfrm>
          <a:prstGeom prst="rect">
            <a:avLst/>
          </a:prstGeom>
        </p:spPr>
      </p:pic>
      <p:pic>
        <p:nvPicPr>
          <p:cNvPr id="15" name="Graphique 14" descr="Utilisateur">
            <a:extLst>
              <a:ext uri="{FF2B5EF4-FFF2-40B4-BE49-F238E27FC236}">
                <a16:creationId xmlns:a16="http://schemas.microsoft.com/office/drawing/2014/main" id="{A5212E3D-9DD7-4453-BC6B-CA2D18A7849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50041" y="2280044"/>
            <a:ext cx="755517" cy="755517"/>
          </a:xfrm>
          <a:prstGeom prst="rect">
            <a:avLst/>
          </a:prstGeom>
        </p:spPr>
      </p:pic>
      <p:pic>
        <p:nvPicPr>
          <p:cNvPr id="17" name="Graphique 16" descr="Gâteau">
            <a:extLst>
              <a:ext uri="{FF2B5EF4-FFF2-40B4-BE49-F238E27FC236}">
                <a16:creationId xmlns:a16="http://schemas.microsoft.com/office/drawing/2014/main" id="{4B657F33-3F0C-4AA5-AF24-FFAB80D182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79989" y="3599429"/>
            <a:ext cx="914400" cy="914400"/>
          </a:xfrm>
          <a:prstGeom prst="rect">
            <a:avLst/>
          </a:prstGeom>
        </p:spPr>
      </p:pic>
      <p:pic>
        <p:nvPicPr>
          <p:cNvPr id="19" name="Graphique 18" descr="Bâtiment">
            <a:extLst>
              <a:ext uri="{FF2B5EF4-FFF2-40B4-BE49-F238E27FC236}">
                <a16:creationId xmlns:a16="http://schemas.microsoft.com/office/drawing/2014/main" id="{2F41734C-A0FD-4D6C-B7D0-4FA6A224586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35889" y="3784357"/>
            <a:ext cx="720900" cy="720900"/>
          </a:xfrm>
          <a:prstGeom prst="rect">
            <a:avLst/>
          </a:prstGeom>
        </p:spPr>
      </p:pic>
      <p:pic>
        <p:nvPicPr>
          <p:cNvPr id="21" name="Graphique 20" descr="Usine">
            <a:extLst>
              <a:ext uri="{FF2B5EF4-FFF2-40B4-BE49-F238E27FC236}">
                <a16:creationId xmlns:a16="http://schemas.microsoft.com/office/drawing/2014/main" id="{BA6211FD-3F0D-4AAE-9C0A-5843991ADE1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162974" y="3867958"/>
            <a:ext cx="694921" cy="694921"/>
          </a:xfrm>
          <a:prstGeom prst="rect">
            <a:avLst/>
          </a:prstGeom>
        </p:spPr>
      </p:pic>
      <p:pic>
        <p:nvPicPr>
          <p:cNvPr id="23" name="Graphique 22" descr="Banque">
            <a:extLst>
              <a:ext uri="{FF2B5EF4-FFF2-40B4-BE49-F238E27FC236}">
                <a16:creationId xmlns:a16="http://schemas.microsoft.com/office/drawing/2014/main" id="{BB6D6141-6AB0-4671-8895-4760B48D7EC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37261" y="3749759"/>
            <a:ext cx="802299" cy="802299"/>
          </a:xfrm>
          <a:prstGeom prst="rect">
            <a:avLst/>
          </a:prstGeom>
        </p:spPr>
      </p:pic>
      <p:sp>
        <p:nvSpPr>
          <p:cNvPr id="102" name="Rectangle 101">
            <a:extLst>
              <a:ext uri="{FF2B5EF4-FFF2-40B4-BE49-F238E27FC236}">
                <a16:creationId xmlns:a16="http://schemas.microsoft.com/office/drawing/2014/main" id="{3352F414-B509-4278-828B-7A4101B9285F}"/>
              </a:ext>
            </a:extLst>
          </p:cNvPr>
          <p:cNvSpPr/>
          <p:nvPr/>
        </p:nvSpPr>
        <p:spPr>
          <a:xfrm>
            <a:off x="6479927" y="4293390"/>
            <a:ext cx="1267262" cy="307777"/>
          </a:xfrm>
          <a:prstGeom prst="rect">
            <a:avLst/>
          </a:prstGeom>
        </p:spPr>
        <p:txBody>
          <a:bodyPr wrap="square">
            <a:spAutoFit/>
          </a:bodyPr>
          <a:lstStyle/>
          <a:p>
            <a:r>
              <a:rPr lang="fr-FR" altLang="zh-CN" sz="14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r>
              <a:rPr lang="fr-FR" altLang="zh-CN"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Clients</a:t>
            </a:r>
          </a:p>
        </p:txBody>
      </p:sp>
      <p:pic>
        <p:nvPicPr>
          <p:cNvPr id="103" name="Image 102">
            <a:extLst>
              <a:ext uri="{FF2B5EF4-FFF2-40B4-BE49-F238E27FC236}">
                <a16:creationId xmlns:a16="http://schemas.microsoft.com/office/drawing/2014/main" id="{BBC5AEC0-6152-4040-9CF1-E75211A90DFA}"/>
              </a:ext>
            </a:extLst>
          </p:cNvPr>
          <p:cNvPicPr>
            <a:picLocks noChangeAspect="1"/>
          </p:cNvPicPr>
          <p:nvPr/>
        </p:nvPicPr>
        <p:blipFill>
          <a:blip r:embed="rId17"/>
          <a:stretch>
            <a:fillRect/>
          </a:stretch>
        </p:blipFill>
        <p:spPr>
          <a:xfrm>
            <a:off x="10987330" y="145639"/>
            <a:ext cx="1040915" cy="388870"/>
          </a:xfrm>
          <a:prstGeom prst="rect">
            <a:avLst/>
          </a:prstGeom>
        </p:spPr>
      </p:pic>
      <p:sp>
        <p:nvSpPr>
          <p:cNvPr id="24" name="Espace réservé du numéro de diapositive 23">
            <a:extLst>
              <a:ext uri="{FF2B5EF4-FFF2-40B4-BE49-F238E27FC236}">
                <a16:creationId xmlns:a16="http://schemas.microsoft.com/office/drawing/2014/main" id="{DC1A6CA9-5CF2-49C3-8A5D-785696ED7F46}"/>
              </a:ext>
            </a:extLst>
          </p:cNvPr>
          <p:cNvSpPr>
            <a:spLocks noGrp="1"/>
          </p:cNvSpPr>
          <p:nvPr>
            <p:ph type="sldNum" sz="quarter" idx="2"/>
          </p:nvPr>
        </p:nvSpPr>
        <p:spPr>
          <a:xfrm>
            <a:off x="11096625" y="6351290"/>
            <a:ext cx="329175" cy="177801"/>
          </a:xfrm>
        </p:spPr>
        <p:txBody>
          <a:bodyPr/>
          <a:lstStyle/>
          <a:p>
            <a:fld id="{86CB4B4D-7CA3-9044-876B-883B54F8677D}" type="slidenum">
              <a:rPr lang="fr-FR" smtClean="0"/>
              <a:t>2</a:t>
            </a:fld>
            <a:endParaRPr lang="fr-FR" dirty="0"/>
          </a:p>
        </p:txBody>
      </p:sp>
      <p:sp>
        <p:nvSpPr>
          <p:cNvPr id="28" name="ZoneTexte 27">
            <a:extLst>
              <a:ext uri="{FF2B5EF4-FFF2-40B4-BE49-F238E27FC236}">
                <a16:creationId xmlns:a16="http://schemas.microsoft.com/office/drawing/2014/main" id="{CBD9B4C9-8AA9-42E7-ADD3-0404CE73C383}"/>
              </a:ext>
            </a:extLst>
          </p:cNvPr>
          <p:cNvSpPr txBox="1"/>
          <p:nvPr/>
        </p:nvSpPr>
        <p:spPr>
          <a:xfrm>
            <a:off x="5957804" y="2872898"/>
            <a:ext cx="3339209" cy="461665"/>
          </a:xfrm>
          <a:prstGeom prst="rect">
            <a:avLst/>
          </a:prstGeom>
          <a:noFill/>
        </p:spPr>
        <p:txBody>
          <a:bodyPr wrap="square">
            <a:spAutoFit/>
          </a:bodyPr>
          <a:lstStyle/>
          <a:p>
            <a:pPr algn="ct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Nos</a:t>
            </a:r>
            <a:r>
              <a:rPr lang="en-US" sz="1200" b="1" dirty="0">
                <a:solidFill>
                  <a:srgbClr val="0D5257"/>
                </a:solidFill>
              </a:rPr>
              <a: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équipes</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sont</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organisées</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disponibles</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réactives</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et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compétentes</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p>
        </p:txBody>
      </p:sp>
      <p:pic>
        <p:nvPicPr>
          <p:cNvPr id="3" name="Graphique 2" descr="Diplôme">
            <a:extLst>
              <a:ext uri="{FF2B5EF4-FFF2-40B4-BE49-F238E27FC236}">
                <a16:creationId xmlns:a16="http://schemas.microsoft.com/office/drawing/2014/main" id="{15904C78-70AA-4FE8-8D53-A4150BDB93F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781101" y="5030362"/>
            <a:ext cx="914400" cy="914400"/>
          </a:xfrm>
          <a:prstGeom prst="rect">
            <a:avLst/>
          </a:prstGeom>
        </p:spPr>
      </p:pic>
      <p:pic>
        <p:nvPicPr>
          <p:cNvPr id="5" name="Graphique 4" descr="Chapeau de remise de diplôme">
            <a:extLst>
              <a:ext uri="{FF2B5EF4-FFF2-40B4-BE49-F238E27FC236}">
                <a16:creationId xmlns:a16="http://schemas.microsoft.com/office/drawing/2014/main" id="{51C2277A-DF31-4070-9892-AD5F3DE9A30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066749" y="4780845"/>
            <a:ext cx="914400" cy="914400"/>
          </a:xfrm>
          <a:prstGeom prst="rect">
            <a:avLst/>
          </a:prstGeom>
        </p:spPr>
      </p:pic>
      <p:pic>
        <p:nvPicPr>
          <p:cNvPr id="33" name="Graphique 32" descr="Poignée de main">
            <a:extLst>
              <a:ext uri="{FF2B5EF4-FFF2-40B4-BE49-F238E27FC236}">
                <a16:creationId xmlns:a16="http://schemas.microsoft.com/office/drawing/2014/main" id="{60C12B04-E1AF-4F9B-A249-BE6FADEF65D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540798" y="4978279"/>
            <a:ext cx="914400" cy="914400"/>
          </a:xfrm>
          <a:prstGeom prst="rect">
            <a:avLst/>
          </a:prstGeom>
        </p:spPr>
      </p:pic>
      <p:sp>
        <p:nvSpPr>
          <p:cNvPr id="34" name="ZoneTexte 33">
            <a:extLst>
              <a:ext uri="{FF2B5EF4-FFF2-40B4-BE49-F238E27FC236}">
                <a16:creationId xmlns:a16="http://schemas.microsoft.com/office/drawing/2014/main" id="{873D4B9C-CD18-4930-A021-9381080B9366}"/>
              </a:ext>
            </a:extLst>
          </p:cNvPr>
          <p:cNvSpPr txBox="1"/>
          <p:nvPr/>
        </p:nvSpPr>
        <p:spPr>
          <a:xfrm>
            <a:off x="9121668" y="5167260"/>
            <a:ext cx="2245531" cy="584775"/>
          </a:xfrm>
          <a:prstGeom prst="rect">
            <a:avLst/>
          </a:prstGeom>
          <a:noFill/>
        </p:spPr>
        <p:txBody>
          <a:bodyPr wrap="square">
            <a:spAutoFit/>
          </a:bodyPr>
          <a:lstStyle/>
          <a:p>
            <a:r>
              <a:rPr lang="fr-FR" sz="3200" b="1" dirty="0">
                <a:solidFill>
                  <a:srgbClr val="009999"/>
                </a:solidFill>
                <a:latin typeface="+mj-lt"/>
                <a:cs typeface="Consolas" panose="020B0609020204030204" pitchFamily="49" charset="0"/>
              </a:rPr>
              <a:t>10</a:t>
            </a:r>
            <a:r>
              <a:rPr lang="fr-FR" sz="1600" b="1" dirty="0">
                <a:solidFill>
                  <a:srgbClr val="009999"/>
                </a:solidFill>
                <a:latin typeface="+mj-lt"/>
                <a:cs typeface="Consolas" panose="020B0609020204030204" pitchFamily="49" charset="0"/>
              </a:rPr>
              <a:t> à </a:t>
            </a:r>
            <a:r>
              <a:rPr lang="fr-FR" sz="3200" b="1" dirty="0">
                <a:solidFill>
                  <a:srgbClr val="009999"/>
                </a:solidFill>
                <a:latin typeface="+mj-lt"/>
                <a:cs typeface="Consolas" panose="020B0609020204030204" pitchFamily="49" charset="0"/>
              </a:rPr>
              <a:t>20</a:t>
            </a:r>
            <a:r>
              <a:rPr lang="fr-FR" sz="1600" b="1" dirty="0">
                <a:solidFill>
                  <a:srgbClr val="009999"/>
                </a:solidFill>
                <a:latin typeface="+mj-lt"/>
                <a:cs typeface="Consolas" panose="020B0609020204030204" pitchFamily="49" charset="0"/>
              </a:rPr>
              <a:t>%</a:t>
            </a:r>
          </a:p>
        </p:txBody>
      </p:sp>
      <p:sp>
        <p:nvSpPr>
          <p:cNvPr id="35" name="ZoneTexte 34">
            <a:extLst>
              <a:ext uri="{FF2B5EF4-FFF2-40B4-BE49-F238E27FC236}">
                <a16:creationId xmlns:a16="http://schemas.microsoft.com/office/drawing/2014/main" id="{2A2D03A4-06C6-4496-9F60-918FCDA8E802}"/>
              </a:ext>
            </a:extLst>
          </p:cNvPr>
          <p:cNvSpPr txBox="1"/>
          <p:nvPr/>
        </p:nvSpPr>
        <p:spPr>
          <a:xfrm>
            <a:off x="3272068" y="4923818"/>
            <a:ext cx="1607555" cy="917624"/>
          </a:xfrm>
          <a:prstGeom prst="rect">
            <a:avLst/>
          </a:prstGeom>
          <a:noFill/>
        </p:spPr>
        <p:txBody>
          <a:bodyPr wrap="square">
            <a:spAutoFit/>
          </a:bodyPr>
          <a:lstStyle/>
          <a:p>
            <a:pPr algn="r"/>
            <a:r>
              <a:rPr lang="fr-FR" sz="3200" b="1" dirty="0">
                <a:solidFill>
                  <a:srgbClr val="009999"/>
                </a:solidFill>
                <a:latin typeface="+mj-lt"/>
                <a:cs typeface="Consolas" panose="020B0609020204030204" pitchFamily="49" charset="0"/>
              </a:rPr>
              <a:t>25</a:t>
            </a:r>
            <a:r>
              <a:rPr lang="fr-FR" sz="1600" b="1" dirty="0">
                <a:solidFill>
                  <a:srgbClr val="009999"/>
                </a:solidFill>
                <a:latin typeface="+mj-lt"/>
                <a:cs typeface="Consolas" panose="020B0609020204030204" pitchFamily="49" charset="0"/>
              </a:rPr>
              <a:t>%</a:t>
            </a:r>
            <a:r>
              <a:rPr lang="fr-FR" sz="5363" b="1" dirty="0">
                <a:solidFill>
                  <a:srgbClr val="009999"/>
                </a:solidFill>
                <a:latin typeface="Consolas" panose="020B0609020204030204" pitchFamily="49" charset="0"/>
                <a:cs typeface="Consolas" panose="020B0609020204030204" pitchFamily="49" charset="0"/>
              </a:rPr>
              <a:t> </a:t>
            </a:r>
          </a:p>
        </p:txBody>
      </p:sp>
      <p:sp>
        <p:nvSpPr>
          <p:cNvPr id="37" name="ZoneTexte 36">
            <a:extLst>
              <a:ext uri="{FF2B5EF4-FFF2-40B4-BE49-F238E27FC236}">
                <a16:creationId xmlns:a16="http://schemas.microsoft.com/office/drawing/2014/main" id="{9780830A-991E-45BC-9C4A-08EE789113DA}"/>
              </a:ext>
            </a:extLst>
          </p:cNvPr>
          <p:cNvSpPr txBox="1"/>
          <p:nvPr/>
        </p:nvSpPr>
        <p:spPr>
          <a:xfrm>
            <a:off x="5059807" y="5466051"/>
            <a:ext cx="4910731" cy="646331"/>
          </a:xfrm>
          <a:prstGeom prst="rect">
            <a:avLst/>
          </a:prstGeom>
          <a:noFill/>
        </p:spPr>
        <p:txBody>
          <a:bodyPr wrap="square">
            <a:spAutoFit/>
          </a:bodyPr>
          <a:lstStyle/>
          <a:p>
            <a:pPr algn="ct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provenant</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principalement</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b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b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d'universités</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et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d’écoles</a:t>
            </a:r>
            <a:endPar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endParaRPr>
          </a:p>
          <a:p>
            <a:pPr algn="ct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prestigieuses</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p>
        </p:txBody>
      </p:sp>
      <p:sp>
        <p:nvSpPr>
          <p:cNvPr id="38" name="ZoneTexte 37">
            <a:extLst>
              <a:ext uri="{FF2B5EF4-FFF2-40B4-BE49-F238E27FC236}">
                <a16:creationId xmlns:a16="http://schemas.microsoft.com/office/drawing/2014/main" id="{89AEBD88-D2B4-4E51-B206-6083E07C3B33}"/>
              </a:ext>
            </a:extLst>
          </p:cNvPr>
          <p:cNvSpPr txBox="1"/>
          <p:nvPr/>
        </p:nvSpPr>
        <p:spPr>
          <a:xfrm>
            <a:off x="3953379" y="5620395"/>
            <a:ext cx="1334183" cy="461665"/>
          </a:xfrm>
          <a:prstGeom prst="rect">
            <a:avLst/>
          </a:prstGeom>
          <a:noFill/>
        </p:spPr>
        <p:txBody>
          <a:bodyPr wrap="square">
            <a:spAutoFit/>
          </a:bodyPr>
          <a:lstStyle/>
          <a:p>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Expert-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Comptables</a:t>
            </a:r>
            <a:endParaRPr lang="fr-FR" sz="1200" b="1" dirty="0">
              <a:solidFill>
                <a:srgbClr val="00B2A9"/>
              </a:solidFill>
              <a:latin typeface="Calibri (corps)"/>
              <a:cs typeface="Consolas" panose="020B0609020204030204" pitchFamily="49" charset="0"/>
            </a:endParaRPr>
          </a:p>
        </p:txBody>
      </p:sp>
      <p:sp>
        <p:nvSpPr>
          <p:cNvPr id="39" name="ZoneTexte 38">
            <a:extLst>
              <a:ext uri="{FF2B5EF4-FFF2-40B4-BE49-F238E27FC236}">
                <a16:creationId xmlns:a16="http://schemas.microsoft.com/office/drawing/2014/main" id="{5888F38C-31DC-42C6-8C4A-5ED519C66E95}"/>
              </a:ext>
            </a:extLst>
          </p:cNvPr>
          <p:cNvSpPr txBox="1"/>
          <p:nvPr/>
        </p:nvSpPr>
        <p:spPr>
          <a:xfrm>
            <a:off x="9148650" y="5635188"/>
            <a:ext cx="4776887" cy="276999"/>
          </a:xfrm>
          <a:prstGeom prst="rect">
            <a:avLst/>
          </a:prstGeom>
          <a:noFill/>
        </p:spPr>
        <p:txBody>
          <a:bodyPr wrap="square">
            <a:spAutoFit/>
          </a:bodyPr>
          <a:lstStyle/>
          <a:p>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Taux</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de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recrutement</a:t>
            </a:r>
            <a:r>
              <a:rPr lang="en-US" sz="1200" dirty="0">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 </a:t>
            </a:r>
            <a:r>
              <a:rPr lang="en-US" sz="1200" dirty="0" err="1">
                <a:ln w="10160">
                  <a:noFill/>
                  <a:prstDash val="solid"/>
                </a:ln>
                <a:solidFill>
                  <a:srgbClr val="009999"/>
                </a:solidFill>
                <a:latin typeface="Tahoma" panose="020B0604030504040204" pitchFamily="34" charset="0"/>
                <a:ea typeface="Tahoma" panose="020B0604030504040204" pitchFamily="34" charset="0"/>
                <a:cs typeface="Tahoma" panose="020B0604030504040204" pitchFamily="34" charset="0"/>
              </a:rPr>
              <a:t>annuel</a:t>
            </a:r>
            <a:endParaRPr lang="fr-FR" sz="1138" b="1" dirty="0">
              <a:solidFill>
                <a:srgbClr val="0D5257"/>
              </a:solidFill>
              <a:latin typeface="Calibri (corps)"/>
              <a:cs typeface="Consolas" panose="020B0609020204030204" pitchFamily="49" charset="0"/>
            </a:endParaRPr>
          </a:p>
        </p:txBody>
      </p:sp>
    </p:spTree>
    <p:extLst>
      <p:ext uri="{BB962C8B-B14F-4D97-AF65-F5344CB8AC3E}">
        <p14:creationId xmlns:p14="http://schemas.microsoft.com/office/powerpoint/2010/main" val="13788594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72" name="Titre 4">
            <a:extLst>
              <a:ext uri="{FF2B5EF4-FFF2-40B4-BE49-F238E27FC236}">
                <a16:creationId xmlns:a16="http://schemas.microsoft.com/office/drawing/2014/main" id="{A4B6BEAA-CAB8-4B17-985A-941716C1061E}"/>
              </a:ext>
            </a:extLst>
          </p:cNvPr>
          <p:cNvSpPr txBox="1">
            <a:spLocks/>
          </p:cNvSpPr>
          <p:nvPr/>
        </p:nvSpPr>
        <p:spPr>
          <a:xfrm>
            <a:off x="623391" y="285877"/>
            <a:ext cx="4820733" cy="813309"/>
          </a:xfrm>
          <a:prstGeom prst="rect">
            <a:avLst/>
          </a:prstGeom>
        </p:spPr>
        <p:txBody>
          <a:bodyPr vert="horz" lIns="0" tIns="0" rIns="0" bIns="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5100" b="1" dirty="0"/>
              <a:t>Nos lignes de service</a:t>
            </a:r>
          </a:p>
          <a:p>
            <a:endParaRPr lang="fr-FR" dirty="0">
              <a:solidFill>
                <a:srgbClr val="FF0000"/>
              </a:solidFill>
            </a:endParaRPr>
          </a:p>
        </p:txBody>
      </p:sp>
      <p:pic>
        <p:nvPicPr>
          <p:cNvPr id="180" name="Image 179">
            <a:extLst>
              <a:ext uri="{FF2B5EF4-FFF2-40B4-BE49-F238E27FC236}">
                <a16:creationId xmlns:a16="http://schemas.microsoft.com/office/drawing/2014/main" id="{9ED107B6-A3AE-425C-A6DC-37C688D50A7F}"/>
              </a:ext>
            </a:extLst>
          </p:cNvPr>
          <p:cNvPicPr>
            <a:picLocks noChangeAspect="1"/>
          </p:cNvPicPr>
          <p:nvPr/>
        </p:nvPicPr>
        <p:blipFill>
          <a:blip r:embed="rId2"/>
          <a:stretch>
            <a:fillRect/>
          </a:stretch>
        </p:blipFill>
        <p:spPr>
          <a:xfrm>
            <a:off x="10987330" y="145639"/>
            <a:ext cx="1040915" cy="388870"/>
          </a:xfrm>
          <a:prstGeom prst="rect">
            <a:avLst/>
          </a:prstGeom>
        </p:spPr>
      </p:pic>
      <p:sp>
        <p:nvSpPr>
          <p:cNvPr id="3" name="Espace réservé du numéro de diapositive 2">
            <a:extLst>
              <a:ext uri="{FF2B5EF4-FFF2-40B4-BE49-F238E27FC236}">
                <a16:creationId xmlns:a16="http://schemas.microsoft.com/office/drawing/2014/main" id="{162AA0E1-5D75-4139-BF9D-6C8F5C647384}"/>
              </a:ext>
            </a:extLst>
          </p:cNvPr>
          <p:cNvSpPr>
            <a:spLocks noGrp="1"/>
          </p:cNvSpPr>
          <p:nvPr>
            <p:ph type="sldNum" sz="quarter" idx="2"/>
          </p:nvPr>
        </p:nvSpPr>
        <p:spPr/>
        <p:txBody>
          <a:bodyPr/>
          <a:lstStyle/>
          <a:p>
            <a:fld id="{86CB4B4D-7CA3-9044-876B-883B54F8677D}" type="slidenum">
              <a:rPr lang="fr-FR" smtClean="0"/>
              <a:t>3</a:t>
            </a:fld>
            <a:endParaRPr lang="fr-FR" dirty="0"/>
          </a:p>
        </p:txBody>
      </p:sp>
      <p:sp>
        <p:nvSpPr>
          <p:cNvPr id="10" name="Rectangle : coins arrondis 9">
            <a:extLst>
              <a:ext uri="{FF2B5EF4-FFF2-40B4-BE49-F238E27FC236}">
                <a16:creationId xmlns:a16="http://schemas.microsoft.com/office/drawing/2014/main" id="{3CDBB6F3-4869-4414-8F42-9B22FE779A6F}"/>
              </a:ext>
            </a:extLst>
          </p:cNvPr>
          <p:cNvSpPr/>
          <p:nvPr/>
        </p:nvSpPr>
        <p:spPr>
          <a:xfrm>
            <a:off x="10451097" y="2041907"/>
            <a:ext cx="1616601" cy="3392908"/>
          </a:xfrm>
          <a:prstGeom prst="roundRect">
            <a:avLst/>
          </a:prstGeom>
          <a:noFill/>
          <a:ln>
            <a:solidFill>
              <a:srgbClr val="0C5D6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8ED978B7-5F87-4BBC-806B-51678F5E7C25}"/>
              </a:ext>
            </a:extLst>
          </p:cNvPr>
          <p:cNvGrpSpPr/>
          <p:nvPr/>
        </p:nvGrpSpPr>
        <p:grpSpPr>
          <a:xfrm>
            <a:off x="26676" y="2014697"/>
            <a:ext cx="12100212" cy="3420118"/>
            <a:chOff x="91788" y="1723267"/>
            <a:chExt cx="13561155" cy="3686933"/>
          </a:xfrm>
        </p:grpSpPr>
        <p:sp>
          <p:nvSpPr>
            <p:cNvPr id="12" name="Rectangle : coins arrondis 11">
              <a:extLst>
                <a:ext uri="{FF2B5EF4-FFF2-40B4-BE49-F238E27FC236}">
                  <a16:creationId xmlns:a16="http://schemas.microsoft.com/office/drawing/2014/main" id="{51B73FFE-5C44-4D78-9403-2090FE06FAD3}"/>
                </a:ext>
              </a:extLst>
            </p:cNvPr>
            <p:cNvSpPr/>
            <p:nvPr/>
          </p:nvSpPr>
          <p:spPr>
            <a:xfrm>
              <a:off x="301397" y="1752600"/>
              <a:ext cx="1811784" cy="3657600"/>
            </a:xfrm>
            <a:prstGeom prst="roundRect">
              <a:avLst/>
            </a:prstGeom>
            <a:noFill/>
            <a:ln>
              <a:solidFill>
                <a:srgbClr val="0C5D6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 coins arrondis 12">
              <a:extLst>
                <a:ext uri="{FF2B5EF4-FFF2-40B4-BE49-F238E27FC236}">
                  <a16:creationId xmlns:a16="http://schemas.microsoft.com/office/drawing/2014/main" id="{FDA22E9C-29E7-488E-9690-39F69E53AF8A}"/>
                </a:ext>
              </a:extLst>
            </p:cNvPr>
            <p:cNvSpPr/>
            <p:nvPr/>
          </p:nvSpPr>
          <p:spPr>
            <a:xfrm>
              <a:off x="4118203" y="1752600"/>
              <a:ext cx="1811784" cy="3657600"/>
            </a:xfrm>
            <a:prstGeom prst="roundRect">
              <a:avLst/>
            </a:prstGeom>
            <a:noFill/>
            <a:ln>
              <a:solidFill>
                <a:srgbClr val="0C5D6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 coins arrondis 13">
              <a:extLst>
                <a:ext uri="{FF2B5EF4-FFF2-40B4-BE49-F238E27FC236}">
                  <a16:creationId xmlns:a16="http://schemas.microsoft.com/office/drawing/2014/main" id="{311FF2EC-29EC-46A5-8C39-752E0D330D98}"/>
                </a:ext>
              </a:extLst>
            </p:cNvPr>
            <p:cNvSpPr/>
            <p:nvPr/>
          </p:nvSpPr>
          <p:spPr>
            <a:xfrm>
              <a:off x="2209800" y="1752600"/>
              <a:ext cx="1811784" cy="3657600"/>
            </a:xfrm>
            <a:prstGeom prst="roundRect">
              <a:avLst/>
            </a:prstGeom>
            <a:noFill/>
            <a:ln>
              <a:solidFill>
                <a:srgbClr val="0C5D6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 coins arrondis 14">
              <a:extLst>
                <a:ext uri="{FF2B5EF4-FFF2-40B4-BE49-F238E27FC236}">
                  <a16:creationId xmlns:a16="http://schemas.microsoft.com/office/drawing/2014/main" id="{D060EE49-9632-4465-8907-28F35D99FC91}"/>
                </a:ext>
              </a:extLst>
            </p:cNvPr>
            <p:cNvSpPr/>
            <p:nvPr/>
          </p:nvSpPr>
          <p:spPr>
            <a:xfrm>
              <a:off x="6026606" y="1752600"/>
              <a:ext cx="1811784" cy="3657600"/>
            </a:xfrm>
            <a:prstGeom prst="roundRect">
              <a:avLst/>
            </a:prstGeom>
            <a:noFill/>
            <a:ln>
              <a:solidFill>
                <a:srgbClr val="0C5D6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 coins arrondis 15">
              <a:extLst>
                <a:ext uri="{FF2B5EF4-FFF2-40B4-BE49-F238E27FC236}">
                  <a16:creationId xmlns:a16="http://schemas.microsoft.com/office/drawing/2014/main" id="{0B39E59D-C1AD-4B32-B2AA-573B1696FFDA}"/>
                </a:ext>
              </a:extLst>
            </p:cNvPr>
            <p:cNvSpPr/>
            <p:nvPr/>
          </p:nvSpPr>
          <p:spPr>
            <a:xfrm>
              <a:off x="7935009" y="1752600"/>
              <a:ext cx="1811784" cy="3657600"/>
            </a:xfrm>
            <a:prstGeom prst="roundRect">
              <a:avLst/>
            </a:prstGeom>
            <a:noFill/>
            <a:ln>
              <a:solidFill>
                <a:srgbClr val="0C5D6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 coins arrondis 16">
              <a:extLst>
                <a:ext uri="{FF2B5EF4-FFF2-40B4-BE49-F238E27FC236}">
                  <a16:creationId xmlns:a16="http://schemas.microsoft.com/office/drawing/2014/main" id="{F36E6ADC-7F1D-409A-8A3B-5798C09F3254}"/>
                </a:ext>
              </a:extLst>
            </p:cNvPr>
            <p:cNvSpPr/>
            <p:nvPr/>
          </p:nvSpPr>
          <p:spPr>
            <a:xfrm>
              <a:off x="9843413" y="1752600"/>
              <a:ext cx="1811784" cy="3657600"/>
            </a:xfrm>
            <a:prstGeom prst="roundRect">
              <a:avLst/>
            </a:prstGeom>
            <a:noFill/>
            <a:ln>
              <a:solidFill>
                <a:srgbClr val="0C5D6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e 17">
              <a:extLst>
                <a:ext uri="{FF2B5EF4-FFF2-40B4-BE49-F238E27FC236}">
                  <a16:creationId xmlns:a16="http://schemas.microsoft.com/office/drawing/2014/main" id="{A2345842-96E7-41CB-99E9-8D409464EBFC}"/>
                </a:ext>
              </a:extLst>
            </p:cNvPr>
            <p:cNvGrpSpPr/>
            <p:nvPr/>
          </p:nvGrpSpPr>
          <p:grpSpPr>
            <a:xfrm>
              <a:off x="2351990" y="2481261"/>
              <a:ext cx="1527403" cy="2667000"/>
              <a:chOff x="457200" y="1896060"/>
              <a:chExt cx="1527403" cy="2667000"/>
            </a:xfrm>
          </p:grpSpPr>
          <p:sp>
            <p:nvSpPr>
              <p:cNvPr id="78" name="Rectangle : coins arrondis 77">
                <a:extLst>
                  <a:ext uri="{FF2B5EF4-FFF2-40B4-BE49-F238E27FC236}">
                    <a16:creationId xmlns:a16="http://schemas.microsoft.com/office/drawing/2014/main" id="{297A7493-8A65-4E0D-B465-F10CA69590B6}"/>
                  </a:ext>
                </a:extLst>
              </p:cNvPr>
              <p:cNvSpPr/>
              <p:nvPr/>
            </p:nvSpPr>
            <p:spPr>
              <a:xfrm>
                <a:off x="457200" y="1896060"/>
                <a:ext cx="1527403" cy="596189"/>
              </a:xfrm>
              <a:prstGeom prst="roundRect">
                <a:avLst/>
              </a:prstGeom>
              <a:solidFill>
                <a:srgbClr val="0C5D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Rectangle : coins arrondis 78">
                <a:extLst>
                  <a:ext uri="{FF2B5EF4-FFF2-40B4-BE49-F238E27FC236}">
                    <a16:creationId xmlns:a16="http://schemas.microsoft.com/office/drawing/2014/main" id="{0CC30B8E-93F0-430D-BB24-CC843594B829}"/>
                  </a:ext>
                </a:extLst>
              </p:cNvPr>
              <p:cNvSpPr/>
              <p:nvPr/>
            </p:nvSpPr>
            <p:spPr>
              <a:xfrm>
                <a:off x="457200" y="2586330"/>
                <a:ext cx="1527403" cy="596189"/>
              </a:xfrm>
              <a:prstGeom prst="roundRect">
                <a:avLst/>
              </a:prstGeom>
              <a:solidFill>
                <a:srgbClr val="0C5D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Rectangle : coins arrondis 79">
                <a:extLst>
                  <a:ext uri="{FF2B5EF4-FFF2-40B4-BE49-F238E27FC236}">
                    <a16:creationId xmlns:a16="http://schemas.microsoft.com/office/drawing/2014/main" id="{4F659A67-F7A9-4FB0-BE50-3C6BB3662856}"/>
                  </a:ext>
                </a:extLst>
              </p:cNvPr>
              <p:cNvSpPr/>
              <p:nvPr/>
            </p:nvSpPr>
            <p:spPr>
              <a:xfrm>
                <a:off x="457200" y="3276600"/>
                <a:ext cx="1527403" cy="596189"/>
              </a:xfrm>
              <a:prstGeom prst="roundRect">
                <a:avLst/>
              </a:prstGeom>
              <a:solidFill>
                <a:srgbClr val="0C5D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Rectangle : coins arrondis 80">
                <a:extLst>
                  <a:ext uri="{FF2B5EF4-FFF2-40B4-BE49-F238E27FC236}">
                    <a16:creationId xmlns:a16="http://schemas.microsoft.com/office/drawing/2014/main" id="{31F8B84E-7713-4FA7-B715-9D64053032E8}"/>
                  </a:ext>
                </a:extLst>
              </p:cNvPr>
              <p:cNvSpPr/>
              <p:nvPr/>
            </p:nvSpPr>
            <p:spPr>
              <a:xfrm>
                <a:off x="457200" y="3966871"/>
                <a:ext cx="1527403" cy="596189"/>
              </a:xfrm>
              <a:prstGeom prst="roundRect">
                <a:avLst/>
              </a:prstGeom>
              <a:solidFill>
                <a:srgbClr val="0C5D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9" name="Groupe 18">
              <a:extLst>
                <a:ext uri="{FF2B5EF4-FFF2-40B4-BE49-F238E27FC236}">
                  <a16:creationId xmlns:a16="http://schemas.microsoft.com/office/drawing/2014/main" id="{B8218434-E759-4DFC-9F6A-A8FE4D292C34}"/>
                </a:ext>
              </a:extLst>
            </p:cNvPr>
            <p:cNvGrpSpPr/>
            <p:nvPr/>
          </p:nvGrpSpPr>
          <p:grpSpPr>
            <a:xfrm>
              <a:off x="4180945" y="2475035"/>
              <a:ext cx="1746481" cy="2697413"/>
              <a:chOff x="364139" y="2482001"/>
              <a:chExt cx="1746481" cy="2697413"/>
            </a:xfrm>
          </p:grpSpPr>
          <p:grpSp>
            <p:nvGrpSpPr>
              <p:cNvPr id="68" name="Groupe 67">
                <a:extLst>
                  <a:ext uri="{FF2B5EF4-FFF2-40B4-BE49-F238E27FC236}">
                    <a16:creationId xmlns:a16="http://schemas.microsoft.com/office/drawing/2014/main" id="{8612F196-A18F-4EB3-BF8F-1DD8516A7BD8}"/>
                  </a:ext>
                </a:extLst>
              </p:cNvPr>
              <p:cNvGrpSpPr/>
              <p:nvPr/>
            </p:nvGrpSpPr>
            <p:grpSpPr>
              <a:xfrm>
                <a:off x="443587" y="2482001"/>
                <a:ext cx="1527403" cy="2667000"/>
                <a:chOff x="457200" y="1896060"/>
                <a:chExt cx="1527403" cy="2667000"/>
              </a:xfrm>
            </p:grpSpPr>
            <p:sp>
              <p:nvSpPr>
                <p:cNvPr id="74" name="Rectangle : coins arrondis 73">
                  <a:extLst>
                    <a:ext uri="{FF2B5EF4-FFF2-40B4-BE49-F238E27FC236}">
                      <a16:creationId xmlns:a16="http://schemas.microsoft.com/office/drawing/2014/main" id="{322B5263-9FAF-4991-A75D-7F501874B5CA}"/>
                    </a:ext>
                  </a:extLst>
                </p:cNvPr>
                <p:cNvSpPr/>
                <p:nvPr/>
              </p:nvSpPr>
              <p:spPr>
                <a:xfrm>
                  <a:off x="457200" y="1896060"/>
                  <a:ext cx="1527403" cy="596189"/>
                </a:xfrm>
                <a:prstGeom prst="roundRect">
                  <a:avLst/>
                </a:prstGeom>
                <a:solidFill>
                  <a:srgbClr val="2233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 name="Rectangle : coins arrondis 74">
                  <a:extLst>
                    <a:ext uri="{FF2B5EF4-FFF2-40B4-BE49-F238E27FC236}">
                      <a16:creationId xmlns:a16="http://schemas.microsoft.com/office/drawing/2014/main" id="{901418A7-6DE9-4FE1-B8D4-157C8D1BB200}"/>
                    </a:ext>
                  </a:extLst>
                </p:cNvPr>
                <p:cNvSpPr/>
                <p:nvPr/>
              </p:nvSpPr>
              <p:spPr>
                <a:xfrm>
                  <a:off x="457200" y="2586330"/>
                  <a:ext cx="1527403" cy="596189"/>
                </a:xfrm>
                <a:prstGeom prst="roundRect">
                  <a:avLst/>
                </a:prstGeom>
                <a:solidFill>
                  <a:srgbClr val="2233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Rectangle : coins arrondis 75">
                  <a:extLst>
                    <a:ext uri="{FF2B5EF4-FFF2-40B4-BE49-F238E27FC236}">
                      <a16:creationId xmlns:a16="http://schemas.microsoft.com/office/drawing/2014/main" id="{C5A10A0D-8AB5-4760-BBFE-0F9FA3335CCA}"/>
                    </a:ext>
                  </a:extLst>
                </p:cNvPr>
                <p:cNvSpPr/>
                <p:nvPr/>
              </p:nvSpPr>
              <p:spPr>
                <a:xfrm>
                  <a:off x="457200" y="3276600"/>
                  <a:ext cx="1527403" cy="596189"/>
                </a:xfrm>
                <a:prstGeom prst="roundRect">
                  <a:avLst/>
                </a:prstGeom>
                <a:solidFill>
                  <a:srgbClr val="2233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 coins arrondis 76">
                  <a:extLst>
                    <a:ext uri="{FF2B5EF4-FFF2-40B4-BE49-F238E27FC236}">
                      <a16:creationId xmlns:a16="http://schemas.microsoft.com/office/drawing/2014/main" id="{6FDE7E02-2ABB-4EFA-91FA-3D8ADFFDE032}"/>
                    </a:ext>
                  </a:extLst>
                </p:cNvPr>
                <p:cNvSpPr/>
                <p:nvPr/>
              </p:nvSpPr>
              <p:spPr>
                <a:xfrm>
                  <a:off x="457200" y="3966871"/>
                  <a:ext cx="1527403" cy="596189"/>
                </a:xfrm>
                <a:prstGeom prst="roundRect">
                  <a:avLst/>
                </a:prstGeom>
                <a:solidFill>
                  <a:srgbClr val="2233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9" name="ZoneTexte 68">
                <a:extLst>
                  <a:ext uri="{FF2B5EF4-FFF2-40B4-BE49-F238E27FC236}">
                    <a16:creationId xmlns:a16="http://schemas.microsoft.com/office/drawing/2014/main" id="{B6B556DD-BF51-44E2-9B8F-0E8FE41CF09E}"/>
                  </a:ext>
                </a:extLst>
              </p:cNvPr>
              <p:cNvSpPr txBox="1"/>
              <p:nvPr/>
            </p:nvSpPr>
            <p:spPr>
              <a:xfrm>
                <a:off x="430558" y="2598674"/>
                <a:ext cx="1521930" cy="39814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Commissariat aux Comptes</a:t>
                </a:r>
              </a:p>
            </p:txBody>
          </p:sp>
          <p:sp>
            <p:nvSpPr>
              <p:cNvPr id="70" name="ZoneTexte 69">
                <a:extLst>
                  <a:ext uri="{FF2B5EF4-FFF2-40B4-BE49-F238E27FC236}">
                    <a16:creationId xmlns:a16="http://schemas.microsoft.com/office/drawing/2014/main" id="{801DF373-D4A3-482B-99AF-8ED511485C57}"/>
                  </a:ext>
                </a:extLst>
              </p:cNvPr>
              <p:cNvSpPr txBox="1"/>
              <p:nvPr/>
            </p:nvSpPr>
            <p:spPr>
              <a:xfrm>
                <a:off x="515088" y="3274593"/>
                <a:ext cx="1384400" cy="24884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dirty="0">
                    <a:solidFill>
                      <a:prstClr val="white"/>
                    </a:solidFill>
                    <a:latin typeface="Tahoma" panose="020B0604030504040204" pitchFamily="34" charset="0"/>
                    <a:ea typeface="Tahoma" panose="020B0604030504040204" pitchFamily="34" charset="0"/>
                    <a:cs typeface="Tahoma" panose="020B0604030504040204" pitchFamily="34" charset="0"/>
                  </a:rPr>
                  <a:t>Due Diligence</a:t>
                </a:r>
                <a:endPar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1" name="ZoneTexte 70">
                <a:extLst>
                  <a:ext uri="{FF2B5EF4-FFF2-40B4-BE49-F238E27FC236}">
                    <a16:creationId xmlns:a16="http://schemas.microsoft.com/office/drawing/2014/main" id="{AB5476BC-7B90-470D-BD3F-62BDCF141EB8}"/>
                  </a:ext>
                </a:extLst>
              </p:cNvPr>
              <p:cNvSpPr txBox="1"/>
              <p:nvPr/>
            </p:nvSpPr>
            <p:spPr>
              <a:xfrm>
                <a:off x="364139" y="3886910"/>
                <a:ext cx="1672775" cy="5474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Commissariat aux Apports, à la Fusion et à la Transformation</a:t>
                </a:r>
              </a:p>
            </p:txBody>
          </p:sp>
          <p:sp>
            <p:nvSpPr>
              <p:cNvPr id="73" name="ZoneTexte 72">
                <a:extLst>
                  <a:ext uri="{FF2B5EF4-FFF2-40B4-BE49-F238E27FC236}">
                    <a16:creationId xmlns:a16="http://schemas.microsoft.com/office/drawing/2014/main" id="{53FC3683-0FBB-410D-82A3-9A0708DBFB29}"/>
                  </a:ext>
                </a:extLst>
              </p:cNvPr>
              <p:cNvSpPr txBox="1"/>
              <p:nvPr/>
            </p:nvSpPr>
            <p:spPr>
              <a:xfrm>
                <a:off x="437845" y="4549019"/>
                <a:ext cx="1672775" cy="6303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Conseil en matière de risques : examen de conformité, contrôle interne, audit interne</a:t>
                </a:r>
              </a:p>
            </p:txBody>
          </p:sp>
        </p:grpSp>
        <p:sp>
          <p:nvSpPr>
            <p:cNvPr id="20" name="ZoneTexte 19">
              <a:extLst>
                <a:ext uri="{FF2B5EF4-FFF2-40B4-BE49-F238E27FC236}">
                  <a16:creationId xmlns:a16="http://schemas.microsoft.com/office/drawing/2014/main" id="{B10DF14C-1F47-40EF-8054-653F9957595C}"/>
                </a:ext>
              </a:extLst>
            </p:cNvPr>
            <p:cNvSpPr txBox="1"/>
            <p:nvPr/>
          </p:nvSpPr>
          <p:spPr>
            <a:xfrm>
              <a:off x="2341430" y="2529852"/>
              <a:ext cx="1521931" cy="5474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Assistance à la mise en place du système de consolidation</a:t>
              </a:r>
            </a:p>
          </p:txBody>
        </p:sp>
        <p:sp>
          <p:nvSpPr>
            <p:cNvPr id="21" name="ZoneTexte 20">
              <a:extLst>
                <a:ext uri="{FF2B5EF4-FFF2-40B4-BE49-F238E27FC236}">
                  <a16:creationId xmlns:a16="http://schemas.microsoft.com/office/drawing/2014/main" id="{74F16E20-21C9-494B-A1EF-FDF7189B320F}"/>
                </a:ext>
              </a:extLst>
            </p:cNvPr>
            <p:cNvSpPr txBox="1"/>
            <p:nvPr/>
          </p:nvSpPr>
          <p:spPr>
            <a:xfrm>
              <a:off x="2372850" y="3201464"/>
              <a:ext cx="1521931" cy="5474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Optimisation des processus de consolidation </a:t>
              </a:r>
            </a:p>
          </p:txBody>
        </p:sp>
        <p:sp>
          <p:nvSpPr>
            <p:cNvPr id="22" name="ZoneTexte 21">
              <a:extLst>
                <a:ext uri="{FF2B5EF4-FFF2-40B4-BE49-F238E27FC236}">
                  <a16:creationId xmlns:a16="http://schemas.microsoft.com/office/drawing/2014/main" id="{A0F7B6ED-FB91-4AA7-AC65-36B485C7B743}"/>
                </a:ext>
              </a:extLst>
            </p:cNvPr>
            <p:cNvSpPr txBox="1"/>
            <p:nvPr/>
          </p:nvSpPr>
          <p:spPr>
            <a:xfrm>
              <a:off x="2305704" y="3899753"/>
              <a:ext cx="1635661" cy="5474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Production et fiabilité des données financières consolidées.</a:t>
              </a:r>
            </a:p>
          </p:txBody>
        </p:sp>
        <p:sp>
          <p:nvSpPr>
            <p:cNvPr id="23" name="ZoneTexte 22">
              <a:extLst>
                <a:ext uri="{FF2B5EF4-FFF2-40B4-BE49-F238E27FC236}">
                  <a16:creationId xmlns:a16="http://schemas.microsoft.com/office/drawing/2014/main" id="{AEC79C7C-4694-4F49-98BD-53E68B94C514}"/>
                </a:ext>
              </a:extLst>
            </p:cNvPr>
            <p:cNvSpPr txBox="1"/>
            <p:nvPr/>
          </p:nvSpPr>
          <p:spPr>
            <a:xfrm>
              <a:off x="2372850" y="4598043"/>
              <a:ext cx="1527403" cy="5474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Support aux migrations de systèmes et à la formation </a:t>
              </a:r>
            </a:p>
          </p:txBody>
        </p:sp>
        <p:grpSp>
          <p:nvGrpSpPr>
            <p:cNvPr id="24" name="Groupe 23">
              <a:extLst>
                <a:ext uri="{FF2B5EF4-FFF2-40B4-BE49-F238E27FC236}">
                  <a16:creationId xmlns:a16="http://schemas.microsoft.com/office/drawing/2014/main" id="{108FD95B-05F0-429A-A275-FE14CCE4670E}"/>
                </a:ext>
              </a:extLst>
            </p:cNvPr>
            <p:cNvGrpSpPr/>
            <p:nvPr/>
          </p:nvGrpSpPr>
          <p:grpSpPr>
            <a:xfrm>
              <a:off x="325619" y="2481049"/>
              <a:ext cx="1754233" cy="2667000"/>
              <a:chOff x="4146977" y="2481261"/>
              <a:chExt cx="1754233" cy="2667000"/>
            </a:xfrm>
          </p:grpSpPr>
          <p:grpSp>
            <p:nvGrpSpPr>
              <p:cNvPr id="60" name="Groupe 59">
                <a:extLst>
                  <a:ext uri="{FF2B5EF4-FFF2-40B4-BE49-F238E27FC236}">
                    <a16:creationId xmlns:a16="http://schemas.microsoft.com/office/drawing/2014/main" id="{CF4D79B6-58D4-46E1-A80F-A4F6F950612B}"/>
                  </a:ext>
                </a:extLst>
              </p:cNvPr>
              <p:cNvGrpSpPr/>
              <p:nvPr/>
            </p:nvGrpSpPr>
            <p:grpSpPr>
              <a:xfrm>
                <a:off x="4260393" y="2481261"/>
                <a:ext cx="1527403" cy="2667000"/>
                <a:chOff x="457200" y="1896060"/>
                <a:chExt cx="1527403" cy="2667000"/>
              </a:xfrm>
              <a:solidFill>
                <a:srgbClr val="0F7E87"/>
              </a:solidFill>
            </p:grpSpPr>
            <p:sp>
              <p:nvSpPr>
                <p:cNvPr id="64" name="Rectangle : coins arrondis 63">
                  <a:extLst>
                    <a:ext uri="{FF2B5EF4-FFF2-40B4-BE49-F238E27FC236}">
                      <a16:creationId xmlns:a16="http://schemas.microsoft.com/office/drawing/2014/main" id="{7F783136-2CC8-430A-83CC-2D4AC63BB8A1}"/>
                    </a:ext>
                  </a:extLst>
                </p:cNvPr>
                <p:cNvSpPr/>
                <p:nvPr/>
              </p:nvSpPr>
              <p:spPr>
                <a:xfrm>
                  <a:off x="457200" y="189606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 name="Rectangle : coins arrondis 64">
                  <a:extLst>
                    <a:ext uri="{FF2B5EF4-FFF2-40B4-BE49-F238E27FC236}">
                      <a16:creationId xmlns:a16="http://schemas.microsoft.com/office/drawing/2014/main" id="{9EF07A13-0D6B-4F0F-8BBE-D0AEDBFE154F}"/>
                    </a:ext>
                  </a:extLst>
                </p:cNvPr>
                <p:cNvSpPr/>
                <p:nvPr/>
              </p:nvSpPr>
              <p:spPr>
                <a:xfrm>
                  <a:off x="457200" y="258633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Rectangle : coins arrondis 65">
                  <a:extLst>
                    <a:ext uri="{FF2B5EF4-FFF2-40B4-BE49-F238E27FC236}">
                      <a16:creationId xmlns:a16="http://schemas.microsoft.com/office/drawing/2014/main" id="{29BEB1BC-F33E-4E5E-9A80-89D345BCEF00}"/>
                    </a:ext>
                  </a:extLst>
                </p:cNvPr>
                <p:cNvSpPr/>
                <p:nvPr/>
              </p:nvSpPr>
              <p:spPr>
                <a:xfrm>
                  <a:off x="457200" y="327660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 name="Rectangle : coins arrondis 66">
                  <a:extLst>
                    <a:ext uri="{FF2B5EF4-FFF2-40B4-BE49-F238E27FC236}">
                      <a16:creationId xmlns:a16="http://schemas.microsoft.com/office/drawing/2014/main" id="{F420AD30-8A4B-4A63-BEEC-E328FE7B01DC}"/>
                    </a:ext>
                  </a:extLst>
                </p:cNvPr>
                <p:cNvSpPr/>
                <p:nvPr/>
              </p:nvSpPr>
              <p:spPr>
                <a:xfrm>
                  <a:off x="457200" y="3966871"/>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1" name="ZoneTexte 60">
                <a:extLst>
                  <a:ext uri="{FF2B5EF4-FFF2-40B4-BE49-F238E27FC236}">
                    <a16:creationId xmlns:a16="http://schemas.microsoft.com/office/drawing/2014/main" id="{90C306EA-7DB6-4622-86A9-2B2DA4EE4217}"/>
                  </a:ext>
                </a:extLst>
              </p:cNvPr>
              <p:cNvSpPr txBox="1"/>
              <p:nvPr/>
            </p:nvSpPr>
            <p:spPr>
              <a:xfrm>
                <a:off x="4282513" y="2522671"/>
                <a:ext cx="1521930" cy="5474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dirty="0">
                    <a:solidFill>
                      <a:prstClr val="white"/>
                    </a:solidFill>
                    <a:latin typeface="Tahoma" panose="020B0604030504040204" pitchFamily="34" charset="0"/>
                    <a:ea typeface="Tahoma" panose="020B0604030504040204" pitchFamily="34" charset="0"/>
                    <a:cs typeface="Tahoma" panose="020B0604030504040204" pitchFamily="34" charset="0"/>
                  </a:rPr>
                  <a:t>Production de l’information </a:t>
                </a:r>
                <a:r>
                  <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financière et comptable</a:t>
                </a:r>
              </a:p>
            </p:txBody>
          </p:sp>
          <p:sp>
            <p:nvSpPr>
              <p:cNvPr id="62" name="ZoneTexte 61">
                <a:extLst>
                  <a:ext uri="{FF2B5EF4-FFF2-40B4-BE49-F238E27FC236}">
                    <a16:creationId xmlns:a16="http://schemas.microsoft.com/office/drawing/2014/main" id="{ED01E564-8C61-4103-8E96-605A8F33C40F}"/>
                  </a:ext>
                </a:extLst>
              </p:cNvPr>
              <p:cNvSpPr txBox="1"/>
              <p:nvPr/>
            </p:nvSpPr>
            <p:spPr>
              <a:xfrm>
                <a:off x="4146977" y="3884327"/>
                <a:ext cx="1731521" cy="6303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dirty="0">
                    <a:solidFill>
                      <a:prstClr val="white"/>
                    </a:solidFill>
                    <a:latin typeface="Tahoma" panose="020B0604030504040204" pitchFamily="34" charset="0"/>
                    <a:ea typeface="Tahoma" panose="020B0604030504040204" pitchFamily="34" charset="0"/>
                    <a:cs typeface="Tahoma" panose="020B0604030504040204" pitchFamily="34" charset="0"/>
                  </a:rPr>
                  <a:t>Support </a:t>
                </a:r>
                <a:r>
                  <a:rPr lang="en-GB" sz="800" dirty="0" err="1">
                    <a:solidFill>
                      <a:prstClr val="white"/>
                    </a:solidFill>
                    <a:latin typeface="Tahoma" panose="020B0604030504040204" pitchFamily="34" charset="0"/>
                    <a:ea typeface="Tahoma" panose="020B0604030504040204" pitchFamily="34" charset="0"/>
                    <a:cs typeface="Tahoma" panose="020B0604030504040204" pitchFamily="34" charset="0"/>
                  </a:rPr>
                  <a:t>opérationnel</a:t>
                </a:r>
                <a:r>
                  <a:rPr lang="en-GB" sz="800"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GB" sz="800" dirty="0" err="1">
                    <a:solidFill>
                      <a:prstClr val="white"/>
                    </a:solidFill>
                    <a:latin typeface="Tahoma" panose="020B0604030504040204" pitchFamily="34" charset="0"/>
                    <a:ea typeface="Tahoma" panose="020B0604030504040204" pitchFamily="34" charset="0"/>
                    <a:cs typeface="Tahoma" panose="020B0604030504040204" pitchFamily="34" charset="0"/>
                  </a:rPr>
                  <a:t>auprès</a:t>
                </a:r>
                <a:r>
                  <a:rPr lang="en-GB" sz="800" dirty="0">
                    <a:solidFill>
                      <a:prstClr val="white"/>
                    </a:solidFill>
                    <a:latin typeface="Tahoma" panose="020B0604030504040204" pitchFamily="34" charset="0"/>
                    <a:ea typeface="Tahoma" panose="020B0604030504040204" pitchFamily="34" charset="0"/>
                    <a:cs typeface="Tahoma" panose="020B0604030504040204" pitchFamily="34" charset="0"/>
                  </a:rPr>
                  <a:t> des Directions </a:t>
                </a:r>
                <a:r>
                  <a:rPr lang="en-GB" sz="800" dirty="0" err="1">
                    <a:solidFill>
                      <a:prstClr val="white"/>
                    </a:solidFill>
                    <a:latin typeface="Tahoma" panose="020B0604030504040204" pitchFamily="34" charset="0"/>
                    <a:ea typeface="Tahoma" panose="020B0604030504040204" pitchFamily="34" charset="0"/>
                    <a:cs typeface="Tahoma" panose="020B0604030504040204" pitchFamily="34" charset="0"/>
                  </a:rPr>
                  <a:t>Financières</a:t>
                </a:r>
                <a:r>
                  <a:rPr lang="en-GB" sz="800"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GB" sz="800" dirty="0" err="1">
                    <a:solidFill>
                      <a:prstClr val="white"/>
                    </a:solidFill>
                    <a:latin typeface="Tahoma" panose="020B0604030504040204" pitchFamily="34" charset="0"/>
                    <a:ea typeface="Tahoma" panose="020B0604030504040204" pitchFamily="34" charset="0"/>
                    <a:cs typeface="Tahoma" panose="020B0604030504040204" pitchFamily="34" charset="0"/>
                  </a:rPr>
                  <a:t>visant</a:t>
                </a:r>
                <a:r>
                  <a:rPr lang="en-GB" sz="800" dirty="0">
                    <a:solidFill>
                      <a:prstClr val="white"/>
                    </a:solidFill>
                    <a:latin typeface="Tahoma" panose="020B0604030504040204" pitchFamily="34" charset="0"/>
                    <a:ea typeface="Tahoma" panose="020B0604030504040204" pitchFamily="34" charset="0"/>
                    <a:cs typeface="Tahoma" panose="020B0604030504040204" pitchFamily="34" charset="0"/>
                  </a:rPr>
                  <a:t> à augmenter </a:t>
                </a:r>
                <a:r>
                  <a:rPr lang="en-GB" sz="800" dirty="0" err="1">
                    <a:solidFill>
                      <a:prstClr val="white"/>
                    </a:solidFill>
                    <a:latin typeface="Tahoma" panose="020B0604030504040204" pitchFamily="34" charset="0"/>
                    <a:ea typeface="Tahoma" panose="020B0604030504040204" pitchFamily="34" charset="0"/>
                    <a:cs typeface="Tahoma" panose="020B0604030504040204" pitchFamily="34" charset="0"/>
                  </a:rPr>
                  <a:t>leur</a:t>
                </a:r>
                <a:r>
                  <a:rPr lang="en-GB" sz="800"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GB" sz="800" dirty="0" err="1">
                    <a:solidFill>
                      <a:prstClr val="white"/>
                    </a:solidFill>
                    <a:latin typeface="Tahoma" panose="020B0604030504040204" pitchFamily="34" charset="0"/>
                    <a:ea typeface="Tahoma" panose="020B0604030504040204" pitchFamily="34" charset="0"/>
                    <a:cs typeface="Tahoma" panose="020B0604030504040204" pitchFamily="34" charset="0"/>
                  </a:rPr>
                  <a:t>taux</a:t>
                </a:r>
                <a:r>
                  <a:rPr lang="en-GB" sz="800" dirty="0">
                    <a:solidFill>
                      <a:prstClr val="white"/>
                    </a:solidFill>
                    <a:latin typeface="Tahoma" panose="020B0604030504040204" pitchFamily="34" charset="0"/>
                    <a:ea typeface="Tahoma" panose="020B0604030504040204" pitchFamily="34" charset="0"/>
                    <a:cs typeface="Tahoma" panose="020B0604030504040204" pitchFamily="34" charset="0"/>
                  </a:rPr>
                  <a:t> de services</a:t>
                </a:r>
                <a:endParaRPr kumimoji="0" lang="fr-FR" sz="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3" name="ZoneTexte 62">
                <a:extLst>
                  <a:ext uri="{FF2B5EF4-FFF2-40B4-BE49-F238E27FC236}">
                    <a16:creationId xmlns:a16="http://schemas.microsoft.com/office/drawing/2014/main" id="{09698CA7-95F2-4780-ADDB-967DD1C94811}"/>
                  </a:ext>
                </a:extLst>
              </p:cNvPr>
              <p:cNvSpPr txBox="1"/>
              <p:nvPr/>
            </p:nvSpPr>
            <p:spPr>
              <a:xfrm>
                <a:off x="4146978" y="4710798"/>
                <a:ext cx="1754232" cy="24884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dirty="0">
                    <a:solidFill>
                      <a:prstClr val="white"/>
                    </a:solidFill>
                    <a:latin typeface="Tahoma" panose="020B0604030504040204" pitchFamily="34" charset="0"/>
                    <a:ea typeface="Tahoma" panose="020B0604030504040204" pitchFamily="34" charset="0"/>
                    <a:cs typeface="Tahoma" panose="020B0604030504040204" pitchFamily="34" charset="0"/>
                  </a:rPr>
                  <a:t>Externalisation</a:t>
                </a:r>
                <a:endParaRPr kumimoji="0" lang="fr-FR" sz="9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nvGrpSpPr>
            <p:cNvPr id="25" name="Groupe 24">
              <a:extLst>
                <a:ext uri="{FF2B5EF4-FFF2-40B4-BE49-F238E27FC236}">
                  <a16:creationId xmlns:a16="http://schemas.microsoft.com/office/drawing/2014/main" id="{72C11D10-4EF7-4614-8DF7-84E6180EAADD}"/>
                </a:ext>
              </a:extLst>
            </p:cNvPr>
            <p:cNvGrpSpPr/>
            <p:nvPr/>
          </p:nvGrpSpPr>
          <p:grpSpPr>
            <a:xfrm>
              <a:off x="6168796" y="2481261"/>
              <a:ext cx="1527403" cy="2667000"/>
              <a:chOff x="457200" y="1896060"/>
              <a:chExt cx="1527403" cy="2667000"/>
            </a:xfrm>
            <a:solidFill>
              <a:srgbClr val="0B8F86"/>
            </a:solidFill>
          </p:grpSpPr>
          <p:sp>
            <p:nvSpPr>
              <p:cNvPr id="56" name="Rectangle : coins arrondis 55">
                <a:extLst>
                  <a:ext uri="{FF2B5EF4-FFF2-40B4-BE49-F238E27FC236}">
                    <a16:creationId xmlns:a16="http://schemas.microsoft.com/office/drawing/2014/main" id="{60F20794-4690-4A72-AC80-9956274FB141}"/>
                  </a:ext>
                </a:extLst>
              </p:cNvPr>
              <p:cNvSpPr/>
              <p:nvPr/>
            </p:nvSpPr>
            <p:spPr>
              <a:xfrm>
                <a:off x="457200" y="189606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 name="Rectangle : coins arrondis 56">
                <a:extLst>
                  <a:ext uri="{FF2B5EF4-FFF2-40B4-BE49-F238E27FC236}">
                    <a16:creationId xmlns:a16="http://schemas.microsoft.com/office/drawing/2014/main" id="{903C297A-DEEE-49FF-B68D-5EE735F6E8F6}"/>
                  </a:ext>
                </a:extLst>
              </p:cNvPr>
              <p:cNvSpPr/>
              <p:nvPr/>
            </p:nvSpPr>
            <p:spPr>
              <a:xfrm>
                <a:off x="457200" y="258633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 name="Rectangle : coins arrondis 57">
                <a:extLst>
                  <a:ext uri="{FF2B5EF4-FFF2-40B4-BE49-F238E27FC236}">
                    <a16:creationId xmlns:a16="http://schemas.microsoft.com/office/drawing/2014/main" id="{A8968A79-1C3A-4F4A-9163-A4C146A6F7A0}"/>
                  </a:ext>
                </a:extLst>
              </p:cNvPr>
              <p:cNvSpPr/>
              <p:nvPr/>
            </p:nvSpPr>
            <p:spPr>
              <a:xfrm>
                <a:off x="457200" y="327660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 name="Rectangle : coins arrondis 58">
                <a:extLst>
                  <a:ext uri="{FF2B5EF4-FFF2-40B4-BE49-F238E27FC236}">
                    <a16:creationId xmlns:a16="http://schemas.microsoft.com/office/drawing/2014/main" id="{9129CF05-5A27-4AD4-A56D-3E4D43E151D8}"/>
                  </a:ext>
                </a:extLst>
              </p:cNvPr>
              <p:cNvSpPr/>
              <p:nvPr/>
            </p:nvSpPr>
            <p:spPr>
              <a:xfrm>
                <a:off x="457200" y="3966871"/>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6" name="ZoneTexte 25">
              <a:extLst>
                <a:ext uri="{FF2B5EF4-FFF2-40B4-BE49-F238E27FC236}">
                  <a16:creationId xmlns:a16="http://schemas.microsoft.com/office/drawing/2014/main" id="{D869E1B8-E798-41C1-B4D9-23205EC9684C}"/>
                </a:ext>
              </a:extLst>
            </p:cNvPr>
            <p:cNvSpPr txBox="1"/>
            <p:nvPr/>
          </p:nvSpPr>
          <p:spPr>
            <a:xfrm>
              <a:off x="6163325" y="2453209"/>
              <a:ext cx="1521929" cy="630395"/>
            </a:xfrm>
            <a:prstGeom prst="rect">
              <a:avLst/>
            </a:prstGeom>
            <a:noFill/>
          </p:spPr>
          <p:txBody>
            <a:bodyPr wrap="square">
              <a:spAutoFit/>
            </a:bodyPr>
            <a:lstStyle/>
            <a:p>
              <a:pPr lvl="0" algn="ctr">
                <a:defRPr/>
              </a:pPr>
              <a:r>
                <a:rPr lang="en-US" sz="800">
                  <a:solidFill>
                    <a:prstClr val="white"/>
                  </a:solidFill>
                  <a:latin typeface="Tahoma" panose="020B0604030504040204" pitchFamily="34" charset="0"/>
                  <a:ea typeface="Tahoma" panose="020B0604030504040204" pitchFamily="34" charset="0"/>
                  <a:cs typeface="Tahoma" panose="020B0604030504040204" pitchFamily="34" charset="0"/>
                </a:rPr>
                <a:t>Accompagnement des entreprises dans le respect des réglementations locales</a:t>
              </a:r>
              <a:endParaRPr kumimoji="0" lang="fr-FR" sz="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7" name="ZoneTexte 26">
              <a:extLst>
                <a:ext uri="{FF2B5EF4-FFF2-40B4-BE49-F238E27FC236}">
                  <a16:creationId xmlns:a16="http://schemas.microsoft.com/office/drawing/2014/main" id="{5E5336AD-25B3-47F9-A83D-859D5BE4AF54}"/>
                </a:ext>
              </a:extLst>
            </p:cNvPr>
            <p:cNvSpPr txBox="1"/>
            <p:nvPr/>
          </p:nvSpPr>
          <p:spPr>
            <a:xfrm>
              <a:off x="6163323" y="3194199"/>
              <a:ext cx="1521931" cy="49768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Accompagnement des entreprises dans leur implantation à l'étranger</a:t>
              </a:r>
            </a:p>
          </p:txBody>
        </p:sp>
        <p:sp>
          <p:nvSpPr>
            <p:cNvPr id="28" name="ZoneTexte 27">
              <a:extLst>
                <a:ext uri="{FF2B5EF4-FFF2-40B4-BE49-F238E27FC236}">
                  <a16:creationId xmlns:a16="http://schemas.microsoft.com/office/drawing/2014/main" id="{3ABAADE5-3FBA-46F6-9B54-37137BC28A30}"/>
                </a:ext>
              </a:extLst>
            </p:cNvPr>
            <p:cNvSpPr txBox="1"/>
            <p:nvPr/>
          </p:nvSpPr>
          <p:spPr>
            <a:xfrm>
              <a:off x="6168796" y="3861801"/>
              <a:ext cx="1521931" cy="630395"/>
            </a:xfrm>
            <a:prstGeom prst="rect">
              <a:avLst/>
            </a:prstGeom>
            <a:noFill/>
          </p:spPr>
          <p:txBody>
            <a:bodyPr wrap="square">
              <a:spAutoFit/>
            </a:bodyPr>
            <a:lstStyle/>
            <a:p>
              <a:pPr lvl="0" algn="ctr">
                <a:defRPr/>
              </a:pPr>
              <a:r>
                <a:rPr lang="en-US" sz="800" dirty="0" err="1">
                  <a:solidFill>
                    <a:prstClr val="white"/>
                  </a:solidFill>
                  <a:latin typeface="Tahoma" panose="020B0604030504040204" pitchFamily="34" charset="0"/>
                  <a:ea typeface="Tahoma" panose="020B0604030504040204" pitchFamily="34" charset="0"/>
                  <a:cs typeface="Tahoma" panose="020B0604030504040204" pitchFamily="34" charset="0"/>
                </a:rPr>
                <a:t>Accompagnement</a:t>
              </a:r>
              <a:r>
                <a:rPr lang="en-US" sz="800" dirty="0">
                  <a:solidFill>
                    <a:prstClr val="white"/>
                  </a:solidFill>
                  <a:latin typeface="Tahoma" panose="020B0604030504040204" pitchFamily="34" charset="0"/>
                  <a:ea typeface="Tahoma" panose="020B0604030504040204" pitchFamily="34" charset="0"/>
                  <a:cs typeface="Tahoma" panose="020B0604030504040204" pitchFamily="34" charset="0"/>
                </a:rPr>
                <a:t> dans </a:t>
              </a:r>
              <a:r>
                <a:rPr lang="en-US" sz="800" dirty="0" err="1">
                  <a:solidFill>
                    <a:prstClr val="white"/>
                  </a:solidFill>
                  <a:latin typeface="Tahoma" panose="020B0604030504040204" pitchFamily="34" charset="0"/>
                  <a:ea typeface="Tahoma" panose="020B0604030504040204" pitchFamily="34" charset="0"/>
                  <a:cs typeface="Tahoma" panose="020B0604030504040204" pitchFamily="34" charset="0"/>
                </a:rPr>
                <a:t>l'acquisition</a:t>
              </a:r>
              <a:r>
                <a:rPr lang="en-US" sz="800" dirty="0">
                  <a:solidFill>
                    <a:prstClr val="white"/>
                  </a:solidFill>
                  <a:latin typeface="Tahoma" panose="020B0604030504040204" pitchFamily="34" charset="0"/>
                  <a:ea typeface="Tahoma" panose="020B0604030504040204" pitchFamily="34" charset="0"/>
                  <a:cs typeface="Tahoma" panose="020B0604030504040204" pitchFamily="34" charset="0"/>
                </a:rPr>
                <a:t>, la </a:t>
              </a:r>
              <a:r>
                <a:rPr lang="en-US" sz="800" dirty="0" err="1">
                  <a:solidFill>
                    <a:prstClr val="white"/>
                  </a:solidFill>
                  <a:latin typeface="Tahoma" panose="020B0604030504040204" pitchFamily="34" charset="0"/>
                  <a:ea typeface="Tahoma" panose="020B0604030504040204" pitchFamily="34" charset="0"/>
                  <a:cs typeface="Tahoma" panose="020B0604030504040204" pitchFamily="34" charset="0"/>
                </a:rPr>
                <a:t>création</a:t>
              </a:r>
              <a:r>
                <a:rPr lang="en-US" sz="800"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US" sz="800" dirty="0" err="1">
                  <a:solidFill>
                    <a:prstClr val="white"/>
                  </a:solidFill>
                  <a:latin typeface="Tahoma" panose="020B0604030504040204" pitchFamily="34" charset="0"/>
                  <a:ea typeface="Tahoma" panose="020B0604030504040204" pitchFamily="34" charset="0"/>
                  <a:cs typeface="Tahoma" panose="020B0604030504040204" pitchFamily="34" charset="0"/>
                </a:rPr>
                <a:t>d'une</a:t>
              </a:r>
              <a:r>
                <a:rPr lang="en-US" sz="800"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US" sz="800" dirty="0" err="1">
                  <a:solidFill>
                    <a:prstClr val="white"/>
                  </a:solidFill>
                  <a:latin typeface="Tahoma" panose="020B0604030504040204" pitchFamily="34" charset="0"/>
                  <a:ea typeface="Tahoma" panose="020B0604030504040204" pitchFamily="34" charset="0"/>
                  <a:cs typeface="Tahoma" panose="020B0604030504040204" pitchFamily="34" charset="0"/>
                </a:rPr>
                <a:t>filiales</a:t>
              </a:r>
              <a:r>
                <a:rPr lang="en-US" sz="800"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US" sz="800" dirty="0" err="1">
                  <a:solidFill>
                    <a:prstClr val="white"/>
                  </a:solidFill>
                  <a:latin typeface="Tahoma" panose="020B0604030504040204" pitchFamily="34" charset="0"/>
                  <a:ea typeface="Tahoma" panose="020B0604030504040204" pitchFamily="34" charset="0"/>
                  <a:cs typeface="Tahoma" panose="020B0604030504040204" pitchFamily="34" charset="0"/>
                </a:rPr>
                <a:t>ou</a:t>
              </a:r>
              <a:r>
                <a:rPr lang="en-US" sz="800"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US" sz="800" dirty="0" err="1">
                  <a:solidFill>
                    <a:prstClr val="white"/>
                  </a:solidFill>
                  <a:latin typeface="Tahoma" panose="020B0604030504040204" pitchFamily="34" charset="0"/>
                  <a:ea typeface="Tahoma" panose="020B0604030504040204" pitchFamily="34" charset="0"/>
                  <a:cs typeface="Tahoma" panose="020B0604030504040204" pitchFamily="34" charset="0"/>
                </a:rPr>
                <a:t>d’une</a:t>
              </a:r>
              <a:r>
                <a:rPr lang="en-US" sz="800"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US" sz="800" dirty="0" err="1">
                  <a:solidFill>
                    <a:prstClr val="white"/>
                  </a:solidFill>
                  <a:latin typeface="Tahoma" panose="020B0604030504040204" pitchFamily="34" charset="0"/>
                  <a:ea typeface="Tahoma" panose="020B0604030504040204" pitchFamily="34" charset="0"/>
                  <a:cs typeface="Tahoma" panose="020B0604030504040204" pitchFamily="34" charset="0"/>
                </a:rPr>
                <a:t>succursale</a:t>
              </a:r>
              <a:endParaRPr kumimoji="0" lang="fr-FR" sz="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9" name="ZoneTexte 28">
              <a:extLst>
                <a:ext uri="{FF2B5EF4-FFF2-40B4-BE49-F238E27FC236}">
                  <a16:creationId xmlns:a16="http://schemas.microsoft.com/office/drawing/2014/main" id="{4F665FD3-95E0-41DB-A1AB-B9B66688BA6D}"/>
                </a:ext>
              </a:extLst>
            </p:cNvPr>
            <p:cNvSpPr txBox="1"/>
            <p:nvPr/>
          </p:nvSpPr>
          <p:spPr>
            <a:xfrm>
              <a:off x="6181717" y="4585045"/>
              <a:ext cx="1521931" cy="369332"/>
            </a:xfrm>
            <a:prstGeom prst="rect">
              <a:avLst/>
            </a:prstGeom>
            <a:noFill/>
          </p:spPr>
          <p:txBody>
            <a:bodyPr wrap="square">
              <a:spAutoFit/>
            </a:bodyPr>
            <a:lstStyle/>
            <a:p>
              <a:pPr algn="ct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Accompagnement</a:t>
              </a: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 dans les transactions </a:t>
              </a: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transfrontalières</a:t>
              </a:r>
              <a:endParaRPr lang="en-US" sz="9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nvGrpSpPr>
            <p:cNvPr id="30" name="Groupe 29">
              <a:extLst>
                <a:ext uri="{FF2B5EF4-FFF2-40B4-BE49-F238E27FC236}">
                  <a16:creationId xmlns:a16="http://schemas.microsoft.com/office/drawing/2014/main" id="{24B16644-AAEB-4573-BA9C-49F36A78D02B}"/>
                </a:ext>
              </a:extLst>
            </p:cNvPr>
            <p:cNvGrpSpPr/>
            <p:nvPr/>
          </p:nvGrpSpPr>
          <p:grpSpPr>
            <a:xfrm>
              <a:off x="8077199" y="2481261"/>
              <a:ext cx="1527403" cy="2667000"/>
              <a:chOff x="457200" y="1896060"/>
              <a:chExt cx="1527403" cy="2667000"/>
            </a:xfrm>
            <a:solidFill>
              <a:srgbClr val="0EB6AA"/>
            </a:solidFill>
          </p:grpSpPr>
          <p:sp>
            <p:nvSpPr>
              <p:cNvPr id="52" name="Rectangle : coins arrondis 51">
                <a:extLst>
                  <a:ext uri="{FF2B5EF4-FFF2-40B4-BE49-F238E27FC236}">
                    <a16:creationId xmlns:a16="http://schemas.microsoft.com/office/drawing/2014/main" id="{71F2D839-4FCF-48A8-A4EF-4F1610B81F8D}"/>
                  </a:ext>
                </a:extLst>
              </p:cNvPr>
              <p:cNvSpPr/>
              <p:nvPr/>
            </p:nvSpPr>
            <p:spPr>
              <a:xfrm>
                <a:off x="457200" y="189606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 name="Rectangle : coins arrondis 52">
                <a:extLst>
                  <a:ext uri="{FF2B5EF4-FFF2-40B4-BE49-F238E27FC236}">
                    <a16:creationId xmlns:a16="http://schemas.microsoft.com/office/drawing/2014/main" id="{8B2DAA60-CB6D-4678-9DCD-08EAFB78C7A3}"/>
                  </a:ext>
                </a:extLst>
              </p:cNvPr>
              <p:cNvSpPr/>
              <p:nvPr/>
            </p:nvSpPr>
            <p:spPr>
              <a:xfrm>
                <a:off x="457200" y="258633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Rectangle : coins arrondis 53">
                <a:extLst>
                  <a:ext uri="{FF2B5EF4-FFF2-40B4-BE49-F238E27FC236}">
                    <a16:creationId xmlns:a16="http://schemas.microsoft.com/office/drawing/2014/main" id="{4A37D344-E2AE-4F3C-946C-6BB6534A0DD9}"/>
                  </a:ext>
                </a:extLst>
              </p:cNvPr>
              <p:cNvSpPr/>
              <p:nvPr/>
            </p:nvSpPr>
            <p:spPr>
              <a:xfrm>
                <a:off x="457200" y="327660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 name="Rectangle : coins arrondis 54">
                <a:extLst>
                  <a:ext uri="{FF2B5EF4-FFF2-40B4-BE49-F238E27FC236}">
                    <a16:creationId xmlns:a16="http://schemas.microsoft.com/office/drawing/2014/main" id="{212E6CA4-9916-4760-99B9-17883DF943AB}"/>
                  </a:ext>
                </a:extLst>
              </p:cNvPr>
              <p:cNvSpPr/>
              <p:nvPr/>
            </p:nvSpPr>
            <p:spPr>
              <a:xfrm>
                <a:off x="457200" y="3966871"/>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1" name="ZoneTexte 30">
              <a:extLst>
                <a:ext uri="{FF2B5EF4-FFF2-40B4-BE49-F238E27FC236}">
                  <a16:creationId xmlns:a16="http://schemas.microsoft.com/office/drawing/2014/main" id="{C973A2EC-CE18-48BE-8A7A-A5349F74027E}"/>
                </a:ext>
              </a:extLst>
            </p:cNvPr>
            <p:cNvSpPr txBox="1"/>
            <p:nvPr/>
          </p:nvSpPr>
          <p:spPr>
            <a:xfrm>
              <a:off x="8072112" y="2591708"/>
              <a:ext cx="1521930" cy="369332"/>
            </a:xfrm>
            <a:prstGeom prst="rect">
              <a:avLst/>
            </a:prstGeom>
            <a:noFill/>
          </p:spPr>
          <p:txBody>
            <a:bodyPr wrap="square">
              <a:spAutoFit/>
            </a:bodyPr>
            <a:lstStyle/>
            <a:p>
              <a:pPr lvl="0" algn="ctr">
                <a:defRPr/>
              </a:pPr>
              <a:r>
                <a:rPr lang="fr-FR" sz="900">
                  <a:solidFill>
                    <a:prstClr val="white"/>
                  </a:solidFill>
                  <a:latin typeface="Tahoma" panose="020B0604030504040204" pitchFamily="34" charset="0"/>
                  <a:ea typeface="Tahoma" panose="020B0604030504040204" pitchFamily="34" charset="0"/>
                  <a:cs typeface="Tahoma" panose="020B0604030504040204" pitchFamily="34" charset="0"/>
                </a:rPr>
                <a:t>Gestion déléguée de la paie</a:t>
              </a:r>
              <a:endParaRPr kumimoji="0" lang="fr-FR" sz="9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2" name="ZoneTexte 31">
              <a:extLst>
                <a:ext uri="{FF2B5EF4-FFF2-40B4-BE49-F238E27FC236}">
                  <a16:creationId xmlns:a16="http://schemas.microsoft.com/office/drawing/2014/main" id="{DD321735-99F4-4DF7-AE02-69F60E6825EE}"/>
                </a:ext>
              </a:extLst>
            </p:cNvPr>
            <p:cNvSpPr txBox="1"/>
            <p:nvPr/>
          </p:nvSpPr>
          <p:spPr>
            <a:xfrm>
              <a:off x="8082672" y="3284958"/>
              <a:ext cx="1521930" cy="369332"/>
            </a:xfrm>
            <a:prstGeom prst="rect">
              <a:avLst/>
            </a:prstGeom>
            <a:noFill/>
          </p:spPr>
          <p:txBody>
            <a:bodyPr wrap="square">
              <a:spAutoFit/>
            </a:bodyPr>
            <a:lstStyle/>
            <a:p>
              <a:pPr lvl="0" algn="ctr">
                <a:defRPr/>
              </a:pPr>
              <a:r>
                <a:rPr lang="en-US" sz="900">
                  <a:solidFill>
                    <a:prstClr val="white"/>
                  </a:solidFill>
                  <a:latin typeface="Tahoma" panose="020B0604030504040204" pitchFamily="34" charset="0"/>
                  <a:ea typeface="Tahoma" panose="020B0604030504040204" pitchFamily="34" charset="0"/>
                  <a:cs typeface="Tahoma" panose="020B0604030504040204" pitchFamily="34" charset="0"/>
                </a:rPr>
                <a:t>Expertise en droit social français</a:t>
              </a:r>
              <a:endParaRPr kumimoji="0" lang="fr-FR" sz="9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ZoneTexte 32">
              <a:extLst>
                <a:ext uri="{FF2B5EF4-FFF2-40B4-BE49-F238E27FC236}">
                  <a16:creationId xmlns:a16="http://schemas.microsoft.com/office/drawing/2014/main" id="{7C16587E-0EE2-4CF2-85C7-27C0D4D83BB1}"/>
                </a:ext>
              </a:extLst>
            </p:cNvPr>
            <p:cNvSpPr txBox="1"/>
            <p:nvPr/>
          </p:nvSpPr>
          <p:spPr>
            <a:xfrm>
              <a:off x="8102078" y="3875569"/>
              <a:ext cx="1521931" cy="507831"/>
            </a:xfrm>
            <a:prstGeom prst="rect">
              <a:avLst/>
            </a:prstGeom>
            <a:noFill/>
          </p:spPr>
          <p:txBody>
            <a:bodyPr wrap="square">
              <a:spAutoFit/>
            </a:bodyPr>
            <a:lstStyle/>
            <a:p>
              <a:pPr lvl="0" algn="ctr">
                <a:defRPr/>
              </a:pPr>
              <a:r>
                <a:rPr lang="en-US" sz="900" dirty="0">
                  <a:solidFill>
                    <a:prstClr val="white"/>
                  </a:solidFill>
                  <a:latin typeface="Tahoma" panose="020B0604030504040204" pitchFamily="34" charset="0"/>
                  <a:ea typeface="Tahoma" panose="020B0604030504040204" pitchFamily="34" charset="0"/>
                  <a:cs typeface="Tahoma" panose="020B0604030504040204" pitchFamily="34" charset="0"/>
                </a:rPr>
                <a:t>Assistance technique </a:t>
              </a:r>
              <a:r>
                <a:rPr lang="en-US" sz="900" dirty="0" err="1">
                  <a:solidFill>
                    <a:prstClr val="white"/>
                  </a:solidFill>
                  <a:latin typeface="Tahoma" panose="020B0604030504040204" pitchFamily="34" charset="0"/>
                  <a:ea typeface="Tahoma" panose="020B0604030504040204" pitchFamily="34" charset="0"/>
                  <a:cs typeface="Tahoma" panose="020B0604030504040204" pitchFamily="34" charset="0"/>
                </a:rPr>
                <a:t>spécifique</a:t>
              </a:r>
              <a:r>
                <a:rPr lang="en-US" sz="900" dirty="0">
                  <a:solidFill>
                    <a:prstClr val="white"/>
                  </a:solidFill>
                  <a:latin typeface="Tahoma" panose="020B0604030504040204" pitchFamily="34" charset="0"/>
                  <a:ea typeface="Tahoma" panose="020B0604030504040204" pitchFamily="34" charset="0"/>
                  <a:cs typeface="Tahoma" panose="020B0604030504040204" pitchFamily="34" charset="0"/>
                </a:rPr>
                <a:t> dans le </a:t>
              </a:r>
              <a:r>
                <a:rPr lang="en-US" sz="900" dirty="0" err="1">
                  <a:solidFill>
                    <a:prstClr val="white"/>
                  </a:solidFill>
                  <a:latin typeface="Tahoma" panose="020B0604030504040204" pitchFamily="34" charset="0"/>
                  <a:ea typeface="Tahoma" panose="020B0604030504040204" pitchFamily="34" charset="0"/>
                  <a:cs typeface="Tahoma" panose="020B0604030504040204" pitchFamily="34" charset="0"/>
                </a:rPr>
                <a:t>domaine</a:t>
              </a:r>
              <a:r>
                <a:rPr lang="en-US" sz="900" dirty="0">
                  <a:solidFill>
                    <a:prstClr val="white"/>
                  </a:solidFill>
                  <a:latin typeface="Tahoma" panose="020B0604030504040204" pitchFamily="34" charset="0"/>
                  <a:ea typeface="Tahoma" panose="020B0604030504040204" pitchFamily="34" charset="0"/>
                  <a:cs typeface="Tahoma" panose="020B0604030504040204" pitchFamily="34" charset="0"/>
                </a:rPr>
                <a:t> social</a:t>
              </a:r>
              <a:endParaRPr kumimoji="0" lang="fr-FR" sz="9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4" name="ZoneTexte 33">
              <a:extLst>
                <a:ext uri="{FF2B5EF4-FFF2-40B4-BE49-F238E27FC236}">
                  <a16:creationId xmlns:a16="http://schemas.microsoft.com/office/drawing/2014/main" id="{F24EC17C-E72A-4B8B-BFF8-BDF8B87F4304}"/>
                </a:ext>
              </a:extLst>
            </p:cNvPr>
            <p:cNvSpPr txBox="1"/>
            <p:nvPr/>
          </p:nvSpPr>
          <p:spPr>
            <a:xfrm>
              <a:off x="8082672" y="4562911"/>
              <a:ext cx="1521931" cy="507831"/>
            </a:xfrm>
            <a:prstGeom prst="rect">
              <a:avLst/>
            </a:prstGeom>
            <a:noFill/>
          </p:spPr>
          <p:txBody>
            <a:bodyPr wrap="square">
              <a:spAutoFit/>
            </a:bodyPr>
            <a:lstStyle/>
            <a:p>
              <a:pPr lvl="0" algn="ctr">
                <a:defRPr/>
              </a:pPr>
              <a:r>
                <a:rPr lang="en-US" sz="900" dirty="0">
                  <a:solidFill>
                    <a:prstClr val="white"/>
                  </a:solidFill>
                  <a:latin typeface="Tahoma" panose="020B0604030504040204" pitchFamily="34" charset="0"/>
                  <a:ea typeface="Tahoma" panose="020B0604030504040204" pitchFamily="34" charset="0"/>
                  <a:cs typeface="Tahoma" panose="020B0604030504040204" pitchFamily="34" charset="0"/>
                </a:rPr>
                <a:t>Conseil et assistance aux TPE, aux PME et aux grands </a:t>
              </a:r>
              <a:r>
                <a:rPr lang="en-US" sz="900" dirty="0" err="1">
                  <a:solidFill>
                    <a:prstClr val="white"/>
                  </a:solidFill>
                  <a:latin typeface="Tahoma" panose="020B0604030504040204" pitchFamily="34" charset="0"/>
                  <a:ea typeface="Tahoma" panose="020B0604030504040204" pitchFamily="34" charset="0"/>
                  <a:cs typeface="Tahoma" panose="020B0604030504040204" pitchFamily="34" charset="0"/>
                </a:rPr>
                <a:t>groupes</a:t>
              </a:r>
              <a:endParaRPr kumimoji="0" lang="fr-FR" sz="9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35" name="Groupe 34">
              <a:extLst>
                <a:ext uri="{FF2B5EF4-FFF2-40B4-BE49-F238E27FC236}">
                  <a16:creationId xmlns:a16="http://schemas.microsoft.com/office/drawing/2014/main" id="{870B95FA-26DC-4A2B-A8F3-CDF07DE590D6}"/>
                </a:ext>
              </a:extLst>
            </p:cNvPr>
            <p:cNvGrpSpPr/>
            <p:nvPr/>
          </p:nvGrpSpPr>
          <p:grpSpPr>
            <a:xfrm>
              <a:off x="10004987" y="2481261"/>
              <a:ext cx="1527403" cy="2667000"/>
              <a:chOff x="457200" y="1896060"/>
              <a:chExt cx="1527403" cy="2667000"/>
            </a:xfrm>
            <a:solidFill>
              <a:srgbClr val="0B8F86"/>
            </a:solidFill>
          </p:grpSpPr>
          <p:sp>
            <p:nvSpPr>
              <p:cNvPr id="48" name="Rectangle : coins arrondis 47">
                <a:extLst>
                  <a:ext uri="{FF2B5EF4-FFF2-40B4-BE49-F238E27FC236}">
                    <a16:creationId xmlns:a16="http://schemas.microsoft.com/office/drawing/2014/main" id="{011468C3-DDCD-4F12-9AAD-554A28B5F762}"/>
                  </a:ext>
                </a:extLst>
              </p:cNvPr>
              <p:cNvSpPr/>
              <p:nvPr/>
            </p:nvSpPr>
            <p:spPr>
              <a:xfrm>
                <a:off x="457200" y="189606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Rectangle : coins arrondis 48">
                <a:extLst>
                  <a:ext uri="{FF2B5EF4-FFF2-40B4-BE49-F238E27FC236}">
                    <a16:creationId xmlns:a16="http://schemas.microsoft.com/office/drawing/2014/main" id="{7155ECA2-76EC-4FFD-8CF5-797076DB1E76}"/>
                  </a:ext>
                </a:extLst>
              </p:cNvPr>
              <p:cNvSpPr/>
              <p:nvPr/>
            </p:nvSpPr>
            <p:spPr>
              <a:xfrm>
                <a:off x="457200" y="258633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Rectangle : coins arrondis 49">
                <a:extLst>
                  <a:ext uri="{FF2B5EF4-FFF2-40B4-BE49-F238E27FC236}">
                    <a16:creationId xmlns:a16="http://schemas.microsoft.com/office/drawing/2014/main" id="{A241705F-0181-4952-BF01-DED48BA37087}"/>
                  </a:ext>
                </a:extLst>
              </p:cNvPr>
              <p:cNvSpPr/>
              <p:nvPr/>
            </p:nvSpPr>
            <p:spPr>
              <a:xfrm>
                <a:off x="457200" y="3276600"/>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1" name="Rectangle : coins arrondis 50">
                <a:extLst>
                  <a:ext uri="{FF2B5EF4-FFF2-40B4-BE49-F238E27FC236}">
                    <a16:creationId xmlns:a16="http://schemas.microsoft.com/office/drawing/2014/main" id="{81908A74-0F87-4ED6-9C65-B0C37F7ADB7A}"/>
                  </a:ext>
                </a:extLst>
              </p:cNvPr>
              <p:cNvSpPr/>
              <p:nvPr/>
            </p:nvSpPr>
            <p:spPr>
              <a:xfrm>
                <a:off x="457200" y="3966871"/>
                <a:ext cx="1527403" cy="59618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6" name="ZoneTexte 35">
              <a:extLst>
                <a:ext uri="{FF2B5EF4-FFF2-40B4-BE49-F238E27FC236}">
                  <a16:creationId xmlns:a16="http://schemas.microsoft.com/office/drawing/2014/main" id="{C9A6AD15-C63C-46F1-BEC2-AC3AAECC5E67}"/>
                </a:ext>
              </a:extLst>
            </p:cNvPr>
            <p:cNvSpPr txBox="1"/>
            <p:nvPr/>
          </p:nvSpPr>
          <p:spPr>
            <a:xfrm>
              <a:off x="10004987" y="2660958"/>
              <a:ext cx="1521931" cy="24884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Évaluation</a:t>
              </a:r>
            </a:p>
          </p:txBody>
        </p:sp>
        <p:sp>
          <p:nvSpPr>
            <p:cNvPr id="37" name="ZoneTexte 36">
              <a:extLst>
                <a:ext uri="{FF2B5EF4-FFF2-40B4-BE49-F238E27FC236}">
                  <a16:creationId xmlns:a16="http://schemas.microsoft.com/office/drawing/2014/main" id="{2FCC676B-6728-4892-997A-B327AC476250}"/>
                </a:ext>
              </a:extLst>
            </p:cNvPr>
            <p:cNvSpPr txBox="1"/>
            <p:nvPr/>
          </p:nvSpPr>
          <p:spPr>
            <a:xfrm>
              <a:off x="10041236" y="3354207"/>
              <a:ext cx="1521931" cy="24884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Cession &amp; Acquisitions</a:t>
              </a:r>
            </a:p>
          </p:txBody>
        </p:sp>
        <p:sp>
          <p:nvSpPr>
            <p:cNvPr id="38" name="ZoneTexte 37">
              <a:extLst>
                <a:ext uri="{FF2B5EF4-FFF2-40B4-BE49-F238E27FC236}">
                  <a16:creationId xmlns:a16="http://schemas.microsoft.com/office/drawing/2014/main" id="{311F198A-9769-4442-9C8E-E5BB9F836E2C}"/>
                </a:ext>
              </a:extLst>
            </p:cNvPr>
            <p:cNvSpPr txBox="1"/>
            <p:nvPr/>
          </p:nvSpPr>
          <p:spPr>
            <a:xfrm>
              <a:off x="10010460" y="4000300"/>
              <a:ext cx="1521931" cy="24884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Restructuring</a:t>
              </a:r>
              <a:endParaRPr kumimoji="0" lang="fr-FR" sz="900" b="0"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9" name="ZoneTexte 38">
              <a:extLst>
                <a:ext uri="{FF2B5EF4-FFF2-40B4-BE49-F238E27FC236}">
                  <a16:creationId xmlns:a16="http://schemas.microsoft.com/office/drawing/2014/main" id="{E688BFE8-11D1-4143-8AD0-13127EB82D44}"/>
                </a:ext>
              </a:extLst>
            </p:cNvPr>
            <p:cNvSpPr txBox="1"/>
            <p:nvPr/>
          </p:nvSpPr>
          <p:spPr>
            <a:xfrm>
              <a:off x="10010460" y="4710586"/>
              <a:ext cx="1521930"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Ingénierie financière</a:t>
              </a:r>
            </a:p>
          </p:txBody>
        </p:sp>
        <p:grpSp>
          <p:nvGrpSpPr>
            <p:cNvPr id="40" name="Groupe 39">
              <a:extLst>
                <a:ext uri="{FF2B5EF4-FFF2-40B4-BE49-F238E27FC236}">
                  <a16:creationId xmlns:a16="http://schemas.microsoft.com/office/drawing/2014/main" id="{6C64BEBB-747D-41FE-99CF-893CAB66B5AB}"/>
                </a:ext>
              </a:extLst>
            </p:cNvPr>
            <p:cNvGrpSpPr/>
            <p:nvPr/>
          </p:nvGrpSpPr>
          <p:grpSpPr>
            <a:xfrm>
              <a:off x="91788" y="1723267"/>
              <a:ext cx="13561155" cy="840772"/>
              <a:chOff x="91787" y="1295397"/>
              <a:chExt cx="13561155" cy="840772"/>
            </a:xfrm>
          </p:grpSpPr>
          <p:sp>
            <p:nvSpPr>
              <p:cNvPr id="41" name="Flèche : bas 40">
                <a:extLst>
                  <a:ext uri="{FF2B5EF4-FFF2-40B4-BE49-F238E27FC236}">
                    <a16:creationId xmlns:a16="http://schemas.microsoft.com/office/drawing/2014/main" id="{2CCEC3B3-48CF-4267-9AB2-A22EA9C3D2A3}"/>
                  </a:ext>
                </a:extLst>
              </p:cNvPr>
              <p:cNvSpPr/>
              <p:nvPr/>
            </p:nvSpPr>
            <p:spPr>
              <a:xfrm rot="16200000">
                <a:off x="6451979" y="-5064795"/>
                <a:ext cx="840772" cy="13561155"/>
              </a:xfrm>
              <a:prstGeom prst="downArrow">
                <a:avLst/>
              </a:prstGeom>
              <a:gradFill flip="none" rotWithShape="1">
                <a:gsLst>
                  <a:gs pos="81150">
                    <a:srgbClr val="223344"/>
                  </a:gs>
                  <a:gs pos="13000">
                    <a:srgbClr val="00B2A9"/>
                  </a:gs>
                  <a:gs pos="0">
                    <a:srgbClr val="0C5D62">
                      <a:shade val="30000"/>
                      <a:satMod val="115000"/>
                    </a:srgbClr>
                  </a:gs>
                  <a:gs pos="50000">
                    <a:srgbClr val="0C5D62">
                      <a:shade val="67500"/>
                      <a:satMod val="115000"/>
                    </a:srgbClr>
                  </a:gs>
                  <a:gs pos="100000">
                    <a:srgbClr val="0C5D62">
                      <a:shade val="100000"/>
                      <a:satMod val="11500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ZoneTexte 41">
                <a:extLst>
                  <a:ext uri="{FF2B5EF4-FFF2-40B4-BE49-F238E27FC236}">
                    <a16:creationId xmlns:a16="http://schemas.microsoft.com/office/drawing/2014/main" id="{57E16C46-8C1F-4DF4-9793-9A1F9EC2279D}"/>
                  </a:ext>
                </a:extLst>
              </p:cNvPr>
              <p:cNvSpPr txBox="1"/>
              <p:nvPr/>
            </p:nvSpPr>
            <p:spPr>
              <a:xfrm>
                <a:off x="452988" y="1494916"/>
                <a:ext cx="1521931"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Expertise comptable </a:t>
                </a:r>
              </a:p>
            </p:txBody>
          </p:sp>
          <p:sp>
            <p:nvSpPr>
              <p:cNvPr id="43" name="ZoneTexte 42">
                <a:extLst>
                  <a:ext uri="{FF2B5EF4-FFF2-40B4-BE49-F238E27FC236}">
                    <a16:creationId xmlns:a16="http://schemas.microsoft.com/office/drawing/2014/main" id="{EB3F8B64-F397-48F4-8129-6DBDAA3C7783}"/>
                  </a:ext>
                </a:extLst>
              </p:cNvPr>
              <p:cNvSpPr txBox="1"/>
              <p:nvPr/>
            </p:nvSpPr>
            <p:spPr>
              <a:xfrm>
                <a:off x="2362570" y="1571859"/>
                <a:ext cx="1521931"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Consolidation</a:t>
                </a:r>
              </a:p>
            </p:txBody>
          </p:sp>
          <p:sp>
            <p:nvSpPr>
              <p:cNvPr id="44" name="ZoneTexte 43">
                <a:extLst>
                  <a:ext uri="{FF2B5EF4-FFF2-40B4-BE49-F238E27FC236}">
                    <a16:creationId xmlns:a16="http://schemas.microsoft.com/office/drawing/2014/main" id="{FF8B00AF-075C-4E53-AF5F-4A245D7A334F}"/>
                  </a:ext>
                </a:extLst>
              </p:cNvPr>
              <p:cNvSpPr txBox="1"/>
              <p:nvPr/>
            </p:nvSpPr>
            <p:spPr>
              <a:xfrm>
                <a:off x="4037272" y="1478708"/>
                <a:ext cx="2041276" cy="4479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Audit et conseil en gestion des risques </a:t>
                </a:r>
              </a:p>
            </p:txBody>
          </p:sp>
          <p:sp>
            <p:nvSpPr>
              <p:cNvPr id="45" name="ZoneTexte 44">
                <a:extLst>
                  <a:ext uri="{FF2B5EF4-FFF2-40B4-BE49-F238E27FC236}">
                    <a16:creationId xmlns:a16="http://schemas.microsoft.com/office/drawing/2014/main" id="{CE527E8F-B75F-424F-9FA1-9CF04B0D9ECE}"/>
                  </a:ext>
                </a:extLst>
              </p:cNvPr>
              <p:cNvSpPr txBox="1"/>
              <p:nvPr/>
            </p:nvSpPr>
            <p:spPr>
              <a:xfrm>
                <a:off x="5765809" y="1571859"/>
                <a:ext cx="2273275" cy="27372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1" dirty="0" err="1">
                    <a:solidFill>
                      <a:prstClr val="white"/>
                    </a:solidFill>
                    <a:latin typeface="Tahoma" panose="020B0604030504040204" pitchFamily="34" charset="0"/>
                    <a:ea typeface="Tahoma" panose="020B0604030504040204" pitchFamily="34" charset="0"/>
                    <a:cs typeface="Tahoma" panose="020B0604030504040204" pitchFamily="34" charset="0"/>
                  </a:rPr>
                  <a:t>Foreign</a:t>
                </a:r>
                <a:r>
                  <a:rPr lang="fr-FR" sz="1050" b="1" dirty="0">
                    <a:solidFill>
                      <a:prstClr val="white"/>
                    </a:solidFill>
                    <a:latin typeface="Tahoma" panose="020B0604030504040204" pitchFamily="34" charset="0"/>
                    <a:ea typeface="Tahoma" panose="020B0604030504040204" pitchFamily="34" charset="0"/>
                    <a:cs typeface="Tahoma" panose="020B0604030504040204" pitchFamily="34" charset="0"/>
                  </a:rPr>
                  <a:t> Desk</a:t>
                </a:r>
                <a:endParaRPr kumimoji="0" lang="fr-FR" sz="1050" b="1"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6" name="ZoneTexte 45">
                <a:extLst>
                  <a:ext uri="{FF2B5EF4-FFF2-40B4-BE49-F238E27FC236}">
                    <a16:creationId xmlns:a16="http://schemas.microsoft.com/office/drawing/2014/main" id="{41171BE8-5E93-44DE-B252-AEEDB9C4F9FC}"/>
                  </a:ext>
                </a:extLst>
              </p:cNvPr>
              <p:cNvSpPr txBox="1"/>
              <p:nvPr/>
            </p:nvSpPr>
            <p:spPr>
              <a:xfrm>
                <a:off x="7927184" y="1478708"/>
                <a:ext cx="1916227" cy="39814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Gestion de la paie et services RH </a:t>
                </a:r>
              </a:p>
            </p:txBody>
          </p:sp>
          <p:sp>
            <p:nvSpPr>
              <p:cNvPr id="47" name="ZoneTexte 46">
                <a:extLst>
                  <a:ext uri="{FF2B5EF4-FFF2-40B4-BE49-F238E27FC236}">
                    <a16:creationId xmlns:a16="http://schemas.microsoft.com/office/drawing/2014/main" id="{F426728C-BC88-4BAB-9063-DF53DAB763D2}"/>
                  </a:ext>
                </a:extLst>
              </p:cNvPr>
              <p:cNvSpPr txBox="1"/>
              <p:nvPr/>
            </p:nvSpPr>
            <p:spPr>
              <a:xfrm>
                <a:off x="9698701" y="1478708"/>
                <a:ext cx="2119292" cy="27372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Corporate</a:t>
                </a:r>
                <a:r>
                  <a:rPr kumimoji="0" lang="fr-FR" sz="1050" b="1"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Finance</a:t>
                </a:r>
              </a:p>
            </p:txBody>
          </p:sp>
        </p:grpSp>
      </p:grpSp>
      <p:sp>
        <p:nvSpPr>
          <p:cNvPr id="82" name="ZoneTexte 81">
            <a:extLst>
              <a:ext uri="{FF2B5EF4-FFF2-40B4-BE49-F238E27FC236}">
                <a16:creationId xmlns:a16="http://schemas.microsoft.com/office/drawing/2014/main" id="{B580C938-C8B8-43AF-A158-CBDBA1858258}"/>
              </a:ext>
            </a:extLst>
          </p:cNvPr>
          <p:cNvSpPr txBox="1"/>
          <p:nvPr/>
        </p:nvSpPr>
        <p:spPr>
          <a:xfrm>
            <a:off x="307185" y="3439096"/>
            <a:ext cx="13844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dirty="0">
                <a:solidFill>
                  <a:prstClr val="white"/>
                </a:solidFill>
                <a:latin typeface="Tahoma" panose="020B0604030504040204" pitchFamily="34" charset="0"/>
                <a:ea typeface="Tahoma" panose="020B0604030504040204" pitchFamily="34" charset="0"/>
                <a:cs typeface="Tahoma" panose="020B0604030504040204" pitchFamily="34" charset="0"/>
              </a:rPr>
              <a:t>Trésorerie et Contrôle de Gestion opérationnel </a:t>
            </a:r>
            <a:endParaRPr kumimoji="0" lang="fr-FR" sz="9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Rectangle : coins arrondis 82">
            <a:extLst>
              <a:ext uri="{FF2B5EF4-FFF2-40B4-BE49-F238E27FC236}">
                <a16:creationId xmlns:a16="http://schemas.microsoft.com/office/drawing/2014/main" id="{976A46C4-1F12-4B02-97A8-CED5387E1CB4}"/>
              </a:ext>
            </a:extLst>
          </p:cNvPr>
          <p:cNvSpPr/>
          <p:nvPr/>
        </p:nvSpPr>
        <p:spPr>
          <a:xfrm>
            <a:off x="10593289" y="2748424"/>
            <a:ext cx="1362856" cy="553044"/>
          </a:xfrm>
          <a:prstGeom prst="roundRect">
            <a:avLst/>
          </a:prstGeom>
          <a:solidFill>
            <a:srgbClr val="0C5D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 coins arrondis 83">
            <a:extLst>
              <a:ext uri="{FF2B5EF4-FFF2-40B4-BE49-F238E27FC236}">
                <a16:creationId xmlns:a16="http://schemas.microsoft.com/office/drawing/2014/main" id="{B555564F-DC22-43A3-B3AF-615EDB7D78D8}"/>
              </a:ext>
            </a:extLst>
          </p:cNvPr>
          <p:cNvSpPr/>
          <p:nvPr/>
        </p:nvSpPr>
        <p:spPr>
          <a:xfrm>
            <a:off x="10593289" y="3388741"/>
            <a:ext cx="1362856" cy="553044"/>
          </a:xfrm>
          <a:prstGeom prst="roundRect">
            <a:avLst/>
          </a:prstGeom>
          <a:solidFill>
            <a:srgbClr val="0C5D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Rectangle : coins arrondis 84">
            <a:extLst>
              <a:ext uri="{FF2B5EF4-FFF2-40B4-BE49-F238E27FC236}">
                <a16:creationId xmlns:a16="http://schemas.microsoft.com/office/drawing/2014/main" id="{B3BF7D3B-BE2D-42AF-A745-BF69E85CA9C7}"/>
              </a:ext>
            </a:extLst>
          </p:cNvPr>
          <p:cNvSpPr/>
          <p:nvPr/>
        </p:nvSpPr>
        <p:spPr>
          <a:xfrm>
            <a:off x="10593289" y="4029057"/>
            <a:ext cx="1362856" cy="553044"/>
          </a:xfrm>
          <a:prstGeom prst="roundRect">
            <a:avLst/>
          </a:prstGeom>
          <a:solidFill>
            <a:srgbClr val="0C5D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Rectangle : coins arrondis 85">
            <a:extLst>
              <a:ext uri="{FF2B5EF4-FFF2-40B4-BE49-F238E27FC236}">
                <a16:creationId xmlns:a16="http://schemas.microsoft.com/office/drawing/2014/main" id="{CA65D238-2E3C-4FDA-949F-3DA31BAE2924}"/>
              </a:ext>
            </a:extLst>
          </p:cNvPr>
          <p:cNvSpPr/>
          <p:nvPr/>
        </p:nvSpPr>
        <p:spPr>
          <a:xfrm>
            <a:off x="10593289" y="4669375"/>
            <a:ext cx="1362856" cy="553044"/>
          </a:xfrm>
          <a:prstGeom prst="roundRect">
            <a:avLst/>
          </a:prstGeom>
          <a:solidFill>
            <a:srgbClr val="0C5D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 name="ZoneTexte 86">
            <a:extLst>
              <a:ext uri="{FF2B5EF4-FFF2-40B4-BE49-F238E27FC236}">
                <a16:creationId xmlns:a16="http://schemas.microsoft.com/office/drawing/2014/main" id="{1546D0AC-51AD-4455-A726-FE704D24930F}"/>
              </a:ext>
            </a:extLst>
          </p:cNvPr>
          <p:cNvSpPr txBox="1"/>
          <p:nvPr/>
        </p:nvSpPr>
        <p:spPr>
          <a:xfrm>
            <a:off x="10595730" y="3432812"/>
            <a:ext cx="1357973" cy="369332"/>
          </a:xfrm>
          <a:prstGeom prst="rect">
            <a:avLst/>
          </a:prstGeom>
          <a:noFill/>
        </p:spPr>
        <p:txBody>
          <a:bodyPr wrap="square">
            <a:spAutoFit/>
          </a:bodyPr>
          <a:lstStyle/>
          <a:p>
            <a:pPr lvl="0" algn="ctr">
              <a:defRPr/>
            </a:pPr>
            <a:r>
              <a:rPr lang="fr-FR" sz="900" dirty="0">
                <a:solidFill>
                  <a:schemeClr val="bg1"/>
                </a:solidFill>
                <a:latin typeface="Tahoma" panose="020B0604030504040204" pitchFamily="34" charset="0"/>
                <a:ea typeface="Tahoma" panose="020B0604030504040204" pitchFamily="34" charset="0"/>
                <a:cs typeface="Tahoma" panose="020B0604030504040204" pitchFamily="34" charset="0"/>
              </a:rPr>
              <a:t>Transactions - Services fiscaux pour les fusions et acquisitions</a:t>
            </a:r>
            <a:endParaRPr kumimoji="0" lang="fr-FR" sz="900" b="0" i="0" u="none" strike="noStrike" kern="1200" cap="none" spc="0" normalizeH="0" baseline="0" noProof="0" dirty="0">
              <a:ln>
                <a:noFill/>
              </a:ln>
              <a:solidFill>
                <a:schemeClr val="bg1"/>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8" name="ZoneTexte 87">
            <a:extLst>
              <a:ext uri="{FF2B5EF4-FFF2-40B4-BE49-F238E27FC236}">
                <a16:creationId xmlns:a16="http://schemas.microsoft.com/office/drawing/2014/main" id="{35E30DE3-DDA4-4D44-A5AF-ED6F17C8C97C}"/>
              </a:ext>
            </a:extLst>
          </p:cNvPr>
          <p:cNvSpPr txBox="1"/>
          <p:nvPr/>
        </p:nvSpPr>
        <p:spPr>
          <a:xfrm>
            <a:off x="10586546" y="4736027"/>
            <a:ext cx="1362856" cy="369332"/>
          </a:xfrm>
          <a:prstGeom prst="rect">
            <a:avLst/>
          </a:prstGeom>
          <a:noFill/>
        </p:spPr>
        <p:txBody>
          <a:bodyPr wrap="square">
            <a:spAutoFit/>
          </a:bodyPr>
          <a:lstStyle/>
          <a:p>
            <a:pPr lvl="0" algn="ctr">
              <a:defRPr/>
            </a:pP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Contrôle</a:t>
            </a: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 fiscal et </a:t>
            </a: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contentieux</a:t>
            </a:r>
            <a:endParaRPr kumimoji="0" lang="fr-FR" sz="900" b="0" i="0" u="none" strike="noStrike" kern="1200" cap="none" spc="0" normalizeH="0" baseline="0" noProof="0" dirty="0">
              <a:ln>
                <a:noFill/>
              </a:ln>
              <a:solidFill>
                <a:schemeClr val="bg1"/>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9" name="ZoneTexte 88">
            <a:extLst>
              <a:ext uri="{FF2B5EF4-FFF2-40B4-BE49-F238E27FC236}">
                <a16:creationId xmlns:a16="http://schemas.microsoft.com/office/drawing/2014/main" id="{CA227BEC-A0B4-4847-AAEF-EC1C94D3E309}"/>
              </a:ext>
            </a:extLst>
          </p:cNvPr>
          <p:cNvSpPr txBox="1"/>
          <p:nvPr/>
        </p:nvSpPr>
        <p:spPr>
          <a:xfrm>
            <a:off x="10586546" y="2795409"/>
            <a:ext cx="1357973" cy="507831"/>
          </a:xfrm>
          <a:prstGeom prst="rect">
            <a:avLst/>
          </a:prstGeom>
          <a:noFill/>
        </p:spPr>
        <p:txBody>
          <a:bodyPr wrap="square">
            <a:spAutoFit/>
          </a:bodyPr>
          <a:lstStyle/>
          <a:p>
            <a:pPr lvl="0" algn="ctr">
              <a:defRPr/>
            </a:pP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Gestion et </a:t>
            </a: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stratégie</a:t>
            </a: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 de la </a:t>
            </a: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fiscalité</a:t>
            </a: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 des </a:t>
            </a: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entreprises</a:t>
            </a: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BTMS</a:t>
            </a: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a:t>
            </a:r>
            <a:endParaRPr kumimoji="0" lang="fr-FR" sz="900" b="0" i="0" u="none" strike="noStrike" kern="1200" cap="none" spc="0" normalizeH="0" baseline="0" noProof="0" dirty="0">
              <a:ln>
                <a:noFill/>
              </a:ln>
              <a:solidFill>
                <a:schemeClr val="bg1"/>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0" name="ZoneTexte 89">
            <a:extLst>
              <a:ext uri="{FF2B5EF4-FFF2-40B4-BE49-F238E27FC236}">
                <a16:creationId xmlns:a16="http://schemas.microsoft.com/office/drawing/2014/main" id="{76E09EC8-E6D3-4F90-8C12-4645DAFBA2EC}"/>
              </a:ext>
            </a:extLst>
          </p:cNvPr>
          <p:cNvSpPr txBox="1"/>
          <p:nvPr/>
        </p:nvSpPr>
        <p:spPr>
          <a:xfrm>
            <a:off x="10554819" y="4072976"/>
            <a:ext cx="1401326" cy="369332"/>
          </a:xfrm>
          <a:prstGeom prst="rect">
            <a:avLst/>
          </a:prstGeom>
          <a:noFill/>
        </p:spPr>
        <p:txBody>
          <a:bodyPr wrap="square">
            <a:spAutoFit/>
          </a:bodyPr>
          <a:lstStyle/>
          <a:p>
            <a:pPr lvl="0" algn="ctr">
              <a:defRPr/>
            </a:pP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Services </a:t>
            </a: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fiscaux</a:t>
            </a:r>
            <a:r>
              <a:rPr lang="en-US" sz="9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900" dirty="0" err="1">
                <a:solidFill>
                  <a:schemeClr val="bg1"/>
                </a:solidFill>
                <a:latin typeface="Tahoma" panose="020B0604030504040204" pitchFamily="34" charset="0"/>
                <a:ea typeface="Tahoma" panose="020B0604030504040204" pitchFamily="34" charset="0"/>
                <a:cs typeface="Tahoma" panose="020B0604030504040204" pitchFamily="34" charset="0"/>
              </a:rPr>
              <a:t>internationaux</a:t>
            </a:r>
            <a:endParaRPr kumimoji="0" lang="fr-FR" sz="900" b="0" i="0" u="none" strike="noStrike" kern="1200" cap="none" spc="0" normalizeH="0" baseline="0" noProof="0" dirty="0">
              <a:ln>
                <a:noFill/>
              </a:ln>
              <a:solidFill>
                <a:schemeClr val="bg1"/>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1" name="ZoneTexte 90">
            <a:extLst>
              <a:ext uri="{FF2B5EF4-FFF2-40B4-BE49-F238E27FC236}">
                <a16:creationId xmlns:a16="http://schemas.microsoft.com/office/drawing/2014/main" id="{20928DE2-0C56-438D-B1D1-0D4397B2F2C1}"/>
              </a:ext>
            </a:extLst>
          </p:cNvPr>
          <p:cNvSpPr txBox="1"/>
          <p:nvPr/>
        </p:nvSpPr>
        <p:spPr>
          <a:xfrm>
            <a:off x="10529222" y="2185655"/>
            <a:ext cx="1357973"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Fiscal et juridique</a:t>
            </a:r>
          </a:p>
        </p:txBody>
      </p:sp>
    </p:spTree>
    <p:extLst>
      <p:ext uri="{BB962C8B-B14F-4D97-AF65-F5344CB8AC3E}">
        <p14:creationId xmlns:p14="http://schemas.microsoft.com/office/powerpoint/2010/main" val="23037181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p:cNvSpPr/>
          <p:nvPr/>
        </p:nvSpPr>
        <p:spPr>
          <a:xfrm>
            <a:off x="45243" y="0"/>
            <a:ext cx="2599587" cy="6858001"/>
          </a:xfrm>
          <a:prstGeom prst="rect">
            <a:avLst/>
          </a:prstGeom>
          <a:solidFill>
            <a:srgbClr val="1C1F25"/>
          </a:solidFill>
          <a:ln w="12700">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00" name="Marketing…"/>
          <p:cNvSpPr txBox="1"/>
          <p:nvPr/>
        </p:nvSpPr>
        <p:spPr>
          <a:xfrm>
            <a:off x="3108176" y="1135709"/>
            <a:ext cx="3928485" cy="149271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Améliorer</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la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fiabilité</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de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informations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financières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et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vous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accompagner</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dans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votre</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prise</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de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décision</a:t>
            </a:r>
            <a:endPar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sommes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côtés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pour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établir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informations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financières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pour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optimiser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gestion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comptable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financière. Nos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disposition pour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conseiller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proximité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permet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jouer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un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rôle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premier plan dans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l'organisation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comptable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financière.</a:t>
            </a:r>
            <a:r>
              <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p:txBody>
      </p:sp>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pic>
        <p:nvPicPr>
          <p:cNvPr id="57" name="Image 56" descr="Une image contenant objet, corde, portant, regardant  Description générée automatiquement">
            <a:extLst>
              <a:ext uri="{FF2B5EF4-FFF2-40B4-BE49-F238E27FC236}">
                <a16:creationId xmlns:a16="http://schemas.microsoft.com/office/drawing/2014/main" id="{F4EAE2F9-C6CC-454F-B0C7-43B2859039E6}"/>
              </a:ext>
            </a:extLst>
          </p:cNvPr>
          <p:cNvPicPr>
            <a:picLocks noChangeAspect="1"/>
          </p:cNvPicPr>
          <p:nvPr/>
        </p:nvPicPr>
        <p:blipFill rotWithShape="1">
          <a:blip r:embed="rId2">
            <a:extLst>
              <a:ext uri="{28A0092B-C50C-407E-A947-70E740481C1C}">
                <a14:useLocalDpi xmlns:a14="http://schemas.microsoft.com/office/drawing/2010/main" val="0"/>
              </a:ext>
            </a:extLst>
          </a:blip>
          <a:srcRect l="25949" r="52508"/>
          <a:stretch/>
        </p:blipFill>
        <p:spPr>
          <a:xfrm>
            <a:off x="-135096" y="-2"/>
            <a:ext cx="2779926" cy="6858002"/>
          </a:xfrm>
          <a:prstGeom prst="rect">
            <a:avLst/>
          </a:prstGeom>
        </p:spPr>
      </p:pic>
      <p:pic>
        <p:nvPicPr>
          <p:cNvPr id="67" name="Image 66">
            <a:extLst>
              <a:ext uri="{FF2B5EF4-FFF2-40B4-BE49-F238E27FC236}">
                <a16:creationId xmlns:a16="http://schemas.microsoft.com/office/drawing/2014/main" id="{5F1AA49E-CDFF-4E2B-9CE2-9497D8505FCB}"/>
              </a:ext>
            </a:extLst>
          </p:cNvPr>
          <p:cNvPicPr>
            <a:picLocks noChangeAspect="1"/>
          </p:cNvPicPr>
          <p:nvPr/>
        </p:nvPicPr>
        <p:blipFill>
          <a:blip r:embed="rId3"/>
          <a:stretch>
            <a:fillRect/>
          </a:stretch>
        </p:blipFill>
        <p:spPr>
          <a:xfrm>
            <a:off x="10987330" y="145639"/>
            <a:ext cx="1040915" cy="388870"/>
          </a:xfrm>
          <a:prstGeom prst="rect">
            <a:avLst/>
          </a:prstGeom>
        </p:spPr>
      </p:pic>
      <p:sp>
        <p:nvSpPr>
          <p:cNvPr id="72" name="Marketing…">
            <a:extLst>
              <a:ext uri="{FF2B5EF4-FFF2-40B4-BE49-F238E27FC236}">
                <a16:creationId xmlns:a16="http://schemas.microsoft.com/office/drawing/2014/main" id="{3C7A34A8-4D07-42D3-A1CA-47835A4414CE}"/>
              </a:ext>
            </a:extLst>
          </p:cNvPr>
          <p:cNvSpPr txBox="1"/>
          <p:nvPr/>
        </p:nvSpPr>
        <p:spPr>
          <a:xfrm>
            <a:off x="3091507" y="3283069"/>
            <a:ext cx="3928485" cy="190821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just"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Connaissances et expertise</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mettons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la disposition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clients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outils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professionnels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nécessaires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réalisation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la gestion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comptable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assurant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fiabilité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totale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informations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produites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le respect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délais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légaux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contractuels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apportons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réponse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appropriée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chacun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besoins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qu'il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s'agisse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la gestion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révision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comptabilité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déclarations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assistance technique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spécifique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endPar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endPar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sp>
        <p:nvSpPr>
          <p:cNvPr id="79" name="Marketing…">
            <a:extLst>
              <a:ext uri="{FF2B5EF4-FFF2-40B4-BE49-F238E27FC236}">
                <a16:creationId xmlns:a16="http://schemas.microsoft.com/office/drawing/2014/main" id="{D90ABCE5-1408-454B-B245-44906C756238}"/>
              </a:ext>
            </a:extLst>
          </p:cNvPr>
          <p:cNvSpPr txBox="1"/>
          <p:nvPr/>
        </p:nvSpPr>
        <p:spPr>
          <a:xfrm>
            <a:off x="3108175" y="5424558"/>
            <a:ext cx="3928485" cy="121571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Domaines de compétences</a:t>
            </a:r>
            <a:endParaRPr lang="fr-F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defRPr sz="2200" b="0">
                <a:solidFill>
                  <a:srgbClr val="6A6E77"/>
                </a:solidFill>
                <a:latin typeface="Quicksand Regular"/>
                <a:ea typeface="Quicksand Regular"/>
                <a:cs typeface="Quicksand Regular"/>
                <a:sym typeface="Quicksand Regular"/>
              </a:defRPr>
            </a:pPr>
            <a:r>
              <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Établissement des états financiers et des informations comptables</a:t>
            </a:r>
          </a:p>
          <a:p>
            <a:pPr algn="just" defTabSz="412750" hangingPunct="0">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Tenue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comptabilité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algn="just" defTabSz="412750" hangingPunct="0">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Trésorerie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contrôle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gestion</a:t>
            </a:r>
          </a:p>
          <a:p>
            <a:pPr algn="just" defTabSz="412750" hangingPunct="0">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Impôts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taxes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sociétés</a:t>
            </a:r>
            <a:endPar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Expertises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Evaluations</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p:txBody>
      </p:sp>
      <p:sp>
        <p:nvSpPr>
          <p:cNvPr id="80" name="Marketing…">
            <a:extLst>
              <a:ext uri="{FF2B5EF4-FFF2-40B4-BE49-F238E27FC236}">
                <a16:creationId xmlns:a16="http://schemas.microsoft.com/office/drawing/2014/main" id="{F1C39BD5-5BCD-43F7-926F-00CB5A9110B0}"/>
              </a:ext>
            </a:extLst>
          </p:cNvPr>
          <p:cNvSpPr txBox="1"/>
          <p:nvPr/>
        </p:nvSpPr>
        <p:spPr>
          <a:xfrm>
            <a:off x="7407788" y="925890"/>
            <a:ext cx="4520860" cy="607345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spc="-40" dirty="0">
                <a:solidFill>
                  <a:srgbClr val="0D5257"/>
                </a:solidFill>
                <a:latin typeface="Tahoma" panose="020B0604030504040204" pitchFamily="34" charset="0"/>
                <a:ea typeface="Tahoma" panose="020B0604030504040204" pitchFamily="34" charset="0"/>
                <a:cs typeface="Tahoma" panose="020B0604030504040204" pitchFamily="34" charset="0"/>
              </a:rPr>
              <a:t>Support </a:t>
            </a:r>
            <a:r>
              <a:rPr lang="fr-FR" sz="1400" b="1" kern="0" spc="-40" dirty="0">
                <a:solidFill>
                  <a:srgbClr val="0D5257"/>
                </a:solidFill>
                <a:latin typeface="Tahoma" panose="020B0604030504040204" pitchFamily="34" charset="0"/>
                <a:ea typeface="Tahoma" panose="020B0604030504040204" pitchFamily="34" charset="0"/>
                <a:cs typeface="Tahoma" panose="020B0604030504040204" pitchFamily="34" charset="0"/>
              </a:rPr>
              <a:t>opérationnel</a:t>
            </a:r>
            <a:r>
              <a:rPr lang="en-US" sz="1400" b="1" kern="0" spc="-40" dirty="0">
                <a:solidFill>
                  <a:srgbClr val="0D5257"/>
                </a:solidFill>
                <a:latin typeface="Tahoma" panose="020B0604030504040204" pitchFamily="34" charset="0"/>
                <a:ea typeface="Tahoma" panose="020B0604030504040204" pitchFamily="34" charset="0"/>
                <a:cs typeface="Tahoma" panose="020B0604030504040204" pitchFamily="34" charset="0"/>
              </a:rPr>
              <a:t> et </a:t>
            </a:r>
            <a:r>
              <a:rPr lang="en-US" sz="1400" b="1" kern="0" spc="-40" dirty="0" err="1">
                <a:solidFill>
                  <a:srgbClr val="0D5257"/>
                </a:solidFill>
                <a:latin typeface="Tahoma" panose="020B0604030504040204" pitchFamily="34" charset="0"/>
                <a:ea typeface="Tahoma" panose="020B0604030504040204" pitchFamily="34" charset="0"/>
                <a:cs typeface="Tahoma" panose="020B0604030504040204" pitchFamily="34" charset="0"/>
              </a:rPr>
              <a:t>Externalisation</a:t>
            </a:r>
            <a:endParaRPr lang="en-US" sz="1400" b="1" kern="0" spc="-40" dirty="0">
              <a:solidFill>
                <a:srgbClr val="0D5257"/>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defRPr sz="2200" b="0">
                <a:solidFill>
                  <a:srgbClr val="6A6E77"/>
                </a:solidFill>
                <a:latin typeface="Quicksand Regular"/>
                <a:ea typeface="Quicksand Regular"/>
                <a:cs typeface="Quicksand Regular"/>
                <a:sym typeface="Quicksand Regular"/>
              </a:defRPr>
            </a:pPr>
            <a:endPar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defRPr sz="2200" b="0">
                <a:solidFill>
                  <a:srgbClr val="6A6E77"/>
                </a:solidFill>
                <a:latin typeface="Quicksand Regular"/>
                <a:ea typeface="Quicksand Regular"/>
                <a:cs typeface="Quicksand Regular"/>
                <a:sym typeface="Quicksand Regular"/>
              </a:defRPr>
            </a:pP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mettons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votre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disposition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pluridisciplinaire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dévouée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hautement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qualifiée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tant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par son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expérience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que par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sa</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formation. </a:t>
            </a:r>
          </a:p>
          <a:p>
            <a:pPr algn="just" defTabSz="412750" hangingPunct="0">
              <a:defRPr sz="2200" b="0">
                <a:solidFill>
                  <a:srgbClr val="6A6E77"/>
                </a:solidFill>
                <a:latin typeface="Quicksand Regular"/>
                <a:ea typeface="Quicksand Regular"/>
                <a:cs typeface="Quicksand Regular"/>
                <a:sym typeface="Quicksand Regular"/>
              </a:defRPr>
            </a:pPr>
            <a:endPar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defRPr sz="2200" b="0">
                <a:solidFill>
                  <a:srgbClr val="6A6E77"/>
                </a:solidFill>
                <a:latin typeface="Quicksand Regular"/>
                <a:ea typeface="Quicksand Regular"/>
                <a:cs typeface="Quicksand Regular"/>
                <a:sym typeface="Quicksand Regular"/>
              </a:defRPr>
            </a:pP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assurons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des missions de support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opérationnel</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(transition) au sein des Directions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financières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Nos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intervenants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peuvent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assurer des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postes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à haute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valeur</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ajoutée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allant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Directeur financier pour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collaborateurs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les plus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expérimentés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à des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postes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comptables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transactionnels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pour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plus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jeunes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defRPr sz="2200" b="0">
                <a:solidFill>
                  <a:srgbClr val="6A6E77"/>
                </a:solidFill>
                <a:latin typeface="Quicksand Regular"/>
                <a:ea typeface="Quicksand Regular"/>
                <a:cs typeface="Quicksand Regular"/>
                <a:sym typeface="Quicksand Regular"/>
              </a:defRPr>
            </a:pP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Chaque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intervenant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au sein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même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entreprises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agit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façon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très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opérationnelle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bénéficie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du support du cabinet grâce à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sa</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pluralité</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lignes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service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sorte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qu’aucun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sujet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ne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soit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éludé</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defTabSz="412750" hangingPunct="0">
              <a:spcBef>
                <a:spcPts val="400"/>
              </a:spcBef>
              <a:defRPr b="0">
                <a:solidFill>
                  <a:srgbClr val="2C2E3C"/>
                </a:solidFill>
                <a:latin typeface="Quicksand Bold"/>
                <a:ea typeface="Quicksand Bold"/>
                <a:cs typeface="Quicksand Bold"/>
                <a:sym typeface="Quicksand Bold"/>
              </a:defRPr>
            </a:pPr>
            <a:endPar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defTabSz="412750" hangingPunct="0">
              <a:spcBef>
                <a:spcPts val="400"/>
              </a:spcBef>
              <a:defRPr b="0">
                <a:solidFill>
                  <a:srgbClr val="2C2E3C"/>
                </a:solidFill>
                <a:latin typeface="Quicksand Bold"/>
                <a:ea typeface="Quicksand Bold"/>
                <a:cs typeface="Quicksand Bold"/>
                <a:sym typeface="Quicksand Bold"/>
              </a:defRPr>
            </a:pP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proposons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également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des solutions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d’externalisation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clients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prenant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charge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partiellement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totalement</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leurs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comptables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les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opérations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restructuration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transformation,</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les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projets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migration, RPA, SSC,</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les situations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perte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contrôle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l'information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la consolidation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l'amélioration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d'élaboration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l'information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financière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vue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son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harmonisation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mais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aussi</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la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fiabilité</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la production financière, la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réduction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délais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l’amélioration</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données</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40" dirty="0" err="1">
                <a:solidFill>
                  <a:srgbClr val="575756"/>
                </a:solidFill>
                <a:latin typeface="Tahoma" panose="020B0604030504040204" pitchFamily="34" charset="0"/>
                <a:ea typeface="Tahoma" panose="020B0604030504040204" pitchFamily="34" charset="0"/>
                <a:cs typeface="Tahoma" panose="020B0604030504040204" pitchFamily="34" charset="0"/>
              </a:rPr>
              <a:t>contrôle</a:t>
            </a:r>
            <a:r>
              <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algn="just" defTabSz="412750" hangingPunct="0">
              <a:defRPr sz="2200" b="0">
                <a:solidFill>
                  <a:srgbClr val="6A6E77"/>
                </a:solidFill>
                <a:latin typeface="Quicksand Regular"/>
                <a:ea typeface="Quicksand Regular"/>
                <a:cs typeface="Quicksand Regular"/>
                <a:sym typeface="Quicksand Regular"/>
              </a:defRPr>
            </a:pPr>
            <a:endPar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endParaRPr>
          </a:p>
          <a:p>
            <a:r>
              <a:rPr lang="en-US" sz="1000" spc="-40" dirty="0">
                <a:solidFill>
                  <a:srgbClr val="575756"/>
                </a:solidFill>
              </a:rPr>
              <a:t>Nos </a:t>
            </a:r>
            <a:r>
              <a:rPr lang="en-US" sz="1000" spc="-40" dirty="0" err="1">
                <a:solidFill>
                  <a:srgbClr val="575756"/>
                </a:solidFill>
              </a:rPr>
              <a:t>équipes</a:t>
            </a:r>
            <a:r>
              <a:rPr lang="en-US" sz="1000" spc="-40" dirty="0">
                <a:solidFill>
                  <a:srgbClr val="575756"/>
                </a:solidFill>
              </a:rPr>
              <a:t> </a:t>
            </a:r>
            <a:r>
              <a:rPr lang="en-US" sz="1000" spc="-40" dirty="0" err="1">
                <a:solidFill>
                  <a:srgbClr val="575756"/>
                </a:solidFill>
              </a:rPr>
              <a:t>connaissent</a:t>
            </a:r>
            <a:r>
              <a:rPr lang="en-US" sz="1000" spc="-40" dirty="0">
                <a:solidFill>
                  <a:srgbClr val="575756"/>
                </a:solidFill>
              </a:rPr>
              <a:t> les </a:t>
            </a:r>
            <a:r>
              <a:rPr lang="en-US" sz="1000" spc="-40" dirty="0" err="1">
                <a:solidFill>
                  <a:srgbClr val="575756"/>
                </a:solidFill>
              </a:rPr>
              <a:t>processus</a:t>
            </a:r>
            <a:r>
              <a:rPr lang="en-US" sz="1000" spc="-40" dirty="0">
                <a:solidFill>
                  <a:srgbClr val="575756"/>
                </a:solidFill>
              </a:rPr>
              <a:t> </a:t>
            </a:r>
            <a:r>
              <a:rPr lang="en-US" sz="1000" spc="-40" dirty="0" err="1">
                <a:solidFill>
                  <a:srgbClr val="575756"/>
                </a:solidFill>
              </a:rPr>
              <a:t>transversaux</a:t>
            </a:r>
            <a:r>
              <a:rPr lang="en-US" sz="1000" spc="-40" dirty="0">
                <a:solidFill>
                  <a:srgbClr val="575756"/>
                </a:solidFill>
              </a:rPr>
              <a:t> </a:t>
            </a:r>
            <a:r>
              <a:rPr lang="en-US" sz="1000" spc="-40" dirty="0" err="1">
                <a:solidFill>
                  <a:srgbClr val="575756"/>
                </a:solidFill>
              </a:rPr>
              <a:t>tels</a:t>
            </a:r>
            <a:r>
              <a:rPr lang="en-US" sz="1000" spc="-40" dirty="0">
                <a:solidFill>
                  <a:srgbClr val="575756"/>
                </a:solidFill>
              </a:rPr>
              <a:t> que Purchase to Pay, Order to Cash et Report to Report, </a:t>
            </a:r>
            <a:r>
              <a:rPr lang="en-US" sz="1000" spc="-40" dirty="0" err="1">
                <a:solidFill>
                  <a:srgbClr val="575756"/>
                </a:solidFill>
              </a:rPr>
              <a:t>ils</a:t>
            </a:r>
            <a:r>
              <a:rPr lang="en-US" sz="1000" spc="-40" dirty="0">
                <a:solidFill>
                  <a:srgbClr val="575756"/>
                </a:solidFill>
              </a:rPr>
              <a:t> </a:t>
            </a:r>
            <a:r>
              <a:rPr lang="en-US" sz="1000" spc="-40" dirty="0" err="1">
                <a:solidFill>
                  <a:srgbClr val="575756"/>
                </a:solidFill>
              </a:rPr>
              <a:t>sont</a:t>
            </a:r>
            <a:r>
              <a:rPr lang="en-US" sz="1000" spc="-40" dirty="0">
                <a:solidFill>
                  <a:srgbClr val="575756"/>
                </a:solidFill>
              </a:rPr>
              <a:t> </a:t>
            </a:r>
            <a:r>
              <a:rPr lang="en-US" sz="1000" spc="-40" dirty="0" err="1">
                <a:solidFill>
                  <a:srgbClr val="575756"/>
                </a:solidFill>
              </a:rPr>
              <a:t>immédiatement</a:t>
            </a:r>
            <a:r>
              <a:rPr lang="en-US" sz="1000" spc="-40" dirty="0">
                <a:solidFill>
                  <a:srgbClr val="575756"/>
                </a:solidFill>
              </a:rPr>
              <a:t> </a:t>
            </a:r>
            <a:r>
              <a:rPr lang="en-US" sz="1000" spc="-40" dirty="0" err="1">
                <a:solidFill>
                  <a:srgbClr val="575756"/>
                </a:solidFill>
              </a:rPr>
              <a:t>opérationnelles</a:t>
            </a:r>
            <a:r>
              <a:rPr lang="en-US" sz="1000" spc="-40" dirty="0">
                <a:solidFill>
                  <a:srgbClr val="575756"/>
                </a:solidFill>
              </a:rPr>
              <a:t> dans </a:t>
            </a:r>
            <a:r>
              <a:rPr lang="en-US" sz="1000" spc="-40" dirty="0" err="1">
                <a:solidFill>
                  <a:srgbClr val="575756"/>
                </a:solidFill>
              </a:rPr>
              <a:t>l'entreprise</a:t>
            </a:r>
            <a:r>
              <a:rPr lang="en-US" sz="1000" spc="-40" dirty="0">
                <a:solidFill>
                  <a:srgbClr val="575756"/>
                </a:solidFill>
              </a:rPr>
              <a:t>.</a:t>
            </a:r>
          </a:p>
          <a:p>
            <a:endParaRPr lang="en-US" sz="1000" spc="-40" dirty="0">
              <a:solidFill>
                <a:srgbClr val="575756"/>
              </a:solidFill>
            </a:endParaRPr>
          </a:p>
          <a:p>
            <a:r>
              <a:rPr lang="en-US" sz="1000" spc="-40" dirty="0">
                <a:solidFill>
                  <a:srgbClr val="575756"/>
                </a:solidFill>
              </a:rPr>
              <a:t>Nous </a:t>
            </a:r>
            <a:r>
              <a:rPr lang="en-US" sz="1000" spc="-40" dirty="0" err="1">
                <a:solidFill>
                  <a:srgbClr val="575756"/>
                </a:solidFill>
              </a:rPr>
              <a:t>nous</a:t>
            </a:r>
            <a:r>
              <a:rPr lang="en-US" sz="1000" spc="-40" dirty="0">
                <a:solidFill>
                  <a:srgbClr val="575756"/>
                </a:solidFill>
              </a:rPr>
              <a:t> </a:t>
            </a:r>
            <a:r>
              <a:rPr lang="en-US" sz="1000" spc="-40" dirty="0" err="1">
                <a:solidFill>
                  <a:srgbClr val="575756"/>
                </a:solidFill>
              </a:rPr>
              <a:t>appuyons</a:t>
            </a:r>
            <a:r>
              <a:rPr lang="en-US" sz="1000" spc="-40" dirty="0">
                <a:solidFill>
                  <a:srgbClr val="575756"/>
                </a:solidFill>
              </a:rPr>
              <a:t> </a:t>
            </a:r>
            <a:r>
              <a:rPr lang="en-US" sz="1000" spc="-40" dirty="0" err="1">
                <a:solidFill>
                  <a:srgbClr val="575756"/>
                </a:solidFill>
              </a:rPr>
              <a:t>également</a:t>
            </a:r>
            <a:r>
              <a:rPr lang="en-US" sz="1000" spc="-40" dirty="0">
                <a:solidFill>
                  <a:srgbClr val="575756"/>
                </a:solidFill>
              </a:rPr>
              <a:t> sur </a:t>
            </a:r>
            <a:r>
              <a:rPr lang="en-US" sz="1000" spc="-40" dirty="0" err="1">
                <a:solidFill>
                  <a:srgbClr val="575756"/>
                </a:solidFill>
              </a:rPr>
              <a:t>notre</a:t>
            </a:r>
            <a:r>
              <a:rPr lang="en-US" sz="1000" spc="-40" dirty="0">
                <a:solidFill>
                  <a:srgbClr val="575756"/>
                </a:solidFill>
              </a:rPr>
              <a:t> </a:t>
            </a:r>
            <a:r>
              <a:rPr lang="en-US" sz="1000" spc="-40" dirty="0" err="1">
                <a:solidFill>
                  <a:srgbClr val="575756"/>
                </a:solidFill>
              </a:rPr>
              <a:t>département</a:t>
            </a:r>
            <a:r>
              <a:rPr lang="en-US" sz="1000" spc="-40" dirty="0">
                <a:solidFill>
                  <a:srgbClr val="575756"/>
                </a:solidFill>
              </a:rPr>
              <a:t> </a:t>
            </a:r>
            <a:r>
              <a:rPr lang="en-US" sz="1000" spc="-40" dirty="0" err="1">
                <a:solidFill>
                  <a:srgbClr val="575756"/>
                </a:solidFill>
              </a:rPr>
              <a:t>informatique</a:t>
            </a:r>
            <a:r>
              <a:rPr lang="en-US" sz="1000" spc="-40" dirty="0">
                <a:solidFill>
                  <a:srgbClr val="575756"/>
                </a:solidFill>
              </a:rPr>
              <a:t> et </a:t>
            </a:r>
            <a:r>
              <a:rPr lang="en-US" sz="1000" spc="-40" dirty="0" err="1">
                <a:solidFill>
                  <a:srgbClr val="575756"/>
                </a:solidFill>
              </a:rPr>
              <a:t>nos</a:t>
            </a:r>
            <a:r>
              <a:rPr lang="en-US" sz="1000" spc="-40" dirty="0">
                <a:solidFill>
                  <a:srgbClr val="575756"/>
                </a:solidFill>
              </a:rPr>
              <a:t> </a:t>
            </a:r>
            <a:r>
              <a:rPr lang="en-US" sz="1000" spc="-40" dirty="0" err="1">
                <a:solidFill>
                  <a:srgbClr val="575756"/>
                </a:solidFill>
              </a:rPr>
              <a:t>partenaires</a:t>
            </a:r>
            <a:r>
              <a:rPr lang="en-US" sz="1000" spc="-40" dirty="0">
                <a:solidFill>
                  <a:srgbClr val="575756"/>
                </a:solidFill>
              </a:rPr>
              <a:t> pour </a:t>
            </a:r>
            <a:r>
              <a:rPr lang="en-US" sz="1000" spc="-40" dirty="0" err="1">
                <a:solidFill>
                  <a:srgbClr val="575756"/>
                </a:solidFill>
              </a:rPr>
              <a:t>répondre</a:t>
            </a:r>
            <a:r>
              <a:rPr lang="en-US" sz="1000" spc="-40" dirty="0">
                <a:solidFill>
                  <a:srgbClr val="575756"/>
                </a:solidFill>
              </a:rPr>
              <a:t> aux questions </a:t>
            </a:r>
            <a:r>
              <a:rPr lang="en-US" sz="1000" spc="-40" dirty="0" err="1">
                <a:solidFill>
                  <a:srgbClr val="575756"/>
                </a:solidFill>
              </a:rPr>
              <a:t>liées</a:t>
            </a:r>
            <a:r>
              <a:rPr lang="en-US" sz="1000" spc="-40" dirty="0">
                <a:solidFill>
                  <a:srgbClr val="575756"/>
                </a:solidFill>
              </a:rPr>
              <a:t> aux </a:t>
            </a:r>
            <a:r>
              <a:rPr lang="en-US" sz="1000" spc="-40" dirty="0" err="1">
                <a:solidFill>
                  <a:srgbClr val="575756"/>
                </a:solidFill>
              </a:rPr>
              <a:t>systèmes</a:t>
            </a:r>
            <a:r>
              <a:rPr lang="en-US" sz="1000" spc="-40" dirty="0">
                <a:solidFill>
                  <a:srgbClr val="575756"/>
                </a:solidFill>
              </a:rPr>
              <a:t> </a:t>
            </a:r>
            <a:r>
              <a:rPr lang="en-US" sz="1000" spc="-40" dirty="0" err="1">
                <a:solidFill>
                  <a:srgbClr val="575756"/>
                </a:solidFill>
              </a:rPr>
              <a:t>d'information</a:t>
            </a:r>
            <a:r>
              <a:rPr lang="en-US" sz="1000" spc="-40" dirty="0">
                <a:solidFill>
                  <a:srgbClr val="575756"/>
                </a:solidFill>
              </a:rPr>
              <a:t> et aux </a:t>
            </a:r>
            <a:r>
              <a:rPr lang="en-US" sz="1000" spc="-40" dirty="0" err="1">
                <a:solidFill>
                  <a:srgbClr val="575756"/>
                </a:solidFill>
              </a:rPr>
              <a:t>nouvelles</a:t>
            </a:r>
            <a:r>
              <a:rPr lang="en-US" sz="1000" spc="-40" dirty="0">
                <a:solidFill>
                  <a:srgbClr val="575756"/>
                </a:solidFill>
              </a:rPr>
              <a:t> technologies.</a:t>
            </a:r>
            <a:endParaRPr lang="fr-FR" sz="400" u="sng" spc="-40" dirty="0">
              <a:solidFill>
                <a:srgbClr val="575756"/>
              </a:solidFill>
            </a:endParaRPr>
          </a:p>
          <a:p>
            <a:pPr algn="just"/>
            <a:r>
              <a:rPr lang="en-US" sz="1000" spc="-40" dirty="0">
                <a:solidFill>
                  <a:srgbClr val="575756"/>
                </a:solidFill>
              </a:rPr>
              <a:t>Nous </a:t>
            </a:r>
            <a:r>
              <a:rPr lang="en-US" sz="1000" spc="-40" dirty="0" err="1">
                <a:solidFill>
                  <a:srgbClr val="575756"/>
                </a:solidFill>
              </a:rPr>
              <a:t>utilisons</a:t>
            </a:r>
            <a:r>
              <a:rPr lang="en-US" sz="1000" spc="-40" dirty="0">
                <a:solidFill>
                  <a:srgbClr val="575756"/>
                </a:solidFill>
              </a:rPr>
              <a:t> et </a:t>
            </a:r>
            <a:r>
              <a:rPr lang="en-US" sz="1000" spc="-40" dirty="0" err="1">
                <a:solidFill>
                  <a:srgbClr val="575756"/>
                </a:solidFill>
              </a:rPr>
              <a:t>maîtrisons</a:t>
            </a:r>
            <a:r>
              <a:rPr lang="en-US" sz="1000" spc="-40" dirty="0">
                <a:solidFill>
                  <a:srgbClr val="575756"/>
                </a:solidFill>
              </a:rPr>
              <a:t> les </a:t>
            </a:r>
            <a:r>
              <a:rPr lang="en-US" sz="1000" spc="-40" dirty="0" err="1">
                <a:solidFill>
                  <a:srgbClr val="575756"/>
                </a:solidFill>
              </a:rPr>
              <a:t>principaux</a:t>
            </a:r>
            <a:r>
              <a:rPr lang="en-US" sz="1000" spc="-40" dirty="0">
                <a:solidFill>
                  <a:srgbClr val="575756"/>
                </a:solidFill>
              </a:rPr>
              <a:t> </a:t>
            </a:r>
            <a:r>
              <a:rPr lang="en-US" sz="1000" spc="-40" dirty="0" err="1">
                <a:solidFill>
                  <a:srgbClr val="575756"/>
                </a:solidFill>
              </a:rPr>
              <a:t>outils</a:t>
            </a:r>
            <a:r>
              <a:rPr lang="en-US" sz="1000" spc="-40" dirty="0">
                <a:solidFill>
                  <a:srgbClr val="575756"/>
                </a:solidFill>
              </a:rPr>
              <a:t> de gestion </a:t>
            </a:r>
            <a:r>
              <a:rPr lang="en-US" sz="1000" spc="-40" dirty="0" err="1">
                <a:solidFill>
                  <a:srgbClr val="575756"/>
                </a:solidFill>
              </a:rPr>
              <a:t>comptable</a:t>
            </a:r>
            <a:r>
              <a:rPr lang="en-US" sz="1000" spc="-40" dirty="0">
                <a:solidFill>
                  <a:srgbClr val="575756"/>
                </a:solidFill>
              </a:rPr>
              <a:t> :</a:t>
            </a:r>
            <a:endParaRPr lang="fr-FR" sz="1000" spc="-40" dirty="0">
              <a:solidFill>
                <a:srgbClr val="575756"/>
              </a:solidFill>
            </a:endParaRPr>
          </a:p>
          <a:p>
            <a:pPr indent="357188" algn="just"/>
            <a:r>
              <a:rPr lang="en-US" sz="1000" spc="-40" dirty="0">
                <a:solidFill>
                  <a:srgbClr val="575756"/>
                </a:solidFill>
              </a:rPr>
              <a:t>ERP - SAP, Navision, Baan</a:t>
            </a:r>
          </a:p>
          <a:p>
            <a:pPr indent="357188" algn="just"/>
            <a:r>
              <a:rPr lang="en-US" sz="1000" spc="-40" dirty="0">
                <a:solidFill>
                  <a:srgbClr val="575756"/>
                </a:solidFill>
              </a:rPr>
              <a:t>Des </a:t>
            </a:r>
            <a:r>
              <a:rPr lang="en-US" sz="1000" spc="-40" dirty="0" err="1">
                <a:solidFill>
                  <a:srgbClr val="575756"/>
                </a:solidFill>
              </a:rPr>
              <a:t>outils</a:t>
            </a:r>
            <a:r>
              <a:rPr lang="en-US" sz="1000" spc="-40" dirty="0">
                <a:solidFill>
                  <a:srgbClr val="575756"/>
                </a:solidFill>
              </a:rPr>
              <a:t> de production </a:t>
            </a:r>
            <a:r>
              <a:rPr lang="en-US" sz="1000" spc="-40" dirty="0" err="1">
                <a:solidFill>
                  <a:srgbClr val="575756"/>
                </a:solidFill>
              </a:rPr>
              <a:t>comptable</a:t>
            </a:r>
            <a:r>
              <a:rPr lang="en-US" sz="1000" spc="-40" dirty="0">
                <a:solidFill>
                  <a:srgbClr val="575756"/>
                </a:solidFill>
              </a:rPr>
              <a:t> - SAGE, CEGID, LOOP et ETAFI,</a:t>
            </a:r>
          </a:p>
          <a:p>
            <a:pPr indent="357188" algn="just"/>
            <a:r>
              <a:rPr lang="en-US" sz="1000" spc="-40" dirty="0">
                <a:solidFill>
                  <a:srgbClr val="575756"/>
                </a:solidFill>
              </a:rPr>
              <a:t>les </a:t>
            </a:r>
            <a:r>
              <a:rPr lang="en-US" sz="1000" spc="-40" dirty="0" err="1">
                <a:solidFill>
                  <a:srgbClr val="575756"/>
                </a:solidFill>
              </a:rPr>
              <a:t>logiciels</a:t>
            </a:r>
            <a:r>
              <a:rPr lang="en-US" sz="1000" spc="-40" dirty="0">
                <a:solidFill>
                  <a:srgbClr val="575756"/>
                </a:solidFill>
              </a:rPr>
              <a:t> de consolidation et de reporting - SAP BFC et Opéra </a:t>
            </a:r>
            <a:r>
              <a:rPr lang="en-US" sz="1000" spc="-40" dirty="0" err="1">
                <a:solidFill>
                  <a:srgbClr val="575756"/>
                </a:solidFill>
              </a:rPr>
              <a:t>Amelkis</a:t>
            </a:r>
            <a:r>
              <a:rPr lang="en-US" sz="1000" spc="-40" dirty="0">
                <a:solidFill>
                  <a:srgbClr val="575756"/>
                </a:solidFill>
              </a:rPr>
              <a:t>.</a:t>
            </a:r>
          </a:p>
          <a:p>
            <a:pPr indent="357188" algn="just"/>
            <a:r>
              <a:rPr lang="fr-FR" sz="400" spc="-40" dirty="0">
                <a:solidFill>
                  <a:srgbClr val="575756"/>
                </a:solidFill>
              </a:rPr>
              <a:t> </a:t>
            </a:r>
          </a:p>
          <a:p>
            <a:pPr algn="just"/>
            <a:r>
              <a:rPr lang="en-US" sz="1000" spc="-40" dirty="0" err="1">
                <a:solidFill>
                  <a:srgbClr val="575756"/>
                </a:solidFill>
              </a:rPr>
              <a:t>Puisque</a:t>
            </a:r>
            <a:r>
              <a:rPr lang="en-US" sz="1000" spc="-40" dirty="0">
                <a:solidFill>
                  <a:srgbClr val="575756"/>
                </a:solidFill>
              </a:rPr>
              <a:t> que nous </a:t>
            </a:r>
            <a:r>
              <a:rPr lang="en-US" sz="1000" spc="-40" dirty="0" err="1">
                <a:solidFill>
                  <a:srgbClr val="575756"/>
                </a:solidFill>
              </a:rPr>
              <a:t>travaillons</a:t>
            </a:r>
            <a:r>
              <a:rPr lang="en-US" sz="1000" spc="-40" dirty="0">
                <a:solidFill>
                  <a:srgbClr val="575756"/>
                </a:solidFill>
              </a:rPr>
              <a:t> avec des </a:t>
            </a:r>
            <a:r>
              <a:rPr lang="en-US" sz="1000" spc="-40" dirty="0" err="1">
                <a:solidFill>
                  <a:srgbClr val="575756"/>
                </a:solidFill>
              </a:rPr>
              <a:t>entreprises</a:t>
            </a:r>
            <a:r>
              <a:rPr lang="en-US" sz="1000" spc="-40" dirty="0">
                <a:solidFill>
                  <a:srgbClr val="575756"/>
                </a:solidFill>
              </a:rPr>
              <a:t> </a:t>
            </a:r>
            <a:r>
              <a:rPr lang="en-US" sz="1000" spc="-40" dirty="0" err="1">
                <a:solidFill>
                  <a:srgbClr val="575756"/>
                </a:solidFill>
              </a:rPr>
              <a:t>françaises</a:t>
            </a:r>
            <a:r>
              <a:rPr lang="en-US" sz="1000" spc="-40" dirty="0">
                <a:solidFill>
                  <a:srgbClr val="575756"/>
                </a:solidFill>
              </a:rPr>
              <a:t> et </a:t>
            </a:r>
            <a:r>
              <a:rPr lang="en-US" sz="1000" spc="-40" dirty="0" err="1">
                <a:solidFill>
                  <a:srgbClr val="575756"/>
                </a:solidFill>
              </a:rPr>
              <a:t>internationales</a:t>
            </a:r>
            <a:r>
              <a:rPr lang="en-US" sz="1000" spc="-40" dirty="0">
                <a:solidFill>
                  <a:srgbClr val="575756"/>
                </a:solidFill>
              </a:rPr>
              <a:t>, nous </a:t>
            </a:r>
            <a:r>
              <a:rPr lang="en-US" sz="1000" spc="-40" dirty="0" err="1">
                <a:solidFill>
                  <a:srgbClr val="575756"/>
                </a:solidFill>
              </a:rPr>
              <a:t>maîtrisons</a:t>
            </a:r>
            <a:r>
              <a:rPr lang="en-US" sz="1000" spc="-40" dirty="0">
                <a:solidFill>
                  <a:srgbClr val="575756"/>
                </a:solidFill>
              </a:rPr>
              <a:t> bien les </a:t>
            </a:r>
            <a:r>
              <a:rPr lang="en-US" sz="1000" spc="-40" dirty="0" err="1">
                <a:solidFill>
                  <a:srgbClr val="575756"/>
                </a:solidFill>
              </a:rPr>
              <a:t>normes</a:t>
            </a:r>
            <a:r>
              <a:rPr lang="en-US" sz="1000" spc="-40" dirty="0">
                <a:solidFill>
                  <a:srgbClr val="575756"/>
                </a:solidFill>
              </a:rPr>
              <a:t> </a:t>
            </a:r>
            <a:r>
              <a:rPr lang="en-US" sz="1000" spc="-40" dirty="0" err="1">
                <a:solidFill>
                  <a:srgbClr val="575756"/>
                </a:solidFill>
              </a:rPr>
              <a:t>comptables</a:t>
            </a:r>
            <a:r>
              <a:rPr lang="en-US" sz="1000" spc="-40" dirty="0">
                <a:solidFill>
                  <a:srgbClr val="575756"/>
                </a:solidFill>
              </a:rPr>
              <a:t> </a:t>
            </a:r>
            <a:r>
              <a:rPr lang="en-US" sz="1000" spc="-40" dirty="0" err="1">
                <a:solidFill>
                  <a:srgbClr val="575756"/>
                </a:solidFill>
              </a:rPr>
              <a:t>internationales</a:t>
            </a:r>
            <a:r>
              <a:rPr lang="en-US" sz="1000" spc="-40" dirty="0">
                <a:solidFill>
                  <a:srgbClr val="575756"/>
                </a:solidFill>
              </a:rPr>
              <a:t> IFRS et les US GAAP. Nous </a:t>
            </a:r>
            <a:r>
              <a:rPr lang="en-US" sz="1000" spc="-40" dirty="0" err="1">
                <a:solidFill>
                  <a:srgbClr val="575756"/>
                </a:solidFill>
              </a:rPr>
              <a:t>avons</a:t>
            </a:r>
            <a:r>
              <a:rPr lang="en-US" sz="1000" spc="-40" dirty="0">
                <a:solidFill>
                  <a:srgbClr val="575756"/>
                </a:solidFill>
              </a:rPr>
              <a:t> </a:t>
            </a:r>
            <a:r>
              <a:rPr lang="en-US" sz="1000" spc="-40" dirty="0" err="1">
                <a:solidFill>
                  <a:srgbClr val="575756"/>
                </a:solidFill>
              </a:rPr>
              <a:t>notamment</a:t>
            </a:r>
            <a:r>
              <a:rPr lang="en-US" sz="1000" spc="-40" dirty="0">
                <a:solidFill>
                  <a:srgbClr val="575756"/>
                </a:solidFill>
              </a:rPr>
              <a:t> </a:t>
            </a:r>
            <a:r>
              <a:rPr lang="en-US" sz="1000" spc="-40" dirty="0" err="1">
                <a:solidFill>
                  <a:srgbClr val="575756"/>
                </a:solidFill>
              </a:rPr>
              <a:t>développé</a:t>
            </a:r>
            <a:r>
              <a:rPr lang="en-US" sz="1000" spc="-40" dirty="0">
                <a:solidFill>
                  <a:srgbClr val="575756"/>
                </a:solidFill>
              </a:rPr>
              <a:t> des </a:t>
            </a:r>
            <a:r>
              <a:rPr lang="en-US" sz="1000" spc="-40" dirty="0" err="1">
                <a:solidFill>
                  <a:srgbClr val="575756"/>
                </a:solidFill>
              </a:rPr>
              <a:t>outils</a:t>
            </a:r>
            <a:r>
              <a:rPr lang="en-US" sz="1000" spc="-40" dirty="0">
                <a:solidFill>
                  <a:srgbClr val="575756"/>
                </a:solidFill>
              </a:rPr>
              <a:t> de </a:t>
            </a:r>
            <a:r>
              <a:rPr lang="en-US" sz="1000" spc="-40" dirty="0" err="1">
                <a:solidFill>
                  <a:srgbClr val="575756"/>
                </a:solidFill>
              </a:rPr>
              <a:t>suivi</a:t>
            </a:r>
            <a:r>
              <a:rPr lang="en-US" sz="1000" spc="-40" dirty="0">
                <a:solidFill>
                  <a:srgbClr val="575756"/>
                </a:solidFill>
              </a:rPr>
              <a:t> de </a:t>
            </a:r>
            <a:r>
              <a:rPr lang="en-US" sz="1000" spc="-40" dirty="0" err="1">
                <a:solidFill>
                  <a:srgbClr val="575756"/>
                </a:solidFill>
              </a:rPr>
              <a:t>l'information</a:t>
            </a:r>
            <a:r>
              <a:rPr lang="en-US" sz="1000" spc="-40" dirty="0">
                <a:solidFill>
                  <a:srgbClr val="575756"/>
                </a:solidFill>
              </a:rPr>
              <a:t> financière de </a:t>
            </a:r>
            <a:r>
              <a:rPr lang="en-US" sz="1000" spc="-40" dirty="0" err="1">
                <a:solidFill>
                  <a:srgbClr val="575756"/>
                </a:solidFill>
              </a:rPr>
              <a:t>ces</a:t>
            </a:r>
            <a:r>
              <a:rPr lang="en-US" sz="1000" spc="-40" dirty="0">
                <a:solidFill>
                  <a:srgbClr val="575756"/>
                </a:solidFill>
              </a:rPr>
              <a:t> </a:t>
            </a:r>
            <a:r>
              <a:rPr lang="en-US" sz="1000" spc="-40" dirty="0" err="1">
                <a:solidFill>
                  <a:srgbClr val="575756"/>
                </a:solidFill>
              </a:rPr>
              <a:t>référentiels</a:t>
            </a:r>
            <a:r>
              <a:rPr lang="en-US" sz="1000" spc="-40" dirty="0">
                <a:solidFill>
                  <a:srgbClr val="575756"/>
                </a:solidFill>
              </a:rPr>
              <a:t> vs les </a:t>
            </a:r>
            <a:r>
              <a:rPr lang="en-US" sz="1000" spc="-40" dirty="0" err="1">
                <a:solidFill>
                  <a:srgbClr val="575756"/>
                </a:solidFill>
              </a:rPr>
              <a:t>normes</a:t>
            </a:r>
            <a:r>
              <a:rPr lang="en-US" sz="1000" spc="-40" dirty="0">
                <a:solidFill>
                  <a:srgbClr val="575756"/>
                </a:solidFill>
              </a:rPr>
              <a:t> </a:t>
            </a:r>
            <a:r>
              <a:rPr lang="en-US" sz="1000" spc="-40" dirty="0" err="1">
                <a:solidFill>
                  <a:srgbClr val="575756"/>
                </a:solidFill>
              </a:rPr>
              <a:t>françaises</a:t>
            </a:r>
            <a:r>
              <a:rPr lang="en-US" sz="1000" spc="-40" dirty="0">
                <a:solidFill>
                  <a:srgbClr val="575756"/>
                </a:solidFill>
              </a:rPr>
              <a:t>.</a:t>
            </a:r>
          </a:p>
          <a:p>
            <a:pPr algn="just" defTabSz="412750" hangingPunct="0">
              <a:defRPr sz="2200" b="0">
                <a:solidFill>
                  <a:srgbClr val="6A6E77"/>
                </a:solidFill>
                <a:latin typeface="Quicksand Regular"/>
                <a:ea typeface="Quicksand Regular"/>
                <a:cs typeface="Quicksand Regular"/>
                <a:sym typeface="Quicksand Regular"/>
              </a:defRPr>
            </a:pPr>
            <a:endParaRPr lang="en-US" sz="1000" kern="0" spc="-4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pic>
        <p:nvPicPr>
          <p:cNvPr id="3" name="Graphique 2" descr="ADN">
            <a:extLst>
              <a:ext uri="{FF2B5EF4-FFF2-40B4-BE49-F238E27FC236}">
                <a16:creationId xmlns:a16="http://schemas.microsoft.com/office/drawing/2014/main" id="{4CFEBDEB-A7EB-4E0D-AEDB-8C0A71407E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60435" y="427880"/>
            <a:ext cx="644716" cy="644716"/>
          </a:xfrm>
          <a:prstGeom prst="rect">
            <a:avLst/>
          </a:prstGeom>
        </p:spPr>
      </p:pic>
      <p:pic>
        <p:nvPicPr>
          <p:cNvPr id="5" name="Graphique 4" descr="Outils">
            <a:extLst>
              <a:ext uri="{FF2B5EF4-FFF2-40B4-BE49-F238E27FC236}">
                <a16:creationId xmlns:a16="http://schemas.microsoft.com/office/drawing/2014/main" id="{4125FE19-A126-460A-A78E-ADBA64497C2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11128" y="317875"/>
            <a:ext cx="591763" cy="591763"/>
          </a:xfrm>
          <a:prstGeom prst="rect">
            <a:avLst/>
          </a:prstGeom>
        </p:spPr>
      </p:pic>
      <p:pic>
        <p:nvPicPr>
          <p:cNvPr id="7" name="Graphique 6" descr="Pièces de puzzle">
            <a:extLst>
              <a:ext uri="{FF2B5EF4-FFF2-40B4-BE49-F238E27FC236}">
                <a16:creationId xmlns:a16="http://schemas.microsoft.com/office/drawing/2014/main" id="{BD047582-68A1-4493-9FB5-E371304CCC7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07450" y="4723229"/>
            <a:ext cx="745232" cy="745232"/>
          </a:xfrm>
          <a:prstGeom prst="rect">
            <a:avLst/>
          </a:prstGeom>
        </p:spPr>
      </p:pic>
      <p:pic>
        <p:nvPicPr>
          <p:cNvPr id="9" name="Graphique 8" descr="Engrenages">
            <a:extLst>
              <a:ext uri="{FF2B5EF4-FFF2-40B4-BE49-F238E27FC236}">
                <a16:creationId xmlns:a16="http://schemas.microsoft.com/office/drawing/2014/main" id="{97ED9628-150F-4F5F-A226-1EC1C74F24A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21429" y="2569694"/>
            <a:ext cx="745232" cy="745232"/>
          </a:xfrm>
          <a:prstGeom prst="rect">
            <a:avLst/>
          </a:prstGeom>
        </p:spPr>
      </p:pic>
      <p:sp>
        <p:nvSpPr>
          <p:cNvPr id="17" name="Titre 4">
            <a:extLst>
              <a:ext uri="{FF2B5EF4-FFF2-40B4-BE49-F238E27FC236}">
                <a16:creationId xmlns:a16="http://schemas.microsoft.com/office/drawing/2014/main" id="{2F8E6FE4-B9C1-4B9C-BC7C-D59076781923}"/>
              </a:ext>
            </a:extLst>
          </p:cNvPr>
          <p:cNvSpPr txBox="1">
            <a:spLocks/>
          </p:cNvSpPr>
          <p:nvPr/>
        </p:nvSpPr>
        <p:spPr>
          <a:xfrm>
            <a:off x="206988" y="161948"/>
            <a:ext cx="2276095" cy="995557"/>
          </a:xfrm>
          <a:prstGeom prst="rect">
            <a:avLst/>
          </a:prstGeom>
        </p:spPr>
        <p:txBody>
          <a:bodyPr vert="horz" lIns="0" tIns="0" rIns="0" bIns="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8600" b="1"/>
              <a:t>Expertise comptable</a:t>
            </a:r>
          </a:p>
          <a:p>
            <a:endParaRPr lang="fr-FR" dirty="0">
              <a:solidFill>
                <a:srgbClr val="FF0000"/>
              </a:solidFill>
            </a:endParaRPr>
          </a:p>
        </p:txBody>
      </p:sp>
      <p:sp>
        <p:nvSpPr>
          <p:cNvPr id="18" name="Espace réservé du numéro de diapositive 9">
            <a:extLst>
              <a:ext uri="{FF2B5EF4-FFF2-40B4-BE49-F238E27FC236}">
                <a16:creationId xmlns:a16="http://schemas.microsoft.com/office/drawing/2014/main" id="{AC284BF9-FE51-47AA-B2C1-D61DB2E2E9F6}"/>
              </a:ext>
            </a:extLst>
          </p:cNvPr>
          <p:cNvSpPr txBox="1">
            <a:spLocks/>
          </p:cNvSpPr>
          <p:nvPr/>
        </p:nvSpPr>
        <p:spPr>
          <a:xfrm>
            <a:off x="11507787"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4</a:t>
            </a:fld>
            <a:endParaRPr lang="en-US" sz="1000" dirty="0">
              <a:solidFill>
                <a:srgbClr val="5C607E"/>
              </a:solidFill>
            </a:endParaRPr>
          </a:p>
        </p:txBody>
      </p:sp>
    </p:spTree>
    <p:extLst>
      <p:ext uri="{BB962C8B-B14F-4D97-AF65-F5344CB8AC3E}">
        <p14:creationId xmlns:p14="http://schemas.microsoft.com/office/powerpoint/2010/main" val="1523868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p:cNvSpPr/>
          <p:nvPr/>
        </p:nvSpPr>
        <p:spPr>
          <a:xfrm>
            <a:off x="45243" y="0"/>
            <a:ext cx="2599587" cy="6858001"/>
          </a:xfrm>
          <a:prstGeom prst="rect">
            <a:avLst/>
          </a:prstGeom>
          <a:solidFill>
            <a:srgbClr val="1C1F25"/>
          </a:solidFill>
          <a:ln w="12700">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00" name="Marketing…"/>
          <p:cNvSpPr txBox="1"/>
          <p:nvPr/>
        </p:nvSpPr>
        <p:spPr>
          <a:xfrm>
            <a:off x="3219587" y="1177830"/>
            <a:ext cx="3928485" cy="14311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Pour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vous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soutenir</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et assurer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votre</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processus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de consolidation...</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aidons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atteindre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objectifs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toute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confiance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apportant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savoir-faire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expertise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matière :</a:t>
            </a:r>
          </a:p>
          <a:p>
            <a:pPr indent="-2857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D’organisation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consolidation et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délais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indent="-2857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l'information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financière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consolidée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produite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indent="-2857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transfert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compétences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endPar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a:endParaRPr lang="fr-FR" sz="1000" b="1" dirty="0">
              <a:solidFill>
                <a:srgbClr val="00B2A9"/>
              </a:solidFill>
            </a:endParaRPr>
          </a:p>
        </p:txBody>
      </p:sp>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pic>
        <p:nvPicPr>
          <p:cNvPr id="57" name="Image 56" descr="Une image contenant objet, corde, portant, regardant  Description générée automatiquement">
            <a:extLst>
              <a:ext uri="{FF2B5EF4-FFF2-40B4-BE49-F238E27FC236}">
                <a16:creationId xmlns:a16="http://schemas.microsoft.com/office/drawing/2014/main" id="{F4EAE2F9-C6CC-454F-B0C7-43B2859039E6}"/>
              </a:ext>
            </a:extLst>
          </p:cNvPr>
          <p:cNvPicPr>
            <a:picLocks noChangeAspect="1"/>
          </p:cNvPicPr>
          <p:nvPr/>
        </p:nvPicPr>
        <p:blipFill rotWithShape="1">
          <a:blip r:embed="rId2">
            <a:extLst>
              <a:ext uri="{28A0092B-C50C-407E-A947-70E740481C1C}">
                <a14:useLocalDpi xmlns:a14="http://schemas.microsoft.com/office/drawing/2010/main" val="0"/>
              </a:ext>
            </a:extLst>
          </a:blip>
          <a:srcRect l="25949" r="52508"/>
          <a:stretch/>
        </p:blipFill>
        <p:spPr>
          <a:xfrm>
            <a:off x="-135096" y="-2"/>
            <a:ext cx="2779926" cy="6858002"/>
          </a:xfrm>
          <a:prstGeom prst="rect">
            <a:avLst/>
          </a:prstGeom>
        </p:spPr>
      </p:pic>
      <p:pic>
        <p:nvPicPr>
          <p:cNvPr id="67" name="Image 66">
            <a:extLst>
              <a:ext uri="{FF2B5EF4-FFF2-40B4-BE49-F238E27FC236}">
                <a16:creationId xmlns:a16="http://schemas.microsoft.com/office/drawing/2014/main" id="{5F1AA49E-CDFF-4E2B-9CE2-9497D8505FCB}"/>
              </a:ext>
            </a:extLst>
          </p:cNvPr>
          <p:cNvPicPr>
            <a:picLocks noChangeAspect="1"/>
          </p:cNvPicPr>
          <p:nvPr/>
        </p:nvPicPr>
        <p:blipFill>
          <a:blip r:embed="rId3"/>
          <a:stretch>
            <a:fillRect/>
          </a:stretch>
        </p:blipFill>
        <p:spPr>
          <a:xfrm>
            <a:off x="10987330" y="145639"/>
            <a:ext cx="1040915" cy="388870"/>
          </a:xfrm>
          <a:prstGeom prst="rect">
            <a:avLst/>
          </a:prstGeom>
        </p:spPr>
      </p:pic>
      <p:sp>
        <p:nvSpPr>
          <p:cNvPr id="72" name="Marketing…">
            <a:extLst>
              <a:ext uri="{FF2B5EF4-FFF2-40B4-BE49-F238E27FC236}">
                <a16:creationId xmlns:a16="http://schemas.microsoft.com/office/drawing/2014/main" id="{3C7A34A8-4D07-42D3-A1CA-47835A4414CE}"/>
              </a:ext>
            </a:extLst>
          </p:cNvPr>
          <p:cNvSpPr txBox="1"/>
          <p:nvPr/>
        </p:nvSpPr>
        <p:spPr>
          <a:xfrm>
            <a:off x="3219587" y="3801615"/>
            <a:ext cx="3928485" cy="252376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just"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Connaissances et expertise</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Notre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dispose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solide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expérience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acquise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divers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secteurs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auprès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groupes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sociétés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cotées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cotées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Elle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est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composée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d'associés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directeurs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 consultants seniors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expérimentés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matière de consolidation,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certains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certifiés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IFRS par le CSOEC et la CNCC. Notre savoir-faire,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expérience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opérationnelle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connaissance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groupes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permettent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d'apporter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expertise sur des questions complexes et de nous adapter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besoins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pouvons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assister sur tout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partie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d'élaboration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l'information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financière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consolidée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qu'elle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soit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établie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selon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 cadre normative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français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règlement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99-02)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selon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 cadre normative international (IFRS).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utilisons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connaissons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logiciels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consolidation leaders sur le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marché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 SAP BFC (ex magnitude) et OPERA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Amelkis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p:txBody>
      </p:sp>
      <p:sp>
        <p:nvSpPr>
          <p:cNvPr id="79" name="Marketing…">
            <a:extLst>
              <a:ext uri="{FF2B5EF4-FFF2-40B4-BE49-F238E27FC236}">
                <a16:creationId xmlns:a16="http://schemas.microsoft.com/office/drawing/2014/main" id="{D90ABCE5-1408-454B-B245-44906C756238}"/>
              </a:ext>
            </a:extLst>
          </p:cNvPr>
          <p:cNvSpPr txBox="1"/>
          <p:nvPr/>
        </p:nvSpPr>
        <p:spPr>
          <a:xfrm>
            <a:off x="7636075" y="3861048"/>
            <a:ext cx="3928485" cy="206210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just"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Domaines de compétences</a:t>
            </a:r>
            <a:endParaRP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apportons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réponse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mesure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qu'il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s'agisse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soutien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intégral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consolidation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l'assistance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technique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fonctionnelle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Assistance à la mise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place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système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consolidation.</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Optimisation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consolidation.</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Production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fiabilité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données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financières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consolidées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Accompagnement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changement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628639" lvl="1" indent="-171450" algn="just" defTabSz="412750" hangingPunct="0">
              <a:buFont typeface="Wingdings" panose="05000000000000000000" pitchFamily="2" charset="2"/>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Support 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choix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systèmes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consolidation,</a:t>
            </a:r>
          </a:p>
          <a:p>
            <a:pPr marL="628639" lvl="1" indent="-171450" algn="just" defTabSz="412750" hangingPunct="0">
              <a:buFont typeface="Wingdings" panose="05000000000000000000" pitchFamily="2" charset="2"/>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Assistance aux migrations</a:t>
            </a:r>
          </a:p>
          <a:p>
            <a:pPr marL="628639" lvl="1" indent="-171450" algn="just" defTabSz="412750" hangingPunct="0">
              <a:buFont typeface="Wingdings" panose="05000000000000000000" pitchFamily="2" charset="2"/>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Formation.</a:t>
            </a:r>
            <a:endPar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endPar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sp>
        <p:nvSpPr>
          <p:cNvPr id="80" name="Marketing…">
            <a:extLst>
              <a:ext uri="{FF2B5EF4-FFF2-40B4-BE49-F238E27FC236}">
                <a16:creationId xmlns:a16="http://schemas.microsoft.com/office/drawing/2014/main" id="{F1C39BD5-5BCD-43F7-926F-00CB5A9110B0}"/>
              </a:ext>
            </a:extLst>
          </p:cNvPr>
          <p:cNvSpPr txBox="1"/>
          <p:nvPr/>
        </p:nvSpPr>
        <p:spPr>
          <a:xfrm>
            <a:off x="7636075" y="1412776"/>
            <a:ext cx="3928485" cy="96949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a:solidFill>
                  <a:srgbClr val="0D5257"/>
                </a:solidFill>
                <a:latin typeface="Tahoma" panose="020B0604030504040204" pitchFamily="34" charset="0"/>
                <a:ea typeface="Tahoma" panose="020B0604030504040204" pitchFamily="34" charset="0"/>
                <a:cs typeface="Tahoma" panose="020B0604030504040204" pitchFamily="34" charset="0"/>
              </a:rPr>
              <a:t>Une gamme variée de services pour vous accompagner et répondre à vos besoins.</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a:solidFill>
                  <a:srgbClr val="575756"/>
                </a:solidFill>
                <a:latin typeface="Tahoma" panose="020B0604030504040204" pitchFamily="34" charset="0"/>
                <a:ea typeface="Tahoma" panose="020B0604030504040204" pitchFamily="34" charset="0"/>
                <a:cs typeface="Tahoma" panose="020B0604030504040204" pitchFamily="34" charset="0"/>
              </a:rPr>
              <a:t>Nous apportons une réponse appropriée à chacun de vos besoins, qu'il s'agisse de la gestion ou de la révision de votre consolidation, de votre reporting ou d'une assistance technique spécifique.</a:t>
            </a:r>
            <a:endPar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pic>
        <p:nvPicPr>
          <p:cNvPr id="3" name="Graphique 2" descr="ADN">
            <a:extLst>
              <a:ext uri="{FF2B5EF4-FFF2-40B4-BE49-F238E27FC236}">
                <a16:creationId xmlns:a16="http://schemas.microsoft.com/office/drawing/2014/main" id="{4CFEBDEB-A7EB-4E0D-AEDB-8C0A71407E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90028" y="522106"/>
            <a:ext cx="644716" cy="644716"/>
          </a:xfrm>
          <a:prstGeom prst="rect">
            <a:avLst/>
          </a:prstGeom>
        </p:spPr>
      </p:pic>
      <p:pic>
        <p:nvPicPr>
          <p:cNvPr id="5" name="Graphique 4" descr="Outils">
            <a:extLst>
              <a:ext uri="{FF2B5EF4-FFF2-40B4-BE49-F238E27FC236}">
                <a16:creationId xmlns:a16="http://schemas.microsoft.com/office/drawing/2014/main" id="{4125FE19-A126-460A-A78E-ADBA64497C2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09292" y="777766"/>
            <a:ext cx="591763" cy="591763"/>
          </a:xfrm>
          <a:prstGeom prst="rect">
            <a:avLst/>
          </a:prstGeom>
        </p:spPr>
      </p:pic>
      <p:pic>
        <p:nvPicPr>
          <p:cNvPr id="7" name="Graphique 6" descr="Pièces de puzzle">
            <a:extLst>
              <a:ext uri="{FF2B5EF4-FFF2-40B4-BE49-F238E27FC236}">
                <a16:creationId xmlns:a16="http://schemas.microsoft.com/office/drawing/2014/main" id="{BD047582-68A1-4493-9FB5-E371304CCC7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2710" y="3056383"/>
            <a:ext cx="745232" cy="745232"/>
          </a:xfrm>
          <a:prstGeom prst="rect">
            <a:avLst/>
          </a:prstGeom>
        </p:spPr>
      </p:pic>
      <p:pic>
        <p:nvPicPr>
          <p:cNvPr id="9" name="Graphique 8" descr="Engrenages">
            <a:extLst>
              <a:ext uri="{FF2B5EF4-FFF2-40B4-BE49-F238E27FC236}">
                <a16:creationId xmlns:a16="http://schemas.microsoft.com/office/drawing/2014/main" id="{97ED9628-150F-4F5F-A226-1EC1C74F24A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32835" y="3056383"/>
            <a:ext cx="745232" cy="745232"/>
          </a:xfrm>
          <a:prstGeom prst="rect">
            <a:avLst/>
          </a:prstGeom>
        </p:spPr>
      </p:pic>
      <p:sp>
        <p:nvSpPr>
          <p:cNvPr id="17" name="Titre 4">
            <a:extLst>
              <a:ext uri="{FF2B5EF4-FFF2-40B4-BE49-F238E27FC236}">
                <a16:creationId xmlns:a16="http://schemas.microsoft.com/office/drawing/2014/main" id="{2F8E6FE4-B9C1-4B9C-BC7C-D59076781923}"/>
              </a:ext>
            </a:extLst>
          </p:cNvPr>
          <p:cNvSpPr txBox="1">
            <a:spLocks/>
          </p:cNvSpPr>
          <p:nvPr/>
        </p:nvSpPr>
        <p:spPr>
          <a:xfrm>
            <a:off x="55400" y="197586"/>
            <a:ext cx="3744412" cy="813309"/>
          </a:xfrm>
          <a:prstGeom prst="rect">
            <a:avLst/>
          </a:prstGeom>
        </p:spPr>
        <p:txBody>
          <a:bodyPr vert="horz" lIns="0" tIns="0" rIns="0" bIns="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5100" b="1"/>
              <a:t>Consolidation</a:t>
            </a:r>
          </a:p>
          <a:p>
            <a:endParaRPr lang="fr-FR" dirty="0">
              <a:solidFill>
                <a:srgbClr val="FF0000"/>
              </a:solidFill>
            </a:endParaRPr>
          </a:p>
        </p:txBody>
      </p:sp>
      <p:sp>
        <p:nvSpPr>
          <p:cNvPr id="18" name="Espace réservé du numéro de diapositive 9">
            <a:extLst>
              <a:ext uri="{FF2B5EF4-FFF2-40B4-BE49-F238E27FC236}">
                <a16:creationId xmlns:a16="http://schemas.microsoft.com/office/drawing/2014/main" id="{AC284BF9-FE51-47AA-B2C1-D61DB2E2E9F6}"/>
              </a:ext>
            </a:extLst>
          </p:cNvPr>
          <p:cNvSpPr txBox="1">
            <a:spLocks/>
          </p:cNvSpPr>
          <p:nvPr/>
        </p:nvSpPr>
        <p:spPr>
          <a:xfrm>
            <a:off x="11507787"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5</a:t>
            </a:fld>
            <a:endParaRPr lang="en-US" sz="1000" dirty="0">
              <a:solidFill>
                <a:srgbClr val="5C607E"/>
              </a:solidFill>
            </a:endParaRPr>
          </a:p>
        </p:txBody>
      </p:sp>
    </p:spTree>
    <p:extLst>
      <p:ext uri="{BB962C8B-B14F-4D97-AF65-F5344CB8AC3E}">
        <p14:creationId xmlns:p14="http://schemas.microsoft.com/office/powerpoint/2010/main" val="27491278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p:cNvSpPr/>
          <p:nvPr/>
        </p:nvSpPr>
        <p:spPr>
          <a:xfrm>
            <a:off x="45243" y="0"/>
            <a:ext cx="2599587" cy="6858001"/>
          </a:xfrm>
          <a:prstGeom prst="rect">
            <a:avLst/>
          </a:prstGeom>
          <a:solidFill>
            <a:srgbClr val="1C1F25"/>
          </a:solidFill>
          <a:ln w="12700">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00" name="Marketing…"/>
          <p:cNvSpPr txBox="1"/>
          <p:nvPr/>
        </p:nvSpPr>
        <p:spPr>
          <a:xfrm>
            <a:off x="2927648" y="800372"/>
            <a:ext cx="4320480" cy="198515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Les bonnes pratiques sont dans nos gènes</a:t>
            </a:r>
            <a:endParaRP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qu'acteur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clé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activités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d'audit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Sefico</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Nexia 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développé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pratique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spécifique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services de transaction avec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dédiée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compétences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s'appuient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savoir-faire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historique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matière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conseil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comptable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fiscal,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juridique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social. Notre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services de transaction 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solide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expérience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matière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bonnes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pratiques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France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qu'à</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l'étranger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appuyons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réseau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Nexia International pour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fournir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services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l'échelle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mondiale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avons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l'habitude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servir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petites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moyennes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entreprises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faisant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preuve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haut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niveau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professionnalisme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sommes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 service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clients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depuis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plus de 60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confirme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que les relations à long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terme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restent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première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priorité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p:txBody>
      </p:sp>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pic>
        <p:nvPicPr>
          <p:cNvPr id="57" name="Image 56" descr="Une image contenant objet, corde, portant, regardant  Description générée automatiquement">
            <a:extLst>
              <a:ext uri="{FF2B5EF4-FFF2-40B4-BE49-F238E27FC236}">
                <a16:creationId xmlns:a16="http://schemas.microsoft.com/office/drawing/2014/main" id="{F4EAE2F9-C6CC-454F-B0C7-43B2859039E6}"/>
              </a:ext>
            </a:extLst>
          </p:cNvPr>
          <p:cNvPicPr>
            <a:picLocks noChangeAspect="1"/>
          </p:cNvPicPr>
          <p:nvPr/>
        </p:nvPicPr>
        <p:blipFill rotWithShape="1">
          <a:blip r:embed="rId2">
            <a:extLst>
              <a:ext uri="{28A0092B-C50C-407E-A947-70E740481C1C}">
                <a14:useLocalDpi xmlns:a14="http://schemas.microsoft.com/office/drawing/2010/main" val="0"/>
              </a:ext>
            </a:extLst>
          </a:blip>
          <a:srcRect l="25949" r="52508"/>
          <a:stretch/>
        </p:blipFill>
        <p:spPr>
          <a:xfrm>
            <a:off x="-135096" y="-2"/>
            <a:ext cx="2779926" cy="6858002"/>
          </a:xfrm>
          <a:prstGeom prst="rect">
            <a:avLst/>
          </a:prstGeom>
        </p:spPr>
      </p:pic>
      <p:pic>
        <p:nvPicPr>
          <p:cNvPr id="67" name="Image 66">
            <a:extLst>
              <a:ext uri="{FF2B5EF4-FFF2-40B4-BE49-F238E27FC236}">
                <a16:creationId xmlns:a16="http://schemas.microsoft.com/office/drawing/2014/main" id="{5F1AA49E-CDFF-4E2B-9CE2-9497D8505FCB}"/>
              </a:ext>
            </a:extLst>
          </p:cNvPr>
          <p:cNvPicPr>
            <a:picLocks noChangeAspect="1"/>
          </p:cNvPicPr>
          <p:nvPr/>
        </p:nvPicPr>
        <p:blipFill>
          <a:blip r:embed="rId3"/>
          <a:stretch>
            <a:fillRect/>
          </a:stretch>
        </p:blipFill>
        <p:spPr>
          <a:xfrm>
            <a:off x="10987330" y="145639"/>
            <a:ext cx="1040915" cy="388870"/>
          </a:xfrm>
          <a:prstGeom prst="rect">
            <a:avLst/>
          </a:prstGeom>
        </p:spPr>
      </p:pic>
      <p:sp>
        <p:nvSpPr>
          <p:cNvPr id="72" name="Marketing…">
            <a:extLst>
              <a:ext uri="{FF2B5EF4-FFF2-40B4-BE49-F238E27FC236}">
                <a16:creationId xmlns:a16="http://schemas.microsoft.com/office/drawing/2014/main" id="{3C7A34A8-4D07-42D3-A1CA-47835A4414CE}"/>
              </a:ext>
            </a:extLst>
          </p:cNvPr>
          <p:cNvSpPr txBox="1"/>
          <p:nvPr/>
        </p:nvSpPr>
        <p:spPr>
          <a:xfrm>
            <a:off x="2927456" y="3428999"/>
            <a:ext cx="4320480" cy="321626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Services de transactions sur mesure</a:t>
            </a:r>
            <a:endParaRP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Notre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approche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n'est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pas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normalisée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Pour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chaque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accord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envisagé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assurons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d'avoir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compréhension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approfondie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contexte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attentes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parties.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C'est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un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comportement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clé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car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proposons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toujours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un service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personnalisé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avec un maximum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d'agilité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pragmatisme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C'est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pourquoi</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possède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compétences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spécifiques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 pour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objectif</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répondre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précisément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attentes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clients qui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diffèrent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transaction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l'autre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Notre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comprend</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spécialistes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domaines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clés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un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contexte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transaction : finance,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comptabilité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droit, social,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informatique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sommes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donc</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mesure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couvrir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domaines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clés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entreprise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le cadre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bonnes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pratiques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 mobiliser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immédiatement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tout type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spécialistes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cas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où</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un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problème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serait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identifié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cours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s'assure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d'avoir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connaissance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approfondie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modèle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d'entreprise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cible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spécificités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secteur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considérons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qu'il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s'agit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étape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clé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pour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s'assurer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que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informations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financières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soient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comprises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considérées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comme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cohérentes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avec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l'environnement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l'entreprise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p:txBody>
      </p:sp>
      <p:sp>
        <p:nvSpPr>
          <p:cNvPr id="79" name="Marketing…">
            <a:extLst>
              <a:ext uri="{FF2B5EF4-FFF2-40B4-BE49-F238E27FC236}">
                <a16:creationId xmlns:a16="http://schemas.microsoft.com/office/drawing/2014/main" id="{D90ABCE5-1408-454B-B245-44906C756238}"/>
              </a:ext>
            </a:extLst>
          </p:cNvPr>
          <p:cNvSpPr txBox="1"/>
          <p:nvPr/>
        </p:nvSpPr>
        <p:spPr>
          <a:xfrm>
            <a:off x="7728548" y="4770945"/>
            <a:ext cx="3928485" cy="212365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Assistance aux transactions : un service de conseil supplémentaire essentiel</a:t>
            </a:r>
            <a:endParaRP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cours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dernières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années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avons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également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développé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forte expertise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matière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d’accompagnement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aux transactions, qui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doivent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être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considérées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comme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services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soutien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opérations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spécialistes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fusions et acquisitions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avocats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fournissent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services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que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rédaction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SPA / SHA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préparation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la gestion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calendrier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l'accord</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négociation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avec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partie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adverse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la gestion de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réunion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cloture et de signature.</a:t>
            </a:r>
          </a:p>
          <a:p>
            <a:pPr marL="628639" lvl="1" indent="-171450" algn="just" defTabSz="412750" hangingPunct="0">
              <a:spcBef>
                <a:spcPts val="600"/>
              </a:spcBef>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endPar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sp>
        <p:nvSpPr>
          <p:cNvPr id="80" name="Marketing…">
            <a:extLst>
              <a:ext uri="{FF2B5EF4-FFF2-40B4-BE49-F238E27FC236}">
                <a16:creationId xmlns:a16="http://schemas.microsoft.com/office/drawing/2014/main" id="{F1C39BD5-5BCD-43F7-926F-00CB5A9110B0}"/>
              </a:ext>
            </a:extLst>
          </p:cNvPr>
          <p:cNvSpPr txBox="1"/>
          <p:nvPr/>
        </p:nvSpPr>
        <p:spPr>
          <a:xfrm>
            <a:off x="7636075" y="996823"/>
            <a:ext cx="4292573" cy="306237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Méthodologie</a:t>
            </a:r>
            <a:endParaRP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Bien que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fournissions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services sur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mesure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formée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pour appliquer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méthodologie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commune qui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garantit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services.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principales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étapes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suivantes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acquérir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compréhension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approfondie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l'entreprise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afin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d'identifier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principaux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moteurs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performance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effectuer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analyses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trésorerie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telles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l'analyse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tableau des flux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trésorerie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besoins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fonds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roulement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assurer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conformité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états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financiers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présenter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un EBITDA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ajusté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supprimant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éléments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récurrents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revoir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principales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hypothèses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plan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d'entreprise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effectuer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analyses completes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données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financières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l'aide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outil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dédié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afin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d'identifier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domaines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d'attention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potentiels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pourraient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nécessiter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investigations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additionnelles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endPar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Nos travaux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systématiquement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documentés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un rapport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détaillé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qui met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évidence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principaux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résultats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fournit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ensuite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nombreux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détails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pour que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l'acheteur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puisse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effectuer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toute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analyse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supplémentaire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pourrait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être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jugée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nécessaire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p:txBody>
      </p:sp>
      <p:pic>
        <p:nvPicPr>
          <p:cNvPr id="3" name="Graphique 2" descr="ADN">
            <a:extLst>
              <a:ext uri="{FF2B5EF4-FFF2-40B4-BE49-F238E27FC236}">
                <a16:creationId xmlns:a16="http://schemas.microsoft.com/office/drawing/2014/main" id="{4CFEBDEB-A7EB-4E0D-AEDB-8C0A71407E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64696" y="137778"/>
            <a:ext cx="644716" cy="644716"/>
          </a:xfrm>
          <a:prstGeom prst="rect">
            <a:avLst/>
          </a:prstGeom>
        </p:spPr>
      </p:pic>
      <p:pic>
        <p:nvPicPr>
          <p:cNvPr id="5" name="Graphique 4" descr="Outils">
            <a:extLst>
              <a:ext uri="{FF2B5EF4-FFF2-40B4-BE49-F238E27FC236}">
                <a16:creationId xmlns:a16="http://schemas.microsoft.com/office/drawing/2014/main" id="{4125FE19-A126-460A-A78E-ADBA64497C2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27456" y="2842047"/>
            <a:ext cx="591763" cy="591763"/>
          </a:xfrm>
          <a:prstGeom prst="rect">
            <a:avLst/>
          </a:prstGeom>
        </p:spPr>
      </p:pic>
      <p:pic>
        <p:nvPicPr>
          <p:cNvPr id="7" name="Graphique 6" descr="Pièces de puzzle">
            <a:extLst>
              <a:ext uri="{FF2B5EF4-FFF2-40B4-BE49-F238E27FC236}">
                <a16:creationId xmlns:a16="http://schemas.microsoft.com/office/drawing/2014/main" id="{BD047582-68A1-4493-9FB5-E371304CCC7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36075" y="4059200"/>
            <a:ext cx="745232" cy="745232"/>
          </a:xfrm>
          <a:prstGeom prst="rect">
            <a:avLst/>
          </a:prstGeom>
        </p:spPr>
      </p:pic>
      <p:pic>
        <p:nvPicPr>
          <p:cNvPr id="9" name="Graphique 8" descr="Engrenages">
            <a:extLst>
              <a:ext uri="{FF2B5EF4-FFF2-40B4-BE49-F238E27FC236}">
                <a16:creationId xmlns:a16="http://schemas.microsoft.com/office/drawing/2014/main" id="{97ED9628-150F-4F5F-A226-1EC1C74F24A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99635" y="285078"/>
            <a:ext cx="745232" cy="745232"/>
          </a:xfrm>
          <a:prstGeom prst="rect">
            <a:avLst/>
          </a:prstGeom>
        </p:spPr>
      </p:pic>
      <p:sp>
        <p:nvSpPr>
          <p:cNvPr id="17" name="Titre 4">
            <a:extLst>
              <a:ext uri="{FF2B5EF4-FFF2-40B4-BE49-F238E27FC236}">
                <a16:creationId xmlns:a16="http://schemas.microsoft.com/office/drawing/2014/main" id="{2F8E6FE4-B9C1-4B9C-BC7C-D59076781923}"/>
              </a:ext>
            </a:extLst>
          </p:cNvPr>
          <p:cNvSpPr txBox="1">
            <a:spLocks/>
          </p:cNvSpPr>
          <p:nvPr/>
        </p:nvSpPr>
        <p:spPr>
          <a:xfrm>
            <a:off x="163755" y="285078"/>
            <a:ext cx="2431392" cy="813309"/>
          </a:xfrm>
          <a:prstGeom prst="rect">
            <a:avLst/>
          </a:prstGeom>
        </p:spPr>
        <p:txBody>
          <a:bodyPr vert="horz" lIns="0" tIns="0" rIns="0" bIns="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11200" b="1"/>
              <a:t>Audit et gestion des risques</a:t>
            </a:r>
          </a:p>
          <a:p>
            <a:endParaRPr lang="fr-FR" dirty="0">
              <a:solidFill>
                <a:srgbClr val="FF0000"/>
              </a:solidFill>
            </a:endParaRPr>
          </a:p>
        </p:txBody>
      </p:sp>
      <p:sp>
        <p:nvSpPr>
          <p:cNvPr id="18" name="Espace réservé du numéro de diapositive 9">
            <a:extLst>
              <a:ext uri="{FF2B5EF4-FFF2-40B4-BE49-F238E27FC236}">
                <a16:creationId xmlns:a16="http://schemas.microsoft.com/office/drawing/2014/main" id="{AC284BF9-FE51-47AA-B2C1-D61DB2E2E9F6}"/>
              </a:ext>
            </a:extLst>
          </p:cNvPr>
          <p:cNvSpPr txBox="1">
            <a:spLocks/>
          </p:cNvSpPr>
          <p:nvPr/>
        </p:nvSpPr>
        <p:spPr>
          <a:xfrm>
            <a:off x="11744944"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6</a:t>
            </a:fld>
            <a:endParaRPr lang="en-US" sz="1000" dirty="0">
              <a:solidFill>
                <a:srgbClr val="5C607E"/>
              </a:solidFill>
            </a:endParaRPr>
          </a:p>
        </p:txBody>
      </p:sp>
    </p:spTree>
    <p:extLst>
      <p:ext uri="{BB962C8B-B14F-4D97-AF65-F5344CB8AC3E}">
        <p14:creationId xmlns:p14="http://schemas.microsoft.com/office/powerpoint/2010/main" val="23880394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p:cNvSpPr/>
          <p:nvPr/>
        </p:nvSpPr>
        <p:spPr>
          <a:xfrm>
            <a:off x="45243" y="0"/>
            <a:ext cx="2599587" cy="6858001"/>
          </a:xfrm>
          <a:prstGeom prst="rect">
            <a:avLst/>
          </a:prstGeom>
          <a:solidFill>
            <a:srgbClr val="1C1F25"/>
          </a:solidFill>
          <a:ln w="12700">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00" name="Marketing…"/>
          <p:cNvSpPr txBox="1"/>
          <p:nvPr/>
        </p:nvSpPr>
        <p:spPr>
          <a:xfrm>
            <a:off x="3038406" y="938097"/>
            <a:ext cx="4497754" cy="15081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Pour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vous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aider à assurer la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conformité</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de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votre</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entreprise</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avec les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réglementations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locales...</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rPr>
              <a:t>Dans le cadre d’une implantation en France, qu’il s’agisse de la création d’une filiale ou encore d’une succursale, qu’il s’agisse d’une entité juridique dont vous envisagez l’acquisition, notre équipe dédiée travaillant en langue anglaise, est là pour vous accompagner.</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intervenons également dans votre volonté de vous implanter à l’étranger.</a:t>
            </a:r>
          </a:p>
          <a:p>
            <a:pPr algn="just"/>
            <a:endParaRPr lang="fr-FR" sz="1000" b="1" dirty="0">
              <a:solidFill>
                <a:srgbClr val="00B2A9"/>
              </a:solidFill>
            </a:endParaRPr>
          </a:p>
        </p:txBody>
      </p:sp>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pic>
        <p:nvPicPr>
          <p:cNvPr id="57" name="Image 56" descr="Une image contenant objet, corde, portant, regardant  Description générée automatiquement">
            <a:extLst>
              <a:ext uri="{FF2B5EF4-FFF2-40B4-BE49-F238E27FC236}">
                <a16:creationId xmlns:a16="http://schemas.microsoft.com/office/drawing/2014/main" id="{F4EAE2F9-C6CC-454F-B0C7-43B2859039E6}"/>
              </a:ext>
            </a:extLst>
          </p:cNvPr>
          <p:cNvPicPr>
            <a:picLocks noChangeAspect="1"/>
          </p:cNvPicPr>
          <p:nvPr/>
        </p:nvPicPr>
        <p:blipFill rotWithShape="1">
          <a:blip r:embed="rId2">
            <a:extLst>
              <a:ext uri="{28A0092B-C50C-407E-A947-70E740481C1C}">
                <a14:useLocalDpi xmlns:a14="http://schemas.microsoft.com/office/drawing/2010/main" val="0"/>
              </a:ext>
            </a:extLst>
          </a:blip>
          <a:srcRect l="25949" r="52508"/>
          <a:stretch/>
        </p:blipFill>
        <p:spPr>
          <a:xfrm>
            <a:off x="-135096" y="-2"/>
            <a:ext cx="2779926" cy="6858002"/>
          </a:xfrm>
          <a:prstGeom prst="rect">
            <a:avLst/>
          </a:prstGeom>
        </p:spPr>
      </p:pic>
      <p:pic>
        <p:nvPicPr>
          <p:cNvPr id="67" name="Image 66">
            <a:extLst>
              <a:ext uri="{FF2B5EF4-FFF2-40B4-BE49-F238E27FC236}">
                <a16:creationId xmlns:a16="http://schemas.microsoft.com/office/drawing/2014/main" id="{5F1AA49E-CDFF-4E2B-9CE2-9497D8505FCB}"/>
              </a:ext>
            </a:extLst>
          </p:cNvPr>
          <p:cNvPicPr>
            <a:picLocks noChangeAspect="1"/>
          </p:cNvPicPr>
          <p:nvPr/>
        </p:nvPicPr>
        <p:blipFill>
          <a:blip r:embed="rId3"/>
          <a:stretch>
            <a:fillRect/>
          </a:stretch>
        </p:blipFill>
        <p:spPr>
          <a:xfrm>
            <a:off x="10987330" y="145639"/>
            <a:ext cx="1040915" cy="388870"/>
          </a:xfrm>
          <a:prstGeom prst="rect">
            <a:avLst/>
          </a:prstGeom>
        </p:spPr>
      </p:pic>
      <p:sp>
        <p:nvSpPr>
          <p:cNvPr id="72" name="Marketing…">
            <a:extLst>
              <a:ext uri="{FF2B5EF4-FFF2-40B4-BE49-F238E27FC236}">
                <a16:creationId xmlns:a16="http://schemas.microsoft.com/office/drawing/2014/main" id="{3C7A34A8-4D07-42D3-A1CA-47835A4414CE}"/>
              </a:ext>
            </a:extLst>
          </p:cNvPr>
          <p:cNvSpPr txBox="1"/>
          <p:nvPr/>
        </p:nvSpPr>
        <p:spPr>
          <a:xfrm>
            <a:off x="3038406" y="3232214"/>
            <a:ext cx="4536504" cy="152349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Connaissances et expertise</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sommes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membres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Nexia International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depuis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plus de 20 ans.</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Nexia International, 9ème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réseau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mondial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d’audit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conseil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est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présent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plus de 120 pays.</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sommes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confrontés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problèmes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vôtres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depuis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longtemps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savons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apporter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solutions techniques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conformes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réglementations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locales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vigueur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pour un rapport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coût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efficacité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compétitif</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auprès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d’experts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l’étranger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nosu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connaissons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personnellement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endPar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sp>
        <p:nvSpPr>
          <p:cNvPr id="79" name="Marketing…">
            <a:extLst>
              <a:ext uri="{FF2B5EF4-FFF2-40B4-BE49-F238E27FC236}">
                <a16:creationId xmlns:a16="http://schemas.microsoft.com/office/drawing/2014/main" id="{D90ABCE5-1408-454B-B245-44906C756238}"/>
              </a:ext>
            </a:extLst>
          </p:cNvPr>
          <p:cNvSpPr txBox="1"/>
          <p:nvPr/>
        </p:nvSpPr>
        <p:spPr>
          <a:xfrm>
            <a:off x="2985631" y="5711951"/>
            <a:ext cx="4550529" cy="90794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Domaines de compétences</a:t>
            </a:r>
            <a:endParaRP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apportons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réponse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mesure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lorsque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établissez</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entreprise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France ;</a:t>
            </a: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avez</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projets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l'étranger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endPar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sp>
        <p:nvSpPr>
          <p:cNvPr id="80" name="Marketing…">
            <a:extLst>
              <a:ext uri="{FF2B5EF4-FFF2-40B4-BE49-F238E27FC236}">
                <a16:creationId xmlns:a16="http://schemas.microsoft.com/office/drawing/2014/main" id="{F1C39BD5-5BCD-43F7-926F-00CB5A9110B0}"/>
              </a:ext>
            </a:extLst>
          </p:cNvPr>
          <p:cNvSpPr txBox="1"/>
          <p:nvPr/>
        </p:nvSpPr>
        <p:spPr>
          <a:xfrm>
            <a:off x="7824192" y="1304773"/>
            <a:ext cx="4104456" cy="504753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Le Chinese Desk de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Sefico</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Nexia</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accompagnons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entreprises</a:t>
            </a:r>
            <a:r>
              <a:rPr lang="fr-FR" altLang="zh-CN"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chinoises </a:t>
            </a:r>
            <a:r>
              <a:rPr lang="en-GB" altLang="zh-CN" sz="1000" kern="0" dirty="0">
                <a:solidFill>
                  <a:srgbClr val="575756"/>
                </a:solidFill>
                <a:latin typeface="Tahoma" panose="020B0604030504040204" pitchFamily="34" charset="0"/>
                <a:ea typeface="Tahoma" panose="020B0604030504040204" pitchFamily="34" charset="0"/>
                <a:cs typeface="Tahoma" panose="020B0604030504040204" pitchFamily="34" charset="0"/>
              </a:rPr>
              <a:t>dans </a:t>
            </a:r>
            <a:r>
              <a:rPr lang="fr-FR" altLang="zh-CN" sz="1000" kern="0" dirty="0">
                <a:solidFill>
                  <a:srgbClr val="575756"/>
                </a:solidFill>
                <a:latin typeface="Tahoma" panose="020B0604030504040204" pitchFamily="34" charset="0"/>
                <a:ea typeface="Tahoma" panose="020B0604030504040204" pitchFamily="34" charset="0"/>
                <a:cs typeface="Tahoma" panose="020B0604030504040204" pitchFamily="34" charset="0"/>
              </a:rPr>
              <a:t>leurs activités en France</a:t>
            </a:r>
            <a:r>
              <a:rPr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endParaRPr lang="fr-FR"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endParaRPr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fr-FR" sz="1400" b="1" dirty="0">
                <a:solidFill>
                  <a:srgbClr val="575756"/>
                </a:solidFill>
              </a:rPr>
              <a:t>Phase préliminaire :</a:t>
            </a:r>
          </a:p>
          <a:p>
            <a:pPr marL="285750" indent="-285750">
              <a:buFont typeface="Arial" panose="020B0604020202020204" pitchFamily="34" charset="0"/>
              <a:buChar char="•"/>
            </a:pPr>
            <a:r>
              <a:rPr lang="fr-FR" sz="1000" dirty="0">
                <a:solidFill>
                  <a:srgbClr val="575756"/>
                </a:solidFill>
              </a:rPr>
              <a:t>recherche de sociétés cibles ; </a:t>
            </a:r>
          </a:p>
          <a:p>
            <a:pPr marL="285750" indent="-285750">
              <a:buFont typeface="Arial" panose="020B0604020202020204" pitchFamily="34" charset="0"/>
              <a:buChar char="•"/>
            </a:pPr>
            <a:r>
              <a:rPr lang="fr-FR" sz="1000" dirty="0">
                <a:solidFill>
                  <a:srgbClr val="575756"/>
                </a:solidFill>
              </a:rPr>
              <a:t>études de faisabilité ;</a:t>
            </a:r>
          </a:p>
          <a:p>
            <a:pPr marL="285750" indent="-285750">
              <a:buFont typeface="Arial" panose="020B0604020202020204" pitchFamily="34" charset="0"/>
              <a:buChar char="•"/>
            </a:pPr>
            <a:r>
              <a:rPr lang="fr-FR" sz="1000" dirty="0">
                <a:solidFill>
                  <a:srgbClr val="575756"/>
                </a:solidFill>
              </a:rPr>
              <a:t>possibilités de financement.</a:t>
            </a:r>
          </a:p>
          <a:p>
            <a:pPr marL="285750" indent="-285750">
              <a:buFont typeface="Arial" panose="020B0604020202020204" pitchFamily="34" charset="0"/>
              <a:buChar char="•"/>
            </a:pPr>
            <a:endParaRPr lang="fr-FR" sz="1000" dirty="0">
              <a:solidFill>
                <a:srgbClr val="575756"/>
              </a:solidFill>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fr-FR" sz="1400" b="1" dirty="0">
                <a:solidFill>
                  <a:srgbClr val="575756"/>
                </a:solidFill>
                <a:latin typeface="Quicksand Regular"/>
              </a:rPr>
              <a:t>Création/acquisition d'entreprise :</a:t>
            </a:r>
          </a:p>
          <a:p>
            <a:pPr marL="285750" indent="-285750">
              <a:buFont typeface="Arial" panose="020B0604020202020204" pitchFamily="34" charset="0"/>
              <a:buChar char="•"/>
            </a:pPr>
            <a:r>
              <a:rPr lang="fr-FR" sz="1000" dirty="0">
                <a:solidFill>
                  <a:srgbClr val="575756"/>
                </a:solidFill>
              </a:rPr>
              <a:t>choix de la forme juridique ;</a:t>
            </a:r>
          </a:p>
          <a:p>
            <a:pPr marL="285750" indent="-285750">
              <a:buFont typeface="Arial" panose="020B0604020202020204" pitchFamily="34" charset="0"/>
              <a:buChar char="•"/>
            </a:pPr>
            <a:r>
              <a:rPr lang="fr-FR" sz="1000" dirty="0">
                <a:solidFill>
                  <a:srgbClr val="575756"/>
                </a:solidFill>
              </a:rPr>
              <a:t>rédaction des statuts ;  </a:t>
            </a:r>
          </a:p>
          <a:p>
            <a:pPr marL="285750" indent="-285750">
              <a:buFont typeface="Arial" panose="020B0604020202020204" pitchFamily="34" charset="0"/>
              <a:buChar char="•"/>
            </a:pPr>
            <a:r>
              <a:rPr lang="fr-FR" sz="1000" dirty="0">
                <a:solidFill>
                  <a:srgbClr val="575756"/>
                </a:solidFill>
              </a:rPr>
              <a:t>immatriculation de la société ; </a:t>
            </a:r>
          </a:p>
          <a:p>
            <a:pPr marL="285750" indent="-285750">
              <a:buFont typeface="Arial" panose="020B0604020202020204" pitchFamily="34" charset="0"/>
              <a:buChar char="•"/>
            </a:pPr>
            <a:r>
              <a:rPr lang="fr-FR" sz="1000" dirty="0">
                <a:solidFill>
                  <a:srgbClr val="575756"/>
                </a:solidFill>
              </a:rPr>
              <a:t>planification fiscale ;  </a:t>
            </a:r>
          </a:p>
          <a:p>
            <a:pPr marL="285750" indent="-285750">
              <a:buFont typeface="Arial" panose="020B0604020202020204" pitchFamily="34" charset="0"/>
              <a:buChar char="•"/>
            </a:pPr>
            <a:r>
              <a:rPr lang="fr-FR" sz="1000" dirty="0">
                <a:solidFill>
                  <a:srgbClr val="575756"/>
                </a:solidFill>
              </a:rPr>
              <a:t>bonnes pratiques ; </a:t>
            </a:r>
          </a:p>
          <a:p>
            <a:pPr marL="285750" indent="-285750">
              <a:buFont typeface="Arial" panose="020B0604020202020204" pitchFamily="34" charset="0"/>
              <a:buChar char="•"/>
            </a:pPr>
            <a:r>
              <a:rPr lang="fr-FR" sz="1000" dirty="0">
                <a:solidFill>
                  <a:srgbClr val="575756"/>
                </a:solidFill>
              </a:rPr>
              <a:t>évaluation des fonds propres ; </a:t>
            </a:r>
            <a:endParaRPr lang="fr-FR" altLang="zh-CN" sz="1000" dirty="0">
              <a:solidFill>
                <a:srgbClr val="575756"/>
              </a:solidFill>
            </a:endParaRPr>
          </a:p>
          <a:p>
            <a:pPr marL="285750" indent="-285750" algn="just">
              <a:buFont typeface="Arial" panose="020B0604020202020204" pitchFamily="34" charset="0"/>
              <a:buChar char="•"/>
            </a:pPr>
            <a:r>
              <a:rPr lang="fr-FR" sz="1000" dirty="0">
                <a:solidFill>
                  <a:srgbClr val="575756"/>
                </a:solidFill>
              </a:rPr>
              <a:t>Coordination avec d'autres experts  (banques, experts immobiliers…)</a:t>
            </a:r>
          </a:p>
          <a:p>
            <a:r>
              <a:rPr lang="fr-FR" sz="1000" dirty="0">
                <a:solidFill>
                  <a:srgbClr val="575756"/>
                </a:solidFill>
              </a:rPr>
              <a:t> </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fr-FR" sz="1400" b="1" dirty="0">
                <a:solidFill>
                  <a:srgbClr val="575756"/>
                </a:solidFill>
                <a:latin typeface="Quicksand Regular"/>
              </a:rPr>
              <a:t>Soutien aux entreprises :</a:t>
            </a:r>
          </a:p>
          <a:p>
            <a:pPr marL="285750" indent="-285750">
              <a:buFont typeface="Arial" panose="020B0604020202020204" pitchFamily="34" charset="0"/>
              <a:buChar char="•"/>
            </a:pPr>
            <a:r>
              <a:rPr lang="fr-FR" sz="1000" dirty="0">
                <a:solidFill>
                  <a:srgbClr val="575756"/>
                </a:solidFill>
              </a:rPr>
              <a:t>comptabilité et établissement de rapports ; </a:t>
            </a:r>
          </a:p>
          <a:p>
            <a:pPr marL="285750" indent="-285750">
              <a:buFont typeface="Arial" panose="020B0604020202020204" pitchFamily="34" charset="0"/>
              <a:buChar char="•"/>
            </a:pPr>
            <a:r>
              <a:rPr lang="fr-FR" sz="1000" dirty="0">
                <a:solidFill>
                  <a:srgbClr val="575756"/>
                </a:solidFill>
              </a:rPr>
              <a:t>conformité aux obligations fiscales ;</a:t>
            </a:r>
          </a:p>
          <a:p>
            <a:pPr marL="285750" indent="-285750">
              <a:buFont typeface="Arial" panose="020B0604020202020204" pitchFamily="34" charset="0"/>
              <a:buChar char="•"/>
            </a:pPr>
            <a:r>
              <a:rPr lang="fr-FR" sz="1000" dirty="0">
                <a:solidFill>
                  <a:srgbClr val="575756"/>
                </a:solidFill>
              </a:rPr>
              <a:t>administration de la paie ; </a:t>
            </a:r>
          </a:p>
          <a:p>
            <a:pPr marL="285750" indent="-285750">
              <a:buFont typeface="Arial" panose="020B0604020202020204" pitchFamily="34" charset="0"/>
              <a:buChar char="•"/>
            </a:pPr>
            <a:r>
              <a:rPr lang="fr-FR" altLang="zh-CN" sz="1000" dirty="0">
                <a:solidFill>
                  <a:srgbClr val="575756"/>
                </a:solidFill>
              </a:rPr>
              <a:t>audit ;</a:t>
            </a:r>
            <a:endParaRPr lang="en-GB" altLang="zh-CN" sz="1000" dirty="0">
              <a:solidFill>
                <a:srgbClr val="575756"/>
              </a:solidFill>
            </a:endParaRPr>
          </a:p>
          <a:p>
            <a:pPr marL="285750" indent="-285750">
              <a:buFont typeface="Arial" panose="020B0604020202020204" pitchFamily="34" charset="0"/>
              <a:buChar char="•"/>
            </a:pPr>
            <a:r>
              <a:rPr lang="fr-FR" altLang="zh-CN" sz="1000" dirty="0">
                <a:solidFill>
                  <a:srgbClr val="575756"/>
                </a:solidFill>
              </a:rPr>
              <a:t>support opérationnel ;</a:t>
            </a:r>
          </a:p>
          <a:p>
            <a:pPr marL="285750" indent="-285750">
              <a:buFont typeface="Arial" panose="020B0604020202020204" pitchFamily="34" charset="0"/>
              <a:buChar char="•"/>
            </a:pPr>
            <a:r>
              <a:rPr lang="fr-FR" altLang="zh-CN" sz="1000" dirty="0">
                <a:solidFill>
                  <a:srgbClr val="575756"/>
                </a:solidFill>
              </a:rPr>
              <a:t>externalisation ;</a:t>
            </a:r>
          </a:p>
          <a:p>
            <a:pPr marL="285750" indent="-285750">
              <a:buFont typeface="Arial" panose="020B0604020202020204" pitchFamily="34" charset="0"/>
              <a:buChar char="•"/>
            </a:pPr>
            <a:r>
              <a:rPr lang="fr-FR" altLang="zh-CN" sz="1000" dirty="0">
                <a:solidFill>
                  <a:srgbClr val="575756"/>
                </a:solidFill>
              </a:rPr>
              <a:t>conseil en gestion RH / IT ; </a:t>
            </a:r>
          </a:p>
          <a:p>
            <a:pPr marL="285750" indent="-285750">
              <a:buFont typeface="Arial" panose="020B0604020202020204" pitchFamily="34" charset="0"/>
              <a:buChar char="•"/>
            </a:pPr>
            <a:r>
              <a:rPr lang="fr-FR" altLang="zh-CN" sz="1000" dirty="0">
                <a:solidFill>
                  <a:srgbClr val="575756"/>
                </a:solidFill>
              </a:rPr>
              <a:t>Recherche </a:t>
            </a:r>
            <a:r>
              <a:rPr lang="en-GB" altLang="zh-CN" sz="1000" dirty="0" err="1">
                <a:solidFill>
                  <a:srgbClr val="575756"/>
                </a:solidFill>
              </a:rPr>
              <a:t>d'opportunités</a:t>
            </a:r>
            <a:r>
              <a:rPr lang="fr-FR" altLang="zh-CN" sz="1000" dirty="0">
                <a:solidFill>
                  <a:srgbClr val="575756"/>
                </a:solidFill>
              </a:rPr>
              <a:t> d'investissement</a:t>
            </a:r>
          </a:p>
          <a:p>
            <a:pPr marL="285750" indent="-285750">
              <a:buFont typeface="Arial" panose="020B0604020202020204" pitchFamily="34" charset="0"/>
              <a:buChar char="•"/>
            </a:pPr>
            <a:r>
              <a:rPr lang="fr-FR" altLang="zh-CN" sz="1000" dirty="0">
                <a:solidFill>
                  <a:srgbClr val="575756"/>
                </a:solidFill>
              </a:rPr>
              <a:t>fusions et acquisitions, services de transaction, restructurations.</a:t>
            </a:r>
            <a:endParaRPr lang="fr-FR" sz="1000" dirty="0">
              <a:solidFill>
                <a:srgbClr val="575756"/>
              </a:solidFill>
            </a:endParaRPr>
          </a:p>
        </p:txBody>
      </p:sp>
      <p:pic>
        <p:nvPicPr>
          <p:cNvPr id="3" name="Graphique 2" descr="ADN">
            <a:extLst>
              <a:ext uri="{FF2B5EF4-FFF2-40B4-BE49-F238E27FC236}">
                <a16:creationId xmlns:a16="http://schemas.microsoft.com/office/drawing/2014/main" id="{4CFEBDEB-A7EB-4E0D-AEDB-8C0A71407E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79578" y="253727"/>
            <a:ext cx="644716" cy="644716"/>
          </a:xfrm>
          <a:prstGeom prst="rect">
            <a:avLst/>
          </a:prstGeom>
        </p:spPr>
      </p:pic>
      <p:pic>
        <p:nvPicPr>
          <p:cNvPr id="5" name="Graphique 4" descr="Outils">
            <a:extLst>
              <a:ext uri="{FF2B5EF4-FFF2-40B4-BE49-F238E27FC236}">
                <a16:creationId xmlns:a16="http://schemas.microsoft.com/office/drawing/2014/main" id="{4125FE19-A126-460A-A78E-ADBA64497C2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00427" y="600197"/>
            <a:ext cx="591763" cy="591763"/>
          </a:xfrm>
          <a:prstGeom prst="rect">
            <a:avLst/>
          </a:prstGeom>
        </p:spPr>
      </p:pic>
      <p:pic>
        <p:nvPicPr>
          <p:cNvPr id="7" name="Graphique 6" descr="Pièces de puzzle">
            <a:extLst>
              <a:ext uri="{FF2B5EF4-FFF2-40B4-BE49-F238E27FC236}">
                <a16:creationId xmlns:a16="http://schemas.microsoft.com/office/drawing/2014/main" id="{BD047582-68A1-4493-9FB5-E371304CCC7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95549" y="4966719"/>
            <a:ext cx="745232" cy="745232"/>
          </a:xfrm>
          <a:prstGeom prst="rect">
            <a:avLst/>
          </a:prstGeom>
        </p:spPr>
      </p:pic>
      <p:pic>
        <p:nvPicPr>
          <p:cNvPr id="9" name="Graphique 8" descr="Engrenages">
            <a:extLst>
              <a:ext uri="{FF2B5EF4-FFF2-40B4-BE49-F238E27FC236}">
                <a16:creationId xmlns:a16="http://schemas.microsoft.com/office/drawing/2014/main" id="{97ED9628-150F-4F5F-A226-1EC1C74F24A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05779" y="2446202"/>
            <a:ext cx="745232" cy="745232"/>
          </a:xfrm>
          <a:prstGeom prst="rect">
            <a:avLst/>
          </a:prstGeom>
        </p:spPr>
      </p:pic>
      <p:sp>
        <p:nvSpPr>
          <p:cNvPr id="17" name="Titre 4">
            <a:extLst>
              <a:ext uri="{FF2B5EF4-FFF2-40B4-BE49-F238E27FC236}">
                <a16:creationId xmlns:a16="http://schemas.microsoft.com/office/drawing/2014/main" id="{2F8E6FE4-B9C1-4B9C-BC7C-D59076781923}"/>
              </a:ext>
            </a:extLst>
          </p:cNvPr>
          <p:cNvSpPr txBox="1">
            <a:spLocks/>
          </p:cNvSpPr>
          <p:nvPr/>
        </p:nvSpPr>
        <p:spPr>
          <a:xfrm>
            <a:off x="55400" y="197586"/>
            <a:ext cx="2779926" cy="813309"/>
          </a:xfrm>
          <a:prstGeom prst="rect">
            <a:avLst/>
          </a:prstGeom>
        </p:spPr>
        <p:txBody>
          <a:bodyPr vert="horz" lIns="0" tIns="0" rIns="0" bIns="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5100" b="1" dirty="0" err="1"/>
              <a:t>Foreign</a:t>
            </a:r>
            <a:r>
              <a:rPr lang="fr-FR" sz="5100" b="1" dirty="0"/>
              <a:t> Desk</a:t>
            </a:r>
          </a:p>
          <a:p>
            <a:endParaRPr lang="fr-FR" dirty="0">
              <a:solidFill>
                <a:srgbClr val="FF0000"/>
              </a:solidFill>
            </a:endParaRPr>
          </a:p>
        </p:txBody>
      </p:sp>
      <p:sp>
        <p:nvSpPr>
          <p:cNvPr id="18" name="Espace réservé du numéro de diapositive 9">
            <a:extLst>
              <a:ext uri="{FF2B5EF4-FFF2-40B4-BE49-F238E27FC236}">
                <a16:creationId xmlns:a16="http://schemas.microsoft.com/office/drawing/2014/main" id="{AC284BF9-FE51-47AA-B2C1-D61DB2E2E9F6}"/>
              </a:ext>
            </a:extLst>
          </p:cNvPr>
          <p:cNvSpPr txBox="1">
            <a:spLocks/>
          </p:cNvSpPr>
          <p:nvPr/>
        </p:nvSpPr>
        <p:spPr>
          <a:xfrm>
            <a:off x="11507787"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7</a:t>
            </a:fld>
            <a:endParaRPr lang="en-US" sz="1000" dirty="0">
              <a:solidFill>
                <a:srgbClr val="5C607E"/>
              </a:solidFill>
            </a:endParaRPr>
          </a:p>
        </p:txBody>
      </p:sp>
    </p:spTree>
    <p:extLst>
      <p:ext uri="{BB962C8B-B14F-4D97-AF65-F5344CB8AC3E}">
        <p14:creationId xmlns:p14="http://schemas.microsoft.com/office/powerpoint/2010/main" val="1212212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p:cNvSpPr/>
          <p:nvPr/>
        </p:nvSpPr>
        <p:spPr>
          <a:xfrm>
            <a:off x="45243" y="0"/>
            <a:ext cx="2599587" cy="6858001"/>
          </a:xfrm>
          <a:prstGeom prst="rect">
            <a:avLst/>
          </a:prstGeom>
          <a:solidFill>
            <a:srgbClr val="1C1F25"/>
          </a:solidFill>
          <a:ln w="12700">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00" name="Marketing…"/>
          <p:cNvSpPr txBox="1"/>
          <p:nvPr/>
        </p:nvSpPr>
        <p:spPr>
          <a:xfrm>
            <a:off x="3043617" y="1177830"/>
            <a:ext cx="4104455" cy="218521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Pour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vous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soutenir</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dans la gestion de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votre</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paie</a:t>
            </a:r>
            <a:endPar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endParaRPr>
          </a:p>
          <a:p>
            <a:endParaRPr lang="en-US" sz="400" dirty="0">
              <a:solidFill>
                <a:srgbClr val="575756"/>
              </a:solidFill>
            </a:endParaRPr>
          </a:p>
          <a:p>
            <a:pPr algn="just"/>
            <a:r>
              <a:rPr lang="en-US" sz="1000" dirty="0">
                <a:solidFill>
                  <a:srgbClr val="575756"/>
                </a:solidFill>
              </a:rPr>
              <a:t>La </a:t>
            </a:r>
            <a:r>
              <a:rPr lang="en-US" sz="1000" dirty="0" err="1">
                <a:solidFill>
                  <a:srgbClr val="575756"/>
                </a:solidFill>
              </a:rPr>
              <a:t>maîtrise</a:t>
            </a:r>
            <a:r>
              <a:rPr lang="en-US" sz="1000" dirty="0">
                <a:solidFill>
                  <a:srgbClr val="575756"/>
                </a:solidFill>
              </a:rPr>
              <a:t> de la </a:t>
            </a:r>
            <a:r>
              <a:rPr lang="en-US" sz="1000" dirty="0" err="1">
                <a:solidFill>
                  <a:srgbClr val="575756"/>
                </a:solidFill>
              </a:rPr>
              <a:t>législation</a:t>
            </a:r>
            <a:r>
              <a:rPr lang="en-US" sz="1000" dirty="0">
                <a:solidFill>
                  <a:srgbClr val="575756"/>
                </a:solidFill>
              </a:rPr>
              <a:t> </a:t>
            </a:r>
            <a:r>
              <a:rPr lang="en-US" sz="1000" dirty="0" err="1">
                <a:solidFill>
                  <a:srgbClr val="575756"/>
                </a:solidFill>
              </a:rPr>
              <a:t>sociale</a:t>
            </a:r>
            <a:r>
              <a:rPr lang="en-US" sz="1000" dirty="0">
                <a:solidFill>
                  <a:srgbClr val="575756"/>
                </a:solidFill>
              </a:rPr>
              <a:t> </a:t>
            </a:r>
            <a:r>
              <a:rPr lang="en-US" sz="1000" dirty="0" err="1">
                <a:solidFill>
                  <a:srgbClr val="575756"/>
                </a:solidFill>
              </a:rPr>
              <a:t>française</a:t>
            </a:r>
            <a:r>
              <a:rPr lang="en-US" sz="1000" dirty="0">
                <a:solidFill>
                  <a:srgbClr val="575756"/>
                </a:solidFill>
              </a:rPr>
              <a:t> </a:t>
            </a:r>
            <a:r>
              <a:rPr lang="en-US" sz="1000" dirty="0" err="1">
                <a:solidFill>
                  <a:srgbClr val="575756"/>
                </a:solidFill>
              </a:rPr>
              <a:t>nécessite</a:t>
            </a:r>
            <a:r>
              <a:rPr lang="en-US" sz="1000" dirty="0">
                <a:solidFill>
                  <a:srgbClr val="575756"/>
                </a:solidFill>
              </a:rPr>
              <a:t> de </a:t>
            </a:r>
            <a:r>
              <a:rPr lang="en-US" sz="1000" dirty="0" err="1">
                <a:solidFill>
                  <a:srgbClr val="575756"/>
                </a:solidFill>
              </a:rPr>
              <a:t>grandes</a:t>
            </a:r>
            <a:r>
              <a:rPr lang="en-US" sz="1000" dirty="0">
                <a:solidFill>
                  <a:srgbClr val="575756"/>
                </a:solidFill>
              </a:rPr>
              <a:t> </a:t>
            </a:r>
            <a:r>
              <a:rPr lang="en-US" sz="1000" dirty="0" err="1">
                <a:solidFill>
                  <a:srgbClr val="575756"/>
                </a:solidFill>
              </a:rPr>
              <a:t>compétences</a:t>
            </a:r>
            <a:r>
              <a:rPr lang="en-US" sz="1000" dirty="0">
                <a:solidFill>
                  <a:srgbClr val="575756"/>
                </a:solidFill>
              </a:rPr>
              <a:t> techniques et un </a:t>
            </a:r>
            <a:r>
              <a:rPr lang="en-US" sz="1000" dirty="0" err="1">
                <a:solidFill>
                  <a:srgbClr val="575756"/>
                </a:solidFill>
              </a:rPr>
              <a:t>perfectionnement</a:t>
            </a:r>
            <a:r>
              <a:rPr lang="en-US" sz="1000" dirty="0">
                <a:solidFill>
                  <a:srgbClr val="575756"/>
                </a:solidFill>
              </a:rPr>
              <a:t> permanent des </a:t>
            </a:r>
            <a:r>
              <a:rPr lang="en-US" sz="1000" dirty="0" err="1">
                <a:solidFill>
                  <a:srgbClr val="575756"/>
                </a:solidFill>
              </a:rPr>
              <a:t>connaissances</a:t>
            </a:r>
            <a:r>
              <a:rPr lang="en-US" sz="1000" dirty="0">
                <a:solidFill>
                  <a:srgbClr val="575756"/>
                </a:solidFill>
              </a:rPr>
              <a:t>.</a:t>
            </a:r>
          </a:p>
          <a:p>
            <a:pPr algn="just"/>
            <a:r>
              <a:rPr lang="en-US" sz="1000" dirty="0">
                <a:solidFill>
                  <a:srgbClr val="575756"/>
                </a:solidFill>
              </a:rPr>
              <a:t>Nous </a:t>
            </a:r>
            <a:r>
              <a:rPr lang="en-US" sz="1000" dirty="0" err="1">
                <a:solidFill>
                  <a:srgbClr val="575756"/>
                </a:solidFill>
              </a:rPr>
              <a:t>travaillerons</a:t>
            </a:r>
            <a:r>
              <a:rPr lang="en-US" sz="1000" dirty="0">
                <a:solidFill>
                  <a:srgbClr val="575756"/>
                </a:solidFill>
              </a:rPr>
              <a:t> </a:t>
            </a:r>
            <a:r>
              <a:rPr lang="en-US" sz="1000" dirty="0" err="1">
                <a:solidFill>
                  <a:srgbClr val="575756"/>
                </a:solidFill>
              </a:rPr>
              <a:t>en</a:t>
            </a:r>
            <a:r>
              <a:rPr lang="en-US" sz="1000" dirty="0">
                <a:solidFill>
                  <a:srgbClr val="575756"/>
                </a:solidFill>
              </a:rPr>
              <a:t> </a:t>
            </a:r>
            <a:r>
              <a:rPr lang="en-US" sz="1000" dirty="0" err="1">
                <a:solidFill>
                  <a:srgbClr val="575756"/>
                </a:solidFill>
              </a:rPr>
              <a:t>étroite</a:t>
            </a:r>
            <a:r>
              <a:rPr lang="en-US" sz="1000" dirty="0">
                <a:solidFill>
                  <a:srgbClr val="575756"/>
                </a:solidFill>
              </a:rPr>
              <a:t> collaboration avec </a:t>
            </a:r>
            <a:r>
              <a:rPr lang="en-US" sz="1000" dirty="0" err="1">
                <a:solidFill>
                  <a:srgbClr val="575756"/>
                </a:solidFill>
              </a:rPr>
              <a:t>vous</a:t>
            </a:r>
            <a:r>
              <a:rPr lang="en-US" sz="1000" dirty="0">
                <a:solidFill>
                  <a:srgbClr val="575756"/>
                </a:solidFill>
              </a:rPr>
              <a:t> </a:t>
            </a:r>
            <a:r>
              <a:rPr lang="en-US" sz="1000" dirty="0" err="1">
                <a:solidFill>
                  <a:srgbClr val="575756"/>
                </a:solidFill>
              </a:rPr>
              <a:t>afin</a:t>
            </a:r>
            <a:r>
              <a:rPr lang="en-US" sz="1000" dirty="0">
                <a:solidFill>
                  <a:srgbClr val="575756"/>
                </a:solidFill>
              </a:rPr>
              <a:t> de </a:t>
            </a:r>
            <a:r>
              <a:rPr lang="en-US" sz="1000" dirty="0" err="1">
                <a:solidFill>
                  <a:srgbClr val="575756"/>
                </a:solidFill>
              </a:rPr>
              <a:t>vous</a:t>
            </a:r>
            <a:r>
              <a:rPr lang="en-US" sz="1000" dirty="0">
                <a:solidFill>
                  <a:srgbClr val="575756"/>
                </a:solidFill>
              </a:rPr>
              <a:t> aider à </a:t>
            </a:r>
            <a:r>
              <a:rPr lang="en-US" sz="1000" dirty="0" err="1">
                <a:solidFill>
                  <a:srgbClr val="575756"/>
                </a:solidFill>
              </a:rPr>
              <a:t>optimiser</a:t>
            </a:r>
            <a:r>
              <a:rPr lang="en-US" sz="1000" dirty="0">
                <a:solidFill>
                  <a:srgbClr val="575756"/>
                </a:solidFill>
              </a:rPr>
              <a:t> la gestion de </a:t>
            </a:r>
            <a:r>
              <a:rPr lang="en-US" sz="1000" dirty="0" err="1">
                <a:solidFill>
                  <a:srgbClr val="575756"/>
                </a:solidFill>
              </a:rPr>
              <a:t>votre</a:t>
            </a:r>
            <a:r>
              <a:rPr lang="en-US" sz="1000" dirty="0">
                <a:solidFill>
                  <a:srgbClr val="575756"/>
                </a:solidFill>
              </a:rPr>
              <a:t> </a:t>
            </a:r>
            <a:r>
              <a:rPr lang="en-US" sz="1000" dirty="0" err="1">
                <a:solidFill>
                  <a:srgbClr val="575756"/>
                </a:solidFill>
              </a:rPr>
              <a:t>paie</a:t>
            </a:r>
            <a:r>
              <a:rPr lang="en-US" sz="1000" dirty="0">
                <a:solidFill>
                  <a:srgbClr val="575756"/>
                </a:solidFill>
              </a:rPr>
              <a:t>, </a:t>
            </a:r>
            <a:r>
              <a:rPr lang="en-US" sz="1000" dirty="0" err="1">
                <a:solidFill>
                  <a:srgbClr val="575756"/>
                </a:solidFill>
              </a:rPr>
              <a:t>notamment</a:t>
            </a:r>
            <a:r>
              <a:rPr lang="en-US" sz="1000" dirty="0">
                <a:solidFill>
                  <a:srgbClr val="575756"/>
                </a:solidFill>
              </a:rPr>
              <a:t> à travers :</a:t>
            </a:r>
          </a:p>
          <a:p>
            <a:pPr marL="171450" indent="-171450" algn="just">
              <a:buFont typeface="Arial" panose="020B0604020202020204" pitchFamily="34" charset="0"/>
              <a:buChar char="•"/>
            </a:pPr>
            <a:r>
              <a:rPr lang="en-US" sz="1000" dirty="0">
                <a:solidFill>
                  <a:srgbClr val="575756"/>
                </a:solidFill>
              </a:rPr>
              <a:t>la mise </a:t>
            </a:r>
            <a:r>
              <a:rPr lang="en-US" sz="1000" dirty="0" err="1">
                <a:solidFill>
                  <a:srgbClr val="575756"/>
                </a:solidFill>
              </a:rPr>
              <a:t>en</a:t>
            </a:r>
            <a:r>
              <a:rPr lang="en-US" sz="1000" dirty="0">
                <a:solidFill>
                  <a:srgbClr val="575756"/>
                </a:solidFill>
              </a:rPr>
              <a:t> place </a:t>
            </a:r>
            <a:r>
              <a:rPr lang="en-US" sz="1000" dirty="0" err="1">
                <a:solidFill>
                  <a:srgbClr val="575756"/>
                </a:solidFill>
              </a:rPr>
              <a:t>d'outils</a:t>
            </a:r>
            <a:r>
              <a:rPr lang="en-US" sz="1000" dirty="0">
                <a:solidFill>
                  <a:srgbClr val="575756"/>
                </a:solidFill>
              </a:rPr>
              <a:t> et de </a:t>
            </a:r>
            <a:r>
              <a:rPr lang="en-US" sz="1000" dirty="0" err="1">
                <a:solidFill>
                  <a:srgbClr val="575756"/>
                </a:solidFill>
              </a:rPr>
              <a:t>procédures</a:t>
            </a:r>
            <a:r>
              <a:rPr lang="en-US" sz="1000" dirty="0">
                <a:solidFill>
                  <a:srgbClr val="575756"/>
                </a:solidFill>
              </a:rPr>
              <a:t> </a:t>
            </a:r>
            <a:r>
              <a:rPr lang="en-US" sz="1000" dirty="0" err="1">
                <a:solidFill>
                  <a:srgbClr val="575756"/>
                </a:solidFill>
              </a:rPr>
              <a:t>appropriées</a:t>
            </a:r>
            <a:r>
              <a:rPr lang="en-US" sz="1000" dirty="0">
                <a:solidFill>
                  <a:srgbClr val="575756"/>
                </a:solidFill>
              </a:rPr>
              <a:t>,</a:t>
            </a:r>
          </a:p>
          <a:p>
            <a:pPr marL="171450" indent="-171450" algn="just">
              <a:buFont typeface="Arial" panose="020B0604020202020204" pitchFamily="34" charset="0"/>
              <a:buChar char="•"/>
            </a:pPr>
            <a:r>
              <a:rPr lang="en-US" sz="1000" dirty="0">
                <a:solidFill>
                  <a:srgbClr val="575756"/>
                </a:solidFill>
              </a:rPr>
              <a:t>la </a:t>
            </a:r>
            <a:r>
              <a:rPr lang="en-US" sz="1000" dirty="0" err="1">
                <a:solidFill>
                  <a:srgbClr val="575756"/>
                </a:solidFill>
              </a:rPr>
              <a:t>prise</a:t>
            </a:r>
            <a:r>
              <a:rPr lang="en-US" sz="1000" dirty="0">
                <a:solidFill>
                  <a:srgbClr val="575756"/>
                </a:solidFill>
              </a:rPr>
              <a:t> </a:t>
            </a:r>
            <a:r>
              <a:rPr lang="en-US" sz="1000" dirty="0" err="1">
                <a:solidFill>
                  <a:srgbClr val="575756"/>
                </a:solidFill>
              </a:rPr>
              <a:t>en</a:t>
            </a:r>
            <a:r>
              <a:rPr lang="en-US" sz="1000" dirty="0">
                <a:solidFill>
                  <a:srgbClr val="575756"/>
                </a:solidFill>
              </a:rPr>
              <a:t> charge </a:t>
            </a:r>
            <a:r>
              <a:rPr lang="en-US" sz="1000" dirty="0" err="1">
                <a:solidFill>
                  <a:srgbClr val="575756"/>
                </a:solidFill>
              </a:rPr>
              <a:t>totale</a:t>
            </a:r>
            <a:r>
              <a:rPr lang="en-US" sz="1000" dirty="0">
                <a:solidFill>
                  <a:srgbClr val="575756"/>
                </a:solidFill>
              </a:rPr>
              <a:t> </a:t>
            </a:r>
            <a:r>
              <a:rPr lang="en-US" sz="1000" dirty="0" err="1">
                <a:solidFill>
                  <a:srgbClr val="575756"/>
                </a:solidFill>
              </a:rPr>
              <a:t>ou</a:t>
            </a:r>
            <a:r>
              <a:rPr lang="en-US" sz="1000" dirty="0">
                <a:solidFill>
                  <a:srgbClr val="575756"/>
                </a:solidFill>
              </a:rPr>
              <a:t> </a:t>
            </a:r>
            <a:r>
              <a:rPr lang="en-US" sz="1000" dirty="0" err="1">
                <a:solidFill>
                  <a:srgbClr val="575756"/>
                </a:solidFill>
              </a:rPr>
              <a:t>partielle</a:t>
            </a:r>
            <a:r>
              <a:rPr lang="en-US" sz="1000" dirty="0">
                <a:solidFill>
                  <a:srgbClr val="575756"/>
                </a:solidFill>
              </a:rPr>
              <a:t> de </a:t>
            </a:r>
            <a:r>
              <a:rPr lang="en-US" sz="1000" dirty="0" err="1">
                <a:solidFill>
                  <a:srgbClr val="575756"/>
                </a:solidFill>
              </a:rPr>
              <a:t>l’établissement</a:t>
            </a:r>
            <a:r>
              <a:rPr lang="en-US" sz="1000" dirty="0">
                <a:solidFill>
                  <a:srgbClr val="575756"/>
                </a:solidFill>
              </a:rPr>
              <a:t> des </a:t>
            </a:r>
            <a:r>
              <a:rPr lang="en-US" sz="1000" dirty="0" err="1">
                <a:solidFill>
                  <a:srgbClr val="575756"/>
                </a:solidFill>
              </a:rPr>
              <a:t>vos</a:t>
            </a:r>
            <a:r>
              <a:rPr lang="en-US" sz="1000" dirty="0">
                <a:solidFill>
                  <a:srgbClr val="575756"/>
                </a:solidFill>
              </a:rPr>
              <a:t> </a:t>
            </a:r>
            <a:r>
              <a:rPr lang="en-US" sz="1000" dirty="0" err="1">
                <a:solidFill>
                  <a:srgbClr val="575756"/>
                </a:solidFill>
              </a:rPr>
              <a:t>salaires</a:t>
            </a:r>
            <a:r>
              <a:rPr lang="en-US" sz="1000" dirty="0">
                <a:solidFill>
                  <a:srgbClr val="575756"/>
                </a:solidFill>
              </a:rPr>
              <a:t>,</a:t>
            </a:r>
          </a:p>
          <a:p>
            <a:pPr marL="171450" indent="-171450" algn="just">
              <a:buFont typeface="Arial" panose="020B0604020202020204" pitchFamily="34" charset="0"/>
              <a:buChar char="•"/>
            </a:pPr>
            <a:r>
              <a:rPr lang="en-US" sz="1000" dirty="0" err="1">
                <a:solidFill>
                  <a:srgbClr val="575756"/>
                </a:solidFill>
              </a:rPr>
              <a:t>l'assistance</a:t>
            </a:r>
            <a:r>
              <a:rPr lang="en-US" sz="1000" dirty="0">
                <a:solidFill>
                  <a:srgbClr val="575756"/>
                </a:solidFill>
              </a:rPr>
              <a:t> dans la </a:t>
            </a:r>
            <a:r>
              <a:rPr lang="en-US" sz="1000" dirty="0" err="1">
                <a:solidFill>
                  <a:srgbClr val="575756"/>
                </a:solidFill>
              </a:rPr>
              <a:t>prise</a:t>
            </a:r>
            <a:r>
              <a:rPr lang="en-US" sz="1000" dirty="0">
                <a:solidFill>
                  <a:srgbClr val="575756"/>
                </a:solidFill>
              </a:rPr>
              <a:t> de </a:t>
            </a:r>
            <a:r>
              <a:rPr lang="en-US" sz="1000" dirty="0" err="1">
                <a:solidFill>
                  <a:srgbClr val="575756"/>
                </a:solidFill>
              </a:rPr>
              <a:t>décision</a:t>
            </a:r>
            <a:r>
              <a:rPr lang="en-US" sz="1000" dirty="0">
                <a:solidFill>
                  <a:srgbClr val="575756"/>
                </a:solidFill>
              </a:rPr>
              <a:t>.</a:t>
            </a:r>
          </a:p>
          <a:p>
            <a:pPr algn="just"/>
            <a:r>
              <a:rPr lang="en-US" sz="1000" dirty="0">
                <a:solidFill>
                  <a:srgbClr val="575756"/>
                </a:solidFill>
              </a:rPr>
              <a:t>Nos services </a:t>
            </a:r>
            <a:r>
              <a:rPr lang="en-US" sz="1000" dirty="0" err="1">
                <a:solidFill>
                  <a:srgbClr val="575756"/>
                </a:solidFill>
              </a:rPr>
              <a:t>s'adressent</a:t>
            </a:r>
            <a:r>
              <a:rPr lang="en-US" sz="1000" dirty="0">
                <a:solidFill>
                  <a:srgbClr val="575756"/>
                </a:solidFill>
              </a:rPr>
              <a:t> aux petites, </a:t>
            </a:r>
            <a:r>
              <a:rPr lang="en-US" sz="1000" dirty="0" err="1">
                <a:solidFill>
                  <a:srgbClr val="575756"/>
                </a:solidFill>
              </a:rPr>
              <a:t>moyennes</a:t>
            </a:r>
            <a:r>
              <a:rPr lang="en-US" sz="1000" dirty="0">
                <a:solidFill>
                  <a:srgbClr val="575756"/>
                </a:solidFill>
              </a:rPr>
              <a:t> et </a:t>
            </a:r>
            <a:r>
              <a:rPr lang="en-US" sz="1000" dirty="0" err="1">
                <a:solidFill>
                  <a:srgbClr val="575756"/>
                </a:solidFill>
              </a:rPr>
              <a:t>grandes</a:t>
            </a:r>
            <a:r>
              <a:rPr lang="en-US" sz="1000" dirty="0">
                <a:solidFill>
                  <a:srgbClr val="575756"/>
                </a:solidFill>
              </a:rPr>
              <a:t> </a:t>
            </a:r>
            <a:r>
              <a:rPr lang="en-US" sz="1000" dirty="0" err="1">
                <a:solidFill>
                  <a:srgbClr val="575756"/>
                </a:solidFill>
              </a:rPr>
              <a:t>entreprises</a:t>
            </a:r>
            <a:r>
              <a:rPr lang="en-US" sz="1000" dirty="0">
                <a:solidFill>
                  <a:srgbClr val="575756"/>
                </a:solidFill>
              </a:rPr>
              <a:t>.</a:t>
            </a:r>
          </a:p>
          <a:p>
            <a:pPr algn="just"/>
            <a:endParaRPr lang="fr-FR" sz="1000" b="1" dirty="0">
              <a:solidFill>
                <a:srgbClr val="00B2A9"/>
              </a:solidFill>
            </a:endParaRPr>
          </a:p>
        </p:txBody>
      </p:sp>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pic>
        <p:nvPicPr>
          <p:cNvPr id="57" name="Image 56" descr="Une image contenant objet, corde, portant, regardant  Description générée automatiquement">
            <a:extLst>
              <a:ext uri="{FF2B5EF4-FFF2-40B4-BE49-F238E27FC236}">
                <a16:creationId xmlns:a16="http://schemas.microsoft.com/office/drawing/2014/main" id="{F4EAE2F9-C6CC-454F-B0C7-43B2859039E6}"/>
              </a:ext>
            </a:extLst>
          </p:cNvPr>
          <p:cNvPicPr>
            <a:picLocks noChangeAspect="1"/>
          </p:cNvPicPr>
          <p:nvPr/>
        </p:nvPicPr>
        <p:blipFill rotWithShape="1">
          <a:blip r:embed="rId2">
            <a:extLst>
              <a:ext uri="{28A0092B-C50C-407E-A947-70E740481C1C}">
                <a14:useLocalDpi xmlns:a14="http://schemas.microsoft.com/office/drawing/2010/main" val="0"/>
              </a:ext>
            </a:extLst>
          </a:blip>
          <a:srcRect l="25949" r="52508"/>
          <a:stretch/>
        </p:blipFill>
        <p:spPr>
          <a:xfrm>
            <a:off x="-135096" y="-2"/>
            <a:ext cx="2779926" cy="6858002"/>
          </a:xfrm>
          <a:prstGeom prst="rect">
            <a:avLst/>
          </a:prstGeom>
        </p:spPr>
      </p:pic>
      <p:pic>
        <p:nvPicPr>
          <p:cNvPr id="67" name="Image 66">
            <a:extLst>
              <a:ext uri="{FF2B5EF4-FFF2-40B4-BE49-F238E27FC236}">
                <a16:creationId xmlns:a16="http://schemas.microsoft.com/office/drawing/2014/main" id="{5F1AA49E-CDFF-4E2B-9CE2-9497D8505FCB}"/>
              </a:ext>
            </a:extLst>
          </p:cNvPr>
          <p:cNvPicPr>
            <a:picLocks noChangeAspect="1"/>
          </p:cNvPicPr>
          <p:nvPr/>
        </p:nvPicPr>
        <p:blipFill>
          <a:blip r:embed="rId3"/>
          <a:stretch>
            <a:fillRect/>
          </a:stretch>
        </p:blipFill>
        <p:spPr>
          <a:xfrm>
            <a:off x="10987330" y="145639"/>
            <a:ext cx="1040915" cy="388870"/>
          </a:xfrm>
          <a:prstGeom prst="rect">
            <a:avLst/>
          </a:prstGeom>
        </p:spPr>
      </p:pic>
      <p:sp>
        <p:nvSpPr>
          <p:cNvPr id="72" name="Marketing…">
            <a:extLst>
              <a:ext uri="{FF2B5EF4-FFF2-40B4-BE49-F238E27FC236}">
                <a16:creationId xmlns:a16="http://schemas.microsoft.com/office/drawing/2014/main" id="{3C7A34A8-4D07-42D3-A1CA-47835A4414CE}"/>
              </a:ext>
            </a:extLst>
          </p:cNvPr>
          <p:cNvSpPr txBox="1"/>
          <p:nvPr/>
        </p:nvSpPr>
        <p:spPr>
          <a:xfrm>
            <a:off x="3043617" y="4221088"/>
            <a:ext cx="4104455" cy="212365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Connaissances et expertise</a:t>
            </a:r>
          </a:p>
          <a:p>
            <a:pPr algn="just"/>
            <a:endParaRPr lang="en-US" sz="400" dirty="0">
              <a:solidFill>
                <a:srgbClr val="575756"/>
              </a:solidFill>
            </a:endParaRPr>
          </a:p>
          <a:p>
            <a:pPr algn="just"/>
            <a:r>
              <a:rPr lang="en-US" sz="1000" dirty="0">
                <a:solidFill>
                  <a:srgbClr val="575756"/>
                </a:solidFill>
              </a:rPr>
              <a:t>Nous </a:t>
            </a:r>
            <a:r>
              <a:rPr lang="en-US" sz="1000" dirty="0" err="1">
                <a:solidFill>
                  <a:srgbClr val="575756"/>
                </a:solidFill>
              </a:rPr>
              <a:t>mettons</a:t>
            </a:r>
            <a:r>
              <a:rPr lang="en-US" sz="1000" dirty="0">
                <a:solidFill>
                  <a:srgbClr val="575756"/>
                </a:solidFill>
              </a:rPr>
              <a:t> à </a:t>
            </a:r>
            <a:r>
              <a:rPr lang="en-US" sz="1000" dirty="0" err="1">
                <a:solidFill>
                  <a:srgbClr val="575756"/>
                </a:solidFill>
              </a:rPr>
              <a:t>votre</a:t>
            </a:r>
            <a:r>
              <a:rPr lang="en-US" sz="1000" dirty="0">
                <a:solidFill>
                  <a:srgbClr val="575756"/>
                </a:solidFill>
              </a:rPr>
              <a:t> service </a:t>
            </a:r>
            <a:r>
              <a:rPr lang="en-US" sz="1000" dirty="0" err="1">
                <a:solidFill>
                  <a:srgbClr val="575756"/>
                </a:solidFill>
              </a:rPr>
              <a:t>une</a:t>
            </a:r>
            <a:r>
              <a:rPr lang="en-US" sz="1000" dirty="0">
                <a:solidFill>
                  <a:srgbClr val="575756"/>
                </a:solidFill>
              </a:rPr>
              <a:t> </a:t>
            </a:r>
            <a:r>
              <a:rPr lang="en-US" sz="1000" dirty="0" err="1">
                <a:solidFill>
                  <a:srgbClr val="575756"/>
                </a:solidFill>
              </a:rPr>
              <a:t>équipe</a:t>
            </a:r>
            <a:r>
              <a:rPr lang="en-US" sz="1000" dirty="0">
                <a:solidFill>
                  <a:srgbClr val="575756"/>
                </a:solidFill>
              </a:rPr>
              <a:t> de </a:t>
            </a:r>
            <a:r>
              <a:rPr lang="en-US" sz="1000" dirty="0" err="1">
                <a:solidFill>
                  <a:srgbClr val="575756"/>
                </a:solidFill>
              </a:rPr>
              <a:t>professionnels</a:t>
            </a:r>
            <a:r>
              <a:rPr lang="en-US" sz="1000" dirty="0">
                <a:solidFill>
                  <a:srgbClr val="575756"/>
                </a:solidFill>
              </a:rPr>
              <a:t> </a:t>
            </a:r>
            <a:r>
              <a:rPr lang="en-US" sz="1000" dirty="0" err="1">
                <a:solidFill>
                  <a:srgbClr val="575756"/>
                </a:solidFill>
              </a:rPr>
              <a:t>spécialisés</a:t>
            </a:r>
            <a:r>
              <a:rPr lang="en-US" sz="1000" dirty="0">
                <a:solidFill>
                  <a:srgbClr val="575756"/>
                </a:solidFill>
              </a:rPr>
              <a:t> dans les questions </a:t>
            </a:r>
            <a:r>
              <a:rPr lang="en-US" sz="1000" dirty="0" err="1">
                <a:solidFill>
                  <a:srgbClr val="575756"/>
                </a:solidFill>
              </a:rPr>
              <a:t>sociales</a:t>
            </a:r>
            <a:r>
              <a:rPr lang="en-US" sz="1000" dirty="0">
                <a:solidFill>
                  <a:srgbClr val="575756"/>
                </a:solidFill>
              </a:rPr>
              <a:t>.</a:t>
            </a:r>
          </a:p>
          <a:p>
            <a:pPr algn="just"/>
            <a:r>
              <a:rPr lang="en-US" sz="1000" dirty="0">
                <a:solidFill>
                  <a:srgbClr val="575756"/>
                </a:solidFill>
              </a:rPr>
              <a:t>Nous </a:t>
            </a:r>
            <a:r>
              <a:rPr lang="en-US" sz="1000" dirty="0" err="1">
                <a:solidFill>
                  <a:srgbClr val="575756"/>
                </a:solidFill>
              </a:rPr>
              <a:t>vous</a:t>
            </a:r>
            <a:r>
              <a:rPr lang="en-US" sz="1000" dirty="0">
                <a:solidFill>
                  <a:srgbClr val="575756"/>
                </a:solidFill>
              </a:rPr>
              <a:t> </a:t>
            </a:r>
            <a:r>
              <a:rPr lang="en-US" sz="1000" dirty="0" err="1">
                <a:solidFill>
                  <a:srgbClr val="575756"/>
                </a:solidFill>
              </a:rPr>
              <a:t>faisons</a:t>
            </a:r>
            <a:r>
              <a:rPr lang="en-US" sz="1000" dirty="0">
                <a:solidFill>
                  <a:srgbClr val="575756"/>
                </a:solidFill>
              </a:rPr>
              <a:t> </a:t>
            </a:r>
            <a:r>
              <a:rPr lang="en-US" sz="1000" dirty="0" err="1">
                <a:solidFill>
                  <a:srgbClr val="575756"/>
                </a:solidFill>
              </a:rPr>
              <a:t>bénéficier</a:t>
            </a:r>
            <a:r>
              <a:rPr lang="en-US" sz="1000" dirty="0">
                <a:solidFill>
                  <a:srgbClr val="575756"/>
                </a:solidFill>
              </a:rPr>
              <a:t> de </a:t>
            </a:r>
            <a:r>
              <a:rPr lang="en-US" sz="1000" dirty="0" err="1">
                <a:solidFill>
                  <a:srgbClr val="575756"/>
                </a:solidFill>
              </a:rPr>
              <a:t>leurs</a:t>
            </a:r>
            <a:r>
              <a:rPr lang="en-US" sz="1000" dirty="0">
                <a:solidFill>
                  <a:srgbClr val="575756"/>
                </a:solidFill>
              </a:rPr>
              <a:t> </a:t>
            </a:r>
            <a:r>
              <a:rPr lang="en-US" sz="1000" dirty="0" err="1">
                <a:solidFill>
                  <a:srgbClr val="575756"/>
                </a:solidFill>
              </a:rPr>
              <a:t>connaissances</a:t>
            </a:r>
            <a:r>
              <a:rPr lang="en-US" sz="1000" dirty="0">
                <a:solidFill>
                  <a:srgbClr val="575756"/>
                </a:solidFill>
              </a:rPr>
              <a:t> et de </a:t>
            </a:r>
            <a:r>
              <a:rPr lang="en-US" sz="1000" dirty="0" err="1">
                <a:solidFill>
                  <a:srgbClr val="575756"/>
                </a:solidFill>
              </a:rPr>
              <a:t>leur</a:t>
            </a:r>
            <a:r>
              <a:rPr lang="en-US" sz="1000" dirty="0">
                <a:solidFill>
                  <a:srgbClr val="575756"/>
                </a:solidFill>
              </a:rPr>
              <a:t> expertise sur </a:t>
            </a:r>
            <a:r>
              <a:rPr lang="en-US" sz="1000" dirty="0" err="1">
                <a:solidFill>
                  <a:srgbClr val="575756"/>
                </a:solidFill>
              </a:rPr>
              <a:t>tous</a:t>
            </a:r>
            <a:r>
              <a:rPr lang="en-US" sz="1000" dirty="0">
                <a:solidFill>
                  <a:srgbClr val="575756"/>
                </a:solidFill>
              </a:rPr>
              <a:t> les </a:t>
            </a:r>
            <a:r>
              <a:rPr lang="en-US" sz="1000" dirty="0" err="1">
                <a:solidFill>
                  <a:srgbClr val="575756"/>
                </a:solidFill>
              </a:rPr>
              <a:t>domaines</a:t>
            </a:r>
            <a:r>
              <a:rPr lang="en-US" sz="1000" dirty="0">
                <a:solidFill>
                  <a:srgbClr val="575756"/>
                </a:solidFill>
              </a:rPr>
              <a:t> </a:t>
            </a:r>
            <a:r>
              <a:rPr lang="en-US" sz="1000" dirty="0" err="1">
                <a:solidFill>
                  <a:srgbClr val="575756"/>
                </a:solidFill>
              </a:rPr>
              <a:t>économiques</a:t>
            </a:r>
            <a:r>
              <a:rPr lang="en-US" sz="1000" dirty="0">
                <a:solidFill>
                  <a:srgbClr val="575756"/>
                </a:solidFill>
              </a:rPr>
              <a:t>, </a:t>
            </a:r>
            <a:r>
              <a:rPr lang="en-US" sz="1000" dirty="0" err="1">
                <a:solidFill>
                  <a:srgbClr val="575756"/>
                </a:solidFill>
              </a:rPr>
              <a:t>réglementaires</a:t>
            </a:r>
            <a:r>
              <a:rPr lang="en-US" sz="1000" dirty="0">
                <a:solidFill>
                  <a:srgbClr val="575756"/>
                </a:solidFill>
              </a:rPr>
              <a:t> et </a:t>
            </a:r>
            <a:r>
              <a:rPr lang="en-US" sz="1000" dirty="0" err="1">
                <a:solidFill>
                  <a:srgbClr val="575756"/>
                </a:solidFill>
              </a:rPr>
              <a:t>fiscaux</a:t>
            </a:r>
            <a:r>
              <a:rPr lang="en-US" sz="1000" dirty="0">
                <a:solidFill>
                  <a:srgbClr val="575756"/>
                </a:solidFill>
              </a:rPr>
              <a:t> </a:t>
            </a:r>
            <a:r>
              <a:rPr lang="en-US" sz="1000" dirty="0" err="1">
                <a:solidFill>
                  <a:srgbClr val="575756"/>
                </a:solidFill>
              </a:rPr>
              <a:t>liés</a:t>
            </a:r>
            <a:r>
              <a:rPr lang="en-US" sz="1000" dirty="0">
                <a:solidFill>
                  <a:srgbClr val="575756"/>
                </a:solidFill>
              </a:rPr>
              <a:t> à la gestion des </a:t>
            </a:r>
            <a:r>
              <a:rPr lang="en-US" sz="1000" dirty="0" err="1">
                <a:solidFill>
                  <a:srgbClr val="575756"/>
                </a:solidFill>
              </a:rPr>
              <a:t>salaires</a:t>
            </a:r>
            <a:r>
              <a:rPr lang="en-US" sz="1000" dirty="0">
                <a:solidFill>
                  <a:srgbClr val="575756"/>
                </a:solidFill>
              </a:rPr>
              <a:t>.</a:t>
            </a:r>
          </a:p>
          <a:p>
            <a:pPr algn="just"/>
            <a:endParaRPr lang="en-US" sz="1000" dirty="0">
              <a:solidFill>
                <a:srgbClr val="575756"/>
              </a:solidFill>
            </a:endParaRPr>
          </a:p>
          <a:p>
            <a:pPr algn="just"/>
            <a:r>
              <a:rPr lang="en-US" sz="1000" dirty="0">
                <a:solidFill>
                  <a:srgbClr val="575756"/>
                </a:solidFill>
              </a:rPr>
              <a:t>Nous </a:t>
            </a:r>
            <a:r>
              <a:rPr lang="en-US" sz="1000" dirty="0" err="1">
                <a:solidFill>
                  <a:srgbClr val="575756"/>
                </a:solidFill>
              </a:rPr>
              <a:t>mettons</a:t>
            </a:r>
            <a:r>
              <a:rPr lang="en-US" sz="1000" dirty="0">
                <a:solidFill>
                  <a:srgbClr val="575756"/>
                </a:solidFill>
              </a:rPr>
              <a:t> à la disposition de </a:t>
            </a:r>
            <a:r>
              <a:rPr lang="en-US" sz="1000" dirty="0" err="1">
                <a:solidFill>
                  <a:srgbClr val="575756"/>
                </a:solidFill>
              </a:rPr>
              <a:t>nos</a:t>
            </a:r>
            <a:r>
              <a:rPr lang="en-US" sz="1000" dirty="0">
                <a:solidFill>
                  <a:srgbClr val="575756"/>
                </a:solidFill>
              </a:rPr>
              <a:t> clients </a:t>
            </a:r>
            <a:r>
              <a:rPr lang="en-US" sz="1000" dirty="0" err="1">
                <a:solidFill>
                  <a:srgbClr val="575756"/>
                </a:solidFill>
              </a:rPr>
              <a:t>tous</a:t>
            </a:r>
            <a:r>
              <a:rPr lang="en-US" sz="1000" dirty="0">
                <a:solidFill>
                  <a:srgbClr val="575756"/>
                </a:solidFill>
              </a:rPr>
              <a:t> les </a:t>
            </a:r>
            <a:r>
              <a:rPr lang="en-US" sz="1000" dirty="0" err="1">
                <a:solidFill>
                  <a:srgbClr val="575756"/>
                </a:solidFill>
              </a:rPr>
              <a:t>outils</a:t>
            </a:r>
            <a:r>
              <a:rPr lang="en-US" sz="1000" dirty="0">
                <a:solidFill>
                  <a:srgbClr val="575756"/>
                </a:solidFill>
              </a:rPr>
              <a:t> </a:t>
            </a:r>
            <a:r>
              <a:rPr lang="en-US" sz="1000" dirty="0" err="1">
                <a:solidFill>
                  <a:srgbClr val="575756"/>
                </a:solidFill>
              </a:rPr>
              <a:t>professionnels</a:t>
            </a:r>
            <a:r>
              <a:rPr lang="en-US" sz="1000" dirty="0">
                <a:solidFill>
                  <a:srgbClr val="575756"/>
                </a:solidFill>
              </a:rPr>
              <a:t> </a:t>
            </a:r>
            <a:r>
              <a:rPr lang="en-US" sz="1000" dirty="0" err="1">
                <a:solidFill>
                  <a:srgbClr val="575756"/>
                </a:solidFill>
              </a:rPr>
              <a:t>nécessaires</a:t>
            </a:r>
            <a:r>
              <a:rPr lang="en-US" sz="1000" dirty="0">
                <a:solidFill>
                  <a:srgbClr val="575756"/>
                </a:solidFill>
              </a:rPr>
              <a:t> à la gestion de la </a:t>
            </a:r>
            <a:r>
              <a:rPr lang="en-US" sz="1000" dirty="0" err="1">
                <a:solidFill>
                  <a:srgbClr val="575756"/>
                </a:solidFill>
              </a:rPr>
              <a:t>paie</a:t>
            </a:r>
            <a:r>
              <a:rPr lang="en-US" sz="1000" dirty="0">
                <a:solidFill>
                  <a:srgbClr val="575756"/>
                </a:solidFill>
              </a:rPr>
              <a:t>, </a:t>
            </a:r>
            <a:r>
              <a:rPr lang="en-US" sz="1000" dirty="0" err="1">
                <a:solidFill>
                  <a:srgbClr val="575756"/>
                </a:solidFill>
              </a:rPr>
              <a:t>en</a:t>
            </a:r>
            <a:r>
              <a:rPr lang="en-US" sz="1000" dirty="0">
                <a:solidFill>
                  <a:srgbClr val="575756"/>
                </a:solidFill>
              </a:rPr>
              <a:t> </a:t>
            </a:r>
            <a:r>
              <a:rPr lang="en-US" sz="1000" dirty="0" err="1">
                <a:solidFill>
                  <a:srgbClr val="575756"/>
                </a:solidFill>
              </a:rPr>
              <a:t>assurant</a:t>
            </a:r>
            <a:r>
              <a:rPr lang="en-US" sz="1000" dirty="0">
                <a:solidFill>
                  <a:srgbClr val="575756"/>
                </a:solidFill>
              </a:rPr>
              <a:t> </a:t>
            </a:r>
            <a:r>
              <a:rPr lang="en-US" sz="1000" dirty="0" err="1">
                <a:solidFill>
                  <a:srgbClr val="575756"/>
                </a:solidFill>
              </a:rPr>
              <a:t>une</a:t>
            </a:r>
            <a:r>
              <a:rPr lang="en-US" sz="1000" dirty="0">
                <a:solidFill>
                  <a:srgbClr val="575756"/>
                </a:solidFill>
              </a:rPr>
              <a:t> </a:t>
            </a:r>
            <a:r>
              <a:rPr lang="en-US" sz="1000" dirty="0" err="1">
                <a:solidFill>
                  <a:srgbClr val="575756"/>
                </a:solidFill>
              </a:rPr>
              <a:t>fiabilité</a:t>
            </a:r>
            <a:r>
              <a:rPr lang="en-US" sz="1000" dirty="0">
                <a:solidFill>
                  <a:srgbClr val="575756"/>
                </a:solidFill>
              </a:rPr>
              <a:t> </a:t>
            </a:r>
            <a:r>
              <a:rPr lang="en-US" sz="1000" dirty="0" err="1">
                <a:solidFill>
                  <a:srgbClr val="575756"/>
                </a:solidFill>
              </a:rPr>
              <a:t>totale</a:t>
            </a:r>
            <a:r>
              <a:rPr lang="en-US" sz="1000" dirty="0">
                <a:solidFill>
                  <a:srgbClr val="575756"/>
                </a:solidFill>
              </a:rPr>
              <a:t> des </a:t>
            </a:r>
            <a:r>
              <a:rPr lang="en-US" sz="1000" dirty="0" err="1">
                <a:solidFill>
                  <a:srgbClr val="575756"/>
                </a:solidFill>
              </a:rPr>
              <a:t>informations</a:t>
            </a:r>
            <a:r>
              <a:rPr lang="en-US" sz="1000" dirty="0">
                <a:solidFill>
                  <a:srgbClr val="575756"/>
                </a:solidFill>
              </a:rPr>
              <a:t> </a:t>
            </a:r>
            <a:r>
              <a:rPr lang="en-US" sz="1000" dirty="0" err="1">
                <a:solidFill>
                  <a:srgbClr val="575756"/>
                </a:solidFill>
              </a:rPr>
              <a:t>produites</a:t>
            </a:r>
            <a:r>
              <a:rPr lang="en-US" sz="1000" dirty="0">
                <a:solidFill>
                  <a:srgbClr val="575756"/>
                </a:solidFill>
              </a:rPr>
              <a:t>, dans le respect des </a:t>
            </a:r>
            <a:r>
              <a:rPr lang="en-US" sz="1000" dirty="0" err="1">
                <a:solidFill>
                  <a:srgbClr val="575756"/>
                </a:solidFill>
              </a:rPr>
              <a:t>délais</a:t>
            </a:r>
            <a:r>
              <a:rPr lang="en-US" sz="1000" dirty="0">
                <a:solidFill>
                  <a:srgbClr val="575756"/>
                </a:solidFill>
              </a:rPr>
              <a:t> </a:t>
            </a:r>
            <a:r>
              <a:rPr lang="en-US" sz="1000" dirty="0" err="1">
                <a:solidFill>
                  <a:srgbClr val="575756"/>
                </a:solidFill>
              </a:rPr>
              <a:t>contractuels</a:t>
            </a:r>
            <a:r>
              <a:rPr lang="en-US" sz="1000" dirty="0">
                <a:solidFill>
                  <a:srgbClr val="575756"/>
                </a:solidFill>
              </a:rPr>
              <a:t> et </a:t>
            </a:r>
            <a:r>
              <a:rPr lang="en-US" sz="1000" dirty="0" err="1">
                <a:solidFill>
                  <a:srgbClr val="575756"/>
                </a:solidFill>
              </a:rPr>
              <a:t>légaux</a:t>
            </a:r>
            <a:r>
              <a:rPr lang="en-US" sz="1000" dirty="0">
                <a:solidFill>
                  <a:srgbClr val="575756"/>
                </a:solidFill>
              </a:rPr>
              <a:t>.</a:t>
            </a:r>
          </a:p>
          <a:p>
            <a:pPr algn="just"/>
            <a:r>
              <a:rPr lang="en-US" sz="1000" dirty="0" err="1">
                <a:solidFill>
                  <a:srgbClr val="575756"/>
                </a:solidFill>
              </a:rPr>
              <a:t>Ces</a:t>
            </a:r>
            <a:r>
              <a:rPr lang="en-US" sz="1000" dirty="0">
                <a:solidFill>
                  <a:srgbClr val="575756"/>
                </a:solidFill>
              </a:rPr>
              <a:t> </a:t>
            </a:r>
            <a:r>
              <a:rPr lang="en-US" sz="1000" dirty="0" err="1">
                <a:solidFill>
                  <a:srgbClr val="575756"/>
                </a:solidFill>
              </a:rPr>
              <a:t>outils</a:t>
            </a:r>
            <a:r>
              <a:rPr lang="en-US" sz="1000" dirty="0">
                <a:solidFill>
                  <a:srgbClr val="575756"/>
                </a:solidFill>
              </a:rPr>
              <a:t> </a:t>
            </a:r>
            <a:r>
              <a:rPr lang="en-US" sz="1000" dirty="0" err="1">
                <a:solidFill>
                  <a:srgbClr val="575756"/>
                </a:solidFill>
              </a:rPr>
              <a:t>sont</a:t>
            </a:r>
            <a:r>
              <a:rPr lang="en-US" sz="1000" dirty="0">
                <a:solidFill>
                  <a:srgbClr val="575756"/>
                </a:solidFill>
              </a:rPr>
              <a:t> leaders sur le </a:t>
            </a:r>
            <a:r>
              <a:rPr lang="en-US" sz="1000" dirty="0" err="1">
                <a:solidFill>
                  <a:srgbClr val="575756"/>
                </a:solidFill>
              </a:rPr>
              <a:t>marché</a:t>
            </a:r>
            <a:r>
              <a:rPr lang="en-US" sz="1000" dirty="0">
                <a:solidFill>
                  <a:srgbClr val="575756"/>
                </a:solidFill>
              </a:rPr>
              <a:t>, </a:t>
            </a:r>
            <a:r>
              <a:rPr lang="en-US" sz="1000" dirty="0" err="1">
                <a:solidFill>
                  <a:srgbClr val="575756"/>
                </a:solidFill>
              </a:rPr>
              <a:t>interactifs</a:t>
            </a:r>
            <a:r>
              <a:rPr lang="en-US" sz="1000" dirty="0">
                <a:solidFill>
                  <a:srgbClr val="575756"/>
                </a:solidFill>
              </a:rPr>
              <a:t>, </a:t>
            </a:r>
            <a:r>
              <a:rPr lang="en-US" sz="1000" dirty="0" err="1">
                <a:solidFill>
                  <a:srgbClr val="575756"/>
                </a:solidFill>
              </a:rPr>
              <a:t>évolutifs</a:t>
            </a:r>
            <a:r>
              <a:rPr lang="en-US" sz="1000" dirty="0">
                <a:solidFill>
                  <a:srgbClr val="575756"/>
                </a:solidFill>
              </a:rPr>
              <a:t> et </a:t>
            </a:r>
            <a:r>
              <a:rPr lang="en-US" sz="1000" dirty="0" err="1">
                <a:solidFill>
                  <a:srgbClr val="575756"/>
                </a:solidFill>
              </a:rPr>
              <a:t>orientés</a:t>
            </a:r>
            <a:r>
              <a:rPr lang="en-US" sz="1000" dirty="0">
                <a:solidFill>
                  <a:srgbClr val="575756"/>
                </a:solidFill>
              </a:rPr>
              <a:t> </a:t>
            </a:r>
            <a:r>
              <a:rPr lang="en-US" sz="1000" dirty="0" err="1">
                <a:solidFill>
                  <a:srgbClr val="575756"/>
                </a:solidFill>
              </a:rPr>
              <a:t>vers</a:t>
            </a:r>
            <a:r>
              <a:rPr lang="en-US" sz="1000" dirty="0">
                <a:solidFill>
                  <a:srgbClr val="575756"/>
                </a:solidFill>
              </a:rPr>
              <a:t> </a:t>
            </a:r>
            <a:r>
              <a:rPr lang="en-US" sz="1000" dirty="0" err="1">
                <a:solidFill>
                  <a:srgbClr val="575756"/>
                </a:solidFill>
              </a:rPr>
              <a:t>l'automatisation</a:t>
            </a:r>
            <a:r>
              <a:rPr lang="en-US" sz="1000" dirty="0">
                <a:solidFill>
                  <a:srgbClr val="575756"/>
                </a:solidFill>
              </a:rPr>
              <a:t> et la </a:t>
            </a:r>
            <a:r>
              <a:rPr lang="en-US" sz="1000" dirty="0" err="1">
                <a:solidFill>
                  <a:srgbClr val="575756"/>
                </a:solidFill>
              </a:rPr>
              <a:t>dématérialisation</a:t>
            </a:r>
            <a:r>
              <a:rPr lang="en-US" sz="1000" dirty="0">
                <a:solidFill>
                  <a:srgbClr val="575756"/>
                </a:solidFill>
              </a:rPr>
              <a:t> </a:t>
            </a:r>
            <a:r>
              <a:rPr lang="en-US" sz="1000" dirty="0" err="1">
                <a:solidFill>
                  <a:srgbClr val="575756"/>
                </a:solidFill>
              </a:rPr>
              <a:t>croissante</a:t>
            </a:r>
            <a:r>
              <a:rPr lang="en-US" sz="1000" dirty="0">
                <a:solidFill>
                  <a:srgbClr val="575756"/>
                </a:solidFill>
              </a:rPr>
              <a:t> de la gestion de la </a:t>
            </a:r>
            <a:r>
              <a:rPr lang="en-US" sz="1000" dirty="0" err="1">
                <a:solidFill>
                  <a:srgbClr val="575756"/>
                </a:solidFill>
              </a:rPr>
              <a:t>paie</a:t>
            </a:r>
            <a:r>
              <a:rPr lang="en-US" sz="1000" dirty="0">
                <a:solidFill>
                  <a:srgbClr val="575756"/>
                </a:solidFill>
              </a:rPr>
              <a:t>.</a:t>
            </a:r>
          </a:p>
        </p:txBody>
      </p:sp>
      <p:pic>
        <p:nvPicPr>
          <p:cNvPr id="3" name="Graphique 2" descr="ADN">
            <a:extLst>
              <a:ext uri="{FF2B5EF4-FFF2-40B4-BE49-F238E27FC236}">
                <a16:creationId xmlns:a16="http://schemas.microsoft.com/office/drawing/2014/main" id="{4CFEBDEB-A7EB-4E0D-AEDB-8C0A71407E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27648" y="493125"/>
            <a:ext cx="644716" cy="644716"/>
          </a:xfrm>
          <a:prstGeom prst="rect">
            <a:avLst/>
          </a:prstGeom>
        </p:spPr>
      </p:pic>
      <p:pic>
        <p:nvPicPr>
          <p:cNvPr id="9" name="Graphique 8" descr="Engrenages">
            <a:extLst>
              <a:ext uri="{FF2B5EF4-FFF2-40B4-BE49-F238E27FC236}">
                <a16:creationId xmlns:a16="http://schemas.microsoft.com/office/drawing/2014/main" id="{97ED9628-150F-4F5F-A226-1EC1C74F24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07172" y="3492549"/>
            <a:ext cx="745232" cy="745232"/>
          </a:xfrm>
          <a:prstGeom prst="rect">
            <a:avLst/>
          </a:prstGeom>
        </p:spPr>
      </p:pic>
      <p:sp>
        <p:nvSpPr>
          <p:cNvPr id="17" name="Titre 4">
            <a:extLst>
              <a:ext uri="{FF2B5EF4-FFF2-40B4-BE49-F238E27FC236}">
                <a16:creationId xmlns:a16="http://schemas.microsoft.com/office/drawing/2014/main" id="{2F8E6FE4-B9C1-4B9C-BC7C-D59076781923}"/>
              </a:ext>
            </a:extLst>
          </p:cNvPr>
          <p:cNvSpPr txBox="1">
            <a:spLocks/>
          </p:cNvSpPr>
          <p:nvPr/>
        </p:nvSpPr>
        <p:spPr>
          <a:xfrm>
            <a:off x="117291" y="211559"/>
            <a:ext cx="2599587" cy="969236"/>
          </a:xfrm>
          <a:prstGeom prst="rect">
            <a:avLst/>
          </a:prstGeom>
        </p:spPr>
        <p:txBody>
          <a:bodyPr vert="horz" lIns="0" tIns="0" rIns="0" bIns="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8600" b="1"/>
              <a:t>Paie et assistance aux RH</a:t>
            </a:r>
          </a:p>
          <a:p>
            <a:endParaRPr lang="fr-FR" dirty="0">
              <a:solidFill>
                <a:srgbClr val="FF0000"/>
              </a:solidFill>
            </a:endParaRPr>
          </a:p>
        </p:txBody>
      </p:sp>
      <p:sp>
        <p:nvSpPr>
          <p:cNvPr id="18" name="Espace réservé du numéro de diapositive 9">
            <a:extLst>
              <a:ext uri="{FF2B5EF4-FFF2-40B4-BE49-F238E27FC236}">
                <a16:creationId xmlns:a16="http://schemas.microsoft.com/office/drawing/2014/main" id="{AC284BF9-FE51-47AA-B2C1-D61DB2E2E9F6}"/>
              </a:ext>
            </a:extLst>
          </p:cNvPr>
          <p:cNvSpPr txBox="1">
            <a:spLocks/>
          </p:cNvSpPr>
          <p:nvPr/>
        </p:nvSpPr>
        <p:spPr>
          <a:xfrm>
            <a:off x="11507787"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8</a:t>
            </a:fld>
            <a:endParaRPr lang="en-US" sz="1000" dirty="0">
              <a:solidFill>
                <a:srgbClr val="5C607E"/>
              </a:solidFill>
            </a:endParaRPr>
          </a:p>
        </p:txBody>
      </p:sp>
      <p:sp>
        <p:nvSpPr>
          <p:cNvPr id="19" name="Marketing…">
            <a:extLst>
              <a:ext uri="{FF2B5EF4-FFF2-40B4-BE49-F238E27FC236}">
                <a16:creationId xmlns:a16="http://schemas.microsoft.com/office/drawing/2014/main" id="{360BA9ED-DA75-4D83-98ED-E72E92BD61DE}"/>
              </a:ext>
            </a:extLst>
          </p:cNvPr>
          <p:cNvSpPr txBox="1"/>
          <p:nvPr/>
        </p:nvSpPr>
        <p:spPr>
          <a:xfrm>
            <a:off x="7563442" y="1412776"/>
            <a:ext cx="4104456" cy="498598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just"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Une ligne de service appropriée</a:t>
            </a:r>
            <a:endParaRP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a:spcBef>
                <a:spcPts val="600"/>
              </a:spcBef>
              <a:defRPr sz="2200" b="0">
                <a:solidFill>
                  <a:srgbClr val="6A6E77"/>
                </a:solidFill>
                <a:latin typeface="Quicksand Regular"/>
                <a:ea typeface="Quicksand Regular"/>
                <a:cs typeface="Quicksand Regular"/>
                <a:sym typeface="Quicksand Regular"/>
              </a:defRPr>
            </a:pPr>
            <a:r>
              <a:rPr lang="en-US" sz="1000" dirty="0">
                <a:latin typeface="+mj-lt"/>
                <a:sym typeface="Quicksand Regular"/>
              </a:rPr>
              <a:t>Nous </a:t>
            </a:r>
            <a:r>
              <a:rPr lang="en-US" sz="1000" dirty="0" err="1">
                <a:latin typeface="+mj-lt"/>
                <a:sym typeface="Quicksand Regular"/>
              </a:rPr>
              <a:t>apportons</a:t>
            </a:r>
            <a:r>
              <a:rPr lang="en-US" sz="1000" dirty="0">
                <a:latin typeface="+mj-lt"/>
                <a:sym typeface="Quicksand Regular"/>
              </a:rPr>
              <a:t> </a:t>
            </a:r>
            <a:r>
              <a:rPr lang="en-US" sz="1000" dirty="0" err="1">
                <a:latin typeface="+mj-lt"/>
                <a:sym typeface="Quicksand Regular"/>
              </a:rPr>
              <a:t>une</a:t>
            </a:r>
            <a:r>
              <a:rPr lang="en-US" sz="1000" dirty="0">
                <a:latin typeface="+mj-lt"/>
                <a:sym typeface="Quicksand Regular"/>
              </a:rPr>
              <a:t> </a:t>
            </a:r>
            <a:r>
              <a:rPr lang="en-US" sz="1000" dirty="0" err="1">
                <a:latin typeface="+mj-lt"/>
                <a:sym typeface="Quicksand Regular"/>
              </a:rPr>
              <a:t>réponse</a:t>
            </a:r>
            <a:r>
              <a:rPr lang="en-US" sz="1000" dirty="0">
                <a:latin typeface="+mj-lt"/>
                <a:sym typeface="Quicksand Regular"/>
              </a:rPr>
              <a:t> </a:t>
            </a:r>
            <a:r>
              <a:rPr lang="en-US" sz="1000" dirty="0" err="1">
                <a:latin typeface="+mj-lt"/>
                <a:sym typeface="Quicksand Regular"/>
              </a:rPr>
              <a:t>adaptée</a:t>
            </a:r>
            <a:r>
              <a:rPr lang="en-US" sz="1000" dirty="0">
                <a:latin typeface="+mj-lt"/>
                <a:sym typeface="Quicksand Regular"/>
              </a:rPr>
              <a:t> à </a:t>
            </a:r>
            <a:r>
              <a:rPr lang="en-US" sz="1000" dirty="0" err="1">
                <a:latin typeface="+mj-lt"/>
                <a:sym typeface="Quicksand Regular"/>
              </a:rPr>
              <a:t>chacun</a:t>
            </a:r>
            <a:r>
              <a:rPr lang="en-US" sz="1000" dirty="0">
                <a:latin typeface="+mj-lt"/>
                <a:sym typeface="Quicksand Regular"/>
              </a:rPr>
              <a:t> de </a:t>
            </a:r>
            <a:r>
              <a:rPr lang="en-US" sz="1000" dirty="0" err="1">
                <a:latin typeface="+mj-lt"/>
                <a:sym typeface="Quicksand Regular"/>
              </a:rPr>
              <a:t>vos</a:t>
            </a:r>
            <a:r>
              <a:rPr lang="en-US" sz="1000" dirty="0">
                <a:latin typeface="+mj-lt"/>
                <a:sym typeface="Quicksand Regular"/>
              </a:rPr>
              <a:t> </a:t>
            </a:r>
            <a:r>
              <a:rPr lang="en-US" sz="1000" dirty="0" err="1">
                <a:latin typeface="+mj-lt"/>
                <a:sym typeface="Quicksand Regular"/>
              </a:rPr>
              <a:t>besoins</a:t>
            </a:r>
            <a:r>
              <a:rPr lang="en-US" sz="1000" dirty="0">
                <a:latin typeface="+mj-lt"/>
                <a:sym typeface="Quicksand Regular"/>
              </a:rPr>
              <a:t>, </a:t>
            </a:r>
            <a:r>
              <a:rPr lang="en-US" sz="1000" dirty="0" err="1">
                <a:latin typeface="+mj-lt"/>
                <a:sym typeface="Quicksand Regular"/>
              </a:rPr>
              <a:t>qu'il</a:t>
            </a:r>
            <a:r>
              <a:rPr lang="en-US" sz="1000" dirty="0">
                <a:latin typeface="+mj-lt"/>
                <a:sym typeface="Quicksand Regular"/>
              </a:rPr>
              <a:t> </a:t>
            </a:r>
            <a:r>
              <a:rPr lang="en-US" sz="1000" dirty="0" err="1">
                <a:latin typeface="+mj-lt"/>
                <a:sym typeface="Quicksand Regular"/>
              </a:rPr>
              <a:t>s'agisse</a:t>
            </a:r>
            <a:r>
              <a:rPr lang="en-US" sz="1000" dirty="0">
                <a:latin typeface="+mj-lt"/>
                <a:sym typeface="Quicksand Regular"/>
              </a:rPr>
              <a:t> de la </a:t>
            </a:r>
            <a:r>
              <a:rPr lang="en-US" sz="1000" dirty="0" err="1">
                <a:latin typeface="+mj-lt"/>
                <a:sym typeface="Quicksand Regular"/>
              </a:rPr>
              <a:t>prise</a:t>
            </a:r>
            <a:r>
              <a:rPr lang="en-US" sz="1000" dirty="0">
                <a:latin typeface="+mj-lt"/>
                <a:sym typeface="Quicksand Regular"/>
              </a:rPr>
              <a:t> </a:t>
            </a:r>
            <a:r>
              <a:rPr lang="en-US" sz="1000" dirty="0" err="1">
                <a:latin typeface="+mj-lt"/>
                <a:sym typeface="Quicksand Regular"/>
              </a:rPr>
              <a:t>en</a:t>
            </a:r>
            <a:r>
              <a:rPr lang="en-US" sz="1000" dirty="0">
                <a:latin typeface="+mj-lt"/>
                <a:sym typeface="Quicksand Regular"/>
              </a:rPr>
              <a:t> charge </a:t>
            </a:r>
            <a:r>
              <a:rPr lang="en-US" sz="1000" dirty="0" err="1">
                <a:latin typeface="+mj-lt"/>
                <a:sym typeface="Quicksand Regular"/>
              </a:rPr>
              <a:t>complète</a:t>
            </a:r>
            <a:r>
              <a:rPr lang="en-US" sz="1000" dirty="0">
                <a:latin typeface="+mj-lt"/>
                <a:sym typeface="Quicksand Regular"/>
              </a:rPr>
              <a:t> </a:t>
            </a:r>
            <a:r>
              <a:rPr lang="en-US" sz="1000" dirty="0" err="1">
                <a:latin typeface="+mj-lt"/>
                <a:sym typeface="Quicksand Regular"/>
              </a:rPr>
              <a:t>ou</a:t>
            </a:r>
            <a:r>
              <a:rPr lang="en-US" sz="1000" dirty="0">
                <a:latin typeface="+mj-lt"/>
                <a:sym typeface="Quicksand Regular"/>
              </a:rPr>
              <a:t> </a:t>
            </a:r>
            <a:r>
              <a:rPr lang="en-US" sz="1000" dirty="0" err="1">
                <a:latin typeface="+mj-lt"/>
                <a:sym typeface="Quicksand Regular"/>
              </a:rPr>
              <a:t>partielle</a:t>
            </a:r>
            <a:r>
              <a:rPr lang="en-US" sz="1000" dirty="0">
                <a:latin typeface="+mj-lt"/>
                <a:sym typeface="Quicksand Regular"/>
              </a:rPr>
              <a:t> de la </a:t>
            </a:r>
            <a:r>
              <a:rPr lang="en-US" sz="1000" dirty="0" err="1">
                <a:latin typeface="+mj-lt"/>
                <a:sym typeface="Quicksand Regular"/>
              </a:rPr>
              <a:t>paie</a:t>
            </a:r>
            <a:r>
              <a:rPr lang="en-US" sz="1000" dirty="0">
                <a:latin typeface="+mj-lt"/>
                <a:sym typeface="Quicksand Regular"/>
              </a:rPr>
              <a:t>, </a:t>
            </a:r>
            <a:r>
              <a:rPr lang="en-US" sz="1000" dirty="0" err="1">
                <a:latin typeface="+mj-lt"/>
                <a:sym typeface="Quicksand Regular"/>
              </a:rPr>
              <a:t>ou</a:t>
            </a:r>
            <a:r>
              <a:rPr lang="en-US" sz="1000" dirty="0">
                <a:latin typeface="+mj-lt"/>
                <a:sym typeface="Quicksand Regular"/>
              </a:rPr>
              <a:t> </a:t>
            </a:r>
            <a:r>
              <a:rPr lang="en-US" sz="1000" dirty="0" err="1">
                <a:latin typeface="+mj-lt"/>
                <a:sym typeface="Quicksand Regular"/>
              </a:rPr>
              <a:t>d'une</a:t>
            </a:r>
            <a:r>
              <a:rPr lang="en-US" sz="1000" dirty="0">
                <a:latin typeface="+mj-lt"/>
                <a:sym typeface="Quicksand Regular"/>
              </a:rPr>
              <a:t> assistance technique </a:t>
            </a:r>
            <a:r>
              <a:rPr lang="en-US" sz="1000" dirty="0" err="1">
                <a:latin typeface="+mj-lt"/>
                <a:sym typeface="Quicksand Regular"/>
              </a:rPr>
              <a:t>spécifique</a:t>
            </a:r>
            <a:r>
              <a:rPr lang="en-US" sz="1000" dirty="0">
                <a:latin typeface="+mj-lt"/>
                <a:sym typeface="Quicksand Regular"/>
              </a:rPr>
              <a:t> dans le </a:t>
            </a:r>
            <a:r>
              <a:rPr lang="en-US" sz="1000" dirty="0" err="1">
                <a:latin typeface="+mj-lt"/>
                <a:sym typeface="Quicksand Regular"/>
              </a:rPr>
              <a:t>domaine</a:t>
            </a:r>
            <a:r>
              <a:rPr lang="en-US" sz="1000" dirty="0">
                <a:latin typeface="+mj-lt"/>
                <a:sym typeface="Quicksand Regular"/>
              </a:rPr>
              <a:t> social.</a:t>
            </a:r>
          </a:p>
          <a:p>
            <a:pPr algn="just">
              <a:spcBef>
                <a:spcPts val="600"/>
              </a:spcBef>
              <a:defRPr sz="2200" b="0">
                <a:solidFill>
                  <a:srgbClr val="6A6E77"/>
                </a:solidFill>
                <a:latin typeface="Quicksand Regular"/>
                <a:ea typeface="Quicksand Regular"/>
                <a:cs typeface="Quicksand Regular"/>
                <a:sym typeface="Quicksand Regular"/>
              </a:defRPr>
            </a:pPr>
            <a:endParaRPr lang="en-US" sz="1000" dirty="0">
              <a:solidFill>
                <a:srgbClr val="575756"/>
              </a:solidFill>
              <a:latin typeface="+mj-lt"/>
            </a:endParaRPr>
          </a:p>
          <a:p>
            <a:pPr algn="just"/>
            <a:r>
              <a:rPr lang="en-US" sz="1000" b="1" dirty="0">
                <a:solidFill>
                  <a:srgbClr val="575756"/>
                </a:solidFill>
              </a:rPr>
              <a:t>Sous-</a:t>
            </a:r>
            <a:r>
              <a:rPr lang="en-US" sz="1000" b="1" dirty="0" err="1">
                <a:solidFill>
                  <a:srgbClr val="575756"/>
                </a:solidFill>
              </a:rPr>
              <a:t>traitance</a:t>
            </a:r>
            <a:r>
              <a:rPr lang="en-US" sz="1000" b="1" dirty="0">
                <a:solidFill>
                  <a:srgbClr val="575756"/>
                </a:solidFill>
              </a:rPr>
              <a:t> du </a:t>
            </a:r>
            <a:r>
              <a:rPr lang="en-US" sz="1000" b="1" dirty="0" err="1">
                <a:solidFill>
                  <a:srgbClr val="575756"/>
                </a:solidFill>
              </a:rPr>
              <a:t>traitement</a:t>
            </a:r>
            <a:r>
              <a:rPr lang="en-US" sz="1000" b="1" dirty="0">
                <a:solidFill>
                  <a:srgbClr val="575756"/>
                </a:solidFill>
              </a:rPr>
              <a:t> des </a:t>
            </a:r>
            <a:r>
              <a:rPr lang="en-US" sz="1000" b="1" dirty="0" err="1">
                <a:solidFill>
                  <a:srgbClr val="575756"/>
                </a:solidFill>
              </a:rPr>
              <a:t>paies</a:t>
            </a:r>
            <a:endParaRPr lang="en-US" sz="1000" b="1" dirty="0">
              <a:solidFill>
                <a:srgbClr val="575756"/>
              </a:solidFill>
            </a:endParaRPr>
          </a:p>
          <a:p>
            <a:pPr algn="just"/>
            <a:endParaRPr lang="en-US" sz="1000" dirty="0">
              <a:solidFill>
                <a:srgbClr val="575756"/>
              </a:solidFill>
            </a:endParaRPr>
          </a:p>
          <a:p>
            <a:pPr algn="just"/>
            <a:r>
              <a:rPr lang="en-US" sz="1000" dirty="0">
                <a:solidFill>
                  <a:srgbClr val="575756"/>
                </a:solidFill>
              </a:rPr>
              <a:t>Nous </a:t>
            </a:r>
            <a:r>
              <a:rPr lang="en-US" sz="1000" dirty="0" err="1">
                <a:solidFill>
                  <a:srgbClr val="575756"/>
                </a:solidFill>
              </a:rPr>
              <a:t>vous</a:t>
            </a:r>
            <a:r>
              <a:rPr lang="en-US" sz="1000" dirty="0">
                <a:solidFill>
                  <a:srgbClr val="575756"/>
                </a:solidFill>
              </a:rPr>
              <a:t> </a:t>
            </a:r>
            <a:r>
              <a:rPr lang="en-US" sz="1000" dirty="0" err="1">
                <a:solidFill>
                  <a:srgbClr val="575756"/>
                </a:solidFill>
              </a:rPr>
              <a:t>offrons</a:t>
            </a:r>
            <a:r>
              <a:rPr lang="en-US" sz="1000" dirty="0">
                <a:solidFill>
                  <a:srgbClr val="575756"/>
                </a:solidFill>
              </a:rPr>
              <a:t> un service </a:t>
            </a:r>
            <a:r>
              <a:rPr lang="en-US" sz="1000" dirty="0" err="1">
                <a:solidFill>
                  <a:srgbClr val="575756"/>
                </a:solidFill>
              </a:rPr>
              <a:t>administratif</a:t>
            </a:r>
            <a:r>
              <a:rPr lang="en-US" sz="1000" dirty="0">
                <a:solidFill>
                  <a:srgbClr val="575756"/>
                </a:solidFill>
              </a:rPr>
              <a:t> </a:t>
            </a:r>
            <a:r>
              <a:rPr lang="en-US" sz="1000" dirty="0" err="1">
                <a:solidFill>
                  <a:srgbClr val="575756"/>
                </a:solidFill>
              </a:rPr>
              <a:t>complet</a:t>
            </a:r>
            <a:r>
              <a:rPr lang="en-US" sz="1000" dirty="0">
                <a:solidFill>
                  <a:srgbClr val="575756"/>
                </a:solidFill>
              </a:rPr>
              <a:t> qui </a:t>
            </a:r>
            <a:r>
              <a:rPr lang="en-US" sz="1000" dirty="0" err="1">
                <a:solidFill>
                  <a:srgbClr val="575756"/>
                </a:solidFill>
              </a:rPr>
              <a:t>comprend</a:t>
            </a:r>
            <a:r>
              <a:rPr lang="en-US" sz="1000" dirty="0">
                <a:solidFill>
                  <a:srgbClr val="575756"/>
                </a:solidFill>
              </a:rPr>
              <a:t> :</a:t>
            </a:r>
          </a:p>
          <a:p>
            <a:pPr marL="171450" indent="-171450" algn="just">
              <a:buFont typeface="Arial" panose="020B0604020202020204" pitchFamily="34" charset="0"/>
              <a:buChar char="•"/>
            </a:pPr>
            <a:r>
              <a:rPr lang="en-US" sz="1000" dirty="0">
                <a:solidFill>
                  <a:srgbClr val="575756"/>
                </a:solidFill>
              </a:rPr>
              <a:t>la </a:t>
            </a:r>
            <a:r>
              <a:rPr lang="en-US" sz="1000" dirty="0" err="1">
                <a:solidFill>
                  <a:srgbClr val="575756"/>
                </a:solidFill>
              </a:rPr>
              <a:t>prise</a:t>
            </a:r>
            <a:r>
              <a:rPr lang="en-US" sz="1000" dirty="0">
                <a:solidFill>
                  <a:srgbClr val="575756"/>
                </a:solidFill>
              </a:rPr>
              <a:t> </a:t>
            </a:r>
            <a:r>
              <a:rPr lang="en-US" sz="1000" dirty="0" err="1">
                <a:solidFill>
                  <a:srgbClr val="575756"/>
                </a:solidFill>
              </a:rPr>
              <a:t>en</a:t>
            </a:r>
            <a:r>
              <a:rPr lang="en-US" sz="1000" dirty="0">
                <a:solidFill>
                  <a:srgbClr val="575756"/>
                </a:solidFill>
              </a:rPr>
              <a:t> charge des </a:t>
            </a:r>
            <a:r>
              <a:rPr lang="en-US" sz="1000" dirty="0" err="1">
                <a:solidFill>
                  <a:srgbClr val="575756"/>
                </a:solidFill>
              </a:rPr>
              <a:t>formalités</a:t>
            </a:r>
            <a:r>
              <a:rPr lang="en-US" sz="1000" dirty="0">
                <a:solidFill>
                  <a:srgbClr val="575756"/>
                </a:solidFill>
              </a:rPr>
              <a:t> </a:t>
            </a:r>
            <a:r>
              <a:rPr lang="en-US" sz="1000" dirty="0" err="1">
                <a:solidFill>
                  <a:srgbClr val="575756"/>
                </a:solidFill>
              </a:rPr>
              <a:t>d'embauche</a:t>
            </a:r>
            <a:r>
              <a:rPr lang="en-US" sz="1000" dirty="0">
                <a:solidFill>
                  <a:srgbClr val="575756"/>
                </a:solidFill>
              </a:rPr>
              <a:t> ;</a:t>
            </a:r>
          </a:p>
          <a:p>
            <a:pPr marL="171450" indent="-171450" algn="just">
              <a:buFont typeface="Arial" panose="020B0604020202020204" pitchFamily="34" charset="0"/>
              <a:buChar char="•"/>
            </a:pPr>
            <a:r>
              <a:rPr lang="en-US" sz="1000" dirty="0" err="1">
                <a:solidFill>
                  <a:srgbClr val="575756"/>
                </a:solidFill>
              </a:rPr>
              <a:t>l'établissement</a:t>
            </a:r>
            <a:r>
              <a:rPr lang="en-US" sz="1000" dirty="0">
                <a:solidFill>
                  <a:srgbClr val="575756"/>
                </a:solidFill>
              </a:rPr>
              <a:t> des fiches de </a:t>
            </a:r>
            <a:r>
              <a:rPr lang="en-US" sz="1000" dirty="0" err="1">
                <a:solidFill>
                  <a:srgbClr val="575756"/>
                </a:solidFill>
              </a:rPr>
              <a:t>paie</a:t>
            </a:r>
            <a:r>
              <a:rPr lang="en-US" sz="1000" dirty="0">
                <a:solidFill>
                  <a:srgbClr val="575756"/>
                </a:solidFill>
              </a:rPr>
              <a:t> ;</a:t>
            </a:r>
          </a:p>
          <a:p>
            <a:pPr marL="171450" indent="-171450" algn="just">
              <a:buFont typeface="Arial" panose="020B0604020202020204" pitchFamily="34" charset="0"/>
              <a:buChar char="•"/>
            </a:pPr>
            <a:r>
              <a:rPr lang="en-US" sz="1000" dirty="0">
                <a:solidFill>
                  <a:srgbClr val="575756"/>
                </a:solidFill>
              </a:rPr>
              <a:t>la </a:t>
            </a:r>
            <a:r>
              <a:rPr lang="en-US" sz="1000" dirty="0" err="1">
                <a:solidFill>
                  <a:srgbClr val="575756"/>
                </a:solidFill>
              </a:rPr>
              <a:t>préparation</a:t>
            </a:r>
            <a:r>
              <a:rPr lang="en-US" sz="1000" dirty="0">
                <a:solidFill>
                  <a:srgbClr val="575756"/>
                </a:solidFill>
              </a:rPr>
              <a:t> des </a:t>
            </a:r>
            <a:r>
              <a:rPr lang="en-US" sz="1000" dirty="0" err="1">
                <a:solidFill>
                  <a:srgbClr val="575756"/>
                </a:solidFill>
              </a:rPr>
              <a:t>déclarations</a:t>
            </a:r>
            <a:r>
              <a:rPr lang="en-US" sz="1000" dirty="0">
                <a:solidFill>
                  <a:srgbClr val="575756"/>
                </a:solidFill>
              </a:rPr>
              <a:t> </a:t>
            </a:r>
            <a:r>
              <a:rPr lang="en-US" sz="1000" dirty="0" err="1">
                <a:solidFill>
                  <a:srgbClr val="575756"/>
                </a:solidFill>
              </a:rPr>
              <a:t>périodiques</a:t>
            </a:r>
            <a:r>
              <a:rPr lang="en-US" sz="1000" dirty="0">
                <a:solidFill>
                  <a:srgbClr val="575756"/>
                </a:solidFill>
              </a:rPr>
              <a:t> et </a:t>
            </a:r>
            <a:r>
              <a:rPr lang="en-US" sz="1000" dirty="0" err="1">
                <a:solidFill>
                  <a:srgbClr val="575756"/>
                </a:solidFill>
              </a:rPr>
              <a:t>annuelles</a:t>
            </a:r>
            <a:r>
              <a:rPr lang="en-US" sz="1000" dirty="0">
                <a:solidFill>
                  <a:srgbClr val="575756"/>
                </a:solidFill>
              </a:rPr>
              <a:t> de </a:t>
            </a:r>
            <a:r>
              <a:rPr lang="en-US" sz="1000" dirty="0" err="1">
                <a:solidFill>
                  <a:srgbClr val="575756"/>
                </a:solidFill>
              </a:rPr>
              <a:t>sécurité</a:t>
            </a:r>
            <a:r>
              <a:rPr lang="en-US" sz="1000" dirty="0">
                <a:solidFill>
                  <a:srgbClr val="575756"/>
                </a:solidFill>
              </a:rPr>
              <a:t> </a:t>
            </a:r>
            <a:r>
              <a:rPr lang="en-US" sz="1000" dirty="0" err="1">
                <a:solidFill>
                  <a:srgbClr val="575756"/>
                </a:solidFill>
              </a:rPr>
              <a:t>sociale</a:t>
            </a:r>
            <a:r>
              <a:rPr lang="en-US" sz="1000" dirty="0">
                <a:solidFill>
                  <a:srgbClr val="575756"/>
                </a:solidFill>
              </a:rPr>
              <a:t> par </a:t>
            </a:r>
            <a:r>
              <a:rPr lang="en-US" sz="1000" dirty="0" err="1">
                <a:solidFill>
                  <a:srgbClr val="575756"/>
                </a:solidFill>
              </a:rPr>
              <a:t>l'intermédiaire</a:t>
            </a:r>
            <a:r>
              <a:rPr lang="en-US" sz="1000" dirty="0">
                <a:solidFill>
                  <a:srgbClr val="575756"/>
                </a:solidFill>
              </a:rPr>
              <a:t> de la DSN ;</a:t>
            </a:r>
          </a:p>
          <a:p>
            <a:pPr marL="171450" indent="-171450" algn="just">
              <a:buFont typeface="Arial" panose="020B0604020202020204" pitchFamily="34" charset="0"/>
              <a:buChar char="•"/>
            </a:pPr>
            <a:r>
              <a:rPr lang="en-US" sz="1000" dirty="0">
                <a:solidFill>
                  <a:srgbClr val="575756"/>
                </a:solidFill>
              </a:rPr>
              <a:t>la </a:t>
            </a:r>
            <a:r>
              <a:rPr lang="en-US" sz="1000" dirty="0" err="1">
                <a:solidFill>
                  <a:srgbClr val="575756"/>
                </a:solidFill>
              </a:rPr>
              <a:t>retenue</a:t>
            </a:r>
            <a:r>
              <a:rPr lang="en-US" sz="1000" dirty="0">
                <a:solidFill>
                  <a:srgbClr val="575756"/>
                </a:solidFill>
              </a:rPr>
              <a:t> à la source sur </a:t>
            </a:r>
            <a:r>
              <a:rPr lang="en-US" sz="1000" dirty="0" err="1">
                <a:solidFill>
                  <a:srgbClr val="575756"/>
                </a:solidFill>
              </a:rPr>
              <a:t>l'impôt</a:t>
            </a:r>
            <a:r>
              <a:rPr lang="en-US" sz="1000" dirty="0">
                <a:solidFill>
                  <a:srgbClr val="575756"/>
                </a:solidFill>
              </a:rPr>
              <a:t> des </a:t>
            </a:r>
            <a:r>
              <a:rPr lang="en-US" sz="1000" dirty="0" err="1">
                <a:solidFill>
                  <a:srgbClr val="575756"/>
                </a:solidFill>
              </a:rPr>
              <a:t>personnes</a:t>
            </a:r>
            <a:r>
              <a:rPr lang="en-US" sz="1000" dirty="0">
                <a:solidFill>
                  <a:srgbClr val="575756"/>
                </a:solidFill>
              </a:rPr>
              <a:t> physiques ;</a:t>
            </a:r>
          </a:p>
          <a:p>
            <a:pPr marL="171450" indent="-171450" algn="just">
              <a:buFont typeface="Arial" panose="020B0604020202020204" pitchFamily="34" charset="0"/>
              <a:buChar char="•"/>
            </a:pPr>
            <a:r>
              <a:rPr lang="en-US" sz="1000" dirty="0" err="1">
                <a:solidFill>
                  <a:srgbClr val="575756"/>
                </a:solidFill>
              </a:rPr>
              <a:t>l'assistance</a:t>
            </a:r>
            <a:r>
              <a:rPr lang="en-US" sz="1000" dirty="0">
                <a:solidFill>
                  <a:srgbClr val="575756"/>
                </a:solidFill>
              </a:rPr>
              <a:t> aux </a:t>
            </a:r>
            <a:r>
              <a:rPr lang="en-US" sz="1000" dirty="0" err="1">
                <a:solidFill>
                  <a:srgbClr val="575756"/>
                </a:solidFill>
              </a:rPr>
              <a:t>organisations</a:t>
            </a:r>
            <a:r>
              <a:rPr lang="en-US" sz="1000" dirty="0">
                <a:solidFill>
                  <a:srgbClr val="575756"/>
                </a:solidFill>
              </a:rPr>
              <a:t> </a:t>
            </a:r>
            <a:r>
              <a:rPr lang="en-US" sz="1000" dirty="0" err="1">
                <a:solidFill>
                  <a:srgbClr val="575756"/>
                </a:solidFill>
              </a:rPr>
              <a:t>sociales</a:t>
            </a:r>
            <a:r>
              <a:rPr lang="en-US" sz="1000" dirty="0">
                <a:solidFill>
                  <a:srgbClr val="575756"/>
                </a:solidFill>
              </a:rPr>
              <a:t> (</a:t>
            </a:r>
            <a:r>
              <a:rPr lang="en-US" sz="1000" dirty="0" err="1">
                <a:solidFill>
                  <a:srgbClr val="575756"/>
                </a:solidFill>
              </a:rPr>
              <a:t>enregistrement</a:t>
            </a:r>
            <a:r>
              <a:rPr lang="en-US" sz="1000" dirty="0">
                <a:solidFill>
                  <a:srgbClr val="575756"/>
                </a:solidFill>
              </a:rPr>
              <a:t>, information et </a:t>
            </a:r>
            <a:r>
              <a:rPr lang="en-US" sz="1000" dirty="0" err="1">
                <a:solidFill>
                  <a:srgbClr val="575756"/>
                </a:solidFill>
              </a:rPr>
              <a:t>contrôles</a:t>
            </a:r>
            <a:r>
              <a:rPr lang="en-US" sz="1000" dirty="0">
                <a:solidFill>
                  <a:srgbClr val="575756"/>
                </a:solidFill>
              </a:rPr>
              <a:t>) ;</a:t>
            </a:r>
          </a:p>
          <a:p>
            <a:pPr marL="171450" indent="-171450" algn="just">
              <a:buFont typeface="Arial" panose="020B0604020202020204" pitchFamily="34" charset="0"/>
              <a:buChar char="•"/>
            </a:pPr>
            <a:r>
              <a:rPr lang="en-US" sz="1000" dirty="0">
                <a:solidFill>
                  <a:srgbClr val="575756"/>
                </a:solidFill>
              </a:rPr>
              <a:t>la mise à disposition de </a:t>
            </a:r>
            <a:r>
              <a:rPr lang="en-US" sz="1000" dirty="0" err="1">
                <a:solidFill>
                  <a:srgbClr val="575756"/>
                </a:solidFill>
              </a:rPr>
              <a:t>nos</a:t>
            </a:r>
            <a:r>
              <a:rPr lang="en-US" sz="1000" dirty="0">
                <a:solidFill>
                  <a:srgbClr val="575756"/>
                </a:solidFill>
              </a:rPr>
              <a:t> </a:t>
            </a:r>
            <a:r>
              <a:rPr lang="en-US" sz="1000" dirty="0" err="1">
                <a:solidFill>
                  <a:srgbClr val="575756"/>
                </a:solidFill>
              </a:rPr>
              <a:t>puissants</a:t>
            </a:r>
            <a:r>
              <a:rPr lang="en-US" sz="1000" dirty="0">
                <a:solidFill>
                  <a:srgbClr val="575756"/>
                </a:solidFill>
              </a:rPr>
              <a:t> </a:t>
            </a:r>
            <a:r>
              <a:rPr lang="en-US" sz="1000" dirty="0" err="1">
                <a:solidFill>
                  <a:srgbClr val="575756"/>
                </a:solidFill>
              </a:rPr>
              <a:t>outils</a:t>
            </a:r>
            <a:r>
              <a:rPr lang="en-US" sz="1000" dirty="0">
                <a:solidFill>
                  <a:srgbClr val="575756"/>
                </a:solidFill>
              </a:rPr>
              <a:t> pour </a:t>
            </a:r>
            <a:r>
              <a:rPr lang="en-US" sz="1000" dirty="0" err="1">
                <a:solidFill>
                  <a:srgbClr val="575756"/>
                </a:solidFill>
              </a:rPr>
              <a:t>vous</a:t>
            </a:r>
            <a:r>
              <a:rPr lang="en-US" sz="1000" dirty="0">
                <a:solidFill>
                  <a:srgbClr val="575756"/>
                </a:solidFill>
              </a:rPr>
              <a:t> aider à </a:t>
            </a:r>
            <a:r>
              <a:rPr lang="en-US" sz="1000" dirty="0" err="1">
                <a:solidFill>
                  <a:srgbClr val="575756"/>
                </a:solidFill>
              </a:rPr>
              <a:t>gérer</a:t>
            </a:r>
            <a:r>
              <a:rPr lang="en-US" sz="1000" dirty="0">
                <a:solidFill>
                  <a:srgbClr val="575756"/>
                </a:solidFill>
              </a:rPr>
              <a:t> et </a:t>
            </a:r>
            <a:r>
              <a:rPr lang="en-US" sz="1000" dirty="0" err="1">
                <a:solidFill>
                  <a:srgbClr val="575756"/>
                </a:solidFill>
              </a:rPr>
              <a:t>visualiser</a:t>
            </a:r>
            <a:r>
              <a:rPr lang="en-US" sz="1000" dirty="0">
                <a:solidFill>
                  <a:srgbClr val="575756"/>
                </a:solidFill>
              </a:rPr>
              <a:t> à distance </a:t>
            </a:r>
            <a:r>
              <a:rPr lang="en-US" sz="1000" dirty="0" err="1">
                <a:solidFill>
                  <a:srgbClr val="575756"/>
                </a:solidFill>
              </a:rPr>
              <a:t>votre</a:t>
            </a:r>
            <a:r>
              <a:rPr lang="en-US" sz="1000" dirty="0">
                <a:solidFill>
                  <a:srgbClr val="575756"/>
                </a:solidFill>
              </a:rPr>
              <a:t> situation </a:t>
            </a:r>
            <a:r>
              <a:rPr lang="en-US" sz="1000" dirty="0" err="1">
                <a:solidFill>
                  <a:srgbClr val="575756"/>
                </a:solidFill>
              </a:rPr>
              <a:t>personnelle</a:t>
            </a:r>
            <a:r>
              <a:rPr lang="en-US" sz="1000" dirty="0">
                <a:solidFill>
                  <a:srgbClr val="575756"/>
                </a:solidFill>
              </a:rPr>
              <a:t> </a:t>
            </a:r>
            <a:r>
              <a:rPr lang="en-US" sz="1000" dirty="0" err="1">
                <a:solidFill>
                  <a:srgbClr val="575756"/>
                </a:solidFill>
              </a:rPr>
              <a:t>en</a:t>
            </a:r>
            <a:r>
              <a:rPr lang="en-US" sz="1000" dirty="0">
                <a:solidFill>
                  <a:srgbClr val="575756"/>
                </a:solidFill>
              </a:rPr>
              <a:t> </a:t>
            </a:r>
            <a:r>
              <a:rPr lang="en-US" sz="1000" dirty="0" err="1">
                <a:solidFill>
                  <a:srgbClr val="575756"/>
                </a:solidFill>
              </a:rPr>
              <a:t>termes</a:t>
            </a:r>
            <a:r>
              <a:rPr lang="en-US" sz="1000" dirty="0">
                <a:solidFill>
                  <a:srgbClr val="575756"/>
                </a:solidFill>
              </a:rPr>
              <a:t> de </a:t>
            </a:r>
            <a:r>
              <a:rPr lang="en-US" sz="1000" dirty="0" err="1">
                <a:solidFill>
                  <a:srgbClr val="575756"/>
                </a:solidFill>
              </a:rPr>
              <a:t>ressources</a:t>
            </a:r>
            <a:r>
              <a:rPr lang="en-US" sz="1000" dirty="0">
                <a:solidFill>
                  <a:srgbClr val="575756"/>
                </a:solidFill>
              </a:rPr>
              <a:t> </a:t>
            </a:r>
            <a:r>
              <a:rPr lang="en-US" sz="1000" dirty="0" err="1">
                <a:solidFill>
                  <a:srgbClr val="575756"/>
                </a:solidFill>
              </a:rPr>
              <a:t>humaines</a:t>
            </a:r>
            <a:r>
              <a:rPr lang="en-US" sz="1000" dirty="0">
                <a:solidFill>
                  <a:srgbClr val="575756"/>
                </a:solidFill>
              </a:rPr>
              <a:t> (gestion des </a:t>
            </a:r>
            <a:r>
              <a:rPr lang="en-US" sz="1000" dirty="0" err="1">
                <a:solidFill>
                  <a:srgbClr val="575756"/>
                </a:solidFill>
              </a:rPr>
              <a:t>réclamations</a:t>
            </a:r>
            <a:r>
              <a:rPr lang="en-US" sz="1000" dirty="0">
                <a:solidFill>
                  <a:srgbClr val="575756"/>
                </a:solidFill>
              </a:rPr>
              <a:t> et acceptation des absences...), et </a:t>
            </a:r>
            <a:r>
              <a:rPr lang="en-US" sz="1000" dirty="0" err="1">
                <a:solidFill>
                  <a:srgbClr val="575756"/>
                </a:solidFill>
              </a:rPr>
              <a:t>construire</a:t>
            </a:r>
            <a:r>
              <a:rPr lang="en-US" sz="1000" dirty="0">
                <a:solidFill>
                  <a:srgbClr val="575756"/>
                </a:solidFill>
              </a:rPr>
              <a:t> </a:t>
            </a:r>
            <a:r>
              <a:rPr lang="en-US" sz="1000" dirty="0" err="1">
                <a:solidFill>
                  <a:srgbClr val="575756"/>
                </a:solidFill>
              </a:rPr>
              <a:t>vos</a:t>
            </a:r>
            <a:r>
              <a:rPr lang="en-US" sz="1000" dirty="0">
                <a:solidFill>
                  <a:srgbClr val="575756"/>
                </a:solidFill>
              </a:rPr>
              <a:t> </a:t>
            </a:r>
            <a:r>
              <a:rPr lang="en-US" sz="1000" dirty="0" err="1">
                <a:solidFill>
                  <a:srgbClr val="575756"/>
                </a:solidFill>
              </a:rPr>
              <a:t>indicateurs</a:t>
            </a:r>
            <a:r>
              <a:rPr lang="en-US" sz="1000" dirty="0">
                <a:solidFill>
                  <a:srgbClr val="575756"/>
                </a:solidFill>
              </a:rPr>
              <a:t> </a:t>
            </a:r>
            <a:r>
              <a:rPr lang="en-US" sz="1000" dirty="0" err="1">
                <a:solidFill>
                  <a:srgbClr val="575756"/>
                </a:solidFill>
              </a:rPr>
              <a:t>sociaux</a:t>
            </a:r>
            <a:r>
              <a:rPr lang="en-US" sz="1000" dirty="0">
                <a:solidFill>
                  <a:srgbClr val="575756"/>
                </a:solidFill>
              </a:rPr>
              <a:t> ;</a:t>
            </a:r>
          </a:p>
          <a:p>
            <a:pPr marL="171450" indent="-171450" algn="just">
              <a:buFont typeface="Arial" panose="020B0604020202020204" pitchFamily="34" charset="0"/>
              <a:buChar char="•"/>
            </a:pPr>
            <a:r>
              <a:rPr lang="en-US" sz="1000" dirty="0" err="1">
                <a:solidFill>
                  <a:srgbClr val="575756"/>
                </a:solidFill>
              </a:rPr>
              <a:t>notre</a:t>
            </a:r>
            <a:r>
              <a:rPr lang="en-US" sz="1000" dirty="0">
                <a:solidFill>
                  <a:srgbClr val="575756"/>
                </a:solidFill>
              </a:rPr>
              <a:t> </a:t>
            </a:r>
            <a:r>
              <a:rPr lang="en-US" sz="1000" dirty="0" err="1">
                <a:solidFill>
                  <a:srgbClr val="575756"/>
                </a:solidFill>
              </a:rPr>
              <a:t>offre</a:t>
            </a:r>
            <a:r>
              <a:rPr lang="en-US" sz="1000" dirty="0">
                <a:solidFill>
                  <a:srgbClr val="575756"/>
                </a:solidFill>
              </a:rPr>
              <a:t> pour la </a:t>
            </a:r>
            <a:r>
              <a:rPr lang="en-US" sz="1000" dirty="0" err="1">
                <a:solidFill>
                  <a:srgbClr val="575756"/>
                </a:solidFill>
              </a:rPr>
              <a:t>dématérialisation</a:t>
            </a:r>
            <a:r>
              <a:rPr lang="en-US" sz="1000" dirty="0">
                <a:solidFill>
                  <a:srgbClr val="575756"/>
                </a:solidFill>
              </a:rPr>
              <a:t> des fiches de </a:t>
            </a:r>
            <a:r>
              <a:rPr lang="en-US" sz="1000" dirty="0" err="1">
                <a:solidFill>
                  <a:srgbClr val="575756"/>
                </a:solidFill>
              </a:rPr>
              <a:t>paie</a:t>
            </a:r>
            <a:r>
              <a:rPr lang="en-US" sz="1000" dirty="0">
                <a:solidFill>
                  <a:srgbClr val="575756"/>
                </a:solidFill>
              </a:rPr>
              <a:t> et </a:t>
            </a:r>
            <a:r>
              <a:rPr lang="en-US" sz="1000" dirty="0" err="1">
                <a:solidFill>
                  <a:srgbClr val="575756"/>
                </a:solidFill>
              </a:rPr>
              <a:t>l'utilisation</a:t>
            </a:r>
            <a:r>
              <a:rPr lang="en-US" sz="1000" dirty="0">
                <a:solidFill>
                  <a:srgbClr val="575756"/>
                </a:solidFill>
              </a:rPr>
              <a:t> des </a:t>
            </a:r>
            <a:r>
              <a:rPr lang="en-US" sz="1000" dirty="0" err="1">
                <a:solidFill>
                  <a:srgbClr val="575756"/>
                </a:solidFill>
              </a:rPr>
              <a:t>coffres</a:t>
            </a:r>
            <a:r>
              <a:rPr lang="en-US" sz="1000" dirty="0">
                <a:solidFill>
                  <a:srgbClr val="575756"/>
                </a:solidFill>
              </a:rPr>
              <a:t>-forts </a:t>
            </a:r>
            <a:r>
              <a:rPr lang="en-US" sz="1000" dirty="0" err="1">
                <a:solidFill>
                  <a:srgbClr val="575756"/>
                </a:solidFill>
              </a:rPr>
              <a:t>numériques</a:t>
            </a:r>
            <a:r>
              <a:rPr lang="en-US" sz="1000" dirty="0">
                <a:solidFill>
                  <a:srgbClr val="575756"/>
                </a:solidFill>
              </a:rPr>
              <a:t>.</a:t>
            </a:r>
          </a:p>
          <a:p>
            <a:pPr marL="171450" indent="-171450" algn="just">
              <a:buFont typeface="Arial" panose="020B0604020202020204" pitchFamily="34" charset="0"/>
              <a:buChar char="•"/>
            </a:pPr>
            <a:endParaRPr lang="en-US" sz="1000" dirty="0">
              <a:solidFill>
                <a:srgbClr val="575756"/>
              </a:solidFill>
            </a:endParaRPr>
          </a:p>
          <a:p>
            <a:pPr marL="171450" indent="-171450" algn="just">
              <a:buFont typeface="Arial" panose="020B0604020202020204" pitchFamily="34" charset="0"/>
              <a:buChar char="•"/>
            </a:pPr>
            <a:endParaRPr lang="en-US" sz="1000" dirty="0">
              <a:solidFill>
                <a:srgbClr val="575756"/>
              </a:solidFill>
            </a:endParaRPr>
          </a:p>
          <a:p>
            <a:pPr algn="just"/>
            <a:r>
              <a:rPr lang="en-US" sz="1000" b="1" dirty="0">
                <a:solidFill>
                  <a:srgbClr val="575756"/>
                </a:solidFill>
              </a:rPr>
              <a:t>Conseils et assistance </a:t>
            </a:r>
            <a:r>
              <a:rPr lang="en-US" sz="1000" b="1" dirty="0" err="1">
                <a:solidFill>
                  <a:srgbClr val="575756"/>
                </a:solidFill>
              </a:rPr>
              <a:t>en</a:t>
            </a:r>
            <a:r>
              <a:rPr lang="en-US" sz="1000" b="1" dirty="0">
                <a:solidFill>
                  <a:srgbClr val="575756"/>
                </a:solidFill>
              </a:rPr>
              <a:t> matière de </a:t>
            </a:r>
            <a:r>
              <a:rPr lang="en-US" sz="1000" b="1" dirty="0" err="1">
                <a:solidFill>
                  <a:srgbClr val="575756"/>
                </a:solidFill>
              </a:rPr>
              <a:t>ressources</a:t>
            </a:r>
            <a:r>
              <a:rPr lang="en-US" sz="1000" b="1" dirty="0">
                <a:solidFill>
                  <a:srgbClr val="575756"/>
                </a:solidFill>
              </a:rPr>
              <a:t> </a:t>
            </a:r>
            <a:r>
              <a:rPr lang="en-US" sz="1000" b="1" dirty="0" err="1">
                <a:solidFill>
                  <a:srgbClr val="575756"/>
                </a:solidFill>
              </a:rPr>
              <a:t>humaines</a:t>
            </a:r>
            <a:endParaRPr lang="en-US" sz="1000" b="1" dirty="0">
              <a:solidFill>
                <a:srgbClr val="575756"/>
              </a:solidFill>
            </a:endParaRPr>
          </a:p>
          <a:p>
            <a:pPr algn="just"/>
            <a:endParaRPr lang="en-US" sz="1000" dirty="0">
              <a:solidFill>
                <a:srgbClr val="575756"/>
              </a:solidFill>
            </a:endParaRPr>
          </a:p>
          <a:p>
            <a:pPr algn="just"/>
            <a:r>
              <a:rPr lang="en-US" sz="1000" dirty="0">
                <a:solidFill>
                  <a:srgbClr val="575756"/>
                </a:solidFill>
              </a:rPr>
              <a:t>Nous </a:t>
            </a:r>
            <a:r>
              <a:rPr lang="en-US" sz="1000" dirty="0" err="1">
                <a:solidFill>
                  <a:srgbClr val="575756"/>
                </a:solidFill>
              </a:rPr>
              <a:t>vous</a:t>
            </a:r>
            <a:r>
              <a:rPr lang="en-US" sz="1000" dirty="0">
                <a:solidFill>
                  <a:srgbClr val="575756"/>
                </a:solidFill>
              </a:rPr>
              <a:t> </a:t>
            </a:r>
            <a:r>
              <a:rPr lang="en-US" sz="1000" dirty="0" err="1">
                <a:solidFill>
                  <a:srgbClr val="575756"/>
                </a:solidFill>
              </a:rPr>
              <a:t>apportons</a:t>
            </a:r>
            <a:r>
              <a:rPr lang="en-US" sz="1000" dirty="0">
                <a:solidFill>
                  <a:srgbClr val="575756"/>
                </a:solidFill>
              </a:rPr>
              <a:t> </a:t>
            </a:r>
            <a:r>
              <a:rPr lang="en-US" sz="1000" dirty="0" err="1">
                <a:solidFill>
                  <a:srgbClr val="575756"/>
                </a:solidFill>
              </a:rPr>
              <a:t>notre</a:t>
            </a:r>
            <a:r>
              <a:rPr lang="en-US" sz="1000" dirty="0">
                <a:solidFill>
                  <a:srgbClr val="575756"/>
                </a:solidFill>
              </a:rPr>
              <a:t> expertise </a:t>
            </a:r>
            <a:r>
              <a:rPr lang="en-US" sz="1000" dirty="0" err="1">
                <a:solidFill>
                  <a:srgbClr val="575756"/>
                </a:solidFill>
              </a:rPr>
              <a:t>en</a:t>
            </a:r>
            <a:r>
              <a:rPr lang="en-US" sz="1000" dirty="0">
                <a:solidFill>
                  <a:srgbClr val="575756"/>
                </a:solidFill>
              </a:rPr>
              <a:t> matière de :</a:t>
            </a:r>
          </a:p>
          <a:p>
            <a:pPr marL="171450" indent="-171450" algn="just">
              <a:buFont typeface="Arial" panose="020B0604020202020204" pitchFamily="34" charset="0"/>
              <a:buChar char="•"/>
            </a:pPr>
            <a:r>
              <a:rPr lang="en-US" sz="1000" dirty="0">
                <a:solidFill>
                  <a:srgbClr val="575756"/>
                </a:solidFill>
              </a:rPr>
              <a:t>gestion, </a:t>
            </a:r>
            <a:r>
              <a:rPr lang="en-US" sz="1000" dirty="0" err="1">
                <a:solidFill>
                  <a:srgbClr val="575756"/>
                </a:solidFill>
              </a:rPr>
              <a:t>renforcement</a:t>
            </a:r>
            <a:r>
              <a:rPr lang="en-US" sz="1000" dirty="0">
                <a:solidFill>
                  <a:srgbClr val="575756"/>
                </a:solidFill>
              </a:rPr>
              <a:t> </a:t>
            </a:r>
            <a:r>
              <a:rPr lang="en-US" sz="1000" dirty="0" err="1">
                <a:solidFill>
                  <a:srgbClr val="575756"/>
                </a:solidFill>
              </a:rPr>
              <a:t>ou</a:t>
            </a:r>
            <a:r>
              <a:rPr lang="en-US" sz="1000" dirty="0">
                <a:solidFill>
                  <a:srgbClr val="575756"/>
                </a:solidFill>
              </a:rPr>
              <a:t> </a:t>
            </a:r>
            <a:r>
              <a:rPr lang="en-US" sz="1000" dirty="0" err="1">
                <a:solidFill>
                  <a:srgbClr val="575756"/>
                </a:solidFill>
              </a:rPr>
              <a:t>remplacement</a:t>
            </a:r>
            <a:r>
              <a:rPr lang="en-US" sz="1000" dirty="0">
                <a:solidFill>
                  <a:srgbClr val="575756"/>
                </a:solidFill>
              </a:rPr>
              <a:t> de </a:t>
            </a:r>
            <a:r>
              <a:rPr lang="en-US" sz="1000" dirty="0" err="1">
                <a:solidFill>
                  <a:srgbClr val="575756"/>
                </a:solidFill>
              </a:rPr>
              <a:t>gestionnaires</a:t>
            </a:r>
            <a:r>
              <a:rPr lang="en-US" sz="1000" dirty="0">
                <a:solidFill>
                  <a:srgbClr val="575756"/>
                </a:solidFill>
              </a:rPr>
              <a:t> de </a:t>
            </a:r>
            <a:r>
              <a:rPr lang="en-US" sz="1000" dirty="0" err="1">
                <a:solidFill>
                  <a:srgbClr val="575756"/>
                </a:solidFill>
              </a:rPr>
              <a:t>paie</a:t>
            </a:r>
            <a:r>
              <a:rPr lang="en-US" sz="1000" dirty="0">
                <a:solidFill>
                  <a:srgbClr val="575756"/>
                </a:solidFill>
              </a:rPr>
              <a:t> ;</a:t>
            </a:r>
          </a:p>
          <a:p>
            <a:pPr marL="171450" indent="-171450" algn="just">
              <a:buFont typeface="Arial" panose="020B0604020202020204" pitchFamily="34" charset="0"/>
              <a:buChar char="•"/>
            </a:pPr>
            <a:r>
              <a:rPr lang="en-US" sz="1000" dirty="0">
                <a:solidFill>
                  <a:srgbClr val="575756"/>
                </a:solidFill>
              </a:rPr>
              <a:t>formation aux techniques </a:t>
            </a:r>
            <a:r>
              <a:rPr lang="en-US" sz="1000" dirty="0" err="1">
                <a:solidFill>
                  <a:srgbClr val="575756"/>
                </a:solidFill>
              </a:rPr>
              <a:t>ou</a:t>
            </a:r>
            <a:r>
              <a:rPr lang="en-US" sz="1000" dirty="0">
                <a:solidFill>
                  <a:srgbClr val="575756"/>
                </a:solidFill>
              </a:rPr>
              <a:t> aux </a:t>
            </a:r>
            <a:r>
              <a:rPr lang="en-US" sz="1000" dirty="0" err="1">
                <a:solidFill>
                  <a:srgbClr val="575756"/>
                </a:solidFill>
              </a:rPr>
              <a:t>logiciels</a:t>
            </a:r>
            <a:r>
              <a:rPr lang="en-US" sz="1000" dirty="0">
                <a:solidFill>
                  <a:srgbClr val="575756"/>
                </a:solidFill>
              </a:rPr>
              <a:t> de </a:t>
            </a:r>
            <a:r>
              <a:rPr lang="en-US" sz="1000" dirty="0" err="1">
                <a:solidFill>
                  <a:srgbClr val="575756"/>
                </a:solidFill>
              </a:rPr>
              <a:t>paie</a:t>
            </a:r>
            <a:r>
              <a:rPr lang="en-US" sz="1000" dirty="0">
                <a:solidFill>
                  <a:srgbClr val="575756"/>
                </a:solidFill>
              </a:rPr>
              <a:t> ;</a:t>
            </a:r>
          </a:p>
          <a:p>
            <a:pPr marL="171450" indent="-171450" algn="just">
              <a:buFont typeface="Arial" panose="020B0604020202020204" pitchFamily="34" charset="0"/>
              <a:buChar char="•"/>
            </a:pPr>
            <a:r>
              <a:rPr lang="en-US" sz="1000" dirty="0">
                <a:solidFill>
                  <a:srgbClr val="575756"/>
                </a:solidFill>
              </a:rPr>
              <a:t>audit de la </a:t>
            </a:r>
            <a:r>
              <a:rPr lang="en-US" sz="1000" dirty="0" err="1">
                <a:solidFill>
                  <a:srgbClr val="575756"/>
                </a:solidFill>
              </a:rPr>
              <a:t>paie</a:t>
            </a:r>
            <a:r>
              <a:rPr lang="en-US" sz="1000" dirty="0">
                <a:solidFill>
                  <a:srgbClr val="575756"/>
                </a:solidFill>
              </a:rPr>
              <a:t> et de son service ;</a:t>
            </a:r>
          </a:p>
          <a:p>
            <a:pPr marL="171450" indent="-171450" algn="just">
              <a:buFont typeface="Arial" panose="020B0604020202020204" pitchFamily="34" charset="0"/>
              <a:buChar char="•"/>
            </a:pPr>
            <a:r>
              <a:rPr lang="en-US" sz="1000" dirty="0">
                <a:solidFill>
                  <a:srgbClr val="575756"/>
                </a:solidFill>
              </a:rPr>
              <a:t>assistance à </a:t>
            </a:r>
            <a:r>
              <a:rPr lang="en-US" sz="1000" dirty="0" err="1">
                <a:solidFill>
                  <a:srgbClr val="575756"/>
                </a:solidFill>
              </a:rPr>
              <a:t>l'élaboration</a:t>
            </a:r>
            <a:r>
              <a:rPr lang="en-US" sz="1000" dirty="0">
                <a:solidFill>
                  <a:srgbClr val="575756"/>
                </a:solidFill>
              </a:rPr>
              <a:t> de </a:t>
            </a:r>
            <a:r>
              <a:rPr lang="en-US" sz="1000" dirty="0" err="1">
                <a:solidFill>
                  <a:srgbClr val="575756"/>
                </a:solidFill>
              </a:rPr>
              <a:t>l'audit</a:t>
            </a:r>
            <a:r>
              <a:rPr lang="en-US" sz="1000" dirty="0">
                <a:solidFill>
                  <a:srgbClr val="575756"/>
                </a:solidFill>
              </a:rPr>
              <a:t> social.</a:t>
            </a:r>
          </a:p>
          <a:p>
            <a:pPr algn="just"/>
            <a:endParaRPr lang="en-US" sz="1000" dirty="0">
              <a:solidFill>
                <a:srgbClr val="575756"/>
              </a:solidFill>
            </a:endParaRPr>
          </a:p>
        </p:txBody>
      </p:sp>
      <p:pic>
        <p:nvPicPr>
          <p:cNvPr id="20" name="Graphique 19" descr="Pièces de puzzle">
            <a:extLst>
              <a:ext uri="{FF2B5EF4-FFF2-40B4-BE49-F238E27FC236}">
                <a16:creationId xmlns:a16="http://schemas.microsoft.com/office/drawing/2014/main" id="{2CB3A4C9-A9B4-4693-953C-DA72D50C1B4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64152" y="682204"/>
            <a:ext cx="745232" cy="745232"/>
          </a:xfrm>
          <a:prstGeom prst="rect">
            <a:avLst/>
          </a:prstGeom>
        </p:spPr>
      </p:pic>
    </p:spTree>
    <p:extLst>
      <p:ext uri="{BB962C8B-B14F-4D97-AF65-F5344CB8AC3E}">
        <p14:creationId xmlns:p14="http://schemas.microsoft.com/office/powerpoint/2010/main" val="18711723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p:cNvSpPr/>
          <p:nvPr/>
        </p:nvSpPr>
        <p:spPr>
          <a:xfrm>
            <a:off x="45243" y="0"/>
            <a:ext cx="2599587" cy="6858001"/>
          </a:xfrm>
          <a:prstGeom prst="rect">
            <a:avLst/>
          </a:prstGeom>
          <a:solidFill>
            <a:srgbClr val="1C1F25"/>
          </a:solidFill>
          <a:ln w="12700">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00" name="Marketing…"/>
          <p:cNvSpPr txBox="1"/>
          <p:nvPr/>
        </p:nvSpPr>
        <p:spPr>
          <a:xfrm>
            <a:off x="3219587" y="1177830"/>
            <a:ext cx="3928485" cy="203132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Pour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offrir</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un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soutien</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rPr>
              <a:t>personnalisé</a:t>
            </a:r>
            <a:endPar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endParaRPr>
          </a:p>
          <a:p>
            <a:endParaRPr lang="en-US" sz="1000" dirty="0">
              <a:solidFill>
                <a:srgbClr val="575756"/>
              </a:solidFill>
            </a:endParaRPr>
          </a:p>
          <a:p>
            <a:r>
              <a:rPr lang="en-US" sz="1000" dirty="0">
                <a:solidFill>
                  <a:srgbClr val="575756"/>
                </a:solidFill>
              </a:rPr>
              <a:t>Nous </a:t>
            </a:r>
            <a:r>
              <a:rPr lang="en-US" sz="1000" dirty="0" err="1">
                <a:solidFill>
                  <a:srgbClr val="575756"/>
                </a:solidFill>
              </a:rPr>
              <a:t>vous</a:t>
            </a:r>
            <a:r>
              <a:rPr lang="en-US" sz="1000" dirty="0">
                <a:solidFill>
                  <a:srgbClr val="575756"/>
                </a:solidFill>
              </a:rPr>
              <a:t> </a:t>
            </a:r>
            <a:r>
              <a:rPr lang="en-US" sz="1000" dirty="0" err="1">
                <a:solidFill>
                  <a:srgbClr val="575756"/>
                </a:solidFill>
              </a:rPr>
              <a:t>accompagnons</a:t>
            </a:r>
            <a:r>
              <a:rPr lang="en-US" sz="1000" dirty="0">
                <a:solidFill>
                  <a:srgbClr val="575756"/>
                </a:solidFill>
              </a:rPr>
              <a:t> dans la </a:t>
            </a:r>
            <a:r>
              <a:rPr lang="en-US" sz="1000" dirty="0" err="1">
                <a:solidFill>
                  <a:srgbClr val="575756"/>
                </a:solidFill>
              </a:rPr>
              <a:t>réalisation</a:t>
            </a:r>
            <a:r>
              <a:rPr lang="en-US" sz="1000" dirty="0">
                <a:solidFill>
                  <a:srgbClr val="575756"/>
                </a:solidFill>
              </a:rPr>
              <a:t> de </a:t>
            </a:r>
            <a:r>
              <a:rPr lang="en-US" sz="1000" dirty="0" err="1">
                <a:solidFill>
                  <a:srgbClr val="575756"/>
                </a:solidFill>
              </a:rPr>
              <a:t>vos</a:t>
            </a:r>
            <a:r>
              <a:rPr lang="en-US" sz="1000" dirty="0">
                <a:solidFill>
                  <a:srgbClr val="575756"/>
                </a:solidFill>
              </a:rPr>
              <a:t> </a:t>
            </a:r>
            <a:r>
              <a:rPr lang="en-US" sz="1000" dirty="0" err="1">
                <a:solidFill>
                  <a:srgbClr val="575756"/>
                </a:solidFill>
              </a:rPr>
              <a:t>projets</a:t>
            </a:r>
            <a:r>
              <a:rPr lang="en-US" sz="1000" dirty="0">
                <a:solidFill>
                  <a:srgbClr val="575756"/>
                </a:solidFill>
              </a:rPr>
              <a:t> </a:t>
            </a:r>
            <a:r>
              <a:rPr lang="en-US" sz="1000" dirty="0" err="1">
                <a:solidFill>
                  <a:srgbClr val="575756"/>
                </a:solidFill>
              </a:rPr>
              <a:t>selon</a:t>
            </a:r>
            <a:r>
              <a:rPr lang="en-US" sz="1000" dirty="0">
                <a:solidFill>
                  <a:srgbClr val="575756"/>
                </a:solidFill>
              </a:rPr>
              <a:t> </a:t>
            </a:r>
            <a:r>
              <a:rPr lang="en-US" sz="1000" dirty="0" err="1">
                <a:solidFill>
                  <a:srgbClr val="575756"/>
                </a:solidFill>
              </a:rPr>
              <a:t>vos</a:t>
            </a:r>
            <a:r>
              <a:rPr lang="en-US" sz="1000" dirty="0">
                <a:solidFill>
                  <a:srgbClr val="575756"/>
                </a:solidFill>
              </a:rPr>
              <a:t> </a:t>
            </a:r>
            <a:r>
              <a:rPr lang="en-US" sz="1000" dirty="0" err="1">
                <a:solidFill>
                  <a:srgbClr val="575756"/>
                </a:solidFill>
              </a:rPr>
              <a:t>besoins</a:t>
            </a:r>
            <a:r>
              <a:rPr lang="en-US" sz="1000" dirty="0">
                <a:solidFill>
                  <a:srgbClr val="575756"/>
                </a:solidFill>
              </a:rPr>
              <a:t> grâce à :</a:t>
            </a:r>
          </a:p>
          <a:p>
            <a:pPr marL="171450" indent="-171450">
              <a:buFont typeface="Arial" panose="020B0604020202020204" pitchFamily="34" charset="0"/>
              <a:buChar char="•"/>
            </a:pPr>
            <a:r>
              <a:rPr lang="en-US" sz="1000" dirty="0">
                <a:solidFill>
                  <a:srgbClr val="575756"/>
                </a:solidFill>
              </a:rPr>
              <a:t>des </a:t>
            </a:r>
            <a:r>
              <a:rPr lang="en-US" sz="1000" dirty="0" err="1">
                <a:solidFill>
                  <a:srgbClr val="575756"/>
                </a:solidFill>
              </a:rPr>
              <a:t>conseils</a:t>
            </a:r>
            <a:r>
              <a:rPr lang="en-US" sz="1000" dirty="0">
                <a:solidFill>
                  <a:srgbClr val="575756"/>
                </a:solidFill>
              </a:rPr>
              <a:t> </a:t>
            </a:r>
            <a:r>
              <a:rPr lang="en-US" sz="1000" dirty="0" err="1">
                <a:solidFill>
                  <a:srgbClr val="575756"/>
                </a:solidFill>
              </a:rPr>
              <a:t>personnalisés</a:t>
            </a:r>
            <a:r>
              <a:rPr lang="en-US" sz="1000" dirty="0">
                <a:solidFill>
                  <a:srgbClr val="575756"/>
                </a:solidFill>
              </a:rPr>
              <a:t> et </a:t>
            </a:r>
            <a:r>
              <a:rPr lang="en-US" sz="1000" dirty="0" err="1">
                <a:solidFill>
                  <a:srgbClr val="575756"/>
                </a:solidFill>
              </a:rPr>
              <a:t>adaptés</a:t>
            </a:r>
            <a:r>
              <a:rPr lang="en-US" sz="1000" dirty="0">
                <a:solidFill>
                  <a:srgbClr val="575756"/>
                </a:solidFill>
              </a:rPr>
              <a:t> à </a:t>
            </a:r>
            <a:r>
              <a:rPr lang="en-US" sz="1000" dirty="0" err="1">
                <a:solidFill>
                  <a:srgbClr val="575756"/>
                </a:solidFill>
              </a:rPr>
              <a:t>vos</a:t>
            </a:r>
            <a:r>
              <a:rPr lang="en-US" sz="1000" dirty="0">
                <a:solidFill>
                  <a:srgbClr val="575756"/>
                </a:solidFill>
              </a:rPr>
              <a:t> </a:t>
            </a:r>
            <a:r>
              <a:rPr lang="en-US" sz="1000" dirty="0" err="1">
                <a:solidFill>
                  <a:srgbClr val="575756"/>
                </a:solidFill>
              </a:rPr>
              <a:t>enjeux</a:t>
            </a:r>
            <a:r>
              <a:rPr lang="en-US" sz="1000" dirty="0">
                <a:solidFill>
                  <a:srgbClr val="575756"/>
                </a:solidFill>
              </a:rPr>
              <a:t> ;</a:t>
            </a:r>
          </a:p>
          <a:p>
            <a:pPr marL="171450" indent="-171450">
              <a:buFont typeface="Arial" panose="020B0604020202020204" pitchFamily="34" charset="0"/>
              <a:buChar char="•"/>
            </a:pPr>
            <a:r>
              <a:rPr lang="en-US" sz="1000" dirty="0" err="1">
                <a:solidFill>
                  <a:srgbClr val="575756"/>
                </a:solidFill>
              </a:rPr>
              <a:t>une</a:t>
            </a:r>
            <a:r>
              <a:rPr lang="en-US" sz="1000" dirty="0">
                <a:solidFill>
                  <a:srgbClr val="575756"/>
                </a:solidFill>
              </a:rPr>
              <a:t> </a:t>
            </a:r>
            <a:r>
              <a:rPr lang="en-US" sz="1000" dirty="0" err="1">
                <a:solidFill>
                  <a:srgbClr val="575756"/>
                </a:solidFill>
              </a:rPr>
              <a:t>confidentialité</a:t>
            </a:r>
            <a:r>
              <a:rPr lang="en-US" sz="1000" dirty="0">
                <a:solidFill>
                  <a:srgbClr val="575756"/>
                </a:solidFill>
              </a:rPr>
              <a:t> </a:t>
            </a:r>
            <a:r>
              <a:rPr lang="en-US" sz="1000" dirty="0" err="1">
                <a:solidFill>
                  <a:srgbClr val="575756"/>
                </a:solidFill>
              </a:rPr>
              <a:t>absolue</a:t>
            </a:r>
            <a:r>
              <a:rPr lang="en-US" sz="1000" dirty="0">
                <a:solidFill>
                  <a:srgbClr val="575756"/>
                </a:solidFill>
              </a:rPr>
              <a:t> ;</a:t>
            </a:r>
          </a:p>
          <a:p>
            <a:pPr marL="171450" indent="-171450">
              <a:buFont typeface="Arial" panose="020B0604020202020204" pitchFamily="34" charset="0"/>
              <a:buChar char="•"/>
            </a:pPr>
            <a:r>
              <a:rPr lang="en-US" sz="1000" dirty="0">
                <a:solidFill>
                  <a:srgbClr val="575756"/>
                </a:solidFill>
              </a:rPr>
              <a:t>le respect du capital </a:t>
            </a:r>
            <a:r>
              <a:rPr lang="en-US" sz="1000" dirty="0" err="1">
                <a:solidFill>
                  <a:srgbClr val="575756"/>
                </a:solidFill>
              </a:rPr>
              <a:t>humain</a:t>
            </a:r>
            <a:r>
              <a:rPr lang="en-US" sz="1000" dirty="0">
                <a:solidFill>
                  <a:srgbClr val="575756"/>
                </a:solidFill>
              </a:rPr>
              <a:t>.</a:t>
            </a:r>
          </a:p>
          <a:p>
            <a:pPr algn="just"/>
            <a:r>
              <a:rPr lang="en-US" sz="1000" dirty="0" err="1">
                <a:solidFill>
                  <a:srgbClr val="575756"/>
                </a:solidFill>
              </a:rPr>
              <a:t>En</a:t>
            </a:r>
            <a:r>
              <a:rPr lang="en-US" sz="1000" dirty="0">
                <a:solidFill>
                  <a:srgbClr val="575756"/>
                </a:solidFill>
              </a:rPr>
              <a:t> </a:t>
            </a:r>
            <a:r>
              <a:rPr lang="en-US" sz="1000" dirty="0" err="1">
                <a:solidFill>
                  <a:srgbClr val="575756"/>
                </a:solidFill>
              </a:rPr>
              <a:t>proposant</a:t>
            </a:r>
            <a:r>
              <a:rPr lang="en-US" sz="1000" dirty="0">
                <a:solidFill>
                  <a:srgbClr val="575756"/>
                </a:solidFill>
              </a:rPr>
              <a:t> un </a:t>
            </a:r>
            <a:r>
              <a:rPr lang="en-US" sz="1000" dirty="0" err="1">
                <a:solidFill>
                  <a:srgbClr val="575756"/>
                </a:solidFill>
              </a:rPr>
              <a:t>accompagnement</a:t>
            </a:r>
            <a:r>
              <a:rPr lang="en-US" sz="1000" dirty="0">
                <a:solidFill>
                  <a:srgbClr val="575756"/>
                </a:solidFill>
              </a:rPr>
              <a:t> </a:t>
            </a:r>
            <a:r>
              <a:rPr lang="en-US" sz="1000" dirty="0" err="1">
                <a:solidFill>
                  <a:srgbClr val="575756"/>
                </a:solidFill>
              </a:rPr>
              <a:t>personnalisé</a:t>
            </a:r>
            <a:r>
              <a:rPr lang="en-US" sz="1000" dirty="0">
                <a:solidFill>
                  <a:srgbClr val="575756"/>
                </a:solidFill>
              </a:rPr>
              <a:t> qui </a:t>
            </a:r>
            <a:r>
              <a:rPr lang="en-US" sz="1000" dirty="0" err="1">
                <a:solidFill>
                  <a:srgbClr val="575756"/>
                </a:solidFill>
              </a:rPr>
              <a:t>privilégie</a:t>
            </a:r>
            <a:r>
              <a:rPr lang="en-US" sz="1000" dirty="0">
                <a:solidFill>
                  <a:srgbClr val="575756"/>
                </a:solidFill>
              </a:rPr>
              <a:t> </a:t>
            </a:r>
            <a:r>
              <a:rPr lang="en-US" sz="1000" dirty="0" err="1">
                <a:solidFill>
                  <a:srgbClr val="575756"/>
                </a:solidFill>
              </a:rPr>
              <a:t>l’humain</a:t>
            </a:r>
            <a:r>
              <a:rPr lang="en-US" sz="1000" dirty="0">
                <a:solidFill>
                  <a:srgbClr val="575756"/>
                </a:solidFill>
              </a:rPr>
              <a:t>, nous </a:t>
            </a:r>
            <a:r>
              <a:rPr lang="en-US" sz="1000" dirty="0" err="1">
                <a:solidFill>
                  <a:srgbClr val="575756"/>
                </a:solidFill>
              </a:rPr>
              <a:t>sommes</a:t>
            </a:r>
            <a:r>
              <a:rPr lang="en-US" sz="1000" dirty="0">
                <a:solidFill>
                  <a:srgbClr val="575756"/>
                </a:solidFill>
              </a:rPr>
              <a:t> un </a:t>
            </a:r>
            <a:r>
              <a:rPr lang="en-US" sz="1000" dirty="0" err="1">
                <a:solidFill>
                  <a:srgbClr val="575756"/>
                </a:solidFill>
              </a:rPr>
              <a:t>partenaire</a:t>
            </a:r>
            <a:r>
              <a:rPr lang="en-US" sz="1000" dirty="0">
                <a:solidFill>
                  <a:srgbClr val="575756"/>
                </a:solidFill>
              </a:rPr>
              <a:t> de </a:t>
            </a:r>
            <a:r>
              <a:rPr lang="en-US" sz="1000" dirty="0" err="1">
                <a:solidFill>
                  <a:srgbClr val="575756"/>
                </a:solidFill>
              </a:rPr>
              <a:t>confiance</a:t>
            </a:r>
            <a:r>
              <a:rPr lang="en-US" sz="1000" dirty="0">
                <a:solidFill>
                  <a:srgbClr val="575756"/>
                </a:solidFill>
              </a:rPr>
              <a:t> pour les </a:t>
            </a:r>
            <a:r>
              <a:rPr lang="en-US" sz="1000" dirty="0" err="1">
                <a:solidFill>
                  <a:srgbClr val="575756"/>
                </a:solidFill>
              </a:rPr>
              <a:t>actionnaires</a:t>
            </a:r>
            <a:r>
              <a:rPr lang="en-US" sz="1000" dirty="0">
                <a:solidFill>
                  <a:srgbClr val="575756"/>
                </a:solidFill>
              </a:rPr>
              <a:t> dans la </a:t>
            </a:r>
            <a:r>
              <a:rPr lang="en-US" sz="1000" dirty="0" err="1">
                <a:solidFill>
                  <a:srgbClr val="575756"/>
                </a:solidFill>
              </a:rPr>
              <a:t>défense</a:t>
            </a:r>
            <a:r>
              <a:rPr lang="en-US" sz="1000" dirty="0">
                <a:solidFill>
                  <a:srgbClr val="575756"/>
                </a:solidFill>
              </a:rPr>
              <a:t> de </a:t>
            </a:r>
            <a:r>
              <a:rPr lang="en-US" sz="1000" dirty="0" err="1">
                <a:solidFill>
                  <a:srgbClr val="575756"/>
                </a:solidFill>
              </a:rPr>
              <a:t>leurs</a:t>
            </a:r>
            <a:r>
              <a:rPr lang="en-US" sz="1000" dirty="0">
                <a:solidFill>
                  <a:srgbClr val="575756"/>
                </a:solidFill>
              </a:rPr>
              <a:t> </a:t>
            </a:r>
            <a:r>
              <a:rPr lang="en-US" sz="1000" dirty="0" err="1">
                <a:solidFill>
                  <a:srgbClr val="575756"/>
                </a:solidFill>
              </a:rPr>
              <a:t>intérêts</a:t>
            </a:r>
            <a:r>
              <a:rPr lang="en-US" sz="1000" dirty="0">
                <a:solidFill>
                  <a:srgbClr val="575756"/>
                </a:solidFill>
              </a:rPr>
              <a:t> et de </a:t>
            </a:r>
            <a:r>
              <a:rPr lang="en-US" sz="1000" dirty="0" err="1">
                <a:solidFill>
                  <a:srgbClr val="575756"/>
                </a:solidFill>
              </a:rPr>
              <a:t>ceux</a:t>
            </a:r>
            <a:r>
              <a:rPr lang="en-US" sz="1000" dirty="0">
                <a:solidFill>
                  <a:srgbClr val="575756"/>
                </a:solidFill>
              </a:rPr>
              <a:t> </a:t>
            </a:r>
            <a:r>
              <a:rPr lang="en-US" sz="1000" dirty="0" err="1">
                <a:solidFill>
                  <a:srgbClr val="575756"/>
                </a:solidFill>
              </a:rPr>
              <a:t>leurs</a:t>
            </a:r>
            <a:r>
              <a:rPr lang="en-US" sz="1000" dirty="0">
                <a:solidFill>
                  <a:srgbClr val="575756"/>
                </a:solidFill>
              </a:rPr>
              <a:t> </a:t>
            </a:r>
            <a:r>
              <a:rPr lang="en-US" sz="1000" dirty="0" err="1">
                <a:solidFill>
                  <a:srgbClr val="575756"/>
                </a:solidFill>
              </a:rPr>
              <a:t>sociétés</a:t>
            </a:r>
            <a:r>
              <a:rPr lang="en-US" sz="1000" dirty="0">
                <a:solidFill>
                  <a:srgbClr val="575756"/>
                </a:solidFill>
              </a:rPr>
              <a:t>.</a:t>
            </a:r>
          </a:p>
          <a:p>
            <a:pPr algn="just"/>
            <a:endParaRPr lang="fr-FR" dirty="0"/>
          </a:p>
        </p:txBody>
      </p:sp>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pic>
        <p:nvPicPr>
          <p:cNvPr id="57" name="Image 56" descr="Une image contenant objet, corde, portant, regardant  Description générée automatiquement">
            <a:extLst>
              <a:ext uri="{FF2B5EF4-FFF2-40B4-BE49-F238E27FC236}">
                <a16:creationId xmlns:a16="http://schemas.microsoft.com/office/drawing/2014/main" id="{F4EAE2F9-C6CC-454F-B0C7-43B2859039E6}"/>
              </a:ext>
            </a:extLst>
          </p:cNvPr>
          <p:cNvPicPr>
            <a:picLocks noChangeAspect="1"/>
          </p:cNvPicPr>
          <p:nvPr/>
        </p:nvPicPr>
        <p:blipFill rotWithShape="1">
          <a:blip r:embed="rId2">
            <a:extLst>
              <a:ext uri="{28A0092B-C50C-407E-A947-70E740481C1C}">
                <a14:useLocalDpi xmlns:a14="http://schemas.microsoft.com/office/drawing/2010/main" val="0"/>
              </a:ext>
            </a:extLst>
          </a:blip>
          <a:srcRect l="25949" r="52508"/>
          <a:stretch/>
        </p:blipFill>
        <p:spPr>
          <a:xfrm>
            <a:off x="-140638" y="-2"/>
            <a:ext cx="2779926" cy="6858002"/>
          </a:xfrm>
          <a:prstGeom prst="rect">
            <a:avLst/>
          </a:prstGeom>
        </p:spPr>
      </p:pic>
      <p:pic>
        <p:nvPicPr>
          <p:cNvPr id="67" name="Image 66">
            <a:extLst>
              <a:ext uri="{FF2B5EF4-FFF2-40B4-BE49-F238E27FC236}">
                <a16:creationId xmlns:a16="http://schemas.microsoft.com/office/drawing/2014/main" id="{5F1AA49E-CDFF-4E2B-9CE2-9497D8505FCB}"/>
              </a:ext>
            </a:extLst>
          </p:cNvPr>
          <p:cNvPicPr>
            <a:picLocks noChangeAspect="1"/>
          </p:cNvPicPr>
          <p:nvPr/>
        </p:nvPicPr>
        <p:blipFill>
          <a:blip r:embed="rId3"/>
          <a:stretch>
            <a:fillRect/>
          </a:stretch>
        </p:blipFill>
        <p:spPr>
          <a:xfrm>
            <a:off x="10987330" y="145639"/>
            <a:ext cx="1040915" cy="388870"/>
          </a:xfrm>
          <a:prstGeom prst="rect">
            <a:avLst/>
          </a:prstGeom>
        </p:spPr>
      </p:pic>
      <p:sp>
        <p:nvSpPr>
          <p:cNvPr id="72" name="Marketing…">
            <a:extLst>
              <a:ext uri="{FF2B5EF4-FFF2-40B4-BE49-F238E27FC236}">
                <a16:creationId xmlns:a16="http://schemas.microsoft.com/office/drawing/2014/main" id="{3C7A34A8-4D07-42D3-A1CA-47835A4414CE}"/>
              </a:ext>
            </a:extLst>
          </p:cNvPr>
          <p:cNvSpPr txBox="1"/>
          <p:nvPr/>
        </p:nvSpPr>
        <p:spPr>
          <a:xfrm>
            <a:off x="3219586" y="4149080"/>
            <a:ext cx="3928485" cy="160043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dirty="0">
                <a:solidFill>
                  <a:srgbClr val="0D5257"/>
                </a:solidFill>
                <a:latin typeface="Tahoma" panose="020B0604030504040204" pitchFamily="34" charset="0"/>
                <a:ea typeface="Tahoma" panose="020B0604030504040204" pitchFamily="34" charset="0"/>
                <a:cs typeface="Tahoma" panose="020B0604030504040204" pitchFamily="34" charset="0"/>
              </a:rPr>
              <a:t>Connaissances et expertise</a:t>
            </a:r>
          </a:p>
          <a:p>
            <a:endParaRPr lang="en-US" sz="1000" dirty="0">
              <a:solidFill>
                <a:srgbClr val="575756"/>
              </a:solidFill>
            </a:endParaRPr>
          </a:p>
          <a:p>
            <a:r>
              <a:rPr lang="en-US" sz="1000" dirty="0">
                <a:solidFill>
                  <a:srgbClr val="575756"/>
                </a:solidFill>
              </a:rPr>
              <a:t>Nous </a:t>
            </a:r>
            <a:r>
              <a:rPr lang="en-US" sz="1000" dirty="0" err="1">
                <a:solidFill>
                  <a:srgbClr val="575756"/>
                </a:solidFill>
              </a:rPr>
              <a:t>sommes</a:t>
            </a:r>
            <a:r>
              <a:rPr lang="en-US" sz="1000" dirty="0">
                <a:solidFill>
                  <a:srgbClr val="575756"/>
                </a:solidFill>
              </a:rPr>
              <a:t> un cabinet à </a:t>
            </a:r>
            <a:r>
              <a:rPr lang="en-US" sz="1000" dirty="0" err="1">
                <a:solidFill>
                  <a:srgbClr val="575756"/>
                </a:solidFill>
              </a:rPr>
              <a:t>taille</a:t>
            </a:r>
            <a:r>
              <a:rPr lang="en-US" sz="1000" dirty="0">
                <a:solidFill>
                  <a:srgbClr val="575756"/>
                </a:solidFill>
              </a:rPr>
              <a:t> </a:t>
            </a:r>
            <a:r>
              <a:rPr lang="en-US" sz="1000" dirty="0" err="1">
                <a:solidFill>
                  <a:srgbClr val="575756"/>
                </a:solidFill>
              </a:rPr>
              <a:t>humaine</a:t>
            </a:r>
            <a:r>
              <a:rPr lang="en-US" sz="1000" dirty="0">
                <a:solidFill>
                  <a:srgbClr val="575756"/>
                </a:solidFill>
              </a:rPr>
              <a:t> au sein d’un </a:t>
            </a:r>
            <a:r>
              <a:rPr lang="en-US" sz="1000" dirty="0" err="1">
                <a:solidFill>
                  <a:srgbClr val="575756"/>
                </a:solidFill>
              </a:rPr>
              <a:t>réseau</a:t>
            </a:r>
            <a:r>
              <a:rPr lang="en-US" sz="1000" dirty="0">
                <a:solidFill>
                  <a:srgbClr val="575756"/>
                </a:solidFill>
              </a:rPr>
              <a:t> international, nous </a:t>
            </a:r>
            <a:r>
              <a:rPr lang="en-US" sz="1000" dirty="0" err="1">
                <a:solidFill>
                  <a:srgbClr val="575756"/>
                </a:solidFill>
              </a:rPr>
              <a:t>bénéficions</a:t>
            </a:r>
            <a:r>
              <a:rPr lang="en-US" sz="1000" dirty="0">
                <a:solidFill>
                  <a:srgbClr val="575756"/>
                </a:solidFill>
              </a:rPr>
              <a:t> </a:t>
            </a:r>
            <a:r>
              <a:rPr lang="en-US" sz="1000" dirty="0" err="1">
                <a:solidFill>
                  <a:srgbClr val="575756"/>
                </a:solidFill>
              </a:rPr>
              <a:t>d’expérience</a:t>
            </a:r>
            <a:r>
              <a:rPr lang="en-US" sz="1000" dirty="0">
                <a:solidFill>
                  <a:srgbClr val="575756"/>
                </a:solidFill>
              </a:rPr>
              <a:t> forte avec plus de 150 </a:t>
            </a:r>
            <a:r>
              <a:rPr lang="en-US" sz="1000" dirty="0" err="1">
                <a:solidFill>
                  <a:srgbClr val="575756"/>
                </a:solidFill>
              </a:rPr>
              <a:t>opérations</a:t>
            </a:r>
            <a:r>
              <a:rPr lang="en-US" sz="1000" dirty="0">
                <a:solidFill>
                  <a:srgbClr val="575756"/>
                </a:solidFill>
              </a:rPr>
              <a:t> </a:t>
            </a:r>
            <a:r>
              <a:rPr lang="en-US" sz="1000" dirty="0" err="1">
                <a:solidFill>
                  <a:srgbClr val="575756"/>
                </a:solidFill>
              </a:rPr>
              <a:t>réalisées</a:t>
            </a:r>
            <a:r>
              <a:rPr lang="en-US" sz="1000" dirty="0">
                <a:solidFill>
                  <a:srgbClr val="575756"/>
                </a:solidFill>
              </a:rPr>
              <a:t>, nous </a:t>
            </a:r>
            <a:r>
              <a:rPr lang="en-US" sz="1000" dirty="0" err="1">
                <a:solidFill>
                  <a:srgbClr val="575756"/>
                </a:solidFill>
              </a:rPr>
              <a:t>entretenons</a:t>
            </a:r>
            <a:r>
              <a:rPr lang="en-US" sz="1000" dirty="0">
                <a:solidFill>
                  <a:srgbClr val="575756"/>
                </a:solidFill>
              </a:rPr>
              <a:t> </a:t>
            </a:r>
            <a:r>
              <a:rPr lang="en-US" sz="1000" dirty="0" err="1">
                <a:solidFill>
                  <a:srgbClr val="575756"/>
                </a:solidFill>
              </a:rPr>
              <a:t>une</a:t>
            </a:r>
            <a:r>
              <a:rPr lang="en-US" sz="1000" dirty="0">
                <a:solidFill>
                  <a:srgbClr val="575756"/>
                </a:solidFill>
              </a:rPr>
              <a:t> relation </a:t>
            </a:r>
            <a:r>
              <a:rPr lang="en-US" sz="1000" dirty="0" err="1">
                <a:solidFill>
                  <a:srgbClr val="575756"/>
                </a:solidFill>
              </a:rPr>
              <a:t>privilégiée</a:t>
            </a:r>
            <a:r>
              <a:rPr lang="en-US" sz="1000" dirty="0">
                <a:solidFill>
                  <a:srgbClr val="575756"/>
                </a:solidFill>
              </a:rPr>
              <a:t> avec les </a:t>
            </a:r>
            <a:r>
              <a:rPr lang="en-US" sz="1000" dirty="0" err="1">
                <a:solidFill>
                  <a:srgbClr val="575756"/>
                </a:solidFill>
              </a:rPr>
              <a:t>dirigeants</a:t>
            </a:r>
            <a:r>
              <a:rPr lang="en-US" sz="1000" dirty="0">
                <a:solidFill>
                  <a:srgbClr val="575756"/>
                </a:solidFill>
              </a:rPr>
              <a:t> et les </a:t>
            </a:r>
            <a:r>
              <a:rPr lang="en-US" sz="1000" dirty="0" err="1">
                <a:solidFill>
                  <a:srgbClr val="575756"/>
                </a:solidFill>
              </a:rPr>
              <a:t>actionnaires</a:t>
            </a:r>
            <a:r>
              <a:rPr lang="en-US" sz="1000" dirty="0">
                <a:solidFill>
                  <a:srgbClr val="575756"/>
                </a:solidFill>
              </a:rPr>
              <a:t>, nous </a:t>
            </a:r>
            <a:r>
              <a:rPr lang="en-US" sz="1000" dirty="0" err="1">
                <a:solidFill>
                  <a:srgbClr val="575756"/>
                </a:solidFill>
              </a:rPr>
              <a:t>avons</a:t>
            </a:r>
            <a:r>
              <a:rPr lang="en-US" sz="1000" dirty="0">
                <a:solidFill>
                  <a:srgbClr val="575756"/>
                </a:solidFill>
              </a:rPr>
              <a:t> </a:t>
            </a:r>
            <a:r>
              <a:rPr lang="en-US" sz="1000" dirty="0" err="1">
                <a:solidFill>
                  <a:srgbClr val="575756"/>
                </a:solidFill>
              </a:rPr>
              <a:t>une</a:t>
            </a:r>
            <a:r>
              <a:rPr lang="en-US" sz="1000" dirty="0">
                <a:solidFill>
                  <a:srgbClr val="575756"/>
                </a:solidFill>
              </a:rPr>
              <a:t> </a:t>
            </a:r>
            <a:r>
              <a:rPr lang="en-US" sz="1000" dirty="0" err="1">
                <a:solidFill>
                  <a:srgbClr val="575756"/>
                </a:solidFill>
              </a:rPr>
              <a:t>connaissance</a:t>
            </a:r>
            <a:r>
              <a:rPr lang="en-US" sz="1000" dirty="0">
                <a:solidFill>
                  <a:srgbClr val="575756"/>
                </a:solidFill>
              </a:rPr>
              <a:t> </a:t>
            </a:r>
            <a:r>
              <a:rPr lang="en-US" sz="1000" dirty="0" err="1">
                <a:solidFill>
                  <a:srgbClr val="575756"/>
                </a:solidFill>
              </a:rPr>
              <a:t>multisectorielle</a:t>
            </a:r>
            <a:r>
              <a:rPr lang="en-US" sz="1000" dirty="0">
                <a:solidFill>
                  <a:srgbClr val="575756"/>
                </a:solidFill>
              </a:rPr>
              <a:t> : </a:t>
            </a:r>
          </a:p>
          <a:p>
            <a:r>
              <a:rPr lang="en-US" sz="1000" dirty="0">
                <a:solidFill>
                  <a:srgbClr val="575756"/>
                </a:solidFill>
              </a:rPr>
              <a:t>IT, services, </a:t>
            </a:r>
            <a:r>
              <a:rPr lang="en-US" sz="1000" dirty="0" err="1">
                <a:solidFill>
                  <a:srgbClr val="575756"/>
                </a:solidFill>
              </a:rPr>
              <a:t>industrie</a:t>
            </a:r>
            <a:r>
              <a:rPr lang="en-US" sz="1000" dirty="0">
                <a:solidFill>
                  <a:srgbClr val="575756"/>
                </a:solidFill>
              </a:rPr>
              <a:t>, </a:t>
            </a:r>
            <a:r>
              <a:rPr lang="en-US" sz="1000" dirty="0" err="1">
                <a:solidFill>
                  <a:srgbClr val="575756"/>
                </a:solidFill>
              </a:rPr>
              <a:t>agroalimentaire</a:t>
            </a:r>
            <a:r>
              <a:rPr lang="en-US" sz="1000" dirty="0">
                <a:solidFill>
                  <a:srgbClr val="575756"/>
                </a:solidFill>
              </a:rPr>
              <a:t>, BTP…</a:t>
            </a:r>
          </a:p>
          <a:p>
            <a:r>
              <a:rPr lang="en-US" sz="1000" dirty="0">
                <a:solidFill>
                  <a:srgbClr val="575756"/>
                </a:solidFill>
              </a:rPr>
              <a:t>La </a:t>
            </a:r>
            <a:r>
              <a:rPr lang="en-US" sz="1000" dirty="0" err="1">
                <a:solidFill>
                  <a:srgbClr val="575756"/>
                </a:solidFill>
              </a:rPr>
              <a:t>qualité</a:t>
            </a:r>
            <a:r>
              <a:rPr lang="en-US" sz="1000" dirty="0">
                <a:solidFill>
                  <a:srgbClr val="575756"/>
                </a:solidFill>
              </a:rPr>
              <a:t> de </a:t>
            </a:r>
            <a:r>
              <a:rPr lang="en-US" sz="1000" dirty="0" err="1">
                <a:solidFill>
                  <a:srgbClr val="575756"/>
                </a:solidFill>
              </a:rPr>
              <a:t>nos</a:t>
            </a:r>
            <a:r>
              <a:rPr lang="en-US" sz="1000" dirty="0">
                <a:solidFill>
                  <a:srgbClr val="575756"/>
                </a:solidFill>
              </a:rPr>
              <a:t> </a:t>
            </a:r>
            <a:r>
              <a:rPr lang="en-US" sz="1000" dirty="0" err="1">
                <a:solidFill>
                  <a:srgbClr val="575756"/>
                </a:solidFill>
              </a:rPr>
              <a:t>livrables</a:t>
            </a:r>
            <a:r>
              <a:rPr lang="en-US" sz="1000" dirty="0">
                <a:solidFill>
                  <a:srgbClr val="575756"/>
                </a:solidFill>
              </a:rPr>
              <a:t> </a:t>
            </a:r>
            <a:r>
              <a:rPr lang="en-US" sz="1000" dirty="0" err="1">
                <a:solidFill>
                  <a:srgbClr val="575756"/>
                </a:solidFill>
              </a:rPr>
              <a:t>est</a:t>
            </a:r>
            <a:r>
              <a:rPr lang="en-US" sz="1000" dirty="0">
                <a:solidFill>
                  <a:srgbClr val="575756"/>
                </a:solidFill>
              </a:rPr>
              <a:t> </a:t>
            </a:r>
            <a:r>
              <a:rPr lang="en-US" sz="1000" dirty="0" err="1">
                <a:solidFill>
                  <a:srgbClr val="575756"/>
                </a:solidFill>
              </a:rPr>
              <a:t>reconnue</a:t>
            </a:r>
            <a:r>
              <a:rPr lang="en-US" sz="1000" dirty="0">
                <a:solidFill>
                  <a:srgbClr val="575756"/>
                </a:solidFill>
              </a:rPr>
              <a:t> </a:t>
            </a:r>
            <a:r>
              <a:rPr lang="en-US" sz="1000" dirty="0" err="1">
                <a:solidFill>
                  <a:srgbClr val="575756"/>
                </a:solidFill>
              </a:rPr>
              <a:t>en</a:t>
            </a:r>
            <a:r>
              <a:rPr lang="en-US" sz="1000" dirty="0">
                <a:solidFill>
                  <a:srgbClr val="575756"/>
                </a:solidFill>
              </a:rPr>
              <a:t> France </a:t>
            </a:r>
            <a:r>
              <a:rPr lang="en-US" sz="1000" dirty="0" err="1">
                <a:solidFill>
                  <a:srgbClr val="575756"/>
                </a:solidFill>
              </a:rPr>
              <a:t>comme</a:t>
            </a:r>
            <a:r>
              <a:rPr lang="en-US" sz="1000" dirty="0">
                <a:solidFill>
                  <a:srgbClr val="575756"/>
                </a:solidFill>
              </a:rPr>
              <a:t> à </a:t>
            </a:r>
            <a:r>
              <a:rPr lang="en-US" sz="1000" dirty="0" err="1">
                <a:solidFill>
                  <a:srgbClr val="575756"/>
                </a:solidFill>
              </a:rPr>
              <a:t>l’international</a:t>
            </a:r>
            <a:r>
              <a:rPr lang="en-US" sz="1000" dirty="0">
                <a:solidFill>
                  <a:srgbClr val="575756"/>
                </a:solidFill>
              </a:rPr>
              <a:t>.</a:t>
            </a:r>
          </a:p>
        </p:txBody>
      </p:sp>
      <p:sp>
        <p:nvSpPr>
          <p:cNvPr id="79" name="Marketing…">
            <a:extLst>
              <a:ext uri="{FF2B5EF4-FFF2-40B4-BE49-F238E27FC236}">
                <a16:creationId xmlns:a16="http://schemas.microsoft.com/office/drawing/2014/main" id="{D90ABCE5-1408-454B-B245-44906C756238}"/>
              </a:ext>
            </a:extLst>
          </p:cNvPr>
          <p:cNvSpPr txBox="1"/>
          <p:nvPr/>
        </p:nvSpPr>
        <p:spPr>
          <a:xfrm>
            <a:off x="7549207" y="908720"/>
            <a:ext cx="4325988" cy="620169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fr-FR" sz="1400" b="1" kern="0" spc="-5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Une gamme de services pour répondre à vos besoins</a:t>
            </a:r>
            <a:endParaRPr sz="800" kern="0" spc="-5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spcBef>
                <a:spcPts val="600"/>
              </a:spcBef>
              <a:defRPr sz="2200" b="0">
                <a:solidFill>
                  <a:srgbClr val="6A6E77"/>
                </a:solidFill>
                <a:latin typeface="Quicksand Regular"/>
                <a:ea typeface="Quicksand Regular"/>
                <a:cs typeface="Quicksand Regular"/>
                <a:sym typeface="Quicksand Regular"/>
              </a:defRPr>
            </a:pPr>
            <a:r>
              <a:rPr lang="en-US" sz="1000" spc="-50" dirty="0">
                <a:solidFill>
                  <a:srgbClr val="575756"/>
                </a:solidFill>
                <a:latin typeface="+mj-lt"/>
                <a:sym typeface="Quicksand Regular"/>
              </a:rPr>
              <a:t>Nous </a:t>
            </a:r>
            <a:r>
              <a:rPr lang="en-US" sz="1000" spc="-50" dirty="0" err="1">
                <a:solidFill>
                  <a:srgbClr val="575756"/>
                </a:solidFill>
                <a:latin typeface="+mj-lt"/>
                <a:sym typeface="Quicksand Regular"/>
              </a:rPr>
              <a:t>apportons</a:t>
            </a:r>
            <a:r>
              <a:rPr lang="en-US" sz="1000" spc="-50" dirty="0">
                <a:solidFill>
                  <a:srgbClr val="575756"/>
                </a:solidFill>
                <a:latin typeface="+mj-lt"/>
                <a:sym typeface="Quicksand Regular"/>
              </a:rPr>
              <a:t> à </a:t>
            </a:r>
            <a:r>
              <a:rPr lang="en-US" sz="1000" spc="-50" dirty="0" err="1">
                <a:solidFill>
                  <a:srgbClr val="575756"/>
                </a:solidFill>
                <a:latin typeface="+mj-lt"/>
                <a:sym typeface="Quicksand Regular"/>
              </a:rPr>
              <a:t>chacun</a:t>
            </a:r>
            <a:r>
              <a:rPr lang="en-US" sz="1000" spc="-50" dirty="0">
                <a:solidFill>
                  <a:srgbClr val="575756"/>
                </a:solidFill>
                <a:latin typeface="+mj-lt"/>
                <a:sym typeface="Quicksand Regular"/>
              </a:rPr>
              <a:t> de </a:t>
            </a:r>
            <a:r>
              <a:rPr lang="en-US" sz="1000" spc="-50" dirty="0" err="1">
                <a:solidFill>
                  <a:srgbClr val="575756"/>
                </a:solidFill>
                <a:latin typeface="+mj-lt"/>
                <a:sym typeface="Quicksand Regular"/>
              </a:rPr>
              <a:t>vos</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besoins</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une</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réponse</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adaptée</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qu'il</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s'agisse</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d'une</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évaluation</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ou</a:t>
            </a:r>
            <a:r>
              <a:rPr lang="en-US" sz="1000" spc="-50" dirty="0">
                <a:solidFill>
                  <a:srgbClr val="575756"/>
                </a:solidFill>
                <a:latin typeface="+mj-lt"/>
                <a:sym typeface="Quicksand Regular"/>
              </a:rPr>
              <a:t> d'un </a:t>
            </a:r>
            <a:r>
              <a:rPr lang="en-US" sz="1000" spc="-50" dirty="0" err="1">
                <a:solidFill>
                  <a:srgbClr val="575756"/>
                </a:solidFill>
                <a:latin typeface="+mj-lt"/>
                <a:sym typeface="Quicksand Regular"/>
              </a:rPr>
              <a:t>projet</a:t>
            </a:r>
            <a:r>
              <a:rPr lang="en-US" sz="1000" spc="-50" dirty="0">
                <a:solidFill>
                  <a:srgbClr val="575756"/>
                </a:solidFill>
                <a:latin typeface="+mj-lt"/>
                <a:sym typeface="Quicksand Regular"/>
              </a:rPr>
              <a:t> de cession, </a:t>
            </a:r>
            <a:r>
              <a:rPr lang="en-US" sz="1000" spc="-50" dirty="0" err="1">
                <a:solidFill>
                  <a:srgbClr val="575756"/>
                </a:solidFill>
                <a:latin typeface="+mj-lt"/>
                <a:sym typeface="Quicksand Regular"/>
              </a:rPr>
              <a:t>d'acquisition</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d'accompagnement</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ou</a:t>
            </a:r>
            <a:r>
              <a:rPr lang="en-US" sz="1000" spc="-50" dirty="0">
                <a:solidFill>
                  <a:srgbClr val="575756"/>
                </a:solidFill>
                <a:latin typeface="+mj-lt"/>
                <a:sym typeface="Quicksand Regular"/>
              </a:rPr>
              <a:t> </a:t>
            </a:r>
            <a:r>
              <a:rPr lang="en-US" sz="1000" spc="-50" dirty="0" err="1">
                <a:solidFill>
                  <a:srgbClr val="575756"/>
                </a:solidFill>
                <a:latin typeface="+mj-lt"/>
                <a:sym typeface="Quicksand Regular"/>
              </a:rPr>
              <a:t>d’ingénierie</a:t>
            </a:r>
            <a:r>
              <a:rPr lang="en-US" sz="1000" spc="-50" dirty="0">
                <a:solidFill>
                  <a:srgbClr val="575756"/>
                </a:solidFill>
                <a:latin typeface="+mj-lt"/>
                <a:sym typeface="Quicksand Regular"/>
              </a:rPr>
              <a:t>  financière :</a:t>
            </a:r>
          </a:p>
          <a:p>
            <a:pPr>
              <a:spcBef>
                <a:spcPts val="600"/>
              </a:spcBef>
              <a:defRPr sz="2200" b="0">
                <a:solidFill>
                  <a:srgbClr val="6A6E77"/>
                </a:solidFill>
                <a:latin typeface="Quicksand Regular"/>
                <a:ea typeface="Quicksand Regular"/>
                <a:cs typeface="Quicksand Regular"/>
                <a:sym typeface="Quicksand Regular"/>
              </a:defRPr>
            </a:pPr>
            <a:endParaRPr lang="en-US" sz="1000" spc="-50" dirty="0">
              <a:solidFill>
                <a:srgbClr val="575756"/>
              </a:solidFill>
              <a:latin typeface="+mj-lt"/>
            </a:endParaRPr>
          </a:p>
          <a:p>
            <a:pPr marL="171450" indent="-171450" algn="just" defTabSz="412750" hangingPunct="0">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b="1"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Évaluation</a:t>
            </a:r>
            <a:endParaRPr lang="en-US" sz="1000" b="1" kern="0" spc="-5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defRPr sz="2200" b="0">
                <a:solidFill>
                  <a:srgbClr val="6A6E77"/>
                </a:solidFill>
                <a:latin typeface="Quicksand Regular"/>
                <a:ea typeface="Quicksand Regular"/>
                <a:cs typeface="Quicksand Regular"/>
                <a:sym typeface="Quicksand Regular"/>
              </a:defRPr>
            </a:pP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Une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équipe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d’évaluateurs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d’entreprises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agréés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propose aux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actionnaires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une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évaluation</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de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marché</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tenant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compte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des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références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du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secteur</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et des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spécificités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 de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l'entreprise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sym typeface="Quicksand Regular"/>
              </a:rPr>
              <a:t>.</a:t>
            </a:r>
            <a:endPar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marL="171450" indent="-171450" algn="just" defTabSz="412750" hangingPunct="0">
              <a:spcBef>
                <a:spcPts val="600"/>
              </a:spcBef>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b="1" kern="0" spc="-50" dirty="0">
                <a:solidFill>
                  <a:srgbClr val="575756"/>
                </a:solidFill>
                <a:latin typeface="Tahoma" panose="020B0604030504040204" pitchFamily="34" charset="0"/>
                <a:ea typeface="Tahoma" panose="020B0604030504040204" pitchFamily="34" charset="0"/>
                <a:cs typeface="Tahoma" panose="020B0604030504040204" pitchFamily="34" charset="0"/>
              </a:rPr>
              <a:t>Cession</a:t>
            </a:r>
          </a:p>
          <a:p>
            <a:pPr algn="just" defTabSz="412750" hangingPunct="0">
              <a:defRPr sz="2200" b="0">
                <a:solidFill>
                  <a:srgbClr val="6A6E77"/>
                </a:solidFill>
                <a:latin typeface="Quicksand Regular"/>
                <a:ea typeface="Quicksand Regular"/>
                <a:cs typeface="Quicksand Regular"/>
                <a:sym typeface="Quicksand Regular"/>
              </a:defRPr>
            </a:pP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apportons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le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choix</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acquéreurs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pour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répondre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au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mieux</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attentes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p>
          <a:p>
            <a:pPr algn="just" defTabSz="412750" hangingPunct="0">
              <a:defRPr sz="2200" b="0">
                <a:solidFill>
                  <a:srgbClr val="6A6E77"/>
                </a:solidFill>
                <a:latin typeface="Quicksand Regular"/>
                <a:ea typeface="Quicksand Regular"/>
                <a:cs typeface="Quicksand Regular"/>
                <a:sym typeface="Quicksand Regular"/>
              </a:defRPr>
            </a:pP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trouvons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l'acheteur</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qui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convient</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et qui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garantit</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la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pérennité</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votre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société</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personne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physique, un concurrent direct, un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industriel</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un fond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d’investissement</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France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l’étranger</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defRPr sz="2200" b="0">
                <a:solidFill>
                  <a:srgbClr val="6A6E77"/>
                </a:solidFill>
                <a:latin typeface="Quicksand Regular"/>
                <a:ea typeface="Quicksand Regular"/>
                <a:cs typeface="Quicksand Regular"/>
                <a:sym typeface="Quicksand Regular"/>
              </a:defRPr>
            </a:pP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optimisons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la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valorisation</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et la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défense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intérêts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client.</a:t>
            </a:r>
          </a:p>
          <a:p>
            <a:pPr marL="171450" indent="-171450" algn="just" defTabSz="412750" hangingPunct="0">
              <a:spcBef>
                <a:spcPts val="600"/>
              </a:spcBef>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b="1" kern="0" spc="-50" dirty="0">
                <a:solidFill>
                  <a:srgbClr val="575756"/>
                </a:solidFill>
                <a:latin typeface="Tahoma" panose="020B0604030504040204" pitchFamily="34" charset="0"/>
                <a:ea typeface="Tahoma" panose="020B0604030504040204" pitchFamily="34" charset="0"/>
                <a:cs typeface="Tahoma" panose="020B0604030504040204" pitchFamily="34" charset="0"/>
              </a:rPr>
              <a:t>Acquisition</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sommes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spécialisés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dans le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repérage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l'approche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directe</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la qualification et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l'évaluation</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cibles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defRPr sz="2200" b="0">
                <a:solidFill>
                  <a:srgbClr val="6A6E77"/>
                </a:solidFill>
                <a:latin typeface="Quicksand Regular"/>
                <a:ea typeface="Quicksand Regular"/>
                <a:cs typeface="Quicksand Regular"/>
                <a:sym typeface="Quicksand Regular"/>
              </a:defRPr>
            </a:pP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disposons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de bases de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données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contenant</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projets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d'investissement</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milliers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dirigeants</a:t>
            </a:r>
            <a:r>
              <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marL="171450" indent="-171450" algn="just" defTabSz="412750" hangingPunct="0">
              <a:spcBef>
                <a:spcPts val="600"/>
              </a:spcBef>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b="1"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Soutien</a:t>
            </a:r>
            <a:endParaRPr lang="en-US" sz="1000" b="1" kern="0" spc="-50" dirty="0">
              <a:solidFill>
                <a:srgbClr val="575756"/>
              </a:solidFill>
              <a:latin typeface="Tahoma" panose="020B0604030504040204" pitchFamily="34" charset="0"/>
              <a:ea typeface="Tahoma" panose="020B0604030504040204" pitchFamily="34" charset="0"/>
              <a:cs typeface="Tahoma" panose="020B0604030504040204" pitchFamily="34" charset="0"/>
            </a:endParaRPr>
          </a:p>
          <a:p>
            <a:r>
              <a:rPr lang="en-US" sz="1000" spc="-50" dirty="0">
                <a:solidFill>
                  <a:srgbClr val="575756"/>
                </a:solidFill>
              </a:rPr>
              <a:t>Nous </a:t>
            </a:r>
            <a:r>
              <a:rPr lang="en-US" sz="1000" spc="-50" dirty="0" err="1">
                <a:solidFill>
                  <a:srgbClr val="575756"/>
                </a:solidFill>
              </a:rPr>
              <a:t>identifions</a:t>
            </a:r>
            <a:r>
              <a:rPr lang="en-US" sz="1000" spc="-50" dirty="0">
                <a:solidFill>
                  <a:srgbClr val="575756"/>
                </a:solidFill>
              </a:rPr>
              <a:t> pour </a:t>
            </a:r>
            <a:r>
              <a:rPr lang="en-US" sz="1000" spc="-50" dirty="0" err="1">
                <a:solidFill>
                  <a:srgbClr val="575756"/>
                </a:solidFill>
              </a:rPr>
              <a:t>vous</a:t>
            </a:r>
            <a:r>
              <a:rPr lang="en-US" sz="1000" spc="-50" dirty="0">
                <a:solidFill>
                  <a:srgbClr val="575756"/>
                </a:solidFill>
              </a:rPr>
              <a:t> les synergies </a:t>
            </a:r>
            <a:r>
              <a:rPr lang="en-US" sz="1000" spc="-50" dirty="0" err="1">
                <a:solidFill>
                  <a:srgbClr val="575756"/>
                </a:solidFill>
              </a:rPr>
              <a:t>commerciales</a:t>
            </a:r>
            <a:r>
              <a:rPr lang="en-US" sz="1000" spc="-50" dirty="0">
                <a:solidFill>
                  <a:srgbClr val="575756"/>
                </a:solidFill>
              </a:rPr>
              <a:t>, les clients et le </a:t>
            </a:r>
            <a:r>
              <a:rPr lang="en-US" sz="1000" spc="-50" dirty="0" err="1">
                <a:solidFill>
                  <a:srgbClr val="575756"/>
                </a:solidFill>
              </a:rPr>
              <a:t>potentiel</a:t>
            </a:r>
            <a:r>
              <a:rPr lang="en-US" sz="1000" spc="-50" dirty="0">
                <a:solidFill>
                  <a:srgbClr val="575756"/>
                </a:solidFill>
              </a:rPr>
              <a:t> </a:t>
            </a:r>
            <a:r>
              <a:rPr lang="en-US" sz="1000" spc="-50" dirty="0" err="1">
                <a:solidFill>
                  <a:srgbClr val="575756"/>
                </a:solidFill>
              </a:rPr>
              <a:t>d'intégration</a:t>
            </a:r>
            <a:r>
              <a:rPr lang="en-US" sz="1000" spc="-50" dirty="0">
                <a:solidFill>
                  <a:srgbClr val="575756"/>
                </a:solidFill>
              </a:rPr>
              <a:t>.</a:t>
            </a:r>
          </a:p>
          <a:p>
            <a:r>
              <a:rPr lang="en-US" sz="1000" spc="-50" dirty="0">
                <a:solidFill>
                  <a:srgbClr val="575756"/>
                </a:solidFill>
              </a:rPr>
              <a:t>Nous </a:t>
            </a:r>
            <a:r>
              <a:rPr lang="en-US" sz="1000" spc="-50" dirty="0" err="1">
                <a:solidFill>
                  <a:srgbClr val="575756"/>
                </a:solidFill>
              </a:rPr>
              <a:t>sélectionnons</a:t>
            </a:r>
            <a:r>
              <a:rPr lang="en-US" sz="1000" spc="-50" dirty="0">
                <a:solidFill>
                  <a:srgbClr val="575756"/>
                </a:solidFill>
              </a:rPr>
              <a:t> des </a:t>
            </a:r>
            <a:r>
              <a:rPr lang="en-US" sz="1000" spc="-50" dirty="0" err="1">
                <a:solidFill>
                  <a:srgbClr val="575756"/>
                </a:solidFill>
              </a:rPr>
              <a:t>partenaires</a:t>
            </a:r>
            <a:r>
              <a:rPr lang="en-US" sz="1000" spc="-50" dirty="0">
                <a:solidFill>
                  <a:srgbClr val="575756"/>
                </a:solidFill>
              </a:rPr>
              <a:t> </a:t>
            </a:r>
            <a:r>
              <a:rPr lang="en-US" sz="1000" spc="-50" dirty="0" err="1">
                <a:solidFill>
                  <a:srgbClr val="575756"/>
                </a:solidFill>
              </a:rPr>
              <a:t>industriels</a:t>
            </a:r>
            <a:r>
              <a:rPr lang="en-US" sz="1000" spc="-50" dirty="0">
                <a:solidFill>
                  <a:srgbClr val="575756"/>
                </a:solidFill>
              </a:rPr>
              <a:t> </a:t>
            </a:r>
            <a:r>
              <a:rPr lang="en-US" sz="1000" spc="-50" dirty="0" err="1">
                <a:solidFill>
                  <a:srgbClr val="575756"/>
                </a:solidFill>
              </a:rPr>
              <a:t>ciblés</a:t>
            </a:r>
            <a:r>
              <a:rPr lang="en-US" sz="1000" spc="-50" dirty="0">
                <a:solidFill>
                  <a:srgbClr val="575756"/>
                </a:solidFill>
              </a:rPr>
              <a:t> et </a:t>
            </a:r>
            <a:r>
              <a:rPr lang="en-US" sz="1000" spc="-50" dirty="0" err="1">
                <a:solidFill>
                  <a:srgbClr val="575756"/>
                </a:solidFill>
              </a:rPr>
              <a:t>négocions</a:t>
            </a:r>
            <a:r>
              <a:rPr lang="en-US" sz="1000" spc="-50" dirty="0">
                <a:solidFill>
                  <a:srgbClr val="575756"/>
                </a:solidFill>
              </a:rPr>
              <a:t> avec </a:t>
            </a:r>
            <a:r>
              <a:rPr lang="en-US" sz="1000" spc="-50" dirty="0" err="1">
                <a:solidFill>
                  <a:srgbClr val="575756"/>
                </a:solidFill>
              </a:rPr>
              <a:t>vous</a:t>
            </a:r>
            <a:r>
              <a:rPr lang="en-US" sz="1000" spc="-50" dirty="0">
                <a:solidFill>
                  <a:srgbClr val="575756"/>
                </a:solidFill>
              </a:rPr>
              <a:t> les conditions de </a:t>
            </a:r>
            <a:r>
              <a:rPr lang="en-US" sz="1000" spc="-50" dirty="0" err="1">
                <a:solidFill>
                  <a:srgbClr val="575756"/>
                </a:solidFill>
              </a:rPr>
              <a:t>l'adéquation</a:t>
            </a:r>
            <a:r>
              <a:rPr lang="en-US" sz="1000" spc="-50" dirty="0">
                <a:solidFill>
                  <a:srgbClr val="575756"/>
                </a:solidFill>
              </a:rPr>
              <a:t> des </a:t>
            </a:r>
            <a:r>
              <a:rPr lang="en-US" sz="1000" spc="-50" dirty="0" err="1">
                <a:solidFill>
                  <a:srgbClr val="575756"/>
                </a:solidFill>
              </a:rPr>
              <a:t>capitaux</a:t>
            </a:r>
            <a:r>
              <a:rPr lang="en-US" sz="1000" spc="-50" dirty="0">
                <a:solidFill>
                  <a:srgbClr val="575756"/>
                </a:solidFill>
              </a:rPr>
              <a:t>.</a:t>
            </a:r>
          </a:p>
          <a:p>
            <a:pPr marL="171450" indent="-171450" algn="just" defTabSz="412750" hangingPunct="0">
              <a:spcBef>
                <a:spcPts val="600"/>
              </a:spcBef>
              <a:buFont typeface="Arial" panose="020B0604020202020204" pitchFamily="34" charset="0"/>
              <a:buChar char="•"/>
              <a:defRPr sz="2200" b="0">
                <a:solidFill>
                  <a:srgbClr val="6A6E77"/>
                </a:solidFill>
                <a:latin typeface="Quicksand Regular"/>
                <a:ea typeface="Quicksand Regular"/>
                <a:cs typeface="Quicksand Regular"/>
                <a:sym typeface="Quicksand Regular"/>
              </a:defRPr>
            </a:pPr>
            <a:r>
              <a:rPr lang="en-US" sz="1000" b="1" kern="0" spc="-50" dirty="0" err="1">
                <a:solidFill>
                  <a:srgbClr val="575756"/>
                </a:solidFill>
                <a:latin typeface="Tahoma" panose="020B0604030504040204" pitchFamily="34" charset="0"/>
                <a:ea typeface="Tahoma" panose="020B0604030504040204" pitchFamily="34" charset="0"/>
                <a:cs typeface="Tahoma" panose="020B0604030504040204" pitchFamily="34" charset="0"/>
              </a:rPr>
              <a:t>Ingénierie</a:t>
            </a:r>
            <a:r>
              <a:rPr lang="en-US" sz="1000" b="1" kern="0" spc="-50" dirty="0">
                <a:solidFill>
                  <a:srgbClr val="575756"/>
                </a:solidFill>
                <a:latin typeface="Tahoma" panose="020B0604030504040204" pitchFamily="34" charset="0"/>
                <a:ea typeface="Tahoma" panose="020B0604030504040204" pitchFamily="34" charset="0"/>
                <a:cs typeface="Tahoma" panose="020B0604030504040204" pitchFamily="34" charset="0"/>
              </a:rPr>
              <a:t> financière</a:t>
            </a:r>
            <a:endParaRPr lang="fr-FR" sz="1000" b="1" kern="0" spc="-50" dirty="0">
              <a:solidFill>
                <a:srgbClr val="575756"/>
              </a:solidFill>
              <a:latin typeface="Tahoma" panose="020B0604030504040204" pitchFamily="34" charset="0"/>
              <a:ea typeface="Tahoma" panose="020B0604030504040204" pitchFamily="34" charset="0"/>
              <a:cs typeface="Tahoma" panose="020B0604030504040204" pitchFamily="34" charset="0"/>
            </a:endParaRPr>
          </a:p>
          <a:p>
            <a:r>
              <a:rPr lang="en-US" sz="1000" spc="-50" dirty="0">
                <a:solidFill>
                  <a:srgbClr val="575756"/>
                </a:solidFill>
              </a:rPr>
              <a:t>Nous </a:t>
            </a:r>
            <a:r>
              <a:rPr lang="en-US" sz="1000" spc="-50" dirty="0" err="1">
                <a:solidFill>
                  <a:srgbClr val="575756"/>
                </a:solidFill>
              </a:rPr>
              <a:t>vous</a:t>
            </a:r>
            <a:r>
              <a:rPr lang="en-US" sz="1000" spc="-50" dirty="0">
                <a:solidFill>
                  <a:srgbClr val="575756"/>
                </a:solidFill>
              </a:rPr>
              <a:t> </a:t>
            </a:r>
            <a:r>
              <a:rPr lang="en-US" sz="1000" spc="-50" dirty="0" err="1">
                <a:solidFill>
                  <a:srgbClr val="575756"/>
                </a:solidFill>
              </a:rPr>
              <a:t>accompagnons</a:t>
            </a:r>
            <a:r>
              <a:rPr lang="en-US" sz="1000" spc="-50" dirty="0">
                <a:solidFill>
                  <a:srgbClr val="575756"/>
                </a:solidFill>
              </a:rPr>
              <a:t> dans la mise </a:t>
            </a:r>
            <a:r>
              <a:rPr lang="en-US" sz="1000" spc="-50" dirty="0" err="1">
                <a:solidFill>
                  <a:srgbClr val="575756"/>
                </a:solidFill>
              </a:rPr>
              <a:t>en</a:t>
            </a:r>
            <a:r>
              <a:rPr lang="en-US" sz="1000" spc="-50" dirty="0">
                <a:solidFill>
                  <a:srgbClr val="575756"/>
                </a:solidFill>
              </a:rPr>
              <a:t> </a:t>
            </a:r>
            <a:r>
              <a:rPr lang="en-US" sz="1000" spc="-50" dirty="0" err="1">
                <a:solidFill>
                  <a:srgbClr val="575756"/>
                </a:solidFill>
              </a:rPr>
              <a:t>œuvre</a:t>
            </a:r>
            <a:r>
              <a:rPr lang="en-US" sz="1000" spc="-50" dirty="0">
                <a:solidFill>
                  <a:srgbClr val="575756"/>
                </a:solidFill>
              </a:rPr>
              <a:t> </a:t>
            </a:r>
            <a:r>
              <a:rPr lang="en-US" sz="1000" spc="-50" dirty="0" err="1">
                <a:solidFill>
                  <a:srgbClr val="575756"/>
                </a:solidFill>
              </a:rPr>
              <a:t>d'une</a:t>
            </a:r>
            <a:r>
              <a:rPr lang="en-US" sz="1000" spc="-50" dirty="0">
                <a:solidFill>
                  <a:srgbClr val="575756"/>
                </a:solidFill>
              </a:rPr>
              <a:t> </a:t>
            </a:r>
            <a:r>
              <a:rPr lang="en-US" sz="1000" spc="-50" dirty="0" err="1">
                <a:solidFill>
                  <a:srgbClr val="575756"/>
                </a:solidFill>
              </a:rPr>
              <a:t>stratégie</a:t>
            </a:r>
            <a:r>
              <a:rPr lang="en-US" sz="1000" spc="-50" dirty="0">
                <a:solidFill>
                  <a:srgbClr val="575756"/>
                </a:solidFill>
              </a:rPr>
              <a:t> financière </a:t>
            </a:r>
            <a:r>
              <a:rPr lang="en-US" sz="1000" spc="-50" dirty="0" err="1">
                <a:solidFill>
                  <a:srgbClr val="575756"/>
                </a:solidFill>
              </a:rPr>
              <a:t>adaptée</a:t>
            </a:r>
            <a:r>
              <a:rPr lang="en-US" sz="1000" spc="-50" dirty="0">
                <a:solidFill>
                  <a:srgbClr val="575756"/>
                </a:solidFill>
              </a:rPr>
              <a:t>.</a:t>
            </a:r>
          </a:p>
          <a:p>
            <a:r>
              <a:rPr lang="en-US" sz="1000" spc="-50" dirty="0">
                <a:solidFill>
                  <a:srgbClr val="575756"/>
                </a:solidFill>
              </a:rPr>
              <a:t>Nous </a:t>
            </a:r>
            <a:r>
              <a:rPr lang="en-US" sz="1000" spc="-50" dirty="0" err="1">
                <a:solidFill>
                  <a:srgbClr val="575756"/>
                </a:solidFill>
              </a:rPr>
              <a:t>vous</a:t>
            </a:r>
            <a:r>
              <a:rPr lang="en-US" sz="1000" spc="-50" dirty="0">
                <a:solidFill>
                  <a:srgbClr val="575756"/>
                </a:solidFill>
              </a:rPr>
              <a:t> </a:t>
            </a:r>
            <a:r>
              <a:rPr lang="en-US" sz="1000" spc="-50" dirty="0" err="1">
                <a:solidFill>
                  <a:srgbClr val="575756"/>
                </a:solidFill>
              </a:rPr>
              <a:t>accompagnons</a:t>
            </a:r>
            <a:r>
              <a:rPr lang="en-US" sz="1000" spc="-50" dirty="0">
                <a:solidFill>
                  <a:srgbClr val="575756"/>
                </a:solidFill>
              </a:rPr>
              <a:t> dans le montage financier (LBO, OBO, </a:t>
            </a:r>
            <a:r>
              <a:rPr lang="en-US" sz="1000" spc="-50" dirty="0" err="1">
                <a:solidFill>
                  <a:srgbClr val="575756"/>
                </a:solidFill>
              </a:rPr>
              <a:t>MBO</a:t>
            </a:r>
            <a:r>
              <a:rPr lang="en-US" sz="1000" spc="-50" dirty="0">
                <a:solidFill>
                  <a:srgbClr val="575756"/>
                </a:solidFill>
              </a:rPr>
              <a:t>) </a:t>
            </a:r>
            <a:r>
              <a:rPr lang="en-US" sz="1000" spc="-50" dirty="0" err="1">
                <a:solidFill>
                  <a:srgbClr val="575756"/>
                </a:solidFill>
              </a:rPr>
              <a:t>ainsi</a:t>
            </a:r>
            <a:r>
              <a:rPr lang="en-US" sz="1000" spc="-50" dirty="0">
                <a:solidFill>
                  <a:srgbClr val="575756"/>
                </a:solidFill>
              </a:rPr>
              <a:t> que dans la </a:t>
            </a:r>
            <a:r>
              <a:rPr lang="en-US" sz="1000" spc="-50" dirty="0" err="1">
                <a:solidFill>
                  <a:srgbClr val="575756"/>
                </a:solidFill>
              </a:rPr>
              <a:t>sélection</a:t>
            </a:r>
            <a:r>
              <a:rPr lang="en-US" sz="1000" spc="-50" dirty="0">
                <a:solidFill>
                  <a:srgbClr val="575756"/>
                </a:solidFill>
              </a:rPr>
              <a:t> des </a:t>
            </a:r>
            <a:r>
              <a:rPr lang="en-US" sz="1000" spc="-50" dirty="0" err="1">
                <a:solidFill>
                  <a:srgbClr val="575756"/>
                </a:solidFill>
              </a:rPr>
              <a:t>investisseurs</a:t>
            </a:r>
            <a:r>
              <a:rPr lang="en-US" sz="1000" spc="-50" dirty="0">
                <a:solidFill>
                  <a:srgbClr val="575756"/>
                </a:solidFill>
              </a:rPr>
              <a:t> les plus </a:t>
            </a:r>
            <a:r>
              <a:rPr lang="en-US" sz="1000" spc="-50" dirty="0" err="1">
                <a:solidFill>
                  <a:srgbClr val="575756"/>
                </a:solidFill>
              </a:rPr>
              <a:t>appropriés</a:t>
            </a:r>
            <a:r>
              <a:rPr lang="en-US" sz="1000" spc="-50" dirty="0">
                <a:solidFill>
                  <a:srgbClr val="575756"/>
                </a:solidFill>
              </a:rPr>
              <a:t> (</a:t>
            </a:r>
            <a:r>
              <a:rPr lang="en-US" sz="1000" spc="-50" dirty="0" err="1">
                <a:solidFill>
                  <a:srgbClr val="575756"/>
                </a:solidFill>
              </a:rPr>
              <a:t>secteur</a:t>
            </a:r>
            <a:r>
              <a:rPr lang="en-US" sz="1000" spc="-50" dirty="0">
                <a:solidFill>
                  <a:srgbClr val="575756"/>
                </a:solidFill>
              </a:rPr>
              <a:t>, ticket </a:t>
            </a:r>
            <a:r>
              <a:rPr lang="en-US" sz="1000" spc="-50" dirty="0" err="1">
                <a:solidFill>
                  <a:srgbClr val="575756"/>
                </a:solidFill>
              </a:rPr>
              <a:t>d’entrée</a:t>
            </a:r>
            <a:r>
              <a:rPr lang="en-US" sz="1000" spc="-50" dirty="0">
                <a:solidFill>
                  <a:srgbClr val="575756"/>
                </a:solidFill>
              </a:rPr>
              <a:t>, </a:t>
            </a:r>
            <a:r>
              <a:rPr lang="en-US" sz="1000" spc="-50" dirty="0" err="1">
                <a:solidFill>
                  <a:srgbClr val="575756"/>
                </a:solidFill>
              </a:rPr>
              <a:t>majoritaire</a:t>
            </a:r>
            <a:r>
              <a:rPr lang="en-US" sz="1000" spc="-50" dirty="0">
                <a:solidFill>
                  <a:srgbClr val="575756"/>
                </a:solidFill>
              </a:rPr>
              <a:t>/</a:t>
            </a:r>
            <a:r>
              <a:rPr lang="en-US" sz="1000" spc="-50" dirty="0" err="1">
                <a:solidFill>
                  <a:srgbClr val="575756"/>
                </a:solidFill>
              </a:rPr>
              <a:t>minoritaire</a:t>
            </a:r>
            <a:r>
              <a:rPr lang="en-US" sz="1000" spc="-50" dirty="0">
                <a:solidFill>
                  <a:srgbClr val="575756"/>
                </a:solidFill>
              </a:rPr>
              <a:t>).</a:t>
            </a:r>
          </a:p>
          <a:p>
            <a:r>
              <a:rPr lang="en-US" sz="1000" spc="-50" dirty="0">
                <a:solidFill>
                  <a:srgbClr val="575756"/>
                </a:solidFill>
              </a:rPr>
              <a:t>Nous </a:t>
            </a:r>
            <a:r>
              <a:rPr lang="en-US" sz="1000" spc="-50" dirty="0" err="1">
                <a:solidFill>
                  <a:srgbClr val="575756"/>
                </a:solidFill>
              </a:rPr>
              <a:t>bénéficions</a:t>
            </a:r>
            <a:r>
              <a:rPr lang="en-US" sz="1000" spc="-50" dirty="0">
                <a:solidFill>
                  <a:srgbClr val="575756"/>
                </a:solidFill>
              </a:rPr>
              <a:t> d'un </a:t>
            </a:r>
            <a:r>
              <a:rPr lang="en-US" sz="1000" spc="-50" dirty="0" err="1">
                <a:solidFill>
                  <a:srgbClr val="575756"/>
                </a:solidFill>
              </a:rPr>
              <a:t>vaste</a:t>
            </a:r>
            <a:r>
              <a:rPr lang="en-US" sz="1000" spc="-50" dirty="0">
                <a:solidFill>
                  <a:srgbClr val="575756"/>
                </a:solidFill>
              </a:rPr>
              <a:t> </a:t>
            </a:r>
            <a:r>
              <a:rPr lang="en-US" sz="1000" spc="-50" dirty="0" err="1">
                <a:solidFill>
                  <a:srgbClr val="575756"/>
                </a:solidFill>
              </a:rPr>
              <a:t>réseau</a:t>
            </a:r>
            <a:r>
              <a:rPr lang="en-US" sz="1000" spc="-50" dirty="0">
                <a:solidFill>
                  <a:srgbClr val="575756"/>
                </a:solidFill>
              </a:rPr>
              <a:t> </a:t>
            </a:r>
            <a:r>
              <a:rPr lang="en-US" sz="1000" spc="-50" dirty="0" err="1">
                <a:solidFill>
                  <a:srgbClr val="575756"/>
                </a:solidFill>
              </a:rPr>
              <a:t>diversifié</a:t>
            </a:r>
            <a:r>
              <a:rPr lang="en-US" sz="1000" spc="-50" dirty="0">
                <a:solidFill>
                  <a:srgbClr val="575756"/>
                </a:solidFill>
              </a:rPr>
              <a:t> de fonds </a:t>
            </a:r>
            <a:r>
              <a:rPr lang="en-US" sz="1000" spc="-50" dirty="0" err="1">
                <a:solidFill>
                  <a:srgbClr val="575756"/>
                </a:solidFill>
              </a:rPr>
              <a:t>d'investissement</a:t>
            </a:r>
            <a:r>
              <a:rPr lang="en-US" sz="1000" spc="-50" dirty="0">
                <a:solidFill>
                  <a:srgbClr val="575756"/>
                </a:solidFill>
              </a:rPr>
              <a:t>, </a:t>
            </a:r>
            <a:r>
              <a:rPr lang="en-US" sz="1000" spc="-50" dirty="0" err="1">
                <a:solidFill>
                  <a:srgbClr val="575756"/>
                </a:solidFill>
              </a:rPr>
              <a:t>d'investisseurs</a:t>
            </a:r>
            <a:r>
              <a:rPr lang="en-US" sz="1000" spc="-50" dirty="0">
                <a:solidFill>
                  <a:srgbClr val="575756"/>
                </a:solidFill>
              </a:rPr>
              <a:t> </a:t>
            </a:r>
            <a:r>
              <a:rPr lang="en-US" sz="1000" spc="-50" dirty="0" err="1">
                <a:solidFill>
                  <a:srgbClr val="575756"/>
                </a:solidFill>
              </a:rPr>
              <a:t>privés</a:t>
            </a:r>
            <a:r>
              <a:rPr lang="en-US" sz="1000" spc="-50" dirty="0">
                <a:solidFill>
                  <a:srgbClr val="575756"/>
                </a:solidFill>
              </a:rPr>
              <a:t> et </a:t>
            </a:r>
            <a:r>
              <a:rPr lang="en-US" sz="1000" spc="-50" dirty="0" err="1">
                <a:solidFill>
                  <a:srgbClr val="575756"/>
                </a:solidFill>
              </a:rPr>
              <a:t>d'investisseurs</a:t>
            </a:r>
            <a:r>
              <a:rPr lang="en-US" sz="1000" spc="-50" dirty="0">
                <a:solidFill>
                  <a:srgbClr val="575756"/>
                </a:solidFill>
              </a:rPr>
              <a:t> </a:t>
            </a:r>
            <a:r>
              <a:rPr lang="en-US" sz="1000" spc="-50" dirty="0" err="1">
                <a:solidFill>
                  <a:srgbClr val="575756"/>
                </a:solidFill>
              </a:rPr>
              <a:t>providentiels</a:t>
            </a:r>
            <a:r>
              <a:rPr lang="en-US" sz="1000" spc="-50" dirty="0">
                <a:solidFill>
                  <a:srgbClr val="575756"/>
                </a:solidFill>
              </a:rPr>
              <a:t>.</a:t>
            </a:r>
          </a:p>
          <a:p>
            <a:pPr algn="just" defTabSz="412750" hangingPunct="0">
              <a:spcBef>
                <a:spcPts val="600"/>
              </a:spcBef>
              <a:defRPr sz="2200" b="0">
                <a:solidFill>
                  <a:srgbClr val="6A6E77"/>
                </a:solidFill>
                <a:latin typeface="Quicksand Regular"/>
                <a:ea typeface="Quicksand Regular"/>
                <a:cs typeface="Quicksand Regular"/>
                <a:sym typeface="Quicksand Regular"/>
              </a:defRPr>
            </a:pPr>
            <a:endPar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endParaRPr lang="en-US" sz="1000" kern="0" spc="-5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pic>
        <p:nvPicPr>
          <p:cNvPr id="3" name="Graphique 2" descr="ADN">
            <a:extLst>
              <a:ext uri="{FF2B5EF4-FFF2-40B4-BE49-F238E27FC236}">
                <a16:creationId xmlns:a16="http://schemas.microsoft.com/office/drawing/2014/main" id="{4CFEBDEB-A7EB-4E0D-AEDB-8C0A71407E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90028" y="522106"/>
            <a:ext cx="644716" cy="644716"/>
          </a:xfrm>
          <a:prstGeom prst="rect">
            <a:avLst/>
          </a:prstGeom>
        </p:spPr>
      </p:pic>
      <p:pic>
        <p:nvPicPr>
          <p:cNvPr id="7" name="Graphique 6" descr="Pièces de puzzle">
            <a:extLst>
              <a:ext uri="{FF2B5EF4-FFF2-40B4-BE49-F238E27FC236}">
                <a16:creationId xmlns:a16="http://schemas.microsoft.com/office/drawing/2014/main" id="{BD047582-68A1-4493-9FB5-E371304CCC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4152" y="231624"/>
            <a:ext cx="745232" cy="745232"/>
          </a:xfrm>
          <a:prstGeom prst="rect">
            <a:avLst/>
          </a:prstGeom>
        </p:spPr>
      </p:pic>
      <p:pic>
        <p:nvPicPr>
          <p:cNvPr id="9" name="Graphique 8" descr="Engrenages">
            <a:extLst>
              <a:ext uri="{FF2B5EF4-FFF2-40B4-BE49-F238E27FC236}">
                <a16:creationId xmlns:a16="http://schemas.microsoft.com/office/drawing/2014/main" id="{97ED9628-150F-4F5F-A226-1EC1C74F24A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143672" y="3460651"/>
            <a:ext cx="745232" cy="745232"/>
          </a:xfrm>
          <a:prstGeom prst="rect">
            <a:avLst/>
          </a:prstGeom>
        </p:spPr>
      </p:pic>
      <p:sp>
        <p:nvSpPr>
          <p:cNvPr id="18" name="Espace réservé du numéro de diapositive 9">
            <a:extLst>
              <a:ext uri="{FF2B5EF4-FFF2-40B4-BE49-F238E27FC236}">
                <a16:creationId xmlns:a16="http://schemas.microsoft.com/office/drawing/2014/main" id="{AC284BF9-FE51-47AA-B2C1-D61DB2E2E9F6}"/>
              </a:ext>
            </a:extLst>
          </p:cNvPr>
          <p:cNvSpPr txBox="1">
            <a:spLocks/>
          </p:cNvSpPr>
          <p:nvPr/>
        </p:nvSpPr>
        <p:spPr>
          <a:xfrm>
            <a:off x="11507787"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9</a:t>
            </a:fld>
            <a:endParaRPr lang="en-US" sz="1000" dirty="0">
              <a:solidFill>
                <a:srgbClr val="5C607E"/>
              </a:solidFill>
            </a:endParaRPr>
          </a:p>
        </p:txBody>
      </p:sp>
      <p:sp>
        <p:nvSpPr>
          <p:cNvPr id="19" name="Titre 4">
            <a:extLst>
              <a:ext uri="{FF2B5EF4-FFF2-40B4-BE49-F238E27FC236}">
                <a16:creationId xmlns:a16="http://schemas.microsoft.com/office/drawing/2014/main" id="{2E5983EA-4DF3-43BA-BD7E-73FCB0B7FE72}"/>
              </a:ext>
            </a:extLst>
          </p:cNvPr>
          <p:cNvSpPr txBox="1">
            <a:spLocks/>
          </p:cNvSpPr>
          <p:nvPr/>
        </p:nvSpPr>
        <p:spPr>
          <a:xfrm>
            <a:off x="163755" y="285078"/>
            <a:ext cx="2431392" cy="813309"/>
          </a:xfrm>
          <a:prstGeom prst="rect">
            <a:avLst/>
          </a:prstGeom>
        </p:spPr>
        <p:txBody>
          <a:bodyPr vert="horz" lIns="0" tIns="0" rIns="0" bIns="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11200" b="1"/>
              <a:t>Fusions et acquisitions</a:t>
            </a:r>
            <a:endParaRPr lang="fr-FR" dirty="0">
              <a:solidFill>
                <a:srgbClr val="FF0000"/>
              </a:solidFill>
            </a:endParaRPr>
          </a:p>
        </p:txBody>
      </p:sp>
    </p:spTree>
    <p:extLst>
      <p:ext uri="{BB962C8B-B14F-4D97-AF65-F5344CB8AC3E}">
        <p14:creationId xmlns:p14="http://schemas.microsoft.com/office/powerpoint/2010/main" val="10583036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p:cNvSpPr/>
          <p:nvPr/>
        </p:nvSpPr>
        <p:spPr>
          <a:xfrm>
            <a:off x="45243" y="0"/>
            <a:ext cx="2599587" cy="6858001"/>
          </a:xfrm>
          <a:prstGeom prst="rect">
            <a:avLst/>
          </a:prstGeom>
          <a:solidFill>
            <a:srgbClr val="1C1F25"/>
          </a:solidFill>
          <a:ln w="12700">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197" name="Target…"/>
          <p:cNvSpPr txBox="1"/>
          <p:nvPr/>
        </p:nvSpPr>
        <p:spPr>
          <a:xfrm>
            <a:off x="3107284" y="2885802"/>
            <a:ext cx="4284860" cy="187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defRPr b="0">
                <a:solidFill>
                  <a:srgbClr val="2C2E3C"/>
                </a:solidFill>
                <a:latin typeface="Quicksand Bold"/>
                <a:ea typeface="Quicksand Bold"/>
                <a:cs typeface="Quicksand Bold"/>
                <a:sym typeface="Quicksand Bold"/>
              </a:defRPr>
            </a:pPr>
            <a:r>
              <a:rPr lang="en-US" sz="1400" b="1" kern="0" spc="-3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Fusion et acquisition - Taxes</a:t>
            </a:r>
            <a:endParaRPr sz="1400" kern="0" spc="-3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spcBef>
                <a:spcPts val="400"/>
              </a:spcBef>
              <a:defRPr sz="2200" b="0">
                <a:solidFill>
                  <a:srgbClr val="6A6E77"/>
                </a:solidFill>
                <a:latin typeface="Quicksand Regular"/>
                <a:ea typeface="Quicksand Regular"/>
                <a:cs typeface="Quicksand Regular"/>
                <a:sym typeface="Quicksand Regular"/>
              </a:defRPr>
            </a:pP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travaillons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avec un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très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large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éventail</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de clients, des PME aux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multinationales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cotées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bourse,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ainsi</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qu'avec</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des fonds de petites,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moyennes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grandes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capitalisations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travaillons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étroite</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collaboration avec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nos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clients pour les aider à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anticiper</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et à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définir</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les implications et les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opportunités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fiscales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leurs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projets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d'acquisition</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réorganisation</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toutes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les phases du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processus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d'analyse</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et de mise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œuvre</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defTabSz="412750" hangingPunct="0">
              <a:spcBef>
                <a:spcPts val="400"/>
              </a:spcBef>
              <a:defRPr sz="2200" b="0">
                <a:solidFill>
                  <a:srgbClr val="6A6E77"/>
                </a:solidFill>
                <a:latin typeface="Quicksand Regular"/>
                <a:ea typeface="Quicksand Regular"/>
                <a:cs typeface="Quicksand Regular"/>
                <a:sym typeface="Quicksand Regular"/>
              </a:defRPr>
            </a:pP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Nous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appuyant</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sur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réseau</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international,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département</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Fusions et Acquisitions de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Sefico</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Nexia dispose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d'une</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expertise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reconnue</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dans les implications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financières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fiscales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projets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internationaux</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spc="-30" dirty="0" err="1">
                <a:solidFill>
                  <a:srgbClr val="575756"/>
                </a:solidFill>
                <a:latin typeface="Tahoma" panose="020B0604030504040204" pitchFamily="34" charset="0"/>
                <a:ea typeface="Tahoma" panose="020B0604030504040204" pitchFamily="34" charset="0"/>
                <a:cs typeface="Tahoma" panose="020B0604030504040204" pitchFamily="34" charset="0"/>
              </a:rPr>
              <a:t>transfrontaliers</a:t>
            </a:r>
            <a:r>
              <a:rPr lang="en-US" sz="1000" kern="0" spc="-3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defTabSz="412750" hangingPunct="0">
              <a:defRPr sz="2200" b="0">
                <a:solidFill>
                  <a:srgbClr val="6A6E77"/>
                </a:solidFill>
                <a:latin typeface="Quicksand Regular"/>
                <a:ea typeface="Quicksand Regular"/>
                <a:cs typeface="Quicksand Regular"/>
                <a:sym typeface="Quicksand Regular"/>
              </a:defRPr>
            </a:pPr>
            <a:endParaRPr sz="1100" kern="0" spc="-30" dirty="0">
              <a:solidFill>
                <a:srgbClr val="6A6E77"/>
              </a:solidFill>
              <a:latin typeface="Quicksand Regular"/>
              <a:sym typeface="Quicksand Regular"/>
            </a:endParaRPr>
          </a:p>
        </p:txBody>
      </p:sp>
      <p:sp>
        <p:nvSpPr>
          <p:cNvPr id="200" name="Marketing…"/>
          <p:cNvSpPr txBox="1"/>
          <p:nvPr/>
        </p:nvSpPr>
        <p:spPr>
          <a:xfrm>
            <a:off x="3120435" y="1039821"/>
            <a:ext cx="4271709" cy="1123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spcBef>
                <a:spcPts val="400"/>
              </a:spcBef>
              <a:defRPr b="0">
                <a:solidFill>
                  <a:srgbClr val="2C2E3C"/>
                </a:solidFill>
                <a:latin typeface="Quicksand Bold"/>
                <a:ea typeface="Quicksand Bold"/>
                <a:cs typeface="Quicksand Bold"/>
                <a:sym typeface="Quicksand Bold"/>
              </a:defRPr>
            </a:pP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Gestion et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stratégie</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en</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 matière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d’impôt</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 sur les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sociétés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 (CTMS)</a:t>
            </a:r>
            <a:endParaRPr sz="8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spcBef>
                <a:spcPts val="600"/>
              </a:spcBef>
              <a:defRPr sz="2200" b="0">
                <a:solidFill>
                  <a:srgbClr val="6A6E77"/>
                </a:solidFill>
                <a:latin typeface="Quicksand Regular"/>
                <a:ea typeface="Quicksand Regular"/>
                <a:cs typeface="Quicksand Regular"/>
                <a:sym typeface="Quicksand Regular"/>
              </a:defRPr>
            </a:pP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Pilier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l'activité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cabinet,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l'équipe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entreprises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apporte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son expertise 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entreprises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recherchent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gestion active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optimisée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la gestion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quotidienne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leurs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activités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ainsi</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que pour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opérations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exceptionnelles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p:txBody>
      </p:sp>
      <p:sp>
        <p:nvSpPr>
          <p:cNvPr id="204" name="Promotion…"/>
          <p:cNvSpPr txBox="1"/>
          <p:nvPr/>
        </p:nvSpPr>
        <p:spPr>
          <a:xfrm>
            <a:off x="3107284" y="5344399"/>
            <a:ext cx="4284860" cy="11592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lnSpc>
                <a:spcPct val="150000"/>
              </a:lnSpc>
              <a:defRPr b="0">
                <a:solidFill>
                  <a:srgbClr val="2C2E3C"/>
                </a:solidFill>
                <a:latin typeface="Quicksand Bold"/>
                <a:ea typeface="Quicksand Bold"/>
                <a:cs typeface="Quicksand Bold"/>
                <a:sym typeface="Quicksand Bold"/>
              </a:defRPr>
            </a:pP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TVA et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impôts</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indirects</a:t>
            </a:r>
            <a:endPar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defTabSz="412750" hangingPunct="0">
              <a:spcBef>
                <a:spcPts val="400"/>
              </a:spcBef>
              <a:defRPr sz="2200" b="0">
                <a:solidFill>
                  <a:srgbClr val="6A6E77"/>
                </a:solidFill>
                <a:latin typeface="Quicksand Regular"/>
                <a:ea typeface="Quicksand Regular"/>
                <a:cs typeface="Quicksand Regular"/>
                <a:sym typeface="Quicksand Regular"/>
              </a:defRPr>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Notre assistance se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concentre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sur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réduction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coûts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opérationnels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supplémentaires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relatifs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taxes,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que les impacts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négatifs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sur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trésorerie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pénalités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liées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irrégularités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réglementaires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formalités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induites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par la non application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mesures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simplification...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affectant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l'ensemble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rentabilité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société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r>
              <a:rPr lang="en-US" sz="11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p:txBody>
      </p:sp>
      <p:sp>
        <p:nvSpPr>
          <p:cNvPr id="207" name="Unique…"/>
          <p:cNvSpPr txBox="1"/>
          <p:nvPr/>
        </p:nvSpPr>
        <p:spPr>
          <a:xfrm>
            <a:off x="7724774" y="935864"/>
            <a:ext cx="4116030" cy="314445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lnSpc>
                <a:spcPct val="150000"/>
              </a:lnSpc>
              <a:defRPr b="0">
                <a:solidFill>
                  <a:srgbClr val="2C2E3C"/>
                </a:solidFill>
                <a:latin typeface="Quicksand Bold"/>
                <a:ea typeface="Quicksand Bold"/>
                <a:cs typeface="Quicksand Bold"/>
                <a:sym typeface="Quicksand Bold"/>
              </a:defRPr>
            </a:pP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Contrôle</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 et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contentieux</a:t>
            </a: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 fiscal</a:t>
            </a:r>
            <a:endParaRPr sz="14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a:spcBef>
                <a:spcPts val="400"/>
              </a:spcBef>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époque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où</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contrôles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numérisés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recherches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forte augmentation,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cabinet 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développé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expertise unique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basée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sur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notre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réseau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international pour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assister dans le cadre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d'audits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contentieux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ayant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une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dimension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transfrontalière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soulevant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questions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liées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 droit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l'Union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européenne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a:spcBef>
                <a:spcPts val="400"/>
              </a:spcBef>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Notre intervention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consiste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plus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particulièrement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préparation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 anticipation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contrôle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fiscal, le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suivi</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contrôle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fiscal,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préparation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commentaires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soumettre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réponse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aux rectifications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proposées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l'assistance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différentes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procédures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a:spcBef>
                <a:spcPts val="400"/>
              </a:spcBef>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Dans le cadre d'un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contentieux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visant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contester les taxes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additionnelles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perçues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par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l'administration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à la suite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contrôles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analysons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l'ensemble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éléments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du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contrôle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fiscal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afin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d'identifier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éventuels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vices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procédure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préparons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demandes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contentieuses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saisissons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juridictions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compétentes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assurons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le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suivi</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procédures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devant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celles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-ci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jusqu'aux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juridictions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supérieures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cassation, Conseil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constitutionnel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justice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Communautés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européennes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a:t>
            </a:r>
          </a:p>
          <a:p>
            <a:pPr algn="just">
              <a:spcBef>
                <a:spcPts val="400"/>
              </a:spcBef>
            </a:pPr>
            <a:endPar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Helvetica Neue Medium"/>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algn="ctr" defTabSz="228600" hangingPunct="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kern="0" dirty="0">
              <a:solidFill>
                <a:srgbClr val="FFFFFF"/>
              </a:solidFill>
              <a:effectLst>
                <a:outerShdw blurRad="38100" dist="12700" dir="5400000" rotWithShape="0">
                  <a:srgbClr val="000000">
                    <a:alpha val="50000"/>
                  </a:srgbClr>
                </a:outerShdw>
              </a:effectLst>
              <a:latin typeface="Gill Sans"/>
              <a:sym typeface="Gill Sans"/>
            </a:endParaRPr>
          </a:p>
        </p:txBody>
      </p:sp>
      <p:grpSp>
        <p:nvGrpSpPr>
          <p:cNvPr id="3" name="Groupe 2">
            <a:extLst>
              <a:ext uri="{FF2B5EF4-FFF2-40B4-BE49-F238E27FC236}">
                <a16:creationId xmlns:a16="http://schemas.microsoft.com/office/drawing/2014/main" id="{55B32C99-C5DC-4C49-964A-16B16202E608}"/>
              </a:ext>
            </a:extLst>
          </p:cNvPr>
          <p:cNvGrpSpPr/>
          <p:nvPr/>
        </p:nvGrpSpPr>
        <p:grpSpPr>
          <a:xfrm>
            <a:off x="7728057" y="466235"/>
            <a:ext cx="571386" cy="447607"/>
            <a:chOff x="8400256" y="2699354"/>
            <a:chExt cx="638176" cy="581024"/>
          </a:xfrm>
          <a:noFill/>
        </p:grpSpPr>
        <p:sp>
          <p:nvSpPr>
            <p:cNvPr id="48" name="Freeform 112">
              <a:extLst>
                <a:ext uri="{FF2B5EF4-FFF2-40B4-BE49-F238E27FC236}">
                  <a16:creationId xmlns:a16="http://schemas.microsoft.com/office/drawing/2014/main" id="{5FD40D3E-0F9C-4C85-BF63-1072DECF2A59}"/>
                </a:ext>
              </a:extLst>
            </p:cNvPr>
            <p:cNvSpPr>
              <a:spLocks/>
            </p:cNvSpPr>
            <p:nvPr/>
          </p:nvSpPr>
          <p:spPr bwMode="auto">
            <a:xfrm>
              <a:off x="8495506" y="2737454"/>
              <a:ext cx="187326" cy="111124"/>
            </a:xfrm>
            <a:custGeom>
              <a:avLst/>
              <a:gdLst>
                <a:gd name="T0" fmla="*/ 0 w 59"/>
                <a:gd name="T1" fmla="*/ 35 h 35"/>
                <a:gd name="T2" fmla="*/ 0 w 59"/>
                <a:gd name="T3" fmla="*/ 0 h 35"/>
                <a:gd name="T4" fmla="*/ 59 w 59"/>
                <a:gd name="T5" fmla="*/ 0 h 35"/>
              </a:gdLst>
              <a:ahLst/>
              <a:cxnLst>
                <a:cxn ang="0">
                  <a:pos x="T0" y="T1"/>
                </a:cxn>
                <a:cxn ang="0">
                  <a:pos x="T2" y="T3"/>
                </a:cxn>
                <a:cxn ang="0">
                  <a:pos x="T4" y="T5"/>
                </a:cxn>
              </a:cxnLst>
              <a:rect l="0" t="0" r="r" b="b"/>
              <a:pathLst>
                <a:path w="59" h="35">
                  <a:moveTo>
                    <a:pt x="0" y="35"/>
                  </a:moveTo>
                  <a:lnTo>
                    <a:pt x="0" y="0"/>
                  </a:lnTo>
                  <a:lnTo>
                    <a:pt x="59" y="0"/>
                  </a:lnTo>
                </a:path>
              </a:pathLst>
            </a:cu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49" name="Freeform 113">
              <a:extLst>
                <a:ext uri="{FF2B5EF4-FFF2-40B4-BE49-F238E27FC236}">
                  <a16:creationId xmlns:a16="http://schemas.microsoft.com/office/drawing/2014/main" id="{CF9234A9-B39B-4F75-9F47-BD9CD1F6FFC4}"/>
                </a:ext>
              </a:extLst>
            </p:cNvPr>
            <p:cNvSpPr>
              <a:spLocks/>
            </p:cNvSpPr>
            <p:nvPr/>
          </p:nvSpPr>
          <p:spPr bwMode="auto">
            <a:xfrm>
              <a:off x="8755856" y="2737454"/>
              <a:ext cx="184150" cy="111124"/>
            </a:xfrm>
            <a:custGeom>
              <a:avLst/>
              <a:gdLst>
                <a:gd name="T0" fmla="*/ 0 w 58"/>
                <a:gd name="T1" fmla="*/ 0 h 35"/>
                <a:gd name="T2" fmla="*/ 58 w 58"/>
                <a:gd name="T3" fmla="*/ 0 h 35"/>
                <a:gd name="T4" fmla="*/ 58 w 58"/>
                <a:gd name="T5" fmla="*/ 35 h 35"/>
              </a:gdLst>
              <a:ahLst/>
              <a:cxnLst>
                <a:cxn ang="0">
                  <a:pos x="T0" y="T1"/>
                </a:cxn>
                <a:cxn ang="0">
                  <a:pos x="T2" y="T3"/>
                </a:cxn>
                <a:cxn ang="0">
                  <a:pos x="T4" y="T5"/>
                </a:cxn>
              </a:cxnLst>
              <a:rect l="0" t="0" r="r" b="b"/>
              <a:pathLst>
                <a:path w="58" h="35">
                  <a:moveTo>
                    <a:pt x="0" y="0"/>
                  </a:moveTo>
                  <a:lnTo>
                    <a:pt x="58" y="0"/>
                  </a:lnTo>
                  <a:lnTo>
                    <a:pt x="58" y="35"/>
                  </a:lnTo>
                </a:path>
              </a:pathLst>
            </a:cu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50" name="Oval 114">
              <a:extLst>
                <a:ext uri="{FF2B5EF4-FFF2-40B4-BE49-F238E27FC236}">
                  <a16:creationId xmlns:a16="http://schemas.microsoft.com/office/drawing/2014/main" id="{1845D150-0243-4674-A429-8391EB4B1D11}"/>
                </a:ext>
              </a:extLst>
            </p:cNvPr>
            <p:cNvSpPr>
              <a:spLocks noChangeArrowheads="1"/>
            </p:cNvSpPr>
            <p:nvPr/>
          </p:nvSpPr>
          <p:spPr bwMode="auto">
            <a:xfrm>
              <a:off x="8682830" y="2699354"/>
              <a:ext cx="73026" cy="76200"/>
            </a:xfrm>
            <a:prstGeom prst="ellipse">
              <a:avLst/>
            </a:pr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51" name="Freeform 115">
              <a:extLst>
                <a:ext uri="{FF2B5EF4-FFF2-40B4-BE49-F238E27FC236}">
                  <a16:creationId xmlns:a16="http://schemas.microsoft.com/office/drawing/2014/main" id="{FB374CA4-20A8-4D98-939E-730B2469C3B1}"/>
                </a:ext>
              </a:extLst>
            </p:cNvPr>
            <p:cNvSpPr>
              <a:spLocks/>
            </p:cNvSpPr>
            <p:nvPr/>
          </p:nvSpPr>
          <p:spPr bwMode="auto">
            <a:xfrm>
              <a:off x="8400256" y="3026378"/>
              <a:ext cx="190500" cy="98424"/>
            </a:xfrm>
            <a:custGeom>
              <a:avLst/>
              <a:gdLst>
                <a:gd name="T0" fmla="*/ 104 w 104"/>
                <a:gd name="T1" fmla="*/ 0 h 52"/>
                <a:gd name="T2" fmla="*/ 52 w 104"/>
                <a:gd name="T3" fmla="*/ 52 h 52"/>
                <a:gd name="T4" fmla="*/ 0 w 104"/>
                <a:gd name="T5" fmla="*/ 0 h 52"/>
                <a:gd name="T6" fmla="*/ 104 w 104"/>
                <a:gd name="T7" fmla="*/ 0 h 52"/>
              </a:gdLst>
              <a:ahLst/>
              <a:cxnLst>
                <a:cxn ang="0">
                  <a:pos x="T0" y="T1"/>
                </a:cxn>
                <a:cxn ang="0">
                  <a:pos x="T2" y="T3"/>
                </a:cxn>
                <a:cxn ang="0">
                  <a:pos x="T4" y="T5"/>
                </a:cxn>
                <a:cxn ang="0">
                  <a:pos x="T6" y="T7"/>
                </a:cxn>
              </a:cxnLst>
              <a:rect l="0" t="0" r="r" b="b"/>
              <a:pathLst>
                <a:path w="104" h="52">
                  <a:moveTo>
                    <a:pt x="104" y="0"/>
                  </a:moveTo>
                  <a:cubicBezTo>
                    <a:pt x="104" y="29"/>
                    <a:pt x="81" y="52"/>
                    <a:pt x="52" y="52"/>
                  </a:cubicBezTo>
                  <a:cubicBezTo>
                    <a:pt x="23" y="52"/>
                    <a:pt x="0" y="29"/>
                    <a:pt x="0" y="0"/>
                  </a:cubicBezTo>
                  <a:lnTo>
                    <a:pt x="104" y="0"/>
                  </a:lnTo>
                  <a:close/>
                </a:path>
              </a:pathLst>
            </a:cu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52" name="Freeform 116">
              <a:extLst>
                <a:ext uri="{FF2B5EF4-FFF2-40B4-BE49-F238E27FC236}">
                  <a16:creationId xmlns:a16="http://schemas.microsoft.com/office/drawing/2014/main" id="{4DF0E3CC-34CA-410F-A817-880C113DE727}"/>
                </a:ext>
              </a:extLst>
            </p:cNvPr>
            <p:cNvSpPr>
              <a:spLocks/>
            </p:cNvSpPr>
            <p:nvPr/>
          </p:nvSpPr>
          <p:spPr bwMode="auto">
            <a:xfrm>
              <a:off x="8400256" y="2832704"/>
              <a:ext cx="190500" cy="193674"/>
            </a:xfrm>
            <a:custGeom>
              <a:avLst/>
              <a:gdLst>
                <a:gd name="T0" fmla="*/ 60 w 60"/>
                <a:gd name="T1" fmla="*/ 61 h 61"/>
                <a:gd name="T2" fmla="*/ 0 w 60"/>
                <a:gd name="T3" fmla="*/ 61 h 61"/>
                <a:gd name="T4" fmla="*/ 12 w 60"/>
                <a:gd name="T5" fmla="*/ 37 h 61"/>
                <a:gd name="T6" fmla="*/ 30 w 60"/>
                <a:gd name="T7" fmla="*/ 0 h 61"/>
                <a:gd name="T8" fmla="*/ 48 w 60"/>
                <a:gd name="T9" fmla="*/ 37 h 61"/>
                <a:gd name="T10" fmla="*/ 60 w 60"/>
                <a:gd name="T11" fmla="*/ 61 h 61"/>
              </a:gdLst>
              <a:ahLst/>
              <a:cxnLst>
                <a:cxn ang="0">
                  <a:pos x="T0" y="T1"/>
                </a:cxn>
                <a:cxn ang="0">
                  <a:pos x="T2" y="T3"/>
                </a:cxn>
                <a:cxn ang="0">
                  <a:pos x="T4" y="T5"/>
                </a:cxn>
                <a:cxn ang="0">
                  <a:pos x="T6" y="T7"/>
                </a:cxn>
                <a:cxn ang="0">
                  <a:pos x="T8" y="T9"/>
                </a:cxn>
                <a:cxn ang="0">
                  <a:pos x="T10" y="T11"/>
                </a:cxn>
              </a:cxnLst>
              <a:rect l="0" t="0" r="r" b="b"/>
              <a:pathLst>
                <a:path w="60" h="61">
                  <a:moveTo>
                    <a:pt x="60" y="61"/>
                  </a:moveTo>
                  <a:lnTo>
                    <a:pt x="0" y="61"/>
                  </a:lnTo>
                  <a:lnTo>
                    <a:pt x="12" y="37"/>
                  </a:lnTo>
                  <a:lnTo>
                    <a:pt x="30" y="0"/>
                  </a:lnTo>
                  <a:lnTo>
                    <a:pt x="48" y="37"/>
                  </a:lnTo>
                  <a:lnTo>
                    <a:pt x="60" y="61"/>
                  </a:lnTo>
                  <a:close/>
                </a:path>
              </a:pathLst>
            </a:cu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53" name="Freeform 117">
              <a:extLst>
                <a:ext uri="{FF2B5EF4-FFF2-40B4-BE49-F238E27FC236}">
                  <a16:creationId xmlns:a16="http://schemas.microsoft.com/office/drawing/2014/main" id="{F76937DA-2AA0-42B8-8D86-E25E79EBA741}"/>
                </a:ext>
              </a:extLst>
            </p:cNvPr>
            <p:cNvSpPr>
              <a:spLocks/>
            </p:cNvSpPr>
            <p:nvPr/>
          </p:nvSpPr>
          <p:spPr bwMode="auto">
            <a:xfrm>
              <a:off x="8844756" y="3026378"/>
              <a:ext cx="193676" cy="98424"/>
            </a:xfrm>
            <a:custGeom>
              <a:avLst/>
              <a:gdLst>
                <a:gd name="T0" fmla="*/ 104 w 104"/>
                <a:gd name="T1" fmla="*/ 0 h 52"/>
                <a:gd name="T2" fmla="*/ 52 w 104"/>
                <a:gd name="T3" fmla="*/ 52 h 52"/>
                <a:gd name="T4" fmla="*/ 0 w 104"/>
                <a:gd name="T5" fmla="*/ 0 h 52"/>
                <a:gd name="T6" fmla="*/ 104 w 104"/>
                <a:gd name="T7" fmla="*/ 0 h 52"/>
              </a:gdLst>
              <a:ahLst/>
              <a:cxnLst>
                <a:cxn ang="0">
                  <a:pos x="T0" y="T1"/>
                </a:cxn>
                <a:cxn ang="0">
                  <a:pos x="T2" y="T3"/>
                </a:cxn>
                <a:cxn ang="0">
                  <a:pos x="T4" y="T5"/>
                </a:cxn>
                <a:cxn ang="0">
                  <a:pos x="T6" y="T7"/>
                </a:cxn>
              </a:cxnLst>
              <a:rect l="0" t="0" r="r" b="b"/>
              <a:pathLst>
                <a:path w="104" h="52">
                  <a:moveTo>
                    <a:pt x="104" y="0"/>
                  </a:moveTo>
                  <a:cubicBezTo>
                    <a:pt x="104" y="29"/>
                    <a:pt x="81" y="52"/>
                    <a:pt x="52" y="52"/>
                  </a:cubicBezTo>
                  <a:cubicBezTo>
                    <a:pt x="23" y="52"/>
                    <a:pt x="0" y="29"/>
                    <a:pt x="0" y="0"/>
                  </a:cubicBezTo>
                  <a:lnTo>
                    <a:pt x="104" y="0"/>
                  </a:lnTo>
                  <a:close/>
                </a:path>
              </a:pathLst>
            </a:cu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54" name="Freeform 118">
              <a:extLst>
                <a:ext uri="{FF2B5EF4-FFF2-40B4-BE49-F238E27FC236}">
                  <a16:creationId xmlns:a16="http://schemas.microsoft.com/office/drawing/2014/main" id="{C0A1CF6A-A402-470D-A22C-43D67DAAFFF8}"/>
                </a:ext>
              </a:extLst>
            </p:cNvPr>
            <p:cNvSpPr>
              <a:spLocks/>
            </p:cNvSpPr>
            <p:nvPr/>
          </p:nvSpPr>
          <p:spPr bwMode="auto">
            <a:xfrm>
              <a:off x="8844756" y="2832704"/>
              <a:ext cx="193676" cy="193674"/>
            </a:xfrm>
            <a:custGeom>
              <a:avLst/>
              <a:gdLst>
                <a:gd name="T0" fmla="*/ 61 w 61"/>
                <a:gd name="T1" fmla="*/ 61 h 61"/>
                <a:gd name="T2" fmla="*/ 0 w 61"/>
                <a:gd name="T3" fmla="*/ 61 h 61"/>
                <a:gd name="T4" fmla="*/ 12 w 61"/>
                <a:gd name="T5" fmla="*/ 37 h 61"/>
                <a:gd name="T6" fmla="*/ 30 w 61"/>
                <a:gd name="T7" fmla="*/ 0 h 61"/>
                <a:gd name="T8" fmla="*/ 48 w 61"/>
                <a:gd name="T9" fmla="*/ 37 h 61"/>
                <a:gd name="T10" fmla="*/ 61 w 61"/>
                <a:gd name="T11" fmla="*/ 61 h 61"/>
              </a:gdLst>
              <a:ahLst/>
              <a:cxnLst>
                <a:cxn ang="0">
                  <a:pos x="T0" y="T1"/>
                </a:cxn>
                <a:cxn ang="0">
                  <a:pos x="T2" y="T3"/>
                </a:cxn>
                <a:cxn ang="0">
                  <a:pos x="T4" y="T5"/>
                </a:cxn>
                <a:cxn ang="0">
                  <a:pos x="T6" y="T7"/>
                </a:cxn>
                <a:cxn ang="0">
                  <a:pos x="T8" y="T9"/>
                </a:cxn>
                <a:cxn ang="0">
                  <a:pos x="T10" y="T11"/>
                </a:cxn>
              </a:cxnLst>
              <a:rect l="0" t="0" r="r" b="b"/>
              <a:pathLst>
                <a:path w="61" h="61">
                  <a:moveTo>
                    <a:pt x="61" y="61"/>
                  </a:moveTo>
                  <a:lnTo>
                    <a:pt x="0" y="61"/>
                  </a:lnTo>
                  <a:lnTo>
                    <a:pt x="12" y="37"/>
                  </a:lnTo>
                  <a:lnTo>
                    <a:pt x="30" y="0"/>
                  </a:lnTo>
                  <a:lnTo>
                    <a:pt x="48" y="37"/>
                  </a:lnTo>
                  <a:lnTo>
                    <a:pt x="61" y="61"/>
                  </a:lnTo>
                  <a:close/>
                </a:path>
              </a:pathLst>
            </a:cu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dirty="0"/>
            </a:p>
          </p:txBody>
        </p:sp>
        <p:sp>
          <p:nvSpPr>
            <p:cNvPr id="55" name="Line 119">
              <a:extLst>
                <a:ext uri="{FF2B5EF4-FFF2-40B4-BE49-F238E27FC236}">
                  <a16:creationId xmlns:a16="http://schemas.microsoft.com/office/drawing/2014/main" id="{039D2CF4-3C15-45AC-AAE2-F432342EFC54}"/>
                </a:ext>
              </a:extLst>
            </p:cNvPr>
            <p:cNvSpPr>
              <a:spLocks noChangeShapeType="1"/>
            </p:cNvSpPr>
            <p:nvPr/>
          </p:nvSpPr>
          <p:spPr bwMode="auto">
            <a:xfrm>
              <a:off x="8717756" y="2775554"/>
              <a:ext cx="0" cy="498474"/>
            </a:xfrm>
            <a:prstGeom prst="line">
              <a:avLst/>
            </a:pr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56" name="Line 120">
              <a:extLst>
                <a:ext uri="{FF2B5EF4-FFF2-40B4-BE49-F238E27FC236}">
                  <a16:creationId xmlns:a16="http://schemas.microsoft.com/office/drawing/2014/main" id="{947B54FC-E381-4663-8009-9FB3B656775D}"/>
                </a:ext>
              </a:extLst>
            </p:cNvPr>
            <p:cNvSpPr>
              <a:spLocks noChangeShapeType="1"/>
            </p:cNvSpPr>
            <p:nvPr/>
          </p:nvSpPr>
          <p:spPr bwMode="auto">
            <a:xfrm>
              <a:off x="8578056" y="3280378"/>
              <a:ext cx="282576" cy="0"/>
            </a:xfrm>
            <a:prstGeom prst="line">
              <a:avLst/>
            </a:prstGeom>
            <a:grp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grpSp>
      <p:grpSp>
        <p:nvGrpSpPr>
          <p:cNvPr id="4" name="Groupe 3">
            <a:extLst>
              <a:ext uri="{FF2B5EF4-FFF2-40B4-BE49-F238E27FC236}">
                <a16:creationId xmlns:a16="http://schemas.microsoft.com/office/drawing/2014/main" id="{34559ABA-853E-4E13-BA3C-5911E689E9A1}"/>
              </a:ext>
            </a:extLst>
          </p:cNvPr>
          <p:cNvGrpSpPr/>
          <p:nvPr/>
        </p:nvGrpSpPr>
        <p:grpSpPr>
          <a:xfrm>
            <a:off x="3120435" y="444964"/>
            <a:ext cx="562381" cy="468878"/>
            <a:chOff x="7157802" y="2922097"/>
            <a:chExt cx="638176" cy="638174"/>
          </a:xfrm>
        </p:grpSpPr>
        <p:sp>
          <p:nvSpPr>
            <p:cNvPr id="58" name="Freeform 75">
              <a:extLst>
                <a:ext uri="{FF2B5EF4-FFF2-40B4-BE49-F238E27FC236}">
                  <a16:creationId xmlns:a16="http://schemas.microsoft.com/office/drawing/2014/main" id="{99EB8378-A577-46E7-A32F-0E8672D8788D}"/>
                </a:ext>
              </a:extLst>
            </p:cNvPr>
            <p:cNvSpPr>
              <a:spLocks/>
            </p:cNvSpPr>
            <p:nvPr/>
          </p:nvSpPr>
          <p:spPr bwMode="auto">
            <a:xfrm>
              <a:off x="7157802" y="2922097"/>
              <a:ext cx="638176" cy="260350"/>
            </a:xfrm>
            <a:custGeom>
              <a:avLst/>
              <a:gdLst>
                <a:gd name="T0" fmla="*/ 201 w 201"/>
                <a:gd name="T1" fmla="*/ 82 h 82"/>
                <a:gd name="T2" fmla="*/ 0 w 201"/>
                <a:gd name="T3" fmla="*/ 82 h 82"/>
                <a:gd name="T4" fmla="*/ 100 w 201"/>
                <a:gd name="T5" fmla="*/ 0 h 82"/>
                <a:gd name="T6" fmla="*/ 201 w 201"/>
                <a:gd name="T7" fmla="*/ 82 h 82"/>
              </a:gdLst>
              <a:ahLst/>
              <a:cxnLst>
                <a:cxn ang="0">
                  <a:pos x="T0" y="T1"/>
                </a:cxn>
                <a:cxn ang="0">
                  <a:pos x="T2" y="T3"/>
                </a:cxn>
                <a:cxn ang="0">
                  <a:pos x="T4" y="T5"/>
                </a:cxn>
                <a:cxn ang="0">
                  <a:pos x="T6" y="T7"/>
                </a:cxn>
              </a:cxnLst>
              <a:rect l="0" t="0" r="r" b="b"/>
              <a:pathLst>
                <a:path w="201" h="82">
                  <a:moveTo>
                    <a:pt x="201" y="82"/>
                  </a:moveTo>
                  <a:lnTo>
                    <a:pt x="0" y="82"/>
                  </a:lnTo>
                  <a:lnTo>
                    <a:pt x="100" y="0"/>
                  </a:lnTo>
                  <a:lnTo>
                    <a:pt x="201" y="82"/>
                  </a:lnTo>
                  <a:close/>
                </a:path>
              </a:pathLst>
            </a:cu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sp>
          <p:nvSpPr>
            <p:cNvPr id="59" name="Line 76">
              <a:extLst>
                <a:ext uri="{FF2B5EF4-FFF2-40B4-BE49-F238E27FC236}">
                  <a16:creationId xmlns:a16="http://schemas.microsoft.com/office/drawing/2014/main" id="{44DA7A1D-5A0E-453A-90F6-F96A3D3B1A04}"/>
                </a:ext>
              </a:extLst>
            </p:cNvPr>
            <p:cNvSpPr>
              <a:spLocks noChangeShapeType="1"/>
            </p:cNvSpPr>
            <p:nvPr/>
          </p:nvSpPr>
          <p:spPr bwMode="auto">
            <a:xfrm>
              <a:off x="7507052" y="3233247"/>
              <a:ext cx="0" cy="209550"/>
            </a:xfrm>
            <a:prstGeom prst="line">
              <a:avLst/>
            </a:pr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sp>
          <p:nvSpPr>
            <p:cNvPr id="60" name="Line 77">
              <a:extLst>
                <a:ext uri="{FF2B5EF4-FFF2-40B4-BE49-F238E27FC236}">
                  <a16:creationId xmlns:a16="http://schemas.microsoft.com/office/drawing/2014/main" id="{8279F5E5-86FD-44F5-A9B8-A93F45D37EE4}"/>
                </a:ext>
              </a:extLst>
            </p:cNvPr>
            <p:cNvSpPr>
              <a:spLocks noChangeShapeType="1"/>
            </p:cNvSpPr>
            <p:nvPr/>
          </p:nvSpPr>
          <p:spPr bwMode="auto">
            <a:xfrm>
              <a:off x="7446728" y="3233247"/>
              <a:ext cx="0" cy="209550"/>
            </a:xfrm>
            <a:prstGeom prst="line">
              <a:avLst/>
            </a:pr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sp>
          <p:nvSpPr>
            <p:cNvPr id="61" name="Line 78">
              <a:extLst>
                <a:ext uri="{FF2B5EF4-FFF2-40B4-BE49-F238E27FC236}">
                  <a16:creationId xmlns:a16="http://schemas.microsoft.com/office/drawing/2014/main" id="{5F427D0D-135F-43A4-AA89-14E791226615}"/>
                </a:ext>
              </a:extLst>
            </p:cNvPr>
            <p:cNvSpPr>
              <a:spLocks noChangeShapeType="1"/>
            </p:cNvSpPr>
            <p:nvPr/>
          </p:nvSpPr>
          <p:spPr bwMode="auto">
            <a:xfrm>
              <a:off x="7719778" y="3233247"/>
              <a:ext cx="0" cy="209550"/>
            </a:xfrm>
            <a:prstGeom prst="line">
              <a:avLst/>
            </a:pr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sp>
          <p:nvSpPr>
            <p:cNvPr id="62" name="Line 79">
              <a:extLst>
                <a:ext uri="{FF2B5EF4-FFF2-40B4-BE49-F238E27FC236}">
                  <a16:creationId xmlns:a16="http://schemas.microsoft.com/office/drawing/2014/main" id="{2D2E6F04-60C6-4D61-94BA-77DCD578F1F0}"/>
                </a:ext>
              </a:extLst>
            </p:cNvPr>
            <p:cNvSpPr>
              <a:spLocks noChangeShapeType="1"/>
            </p:cNvSpPr>
            <p:nvPr/>
          </p:nvSpPr>
          <p:spPr bwMode="auto">
            <a:xfrm>
              <a:off x="7662628" y="3233247"/>
              <a:ext cx="0" cy="209550"/>
            </a:xfrm>
            <a:prstGeom prst="line">
              <a:avLst/>
            </a:pr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sp>
          <p:nvSpPr>
            <p:cNvPr id="63" name="Line 80">
              <a:extLst>
                <a:ext uri="{FF2B5EF4-FFF2-40B4-BE49-F238E27FC236}">
                  <a16:creationId xmlns:a16="http://schemas.microsoft.com/office/drawing/2014/main" id="{EBDBBFDC-EFD2-4160-8C04-173410783C52}"/>
                </a:ext>
              </a:extLst>
            </p:cNvPr>
            <p:cNvSpPr>
              <a:spLocks noChangeShapeType="1"/>
            </p:cNvSpPr>
            <p:nvPr/>
          </p:nvSpPr>
          <p:spPr bwMode="auto">
            <a:xfrm>
              <a:off x="7291152" y="3233247"/>
              <a:ext cx="0" cy="209550"/>
            </a:xfrm>
            <a:prstGeom prst="line">
              <a:avLst/>
            </a:pr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sp>
          <p:nvSpPr>
            <p:cNvPr id="64" name="Line 81">
              <a:extLst>
                <a:ext uri="{FF2B5EF4-FFF2-40B4-BE49-F238E27FC236}">
                  <a16:creationId xmlns:a16="http://schemas.microsoft.com/office/drawing/2014/main" id="{EA95C8CE-017F-479D-8461-8E2BB778376D}"/>
                </a:ext>
              </a:extLst>
            </p:cNvPr>
            <p:cNvSpPr>
              <a:spLocks noChangeShapeType="1"/>
            </p:cNvSpPr>
            <p:nvPr/>
          </p:nvSpPr>
          <p:spPr bwMode="auto">
            <a:xfrm>
              <a:off x="7230828" y="3233247"/>
              <a:ext cx="0" cy="209550"/>
            </a:xfrm>
            <a:prstGeom prst="line">
              <a:avLst/>
            </a:pr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sp>
          <p:nvSpPr>
            <p:cNvPr id="65" name="Line 82">
              <a:extLst>
                <a:ext uri="{FF2B5EF4-FFF2-40B4-BE49-F238E27FC236}">
                  <a16:creationId xmlns:a16="http://schemas.microsoft.com/office/drawing/2014/main" id="{46CF2708-326C-47E6-AC8D-7AE303BE669D}"/>
                </a:ext>
              </a:extLst>
            </p:cNvPr>
            <p:cNvSpPr>
              <a:spLocks noChangeShapeType="1"/>
            </p:cNvSpPr>
            <p:nvPr/>
          </p:nvSpPr>
          <p:spPr bwMode="auto">
            <a:xfrm>
              <a:off x="7192728" y="3499947"/>
              <a:ext cx="565150" cy="0"/>
            </a:xfrm>
            <a:prstGeom prst="line">
              <a:avLst/>
            </a:pr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sp>
          <p:nvSpPr>
            <p:cNvPr id="66" name="Line 83">
              <a:extLst>
                <a:ext uri="{FF2B5EF4-FFF2-40B4-BE49-F238E27FC236}">
                  <a16:creationId xmlns:a16="http://schemas.microsoft.com/office/drawing/2014/main" id="{A1C19E18-D5BE-4309-ABA3-713CA0CEC398}"/>
                </a:ext>
              </a:extLst>
            </p:cNvPr>
            <p:cNvSpPr>
              <a:spLocks noChangeShapeType="1"/>
            </p:cNvSpPr>
            <p:nvPr/>
          </p:nvSpPr>
          <p:spPr bwMode="auto">
            <a:xfrm>
              <a:off x="7192728" y="3560271"/>
              <a:ext cx="565150" cy="0"/>
            </a:xfrm>
            <a:prstGeom prst="line">
              <a:avLst/>
            </a:prstGeom>
            <a:noFill/>
            <a:ln w="38100" cap="rnd">
              <a:solidFill>
                <a:srgbClr val="00B2A9"/>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b="1"/>
            </a:p>
          </p:txBody>
        </p:sp>
      </p:grpSp>
      <p:grpSp>
        <p:nvGrpSpPr>
          <p:cNvPr id="6" name="Groupe 5">
            <a:extLst>
              <a:ext uri="{FF2B5EF4-FFF2-40B4-BE49-F238E27FC236}">
                <a16:creationId xmlns:a16="http://schemas.microsoft.com/office/drawing/2014/main" id="{2FD9638C-2A32-420C-AB9B-8DA8995AC73F}"/>
              </a:ext>
            </a:extLst>
          </p:cNvPr>
          <p:cNvGrpSpPr/>
          <p:nvPr/>
        </p:nvGrpSpPr>
        <p:grpSpPr>
          <a:xfrm>
            <a:off x="3120435" y="2367372"/>
            <a:ext cx="439105" cy="459638"/>
            <a:chOff x="6797847" y="2961974"/>
            <a:chExt cx="638176" cy="641350"/>
          </a:xfrm>
        </p:grpSpPr>
        <p:sp>
          <p:nvSpPr>
            <p:cNvPr id="73" name="Freeform 53">
              <a:extLst>
                <a:ext uri="{FF2B5EF4-FFF2-40B4-BE49-F238E27FC236}">
                  <a16:creationId xmlns:a16="http://schemas.microsoft.com/office/drawing/2014/main" id="{43BA9BB1-E07F-4CFD-8056-4CCA50181526}"/>
                </a:ext>
              </a:extLst>
            </p:cNvPr>
            <p:cNvSpPr>
              <a:spLocks/>
            </p:cNvSpPr>
            <p:nvPr/>
          </p:nvSpPr>
          <p:spPr bwMode="auto">
            <a:xfrm>
              <a:off x="6797847" y="2961974"/>
              <a:ext cx="638176" cy="641350"/>
            </a:xfrm>
            <a:custGeom>
              <a:avLst/>
              <a:gdLst>
                <a:gd name="T0" fmla="*/ 201 w 201"/>
                <a:gd name="T1" fmla="*/ 202 h 202"/>
                <a:gd name="T2" fmla="*/ 0 w 201"/>
                <a:gd name="T3" fmla="*/ 202 h 202"/>
                <a:gd name="T4" fmla="*/ 0 w 201"/>
                <a:gd name="T5" fmla="*/ 0 h 202"/>
              </a:gdLst>
              <a:ahLst/>
              <a:cxnLst>
                <a:cxn ang="0">
                  <a:pos x="T0" y="T1"/>
                </a:cxn>
                <a:cxn ang="0">
                  <a:pos x="T2" y="T3"/>
                </a:cxn>
                <a:cxn ang="0">
                  <a:pos x="T4" y="T5"/>
                </a:cxn>
              </a:cxnLst>
              <a:rect l="0" t="0" r="r" b="b"/>
              <a:pathLst>
                <a:path w="201" h="202">
                  <a:moveTo>
                    <a:pt x="201" y="202"/>
                  </a:moveTo>
                  <a:lnTo>
                    <a:pt x="0" y="202"/>
                  </a:lnTo>
                  <a:lnTo>
                    <a:pt x="0" y="0"/>
                  </a:lnTo>
                </a:path>
              </a:pathLst>
            </a:custGeom>
            <a:noFill/>
            <a:ln w="38100" cap="rnd">
              <a:solidFill>
                <a:srgbClr val="00B2A9">
                  <a:alpha val="99000"/>
                </a:srgbClr>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74" name="Line 54">
              <a:extLst>
                <a:ext uri="{FF2B5EF4-FFF2-40B4-BE49-F238E27FC236}">
                  <a16:creationId xmlns:a16="http://schemas.microsoft.com/office/drawing/2014/main" id="{05D3A53B-F493-4A24-91E0-09C39D89EDBE}"/>
                </a:ext>
              </a:extLst>
            </p:cNvPr>
            <p:cNvSpPr>
              <a:spLocks noChangeShapeType="1"/>
            </p:cNvSpPr>
            <p:nvPr/>
          </p:nvSpPr>
          <p:spPr bwMode="auto">
            <a:xfrm flipV="1">
              <a:off x="7096297" y="3127074"/>
              <a:ext cx="187326" cy="95250"/>
            </a:xfrm>
            <a:prstGeom prst="line">
              <a:avLst/>
            </a:prstGeom>
            <a:noFill/>
            <a:ln w="38100" cap="rnd">
              <a:solidFill>
                <a:srgbClr val="00B2A9">
                  <a:alpha val="99000"/>
                </a:srgbClr>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75" name="Line 55">
              <a:extLst>
                <a:ext uri="{FF2B5EF4-FFF2-40B4-BE49-F238E27FC236}">
                  <a16:creationId xmlns:a16="http://schemas.microsoft.com/office/drawing/2014/main" id="{9F3A8896-9F4C-4FBB-8056-119C1A239216}"/>
                </a:ext>
              </a:extLst>
            </p:cNvPr>
            <p:cNvSpPr>
              <a:spLocks noChangeShapeType="1"/>
            </p:cNvSpPr>
            <p:nvPr/>
          </p:nvSpPr>
          <p:spPr bwMode="auto">
            <a:xfrm flipV="1">
              <a:off x="6940723" y="3266774"/>
              <a:ext cx="98426" cy="165100"/>
            </a:xfrm>
            <a:prstGeom prst="line">
              <a:avLst/>
            </a:prstGeom>
            <a:noFill/>
            <a:ln w="38100" cap="rnd">
              <a:solidFill>
                <a:srgbClr val="00B2A9">
                  <a:alpha val="99000"/>
                </a:srgbClr>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76" name="Oval 56">
              <a:extLst>
                <a:ext uri="{FF2B5EF4-FFF2-40B4-BE49-F238E27FC236}">
                  <a16:creationId xmlns:a16="http://schemas.microsoft.com/office/drawing/2014/main" id="{BC01A6CB-9B4B-40B9-BE35-8D614EF93CEF}"/>
                </a:ext>
              </a:extLst>
            </p:cNvPr>
            <p:cNvSpPr>
              <a:spLocks noChangeArrowheads="1"/>
            </p:cNvSpPr>
            <p:nvPr/>
          </p:nvSpPr>
          <p:spPr bwMode="auto">
            <a:xfrm>
              <a:off x="6886747" y="3422348"/>
              <a:ext cx="73026" cy="76200"/>
            </a:xfrm>
            <a:prstGeom prst="ellipse">
              <a:avLst/>
            </a:prstGeom>
            <a:noFill/>
            <a:ln w="38100" cap="rnd">
              <a:solidFill>
                <a:srgbClr val="00B2A9">
                  <a:alpha val="99000"/>
                </a:srgbClr>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77" name="Oval 57">
              <a:extLst>
                <a:ext uri="{FF2B5EF4-FFF2-40B4-BE49-F238E27FC236}">
                  <a16:creationId xmlns:a16="http://schemas.microsoft.com/office/drawing/2014/main" id="{DB8AF401-9335-4E21-90A4-757F87030EE3}"/>
                </a:ext>
              </a:extLst>
            </p:cNvPr>
            <p:cNvSpPr>
              <a:spLocks noChangeArrowheads="1"/>
            </p:cNvSpPr>
            <p:nvPr/>
          </p:nvSpPr>
          <p:spPr bwMode="auto">
            <a:xfrm>
              <a:off x="7035973" y="3206448"/>
              <a:ext cx="73026" cy="76200"/>
            </a:xfrm>
            <a:prstGeom prst="ellipse">
              <a:avLst/>
            </a:prstGeom>
            <a:noFill/>
            <a:ln w="38100" cap="rnd">
              <a:solidFill>
                <a:srgbClr val="00B2A9">
                  <a:alpha val="99000"/>
                </a:srgbClr>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sp>
          <p:nvSpPr>
            <p:cNvPr id="78" name="Oval 58">
              <a:extLst>
                <a:ext uri="{FF2B5EF4-FFF2-40B4-BE49-F238E27FC236}">
                  <a16:creationId xmlns:a16="http://schemas.microsoft.com/office/drawing/2014/main" id="{09FEED0F-CF9C-48B9-8FE1-4C17B28FF504}"/>
                </a:ext>
              </a:extLst>
            </p:cNvPr>
            <p:cNvSpPr>
              <a:spLocks noChangeArrowheads="1"/>
            </p:cNvSpPr>
            <p:nvPr/>
          </p:nvSpPr>
          <p:spPr bwMode="auto">
            <a:xfrm>
              <a:off x="7280447" y="3066748"/>
              <a:ext cx="73026" cy="73024"/>
            </a:xfrm>
            <a:prstGeom prst="ellipse">
              <a:avLst/>
            </a:prstGeom>
            <a:noFill/>
            <a:ln w="38100" cap="rnd">
              <a:solidFill>
                <a:srgbClr val="00B2A9">
                  <a:alpha val="99000"/>
                </a:srgbClr>
              </a:solidFill>
              <a:prstDash val="solid"/>
              <a:round/>
              <a:headEnd/>
              <a:tailEnd/>
            </a:ln>
          </p:spPr>
          <p:txBody>
            <a:bodyPr vert="horz" wrap="square" lIns="182880" tIns="91440" rIns="182880" bIns="91440" numCol="1" anchor="t" anchorCtr="0" compatLnSpc="1">
              <a:prstTxWarp prst="textNoShape">
                <a:avLst/>
              </a:prstTxWarp>
            </a:bodyPr>
            <a:lstStyle/>
            <a:p>
              <a:endParaRPr lang="id-ID" sz="3600"/>
            </a:p>
          </p:txBody>
        </p:sp>
      </p:grpSp>
      <p:sp>
        <p:nvSpPr>
          <p:cNvPr id="68" name="Unique…">
            <a:extLst>
              <a:ext uri="{FF2B5EF4-FFF2-40B4-BE49-F238E27FC236}">
                <a16:creationId xmlns:a16="http://schemas.microsoft.com/office/drawing/2014/main" id="{DDF5BF2F-0288-4F74-AEF2-44E3A48885D2}"/>
              </a:ext>
            </a:extLst>
          </p:cNvPr>
          <p:cNvSpPr txBox="1"/>
          <p:nvPr/>
        </p:nvSpPr>
        <p:spPr>
          <a:xfrm>
            <a:off x="7728890" y="4774547"/>
            <a:ext cx="4056575" cy="145167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defTabSz="412750" hangingPunct="0">
              <a:lnSpc>
                <a:spcPct val="150000"/>
              </a:lnSpc>
              <a:defRPr b="0">
                <a:solidFill>
                  <a:srgbClr val="2C2E3C"/>
                </a:solidFill>
                <a:latin typeface="Quicksand Bold"/>
                <a:ea typeface="Quicksand Bold"/>
                <a:cs typeface="Quicksand Bold"/>
                <a:sym typeface="Quicksand Bold"/>
              </a:defRPr>
            </a:pPr>
            <a:r>
              <a:rPr lang="en-US" sz="1400" b="1" kern="0" dirty="0">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Services </a:t>
            </a:r>
            <a:r>
              <a:rPr lang="en-US" sz="1400" b="1" kern="0" dirty="0" err="1">
                <a:solidFill>
                  <a:srgbClr val="0D5257"/>
                </a:solidFill>
                <a:latin typeface="Tahoma" panose="020B0604030504040204" pitchFamily="34" charset="0"/>
                <a:ea typeface="Tahoma" panose="020B0604030504040204" pitchFamily="34" charset="0"/>
                <a:cs typeface="Tahoma" panose="020B0604030504040204" pitchFamily="34" charset="0"/>
                <a:sym typeface="Quicksand Bold"/>
              </a:rPr>
              <a:t>internationaux</a:t>
            </a:r>
            <a:endParaRPr lang="en-US" sz="1400" kern="0" dirty="0">
              <a:solidFill>
                <a:srgbClr val="2C2E3C"/>
              </a:solidFill>
              <a:latin typeface="Tahoma" panose="020B0604030504040204" pitchFamily="34" charset="0"/>
              <a:ea typeface="Tahoma" panose="020B0604030504040204" pitchFamily="34" charset="0"/>
              <a:cs typeface="Tahoma" panose="020B0604030504040204" pitchFamily="34" charset="0"/>
              <a:sym typeface="Quicksand Bold"/>
            </a:endParaRPr>
          </a:p>
          <a:p>
            <a:pPr algn="just">
              <a:spcBef>
                <a:spcPts val="400"/>
              </a:spcBef>
            </a:pP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Notre cabinet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conseille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dans la gestion de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relative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flux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transfrontaliers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qu'ils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soient</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physiques,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immatériels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financiers. Nous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vous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accompagnons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France et à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l'étranger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avec des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équipes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pluridisciplinaires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mixtes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matière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contentieux</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fiscalité</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internationale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TVA, fusions et acquisitions) et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conseil</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optimisation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la performance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chaîne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logistique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stratégie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valorisation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etc.), dans la conception et la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réalisation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projets</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réorganisation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ou</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modification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votre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chaîne</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de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valeur</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et de structuration </a:t>
            </a:r>
            <a:r>
              <a:rPr lang="en-US" sz="1000" kern="0" dirty="0" err="1">
                <a:solidFill>
                  <a:srgbClr val="575756"/>
                </a:solidFill>
                <a:latin typeface="Tahoma" panose="020B0604030504040204" pitchFamily="34" charset="0"/>
                <a:ea typeface="Tahoma" panose="020B0604030504040204" pitchFamily="34" charset="0"/>
                <a:cs typeface="Tahoma" panose="020B0604030504040204" pitchFamily="34" charset="0"/>
              </a:rPr>
              <a:t>en</a:t>
            </a:r>
            <a:r>
              <a:rPr lang="en-US" sz="1000" kern="0" dirty="0">
                <a:solidFill>
                  <a:srgbClr val="575756"/>
                </a:solidFill>
                <a:latin typeface="Tahoma" panose="020B0604030504040204" pitchFamily="34" charset="0"/>
                <a:ea typeface="Tahoma" panose="020B0604030504040204" pitchFamily="34" charset="0"/>
                <a:cs typeface="Tahoma" panose="020B0604030504040204" pitchFamily="34" charset="0"/>
              </a:rPr>
              <a:t> France et dans le monde.</a:t>
            </a:r>
            <a:endParaRPr lang="en-US" sz="1000" dirty="0">
              <a:solidFill>
                <a:srgbClr val="575756"/>
              </a:solidFill>
              <a:latin typeface="Tahoma" panose="020B0604030504040204" pitchFamily="34" charset="0"/>
              <a:ea typeface="Tahoma" panose="020B0604030504040204" pitchFamily="34" charset="0"/>
              <a:cs typeface="Tahoma" panose="020B0604030504040204" pitchFamily="34" charset="0"/>
            </a:endParaRPr>
          </a:p>
        </p:txBody>
      </p:sp>
      <p:grpSp>
        <p:nvGrpSpPr>
          <p:cNvPr id="88" name="Group 35">
            <a:extLst>
              <a:ext uri="{FF2B5EF4-FFF2-40B4-BE49-F238E27FC236}">
                <a16:creationId xmlns:a16="http://schemas.microsoft.com/office/drawing/2014/main" id="{83E44AF7-7BF0-46A0-A1B7-4D09240DC0A5}"/>
              </a:ext>
            </a:extLst>
          </p:cNvPr>
          <p:cNvGrpSpPr>
            <a:grpSpLocks noChangeAspect="1"/>
          </p:cNvGrpSpPr>
          <p:nvPr/>
        </p:nvGrpSpPr>
        <p:grpSpPr bwMode="auto">
          <a:xfrm>
            <a:off x="7821783" y="4293131"/>
            <a:ext cx="538048" cy="516417"/>
            <a:chOff x="2779" y="84"/>
            <a:chExt cx="199" cy="191"/>
          </a:xfrm>
          <a:solidFill>
            <a:srgbClr val="00B2A9"/>
          </a:solidFill>
        </p:grpSpPr>
        <p:sp>
          <p:nvSpPr>
            <p:cNvPr id="89" name="Freeform 36">
              <a:extLst>
                <a:ext uri="{FF2B5EF4-FFF2-40B4-BE49-F238E27FC236}">
                  <a16:creationId xmlns:a16="http://schemas.microsoft.com/office/drawing/2014/main" id="{3182972E-C006-4A93-9707-444379529C56}"/>
                </a:ext>
              </a:extLst>
            </p:cNvPr>
            <p:cNvSpPr>
              <a:spLocks noEditPoints="1"/>
            </p:cNvSpPr>
            <p:nvPr/>
          </p:nvSpPr>
          <p:spPr bwMode="auto">
            <a:xfrm>
              <a:off x="2779" y="84"/>
              <a:ext cx="71" cy="92"/>
            </a:xfrm>
            <a:custGeom>
              <a:avLst/>
              <a:gdLst>
                <a:gd name="T0" fmla="*/ 54 w 107"/>
                <a:gd name="T1" fmla="*/ 139 h 139"/>
                <a:gd name="T2" fmla="*/ 61 w 107"/>
                <a:gd name="T3" fmla="*/ 136 h 139"/>
                <a:gd name="T4" fmla="*/ 107 w 107"/>
                <a:gd name="T5" fmla="*/ 53 h 139"/>
                <a:gd name="T6" fmla="*/ 54 w 107"/>
                <a:gd name="T7" fmla="*/ 0 h 139"/>
                <a:gd name="T8" fmla="*/ 0 w 107"/>
                <a:gd name="T9" fmla="*/ 53 h 139"/>
                <a:gd name="T10" fmla="*/ 46 w 107"/>
                <a:gd name="T11" fmla="*/ 136 h 139"/>
                <a:gd name="T12" fmla="*/ 54 w 107"/>
                <a:gd name="T13" fmla="*/ 139 h 139"/>
                <a:gd name="T14" fmla="*/ 54 w 107"/>
                <a:gd name="T15" fmla="*/ 21 h 139"/>
                <a:gd name="T16" fmla="*/ 86 w 107"/>
                <a:gd name="T17" fmla="*/ 53 h 139"/>
                <a:gd name="T18" fmla="*/ 54 w 107"/>
                <a:gd name="T19" fmla="*/ 113 h 139"/>
                <a:gd name="T20" fmla="*/ 22 w 107"/>
                <a:gd name="T21" fmla="*/ 53 h 139"/>
                <a:gd name="T22" fmla="*/ 54 w 107"/>
                <a:gd name="T23" fmla="*/ 2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 h="139">
                  <a:moveTo>
                    <a:pt x="54" y="139"/>
                  </a:moveTo>
                  <a:cubicBezTo>
                    <a:pt x="56" y="139"/>
                    <a:pt x="59" y="138"/>
                    <a:pt x="61" y="136"/>
                  </a:cubicBezTo>
                  <a:cubicBezTo>
                    <a:pt x="107" y="90"/>
                    <a:pt x="107" y="55"/>
                    <a:pt x="107" y="53"/>
                  </a:cubicBezTo>
                  <a:cubicBezTo>
                    <a:pt x="107" y="24"/>
                    <a:pt x="83" y="0"/>
                    <a:pt x="54" y="0"/>
                  </a:cubicBezTo>
                  <a:cubicBezTo>
                    <a:pt x="24" y="0"/>
                    <a:pt x="0" y="24"/>
                    <a:pt x="0" y="53"/>
                  </a:cubicBezTo>
                  <a:cubicBezTo>
                    <a:pt x="0" y="55"/>
                    <a:pt x="0" y="90"/>
                    <a:pt x="46" y="136"/>
                  </a:cubicBezTo>
                  <a:cubicBezTo>
                    <a:pt x="48" y="138"/>
                    <a:pt x="51" y="139"/>
                    <a:pt x="54" y="139"/>
                  </a:cubicBezTo>
                  <a:close/>
                  <a:moveTo>
                    <a:pt x="54" y="21"/>
                  </a:moveTo>
                  <a:cubicBezTo>
                    <a:pt x="71" y="21"/>
                    <a:pt x="86" y="36"/>
                    <a:pt x="86" y="53"/>
                  </a:cubicBezTo>
                  <a:cubicBezTo>
                    <a:pt x="86" y="54"/>
                    <a:pt x="85" y="78"/>
                    <a:pt x="54" y="113"/>
                  </a:cubicBezTo>
                  <a:cubicBezTo>
                    <a:pt x="23" y="78"/>
                    <a:pt x="22" y="54"/>
                    <a:pt x="22" y="53"/>
                  </a:cubicBezTo>
                  <a:cubicBezTo>
                    <a:pt x="22" y="36"/>
                    <a:pt x="36" y="21"/>
                    <a:pt x="54" y="21"/>
                  </a:cubicBezTo>
                  <a:close/>
                </a:path>
              </a:pathLst>
            </a:custGeom>
            <a:grpFill/>
            <a:ln w="0" cap="sq" cmpd="dbl">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highlight>
                  <a:srgbClr val="CC9900"/>
                </a:highlight>
              </a:endParaRPr>
            </a:p>
          </p:txBody>
        </p:sp>
        <p:sp>
          <p:nvSpPr>
            <p:cNvPr id="90" name="Oval 37">
              <a:extLst>
                <a:ext uri="{FF2B5EF4-FFF2-40B4-BE49-F238E27FC236}">
                  <a16:creationId xmlns:a16="http://schemas.microsoft.com/office/drawing/2014/main" id="{92AA6B1E-955A-4CFB-9F1B-792353DE7D0F}"/>
                </a:ext>
              </a:extLst>
            </p:cNvPr>
            <p:cNvSpPr>
              <a:spLocks noChangeArrowheads="1"/>
            </p:cNvSpPr>
            <p:nvPr/>
          </p:nvSpPr>
          <p:spPr bwMode="auto">
            <a:xfrm>
              <a:off x="2808" y="112"/>
              <a:ext cx="14" cy="14"/>
            </a:xfrm>
            <a:prstGeom prst="ellipse">
              <a:avLst/>
            </a:prstGeom>
            <a:grpFill/>
            <a:ln w="0" cap="sq" cmpd="dbl">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highlight>
                  <a:srgbClr val="CC9900"/>
                </a:highlight>
              </a:endParaRPr>
            </a:p>
          </p:txBody>
        </p:sp>
        <p:sp>
          <p:nvSpPr>
            <p:cNvPr id="91" name="Freeform 38">
              <a:extLst>
                <a:ext uri="{FF2B5EF4-FFF2-40B4-BE49-F238E27FC236}">
                  <a16:creationId xmlns:a16="http://schemas.microsoft.com/office/drawing/2014/main" id="{BAFC45F6-3814-42B9-BAF0-A0AB317D965F}"/>
                </a:ext>
              </a:extLst>
            </p:cNvPr>
            <p:cNvSpPr>
              <a:spLocks noEditPoints="1"/>
            </p:cNvSpPr>
            <p:nvPr/>
          </p:nvSpPr>
          <p:spPr bwMode="auto">
            <a:xfrm>
              <a:off x="2808" y="105"/>
              <a:ext cx="170" cy="170"/>
            </a:xfrm>
            <a:custGeom>
              <a:avLst/>
              <a:gdLst>
                <a:gd name="T0" fmla="*/ 128 w 256"/>
                <a:gd name="T1" fmla="*/ 0 h 256"/>
                <a:gd name="T2" fmla="*/ 93 w 256"/>
                <a:gd name="T3" fmla="*/ 5 h 256"/>
                <a:gd name="T4" fmla="*/ 86 w 256"/>
                <a:gd name="T5" fmla="*/ 18 h 256"/>
                <a:gd name="T6" fmla="*/ 94 w 256"/>
                <a:gd name="T7" fmla="*/ 25 h 256"/>
                <a:gd name="T8" fmla="*/ 78 w 256"/>
                <a:gd name="T9" fmla="*/ 75 h 256"/>
                <a:gd name="T10" fmla="*/ 75 w 256"/>
                <a:gd name="T11" fmla="*/ 75 h 256"/>
                <a:gd name="T12" fmla="*/ 64 w 256"/>
                <a:gd name="T13" fmla="*/ 85 h 256"/>
                <a:gd name="T14" fmla="*/ 75 w 256"/>
                <a:gd name="T15" fmla="*/ 96 h 256"/>
                <a:gd name="T16" fmla="*/ 75 w 256"/>
                <a:gd name="T17" fmla="*/ 96 h 256"/>
                <a:gd name="T18" fmla="*/ 73 w 256"/>
                <a:gd name="T19" fmla="*/ 128 h 256"/>
                <a:gd name="T20" fmla="*/ 75 w 256"/>
                <a:gd name="T21" fmla="*/ 160 h 256"/>
                <a:gd name="T22" fmla="*/ 26 w 256"/>
                <a:gd name="T23" fmla="*/ 160 h 256"/>
                <a:gd name="T24" fmla="*/ 22 w 256"/>
                <a:gd name="T25" fmla="*/ 138 h 256"/>
                <a:gd name="T26" fmla="*/ 10 w 256"/>
                <a:gd name="T27" fmla="*/ 128 h 256"/>
                <a:gd name="T28" fmla="*/ 1 w 256"/>
                <a:gd name="T29" fmla="*/ 140 h 256"/>
                <a:gd name="T30" fmla="*/ 128 w 256"/>
                <a:gd name="T31" fmla="*/ 256 h 256"/>
                <a:gd name="T32" fmla="*/ 256 w 256"/>
                <a:gd name="T33" fmla="*/ 128 h 256"/>
                <a:gd name="T34" fmla="*/ 128 w 256"/>
                <a:gd name="T35" fmla="*/ 0 h 256"/>
                <a:gd name="T36" fmla="*/ 36 w 256"/>
                <a:gd name="T37" fmla="*/ 181 h 256"/>
                <a:gd name="T38" fmla="*/ 78 w 256"/>
                <a:gd name="T39" fmla="*/ 181 h 256"/>
                <a:gd name="T40" fmla="*/ 93 w 256"/>
                <a:gd name="T41" fmla="*/ 229 h 256"/>
                <a:gd name="T42" fmla="*/ 36 w 256"/>
                <a:gd name="T43" fmla="*/ 181 h 256"/>
                <a:gd name="T44" fmla="*/ 220 w 256"/>
                <a:gd name="T45" fmla="*/ 75 h 256"/>
                <a:gd name="T46" fmla="*/ 178 w 256"/>
                <a:gd name="T47" fmla="*/ 75 h 256"/>
                <a:gd name="T48" fmla="*/ 163 w 256"/>
                <a:gd name="T49" fmla="*/ 27 h 256"/>
                <a:gd name="T50" fmla="*/ 220 w 256"/>
                <a:gd name="T51" fmla="*/ 75 h 256"/>
                <a:gd name="T52" fmla="*/ 128 w 256"/>
                <a:gd name="T53" fmla="*/ 21 h 256"/>
                <a:gd name="T54" fmla="*/ 156 w 256"/>
                <a:gd name="T55" fmla="*/ 75 h 256"/>
                <a:gd name="T56" fmla="*/ 100 w 256"/>
                <a:gd name="T57" fmla="*/ 75 h 256"/>
                <a:gd name="T58" fmla="*/ 128 w 256"/>
                <a:gd name="T59" fmla="*/ 21 h 256"/>
                <a:gd name="T60" fmla="*/ 128 w 256"/>
                <a:gd name="T61" fmla="*/ 235 h 256"/>
                <a:gd name="T62" fmla="*/ 100 w 256"/>
                <a:gd name="T63" fmla="*/ 181 h 256"/>
                <a:gd name="T64" fmla="*/ 156 w 256"/>
                <a:gd name="T65" fmla="*/ 181 h 256"/>
                <a:gd name="T66" fmla="*/ 128 w 256"/>
                <a:gd name="T67" fmla="*/ 235 h 256"/>
                <a:gd name="T68" fmla="*/ 160 w 256"/>
                <a:gd name="T69" fmla="*/ 160 h 256"/>
                <a:gd name="T70" fmla="*/ 96 w 256"/>
                <a:gd name="T71" fmla="*/ 160 h 256"/>
                <a:gd name="T72" fmla="*/ 95 w 256"/>
                <a:gd name="T73" fmla="*/ 128 h 256"/>
                <a:gd name="T74" fmla="*/ 96 w 256"/>
                <a:gd name="T75" fmla="*/ 96 h 256"/>
                <a:gd name="T76" fmla="*/ 160 w 256"/>
                <a:gd name="T77" fmla="*/ 96 h 256"/>
                <a:gd name="T78" fmla="*/ 161 w 256"/>
                <a:gd name="T79" fmla="*/ 128 h 256"/>
                <a:gd name="T80" fmla="*/ 160 w 256"/>
                <a:gd name="T81" fmla="*/ 160 h 256"/>
                <a:gd name="T82" fmla="*/ 163 w 256"/>
                <a:gd name="T83" fmla="*/ 229 h 256"/>
                <a:gd name="T84" fmla="*/ 178 w 256"/>
                <a:gd name="T85" fmla="*/ 181 h 256"/>
                <a:gd name="T86" fmla="*/ 220 w 256"/>
                <a:gd name="T87" fmla="*/ 181 h 256"/>
                <a:gd name="T88" fmla="*/ 163 w 256"/>
                <a:gd name="T89" fmla="*/ 229 h 256"/>
                <a:gd name="T90" fmla="*/ 181 w 256"/>
                <a:gd name="T91" fmla="*/ 160 h 256"/>
                <a:gd name="T92" fmla="*/ 183 w 256"/>
                <a:gd name="T93" fmla="*/ 128 h 256"/>
                <a:gd name="T94" fmla="*/ 181 w 256"/>
                <a:gd name="T95" fmla="*/ 96 h 256"/>
                <a:gd name="T96" fmla="*/ 230 w 256"/>
                <a:gd name="T97" fmla="*/ 96 h 256"/>
                <a:gd name="T98" fmla="*/ 235 w 256"/>
                <a:gd name="T99" fmla="*/ 128 h 256"/>
                <a:gd name="T100" fmla="*/ 230 w 256"/>
                <a:gd name="T101" fmla="*/ 160 h 256"/>
                <a:gd name="T102" fmla="*/ 181 w 256"/>
                <a:gd name="T103"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6">
                  <a:moveTo>
                    <a:pt x="128" y="0"/>
                  </a:moveTo>
                  <a:cubicBezTo>
                    <a:pt x="116" y="0"/>
                    <a:pt x="104" y="2"/>
                    <a:pt x="93" y="5"/>
                  </a:cubicBezTo>
                  <a:cubicBezTo>
                    <a:pt x="87" y="6"/>
                    <a:pt x="84" y="12"/>
                    <a:pt x="86" y="18"/>
                  </a:cubicBezTo>
                  <a:cubicBezTo>
                    <a:pt x="87" y="22"/>
                    <a:pt x="90" y="25"/>
                    <a:pt x="94" y="25"/>
                  </a:cubicBezTo>
                  <a:cubicBezTo>
                    <a:pt x="87" y="39"/>
                    <a:pt x="81" y="56"/>
                    <a:pt x="78" y="75"/>
                  </a:cubicBezTo>
                  <a:cubicBezTo>
                    <a:pt x="75" y="75"/>
                    <a:pt x="75" y="75"/>
                    <a:pt x="75" y="75"/>
                  </a:cubicBezTo>
                  <a:cubicBezTo>
                    <a:pt x="69" y="75"/>
                    <a:pt x="64" y="79"/>
                    <a:pt x="64" y="85"/>
                  </a:cubicBezTo>
                  <a:cubicBezTo>
                    <a:pt x="64" y="91"/>
                    <a:pt x="69" y="96"/>
                    <a:pt x="75" y="96"/>
                  </a:cubicBezTo>
                  <a:cubicBezTo>
                    <a:pt x="75" y="96"/>
                    <a:pt x="75" y="96"/>
                    <a:pt x="75" y="96"/>
                  </a:cubicBezTo>
                  <a:cubicBezTo>
                    <a:pt x="74" y="106"/>
                    <a:pt x="73" y="117"/>
                    <a:pt x="73" y="128"/>
                  </a:cubicBezTo>
                  <a:cubicBezTo>
                    <a:pt x="73" y="139"/>
                    <a:pt x="74" y="150"/>
                    <a:pt x="75" y="160"/>
                  </a:cubicBezTo>
                  <a:cubicBezTo>
                    <a:pt x="26" y="160"/>
                    <a:pt x="26" y="160"/>
                    <a:pt x="26" y="160"/>
                  </a:cubicBezTo>
                  <a:cubicBezTo>
                    <a:pt x="24" y="153"/>
                    <a:pt x="22" y="145"/>
                    <a:pt x="22" y="138"/>
                  </a:cubicBezTo>
                  <a:cubicBezTo>
                    <a:pt x="21" y="132"/>
                    <a:pt x="16" y="127"/>
                    <a:pt x="10" y="128"/>
                  </a:cubicBezTo>
                  <a:cubicBezTo>
                    <a:pt x="4" y="129"/>
                    <a:pt x="0" y="134"/>
                    <a:pt x="1" y="140"/>
                  </a:cubicBezTo>
                  <a:cubicBezTo>
                    <a:pt x="6" y="206"/>
                    <a:pt x="61" y="256"/>
                    <a:pt x="128" y="256"/>
                  </a:cubicBezTo>
                  <a:cubicBezTo>
                    <a:pt x="199" y="256"/>
                    <a:pt x="256" y="199"/>
                    <a:pt x="256" y="128"/>
                  </a:cubicBezTo>
                  <a:cubicBezTo>
                    <a:pt x="256" y="57"/>
                    <a:pt x="199" y="0"/>
                    <a:pt x="128" y="0"/>
                  </a:cubicBezTo>
                  <a:close/>
                  <a:moveTo>
                    <a:pt x="36" y="181"/>
                  </a:moveTo>
                  <a:cubicBezTo>
                    <a:pt x="78" y="181"/>
                    <a:pt x="78" y="181"/>
                    <a:pt x="78" y="181"/>
                  </a:cubicBezTo>
                  <a:cubicBezTo>
                    <a:pt x="81" y="200"/>
                    <a:pt x="86" y="216"/>
                    <a:pt x="93" y="229"/>
                  </a:cubicBezTo>
                  <a:cubicBezTo>
                    <a:pt x="69" y="220"/>
                    <a:pt x="48" y="204"/>
                    <a:pt x="36" y="181"/>
                  </a:cubicBezTo>
                  <a:close/>
                  <a:moveTo>
                    <a:pt x="220" y="75"/>
                  </a:moveTo>
                  <a:cubicBezTo>
                    <a:pt x="178" y="75"/>
                    <a:pt x="178" y="75"/>
                    <a:pt x="178" y="75"/>
                  </a:cubicBezTo>
                  <a:cubicBezTo>
                    <a:pt x="175" y="57"/>
                    <a:pt x="170" y="40"/>
                    <a:pt x="163" y="27"/>
                  </a:cubicBezTo>
                  <a:cubicBezTo>
                    <a:pt x="187" y="36"/>
                    <a:pt x="207" y="53"/>
                    <a:pt x="220" y="75"/>
                  </a:cubicBezTo>
                  <a:close/>
                  <a:moveTo>
                    <a:pt x="128" y="21"/>
                  </a:moveTo>
                  <a:cubicBezTo>
                    <a:pt x="137" y="21"/>
                    <a:pt x="150" y="41"/>
                    <a:pt x="156" y="75"/>
                  </a:cubicBezTo>
                  <a:cubicBezTo>
                    <a:pt x="100" y="75"/>
                    <a:pt x="100" y="75"/>
                    <a:pt x="100" y="75"/>
                  </a:cubicBezTo>
                  <a:cubicBezTo>
                    <a:pt x="106" y="41"/>
                    <a:pt x="119" y="21"/>
                    <a:pt x="128" y="21"/>
                  </a:cubicBezTo>
                  <a:close/>
                  <a:moveTo>
                    <a:pt x="128" y="235"/>
                  </a:moveTo>
                  <a:cubicBezTo>
                    <a:pt x="119" y="235"/>
                    <a:pt x="106" y="215"/>
                    <a:pt x="100" y="181"/>
                  </a:cubicBezTo>
                  <a:cubicBezTo>
                    <a:pt x="156" y="181"/>
                    <a:pt x="156" y="181"/>
                    <a:pt x="156" y="181"/>
                  </a:cubicBezTo>
                  <a:cubicBezTo>
                    <a:pt x="150" y="215"/>
                    <a:pt x="137" y="235"/>
                    <a:pt x="128" y="235"/>
                  </a:cubicBezTo>
                  <a:close/>
                  <a:moveTo>
                    <a:pt x="160" y="160"/>
                  </a:moveTo>
                  <a:cubicBezTo>
                    <a:pt x="96" y="160"/>
                    <a:pt x="96" y="160"/>
                    <a:pt x="96" y="160"/>
                  </a:cubicBezTo>
                  <a:cubicBezTo>
                    <a:pt x="95" y="150"/>
                    <a:pt x="95" y="139"/>
                    <a:pt x="95" y="128"/>
                  </a:cubicBezTo>
                  <a:cubicBezTo>
                    <a:pt x="95" y="117"/>
                    <a:pt x="95" y="106"/>
                    <a:pt x="96" y="96"/>
                  </a:cubicBezTo>
                  <a:cubicBezTo>
                    <a:pt x="160" y="96"/>
                    <a:pt x="160" y="96"/>
                    <a:pt x="160" y="96"/>
                  </a:cubicBezTo>
                  <a:cubicBezTo>
                    <a:pt x="161" y="106"/>
                    <a:pt x="161" y="117"/>
                    <a:pt x="161" y="128"/>
                  </a:cubicBezTo>
                  <a:cubicBezTo>
                    <a:pt x="161" y="139"/>
                    <a:pt x="161" y="150"/>
                    <a:pt x="160" y="160"/>
                  </a:cubicBezTo>
                  <a:close/>
                  <a:moveTo>
                    <a:pt x="163" y="229"/>
                  </a:moveTo>
                  <a:cubicBezTo>
                    <a:pt x="170" y="216"/>
                    <a:pt x="175" y="199"/>
                    <a:pt x="178" y="181"/>
                  </a:cubicBezTo>
                  <a:cubicBezTo>
                    <a:pt x="220" y="181"/>
                    <a:pt x="220" y="181"/>
                    <a:pt x="220" y="181"/>
                  </a:cubicBezTo>
                  <a:cubicBezTo>
                    <a:pt x="207" y="203"/>
                    <a:pt x="187" y="220"/>
                    <a:pt x="163" y="229"/>
                  </a:cubicBezTo>
                  <a:close/>
                  <a:moveTo>
                    <a:pt x="181" y="160"/>
                  </a:moveTo>
                  <a:cubicBezTo>
                    <a:pt x="182" y="150"/>
                    <a:pt x="183" y="139"/>
                    <a:pt x="183" y="128"/>
                  </a:cubicBezTo>
                  <a:cubicBezTo>
                    <a:pt x="183" y="117"/>
                    <a:pt x="182" y="106"/>
                    <a:pt x="181" y="96"/>
                  </a:cubicBezTo>
                  <a:cubicBezTo>
                    <a:pt x="230" y="96"/>
                    <a:pt x="230" y="96"/>
                    <a:pt x="230" y="96"/>
                  </a:cubicBezTo>
                  <a:cubicBezTo>
                    <a:pt x="233" y="106"/>
                    <a:pt x="235" y="117"/>
                    <a:pt x="235" y="128"/>
                  </a:cubicBezTo>
                  <a:cubicBezTo>
                    <a:pt x="235" y="139"/>
                    <a:pt x="233" y="150"/>
                    <a:pt x="230" y="160"/>
                  </a:cubicBezTo>
                  <a:lnTo>
                    <a:pt x="181" y="160"/>
                  </a:lnTo>
                  <a:close/>
                </a:path>
              </a:pathLst>
            </a:custGeom>
            <a:grpFill/>
            <a:ln w="0" cap="sq" cmpd="dbl">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highlight>
                  <a:srgbClr val="CC9900"/>
                </a:highlight>
              </a:endParaRPr>
            </a:p>
          </p:txBody>
        </p:sp>
      </p:grpSp>
      <p:sp>
        <p:nvSpPr>
          <p:cNvPr id="47" name="Titre 4">
            <a:extLst>
              <a:ext uri="{FF2B5EF4-FFF2-40B4-BE49-F238E27FC236}">
                <a16:creationId xmlns:a16="http://schemas.microsoft.com/office/drawing/2014/main" id="{A2F73613-B32B-40A8-9B1A-68B36D2668EB}"/>
              </a:ext>
            </a:extLst>
          </p:cNvPr>
          <p:cNvSpPr txBox="1">
            <a:spLocks/>
          </p:cNvSpPr>
          <p:nvPr/>
        </p:nvSpPr>
        <p:spPr>
          <a:xfrm>
            <a:off x="202895" y="226512"/>
            <a:ext cx="2644604" cy="813309"/>
          </a:xfrm>
          <a:prstGeom prst="rect">
            <a:avLst/>
          </a:prstGeom>
        </p:spPr>
        <p:txBody>
          <a:bodyPr vert="horz" lIns="0" tIns="0" rIns="0" bIns="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sz="2800" dirty="0"/>
            </a:br>
            <a:r>
              <a:rPr lang="fr-FR" sz="2800" b="1" dirty="0"/>
              <a:t>Fiscalité</a:t>
            </a:r>
          </a:p>
          <a:p>
            <a:endParaRPr lang="fr-FR" sz="2800" dirty="0">
              <a:solidFill>
                <a:srgbClr val="FF0000"/>
              </a:solidFill>
            </a:endParaRPr>
          </a:p>
        </p:txBody>
      </p:sp>
      <p:sp>
        <p:nvSpPr>
          <p:cNvPr id="67" name="Espace réservé du numéro de diapositive 9">
            <a:extLst>
              <a:ext uri="{FF2B5EF4-FFF2-40B4-BE49-F238E27FC236}">
                <a16:creationId xmlns:a16="http://schemas.microsoft.com/office/drawing/2014/main" id="{34153583-5FA5-4452-9A39-FD433F03258D}"/>
              </a:ext>
            </a:extLst>
          </p:cNvPr>
          <p:cNvSpPr txBox="1">
            <a:spLocks/>
          </p:cNvSpPr>
          <p:nvPr/>
        </p:nvSpPr>
        <p:spPr>
          <a:xfrm>
            <a:off x="11507787"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10</a:t>
            </a:fld>
            <a:endParaRPr lang="en-US" sz="1000" dirty="0">
              <a:solidFill>
                <a:srgbClr val="5C607E"/>
              </a:solidFill>
            </a:endParaRPr>
          </a:p>
        </p:txBody>
      </p:sp>
      <p:pic>
        <p:nvPicPr>
          <p:cNvPr id="72" name="Graphique 71" descr="Engrenages">
            <a:extLst>
              <a:ext uri="{FF2B5EF4-FFF2-40B4-BE49-F238E27FC236}">
                <a16:creationId xmlns:a16="http://schemas.microsoft.com/office/drawing/2014/main" id="{B130C9CE-518B-4B3D-9AFA-C74B213FC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45591" y="4774547"/>
            <a:ext cx="658910" cy="658910"/>
          </a:xfrm>
          <a:prstGeom prst="rect">
            <a:avLst/>
          </a:prstGeom>
        </p:spPr>
      </p:pic>
      <p:pic>
        <p:nvPicPr>
          <p:cNvPr id="46" name="Image 45" descr="Une image contenant objet, corde, portant, regardant  Description générée automatiquement">
            <a:extLst>
              <a:ext uri="{FF2B5EF4-FFF2-40B4-BE49-F238E27FC236}">
                <a16:creationId xmlns:a16="http://schemas.microsoft.com/office/drawing/2014/main" id="{B030A88B-C916-4D9D-B279-715A51F50CBF}"/>
              </a:ext>
            </a:extLst>
          </p:cNvPr>
          <p:cNvPicPr>
            <a:picLocks noChangeAspect="1"/>
          </p:cNvPicPr>
          <p:nvPr/>
        </p:nvPicPr>
        <p:blipFill rotWithShape="1">
          <a:blip r:embed="rId4">
            <a:extLst>
              <a:ext uri="{28A0092B-C50C-407E-A947-70E740481C1C}">
                <a14:useLocalDpi xmlns:a14="http://schemas.microsoft.com/office/drawing/2010/main" val="0"/>
              </a:ext>
            </a:extLst>
          </a:blip>
          <a:srcRect l="25949" r="52508"/>
          <a:stretch/>
        </p:blipFill>
        <p:spPr>
          <a:xfrm>
            <a:off x="-140638" y="-2"/>
            <a:ext cx="2779926" cy="6858002"/>
          </a:xfrm>
          <a:prstGeom prst="rect">
            <a:avLst/>
          </a:prstGeom>
        </p:spPr>
      </p:pic>
      <p:sp>
        <p:nvSpPr>
          <p:cNvPr id="69" name="Titre 4">
            <a:extLst>
              <a:ext uri="{FF2B5EF4-FFF2-40B4-BE49-F238E27FC236}">
                <a16:creationId xmlns:a16="http://schemas.microsoft.com/office/drawing/2014/main" id="{5EFCC4CD-48B9-4650-BA85-754776D6C6FF}"/>
              </a:ext>
            </a:extLst>
          </p:cNvPr>
          <p:cNvSpPr txBox="1">
            <a:spLocks/>
          </p:cNvSpPr>
          <p:nvPr/>
        </p:nvSpPr>
        <p:spPr>
          <a:xfrm>
            <a:off x="55400" y="197586"/>
            <a:ext cx="2779926" cy="813309"/>
          </a:xfrm>
          <a:prstGeom prst="rect">
            <a:avLst/>
          </a:prstGeom>
        </p:spPr>
        <p:txBody>
          <a:bodyPr vert="horz" lIns="0" tIns="0" rIns="0" bIns="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5100" b="1" dirty="0"/>
              <a:t>Fiscalité</a:t>
            </a:r>
          </a:p>
          <a:p>
            <a:endParaRPr lang="fr-FR" dirty="0">
              <a:solidFill>
                <a:srgbClr val="FF0000"/>
              </a:solidFill>
            </a:endParaRPr>
          </a:p>
        </p:txBody>
      </p:sp>
    </p:spTree>
    <p:extLst>
      <p:ext uri="{BB962C8B-B14F-4D97-AF65-F5344CB8AC3E}">
        <p14:creationId xmlns:p14="http://schemas.microsoft.com/office/powerpoint/2010/main" val="23342186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Line"/>
          <p:cNvSpPr/>
          <p:nvPr/>
        </p:nvSpPr>
        <p:spPr>
          <a:xfrm flipV="1">
            <a:off x="763158" y="-1"/>
            <a:ext cx="0" cy="254376"/>
          </a:xfrm>
          <a:prstGeom prst="line">
            <a:avLst/>
          </a:prstGeom>
          <a:ln w="12700">
            <a:solidFill>
              <a:srgbClr val="F7F9FF"/>
            </a:solidFill>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0" cap="none" spc="0" normalizeH="0" baseline="0" noProof="0" dirty="0">
              <a:ln>
                <a:noFill/>
              </a:ln>
              <a:solidFill>
                <a:srgbClr val="FFFFFF"/>
              </a:solidFill>
              <a:effectLst/>
              <a:uLnTx/>
              <a:uFillTx/>
              <a:latin typeface="Helvetica Neue Medium"/>
              <a:ea typeface="+mn-ea"/>
              <a:cs typeface="+mn-cs"/>
              <a:sym typeface="Helvetica Neue Medium"/>
            </a:endParaRPr>
          </a:p>
        </p:txBody>
      </p:sp>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marL="0" marR="0" lvl="0" indent="0" algn="ctr" defTabSz="228600" rtl="0" eaLnBrk="1" fontAlgn="auto" latinLnBrk="0" hangingPunct="0">
              <a:lnSpc>
                <a:spcPct val="100000"/>
              </a:lnSpc>
              <a:spcBef>
                <a:spcPts val="0"/>
              </a:spcBef>
              <a:spcAft>
                <a:spcPts val="0"/>
              </a:spcAft>
              <a:buClrTx/>
              <a:buSzTx/>
              <a:buFontTx/>
              <a:buNone/>
              <a:tabLst/>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marL="0" marR="0" lvl="0" indent="0" algn="ctr" defTabSz="228600" rtl="0" eaLnBrk="1" fontAlgn="auto" latinLnBrk="0" hangingPunct="0">
              <a:lnSpc>
                <a:spcPct val="100000"/>
              </a:lnSpc>
              <a:spcBef>
                <a:spcPts val="0"/>
              </a:spcBef>
              <a:spcAft>
                <a:spcPts val="0"/>
              </a:spcAft>
              <a:buClrTx/>
              <a:buSzTx/>
              <a:buFontTx/>
              <a:buNone/>
              <a:tabLst/>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14" name="Image 13">
            <a:extLst>
              <a:ext uri="{FF2B5EF4-FFF2-40B4-BE49-F238E27FC236}">
                <a16:creationId xmlns:a16="http://schemas.microsoft.com/office/drawing/2014/main" id="{7637E795-CEFB-4DC2-9F7C-E3A886A3B832}"/>
              </a:ext>
            </a:extLst>
          </p:cNvPr>
          <p:cNvPicPr>
            <a:picLocks noChangeAspect="1"/>
          </p:cNvPicPr>
          <p:nvPr/>
        </p:nvPicPr>
        <p:blipFill>
          <a:blip r:embed="rId2"/>
          <a:stretch>
            <a:fillRect/>
          </a:stretch>
        </p:blipFill>
        <p:spPr>
          <a:xfrm>
            <a:off x="10987330" y="145639"/>
            <a:ext cx="1040915" cy="388870"/>
          </a:xfrm>
          <a:prstGeom prst="rect">
            <a:avLst/>
          </a:prstGeom>
        </p:spPr>
      </p:pic>
      <p:sp>
        <p:nvSpPr>
          <p:cNvPr id="15" name="Espace réservé du numéro de diapositive 9">
            <a:extLst>
              <a:ext uri="{FF2B5EF4-FFF2-40B4-BE49-F238E27FC236}">
                <a16:creationId xmlns:a16="http://schemas.microsoft.com/office/drawing/2014/main" id="{A7E5CBB5-8DA0-4603-8F02-987036F82211}"/>
              </a:ext>
            </a:extLst>
          </p:cNvPr>
          <p:cNvSpPr txBox="1">
            <a:spLocks/>
          </p:cNvSpPr>
          <p:nvPr/>
        </p:nvSpPr>
        <p:spPr>
          <a:xfrm>
            <a:off x="11507787"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11</a:t>
            </a:fld>
            <a:endParaRPr lang="en-US" sz="1000" dirty="0">
              <a:solidFill>
                <a:srgbClr val="5C607E"/>
              </a:solidFill>
            </a:endParaRPr>
          </a:p>
        </p:txBody>
      </p:sp>
      <p:sp>
        <p:nvSpPr>
          <p:cNvPr id="17" name="Titre 4">
            <a:extLst>
              <a:ext uri="{FF2B5EF4-FFF2-40B4-BE49-F238E27FC236}">
                <a16:creationId xmlns:a16="http://schemas.microsoft.com/office/drawing/2014/main" id="{63DF4224-0ABE-4A46-BBDB-3A43B90F0EC6}"/>
              </a:ext>
            </a:extLst>
          </p:cNvPr>
          <p:cNvSpPr txBox="1">
            <a:spLocks/>
          </p:cNvSpPr>
          <p:nvPr/>
        </p:nvSpPr>
        <p:spPr>
          <a:xfrm>
            <a:off x="407368" y="340074"/>
            <a:ext cx="3181645" cy="813309"/>
          </a:xfrm>
          <a:prstGeom prst="rect">
            <a:avLst/>
          </a:prstGeom>
        </p:spPr>
        <p:txBody>
          <a:bodyPr vert="horz" lIns="0" tIns="0" rIns="0" bIns="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11200" b="1"/>
              <a:t>Le monde de Nexia en chiffres</a:t>
            </a:r>
          </a:p>
          <a:p>
            <a:endParaRPr lang="fr-FR" dirty="0">
              <a:solidFill>
                <a:srgbClr val="FF0000"/>
              </a:solidFill>
            </a:endParaRPr>
          </a:p>
        </p:txBody>
      </p:sp>
      <p:cxnSp>
        <p:nvCxnSpPr>
          <p:cNvPr id="20" name="Connecteur droit 19">
            <a:extLst>
              <a:ext uri="{FF2B5EF4-FFF2-40B4-BE49-F238E27FC236}">
                <a16:creationId xmlns:a16="http://schemas.microsoft.com/office/drawing/2014/main" id="{DF1AB433-DC74-41E7-8323-FD8F22BBFF9F}"/>
              </a:ext>
            </a:extLst>
          </p:cNvPr>
          <p:cNvCxnSpPr/>
          <p:nvPr/>
        </p:nvCxnSpPr>
        <p:spPr>
          <a:xfrm>
            <a:off x="9304470" y="692696"/>
            <a:ext cx="0" cy="5620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7EFE0F0B-FA17-4868-BF9C-195E40B90C34}"/>
              </a:ext>
            </a:extLst>
          </p:cNvPr>
          <p:cNvCxnSpPr/>
          <p:nvPr/>
        </p:nvCxnSpPr>
        <p:spPr>
          <a:xfrm>
            <a:off x="9432809" y="914958"/>
            <a:ext cx="22508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A9E6110D-511E-42BF-9916-0662A642A131}"/>
              </a:ext>
            </a:extLst>
          </p:cNvPr>
          <p:cNvCxnSpPr/>
          <p:nvPr/>
        </p:nvCxnSpPr>
        <p:spPr>
          <a:xfrm>
            <a:off x="9432809" y="2564904"/>
            <a:ext cx="22508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D66D0B44-937B-465C-9D87-194415EFB3C7}"/>
              </a:ext>
            </a:extLst>
          </p:cNvPr>
          <p:cNvCxnSpPr/>
          <p:nvPr/>
        </p:nvCxnSpPr>
        <p:spPr>
          <a:xfrm>
            <a:off x="9432809" y="5751529"/>
            <a:ext cx="2250864"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D0D03210-CA81-446F-A86A-E33E4FC3500C}"/>
              </a:ext>
            </a:extLst>
          </p:cNvPr>
          <p:cNvSpPr txBox="1"/>
          <p:nvPr/>
        </p:nvSpPr>
        <p:spPr>
          <a:xfrm>
            <a:off x="9381310" y="607181"/>
            <a:ext cx="2156926" cy="307777"/>
          </a:xfrm>
          <a:prstGeom prst="rect">
            <a:avLst/>
          </a:prstGeom>
          <a:noFill/>
        </p:spPr>
        <p:txBody>
          <a:bodyPr wrap="square">
            <a:spAutoFit/>
          </a:bodyPr>
          <a:lstStyle/>
          <a:p>
            <a:r>
              <a:rPr lang="fr-FR" sz="1400" b="1">
                <a:solidFill>
                  <a:schemeClr val="tx1">
                    <a:lumMod val="75000"/>
                    <a:lumOff val="25000"/>
                  </a:schemeClr>
                </a:solidFill>
              </a:rPr>
              <a:t>À propos de nous</a:t>
            </a:r>
          </a:p>
        </p:txBody>
      </p:sp>
      <p:sp>
        <p:nvSpPr>
          <p:cNvPr id="25" name="ZoneTexte 24">
            <a:extLst>
              <a:ext uri="{FF2B5EF4-FFF2-40B4-BE49-F238E27FC236}">
                <a16:creationId xmlns:a16="http://schemas.microsoft.com/office/drawing/2014/main" id="{0C7B5B0C-E87A-4B1C-92EB-C485E9569F99}"/>
              </a:ext>
            </a:extLst>
          </p:cNvPr>
          <p:cNvSpPr txBox="1"/>
          <p:nvPr/>
        </p:nvSpPr>
        <p:spPr>
          <a:xfrm>
            <a:off x="9364972" y="982130"/>
            <a:ext cx="2628202" cy="830997"/>
          </a:xfrm>
          <a:prstGeom prst="rect">
            <a:avLst/>
          </a:prstGeom>
          <a:noFill/>
        </p:spPr>
        <p:txBody>
          <a:bodyPr wrap="square">
            <a:spAutoFit/>
          </a:bodyPr>
          <a:lstStyle/>
          <a:p>
            <a:r>
              <a:rPr lang="en-US" sz="1200" b="1" dirty="0">
                <a:solidFill>
                  <a:srgbClr val="575756"/>
                </a:solidFill>
              </a:rPr>
              <a:t>Nexia International </a:t>
            </a:r>
            <a:r>
              <a:rPr lang="en-US" sz="1200" b="1" dirty="0" err="1">
                <a:solidFill>
                  <a:srgbClr val="575756"/>
                </a:solidFill>
              </a:rPr>
              <a:t>est</a:t>
            </a:r>
            <a:r>
              <a:rPr lang="en-US" sz="1200" b="1" dirty="0">
                <a:solidFill>
                  <a:srgbClr val="575756"/>
                </a:solidFill>
              </a:rPr>
              <a:t> le 9ème </a:t>
            </a:r>
            <a:r>
              <a:rPr lang="en-US" sz="1200" b="1" dirty="0" err="1">
                <a:solidFill>
                  <a:srgbClr val="575756"/>
                </a:solidFill>
              </a:rPr>
              <a:t>réseau</a:t>
            </a:r>
            <a:r>
              <a:rPr lang="en-US" sz="1200" b="1" dirty="0">
                <a:solidFill>
                  <a:srgbClr val="575756"/>
                </a:solidFill>
              </a:rPr>
              <a:t> </a:t>
            </a:r>
            <a:r>
              <a:rPr lang="en-US" sz="1200" b="1" dirty="0" err="1">
                <a:solidFill>
                  <a:srgbClr val="575756"/>
                </a:solidFill>
              </a:rPr>
              <a:t>mondial</a:t>
            </a:r>
            <a:r>
              <a:rPr lang="en-US" sz="1200" b="1" dirty="0">
                <a:solidFill>
                  <a:srgbClr val="575756"/>
                </a:solidFill>
              </a:rPr>
              <a:t> de cabinets </a:t>
            </a:r>
            <a:r>
              <a:rPr lang="en-US" sz="1200" b="1" dirty="0" err="1">
                <a:solidFill>
                  <a:srgbClr val="575756"/>
                </a:solidFill>
              </a:rPr>
              <a:t>d'expertise</a:t>
            </a:r>
            <a:r>
              <a:rPr lang="en-US" sz="1200" b="1" dirty="0">
                <a:solidFill>
                  <a:srgbClr val="575756"/>
                </a:solidFill>
              </a:rPr>
              <a:t> </a:t>
            </a:r>
            <a:r>
              <a:rPr lang="en-US" sz="1200" b="1" dirty="0" err="1">
                <a:solidFill>
                  <a:srgbClr val="575756"/>
                </a:solidFill>
              </a:rPr>
              <a:t>comptable</a:t>
            </a:r>
            <a:r>
              <a:rPr lang="en-US" sz="1200" b="1" dirty="0">
                <a:solidFill>
                  <a:srgbClr val="575756"/>
                </a:solidFill>
              </a:rPr>
              <a:t>, de tax et de </a:t>
            </a:r>
            <a:r>
              <a:rPr lang="en-US" sz="1200" b="1" dirty="0" err="1">
                <a:solidFill>
                  <a:srgbClr val="575756"/>
                </a:solidFill>
              </a:rPr>
              <a:t>conseil</a:t>
            </a:r>
            <a:r>
              <a:rPr lang="en-US" sz="1200" b="1" dirty="0">
                <a:solidFill>
                  <a:srgbClr val="575756"/>
                </a:solidFill>
              </a:rPr>
              <a:t> </a:t>
            </a:r>
            <a:r>
              <a:rPr lang="en-US" sz="1200" b="1" dirty="0" err="1">
                <a:solidFill>
                  <a:srgbClr val="575756"/>
                </a:solidFill>
              </a:rPr>
              <a:t>indépendants</a:t>
            </a:r>
            <a:r>
              <a:rPr lang="en-US" sz="1200" b="1" dirty="0">
                <a:solidFill>
                  <a:srgbClr val="575756"/>
                </a:solidFill>
              </a:rPr>
              <a:t>.</a:t>
            </a:r>
          </a:p>
        </p:txBody>
      </p:sp>
      <p:sp>
        <p:nvSpPr>
          <p:cNvPr id="26" name="ZoneTexte 25">
            <a:extLst>
              <a:ext uri="{FF2B5EF4-FFF2-40B4-BE49-F238E27FC236}">
                <a16:creationId xmlns:a16="http://schemas.microsoft.com/office/drawing/2014/main" id="{628C21B8-0016-4276-BF9A-9DA527829942}"/>
              </a:ext>
            </a:extLst>
          </p:cNvPr>
          <p:cNvSpPr txBox="1"/>
          <p:nvPr/>
        </p:nvSpPr>
        <p:spPr>
          <a:xfrm>
            <a:off x="9381310" y="2031015"/>
            <a:ext cx="2156926" cy="523220"/>
          </a:xfrm>
          <a:prstGeom prst="rect">
            <a:avLst/>
          </a:prstGeom>
          <a:noFill/>
        </p:spPr>
        <p:txBody>
          <a:bodyPr wrap="square">
            <a:spAutoFit/>
          </a:bodyPr>
          <a:lstStyle/>
          <a:p>
            <a:r>
              <a:rPr lang="fr-FR" sz="1400" b="1">
                <a:solidFill>
                  <a:schemeClr val="tx1">
                    <a:lumMod val="75000"/>
                    <a:lumOff val="25000"/>
                  </a:schemeClr>
                </a:solidFill>
              </a:rPr>
              <a:t>Partout où vous faites des affaires</a:t>
            </a:r>
          </a:p>
        </p:txBody>
      </p:sp>
      <p:sp>
        <p:nvSpPr>
          <p:cNvPr id="27" name="ZoneTexte 26">
            <a:extLst>
              <a:ext uri="{FF2B5EF4-FFF2-40B4-BE49-F238E27FC236}">
                <a16:creationId xmlns:a16="http://schemas.microsoft.com/office/drawing/2014/main" id="{B3BA499B-8CC6-406F-B9B5-E5604CA63799}"/>
              </a:ext>
            </a:extLst>
          </p:cNvPr>
          <p:cNvSpPr txBox="1"/>
          <p:nvPr/>
        </p:nvSpPr>
        <p:spPr>
          <a:xfrm>
            <a:off x="9372147" y="2593304"/>
            <a:ext cx="2693792" cy="2862322"/>
          </a:xfrm>
          <a:prstGeom prst="rect">
            <a:avLst/>
          </a:prstGeom>
          <a:noFill/>
        </p:spPr>
        <p:txBody>
          <a:bodyPr wrap="square">
            <a:spAutoFit/>
          </a:bodyPr>
          <a:lstStyle/>
          <a:p>
            <a:r>
              <a:rPr lang="en-US" sz="1200" b="1" dirty="0">
                <a:solidFill>
                  <a:srgbClr val="575756"/>
                </a:solidFill>
              </a:rPr>
              <a:t>Grâce aux </a:t>
            </a:r>
            <a:r>
              <a:rPr lang="en-US" sz="1200" b="1" dirty="0" err="1">
                <a:solidFill>
                  <a:srgbClr val="575756"/>
                </a:solidFill>
              </a:rPr>
              <a:t>connexions</a:t>
            </a:r>
            <a:r>
              <a:rPr lang="en-US" sz="1200" b="1" dirty="0">
                <a:solidFill>
                  <a:srgbClr val="575756"/>
                </a:solidFill>
              </a:rPr>
              <a:t> </a:t>
            </a:r>
            <a:r>
              <a:rPr lang="en-US" sz="1200" b="1" dirty="0" err="1">
                <a:solidFill>
                  <a:srgbClr val="575756"/>
                </a:solidFill>
              </a:rPr>
              <a:t>mondiales</a:t>
            </a:r>
            <a:r>
              <a:rPr lang="en-US" sz="1200" b="1" dirty="0">
                <a:solidFill>
                  <a:srgbClr val="575756"/>
                </a:solidFill>
              </a:rPr>
              <a:t>, aux </a:t>
            </a:r>
            <a:r>
              <a:rPr lang="en-US" sz="1200" b="1" dirty="0" err="1">
                <a:solidFill>
                  <a:srgbClr val="575756"/>
                </a:solidFill>
              </a:rPr>
              <a:t>valeurs</a:t>
            </a:r>
            <a:r>
              <a:rPr lang="en-US" sz="1200" b="1" dirty="0">
                <a:solidFill>
                  <a:srgbClr val="575756"/>
                </a:solidFill>
              </a:rPr>
              <a:t> </a:t>
            </a:r>
            <a:r>
              <a:rPr lang="en-US" sz="1200" b="1" dirty="0" err="1">
                <a:solidFill>
                  <a:srgbClr val="575756"/>
                </a:solidFill>
              </a:rPr>
              <a:t>partagées</a:t>
            </a:r>
            <a:r>
              <a:rPr lang="en-US" sz="1200" b="1" dirty="0">
                <a:solidFill>
                  <a:srgbClr val="575756"/>
                </a:solidFill>
              </a:rPr>
              <a:t> et aux relations </a:t>
            </a:r>
            <a:r>
              <a:rPr lang="en-US" sz="1200" b="1" dirty="0" err="1">
                <a:solidFill>
                  <a:srgbClr val="575756"/>
                </a:solidFill>
              </a:rPr>
              <a:t>professionnelles</a:t>
            </a:r>
            <a:r>
              <a:rPr lang="en-US" sz="1200" b="1" dirty="0">
                <a:solidFill>
                  <a:srgbClr val="575756"/>
                </a:solidFill>
              </a:rPr>
              <a:t> durables, </a:t>
            </a:r>
            <a:r>
              <a:rPr lang="en-US" sz="1200" b="1" dirty="0" err="1">
                <a:solidFill>
                  <a:srgbClr val="575756"/>
                </a:solidFill>
              </a:rPr>
              <a:t>vous</a:t>
            </a:r>
            <a:r>
              <a:rPr lang="en-US" sz="1200" b="1" dirty="0">
                <a:solidFill>
                  <a:srgbClr val="575756"/>
                </a:solidFill>
              </a:rPr>
              <a:t> </a:t>
            </a:r>
            <a:r>
              <a:rPr lang="en-US" sz="1200" b="1" dirty="0" err="1">
                <a:solidFill>
                  <a:srgbClr val="575756"/>
                </a:solidFill>
              </a:rPr>
              <a:t>pouvez</a:t>
            </a:r>
            <a:r>
              <a:rPr lang="en-US" sz="1200" b="1" dirty="0">
                <a:solidFill>
                  <a:srgbClr val="575756"/>
                </a:solidFill>
              </a:rPr>
              <a:t> </a:t>
            </a:r>
            <a:r>
              <a:rPr lang="en-US" sz="1200" b="1" dirty="0" err="1">
                <a:solidFill>
                  <a:srgbClr val="575756"/>
                </a:solidFill>
              </a:rPr>
              <a:t>vous</a:t>
            </a:r>
            <a:r>
              <a:rPr lang="en-US" sz="1200" b="1" dirty="0">
                <a:solidFill>
                  <a:srgbClr val="575756"/>
                </a:solidFill>
              </a:rPr>
              <a:t> </a:t>
            </a:r>
            <a:r>
              <a:rPr lang="en-US" sz="1200" b="1" dirty="0" err="1">
                <a:solidFill>
                  <a:srgbClr val="575756"/>
                </a:solidFill>
              </a:rPr>
              <a:t>attendre</a:t>
            </a:r>
            <a:r>
              <a:rPr lang="en-US" sz="1200" b="1" dirty="0">
                <a:solidFill>
                  <a:srgbClr val="575756"/>
                </a:solidFill>
              </a:rPr>
              <a:t> à un </a:t>
            </a:r>
            <a:r>
              <a:rPr lang="en-US" sz="1200" b="1" dirty="0" err="1">
                <a:solidFill>
                  <a:srgbClr val="575756"/>
                </a:solidFill>
              </a:rPr>
              <a:t>conseil</a:t>
            </a:r>
            <a:r>
              <a:rPr lang="en-US" sz="1200" b="1" dirty="0">
                <a:solidFill>
                  <a:srgbClr val="575756"/>
                </a:solidFill>
              </a:rPr>
              <a:t> </a:t>
            </a:r>
            <a:r>
              <a:rPr lang="en-US" sz="1200" b="1" dirty="0" err="1">
                <a:solidFill>
                  <a:srgbClr val="575756"/>
                </a:solidFill>
              </a:rPr>
              <a:t>professionnel</a:t>
            </a:r>
            <a:r>
              <a:rPr lang="en-US" sz="1200" b="1" dirty="0">
                <a:solidFill>
                  <a:srgbClr val="575756"/>
                </a:solidFill>
              </a:rPr>
              <a:t> de la plus haute </a:t>
            </a:r>
            <a:r>
              <a:rPr lang="en-US" sz="1200" b="1" dirty="0" err="1">
                <a:solidFill>
                  <a:srgbClr val="575756"/>
                </a:solidFill>
              </a:rPr>
              <a:t>qualité</a:t>
            </a:r>
            <a:r>
              <a:rPr lang="en-US" sz="1200" b="1" dirty="0">
                <a:solidFill>
                  <a:srgbClr val="575756"/>
                </a:solidFill>
              </a:rPr>
              <a:t>, </a:t>
            </a:r>
            <a:r>
              <a:rPr lang="en-US" sz="1200" b="1" dirty="0" err="1">
                <a:solidFill>
                  <a:srgbClr val="575756"/>
                </a:solidFill>
              </a:rPr>
              <a:t>partout</a:t>
            </a:r>
            <a:r>
              <a:rPr lang="en-US" sz="1200" b="1" dirty="0">
                <a:solidFill>
                  <a:srgbClr val="575756"/>
                </a:solidFill>
              </a:rPr>
              <a:t> dans le monde.</a:t>
            </a:r>
          </a:p>
          <a:p>
            <a:endParaRPr lang="en-US" sz="1200" b="1" dirty="0">
              <a:solidFill>
                <a:srgbClr val="575756"/>
              </a:solidFill>
            </a:endParaRPr>
          </a:p>
          <a:p>
            <a:pPr marL="171450" indent="-171450">
              <a:buFont typeface="Wingdings" panose="05000000000000000000" pitchFamily="2" charset="2"/>
              <a:buChar char="§"/>
            </a:pPr>
            <a:r>
              <a:rPr lang="en-US" sz="1200" b="1" dirty="0" err="1">
                <a:solidFill>
                  <a:srgbClr val="575756"/>
                </a:solidFill>
              </a:rPr>
              <a:t>Valeurs</a:t>
            </a:r>
            <a:r>
              <a:rPr lang="en-US" sz="1200" b="1" dirty="0">
                <a:solidFill>
                  <a:srgbClr val="575756"/>
                </a:solidFill>
              </a:rPr>
              <a:t> </a:t>
            </a:r>
            <a:r>
              <a:rPr lang="en-US" sz="1200" b="1" dirty="0" err="1">
                <a:solidFill>
                  <a:srgbClr val="575756"/>
                </a:solidFill>
              </a:rPr>
              <a:t>partagées</a:t>
            </a:r>
            <a:r>
              <a:rPr lang="en-US" sz="1200" b="1" dirty="0">
                <a:solidFill>
                  <a:srgbClr val="575756"/>
                </a:solidFill>
              </a:rPr>
              <a:t> et </a:t>
            </a:r>
            <a:r>
              <a:rPr lang="en-US" sz="1200" b="1" dirty="0" err="1">
                <a:solidFill>
                  <a:srgbClr val="575756"/>
                </a:solidFill>
              </a:rPr>
              <a:t>professionnalisme</a:t>
            </a:r>
            <a:endParaRPr lang="en-US" sz="1200" b="1" dirty="0">
              <a:solidFill>
                <a:srgbClr val="575756"/>
              </a:solidFill>
            </a:endParaRPr>
          </a:p>
          <a:p>
            <a:pPr marL="171450" indent="-171450">
              <a:buFont typeface="Wingdings" panose="05000000000000000000" pitchFamily="2" charset="2"/>
              <a:buChar char="§"/>
            </a:pPr>
            <a:r>
              <a:rPr lang="en-US" sz="1200" b="1" dirty="0">
                <a:solidFill>
                  <a:srgbClr val="575756"/>
                </a:solidFill>
              </a:rPr>
              <a:t>Une attention </a:t>
            </a:r>
            <a:r>
              <a:rPr lang="en-US" sz="1200" b="1" dirty="0" err="1">
                <a:solidFill>
                  <a:srgbClr val="575756"/>
                </a:solidFill>
              </a:rPr>
              <a:t>individualisée</a:t>
            </a:r>
            <a:endParaRPr lang="en-US" sz="1200" b="1" dirty="0">
              <a:solidFill>
                <a:srgbClr val="575756"/>
              </a:solidFill>
            </a:endParaRPr>
          </a:p>
          <a:p>
            <a:pPr marL="171450" indent="-171450">
              <a:buFont typeface="Wingdings" panose="05000000000000000000" pitchFamily="2" charset="2"/>
              <a:buChar char="§"/>
            </a:pPr>
            <a:r>
              <a:rPr lang="en-US" sz="1200" b="1" dirty="0">
                <a:solidFill>
                  <a:srgbClr val="575756"/>
                </a:solidFill>
              </a:rPr>
              <a:t>Des solutions sur </a:t>
            </a:r>
            <a:r>
              <a:rPr lang="en-US" sz="1200" b="1" dirty="0" err="1">
                <a:solidFill>
                  <a:srgbClr val="575756"/>
                </a:solidFill>
              </a:rPr>
              <a:t>mesure</a:t>
            </a:r>
            <a:endParaRPr lang="en-US" sz="1200" b="1" dirty="0">
              <a:solidFill>
                <a:srgbClr val="575756"/>
              </a:solidFill>
            </a:endParaRPr>
          </a:p>
          <a:p>
            <a:pPr marL="171450" indent="-171450">
              <a:buFont typeface="Wingdings" panose="05000000000000000000" pitchFamily="2" charset="2"/>
              <a:buChar char="§"/>
            </a:pPr>
            <a:r>
              <a:rPr lang="en-US" sz="1200" b="1" dirty="0">
                <a:solidFill>
                  <a:srgbClr val="575756"/>
                </a:solidFill>
              </a:rPr>
              <a:t>Un </a:t>
            </a:r>
            <a:r>
              <a:rPr lang="en-US" sz="1200" b="1" dirty="0" err="1">
                <a:solidFill>
                  <a:srgbClr val="575756"/>
                </a:solidFill>
              </a:rPr>
              <a:t>contrôle</a:t>
            </a:r>
            <a:r>
              <a:rPr lang="en-US" sz="1200" b="1" dirty="0">
                <a:solidFill>
                  <a:srgbClr val="575756"/>
                </a:solidFill>
              </a:rPr>
              <a:t> de la </a:t>
            </a:r>
            <a:r>
              <a:rPr lang="en-US" sz="1200" b="1" dirty="0" err="1">
                <a:solidFill>
                  <a:srgbClr val="575756"/>
                </a:solidFill>
              </a:rPr>
              <a:t>qualité</a:t>
            </a:r>
            <a:endParaRPr lang="en-US" sz="1200" b="1" dirty="0">
              <a:solidFill>
                <a:srgbClr val="575756"/>
              </a:solidFill>
            </a:endParaRPr>
          </a:p>
          <a:p>
            <a:pPr marL="171450" indent="-171450">
              <a:buFont typeface="Wingdings" panose="05000000000000000000" pitchFamily="2" charset="2"/>
              <a:buChar char="§"/>
            </a:pPr>
            <a:r>
              <a:rPr lang="en-US" sz="1200" b="1" dirty="0">
                <a:solidFill>
                  <a:srgbClr val="575756"/>
                </a:solidFill>
              </a:rPr>
              <a:t>Une expertise technique</a:t>
            </a:r>
          </a:p>
        </p:txBody>
      </p:sp>
      <p:sp>
        <p:nvSpPr>
          <p:cNvPr id="28" name="ZoneTexte 27">
            <a:extLst>
              <a:ext uri="{FF2B5EF4-FFF2-40B4-BE49-F238E27FC236}">
                <a16:creationId xmlns:a16="http://schemas.microsoft.com/office/drawing/2014/main" id="{BA5C5CDA-6E1D-4F73-AAFC-0D9665506FD8}"/>
              </a:ext>
            </a:extLst>
          </p:cNvPr>
          <p:cNvSpPr txBox="1"/>
          <p:nvPr/>
        </p:nvSpPr>
        <p:spPr>
          <a:xfrm>
            <a:off x="9364972" y="5440408"/>
            <a:ext cx="2156926" cy="307777"/>
          </a:xfrm>
          <a:prstGeom prst="rect">
            <a:avLst/>
          </a:prstGeom>
          <a:noFill/>
        </p:spPr>
        <p:txBody>
          <a:bodyPr wrap="square">
            <a:spAutoFit/>
          </a:bodyPr>
          <a:lstStyle/>
          <a:p>
            <a:r>
              <a:rPr lang="fr-FR" sz="1400" b="1">
                <a:solidFill>
                  <a:schemeClr val="tx1">
                    <a:lumMod val="75000"/>
                    <a:lumOff val="25000"/>
                  </a:schemeClr>
                </a:solidFill>
              </a:rPr>
              <a:t>Lignes de service</a:t>
            </a:r>
          </a:p>
        </p:txBody>
      </p:sp>
      <p:sp>
        <p:nvSpPr>
          <p:cNvPr id="29" name="ZoneTexte 28">
            <a:extLst>
              <a:ext uri="{FF2B5EF4-FFF2-40B4-BE49-F238E27FC236}">
                <a16:creationId xmlns:a16="http://schemas.microsoft.com/office/drawing/2014/main" id="{90D1628A-A790-4730-844B-B26BD053609F}"/>
              </a:ext>
            </a:extLst>
          </p:cNvPr>
          <p:cNvSpPr txBox="1"/>
          <p:nvPr/>
        </p:nvSpPr>
        <p:spPr>
          <a:xfrm>
            <a:off x="9386977" y="5849928"/>
            <a:ext cx="2628202" cy="646331"/>
          </a:xfrm>
          <a:prstGeom prst="rect">
            <a:avLst/>
          </a:prstGeom>
          <a:noFill/>
        </p:spPr>
        <p:txBody>
          <a:bodyPr wrap="square">
            <a:spAutoFit/>
          </a:bodyPr>
          <a:lstStyle/>
          <a:p>
            <a:r>
              <a:rPr lang="en-US" sz="1200" b="1" dirty="0">
                <a:solidFill>
                  <a:srgbClr val="575756"/>
                </a:solidFill>
              </a:rPr>
              <a:t>CONSEILS</a:t>
            </a:r>
          </a:p>
          <a:p>
            <a:r>
              <a:rPr lang="en-US" sz="1200" b="1" dirty="0">
                <a:solidFill>
                  <a:srgbClr val="575756"/>
                </a:solidFill>
              </a:rPr>
              <a:t>AUDIT</a:t>
            </a:r>
          </a:p>
          <a:p>
            <a:r>
              <a:rPr lang="en-US" sz="1200" b="1" dirty="0">
                <a:solidFill>
                  <a:srgbClr val="575756"/>
                </a:solidFill>
              </a:rPr>
              <a:t>FISCALITE</a:t>
            </a:r>
          </a:p>
        </p:txBody>
      </p:sp>
      <p:sp>
        <p:nvSpPr>
          <p:cNvPr id="30" name="Espace réservé du numéro de diapositive 9">
            <a:extLst>
              <a:ext uri="{FF2B5EF4-FFF2-40B4-BE49-F238E27FC236}">
                <a16:creationId xmlns:a16="http://schemas.microsoft.com/office/drawing/2014/main" id="{DF1D36DA-82BC-410E-9757-877E1C40140B}"/>
              </a:ext>
            </a:extLst>
          </p:cNvPr>
          <p:cNvSpPr txBox="1">
            <a:spLocks/>
          </p:cNvSpPr>
          <p:nvPr/>
        </p:nvSpPr>
        <p:spPr>
          <a:xfrm>
            <a:off x="11492632" y="6400413"/>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p>
        </p:txBody>
      </p:sp>
      <p:pic>
        <p:nvPicPr>
          <p:cNvPr id="2" name="Image 1">
            <a:extLst>
              <a:ext uri="{FF2B5EF4-FFF2-40B4-BE49-F238E27FC236}">
                <a16:creationId xmlns:a16="http://schemas.microsoft.com/office/drawing/2014/main" id="{F87571A2-86CD-4591-9416-D684FBA0A4B2}"/>
              </a:ext>
            </a:extLst>
          </p:cNvPr>
          <p:cNvPicPr>
            <a:picLocks noChangeAspect="1"/>
          </p:cNvPicPr>
          <p:nvPr/>
        </p:nvPicPr>
        <p:blipFill>
          <a:blip r:embed="rId3"/>
          <a:stretch>
            <a:fillRect/>
          </a:stretch>
        </p:blipFill>
        <p:spPr>
          <a:xfrm>
            <a:off x="43729" y="1645815"/>
            <a:ext cx="6995958" cy="4316570"/>
          </a:xfrm>
          <a:prstGeom prst="rect">
            <a:avLst/>
          </a:prstGeom>
        </p:spPr>
      </p:pic>
      <p:pic>
        <p:nvPicPr>
          <p:cNvPr id="5" name="Image 4">
            <a:extLst>
              <a:ext uri="{FF2B5EF4-FFF2-40B4-BE49-F238E27FC236}">
                <a16:creationId xmlns:a16="http://schemas.microsoft.com/office/drawing/2014/main" id="{17C53080-75C5-41F6-9645-EEE11A3CD0F1}"/>
              </a:ext>
            </a:extLst>
          </p:cNvPr>
          <p:cNvPicPr>
            <a:picLocks noChangeAspect="1"/>
          </p:cNvPicPr>
          <p:nvPr/>
        </p:nvPicPr>
        <p:blipFill>
          <a:blip r:embed="rId4"/>
          <a:stretch>
            <a:fillRect/>
          </a:stretch>
        </p:blipFill>
        <p:spPr>
          <a:xfrm>
            <a:off x="7038655" y="2012329"/>
            <a:ext cx="2227395" cy="3198185"/>
          </a:xfrm>
          <a:prstGeom prst="rect">
            <a:avLst/>
          </a:prstGeom>
        </p:spPr>
      </p:pic>
    </p:spTree>
    <p:extLst>
      <p:ext uri="{BB962C8B-B14F-4D97-AF65-F5344CB8AC3E}">
        <p14:creationId xmlns:p14="http://schemas.microsoft.com/office/powerpoint/2010/main" val="18076159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20" descr="Une image contenant objet, corde, portant, regardant  Description générée automatiquement">
            <a:extLst>
              <a:ext uri="{FF2B5EF4-FFF2-40B4-BE49-F238E27FC236}">
                <a16:creationId xmlns:a16="http://schemas.microsoft.com/office/drawing/2014/main" id="{E9A56F60-3E12-44B1-8515-58AA5646F10C}"/>
              </a:ext>
            </a:extLst>
          </p:cNvPr>
          <p:cNvPicPr>
            <a:picLocks noChangeAspect="1"/>
          </p:cNvPicPr>
          <p:nvPr/>
        </p:nvPicPr>
        <p:blipFill rotWithShape="1">
          <a:blip r:embed="rId2">
            <a:extLst>
              <a:ext uri="{28A0092B-C50C-407E-A947-70E740481C1C}">
                <a14:useLocalDpi xmlns:a14="http://schemas.microsoft.com/office/drawing/2010/main" val="0"/>
              </a:ext>
            </a:extLst>
          </a:blip>
          <a:srcRect l="25949" r="52508"/>
          <a:stretch/>
        </p:blipFill>
        <p:spPr>
          <a:xfrm>
            <a:off x="-140638" y="-2"/>
            <a:ext cx="2779926" cy="6858002"/>
          </a:xfrm>
          <a:prstGeom prst="rect">
            <a:avLst/>
          </a:prstGeom>
        </p:spPr>
      </p:pic>
      <p:sp>
        <p:nvSpPr>
          <p:cNvPr id="211" name="Shape"/>
          <p:cNvSpPr/>
          <p:nvPr/>
        </p:nvSpPr>
        <p:spPr>
          <a:xfrm>
            <a:off x="766333"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solidFill>
            <a:srgbClr val="F7F9FF"/>
          </a:solidFill>
          <a:ln w="12700">
            <a:miter lim="400000"/>
          </a:ln>
        </p:spPr>
        <p:txBody>
          <a:bodyPr lIns="19050" tIns="19050" rIns="19050" bIns="19050" anchor="ctr"/>
          <a:lstStyle/>
          <a:p>
            <a:pPr marL="0" marR="0" lvl="0" indent="0" algn="ctr" defTabSz="228600" rtl="0" eaLnBrk="1" fontAlgn="auto" latinLnBrk="0" hangingPunct="0">
              <a:lnSpc>
                <a:spcPct val="100000"/>
              </a:lnSpc>
              <a:spcBef>
                <a:spcPts val="0"/>
              </a:spcBef>
              <a:spcAft>
                <a:spcPts val="0"/>
              </a:spcAft>
              <a:buClrTx/>
              <a:buSzTx/>
              <a:buFontTx/>
              <a:buNone/>
              <a:tabLst/>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212" name="Shape"/>
          <p:cNvSpPr/>
          <p:nvPr/>
        </p:nvSpPr>
        <p:spPr>
          <a:xfrm>
            <a:off x="1036766" y="6376690"/>
            <a:ext cx="63501" cy="127001"/>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solidFill>
            <a:srgbClr val="F7F9FF"/>
          </a:solidFill>
          <a:ln w="12700">
            <a:miter lim="400000"/>
          </a:ln>
        </p:spPr>
        <p:txBody>
          <a:bodyPr lIns="19050" tIns="19050" rIns="19050" bIns="19050" anchor="ctr"/>
          <a:lstStyle/>
          <a:p>
            <a:pPr marL="0" marR="0" lvl="0" indent="0" algn="ctr" defTabSz="228600" rtl="0" eaLnBrk="1" fontAlgn="auto" latinLnBrk="0" hangingPunct="0">
              <a:lnSpc>
                <a:spcPct val="100000"/>
              </a:lnSpc>
              <a:spcBef>
                <a:spcPts val="0"/>
              </a:spcBef>
              <a:spcAft>
                <a:spcPts val="0"/>
              </a:spcAft>
              <a:buClrTx/>
              <a:buSzTx/>
              <a:buFontTx/>
              <a:buNone/>
              <a:tabLst/>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14" name="Image 13">
            <a:extLst>
              <a:ext uri="{FF2B5EF4-FFF2-40B4-BE49-F238E27FC236}">
                <a16:creationId xmlns:a16="http://schemas.microsoft.com/office/drawing/2014/main" id="{7637E795-CEFB-4DC2-9F7C-E3A886A3B832}"/>
              </a:ext>
            </a:extLst>
          </p:cNvPr>
          <p:cNvPicPr>
            <a:picLocks noChangeAspect="1"/>
          </p:cNvPicPr>
          <p:nvPr/>
        </p:nvPicPr>
        <p:blipFill>
          <a:blip r:embed="rId3"/>
          <a:stretch>
            <a:fillRect/>
          </a:stretch>
        </p:blipFill>
        <p:spPr>
          <a:xfrm>
            <a:off x="10987330" y="145639"/>
            <a:ext cx="1040915" cy="388870"/>
          </a:xfrm>
          <a:prstGeom prst="rect">
            <a:avLst/>
          </a:prstGeom>
        </p:spPr>
      </p:pic>
      <p:sp>
        <p:nvSpPr>
          <p:cNvPr id="15" name="Espace réservé du numéro de diapositive 9">
            <a:extLst>
              <a:ext uri="{FF2B5EF4-FFF2-40B4-BE49-F238E27FC236}">
                <a16:creationId xmlns:a16="http://schemas.microsoft.com/office/drawing/2014/main" id="{A7E5CBB5-8DA0-4603-8F02-987036F82211}"/>
              </a:ext>
            </a:extLst>
          </p:cNvPr>
          <p:cNvSpPr txBox="1">
            <a:spLocks/>
          </p:cNvSpPr>
          <p:nvPr/>
        </p:nvSpPr>
        <p:spPr>
          <a:xfrm>
            <a:off x="11507787" y="6503691"/>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B84D2E29-67F4-44D8-B0E3-F54815B4F123}" type="slidenum">
              <a:rPr lang="en-US" sz="1000" smtClean="0">
                <a:solidFill>
                  <a:srgbClr val="5C607E"/>
                </a:solidFill>
              </a:rPr>
              <a:t>12</a:t>
            </a:fld>
            <a:endParaRPr lang="en-US" sz="1000" dirty="0">
              <a:solidFill>
                <a:srgbClr val="5C607E"/>
              </a:solidFill>
            </a:endParaRPr>
          </a:p>
        </p:txBody>
      </p:sp>
      <p:sp>
        <p:nvSpPr>
          <p:cNvPr id="17" name="Titre 4">
            <a:extLst>
              <a:ext uri="{FF2B5EF4-FFF2-40B4-BE49-F238E27FC236}">
                <a16:creationId xmlns:a16="http://schemas.microsoft.com/office/drawing/2014/main" id="{63DF4224-0ABE-4A46-BBDB-3A43B90F0EC6}"/>
              </a:ext>
            </a:extLst>
          </p:cNvPr>
          <p:cNvSpPr txBox="1">
            <a:spLocks/>
          </p:cNvSpPr>
          <p:nvPr/>
        </p:nvSpPr>
        <p:spPr>
          <a:xfrm>
            <a:off x="407369" y="340074"/>
            <a:ext cx="2271200" cy="813309"/>
          </a:xfrm>
          <a:prstGeom prst="rect">
            <a:avLst/>
          </a:prstGeom>
        </p:spPr>
        <p:txBody>
          <a:bodyPr vert="horz" lIns="0" tIns="0" rIns="0" bIns="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dirty="0"/>
            </a:br>
            <a:br>
              <a:rPr lang="fr-FR" dirty="0"/>
            </a:br>
            <a:r>
              <a:rPr lang="fr-FR" sz="11200" b="1"/>
              <a:t>Nexia en France</a:t>
            </a:r>
            <a:endParaRPr lang="fr-FR" dirty="0">
              <a:solidFill>
                <a:srgbClr val="FF0000"/>
              </a:solidFill>
            </a:endParaRPr>
          </a:p>
        </p:txBody>
      </p:sp>
      <p:cxnSp>
        <p:nvCxnSpPr>
          <p:cNvPr id="20" name="Connecteur droit 19">
            <a:extLst>
              <a:ext uri="{FF2B5EF4-FFF2-40B4-BE49-F238E27FC236}">
                <a16:creationId xmlns:a16="http://schemas.microsoft.com/office/drawing/2014/main" id="{DF1AB433-DC74-41E7-8323-FD8F22BBFF9F}"/>
              </a:ext>
            </a:extLst>
          </p:cNvPr>
          <p:cNvCxnSpPr/>
          <p:nvPr/>
        </p:nvCxnSpPr>
        <p:spPr>
          <a:xfrm>
            <a:off x="9304470" y="692696"/>
            <a:ext cx="0" cy="5620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A9E6110D-511E-42BF-9916-0662A642A131}"/>
              </a:ext>
            </a:extLst>
          </p:cNvPr>
          <p:cNvCxnSpPr/>
          <p:nvPr/>
        </p:nvCxnSpPr>
        <p:spPr>
          <a:xfrm>
            <a:off x="9425472" y="2371085"/>
            <a:ext cx="2250864"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ZoneTexte 25">
            <a:extLst>
              <a:ext uri="{FF2B5EF4-FFF2-40B4-BE49-F238E27FC236}">
                <a16:creationId xmlns:a16="http://schemas.microsoft.com/office/drawing/2014/main" id="{628C21B8-0016-4276-BF9A-9DA527829942}"/>
              </a:ext>
            </a:extLst>
          </p:cNvPr>
          <p:cNvSpPr txBox="1"/>
          <p:nvPr/>
        </p:nvSpPr>
        <p:spPr>
          <a:xfrm>
            <a:off x="9120336" y="1831736"/>
            <a:ext cx="2156926" cy="523220"/>
          </a:xfrm>
          <a:prstGeom prst="rect">
            <a:avLst/>
          </a:prstGeom>
          <a:noFill/>
        </p:spPr>
        <p:txBody>
          <a:bodyPr wrap="square">
            <a:spAutoFit/>
          </a:bodyPr>
          <a:lstStyle/>
          <a:p>
            <a:pPr algn="ctr"/>
            <a:r>
              <a:rPr lang="fr-FR" sz="1400" b="1">
                <a:solidFill>
                  <a:schemeClr val="tx1">
                    <a:lumMod val="75000"/>
                    <a:lumOff val="25000"/>
                  </a:schemeClr>
                </a:solidFill>
              </a:rPr>
              <a:t>* Les entreprises Nexia en France </a:t>
            </a:r>
          </a:p>
        </p:txBody>
      </p:sp>
      <p:sp>
        <p:nvSpPr>
          <p:cNvPr id="27" name="ZoneTexte 26">
            <a:extLst>
              <a:ext uri="{FF2B5EF4-FFF2-40B4-BE49-F238E27FC236}">
                <a16:creationId xmlns:a16="http://schemas.microsoft.com/office/drawing/2014/main" id="{B3BA499B-8CC6-406F-B9B5-E5604CA63799}"/>
              </a:ext>
            </a:extLst>
          </p:cNvPr>
          <p:cNvSpPr txBox="1"/>
          <p:nvPr/>
        </p:nvSpPr>
        <p:spPr>
          <a:xfrm>
            <a:off x="9381310" y="2651327"/>
            <a:ext cx="2693792" cy="1477328"/>
          </a:xfrm>
          <a:prstGeom prst="rect">
            <a:avLst/>
          </a:prstGeom>
          <a:noFill/>
        </p:spPr>
        <p:txBody>
          <a:bodyPr wrap="square">
            <a:spAutoFit/>
          </a:bodyPr>
          <a:lstStyle/>
          <a:p>
            <a:r>
              <a:rPr lang="en-US" b="1" dirty="0" err="1">
                <a:solidFill>
                  <a:srgbClr val="0D5257"/>
                </a:solidFill>
              </a:rPr>
              <a:t>Sefico</a:t>
            </a:r>
            <a:r>
              <a:rPr lang="en-US" b="1" dirty="0">
                <a:solidFill>
                  <a:srgbClr val="0D5257"/>
                </a:solidFill>
              </a:rPr>
              <a:t> Nexia</a:t>
            </a:r>
          </a:p>
          <a:p>
            <a:endParaRPr lang="en-US" sz="1200" b="1" dirty="0">
              <a:solidFill>
                <a:srgbClr val="575756"/>
              </a:solidFill>
            </a:endParaRPr>
          </a:p>
          <a:p>
            <a:r>
              <a:rPr lang="en-US" sz="1200" dirty="0">
                <a:solidFill>
                  <a:srgbClr val="575756"/>
                </a:solidFill>
              </a:rPr>
              <a:t>... et </a:t>
            </a:r>
            <a:r>
              <a:rPr lang="en-US" sz="1200" dirty="0" err="1">
                <a:solidFill>
                  <a:srgbClr val="575756"/>
                </a:solidFill>
              </a:rPr>
              <a:t>ses</a:t>
            </a:r>
            <a:r>
              <a:rPr lang="en-US" sz="1200" dirty="0">
                <a:solidFill>
                  <a:srgbClr val="575756"/>
                </a:solidFill>
              </a:rPr>
              <a:t> </a:t>
            </a:r>
            <a:r>
              <a:rPr lang="en-US" sz="1200" dirty="0" err="1">
                <a:solidFill>
                  <a:srgbClr val="575756"/>
                </a:solidFill>
              </a:rPr>
              <a:t>partenaires</a:t>
            </a:r>
            <a:endParaRPr lang="en-US" sz="1200" dirty="0">
              <a:solidFill>
                <a:srgbClr val="575756"/>
              </a:solidFill>
            </a:endParaRPr>
          </a:p>
          <a:p>
            <a:r>
              <a:rPr lang="en-US" sz="1200" dirty="0">
                <a:solidFill>
                  <a:srgbClr val="575756"/>
                </a:solidFill>
              </a:rPr>
              <a:t>- Aca Nexia (Paris)</a:t>
            </a:r>
          </a:p>
          <a:p>
            <a:r>
              <a:rPr lang="en-US" sz="1200" dirty="0">
                <a:solidFill>
                  <a:srgbClr val="575756"/>
                </a:solidFill>
              </a:rPr>
              <a:t>- </a:t>
            </a:r>
            <a:r>
              <a:rPr lang="en-US" sz="1200" dirty="0" err="1">
                <a:solidFill>
                  <a:srgbClr val="575756"/>
                </a:solidFill>
              </a:rPr>
              <a:t>Eca</a:t>
            </a:r>
            <a:r>
              <a:rPr lang="en-US" sz="1200" dirty="0">
                <a:solidFill>
                  <a:srgbClr val="575756"/>
                </a:solidFill>
              </a:rPr>
              <a:t> Nexia (Centre)</a:t>
            </a:r>
          </a:p>
          <a:p>
            <a:r>
              <a:rPr lang="en-US" sz="1200" dirty="0">
                <a:solidFill>
                  <a:srgbClr val="575756"/>
                </a:solidFill>
              </a:rPr>
              <a:t>- Groupe Y Nexia (Ouest)</a:t>
            </a:r>
          </a:p>
          <a:p>
            <a:r>
              <a:rPr lang="en-US" sz="1200" dirty="0">
                <a:solidFill>
                  <a:srgbClr val="575756"/>
                </a:solidFill>
              </a:rPr>
              <a:t>- </a:t>
            </a:r>
            <a:r>
              <a:rPr lang="en-US" sz="1200" dirty="0" err="1">
                <a:solidFill>
                  <a:srgbClr val="575756"/>
                </a:solidFill>
              </a:rPr>
              <a:t>Novances</a:t>
            </a:r>
            <a:r>
              <a:rPr lang="en-US" sz="1200" dirty="0">
                <a:solidFill>
                  <a:srgbClr val="575756"/>
                </a:solidFill>
              </a:rPr>
              <a:t> Nexia (Sud-Est)</a:t>
            </a:r>
          </a:p>
        </p:txBody>
      </p:sp>
      <p:sp>
        <p:nvSpPr>
          <p:cNvPr id="30" name="Espace réservé du numéro de diapositive 9">
            <a:extLst>
              <a:ext uri="{FF2B5EF4-FFF2-40B4-BE49-F238E27FC236}">
                <a16:creationId xmlns:a16="http://schemas.microsoft.com/office/drawing/2014/main" id="{DF1D36DA-82BC-410E-9757-877E1C40140B}"/>
              </a:ext>
            </a:extLst>
          </p:cNvPr>
          <p:cNvSpPr txBox="1">
            <a:spLocks/>
          </p:cNvSpPr>
          <p:nvPr/>
        </p:nvSpPr>
        <p:spPr>
          <a:xfrm>
            <a:off x="11492632" y="6400413"/>
            <a:ext cx="367408" cy="27699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p>
        </p:txBody>
      </p:sp>
      <p:pic>
        <p:nvPicPr>
          <p:cNvPr id="6" name="Image 5">
            <a:extLst>
              <a:ext uri="{FF2B5EF4-FFF2-40B4-BE49-F238E27FC236}">
                <a16:creationId xmlns:a16="http://schemas.microsoft.com/office/drawing/2014/main" id="{42B29319-E13E-4B3C-A1CB-A36ACEB6F908}"/>
              </a:ext>
            </a:extLst>
          </p:cNvPr>
          <p:cNvPicPr>
            <a:picLocks noChangeAspect="1"/>
          </p:cNvPicPr>
          <p:nvPr/>
        </p:nvPicPr>
        <p:blipFill>
          <a:blip r:embed="rId4"/>
          <a:stretch>
            <a:fillRect/>
          </a:stretch>
        </p:blipFill>
        <p:spPr>
          <a:xfrm>
            <a:off x="3787095" y="483782"/>
            <a:ext cx="2368311" cy="2009476"/>
          </a:xfrm>
          <a:prstGeom prst="rect">
            <a:avLst/>
          </a:prstGeom>
        </p:spPr>
      </p:pic>
      <p:pic>
        <p:nvPicPr>
          <p:cNvPr id="7" name="Image 6">
            <a:extLst>
              <a:ext uri="{FF2B5EF4-FFF2-40B4-BE49-F238E27FC236}">
                <a16:creationId xmlns:a16="http://schemas.microsoft.com/office/drawing/2014/main" id="{2D0101F3-99A1-4218-9012-F8289612AC90}"/>
              </a:ext>
            </a:extLst>
          </p:cNvPr>
          <p:cNvPicPr>
            <a:picLocks noChangeAspect="1"/>
          </p:cNvPicPr>
          <p:nvPr/>
        </p:nvPicPr>
        <p:blipFill>
          <a:blip r:embed="rId5"/>
          <a:stretch>
            <a:fillRect/>
          </a:stretch>
        </p:blipFill>
        <p:spPr>
          <a:xfrm>
            <a:off x="3298099" y="2206684"/>
            <a:ext cx="1876153" cy="2008445"/>
          </a:xfrm>
          <a:prstGeom prst="rect">
            <a:avLst/>
          </a:prstGeom>
        </p:spPr>
      </p:pic>
      <p:pic>
        <p:nvPicPr>
          <p:cNvPr id="9" name="Image 8">
            <a:extLst>
              <a:ext uri="{FF2B5EF4-FFF2-40B4-BE49-F238E27FC236}">
                <a16:creationId xmlns:a16="http://schemas.microsoft.com/office/drawing/2014/main" id="{6AC0859D-BE7B-4DD2-B237-3F08C2B38A5D}"/>
              </a:ext>
            </a:extLst>
          </p:cNvPr>
          <p:cNvPicPr>
            <a:picLocks noChangeAspect="1"/>
          </p:cNvPicPr>
          <p:nvPr/>
        </p:nvPicPr>
        <p:blipFill>
          <a:blip r:embed="rId6"/>
          <a:stretch>
            <a:fillRect/>
          </a:stretch>
        </p:blipFill>
        <p:spPr>
          <a:xfrm>
            <a:off x="4799856" y="3429000"/>
            <a:ext cx="2880310" cy="2673651"/>
          </a:xfrm>
          <a:prstGeom prst="rect">
            <a:avLst/>
          </a:prstGeom>
        </p:spPr>
      </p:pic>
      <p:pic>
        <p:nvPicPr>
          <p:cNvPr id="10" name="Image 9">
            <a:extLst>
              <a:ext uri="{FF2B5EF4-FFF2-40B4-BE49-F238E27FC236}">
                <a16:creationId xmlns:a16="http://schemas.microsoft.com/office/drawing/2014/main" id="{E1F3C74B-5FA6-4EFE-957F-C91CE1A271F3}"/>
              </a:ext>
            </a:extLst>
          </p:cNvPr>
          <p:cNvPicPr>
            <a:picLocks noChangeAspect="1"/>
          </p:cNvPicPr>
          <p:nvPr/>
        </p:nvPicPr>
        <p:blipFill>
          <a:blip r:embed="rId7"/>
          <a:stretch>
            <a:fillRect/>
          </a:stretch>
        </p:blipFill>
        <p:spPr>
          <a:xfrm>
            <a:off x="7329198" y="2369438"/>
            <a:ext cx="1418609" cy="1422687"/>
          </a:xfrm>
          <a:prstGeom prst="rect">
            <a:avLst/>
          </a:prstGeom>
        </p:spPr>
      </p:pic>
      <p:pic>
        <p:nvPicPr>
          <p:cNvPr id="11" name="Image 10">
            <a:extLst>
              <a:ext uri="{FF2B5EF4-FFF2-40B4-BE49-F238E27FC236}">
                <a16:creationId xmlns:a16="http://schemas.microsoft.com/office/drawing/2014/main" id="{F8175F98-319A-47C5-B1CA-4A7C4C7DB3F9}"/>
              </a:ext>
            </a:extLst>
          </p:cNvPr>
          <p:cNvPicPr>
            <a:picLocks noChangeAspect="1"/>
          </p:cNvPicPr>
          <p:nvPr/>
        </p:nvPicPr>
        <p:blipFill>
          <a:blip r:embed="rId8"/>
          <a:stretch>
            <a:fillRect/>
          </a:stretch>
        </p:blipFill>
        <p:spPr>
          <a:xfrm>
            <a:off x="5056974" y="1891024"/>
            <a:ext cx="2140946" cy="1349546"/>
          </a:xfrm>
          <a:prstGeom prst="rect">
            <a:avLst/>
          </a:prstGeom>
        </p:spPr>
      </p:pic>
      <p:pic>
        <p:nvPicPr>
          <p:cNvPr id="12" name="Image 11">
            <a:extLst>
              <a:ext uri="{FF2B5EF4-FFF2-40B4-BE49-F238E27FC236}">
                <a16:creationId xmlns:a16="http://schemas.microsoft.com/office/drawing/2014/main" id="{94428950-5B5C-4605-B041-81D1817FC5D9}"/>
              </a:ext>
            </a:extLst>
          </p:cNvPr>
          <p:cNvPicPr>
            <a:picLocks noChangeAspect="1"/>
          </p:cNvPicPr>
          <p:nvPr/>
        </p:nvPicPr>
        <p:blipFill>
          <a:blip r:embed="rId9"/>
          <a:stretch>
            <a:fillRect/>
          </a:stretch>
        </p:blipFill>
        <p:spPr>
          <a:xfrm>
            <a:off x="6766738" y="751881"/>
            <a:ext cx="1230627" cy="1476752"/>
          </a:xfrm>
          <a:prstGeom prst="rect">
            <a:avLst/>
          </a:prstGeom>
        </p:spPr>
      </p:pic>
    </p:spTree>
    <p:extLst>
      <p:ext uri="{BB962C8B-B14F-4D97-AF65-F5344CB8AC3E}">
        <p14:creationId xmlns:p14="http://schemas.microsoft.com/office/powerpoint/2010/main" val="8683163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1DBABCFB-EE00-43F2-B064-8A5C12E0F266}"/>
              </a:ext>
            </a:extLst>
          </p:cNvPr>
          <p:cNvSpPr txBox="1"/>
          <p:nvPr/>
        </p:nvSpPr>
        <p:spPr>
          <a:xfrm>
            <a:off x="3575720" y="4149080"/>
            <a:ext cx="7872761" cy="707886"/>
          </a:xfrm>
          <a:prstGeom prst="rect">
            <a:avLst/>
          </a:prstGeom>
          <a:noFill/>
        </p:spPr>
        <p:txBody>
          <a:bodyPr wrap="square">
            <a:spAutoFit/>
          </a:bodyPr>
          <a:lstStyle/>
          <a:p>
            <a:pPr algn="ctr"/>
            <a:r>
              <a:rPr lang="fr-FR" sz="4000" dirty="0">
                <a:solidFill>
                  <a:srgbClr val="00B2A9"/>
                </a:solidFill>
              </a:rPr>
              <a:t>www.sefico-nexia.com</a:t>
            </a:r>
          </a:p>
        </p:txBody>
      </p:sp>
      <p:sp>
        <p:nvSpPr>
          <p:cNvPr id="15" name="ZoneTexte 14">
            <a:extLst>
              <a:ext uri="{FF2B5EF4-FFF2-40B4-BE49-F238E27FC236}">
                <a16:creationId xmlns:a16="http://schemas.microsoft.com/office/drawing/2014/main" id="{DC17367F-BC3B-4093-8099-35F4B2CE2884}"/>
              </a:ext>
            </a:extLst>
          </p:cNvPr>
          <p:cNvSpPr txBox="1"/>
          <p:nvPr/>
        </p:nvSpPr>
        <p:spPr>
          <a:xfrm>
            <a:off x="5731253" y="1625720"/>
            <a:ext cx="3557428" cy="2000548"/>
          </a:xfrm>
          <a:prstGeom prst="rect">
            <a:avLst/>
          </a:prstGeom>
          <a:solidFill>
            <a:schemeClr val="bg1"/>
          </a:solidFill>
        </p:spPr>
        <p:txBody>
          <a:bodyPr wrap="square">
            <a:spAutoFit/>
          </a:bodyPr>
          <a:lstStyle/>
          <a:p>
            <a:pPr algn="ctr"/>
            <a:endParaRPr lang="fr-FR" sz="14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endParaRPr lang="fr-FR" sz="14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endParaRPr lang="fr-FR" sz="14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endParaRPr lang="fr-FR" sz="14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r>
              <a:rPr lang="fr-FR" sz="1700" dirty="0">
                <a:solidFill>
                  <a:srgbClr val="575756"/>
                </a:solidFill>
                <a:latin typeface="Tahoma" panose="020B0604030504040204" pitchFamily="34" charset="0"/>
                <a:ea typeface="Tahoma" panose="020B0604030504040204" pitchFamily="34" charset="0"/>
                <a:cs typeface="Tahoma" panose="020B0604030504040204" pitchFamily="34" charset="0"/>
              </a:rPr>
              <a:t>65, avenue Kléber</a:t>
            </a:r>
          </a:p>
          <a:p>
            <a:pPr algn="ctr"/>
            <a:r>
              <a:rPr lang="fr-FR" sz="1700" dirty="0">
                <a:solidFill>
                  <a:srgbClr val="575756"/>
                </a:solidFill>
                <a:latin typeface="Tahoma" panose="020B0604030504040204" pitchFamily="34" charset="0"/>
                <a:ea typeface="Tahoma" panose="020B0604030504040204" pitchFamily="34" charset="0"/>
                <a:cs typeface="Tahoma" panose="020B0604030504040204" pitchFamily="34" charset="0"/>
              </a:rPr>
              <a:t>75116 PARIS</a:t>
            </a:r>
          </a:p>
          <a:p>
            <a:pPr algn="ctr"/>
            <a:endParaRPr lang="fr-FR" sz="1700" dirty="0">
              <a:solidFill>
                <a:srgbClr val="575756"/>
              </a:solidFill>
              <a:latin typeface="Tahoma" panose="020B0604030504040204" pitchFamily="34" charset="0"/>
              <a:ea typeface="Tahoma" panose="020B0604030504040204" pitchFamily="34" charset="0"/>
              <a:cs typeface="Tahoma" panose="020B0604030504040204" pitchFamily="34" charset="0"/>
            </a:endParaRPr>
          </a:p>
          <a:p>
            <a:pPr algn="ctr"/>
            <a:r>
              <a:rPr lang="fr-FR" sz="1700" dirty="0">
                <a:solidFill>
                  <a:srgbClr val="575756"/>
                </a:solidFill>
                <a:latin typeface="Tahoma" panose="020B0604030504040204" pitchFamily="34" charset="0"/>
                <a:ea typeface="Tahoma" panose="020B0604030504040204" pitchFamily="34" charset="0"/>
                <a:cs typeface="Tahoma" panose="020B0604030504040204" pitchFamily="34" charset="0"/>
              </a:rPr>
              <a:t>Tél. : +33 (0)1 44 34 08 00</a:t>
            </a:r>
          </a:p>
        </p:txBody>
      </p:sp>
      <p:pic>
        <p:nvPicPr>
          <p:cNvPr id="16" name="Image 15">
            <a:extLst>
              <a:ext uri="{FF2B5EF4-FFF2-40B4-BE49-F238E27FC236}">
                <a16:creationId xmlns:a16="http://schemas.microsoft.com/office/drawing/2014/main" id="{DC4B501E-0DCD-4D03-B762-B4BF3BC181C8}"/>
              </a:ext>
            </a:extLst>
          </p:cNvPr>
          <p:cNvPicPr>
            <a:picLocks noChangeAspect="1"/>
          </p:cNvPicPr>
          <p:nvPr/>
        </p:nvPicPr>
        <p:blipFill>
          <a:blip r:embed="rId2"/>
          <a:stretch>
            <a:fillRect/>
          </a:stretch>
        </p:blipFill>
        <p:spPr>
          <a:xfrm>
            <a:off x="6570580" y="864823"/>
            <a:ext cx="1659457" cy="619948"/>
          </a:xfrm>
          <a:prstGeom prst="rect">
            <a:avLst/>
          </a:prstGeom>
        </p:spPr>
      </p:pic>
      <p:pic>
        <p:nvPicPr>
          <p:cNvPr id="20" name="Image 19" descr="cid:image006.jpg@01D06C7D.626C7050">
            <a:hlinkClick r:id="rId3"/>
            <a:extLst>
              <a:ext uri="{FF2B5EF4-FFF2-40B4-BE49-F238E27FC236}">
                <a16:creationId xmlns:a16="http://schemas.microsoft.com/office/drawing/2014/main" id="{0965A057-2CE3-4BAF-AE00-961D6CB87C5D}"/>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7198292" y="5502327"/>
            <a:ext cx="247167" cy="446196"/>
          </a:xfrm>
          <a:prstGeom prst="rect">
            <a:avLst/>
          </a:prstGeom>
          <a:noFill/>
          <a:ln>
            <a:noFill/>
          </a:ln>
        </p:spPr>
      </p:pic>
      <p:pic>
        <p:nvPicPr>
          <p:cNvPr id="21" name="Image 20" descr="cid:image008.jpg@01D06C7D.626C7050">
            <a:hlinkClick r:id="rId5"/>
            <a:extLst>
              <a:ext uri="{FF2B5EF4-FFF2-40B4-BE49-F238E27FC236}">
                <a16:creationId xmlns:a16="http://schemas.microsoft.com/office/drawing/2014/main" id="{FE32610A-CC5F-45DF-B579-D6BC9E3B0BEB}"/>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6725934" y="5507707"/>
            <a:ext cx="238928" cy="436703"/>
          </a:xfrm>
          <a:prstGeom prst="rect">
            <a:avLst/>
          </a:prstGeom>
          <a:noFill/>
          <a:ln>
            <a:noFill/>
          </a:ln>
        </p:spPr>
      </p:pic>
      <p:pic>
        <p:nvPicPr>
          <p:cNvPr id="22" name="Image 21" descr="cid:image010.jpg@01D06C7D.626C7050">
            <a:hlinkClick r:id="rId7"/>
            <a:extLst>
              <a:ext uri="{FF2B5EF4-FFF2-40B4-BE49-F238E27FC236}">
                <a16:creationId xmlns:a16="http://schemas.microsoft.com/office/drawing/2014/main" id="{A345D8B0-27F3-4305-A11D-6BC812708B90}"/>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7680176" y="5517232"/>
            <a:ext cx="247167" cy="427209"/>
          </a:xfrm>
          <a:prstGeom prst="rect">
            <a:avLst/>
          </a:prstGeom>
          <a:noFill/>
          <a:ln>
            <a:noFill/>
          </a:ln>
        </p:spPr>
      </p:pic>
      <p:pic>
        <p:nvPicPr>
          <p:cNvPr id="9" name="Image 8" descr="Une image contenant objet, corde, portant, regardant  Description générée automatiquement">
            <a:extLst>
              <a:ext uri="{FF2B5EF4-FFF2-40B4-BE49-F238E27FC236}">
                <a16:creationId xmlns:a16="http://schemas.microsoft.com/office/drawing/2014/main" id="{465A8201-131B-4781-B5BD-6D93A853C002}"/>
              </a:ext>
            </a:extLst>
          </p:cNvPr>
          <p:cNvPicPr>
            <a:picLocks noChangeAspect="1"/>
          </p:cNvPicPr>
          <p:nvPr/>
        </p:nvPicPr>
        <p:blipFill rotWithShape="1">
          <a:blip r:embed="rId9">
            <a:extLst>
              <a:ext uri="{28A0092B-C50C-407E-A947-70E740481C1C}">
                <a14:useLocalDpi xmlns:a14="http://schemas.microsoft.com/office/drawing/2010/main" val="0"/>
              </a:ext>
            </a:extLst>
          </a:blip>
          <a:srcRect l="25949" r="52508"/>
          <a:stretch/>
        </p:blipFill>
        <p:spPr>
          <a:xfrm>
            <a:off x="-140638" y="-2"/>
            <a:ext cx="2779926" cy="6858002"/>
          </a:xfrm>
          <a:prstGeom prst="rect">
            <a:avLst/>
          </a:prstGeom>
        </p:spPr>
      </p:pic>
      <p:pic>
        <p:nvPicPr>
          <p:cNvPr id="2" name="Image 1">
            <a:extLst>
              <a:ext uri="{FF2B5EF4-FFF2-40B4-BE49-F238E27FC236}">
                <a16:creationId xmlns:a16="http://schemas.microsoft.com/office/drawing/2014/main" id="{B0E665EF-0753-4385-9D7D-630FE824A594}"/>
              </a:ext>
            </a:extLst>
          </p:cNvPr>
          <p:cNvPicPr>
            <a:picLocks noChangeAspect="1"/>
          </p:cNvPicPr>
          <p:nvPr/>
        </p:nvPicPr>
        <p:blipFill>
          <a:blip r:embed="rId10"/>
          <a:stretch>
            <a:fillRect/>
          </a:stretch>
        </p:blipFill>
        <p:spPr>
          <a:xfrm>
            <a:off x="8133211" y="5517232"/>
            <a:ext cx="247167" cy="2471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UPSLIDEPRINTFACINGPAGESDESIGN" val="Scotto Partners - FR"/>
  <p:tag name="UPSLIDEPRINTFACINGPAGESLAYOUT" val="Cover"/>
  <p:tag name="UPSLIDETOCOPTIONS" val="&lt;?xml version=&quot;1.0&quot; encoding=&quot;utf-16&quot;?&gt;&#10;&lt;TocContentOptions xmlns:xsi=&quot;http://www.w3.org/2001/XMLSchema-instance&quot; xmlns:xsd=&quot;http://www.w3.org/2001/XMLSchema&quot;&gt;&#10;  &lt;TocSlidesOptions&gt;&#10;    &lt;ContainsSubSectionTitles&gt;fals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false&lt;/containsAppendix&gt;&#10;    &lt;containsUnnumberedSections&gt;false&lt;/containsUnnumberedSections&gt;&#10;    &lt;SlideTitle /&gt;&#10;  &lt;/SectionSlideOptions&gt;&#10;  &lt;SubSectionSlideOptions&gt;&#10;    &lt;ContainsOtherSubsections&gt;true&lt;/ContainsOtherSubsections&gt;&#10;    &lt;ContainsOwnSlides&gt;true&lt;/ContainsOwnSlides&gt;&#10;    &lt;ContainsParentSection&gt;true&lt;/ContainsParentSection&gt;&#10;    &lt;ContainsOtherSections&gt;false&lt;/ContainsOtherSections&gt;&#10;    &lt;containsAppendix&gt;false&lt;/containsAppendix&gt;&#10;    &lt;containsUnnumberedSections&gt;false&lt;/containsUnnumberedSections&gt;&#10;    &lt;SlideTitle&gt;Contents&lt;/SlideTitle&gt;&#10;  &lt;/SubSectionSlideOptions&gt;&#10;  &lt;UsedSlideLayouts&gt;&#10;    &lt;TocSlidesLayout&gt;&#10;      &lt;DesignName&gt;Scotto Partners - FR&lt;/DesignName&gt;&#10;      &lt;LayoutName&gt;Table of contents&lt;/LayoutName&gt;&#10;    &lt;/TocSlidesLayout&gt;&#10;    &lt;SectionLayout&gt;&#10;      &lt;DesignName&gt;Scotto Partners - FR&lt;/DesignName&gt;&#10;      &lt;LayoutName&gt;Subsection Divider&lt;/LayoutName&gt;&#10;    &lt;/SectionLayout&gt;&#10;    &lt;SubsectionLayout&gt;&#10;      &lt;DesignName&gt;Scotto Partners - FR&lt;/DesignName&gt;&#10;      &lt;LayoutName&gt;Subsection Divider&lt;/LayoutName&gt;&#10;    &lt;/SubsectionLayout&gt;&#10;    &lt;TitleSliLayout&gt;&#10;      &lt;DesignName&gt;Scotto Partners - FR&lt;/DesignName&gt;&#10;      &lt;LayoutName&gt;Cover&lt;/LayoutName&gt;&#10;    &lt;/TitleSliLayout&gt;&#10;  &lt;/UsedSlideLayouts&gt;&#10;  &lt;ActiveReminders /&gt;&#10;  &lt;CustomAlgoOptions&gt;&#10;    &lt;CustomBaseAlgoOptions&gt;&#10;      &lt;UseSlideTitleAsSubSectionMarker&gt;tru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false&lt;/UseFixedColor&gt;&#10;        &lt;R&gt;209&lt;/R&gt;&#10;        &lt;G&gt;206&lt;/G&gt;&#10;        &lt;B&gt;223&lt;/B&gt;&#10;      &lt;/myColorOfNonCurrentItems&gt;&#10;      &lt;currentItemFormat&gt;&#10;        &lt;UseBanner&gt;false&lt;/UseBanner&gt;&#10;        &lt;BannerFillR&gt;0&lt;/BannerFillR&gt;&#10;        &lt;BannerFillG&gt;0&lt;/BannerFillG&gt;&#10;        &lt;BannerFillB&gt;0&lt;/BannerFillB&gt;&#10;        &lt;ForceBold&gt;false&lt;/ForceBold&gt;&#10;        &lt;ApplyToSubSections&gt;fals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6&lt;/Shading&gt;&#10;      &lt;/nonCurrentItemAttenuation&gt;&#10;      &lt;ForceDisplayTOCOnTwocolumns&gt;false&lt;/ForceDisplayTOCOnTwocolumns&gt;&#10;      &lt;DisplayTOCOnTwocolumns&gt;false&lt;/DisplayTOCOnTwocolumns&gt;&#10;      &lt;Scripts&gt;&#10;        &lt;BeforeSubSecTitle /&gt;&#10;        &lt;BeforeSlideIndex&gt;p.&lt;/BeforeSlideIndex&gt;&#10;        &lt;AfterSecNum&gt;.&lt;/AfterSecNum&gt;&#10;        &lt;BeforeSecNum /&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10&lt;/SpaceBeforeSections&gt;&#10;          &lt;SpaceBeforeSubSections&gt;10.9984255&lt;/SpaceBeforeSubSections&gt;&#10;          &lt;SpaceBeforeSlides&gt;5.49921274&lt;/SpaceBeforeSlides&gt;&#10;        &lt;/ManualSpacing&gt;&#10;        &lt;ManualSpacingSections&gt;&#10;          &lt;SpaceBeforeSections&gt;5&lt;/SpaceBeforeSections&gt;&#10;          &lt;SpaceBeforeSubSections&gt;10.9984255&lt;/SpaceBeforeSubSections&gt;&#10;          &lt;SpaceBeforeSlides&gt;5.49921274&lt;/SpaceBeforeSlides&gt;&#10;        &lt;/ManualSpacingSections&gt;&#10;        &lt;ManualSpacingSubSections&gt;&#10;          &lt;SpaceBeforeSections&gt;5&lt;/SpaceBeforeSections&gt;&#10;          &lt;SpaceBeforeSubSections&gt;5&lt;/SpaceBeforeSubSections&gt;&#10;          &lt;SpaceBeforeSlides&gt;5&lt;/SpaceBeforeSlides&gt;&#10;        &lt;/ManualSpacingSubSections&gt;&#10;        &lt;UseSpecificSpacingForSecDivider&gt;true&lt;/UseSpecificSpacingForSecDivider&gt;&#10;        &lt;UseSpecificSpacingForSubSecDivider&gt;true&lt;/UseSpecificSpacingForSubSecDivider&gt;&#10;      &lt;/ManVerticalSpacing&gt;&#10;    &lt;/CustomBaseAlgoOptions&gt;&#10;  &lt;/CustomAlgoOptions&gt;&#10;  &lt;XmlSubSectionsHaveSlide&gt;false&lt;/XmlSubSectionsHaveSlide&gt;&#10;  &lt;AllowDuplicateTitleSlides&gt;true&lt;/AllowDuplicateTitleSlides&gt;&#10;  &lt;ShowEmptySlideTitles&gt;false&lt;/ShowEmptySlideTitles&gt;&#10;  &lt;NumberingOption&gt;&#10;    &lt;NumType&gt;ArabicAndCapitalLetters&lt;/NumType&gt;&#10;  &lt;/NumberingOption&gt;&#10;  &lt;NumberingOptionForAppendix&gt;&#10;    &lt;NumType&gt;ArabicAndCapitalLetters&lt;/NumType&gt;&#10;  &lt;/NumberingOptionForAppendix&gt;&#10;&lt;/TocContentOptions&gt;"/>
  <p:tag name="UPSLIDETOCALGOID" val="Standard"/>
  <p:tag name="FOOTERSCRIPT" val="&lt;%Date%&gt; | &lt;%Titre%&gt;"/>
  <p:tag name="UPSLIDETOCMASTERID" val="Scotto - 20193 12 2019"/>
  <p:tag name="UPSLIDETOCMASTERNAME" val="Scotto - 2019"/>
  <p:tag name="UPSLIDETOCMASTERLASTEDITIONDATE" val="636952598899988627"/>
  <p:tag name="TEMPLATESHORTNAMETAG" val="Modèle Scotto Partners"/>
  <p:tag name="TEMPLATEFULLNAMETAG" val="Modèle Scotto Partners"/>
  <p:tag name="UPSLIDE" val="UpS00075_Modèle Scotto Partners - FR_07-03-2019"/>
  <p:tag name="UPSLIDEVERSION" val="6.4.0.4"/>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KRBZtSHR3OuSJzhCtKm3g"/>
</p:tagLst>
</file>

<file path=ppt/theme/theme1.xml><?xml version="1.0" encoding="utf-8"?>
<a:theme xmlns:a="http://schemas.openxmlformats.org/drawingml/2006/main" name="new brand">
  <a:themeElements>
    <a:clrScheme name="New Brand colours">
      <a:dk1>
        <a:srgbClr val="0D5257"/>
      </a:dk1>
      <a:lt1>
        <a:srgbClr val="FFFFFF"/>
      </a:lt1>
      <a:dk2>
        <a:srgbClr val="00B2A9"/>
      </a:dk2>
      <a:lt2>
        <a:srgbClr val="DED1C0"/>
      </a:lt2>
      <a:accent1>
        <a:srgbClr val="575756"/>
      </a:accent1>
      <a:accent2>
        <a:srgbClr val="0D5257"/>
      </a:accent2>
      <a:accent3>
        <a:srgbClr val="1685C2"/>
      </a:accent3>
      <a:accent4>
        <a:srgbClr val="2C52A0"/>
      </a:accent4>
      <a:accent5>
        <a:srgbClr val="841262"/>
      </a:accent5>
      <a:accent6>
        <a:srgbClr val="CA0F64"/>
      </a:accent6>
      <a:hlink>
        <a:srgbClr val="CA0F64"/>
      </a:hlink>
      <a:folHlink>
        <a:srgbClr val="00B2A9"/>
      </a:folHlink>
    </a:clrScheme>
    <a:fontScheme name="New brand">
      <a:majorFont>
        <a:latin typeface="Tahoma"/>
        <a:ea typeface=""/>
        <a:cs typeface=""/>
      </a:majorFont>
      <a:minorFont>
        <a:latin typeface="Tahom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brand" id="{E9066532-E522-447F-975A-2F710D898D61}" vid="{35EA6A82-63D7-43D1-B6D4-4D64722E02E4}"/>
    </a:ext>
  </a:extLst>
</a:theme>
</file>

<file path=ppt/theme/theme2.xml><?xml version="1.0" encoding="utf-8"?>
<a:theme xmlns:a="http://schemas.openxmlformats.org/drawingml/2006/main" name="1_new brand">
  <a:themeElements>
    <a:clrScheme name="New Brand colours">
      <a:dk1>
        <a:srgbClr val="0D5257"/>
      </a:dk1>
      <a:lt1>
        <a:srgbClr val="FFFFFF"/>
      </a:lt1>
      <a:dk2>
        <a:srgbClr val="00B2A9"/>
      </a:dk2>
      <a:lt2>
        <a:srgbClr val="DED1C0"/>
      </a:lt2>
      <a:accent1>
        <a:srgbClr val="575756"/>
      </a:accent1>
      <a:accent2>
        <a:srgbClr val="0D5257"/>
      </a:accent2>
      <a:accent3>
        <a:srgbClr val="1685C2"/>
      </a:accent3>
      <a:accent4>
        <a:srgbClr val="2C52A0"/>
      </a:accent4>
      <a:accent5>
        <a:srgbClr val="841262"/>
      </a:accent5>
      <a:accent6>
        <a:srgbClr val="CA0F64"/>
      </a:accent6>
      <a:hlink>
        <a:srgbClr val="CA0F64"/>
      </a:hlink>
      <a:folHlink>
        <a:srgbClr val="00B2A9"/>
      </a:folHlink>
    </a:clrScheme>
    <a:fontScheme name="New brand">
      <a:majorFont>
        <a:latin typeface="Tahoma"/>
        <a:ea typeface=""/>
        <a:cs typeface=""/>
      </a:majorFont>
      <a:minorFont>
        <a:latin typeface="Tahom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brand" id="{E9066532-E522-447F-975A-2F710D898D61}" vid="{35EA6A82-63D7-43D1-B6D4-4D64722E02E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D6CC92EC43BD74494502936394E616F" ma:contentTypeVersion="11" ma:contentTypeDescription="Crée un document." ma:contentTypeScope="" ma:versionID="6702002717e69d6c04af05659f177dbf">
  <xsd:schema xmlns:xsd="http://www.w3.org/2001/XMLSchema" xmlns:xs="http://www.w3.org/2001/XMLSchema" xmlns:p="http://schemas.microsoft.com/office/2006/metadata/properties" xmlns:ns2="30b38b83-4b28-4f25-ac3c-c2e265ef0bd3" xmlns:ns3="fea6b41e-3a9f-444f-9185-aa64c991800b" targetNamespace="http://schemas.microsoft.com/office/2006/metadata/properties" ma:root="true" ma:fieldsID="70b2fc870798ee728986b71f5c441f7b" ns2:_="" ns3:_="">
    <xsd:import namespace="30b38b83-4b28-4f25-ac3c-c2e265ef0bd3"/>
    <xsd:import namespace="fea6b41e-3a9f-444f-9185-aa64c991800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AutoKeyPoints" minOccurs="0"/>
                <xsd:element ref="ns2:MediaServiceKeyPoint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b38b83-4b28-4f25-ac3c-c2e265ef0b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a6b41e-3a9f-444f-9185-aa64c991800b"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D3D782-C4A6-4CD6-821C-1F441E91BB33}">
  <ds:schemaRefs>
    <ds:schemaRef ds:uri="http://schemas.microsoft.com/office/2006/metadata/properties"/>
    <ds:schemaRef ds:uri="http://schemas.microsoft.com/office/2006/documentManagement/types"/>
    <ds:schemaRef ds:uri="http://purl.org/dc/elements/1.1/"/>
    <ds:schemaRef ds:uri="http://www.w3.org/XML/1998/namespace"/>
    <ds:schemaRef ds:uri="http://schemas.microsoft.com/office/infopath/2007/PartnerControls"/>
    <ds:schemaRef ds:uri="http://purl.org/dc/dcmitype/"/>
    <ds:schemaRef ds:uri="http://purl.org/dc/terms/"/>
    <ds:schemaRef ds:uri="fea6b41e-3a9f-444f-9185-aa64c991800b"/>
    <ds:schemaRef ds:uri="http://schemas.openxmlformats.org/package/2006/metadata/core-properties"/>
    <ds:schemaRef ds:uri="30b38b83-4b28-4f25-ac3c-c2e265ef0bd3"/>
  </ds:schemaRefs>
</ds:datastoreItem>
</file>

<file path=customXml/itemProps2.xml><?xml version="1.0" encoding="utf-8"?>
<ds:datastoreItem xmlns:ds="http://schemas.openxmlformats.org/officeDocument/2006/customXml" ds:itemID="{5504238E-89D3-4745-BD72-F1F14A20E4A3}">
  <ds:schemaRefs>
    <ds:schemaRef ds:uri="http://schemas.microsoft.com/sharepoint/v3/contenttype/forms"/>
  </ds:schemaRefs>
</ds:datastoreItem>
</file>

<file path=customXml/itemProps3.xml><?xml version="1.0" encoding="utf-8"?>
<ds:datastoreItem xmlns:ds="http://schemas.openxmlformats.org/officeDocument/2006/customXml" ds:itemID="{2E539365-47C7-4D2B-9A3F-60A1C6BA7B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b38b83-4b28-4f25-ac3c-c2e265ef0bd3"/>
    <ds:schemaRef ds:uri="fea6b41e-3a9f-444f-9185-aa64c99180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8710</TotalTime>
  <Words>3546</Words>
  <Application>Microsoft Office PowerPoint</Application>
  <PresentationFormat>Grand écran</PresentationFormat>
  <Paragraphs>315</Paragraphs>
  <Slides>13</Slides>
  <Notes>0</Notes>
  <HiddenSlides>0</HiddenSlides>
  <MMClips>0</MMClips>
  <ScaleCrop>false</ScaleCrop>
  <HeadingPairs>
    <vt:vector size="8" baseType="variant">
      <vt:variant>
        <vt:lpstr>Polices utilisées</vt:lpstr>
      </vt:variant>
      <vt:variant>
        <vt:i4>10</vt:i4>
      </vt:variant>
      <vt:variant>
        <vt:lpstr>Thème</vt:lpstr>
      </vt:variant>
      <vt:variant>
        <vt:i4>2</vt:i4>
      </vt:variant>
      <vt:variant>
        <vt:lpstr>Serveurs OLE incorporés</vt:lpstr>
      </vt:variant>
      <vt:variant>
        <vt:i4>1</vt:i4>
      </vt:variant>
      <vt:variant>
        <vt:lpstr>Titres des diapositives</vt:lpstr>
      </vt:variant>
      <vt:variant>
        <vt:i4>13</vt:i4>
      </vt:variant>
    </vt:vector>
  </HeadingPairs>
  <TitlesOfParts>
    <vt:vector size="26" baseType="lpstr">
      <vt:lpstr>Arial</vt:lpstr>
      <vt:lpstr>Calibri</vt:lpstr>
      <vt:lpstr>Calibri (corps)</vt:lpstr>
      <vt:lpstr>Consolas</vt:lpstr>
      <vt:lpstr>Gill Sans</vt:lpstr>
      <vt:lpstr>Helvetica Neue Medium</vt:lpstr>
      <vt:lpstr>Quicksand Bold</vt:lpstr>
      <vt:lpstr>Quicksand Regular</vt:lpstr>
      <vt:lpstr>Tahoma</vt:lpstr>
      <vt:lpstr>Wingdings</vt:lpstr>
      <vt:lpstr>new brand</vt:lpstr>
      <vt:lpstr>1_new brand</vt:lpstr>
      <vt:lpstr>think-cell Slide</vt:lpstr>
      <vt:lpstr>  Le Cabinet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efrizon</dc:creator>
  <cp:lastModifiedBy>Fiorella PAUTTE</cp:lastModifiedBy>
  <cp:revision>189</cp:revision>
  <cp:lastPrinted>2020-03-04T08:31:07Z</cp:lastPrinted>
  <dcterms:created xsi:type="dcterms:W3CDTF">2019-09-04T14:36:24Z</dcterms:created>
  <dcterms:modified xsi:type="dcterms:W3CDTF">2020-10-12T15:22:24Z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0x0101003D6CC92EC43BD74494502936394E616F</vt:lpwstr>
  </property>
</Properties>
</file>