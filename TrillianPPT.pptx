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notesSlides/notesSlide5.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6.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6"/>
  </p:notesMasterIdLst>
  <p:handoutMasterIdLst>
    <p:handoutMasterId r:id="rId17"/>
  </p:handoutMasterIdLst>
  <p:sldIdLst>
    <p:sldId id="455" r:id="rId2"/>
    <p:sldId id="446" r:id="rId3"/>
    <p:sldId id="452" r:id="rId4"/>
    <p:sldId id="453" r:id="rId5"/>
    <p:sldId id="458" r:id="rId6"/>
    <p:sldId id="451" r:id="rId7"/>
    <p:sldId id="441" r:id="rId8"/>
    <p:sldId id="442" r:id="rId9"/>
    <p:sldId id="443" r:id="rId10"/>
    <p:sldId id="444" r:id="rId11"/>
    <p:sldId id="449" r:id="rId12"/>
    <p:sldId id="447" r:id="rId13"/>
    <p:sldId id="457" r:id="rId14"/>
    <p:sldId id="454" r:id="rId15"/>
  </p:sldIdLst>
  <p:sldSz cx="9906000" cy="6858000" type="A4"/>
  <p:notesSz cx="6797675" cy="9926638"/>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30" userDrawn="1">
          <p15:clr>
            <a:srgbClr val="A4A3A4"/>
          </p15:clr>
        </p15:guide>
        <p15:guide id="3" pos="6023" userDrawn="1">
          <p15:clr>
            <a:srgbClr val="A4A3A4"/>
          </p15:clr>
        </p15:guide>
        <p15:guide id="5" orient="horz" pos="96" userDrawn="1">
          <p15:clr>
            <a:srgbClr val="A4A3A4"/>
          </p15:clr>
        </p15:guide>
        <p15:guide id="8" pos="21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riaan van Wyk" initials="AvW" lastIdx="9" clrIdx="0">
    <p:extLst>
      <p:ext uri="{19B8F6BF-5375-455C-9EA6-DF929625EA0E}">
        <p15:presenceInfo xmlns:p15="http://schemas.microsoft.com/office/powerpoint/2012/main" userId="ef34e753b6a1e0e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002E5A"/>
    <a:srgbClr val="00234F"/>
    <a:srgbClr val="001F4E"/>
    <a:srgbClr val="29474E"/>
    <a:srgbClr val="B6AF9D"/>
    <a:srgbClr val="C1C3C2"/>
    <a:srgbClr val="83A7B3"/>
    <a:srgbClr val="4D6C8D"/>
    <a:srgbClr val="B6BA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83" d="100"/>
          <a:sy n="83" d="100"/>
        </p:scale>
        <p:origin x="1205" y="82"/>
      </p:cViewPr>
      <p:guideLst>
        <p:guide orient="horz" pos="3430"/>
        <p:guide pos="6023"/>
        <p:guide orient="horz" pos="96"/>
        <p:guide pos="217"/>
      </p:guideLst>
    </p:cSldViewPr>
  </p:slideViewPr>
  <p:notesTextViewPr>
    <p:cViewPr>
      <p:scale>
        <a:sx n="1" d="1"/>
        <a:sy n="1" d="1"/>
      </p:scale>
      <p:origin x="0" y="0"/>
    </p:cViewPr>
  </p:notesTextViewPr>
  <p:sorterViewPr>
    <p:cViewPr>
      <p:scale>
        <a:sx n="33" d="100"/>
        <a:sy n="33" d="100"/>
      </p:scale>
      <p:origin x="0" y="-198"/>
    </p:cViewPr>
  </p:sorterViewPr>
  <p:notesViewPr>
    <p:cSldViewPr snapToGrid="0" showGuides="1">
      <p:cViewPr varScale="1">
        <p:scale>
          <a:sx n="48" d="100"/>
          <a:sy n="48" d="100"/>
        </p:scale>
        <p:origin x="2886"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image" Target="../media/image6.emf"/><Relationship Id="rId5" Type="http://schemas.openxmlformats.org/officeDocument/2006/relationships/image" Target="../media/image24.emf"/><Relationship Id="rId4" Type="http://schemas.openxmlformats.org/officeDocument/2006/relationships/image" Target="../media/image23.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8056"/>
          </a:xfrm>
          <a:prstGeom prst="rect">
            <a:avLst/>
          </a:prstGeom>
        </p:spPr>
        <p:txBody>
          <a:bodyPr vert="horz" lIns="91432" tIns="45716" rIns="91432" bIns="45716" rtlCol="0"/>
          <a:lstStyle>
            <a:lvl1pPr algn="l">
              <a:defRPr sz="1200"/>
            </a:lvl1pPr>
          </a:lstStyle>
          <a:p>
            <a:endParaRPr lang="en-US" dirty="0"/>
          </a:p>
        </p:txBody>
      </p:sp>
      <p:sp>
        <p:nvSpPr>
          <p:cNvPr id="3" name="Date Placeholder 2"/>
          <p:cNvSpPr>
            <a:spLocks noGrp="1"/>
          </p:cNvSpPr>
          <p:nvPr>
            <p:ph type="dt" sz="quarter" idx="1"/>
          </p:nvPr>
        </p:nvSpPr>
        <p:spPr>
          <a:xfrm>
            <a:off x="3850444" y="0"/>
            <a:ext cx="2945659" cy="498056"/>
          </a:xfrm>
          <a:prstGeom prst="rect">
            <a:avLst/>
          </a:prstGeom>
        </p:spPr>
        <p:txBody>
          <a:bodyPr vert="horz" lIns="91432" tIns="45716" rIns="91432" bIns="45716" rtlCol="0"/>
          <a:lstStyle>
            <a:lvl1pPr algn="r">
              <a:defRPr sz="1200"/>
            </a:lvl1pPr>
          </a:lstStyle>
          <a:p>
            <a:fld id="{7FD8E1F5-FD7B-4FE4-AFC4-749F995DACEF}" type="datetimeFigureOut">
              <a:rPr lang="en-US" smtClean="0"/>
              <a:t>5/25/2016</a:t>
            </a:fld>
            <a:endParaRPr lang="en-US" dirty="0"/>
          </a:p>
        </p:txBody>
      </p:sp>
      <p:sp>
        <p:nvSpPr>
          <p:cNvPr id="4" name="Footer Placeholder 3"/>
          <p:cNvSpPr>
            <a:spLocks noGrp="1"/>
          </p:cNvSpPr>
          <p:nvPr>
            <p:ph type="ftr" sz="quarter" idx="2"/>
          </p:nvPr>
        </p:nvSpPr>
        <p:spPr>
          <a:xfrm>
            <a:off x="1" y="9428585"/>
            <a:ext cx="2945659" cy="498055"/>
          </a:xfrm>
          <a:prstGeom prst="rect">
            <a:avLst/>
          </a:prstGeom>
        </p:spPr>
        <p:txBody>
          <a:bodyPr vert="horz" lIns="91432" tIns="45716" rIns="91432" bIns="4571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0444" y="9428585"/>
            <a:ext cx="2945659" cy="498055"/>
          </a:xfrm>
          <a:prstGeom prst="rect">
            <a:avLst/>
          </a:prstGeom>
        </p:spPr>
        <p:txBody>
          <a:bodyPr vert="horz" lIns="91432" tIns="45716" rIns="91432" bIns="45716" rtlCol="0" anchor="b"/>
          <a:lstStyle>
            <a:lvl1pPr algn="r">
              <a:defRPr sz="1200"/>
            </a:lvl1pPr>
          </a:lstStyle>
          <a:p>
            <a:fld id="{FB2D1BB1-F6FC-4CF6-94C5-ECA070D881C4}" type="slidenum">
              <a:rPr lang="en-US" smtClean="0"/>
              <a:t>‹#›</a:t>
            </a:fld>
            <a:endParaRPr lang="en-US" dirty="0"/>
          </a:p>
        </p:txBody>
      </p:sp>
    </p:spTree>
    <p:extLst>
      <p:ext uri="{BB962C8B-B14F-4D97-AF65-F5344CB8AC3E}">
        <p14:creationId xmlns:p14="http://schemas.microsoft.com/office/powerpoint/2010/main" val="167282803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8056"/>
          </a:xfrm>
          <a:prstGeom prst="rect">
            <a:avLst/>
          </a:prstGeom>
        </p:spPr>
        <p:txBody>
          <a:bodyPr vert="horz" lIns="91432" tIns="45716" rIns="91432" bIns="45716" rtlCol="0"/>
          <a:lstStyle>
            <a:lvl1pPr algn="l">
              <a:defRPr sz="1200"/>
            </a:lvl1pPr>
          </a:lstStyle>
          <a:p>
            <a:endParaRPr lang="en-US" dirty="0"/>
          </a:p>
        </p:txBody>
      </p:sp>
      <p:sp>
        <p:nvSpPr>
          <p:cNvPr id="3" name="Date Placeholder 2"/>
          <p:cNvSpPr>
            <a:spLocks noGrp="1"/>
          </p:cNvSpPr>
          <p:nvPr>
            <p:ph type="dt" idx="1"/>
          </p:nvPr>
        </p:nvSpPr>
        <p:spPr>
          <a:xfrm>
            <a:off x="3850444" y="0"/>
            <a:ext cx="2945659" cy="498056"/>
          </a:xfrm>
          <a:prstGeom prst="rect">
            <a:avLst/>
          </a:prstGeom>
        </p:spPr>
        <p:txBody>
          <a:bodyPr vert="horz" lIns="91432" tIns="45716" rIns="91432" bIns="45716" rtlCol="0"/>
          <a:lstStyle>
            <a:lvl1pPr algn="r">
              <a:defRPr sz="1200"/>
            </a:lvl1pPr>
          </a:lstStyle>
          <a:p>
            <a:fld id="{266BED0C-8FDE-46F0-ACE7-ECBA686221E9}" type="datetimeFigureOut">
              <a:rPr lang="en-US" smtClean="0"/>
              <a:t>5/25/2016</a:t>
            </a:fld>
            <a:endParaRPr lang="en-US" dirty="0"/>
          </a:p>
        </p:txBody>
      </p:sp>
      <p:sp>
        <p:nvSpPr>
          <p:cNvPr id="4" name="Slide Image Placeholder 3"/>
          <p:cNvSpPr>
            <a:spLocks noGrp="1" noRot="1" noChangeAspect="1"/>
          </p:cNvSpPr>
          <p:nvPr>
            <p:ph type="sldImg" idx="2"/>
          </p:nvPr>
        </p:nvSpPr>
        <p:spPr>
          <a:xfrm>
            <a:off x="981075" y="1241425"/>
            <a:ext cx="4835525" cy="3349625"/>
          </a:xfrm>
          <a:prstGeom prst="rect">
            <a:avLst/>
          </a:prstGeom>
          <a:noFill/>
          <a:ln w="12700">
            <a:solidFill>
              <a:prstClr val="black"/>
            </a:solidFill>
          </a:ln>
        </p:spPr>
        <p:txBody>
          <a:bodyPr vert="horz" lIns="91432" tIns="45716" rIns="91432" bIns="45716" rtlCol="0" anchor="ctr"/>
          <a:lstStyle/>
          <a:p>
            <a:endParaRPr lang="en-US" dirty="0"/>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428585"/>
            <a:ext cx="2945659" cy="498055"/>
          </a:xfrm>
          <a:prstGeom prst="rect">
            <a:avLst/>
          </a:prstGeom>
        </p:spPr>
        <p:txBody>
          <a:bodyPr vert="horz" lIns="91432" tIns="45716" rIns="91432" bIns="4571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0444" y="9428585"/>
            <a:ext cx="2945659" cy="498055"/>
          </a:xfrm>
          <a:prstGeom prst="rect">
            <a:avLst/>
          </a:prstGeom>
        </p:spPr>
        <p:txBody>
          <a:bodyPr vert="horz" lIns="91432" tIns="45716" rIns="91432" bIns="45716" rtlCol="0" anchor="b"/>
          <a:lstStyle>
            <a:lvl1pPr algn="r">
              <a:defRPr sz="1200"/>
            </a:lvl1pPr>
          </a:lstStyle>
          <a:p>
            <a:fld id="{CEF7EA76-3884-422D-85E1-F9D328AE0393}" type="slidenum">
              <a:rPr lang="en-US" smtClean="0"/>
              <a:t>‹#›</a:t>
            </a:fld>
            <a:endParaRPr lang="en-US" dirty="0"/>
          </a:p>
        </p:txBody>
      </p:sp>
    </p:spTree>
    <p:extLst>
      <p:ext uri="{BB962C8B-B14F-4D97-AF65-F5344CB8AC3E}">
        <p14:creationId xmlns:p14="http://schemas.microsoft.com/office/powerpoint/2010/main" val="313523774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66DDA3C-4777-42D7-919E-A6B59E108CF2}" type="slidenum">
              <a:rPr lang="en-GB" smtClean="0"/>
              <a:pPr/>
              <a:t>2</a:t>
            </a:fld>
            <a:endParaRPr lang="en-GB" dirty="0"/>
          </a:p>
        </p:txBody>
      </p:sp>
    </p:spTree>
    <p:extLst>
      <p:ext uri="{BB962C8B-B14F-4D97-AF65-F5344CB8AC3E}">
        <p14:creationId xmlns:p14="http://schemas.microsoft.com/office/powerpoint/2010/main" val="36869832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66DDA3C-4777-42D7-919E-A6B59E108CF2}" type="slidenum">
              <a:rPr lang="en-GB" smtClean="0"/>
              <a:pPr/>
              <a:t>7</a:t>
            </a:fld>
            <a:endParaRPr lang="en-GB" dirty="0"/>
          </a:p>
        </p:txBody>
      </p:sp>
    </p:spTree>
    <p:extLst>
      <p:ext uri="{BB962C8B-B14F-4D97-AF65-F5344CB8AC3E}">
        <p14:creationId xmlns:p14="http://schemas.microsoft.com/office/powerpoint/2010/main" val="1344309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66DDA3C-4777-42D7-919E-A6B59E108CF2}" type="slidenum">
              <a:rPr lang="en-GB" smtClean="0"/>
              <a:pPr/>
              <a:t>8</a:t>
            </a:fld>
            <a:endParaRPr lang="en-GB" dirty="0"/>
          </a:p>
        </p:txBody>
      </p:sp>
    </p:spTree>
    <p:extLst>
      <p:ext uri="{BB962C8B-B14F-4D97-AF65-F5344CB8AC3E}">
        <p14:creationId xmlns:p14="http://schemas.microsoft.com/office/powerpoint/2010/main" val="252991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66DDA3C-4777-42D7-919E-A6B59E108CF2}" type="slidenum">
              <a:rPr lang="en-GB" smtClean="0"/>
              <a:pPr/>
              <a:t>9</a:t>
            </a:fld>
            <a:endParaRPr lang="en-GB" dirty="0"/>
          </a:p>
        </p:txBody>
      </p:sp>
    </p:spTree>
    <p:extLst>
      <p:ext uri="{BB962C8B-B14F-4D97-AF65-F5344CB8AC3E}">
        <p14:creationId xmlns:p14="http://schemas.microsoft.com/office/powerpoint/2010/main" val="751979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66DDA3C-4777-42D7-919E-A6B59E108CF2}" type="slidenum">
              <a:rPr lang="en-GB" smtClean="0"/>
              <a:pPr/>
              <a:t>10</a:t>
            </a:fld>
            <a:endParaRPr lang="en-GB" dirty="0"/>
          </a:p>
        </p:txBody>
      </p:sp>
    </p:spTree>
    <p:extLst>
      <p:ext uri="{BB962C8B-B14F-4D97-AF65-F5344CB8AC3E}">
        <p14:creationId xmlns:p14="http://schemas.microsoft.com/office/powerpoint/2010/main" val="2683845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66DDA3C-4777-42D7-919E-A6B59E108CF2}" type="slidenum">
              <a:rPr lang="en-GB" smtClean="0"/>
              <a:pPr/>
              <a:t>12</a:t>
            </a:fld>
            <a:endParaRPr lang="en-GB" dirty="0"/>
          </a:p>
        </p:txBody>
      </p:sp>
    </p:spTree>
    <p:extLst>
      <p:ext uri="{BB962C8B-B14F-4D97-AF65-F5344CB8AC3E}">
        <p14:creationId xmlns:p14="http://schemas.microsoft.com/office/powerpoint/2010/main" val="3098229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966DDA3C-4777-42D7-919E-A6B59E108CF2}" type="slidenum">
              <a:rPr lang="en-GB" smtClean="0"/>
              <a:pPr/>
              <a:t>13</a:t>
            </a:fld>
            <a:endParaRPr lang="en-GB" dirty="0"/>
          </a:p>
        </p:txBody>
      </p:sp>
    </p:spTree>
    <p:extLst>
      <p:ext uri="{BB962C8B-B14F-4D97-AF65-F5344CB8AC3E}">
        <p14:creationId xmlns:p14="http://schemas.microsoft.com/office/powerpoint/2010/main" val="40777532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emf"/><Relationship Id="rId5" Type="http://schemas.openxmlformats.org/officeDocument/2006/relationships/oleObject" Target="../embeddings/oleObject2.bin"/><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3_Title Slide">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userDrawn="1">
            <p:custDataLst>
              <p:tags r:id="rId2"/>
            </p:custDataLst>
            <p:extLst>
              <p:ext uri="{D42A27DB-BD31-4B8C-83A1-F6EECF244321}">
                <p14:modId xmlns:p14="http://schemas.microsoft.com/office/powerpoint/2010/main" val="367296445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082" name="think-cell Slide" r:id="rId5" imgW="378" imgH="379" progId="TCLayout.ActiveDocument.1">
                  <p:embed/>
                </p:oleObj>
              </mc:Choice>
              <mc:Fallback>
                <p:oleObj name="think-cell Slide" r:id="rId5" imgW="378" imgH="379"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p:nvPr>
        </p:nvSpPr>
        <p:spPr>
          <a:xfrm>
            <a:off x="704850" y="3251199"/>
            <a:ext cx="8420100" cy="995363"/>
          </a:xfrm>
        </p:spPr>
        <p:txBody>
          <a:bodyPr anchor="b">
            <a:normAutofit/>
          </a:bodyPr>
          <a:lstStyle>
            <a:lvl1pPr algn="l">
              <a:defRPr sz="3600" b="0">
                <a:solidFill>
                  <a:srgbClr val="002E5A"/>
                </a:solidFill>
              </a:defRPr>
            </a:lvl1pPr>
          </a:lstStyle>
          <a:p>
            <a:r>
              <a:rPr lang="en-US"/>
              <a:t>Click to edit Master title style</a:t>
            </a:r>
            <a:endParaRPr lang="en-US" dirty="0"/>
          </a:p>
        </p:txBody>
      </p:sp>
      <p:sp>
        <p:nvSpPr>
          <p:cNvPr id="3" name="Subtitle 2"/>
          <p:cNvSpPr>
            <a:spLocks noGrp="1"/>
          </p:cNvSpPr>
          <p:nvPr>
            <p:ph type="subTitle" idx="1"/>
          </p:nvPr>
        </p:nvSpPr>
        <p:spPr>
          <a:xfrm>
            <a:off x="704850" y="4470400"/>
            <a:ext cx="7429500" cy="520700"/>
          </a:xfrm>
        </p:spPr>
        <p:txBody>
          <a:bodyPr>
            <a:normAutofit/>
          </a:bodyPr>
          <a:lstStyle>
            <a:lvl1pPr marL="0" indent="0" algn="l">
              <a:buNone/>
              <a:defRPr sz="2000" b="1">
                <a:solidFill>
                  <a:schemeClr val="accent2">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09228627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1473" y="136236"/>
            <a:ext cx="9203055" cy="660399"/>
          </a:xfrm>
        </p:spPr>
        <p:txBody>
          <a:bodyPr>
            <a:normAutofit/>
          </a:bodyPr>
          <a:lstStyle>
            <a:lvl1pPr>
              <a:defRPr sz="2000"/>
            </a:lvl1pPr>
          </a:lstStyle>
          <a:p>
            <a:r>
              <a:rPr lang="en-US"/>
              <a:t>Click to edit Master title style</a:t>
            </a:r>
            <a:endParaRPr lang="en-US" dirty="0"/>
          </a:p>
        </p:txBody>
      </p:sp>
      <p:sp>
        <p:nvSpPr>
          <p:cNvPr id="5" name="Footer Placeholder 4"/>
          <p:cNvSpPr>
            <a:spLocks noGrp="1"/>
          </p:cNvSpPr>
          <p:nvPr>
            <p:ph type="ftr" sz="quarter" idx="11"/>
          </p:nvPr>
        </p:nvSpPr>
        <p:spPr/>
        <p:txBody>
          <a:bodyPr/>
          <a:lstStyle/>
          <a:p>
            <a:r>
              <a:rPr lang="en-US" dirty="0"/>
              <a:t>Sources</a:t>
            </a:r>
          </a:p>
        </p:txBody>
      </p:sp>
      <p:sp>
        <p:nvSpPr>
          <p:cNvPr id="15" name="Text Placeholder 14"/>
          <p:cNvSpPr>
            <a:spLocks noGrp="1"/>
          </p:cNvSpPr>
          <p:nvPr>
            <p:ph type="body" sz="quarter" idx="12"/>
          </p:nvPr>
        </p:nvSpPr>
        <p:spPr>
          <a:xfrm>
            <a:off x="351473" y="1069848"/>
            <a:ext cx="9208008" cy="5111496"/>
          </a:xfrm>
        </p:spPr>
        <p:txBody>
          <a:bodyPr/>
          <a:lstStyle/>
          <a:p>
            <a:pPr lvl="0"/>
            <a:r>
              <a:rPr lang="en-US"/>
              <a:t>Edit Master text styles</a:t>
            </a:r>
          </a:p>
          <a:p>
            <a:pPr lvl="1"/>
            <a:r>
              <a:rPr lang="en-US"/>
              <a:t>Second level</a:t>
            </a:r>
          </a:p>
          <a:p>
            <a:pPr lvl="2"/>
            <a:r>
              <a:rPr lang="en-US"/>
              <a:t>Third level</a:t>
            </a:r>
          </a:p>
        </p:txBody>
      </p:sp>
      <p:grpSp>
        <p:nvGrpSpPr>
          <p:cNvPr id="21" name="Group 20"/>
          <p:cNvGrpSpPr/>
          <p:nvPr userDrawn="1"/>
        </p:nvGrpSpPr>
        <p:grpSpPr>
          <a:xfrm>
            <a:off x="-2064388" y="930698"/>
            <a:ext cx="1760688" cy="4686963"/>
            <a:chOff x="-2505454" y="930698"/>
            <a:chExt cx="1760688" cy="4686963"/>
          </a:xfrm>
        </p:grpSpPr>
        <p:sp>
          <p:nvSpPr>
            <p:cNvPr id="3" name="Rectangle 2"/>
            <p:cNvSpPr/>
            <p:nvPr userDrawn="1"/>
          </p:nvSpPr>
          <p:spPr>
            <a:xfrm>
              <a:off x="-2365829" y="1190171"/>
              <a:ext cx="667658" cy="566058"/>
            </a:xfrm>
            <a:prstGeom prst="rect">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dirty="0"/>
                <a:t>R  0</a:t>
              </a:r>
            </a:p>
            <a:p>
              <a:pPr algn="ctr"/>
              <a:r>
                <a:rPr lang="en-ZA" sz="900" dirty="0"/>
                <a:t>G 45</a:t>
              </a:r>
            </a:p>
            <a:p>
              <a:pPr algn="ctr"/>
              <a:r>
                <a:rPr lang="en-ZA" sz="900" dirty="0"/>
                <a:t>B 91</a:t>
              </a:r>
            </a:p>
          </p:txBody>
        </p:sp>
        <p:sp>
          <p:nvSpPr>
            <p:cNvPr id="6" name="Rectangle 5"/>
            <p:cNvSpPr/>
            <p:nvPr userDrawn="1"/>
          </p:nvSpPr>
          <p:spPr>
            <a:xfrm>
              <a:off x="-1507673" y="1190171"/>
              <a:ext cx="667658" cy="566058"/>
            </a:xfrm>
            <a:prstGeom prst="rect">
              <a:avLst/>
            </a:prstGeom>
            <a:solidFill>
              <a:srgbClr val="4D6C8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ZA" sz="900" dirty="0"/>
                <a:t>R  77</a:t>
              </a:r>
            </a:p>
            <a:p>
              <a:pPr lvl="0" algn="ctr"/>
              <a:r>
                <a:rPr lang="en-ZA" sz="900" dirty="0"/>
                <a:t>G 108</a:t>
              </a:r>
            </a:p>
            <a:p>
              <a:pPr lvl="0" algn="ctr"/>
              <a:r>
                <a:rPr lang="en-ZA" sz="900" dirty="0"/>
                <a:t>B 141</a:t>
              </a:r>
            </a:p>
          </p:txBody>
        </p:sp>
        <p:sp>
          <p:nvSpPr>
            <p:cNvPr id="7" name="Rectangle 6"/>
            <p:cNvSpPr/>
            <p:nvPr userDrawn="1"/>
          </p:nvSpPr>
          <p:spPr>
            <a:xfrm>
              <a:off x="-2365829" y="1886856"/>
              <a:ext cx="667658" cy="566058"/>
            </a:xfrm>
            <a:prstGeom prst="rect">
              <a:avLst/>
            </a:prstGeom>
            <a:solidFill>
              <a:schemeClr val="accent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ZA" sz="900" dirty="0"/>
                <a:t>R  83</a:t>
              </a:r>
            </a:p>
            <a:p>
              <a:pPr lvl="0" algn="ctr"/>
              <a:r>
                <a:rPr lang="en-ZA" sz="900" dirty="0"/>
                <a:t>G 141</a:t>
              </a:r>
            </a:p>
            <a:p>
              <a:pPr lvl="0" algn="ctr"/>
              <a:r>
                <a:rPr lang="en-ZA" sz="900" dirty="0"/>
                <a:t>B 156</a:t>
              </a:r>
            </a:p>
          </p:txBody>
        </p:sp>
        <p:sp>
          <p:nvSpPr>
            <p:cNvPr id="8" name="Rectangle 7"/>
            <p:cNvSpPr/>
            <p:nvPr userDrawn="1"/>
          </p:nvSpPr>
          <p:spPr>
            <a:xfrm>
              <a:off x="-1507673" y="1886856"/>
              <a:ext cx="667658" cy="566058"/>
            </a:xfrm>
            <a:prstGeom prst="rect">
              <a:avLst/>
            </a:prstGeom>
            <a:solidFill>
              <a:srgbClr val="83A7B3"/>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ZA" sz="900" dirty="0"/>
                <a:t>R 131</a:t>
              </a:r>
            </a:p>
            <a:p>
              <a:pPr lvl="0" algn="ctr"/>
              <a:r>
                <a:rPr lang="en-ZA" sz="900" dirty="0"/>
                <a:t>G 167</a:t>
              </a:r>
            </a:p>
            <a:p>
              <a:pPr lvl="0" algn="ctr"/>
              <a:r>
                <a:rPr lang="en-ZA" sz="900" dirty="0"/>
                <a:t>B 179</a:t>
              </a:r>
            </a:p>
          </p:txBody>
        </p:sp>
        <p:sp>
          <p:nvSpPr>
            <p:cNvPr id="9" name="Rectangle 8"/>
            <p:cNvSpPr/>
            <p:nvPr userDrawn="1"/>
          </p:nvSpPr>
          <p:spPr>
            <a:xfrm>
              <a:off x="-2365829" y="2583541"/>
              <a:ext cx="667658" cy="566058"/>
            </a:xfrm>
            <a:prstGeom prst="rect">
              <a:avLst/>
            </a:prstGeom>
            <a:solidFill>
              <a:schemeClr val="accent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ZA" sz="900" dirty="0">
                  <a:solidFill>
                    <a:schemeClr val="tx1"/>
                  </a:solidFill>
                </a:rPr>
                <a:t>R 171</a:t>
              </a:r>
            </a:p>
            <a:p>
              <a:pPr lvl="0" algn="ctr"/>
              <a:r>
                <a:rPr lang="en-ZA" sz="900" dirty="0">
                  <a:solidFill>
                    <a:schemeClr val="tx1"/>
                  </a:solidFill>
                </a:rPr>
                <a:t>G 174</a:t>
              </a:r>
            </a:p>
            <a:p>
              <a:pPr lvl="0" algn="ctr"/>
              <a:r>
                <a:rPr lang="en-ZA" sz="900" dirty="0">
                  <a:solidFill>
                    <a:schemeClr val="tx1"/>
                  </a:solidFill>
                </a:rPr>
                <a:t>B 173</a:t>
              </a:r>
            </a:p>
          </p:txBody>
        </p:sp>
        <p:sp>
          <p:nvSpPr>
            <p:cNvPr id="10" name="Rectangle 9"/>
            <p:cNvSpPr/>
            <p:nvPr userDrawn="1"/>
          </p:nvSpPr>
          <p:spPr>
            <a:xfrm>
              <a:off x="-1507673" y="2583541"/>
              <a:ext cx="667658" cy="566058"/>
            </a:xfrm>
            <a:prstGeom prst="rect">
              <a:avLst/>
            </a:prstGeom>
            <a:solidFill>
              <a:srgbClr val="C1C3C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ZA" sz="900" dirty="0">
                  <a:solidFill>
                    <a:schemeClr val="tx1"/>
                  </a:solidFill>
                </a:rPr>
                <a:t>R 193</a:t>
              </a:r>
            </a:p>
            <a:p>
              <a:pPr lvl="0" algn="ctr"/>
              <a:r>
                <a:rPr lang="en-ZA" sz="900" dirty="0">
                  <a:solidFill>
                    <a:schemeClr val="tx1"/>
                  </a:solidFill>
                </a:rPr>
                <a:t>G 195</a:t>
              </a:r>
            </a:p>
            <a:p>
              <a:pPr lvl="0" algn="ctr"/>
              <a:r>
                <a:rPr lang="en-ZA" sz="900" dirty="0">
                  <a:solidFill>
                    <a:schemeClr val="tx1"/>
                  </a:solidFill>
                </a:rPr>
                <a:t>B 194</a:t>
              </a:r>
            </a:p>
          </p:txBody>
        </p:sp>
        <p:sp>
          <p:nvSpPr>
            <p:cNvPr id="11" name="Rectangle 10"/>
            <p:cNvSpPr/>
            <p:nvPr userDrawn="1"/>
          </p:nvSpPr>
          <p:spPr>
            <a:xfrm>
              <a:off x="-2365829" y="3280226"/>
              <a:ext cx="667658" cy="566058"/>
            </a:xfrm>
            <a:prstGeom prst="rect">
              <a:avLst/>
            </a:prstGeom>
            <a:solidFill>
              <a:schemeClr val="accent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ZA" sz="900" dirty="0">
                  <a:solidFill>
                    <a:schemeClr val="tx1"/>
                  </a:solidFill>
                </a:rPr>
                <a:t>R 168</a:t>
              </a:r>
            </a:p>
            <a:p>
              <a:pPr lvl="0" algn="ctr"/>
              <a:r>
                <a:rPr lang="en-ZA" sz="900" dirty="0">
                  <a:solidFill>
                    <a:schemeClr val="tx1"/>
                  </a:solidFill>
                </a:rPr>
                <a:t>G 159</a:t>
              </a:r>
            </a:p>
            <a:p>
              <a:pPr lvl="0" algn="ctr"/>
              <a:r>
                <a:rPr lang="en-ZA" sz="900" dirty="0">
                  <a:solidFill>
                    <a:schemeClr val="tx1"/>
                  </a:solidFill>
                </a:rPr>
                <a:t>B 136</a:t>
              </a:r>
            </a:p>
          </p:txBody>
        </p:sp>
        <p:sp>
          <p:nvSpPr>
            <p:cNvPr id="12" name="Rectangle 11"/>
            <p:cNvSpPr/>
            <p:nvPr userDrawn="1"/>
          </p:nvSpPr>
          <p:spPr>
            <a:xfrm>
              <a:off x="-1507673" y="3280226"/>
              <a:ext cx="667658" cy="566058"/>
            </a:xfrm>
            <a:prstGeom prst="rect">
              <a:avLst/>
            </a:prstGeom>
            <a:solidFill>
              <a:srgbClr val="B6AF9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ZA" sz="900" dirty="0">
                  <a:solidFill>
                    <a:schemeClr val="tx1"/>
                  </a:solidFill>
                </a:rPr>
                <a:t>R 182</a:t>
              </a:r>
            </a:p>
            <a:p>
              <a:pPr lvl="0" algn="ctr"/>
              <a:r>
                <a:rPr lang="en-ZA" sz="900" dirty="0">
                  <a:solidFill>
                    <a:schemeClr val="tx1"/>
                  </a:solidFill>
                </a:rPr>
                <a:t>G 175</a:t>
              </a:r>
            </a:p>
            <a:p>
              <a:pPr lvl="0" algn="ctr"/>
              <a:r>
                <a:rPr lang="en-ZA" sz="900" dirty="0">
                  <a:solidFill>
                    <a:schemeClr val="tx1"/>
                  </a:solidFill>
                </a:rPr>
                <a:t>B 157</a:t>
              </a:r>
            </a:p>
          </p:txBody>
        </p:sp>
        <p:sp>
          <p:nvSpPr>
            <p:cNvPr id="13" name="Rectangle 12"/>
            <p:cNvSpPr/>
            <p:nvPr userDrawn="1"/>
          </p:nvSpPr>
          <p:spPr>
            <a:xfrm>
              <a:off x="-2365829" y="4175697"/>
              <a:ext cx="667658" cy="566058"/>
            </a:xfrm>
            <a:prstGeom prst="rect">
              <a:avLst/>
            </a:prstGeom>
            <a:solidFill>
              <a:schemeClr val="accent4"/>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ZA" sz="900" dirty="0">
                  <a:solidFill>
                    <a:schemeClr val="bg1"/>
                  </a:solidFill>
                </a:rPr>
                <a:t>R 177</a:t>
              </a:r>
            </a:p>
            <a:p>
              <a:pPr lvl="0" algn="ctr"/>
              <a:r>
                <a:rPr lang="en-ZA" sz="900" dirty="0">
                  <a:solidFill>
                    <a:schemeClr val="bg1"/>
                  </a:solidFill>
                </a:rPr>
                <a:t>G </a:t>
              </a:r>
              <a:r>
                <a:rPr lang="en-ZA" sz="900" baseline="0" dirty="0">
                  <a:solidFill>
                    <a:schemeClr val="bg1"/>
                  </a:solidFill>
                </a:rPr>
                <a:t>  24</a:t>
              </a:r>
              <a:endParaRPr lang="en-ZA" sz="900" dirty="0">
                <a:solidFill>
                  <a:schemeClr val="bg1"/>
                </a:solidFill>
              </a:endParaRPr>
            </a:p>
            <a:p>
              <a:pPr lvl="0" algn="ctr"/>
              <a:r>
                <a:rPr lang="en-ZA" sz="900" dirty="0">
                  <a:solidFill>
                    <a:schemeClr val="bg1"/>
                  </a:solidFill>
                </a:rPr>
                <a:t>B </a:t>
              </a:r>
              <a:r>
                <a:rPr lang="en-ZA" sz="900" baseline="0" dirty="0">
                  <a:solidFill>
                    <a:schemeClr val="bg1"/>
                  </a:solidFill>
                </a:rPr>
                <a:t>  30</a:t>
              </a:r>
              <a:endParaRPr lang="en-ZA" sz="900" dirty="0">
                <a:solidFill>
                  <a:schemeClr val="bg1"/>
                </a:solidFill>
              </a:endParaRPr>
            </a:p>
          </p:txBody>
        </p:sp>
        <p:sp>
          <p:nvSpPr>
            <p:cNvPr id="14" name="Rectangle 13"/>
            <p:cNvSpPr/>
            <p:nvPr userDrawn="1"/>
          </p:nvSpPr>
          <p:spPr>
            <a:xfrm>
              <a:off x="-1507673" y="4175697"/>
              <a:ext cx="667658" cy="566058"/>
            </a:xfrm>
            <a:prstGeom prst="rect">
              <a:avLst/>
            </a:prstGeom>
            <a:solidFill>
              <a:schemeClr val="accent2">
                <a:lumMod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ZA" sz="900" dirty="0">
                  <a:solidFill>
                    <a:schemeClr val="bg1"/>
                  </a:solidFill>
                </a:rPr>
                <a:t>R 85</a:t>
              </a:r>
            </a:p>
            <a:p>
              <a:pPr lvl="0" algn="ctr"/>
              <a:r>
                <a:rPr lang="en-ZA" sz="900" dirty="0">
                  <a:solidFill>
                    <a:schemeClr val="bg1"/>
                  </a:solidFill>
                </a:rPr>
                <a:t>G 88</a:t>
              </a:r>
            </a:p>
            <a:p>
              <a:pPr lvl="0" algn="ctr"/>
              <a:r>
                <a:rPr lang="en-ZA" sz="900" dirty="0">
                  <a:solidFill>
                    <a:schemeClr val="bg1"/>
                  </a:solidFill>
                </a:rPr>
                <a:t>B 87</a:t>
              </a:r>
            </a:p>
          </p:txBody>
        </p:sp>
        <p:sp>
          <p:nvSpPr>
            <p:cNvPr id="4" name="TextBox 3"/>
            <p:cNvSpPr txBox="1"/>
            <p:nvPr userDrawn="1"/>
          </p:nvSpPr>
          <p:spPr>
            <a:xfrm>
              <a:off x="-2365829" y="3929476"/>
              <a:ext cx="667657" cy="246221"/>
            </a:xfrm>
            <a:prstGeom prst="rect">
              <a:avLst/>
            </a:prstGeom>
            <a:noFill/>
          </p:spPr>
          <p:txBody>
            <a:bodyPr wrap="square" rtlCol="0">
              <a:spAutoFit/>
            </a:bodyPr>
            <a:lstStyle/>
            <a:p>
              <a:r>
                <a:rPr lang="en-ZA" sz="1000" dirty="0"/>
                <a:t>Arrows</a:t>
              </a:r>
            </a:p>
          </p:txBody>
        </p:sp>
        <p:sp>
          <p:nvSpPr>
            <p:cNvPr id="16" name="TextBox 15"/>
            <p:cNvSpPr txBox="1"/>
            <p:nvPr userDrawn="1"/>
          </p:nvSpPr>
          <p:spPr>
            <a:xfrm>
              <a:off x="-1602923" y="3929476"/>
              <a:ext cx="858157" cy="246221"/>
            </a:xfrm>
            <a:prstGeom prst="rect">
              <a:avLst/>
            </a:prstGeom>
            <a:noFill/>
          </p:spPr>
          <p:txBody>
            <a:bodyPr wrap="square" rtlCol="0">
              <a:spAutoFit/>
            </a:bodyPr>
            <a:lstStyle/>
            <a:p>
              <a:r>
                <a:rPr lang="en-ZA" sz="1000" dirty="0"/>
                <a:t>Connectors</a:t>
              </a:r>
            </a:p>
          </p:txBody>
        </p:sp>
        <p:sp>
          <p:nvSpPr>
            <p:cNvPr id="17" name="TextBox 16"/>
            <p:cNvSpPr txBox="1"/>
            <p:nvPr userDrawn="1"/>
          </p:nvSpPr>
          <p:spPr>
            <a:xfrm>
              <a:off x="-2505454" y="930698"/>
              <a:ext cx="1040612" cy="246221"/>
            </a:xfrm>
            <a:prstGeom prst="rect">
              <a:avLst/>
            </a:prstGeom>
            <a:noFill/>
          </p:spPr>
          <p:txBody>
            <a:bodyPr wrap="square" rtlCol="0">
              <a:spAutoFit/>
            </a:bodyPr>
            <a:lstStyle/>
            <a:p>
              <a:r>
                <a:rPr lang="en-ZA" sz="1000" dirty="0"/>
                <a:t>Primary</a:t>
              </a:r>
              <a:r>
                <a:rPr lang="en-ZA" sz="1000" baseline="0" dirty="0"/>
                <a:t> blue</a:t>
              </a:r>
              <a:endParaRPr lang="en-ZA" sz="1000" dirty="0"/>
            </a:p>
          </p:txBody>
        </p:sp>
        <p:sp>
          <p:nvSpPr>
            <p:cNvPr id="18" name="TextBox 17"/>
            <p:cNvSpPr txBox="1"/>
            <p:nvPr userDrawn="1"/>
          </p:nvSpPr>
          <p:spPr>
            <a:xfrm>
              <a:off x="-1464842" y="930698"/>
              <a:ext cx="624827" cy="246221"/>
            </a:xfrm>
            <a:prstGeom prst="rect">
              <a:avLst/>
            </a:prstGeom>
            <a:noFill/>
          </p:spPr>
          <p:txBody>
            <a:bodyPr wrap="square" rtlCol="0">
              <a:spAutoFit/>
            </a:bodyPr>
            <a:lstStyle/>
            <a:p>
              <a:pPr algn="ctr"/>
              <a:r>
                <a:rPr lang="en-ZA" sz="1000" dirty="0"/>
                <a:t>70%</a:t>
              </a:r>
            </a:p>
          </p:txBody>
        </p:sp>
        <p:sp>
          <p:nvSpPr>
            <p:cNvPr id="19" name="Rectangle 18"/>
            <p:cNvSpPr/>
            <p:nvPr userDrawn="1"/>
          </p:nvSpPr>
          <p:spPr>
            <a:xfrm>
              <a:off x="-1936752" y="5051603"/>
              <a:ext cx="667658" cy="566058"/>
            </a:xfrm>
            <a:prstGeom prst="rect">
              <a:avLst/>
            </a:prstGeom>
            <a:solidFill>
              <a:schemeClr val="accent5">
                <a:lumMod val="5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ZA" sz="900" dirty="0">
                  <a:solidFill>
                    <a:schemeClr val="bg1"/>
                  </a:solidFill>
                </a:rPr>
                <a:t>R 41</a:t>
              </a:r>
            </a:p>
            <a:p>
              <a:pPr lvl="0" algn="ctr"/>
              <a:r>
                <a:rPr lang="en-ZA" sz="900" dirty="0">
                  <a:solidFill>
                    <a:schemeClr val="bg1"/>
                  </a:solidFill>
                </a:rPr>
                <a:t>G </a:t>
              </a:r>
              <a:r>
                <a:rPr lang="en-ZA" sz="900" baseline="0" dirty="0">
                  <a:solidFill>
                    <a:schemeClr val="bg1"/>
                  </a:solidFill>
                </a:rPr>
                <a:t> 71</a:t>
              </a:r>
              <a:endParaRPr lang="en-ZA" sz="900" dirty="0">
                <a:solidFill>
                  <a:schemeClr val="bg1"/>
                </a:solidFill>
              </a:endParaRPr>
            </a:p>
            <a:p>
              <a:pPr lvl="0" algn="ctr"/>
              <a:r>
                <a:rPr lang="en-ZA" sz="900" dirty="0">
                  <a:solidFill>
                    <a:schemeClr val="bg1"/>
                  </a:solidFill>
                </a:rPr>
                <a:t>B </a:t>
              </a:r>
              <a:r>
                <a:rPr lang="en-ZA" sz="900" baseline="0" dirty="0">
                  <a:solidFill>
                    <a:schemeClr val="bg1"/>
                  </a:solidFill>
                </a:rPr>
                <a:t> 78</a:t>
              </a:r>
              <a:endParaRPr lang="en-ZA" sz="900" dirty="0">
                <a:solidFill>
                  <a:schemeClr val="bg1"/>
                </a:solidFill>
              </a:endParaRPr>
            </a:p>
          </p:txBody>
        </p:sp>
        <p:sp>
          <p:nvSpPr>
            <p:cNvPr id="20" name="TextBox 19"/>
            <p:cNvSpPr txBox="1"/>
            <p:nvPr userDrawn="1"/>
          </p:nvSpPr>
          <p:spPr>
            <a:xfrm>
              <a:off x="-1985148" y="4805382"/>
              <a:ext cx="858157" cy="246221"/>
            </a:xfrm>
            <a:prstGeom prst="rect">
              <a:avLst/>
            </a:prstGeom>
            <a:noFill/>
          </p:spPr>
          <p:txBody>
            <a:bodyPr wrap="square" rtlCol="0">
              <a:spAutoFit/>
            </a:bodyPr>
            <a:lstStyle/>
            <a:p>
              <a:r>
                <a:rPr lang="en-ZA" sz="1000" dirty="0"/>
                <a:t>So what!</a:t>
              </a:r>
            </a:p>
          </p:txBody>
        </p:sp>
      </p:grpSp>
    </p:spTree>
    <p:extLst>
      <p:ext uri="{BB962C8B-B14F-4D97-AF65-F5344CB8AC3E}">
        <p14:creationId xmlns:p14="http://schemas.microsoft.com/office/powerpoint/2010/main" val="100968952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age break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9" name="Group 8"/>
          <p:cNvGrpSpPr/>
          <p:nvPr userDrawn="1"/>
        </p:nvGrpSpPr>
        <p:grpSpPr>
          <a:xfrm>
            <a:off x="-13854" y="2841625"/>
            <a:ext cx="9927112" cy="1174750"/>
            <a:chOff x="-1" y="0"/>
            <a:chExt cx="11247598" cy="1006577"/>
          </a:xfrm>
        </p:grpSpPr>
        <p:sp>
          <p:nvSpPr>
            <p:cNvPr id="10" name="Rectangle 9"/>
            <p:cNvSpPr/>
            <p:nvPr userDrawn="1"/>
          </p:nvSpPr>
          <p:spPr>
            <a:xfrm>
              <a:off x="-1" y="0"/>
              <a:ext cx="8533370" cy="1005954"/>
            </a:xfrm>
            <a:prstGeom prst="rect">
              <a:avLst/>
            </a:prstGeom>
            <a:solidFill>
              <a:schemeClr val="bg1"/>
            </a:solidFill>
            <a:ln w="25400" cap="flat" cmpd="sng" algn="ctr">
              <a:noFill/>
              <a:prstDash val="solid"/>
            </a:ln>
            <a:effectLst/>
          </p:spPr>
          <p:txBody>
            <a:bodyPr tIns="108000" bIns="108000" rtlCol="0" anchor="ctr"/>
            <a:lstStyle/>
            <a:p>
              <a:pPr marL="0" marR="0">
                <a:spcBef>
                  <a:spcPts val="0"/>
                </a:spcBef>
                <a:spcAft>
                  <a:spcPts val="0"/>
                </a:spcAft>
              </a:pPr>
              <a:endParaRPr lang="en-US" sz="1200" dirty="0">
                <a:effectLst/>
                <a:latin typeface="Times New Roman" panose="02020603050405020304" pitchFamily="18" charset="0"/>
                <a:ea typeface="Times New Roman" panose="02020603050405020304" pitchFamily="18" charset="0"/>
              </a:endParaRPr>
            </a:p>
          </p:txBody>
        </p:sp>
        <p:sp>
          <p:nvSpPr>
            <p:cNvPr id="11" name="Rectangle 10"/>
            <p:cNvSpPr/>
            <p:nvPr userDrawn="1"/>
          </p:nvSpPr>
          <p:spPr>
            <a:xfrm flipV="1">
              <a:off x="8534058" y="470446"/>
              <a:ext cx="2713539" cy="94019"/>
            </a:xfrm>
            <a:prstGeom prst="rect">
              <a:avLst/>
            </a:prstGeom>
            <a:solidFill>
              <a:srgbClr val="808080">
                <a:lumMod val="20000"/>
                <a:lumOff val="80000"/>
              </a:srgbClr>
            </a:solidFill>
            <a:ln w="25400" cap="flat" cmpd="sng" algn="ctr">
              <a:noFill/>
              <a:prstDash val="solid"/>
            </a:ln>
            <a:effectLst/>
          </p:spPr>
          <p:txBody>
            <a:bodyPr rtlCol="0" anchor="ctr"/>
            <a:lstStyle/>
            <a:p>
              <a:endParaRPr lang="en-US" dirty="0"/>
            </a:p>
          </p:txBody>
        </p:sp>
        <p:sp>
          <p:nvSpPr>
            <p:cNvPr id="12" name="Rectangle 11"/>
            <p:cNvSpPr/>
            <p:nvPr userDrawn="1"/>
          </p:nvSpPr>
          <p:spPr>
            <a:xfrm>
              <a:off x="457156" y="0"/>
              <a:ext cx="7619463" cy="91440"/>
            </a:xfrm>
            <a:prstGeom prst="rect">
              <a:avLst/>
            </a:prstGeom>
            <a:solidFill>
              <a:schemeClr val="tx2">
                <a:lumMod val="90000"/>
                <a:lumOff val="10000"/>
              </a:schemeClr>
            </a:solidFill>
            <a:ln w="25400" cap="flat" cmpd="sng" algn="ctr">
              <a:noFill/>
              <a:prstDash val="solid"/>
            </a:ln>
            <a:effectLst/>
          </p:spPr>
          <p:txBody>
            <a:bodyPr rtlCol="0" anchor="ctr"/>
            <a:lstStyle/>
            <a:p>
              <a:endParaRPr lang="en-US" dirty="0"/>
            </a:p>
          </p:txBody>
        </p:sp>
        <p:sp>
          <p:nvSpPr>
            <p:cNvPr id="13" name="Rectangle 12"/>
            <p:cNvSpPr/>
            <p:nvPr userDrawn="1"/>
          </p:nvSpPr>
          <p:spPr>
            <a:xfrm>
              <a:off x="457157" y="915137"/>
              <a:ext cx="7619463" cy="91440"/>
            </a:xfrm>
            <a:prstGeom prst="rect">
              <a:avLst/>
            </a:prstGeom>
            <a:solidFill>
              <a:srgbClr val="C0C0C0"/>
            </a:solidFill>
            <a:ln w="25400" cap="flat" cmpd="sng" algn="ctr">
              <a:noFill/>
              <a:prstDash val="solid"/>
            </a:ln>
            <a:effectLst/>
          </p:spPr>
          <p:txBody>
            <a:bodyPr rtlCol="0" anchor="ctr"/>
            <a:lstStyle/>
            <a:p>
              <a:endParaRPr lang="en-US" dirty="0"/>
            </a:p>
          </p:txBody>
        </p:sp>
      </p:grpSp>
      <p:sp>
        <p:nvSpPr>
          <p:cNvPr id="14" name="Content Placeholder 3"/>
          <p:cNvSpPr>
            <a:spLocks noGrp="1"/>
          </p:cNvSpPr>
          <p:nvPr>
            <p:ph sz="quarter" idx="12" hasCustomPrompt="1"/>
          </p:nvPr>
        </p:nvSpPr>
        <p:spPr>
          <a:xfrm>
            <a:off x="389631" y="3041151"/>
            <a:ext cx="7273911" cy="744831"/>
          </a:xfrm>
        </p:spPr>
        <p:txBody>
          <a:bodyPr anchor="ctr" anchorCtr="0">
            <a:normAutofit/>
          </a:bodyPr>
          <a:lstStyle>
            <a:lvl1pPr marL="0" indent="0">
              <a:buNone/>
              <a:defRPr sz="2400" b="0" baseline="0">
                <a:solidFill>
                  <a:srgbClr val="012E58"/>
                </a:solidFill>
              </a:defRPr>
            </a:lvl1pPr>
          </a:lstStyle>
          <a:p>
            <a:pPr lvl="0"/>
            <a:r>
              <a:rPr lang="en-ZA" dirty="0"/>
              <a:t>Click to add text</a:t>
            </a:r>
            <a:endParaRPr lang="en-US" dirty="0"/>
          </a:p>
        </p:txBody>
      </p:sp>
      <p:pic>
        <p:nvPicPr>
          <p:cNvPr id="3" name="Picture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89631" y="6195702"/>
            <a:ext cx="1676402" cy="385056"/>
          </a:xfrm>
          <a:prstGeom prst="rect">
            <a:avLst/>
          </a:prstGeom>
        </p:spPr>
      </p:pic>
    </p:spTree>
    <p:extLst>
      <p:ext uri="{BB962C8B-B14F-4D97-AF65-F5344CB8AC3E}">
        <p14:creationId xmlns:p14="http://schemas.microsoft.com/office/powerpoint/2010/main" val="3473382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 Column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273051" y="1268414"/>
            <a:ext cx="4608512" cy="974626"/>
          </a:xfrm>
        </p:spPr>
        <p:txBody>
          <a:bodyPr/>
          <a:lstStyle>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Text Placeholder 5"/>
          <p:cNvSpPr>
            <a:spLocks noGrp="1"/>
          </p:cNvSpPr>
          <p:nvPr>
            <p:ph type="body" sz="quarter" idx="11"/>
          </p:nvPr>
        </p:nvSpPr>
        <p:spPr>
          <a:xfrm>
            <a:off x="5024438" y="1268414"/>
            <a:ext cx="4608512" cy="974626"/>
          </a:xfrm>
        </p:spPr>
        <p:txBody>
          <a:bodyPr/>
          <a:lstStyle>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523544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vmlDrawing" Target="../drawings/vmlDrawing1.vml"/><Relationship Id="rId5" Type="http://schemas.openxmlformats.org/officeDocument/2006/relationships/theme" Target="../theme/theme1.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userDrawn="1">
            <p:custDataLst>
              <p:tags r:id="rId7"/>
            </p:custDataLst>
            <p:extLst>
              <p:ext uri="{D42A27DB-BD31-4B8C-83A1-F6EECF244321}">
                <p14:modId xmlns:p14="http://schemas.microsoft.com/office/powerpoint/2010/main" val="21690330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8900" name="think-cell Slide" r:id="rId8" imgW="378" imgH="379" progId="TCLayout.ActiveDocument.1">
                  <p:embed/>
                </p:oleObj>
              </mc:Choice>
              <mc:Fallback>
                <p:oleObj name="think-cell Slide" r:id="rId8" imgW="378" imgH="379" progId="TCLayout.ActiveDocument.1">
                  <p:embed/>
                  <p:pic>
                    <p:nvPicPr>
                      <p:cNvPr id="0" name=""/>
                      <p:cNvPicPr/>
                      <p:nvPr/>
                    </p:nvPicPr>
                    <p:blipFill>
                      <a:blip r:embed="rId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351473" y="136236"/>
            <a:ext cx="9203055" cy="660399"/>
          </a:xfrm>
          <a:prstGeom prst="rect">
            <a:avLst/>
          </a:prstGeom>
        </p:spPr>
        <p:txBody>
          <a:bodyPr vert="horz" lIns="91440" tIns="45720" rIns="91440" bIns="45720" rtlCol="0" anchor="ctr">
            <a:normAutofit/>
          </a:bodyPr>
          <a:lstStyle/>
          <a:p>
            <a:r>
              <a:rPr lang="en-US" dirty="0"/>
              <a:t>Click to edit Master title</a:t>
            </a:r>
          </a:p>
        </p:txBody>
      </p:sp>
      <p:sp>
        <p:nvSpPr>
          <p:cNvPr id="3" name="Text Placeholder 2"/>
          <p:cNvSpPr>
            <a:spLocks noGrp="1"/>
          </p:cNvSpPr>
          <p:nvPr>
            <p:ph type="body" idx="1"/>
          </p:nvPr>
        </p:nvSpPr>
        <p:spPr>
          <a:xfrm>
            <a:off x="351473" y="1066800"/>
            <a:ext cx="9208008" cy="51101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p:cNvSpPr>
            <a:spLocks noGrp="1"/>
          </p:cNvSpPr>
          <p:nvPr>
            <p:ph type="ftr" sz="quarter" idx="3"/>
          </p:nvPr>
        </p:nvSpPr>
        <p:spPr>
          <a:xfrm>
            <a:off x="942688" y="6389070"/>
            <a:ext cx="8020625" cy="365125"/>
          </a:xfrm>
          <a:prstGeom prst="rect">
            <a:avLst/>
          </a:prstGeom>
        </p:spPr>
        <p:txBody>
          <a:bodyPr vert="horz" lIns="91440" tIns="45720" rIns="91440" bIns="45720" rtlCol="0" anchor="ctr"/>
          <a:lstStyle>
            <a:lvl1pPr algn="l">
              <a:defRPr sz="1000">
                <a:solidFill>
                  <a:schemeClr val="tx1"/>
                </a:solidFill>
                <a:latin typeface="+mn-lt"/>
                <a:cs typeface="Arial" panose="020B0604020202020204" pitchFamily="34" charset="0"/>
              </a:defRPr>
            </a:lvl1pPr>
          </a:lstStyle>
          <a:p>
            <a:r>
              <a:rPr lang="en-US" dirty="0"/>
              <a:t>Sources</a:t>
            </a:r>
          </a:p>
        </p:txBody>
      </p:sp>
      <p:sp>
        <p:nvSpPr>
          <p:cNvPr id="15" name="Rectangle 14"/>
          <p:cNvSpPr>
            <a:spLocks noChangeArrowheads="1"/>
          </p:cNvSpPr>
          <p:nvPr userDrawn="1"/>
        </p:nvSpPr>
        <p:spPr bwMode="auto">
          <a:xfrm>
            <a:off x="9051403" y="6418221"/>
            <a:ext cx="508556" cy="33597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Lst>
        </p:spPr>
        <p:txBody>
          <a:bodyPr wrap="none" lIns="0" tIns="0" rIns="0" bIns="0" anchor="ctr"/>
          <a:lstStyle/>
          <a:p>
            <a:pPr marL="342900" indent="-342900" algn="ctr">
              <a:lnSpc>
                <a:spcPct val="100000"/>
              </a:lnSpc>
              <a:spcBef>
                <a:spcPct val="0"/>
              </a:spcBef>
              <a:buFontTx/>
              <a:buNone/>
              <a:tabLst>
                <a:tab pos="531813" algn="l"/>
              </a:tabLst>
            </a:pPr>
            <a:r>
              <a:rPr lang="en-GB" sz="1000" b="0" dirty="0">
                <a:solidFill>
                  <a:srgbClr val="002E5A"/>
                </a:solidFill>
                <a:effectLst/>
                <a:latin typeface="+mn-lt"/>
              </a:rPr>
              <a:t>Page </a:t>
            </a:r>
            <a:fld id="{F1791625-6CFB-4D75-87BB-DDFC2EB0724C}" type="slidenum">
              <a:rPr lang="en-GB" sz="1000" b="0" smtClean="0">
                <a:solidFill>
                  <a:srgbClr val="002E5A"/>
                </a:solidFill>
                <a:effectLst/>
                <a:latin typeface="+mn-lt"/>
              </a:rPr>
              <a:pPr marL="342900" indent="-342900" algn="ctr">
                <a:lnSpc>
                  <a:spcPct val="100000"/>
                </a:lnSpc>
                <a:spcBef>
                  <a:spcPct val="0"/>
                </a:spcBef>
                <a:buFontTx/>
                <a:buNone/>
                <a:tabLst>
                  <a:tab pos="531813" algn="l"/>
                </a:tabLst>
              </a:pPr>
              <a:t>‹#›</a:t>
            </a:fld>
            <a:endParaRPr lang="en-GB" sz="600" b="0" dirty="0">
              <a:solidFill>
                <a:srgbClr val="002E5A"/>
              </a:solidFill>
              <a:effectLst/>
              <a:latin typeface="+mn-lt"/>
            </a:endParaRPr>
          </a:p>
        </p:txBody>
      </p:sp>
      <p:cxnSp>
        <p:nvCxnSpPr>
          <p:cNvPr id="8" name="Straight Connector 7"/>
          <p:cNvCxnSpPr/>
          <p:nvPr userDrawn="1"/>
        </p:nvCxnSpPr>
        <p:spPr>
          <a:xfrm>
            <a:off x="351473" y="885535"/>
            <a:ext cx="9208008" cy="0"/>
          </a:xfrm>
          <a:prstGeom prst="line">
            <a:avLst/>
          </a:prstGeom>
          <a:ln w="38100">
            <a:solidFill>
              <a:srgbClr val="002E5A"/>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a:off x="351473" y="6300350"/>
            <a:ext cx="9208008" cy="0"/>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userDrawn="1"/>
        </p:nvPicPr>
        <p:blipFill rotWithShape="1">
          <a:blip r:embed="rId10" cstate="print">
            <a:extLst>
              <a:ext uri="{28A0092B-C50C-407E-A947-70E740481C1C}">
                <a14:useLocalDpi xmlns:a14="http://schemas.microsoft.com/office/drawing/2010/main" val="0"/>
              </a:ext>
            </a:extLst>
          </a:blip>
          <a:srcRect l="8657" t="6214" r="26209" b="7751"/>
          <a:stretch/>
        </p:blipFill>
        <p:spPr>
          <a:xfrm>
            <a:off x="342232" y="6353434"/>
            <a:ext cx="336090" cy="427750"/>
          </a:xfrm>
          <a:prstGeom prst="rect">
            <a:avLst/>
          </a:prstGeom>
        </p:spPr>
      </p:pic>
    </p:spTree>
    <p:extLst>
      <p:ext uri="{BB962C8B-B14F-4D97-AF65-F5344CB8AC3E}">
        <p14:creationId xmlns:p14="http://schemas.microsoft.com/office/powerpoint/2010/main" val="149562011"/>
      </p:ext>
    </p:extLst>
  </p:cSld>
  <p:clrMap bg1="lt1" tx1="dk1" bg2="lt2" tx2="dk2" accent1="accent1" accent2="accent2" accent3="accent3" accent4="accent4" accent5="accent5" accent6="accent6" hlink="hlink" folHlink="folHlink"/>
  <p:sldLayoutIdLst>
    <p:sldLayoutId id="2147483677" r:id="rId1"/>
    <p:sldLayoutId id="2147483662" r:id="rId2"/>
    <p:sldLayoutId id="2147483672" r:id="rId3"/>
    <p:sldLayoutId id="2147483679" r:id="rId4"/>
  </p:sldLayoutIdLst>
  <p:hf hdr="0" ftr="0" dt="0"/>
  <p:txStyles>
    <p:titleStyle>
      <a:lvl1pPr algn="l" defTabSz="914400" rtl="0" eaLnBrk="1" latinLnBrk="0" hangingPunct="1">
        <a:lnSpc>
          <a:spcPct val="90000"/>
        </a:lnSpc>
        <a:spcBef>
          <a:spcPct val="0"/>
        </a:spcBef>
        <a:buNone/>
        <a:defRPr sz="2400" b="0" kern="1200">
          <a:solidFill>
            <a:schemeClr val="bg2">
              <a:lumMod val="50000"/>
            </a:schemeClr>
          </a:solidFill>
          <a:latin typeface="Arial" panose="020B0604020202020204" pitchFamily="34" charset="0"/>
          <a:ea typeface="+mj-ea"/>
          <a:cs typeface="Arial" panose="020B0604020202020204" pitchFamily="34" charset="0"/>
        </a:defRPr>
      </a:lvl1pPr>
    </p:titleStyle>
    <p:body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6.emf"/><Relationship Id="rId5" Type="http://schemas.openxmlformats.org/officeDocument/2006/relationships/oleObject" Target="../embeddings/oleObject3.bin"/><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xml"/><Relationship Id="rId1" Type="http://schemas.openxmlformats.org/officeDocument/2006/relationships/vmlDrawing" Target="../drawings/vmlDrawing4.vml"/><Relationship Id="rId5" Type="http://schemas.openxmlformats.org/officeDocument/2006/relationships/image" Target="../media/image6.emf"/><Relationship Id="rId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6.xml"/><Relationship Id="rId1" Type="http://schemas.openxmlformats.org/officeDocument/2006/relationships/vmlDrawing" Target="../drawings/vmlDrawing5.vml"/><Relationship Id="rId5" Type="http://schemas.openxmlformats.org/officeDocument/2006/relationships/image" Target="../media/image6.emf"/><Relationship Id="rId4"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7.xml"/><Relationship Id="rId1" Type="http://schemas.openxmlformats.org/officeDocument/2006/relationships/vmlDrawing" Target="../drawings/vmlDrawing6.vml"/><Relationship Id="rId5" Type="http://schemas.openxmlformats.org/officeDocument/2006/relationships/image" Target="../media/image6.emf"/><Relationship Id="rId4"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xml"/><Relationship Id="rId1" Type="http://schemas.openxmlformats.org/officeDocument/2006/relationships/vmlDrawing" Target="../drawings/vmlDrawing7.vml"/><Relationship Id="rId5" Type="http://schemas.openxmlformats.org/officeDocument/2006/relationships/image" Target="../media/image6.emf"/><Relationship Id="rId4"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png"/><Relationship Id="rId3" Type="http://schemas.openxmlformats.org/officeDocument/2006/relationships/tags" Target="../tags/tag10.xml"/><Relationship Id="rId7" Type="http://schemas.openxmlformats.org/officeDocument/2006/relationships/image" Target="../media/image6.emf"/><Relationship Id="rId12" Type="http://schemas.openxmlformats.org/officeDocument/2006/relationships/image" Target="../media/image11.png"/><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oleObject" Target="../embeddings/oleObject8.bin"/><Relationship Id="rId11" Type="http://schemas.openxmlformats.org/officeDocument/2006/relationships/image" Target="../media/image10.png"/><Relationship Id="rId5" Type="http://schemas.openxmlformats.org/officeDocument/2006/relationships/notesSlide" Target="../notesSlides/notesSlide2.xml"/><Relationship Id="rId10" Type="http://schemas.openxmlformats.org/officeDocument/2006/relationships/image" Target="../media/image9.jpeg"/><Relationship Id="rId4" Type="http://schemas.openxmlformats.org/officeDocument/2006/relationships/slideLayout" Target="../slideLayouts/slideLayout4.xml"/><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tags" Target="../tags/tag12.xml"/><Relationship Id="rId7" Type="http://schemas.openxmlformats.org/officeDocument/2006/relationships/notesSlide" Target="../notesSlides/notesSlide3.xml"/><Relationship Id="rId12" Type="http://schemas.openxmlformats.org/officeDocument/2006/relationships/image" Target="../media/image15.png"/><Relationship Id="rId2" Type="http://schemas.openxmlformats.org/officeDocument/2006/relationships/tags" Target="../tags/tag11.xml"/><Relationship Id="rId1" Type="http://schemas.openxmlformats.org/officeDocument/2006/relationships/vmlDrawing" Target="../drawings/vmlDrawing9.vml"/><Relationship Id="rId6" Type="http://schemas.openxmlformats.org/officeDocument/2006/relationships/slideLayout" Target="../slideLayouts/slideLayout4.xml"/><Relationship Id="rId11" Type="http://schemas.openxmlformats.org/officeDocument/2006/relationships/image" Target="../media/image14.png"/><Relationship Id="rId5" Type="http://schemas.openxmlformats.org/officeDocument/2006/relationships/tags" Target="../tags/tag14.xml"/><Relationship Id="rId10" Type="http://schemas.openxmlformats.org/officeDocument/2006/relationships/image" Target="../media/image13.png"/><Relationship Id="rId4" Type="http://schemas.openxmlformats.org/officeDocument/2006/relationships/tags" Target="../tags/tag13.xml"/><Relationship Id="rId9" Type="http://schemas.openxmlformats.org/officeDocument/2006/relationships/image" Target="../media/image6.emf"/></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image" Target="../media/image20.png"/><Relationship Id="rId5" Type="http://schemas.openxmlformats.org/officeDocument/2006/relationships/image" Target="../media/image13.png"/><Relationship Id="rId4"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tags" Target="../tags/tag28.xml"/><Relationship Id="rId18" Type="http://schemas.openxmlformats.org/officeDocument/2006/relationships/tags" Target="../tags/tag33.xml"/><Relationship Id="rId26" Type="http://schemas.openxmlformats.org/officeDocument/2006/relationships/tags" Target="../tags/tag41.xml"/><Relationship Id="rId39" Type="http://schemas.openxmlformats.org/officeDocument/2006/relationships/image" Target="../media/image6.emf"/><Relationship Id="rId3" Type="http://schemas.openxmlformats.org/officeDocument/2006/relationships/tags" Target="../tags/tag18.xml"/><Relationship Id="rId21" Type="http://schemas.openxmlformats.org/officeDocument/2006/relationships/tags" Target="../tags/tag36.xml"/><Relationship Id="rId34" Type="http://schemas.openxmlformats.org/officeDocument/2006/relationships/tags" Target="../tags/tag49.xml"/><Relationship Id="rId42" Type="http://schemas.openxmlformats.org/officeDocument/2006/relationships/oleObject" Target="../embeddings/oleObject12.bin"/><Relationship Id="rId47" Type="http://schemas.openxmlformats.org/officeDocument/2006/relationships/image" Target="../media/image24.emf"/><Relationship Id="rId7" Type="http://schemas.openxmlformats.org/officeDocument/2006/relationships/tags" Target="../tags/tag22.xml"/><Relationship Id="rId12" Type="http://schemas.openxmlformats.org/officeDocument/2006/relationships/tags" Target="../tags/tag27.xml"/><Relationship Id="rId17" Type="http://schemas.openxmlformats.org/officeDocument/2006/relationships/tags" Target="../tags/tag32.xml"/><Relationship Id="rId25" Type="http://schemas.openxmlformats.org/officeDocument/2006/relationships/tags" Target="../tags/tag40.xml"/><Relationship Id="rId33" Type="http://schemas.openxmlformats.org/officeDocument/2006/relationships/tags" Target="../tags/tag48.xml"/><Relationship Id="rId38" Type="http://schemas.openxmlformats.org/officeDocument/2006/relationships/oleObject" Target="../embeddings/oleObject10.bin"/><Relationship Id="rId46" Type="http://schemas.openxmlformats.org/officeDocument/2006/relationships/oleObject" Target="../embeddings/oleObject14.bin"/><Relationship Id="rId2" Type="http://schemas.openxmlformats.org/officeDocument/2006/relationships/tags" Target="../tags/tag17.xml"/><Relationship Id="rId16" Type="http://schemas.openxmlformats.org/officeDocument/2006/relationships/tags" Target="../tags/tag31.xml"/><Relationship Id="rId20" Type="http://schemas.openxmlformats.org/officeDocument/2006/relationships/tags" Target="../tags/tag35.xml"/><Relationship Id="rId29" Type="http://schemas.openxmlformats.org/officeDocument/2006/relationships/tags" Target="../tags/tag44.xml"/><Relationship Id="rId41" Type="http://schemas.openxmlformats.org/officeDocument/2006/relationships/image" Target="../media/image21.emf"/><Relationship Id="rId1" Type="http://schemas.openxmlformats.org/officeDocument/2006/relationships/vmlDrawing" Target="../drawings/vmlDrawing10.vml"/><Relationship Id="rId6" Type="http://schemas.openxmlformats.org/officeDocument/2006/relationships/tags" Target="../tags/tag21.xml"/><Relationship Id="rId11" Type="http://schemas.openxmlformats.org/officeDocument/2006/relationships/tags" Target="../tags/tag26.xml"/><Relationship Id="rId24" Type="http://schemas.openxmlformats.org/officeDocument/2006/relationships/tags" Target="../tags/tag39.xml"/><Relationship Id="rId32" Type="http://schemas.openxmlformats.org/officeDocument/2006/relationships/tags" Target="../tags/tag47.xml"/><Relationship Id="rId37" Type="http://schemas.openxmlformats.org/officeDocument/2006/relationships/notesSlide" Target="../notesSlides/notesSlide6.xml"/><Relationship Id="rId40" Type="http://schemas.openxmlformats.org/officeDocument/2006/relationships/oleObject" Target="../embeddings/oleObject11.bin"/><Relationship Id="rId45" Type="http://schemas.openxmlformats.org/officeDocument/2006/relationships/image" Target="../media/image23.emf"/><Relationship Id="rId5" Type="http://schemas.openxmlformats.org/officeDocument/2006/relationships/tags" Target="../tags/tag20.xml"/><Relationship Id="rId15" Type="http://schemas.openxmlformats.org/officeDocument/2006/relationships/tags" Target="../tags/tag30.xml"/><Relationship Id="rId23" Type="http://schemas.openxmlformats.org/officeDocument/2006/relationships/tags" Target="../tags/tag38.xml"/><Relationship Id="rId28" Type="http://schemas.openxmlformats.org/officeDocument/2006/relationships/tags" Target="../tags/tag43.xml"/><Relationship Id="rId36" Type="http://schemas.openxmlformats.org/officeDocument/2006/relationships/slideLayout" Target="../slideLayouts/slideLayout4.xml"/><Relationship Id="rId10" Type="http://schemas.openxmlformats.org/officeDocument/2006/relationships/tags" Target="../tags/tag25.xml"/><Relationship Id="rId19" Type="http://schemas.openxmlformats.org/officeDocument/2006/relationships/tags" Target="../tags/tag34.xml"/><Relationship Id="rId31" Type="http://schemas.openxmlformats.org/officeDocument/2006/relationships/tags" Target="../tags/tag46.xml"/><Relationship Id="rId44" Type="http://schemas.openxmlformats.org/officeDocument/2006/relationships/oleObject" Target="../embeddings/oleObject13.bin"/><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tags" Target="../tags/tag29.xml"/><Relationship Id="rId22" Type="http://schemas.openxmlformats.org/officeDocument/2006/relationships/tags" Target="../tags/tag37.xml"/><Relationship Id="rId27" Type="http://schemas.openxmlformats.org/officeDocument/2006/relationships/tags" Target="../tags/tag42.xml"/><Relationship Id="rId30" Type="http://schemas.openxmlformats.org/officeDocument/2006/relationships/tags" Target="../tags/tag45.xml"/><Relationship Id="rId35" Type="http://schemas.openxmlformats.org/officeDocument/2006/relationships/tags" Target="../tags/tag50.xml"/><Relationship Id="rId43" Type="http://schemas.openxmlformats.org/officeDocument/2006/relationships/image" Target="../media/image22.emf"/></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tags" Target="../tags/tag52.xml"/><Relationship Id="rId7" Type="http://schemas.openxmlformats.org/officeDocument/2006/relationships/image" Target="../media/image6.emf"/><Relationship Id="rId2" Type="http://schemas.openxmlformats.org/officeDocument/2006/relationships/tags" Target="../tags/tag51.xml"/><Relationship Id="rId1" Type="http://schemas.openxmlformats.org/officeDocument/2006/relationships/vmlDrawing" Target="../drawings/vmlDrawing11.vml"/><Relationship Id="rId6" Type="http://schemas.openxmlformats.org/officeDocument/2006/relationships/oleObject" Target="../embeddings/oleObject15.bin"/><Relationship Id="rId5" Type="http://schemas.openxmlformats.org/officeDocument/2006/relationships/notesSlide" Target="../notesSlides/notesSlide7.xml"/><Relationship Id="rId4"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fontScale="90000"/>
          </a:bodyPr>
          <a:lstStyle/>
          <a:p>
            <a:r>
              <a:rPr lang="en-GB" dirty="0">
                <a:solidFill>
                  <a:schemeClr val="tx2">
                    <a:lumMod val="90000"/>
                    <a:lumOff val="10000"/>
                  </a:schemeClr>
                </a:solidFill>
              </a:rPr>
              <a:t>Specialised Finance strategy presentation</a:t>
            </a:r>
            <a:endParaRPr lang="en-ZA" dirty="0"/>
          </a:p>
        </p:txBody>
      </p:sp>
      <p:sp>
        <p:nvSpPr>
          <p:cNvPr id="5" name="Subtitle 4"/>
          <p:cNvSpPr>
            <a:spLocks noGrp="1"/>
          </p:cNvSpPr>
          <p:nvPr>
            <p:ph type="subTitle" idx="1"/>
          </p:nvPr>
        </p:nvSpPr>
        <p:spPr/>
        <p:txBody>
          <a:bodyPr/>
          <a:lstStyle/>
          <a:p>
            <a:r>
              <a:rPr lang="en-ZA" dirty="0"/>
              <a:t>23-25 May 2016</a:t>
            </a:r>
          </a:p>
        </p:txBody>
      </p:sp>
    </p:spTree>
    <p:extLst>
      <p:ext uri="{BB962C8B-B14F-4D97-AF65-F5344CB8AC3E}">
        <p14:creationId xmlns:p14="http://schemas.microsoft.com/office/powerpoint/2010/main" val="3881702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2"/>
            </p:custDataLst>
            <p:extLst>
              <p:ext uri="{D42A27DB-BD31-4B8C-83A1-F6EECF244321}">
                <p14:modId xmlns:p14="http://schemas.microsoft.com/office/powerpoint/2010/main" val="212758951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2989" name="think-cell Slide" r:id="rId5" imgW="216" imgH="216" progId="TCLayout.ActiveDocument.1">
                  <p:embed/>
                </p:oleObj>
              </mc:Choice>
              <mc:Fallback>
                <p:oleObj name="think-cell Slide" r:id="rId5" imgW="216" imgH="216"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121" name="TextBox 120"/>
          <p:cNvSpPr txBox="1"/>
          <p:nvPr/>
        </p:nvSpPr>
        <p:spPr>
          <a:xfrm>
            <a:off x="342200" y="1536508"/>
            <a:ext cx="9212328" cy="4707273"/>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endParaRPr lang="en-ZA" sz="800" dirty="0"/>
          </a:p>
        </p:txBody>
      </p:sp>
      <p:sp>
        <p:nvSpPr>
          <p:cNvPr id="3" name="Title 2"/>
          <p:cNvSpPr>
            <a:spLocks noGrp="1"/>
          </p:cNvSpPr>
          <p:nvPr>
            <p:ph type="title"/>
          </p:nvPr>
        </p:nvSpPr>
        <p:spPr/>
        <p:txBody>
          <a:bodyPr>
            <a:normAutofit fontScale="90000"/>
          </a:bodyPr>
          <a:lstStyle/>
          <a:p>
            <a:r>
              <a:rPr lang="en-ZA" sz="2000" dirty="0"/>
              <a:t>Introduction</a:t>
            </a:r>
            <a:br>
              <a:rPr lang="en-ZA" sz="2000" dirty="0"/>
            </a:br>
            <a:br>
              <a:rPr lang="en-ZA" sz="2000" dirty="0"/>
            </a:br>
            <a:r>
              <a:rPr lang="en-ZA" sz="1600" dirty="0"/>
              <a:t>“</a:t>
            </a:r>
            <a:r>
              <a:rPr lang="en-US" sz="1600" kern="0" dirty="0">
                <a:ea typeface="Arial Unicode MS" pitchFamily="34" charset="-128"/>
              </a:rPr>
              <a:t>W</a:t>
            </a:r>
            <a:r>
              <a:rPr lang="en-US" sz="1600" kern="0" dirty="0">
                <a:ea typeface="Arial Unicode MS" pitchFamily="34" charset="-128"/>
                <a:cs typeface="Arial Unicode MS" pitchFamily="34" charset="-128"/>
              </a:rPr>
              <a:t>e are what we repeatedly do. Excellence then is not an act, but a habit” – Aristotle</a:t>
            </a:r>
            <a:endParaRPr lang="en-GB" sz="1600" kern="0" dirty="0">
              <a:ea typeface="Arial Unicode MS" pitchFamily="34" charset="-128"/>
              <a:cs typeface="Arial Unicode MS" pitchFamily="34" charset="-128"/>
            </a:endParaRPr>
          </a:p>
        </p:txBody>
      </p:sp>
      <p:grpSp>
        <p:nvGrpSpPr>
          <p:cNvPr id="159" name="Group 11"/>
          <p:cNvGrpSpPr>
            <a:grpSpLocks/>
          </p:cNvGrpSpPr>
          <p:nvPr/>
        </p:nvGrpSpPr>
        <p:grpSpPr bwMode="auto">
          <a:xfrm>
            <a:off x="3243000" y="1942635"/>
            <a:ext cx="3420000" cy="3420000"/>
            <a:chOff x="4206" y="2155"/>
            <a:chExt cx="945" cy="939"/>
          </a:xfrm>
        </p:grpSpPr>
        <p:sp>
          <p:nvSpPr>
            <p:cNvPr id="160" name="AutoShape 12"/>
            <p:cNvSpPr>
              <a:spLocks noChangeAspect="1" noChangeArrowheads="1" noTextEdit="1"/>
            </p:cNvSpPr>
            <p:nvPr/>
          </p:nvSpPr>
          <p:spPr bwMode="auto">
            <a:xfrm>
              <a:off x="4206" y="2155"/>
              <a:ext cx="945" cy="939"/>
            </a:xfrm>
            <a:prstGeom prst="rect">
              <a:avLst/>
            </a:prstGeom>
            <a:noFill/>
            <a:ln w="28575">
              <a:solidFill>
                <a:srgbClr val="FFFFFF"/>
              </a:solidFill>
              <a:miter lim="800000"/>
              <a:headEnd/>
              <a:tailEnd/>
            </a:ln>
          </p:spPr>
          <p:txBody>
            <a:bodyPr/>
            <a:lstStyle/>
            <a:p>
              <a:pPr algn="ctr" fontAlgn="base">
                <a:spcBef>
                  <a:spcPct val="0"/>
                </a:spcBef>
                <a:spcAft>
                  <a:spcPct val="0"/>
                </a:spcAft>
              </a:pPr>
              <a:endParaRPr lang="en-US" sz="1000" b="1" dirty="0">
                <a:solidFill>
                  <a:srgbClr val="646464"/>
                </a:solidFill>
              </a:endParaRPr>
            </a:p>
          </p:txBody>
        </p:sp>
        <p:sp>
          <p:nvSpPr>
            <p:cNvPr id="161" name="Freeform 13"/>
            <p:cNvSpPr>
              <a:spLocks/>
            </p:cNvSpPr>
            <p:nvPr/>
          </p:nvSpPr>
          <p:spPr bwMode="auto">
            <a:xfrm>
              <a:off x="4375" y="2747"/>
              <a:ext cx="513" cy="347"/>
            </a:xfrm>
            <a:custGeom>
              <a:avLst/>
              <a:gdLst/>
              <a:ahLst/>
              <a:cxnLst>
                <a:cxn ang="0">
                  <a:pos x="1539" y="384"/>
                </a:cxn>
                <a:cxn ang="0">
                  <a:pos x="1786" y="750"/>
                </a:cxn>
                <a:cxn ang="0">
                  <a:pos x="2020" y="1171"/>
                </a:cxn>
                <a:cxn ang="0">
                  <a:pos x="1953" y="1209"/>
                </a:cxn>
                <a:cxn ang="0">
                  <a:pos x="1885" y="1242"/>
                </a:cxn>
                <a:cxn ang="0">
                  <a:pos x="1818" y="1269"/>
                </a:cxn>
                <a:cxn ang="0">
                  <a:pos x="1753" y="1294"/>
                </a:cxn>
                <a:cxn ang="0">
                  <a:pos x="1689" y="1315"/>
                </a:cxn>
                <a:cxn ang="0">
                  <a:pos x="1627" y="1332"/>
                </a:cxn>
                <a:cxn ang="0">
                  <a:pos x="1542" y="1353"/>
                </a:cxn>
                <a:cxn ang="0">
                  <a:pos x="1489" y="1362"/>
                </a:cxn>
                <a:cxn ang="0">
                  <a:pos x="1401" y="1376"/>
                </a:cxn>
                <a:cxn ang="0">
                  <a:pos x="1337" y="1383"/>
                </a:cxn>
                <a:cxn ang="0">
                  <a:pos x="1297" y="1385"/>
                </a:cxn>
                <a:cxn ang="0">
                  <a:pos x="1259" y="1387"/>
                </a:cxn>
                <a:cxn ang="0">
                  <a:pos x="1177" y="1388"/>
                </a:cxn>
                <a:cxn ang="0">
                  <a:pos x="1091" y="1384"/>
                </a:cxn>
                <a:cxn ang="0">
                  <a:pos x="1024" y="1378"/>
                </a:cxn>
                <a:cxn ang="0">
                  <a:pos x="951" y="1368"/>
                </a:cxn>
                <a:cxn ang="0">
                  <a:pos x="873" y="1355"/>
                </a:cxn>
                <a:cxn ang="0">
                  <a:pos x="790" y="1336"/>
                </a:cxn>
                <a:cxn ang="0">
                  <a:pos x="746" y="1325"/>
                </a:cxn>
                <a:cxn ang="0">
                  <a:pos x="659" y="1298"/>
                </a:cxn>
                <a:cxn ang="0">
                  <a:pos x="568" y="1264"/>
                </a:cxn>
                <a:cxn ang="0">
                  <a:pos x="477" y="1223"/>
                </a:cxn>
                <a:cxn ang="0">
                  <a:pos x="387" y="1174"/>
                </a:cxn>
                <a:cxn ang="0">
                  <a:pos x="317" y="1130"/>
                </a:cxn>
                <a:cxn ang="0">
                  <a:pos x="251" y="1083"/>
                </a:cxn>
                <a:cxn ang="0">
                  <a:pos x="206" y="1048"/>
                </a:cxn>
                <a:cxn ang="0">
                  <a:pos x="203" y="1051"/>
                </a:cxn>
                <a:cxn ang="0">
                  <a:pos x="175" y="1086"/>
                </a:cxn>
                <a:cxn ang="0">
                  <a:pos x="110" y="1174"/>
                </a:cxn>
                <a:cxn ang="0">
                  <a:pos x="19" y="1303"/>
                </a:cxn>
                <a:cxn ang="0">
                  <a:pos x="981" y="0"/>
                </a:cxn>
                <a:cxn ang="0">
                  <a:pos x="787" y="283"/>
                </a:cxn>
                <a:cxn ang="0">
                  <a:pos x="860" y="329"/>
                </a:cxn>
                <a:cxn ang="0">
                  <a:pos x="918" y="359"/>
                </a:cxn>
                <a:cxn ang="0">
                  <a:pos x="967" y="381"/>
                </a:cxn>
                <a:cxn ang="0">
                  <a:pos x="1001" y="394"/>
                </a:cxn>
                <a:cxn ang="0">
                  <a:pos x="1037" y="405"/>
                </a:cxn>
                <a:cxn ang="0">
                  <a:pos x="1074" y="414"/>
                </a:cxn>
                <a:cxn ang="0">
                  <a:pos x="1113" y="420"/>
                </a:cxn>
                <a:cxn ang="0">
                  <a:pos x="1150" y="423"/>
                </a:cxn>
                <a:cxn ang="0">
                  <a:pos x="1188" y="422"/>
                </a:cxn>
                <a:cxn ang="0">
                  <a:pos x="1212" y="419"/>
                </a:cxn>
                <a:cxn ang="0">
                  <a:pos x="1257" y="415"/>
                </a:cxn>
                <a:cxn ang="0">
                  <a:pos x="1316" y="406"/>
                </a:cxn>
                <a:cxn ang="0">
                  <a:pos x="1366" y="395"/>
                </a:cxn>
                <a:cxn ang="0">
                  <a:pos x="1421" y="381"/>
                </a:cxn>
                <a:cxn ang="0">
                  <a:pos x="1467" y="367"/>
                </a:cxn>
                <a:cxn ang="0">
                  <a:pos x="1516" y="350"/>
                </a:cxn>
              </a:cxnLst>
              <a:rect l="0" t="0" r="r" b="b"/>
              <a:pathLst>
                <a:path w="2054" h="1388">
                  <a:moveTo>
                    <a:pt x="1516" y="350"/>
                  </a:moveTo>
                  <a:lnTo>
                    <a:pt x="1539" y="384"/>
                  </a:lnTo>
                  <a:lnTo>
                    <a:pt x="1600" y="475"/>
                  </a:lnTo>
                  <a:lnTo>
                    <a:pt x="1786" y="750"/>
                  </a:lnTo>
                  <a:lnTo>
                    <a:pt x="2054" y="1150"/>
                  </a:lnTo>
                  <a:lnTo>
                    <a:pt x="2020" y="1171"/>
                  </a:lnTo>
                  <a:lnTo>
                    <a:pt x="1986" y="1191"/>
                  </a:lnTo>
                  <a:lnTo>
                    <a:pt x="1953" y="1209"/>
                  </a:lnTo>
                  <a:lnTo>
                    <a:pt x="1919" y="1226"/>
                  </a:lnTo>
                  <a:lnTo>
                    <a:pt x="1885" y="1242"/>
                  </a:lnTo>
                  <a:lnTo>
                    <a:pt x="1851" y="1256"/>
                  </a:lnTo>
                  <a:lnTo>
                    <a:pt x="1818" y="1269"/>
                  </a:lnTo>
                  <a:lnTo>
                    <a:pt x="1785" y="1282"/>
                  </a:lnTo>
                  <a:lnTo>
                    <a:pt x="1753" y="1294"/>
                  </a:lnTo>
                  <a:lnTo>
                    <a:pt x="1720" y="1304"/>
                  </a:lnTo>
                  <a:lnTo>
                    <a:pt x="1689" y="1315"/>
                  </a:lnTo>
                  <a:lnTo>
                    <a:pt x="1658" y="1324"/>
                  </a:lnTo>
                  <a:lnTo>
                    <a:pt x="1627" y="1332"/>
                  </a:lnTo>
                  <a:lnTo>
                    <a:pt x="1598" y="1340"/>
                  </a:lnTo>
                  <a:lnTo>
                    <a:pt x="1542" y="1353"/>
                  </a:lnTo>
                  <a:lnTo>
                    <a:pt x="1515" y="1358"/>
                  </a:lnTo>
                  <a:lnTo>
                    <a:pt x="1489" y="1362"/>
                  </a:lnTo>
                  <a:lnTo>
                    <a:pt x="1443" y="1370"/>
                  </a:lnTo>
                  <a:lnTo>
                    <a:pt x="1401" y="1376"/>
                  </a:lnTo>
                  <a:lnTo>
                    <a:pt x="1365" y="1380"/>
                  </a:lnTo>
                  <a:lnTo>
                    <a:pt x="1337" y="1383"/>
                  </a:lnTo>
                  <a:lnTo>
                    <a:pt x="1315" y="1384"/>
                  </a:lnTo>
                  <a:lnTo>
                    <a:pt x="1297" y="1385"/>
                  </a:lnTo>
                  <a:lnTo>
                    <a:pt x="1284" y="1385"/>
                  </a:lnTo>
                  <a:lnTo>
                    <a:pt x="1259" y="1387"/>
                  </a:lnTo>
                  <a:lnTo>
                    <a:pt x="1223" y="1388"/>
                  </a:lnTo>
                  <a:lnTo>
                    <a:pt x="1177" y="1388"/>
                  </a:lnTo>
                  <a:lnTo>
                    <a:pt x="1122" y="1385"/>
                  </a:lnTo>
                  <a:lnTo>
                    <a:pt x="1091" y="1384"/>
                  </a:lnTo>
                  <a:lnTo>
                    <a:pt x="1059" y="1381"/>
                  </a:lnTo>
                  <a:lnTo>
                    <a:pt x="1024" y="1378"/>
                  </a:lnTo>
                  <a:lnTo>
                    <a:pt x="988" y="1374"/>
                  </a:lnTo>
                  <a:lnTo>
                    <a:pt x="951" y="1368"/>
                  </a:lnTo>
                  <a:lnTo>
                    <a:pt x="913" y="1362"/>
                  </a:lnTo>
                  <a:lnTo>
                    <a:pt x="873" y="1355"/>
                  </a:lnTo>
                  <a:lnTo>
                    <a:pt x="832" y="1346"/>
                  </a:lnTo>
                  <a:lnTo>
                    <a:pt x="790" y="1336"/>
                  </a:lnTo>
                  <a:lnTo>
                    <a:pt x="768" y="1330"/>
                  </a:lnTo>
                  <a:lnTo>
                    <a:pt x="746" y="1325"/>
                  </a:lnTo>
                  <a:lnTo>
                    <a:pt x="703" y="1312"/>
                  </a:lnTo>
                  <a:lnTo>
                    <a:pt x="659" y="1298"/>
                  </a:lnTo>
                  <a:lnTo>
                    <a:pt x="614" y="1282"/>
                  </a:lnTo>
                  <a:lnTo>
                    <a:pt x="568" y="1264"/>
                  </a:lnTo>
                  <a:lnTo>
                    <a:pt x="524" y="1244"/>
                  </a:lnTo>
                  <a:lnTo>
                    <a:pt x="477" y="1223"/>
                  </a:lnTo>
                  <a:lnTo>
                    <a:pt x="431" y="1200"/>
                  </a:lnTo>
                  <a:lnTo>
                    <a:pt x="387" y="1174"/>
                  </a:lnTo>
                  <a:lnTo>
                    <a:pt x="340" y="1146"/>
                  </a:lnTo>
                  <a:lnTo>
                    <a:pt x="317" y="1130"/>
                  </a:lnTo>
                  <a:lnTo>
                    <a:pt x="296" y="1116"/>
                  </a:lnTo>
                  <a:lnTo>
                    <a:pt x="251" y="1083"/>
                  </a:lnTo>
                  <a:lnTo>
                    <a:pt x="229" y="1066"/>
                  </a:lnTo>
                  <a:lnTo>
                    <a:pt x="206" y="1048"/>
                  </a:lnTo>
                  <a:lnTo>
                    <a:pt x="206" y="1049"/>
                  </a:lnTo>
                  <a:lnTo>
                    <a:pt x="203" y="1051"/>
                  </a:lnTo>
                  <a:lnTo>
                    <a:pt x="197" y="1058"/>
                  </a:lnTo>
                  <a:lnTo>
                    <a:pt x="175" y="1086"/>
                  </a:lnTo>
                  <a:lnTo>
                    <a:pt x="145" y="1126"/>
                  </a:lnTo>
                  <a:lnTo>
                    <a:pt x="110" y="1174"/>
                  </a:lnTo>
                  <a:lnTo>
                    <a:pt x="47" y="1262"/>
                  </a:lnTo>
                  <a:lnTo>
                    <a:pt x="19" y="1303"/>
                  </a:lnTo>
                  <a:lnTo>
                    <a:pt x="0" y="313"/>
                  </a:lnTo>
                  <a:lnTo>
                    <a:pt x="981" y="0"/>
                  </a:lnTo>
                  <a:lnTo>
                    <a:pt x="777" y="275"/>
                  </a:lnTo>
                  <a:lnTo>
                    <a:pt x="787" y="283"/>
                  </a:lnTo>
                  <a:lnTo>
                    <a:pt x="815" y="303"/>
                  </a:lnTo>
                  <a:lnTo>
                    <a:pt x="860" y="329"/>
                  </a:lnTo>
                  <a:lnTo>
                    <a:pt x="887" y="344"/>
                  </a:lnTo>
                  <a:lnTo>
                    <a:pt x="918" y="359"/>
                  </a:lnTo>
                  <a:lnTo>
                    <a:pt x="950" y="373"/>
                  </a:lnTo>
                  <a:lnTo>
                    <a:pt x="967" y="381"/>
                  </a:lnTo>
                  <a:lnTo>
                    <a:pt x="983" y="388"/>
                  </a:lnTo>
                  <a:lnTo>
                    <a:pt x="1001" y="394"/>
                  </a:lnTo>
                  <a:lnTo>
                    <a:pt x="1019" y="399"/>
                  </a:lnTo>
                  <a:lnTo>
                    <a:pt x="1037" y="405"/>
                  </a:lnTo>
                  <a:lnTo>
                    <a:pt x="1056" y="410"/>
                  </a:lnTo>
                  <a:lnTo>
                    <a:pt x="1074" y="414"/>
                  </a:lnTo>
                  <a:lnTo>
                    <a:pt x="1093" y="418"/>
                  </a:lnTo>
                  <a:lnTo>
                    <a:pt x="1113" y="420"/>
                  </a:lnTo>
                  <a:lnTo>
                    <a:pt x="1132" y="422"/>
                  </a:lnTo>
                  <a:lnTo>
                    <a:pt x="1150" y="423"/>
                  </a:lnTo>
                  <a:lnTo>
                    <a:pt x="1169" y="423"/>
                  </a:lnTo>
                  <a:lnTo>
                    <a:pt x="1188" y="422"/>
                  </a:lnTo>
                  <a:lnTo>
                    <a:pt x="1207" y="419"/>
                  </a:lnTo>
                  <a:lnTo>
                    <a:pt x="1212" y="419"/>
                  </a:lnTo>
                  <a:lnTo>
                    <a:pt x="1230" y="418"/>
                  </a:lnTo>
                  <a:lnTo>
                    <a:pt x="1257" y="415"/>
                  </a:lnTo>
                  <a:lnTo>
                    <a:pt x="1294" y="410"/>
                  </a:lnTo>
                  <a:lnTo>
                    <a:pt x="1316" y="406"/>
                  </a:lnTo>
                  <a:lnTo>
                    <a:pt x="1340" y="402"/>
                  </a:lnTo>
                  <a:lnTo>
                    <a:pt x="1366" y="395"/>
                  </a:lnTo>
                  <a:lnTo>
                    <a:pt x="1393" y="389"/>
                  </a:lnTo>
                  <a:lnTo>
                    <a:pt x="1421" y="381"/>
                  </a:lnTo>
                  <a:lnTo>
                    <a:pt x="1452" y="372"/>
                  </a:lnTo>
                  <a:lnTo>
                    <a:pt x="1467" y="367"/>
                  </a:lnTo>
                  <a:lnTo>
                    <a:pt x="1483" y="361"/>
                  </a:lnTo>
                  <a:lnTo>
                    <a:pt x="1516" y="350"/>
                  </a:lnTo>
                  <a:close/>
                </a:path>
              </a:pathLst>
            </a:custGeom>
            <a:solidFill>
              <a:srgbClr val="808080"/>
            </a:solidFill>
            <a:ln w="28575" cmpd="sng">
              <a:noFill/>
              <a:round/>
              <a:headEnd/>
              <a:tailEnd/>
            </a:ln>
          </p:spPr>
          <p:txBody>
            <a:bodyPr/>
            <a:lstStyle/>
            <a:p>
              <a:pPr algn="ctr" fontAlgn="base">
                <a:spcBef>
                  <a:spcPct val="0"/>
                </a:spcBef>
                <a:spcAft>
                  <a:spcPct val="0"/>
                </a:spcAft>
              </a:pPr>
              <a:endParaRPr lang="en-US" sz="1000" b="1" dirty="0">
                <a:solidFill>
                  <a:schemeClr val="bg1"/>
                </a:solidFill>
              </a:endParaRPr>
            </a:p>
            <a:p>
              <a:pPr algn="ctr" fontAlgn="base">
                <a:spcBef>
                  <a:spcPct val="0"/>
                </a:spcBef>
                <a:spcAft>
                  <a:spcPct val="0"/>
                </a:spcAft>
              </a:pPr>
              <a:endParaRPr lang="en-US" sz="1000" b="1" dirty="0">
                <a:solidFill>
                  <a:schemeClr val="bg1"/>
                </a:solidFill>
              </a:endParaRPr>
            </a:p>
            <a:p>
              <a:pPr algn="ctr" fontAlgn="base">
                <a:spcBef>
                  <a:spcPct val="0"/>
                </a:spcBef>
                <a:spcAft>
                  <a:spcPct val="0"/>
                </a:spcAft>
              </a:pPr>
              <a:endParaRPr lang="en-US" sz="1000" b="1" dirty="0">
                <a:solidFill>
                  <a:schemeClr val="bg1"/>
                </a:solidFill>
              </a:endParaRPr>
            </a:p>
            <a:p>
              <a:pPr algn="ctr" fontAlgn="base">
                <a:spcBef>
                  <a:spcPct val="0"/>
                </a:spcBef>
                <a:spcAft>
                  <a:spcPct val="0"/>
                </a:spcAft>
              </a:pPr>
              <a:r>
                <a:rPr lang="en-US" sz="1000" b="1" dirty="0">
                  <a:solidFill>
                    <a:schemeClr val="bg1"/>
                  </a:solidFill>
                </a:rPr>
                <a:t>Examine </a:t>
              </a:r>
            </a:p>
            <a:p>
              <a:pPr algn="ctr" fontAlgn="base">
                <a:spcBef>
                  <a:spcPct val="0"/>
                </a:spcBef>
                <a:spcAft>
                  <a:spcPct val="0"/>
                </a:spcAft>
              </a:pPr>
              <a:r>
                <a:rPr lang="en-US" sz="1000" b="1" dirty="0">
                  <a:solidFill>
                    <a:schemeClr val="bg1"/>
                  </a:solidFill>
                </a:rPr>
                <a:t>External </a:t>
              </a:r>
            </a:p>
            <a:p>
              <a:pPr algn="ctr" fontAlgn="base">
                <a:spcBef>
                  <a:spcPct val="0"/>
                </a:spcBef>
                <a:spcAft>
                  <a:spcPct val="0"/>
                </a:spcAft>
              </a:pPr>
              <a:r>
                <a:rPr lang="en-US" sz="1000" b="1" dirty="0">
                  <a:solidFill>
                    <a:schemeClr val="bg1"/>
                  </a:solidFill>
                </a:rPr>
                <a:t>Factors</a:t>
              </a:r>
            </a:p>
          </p:txBody>
        </p:sp>
        <p:sp>
          <p:nvSpPr>
            <p:cNvPr id="162" name="Freeform 14"/>
            <p:cNvSpPr>
              <a:spLocks/>
            </p:cNvSpPr>
            <p:nvPr/>
          </p:nvSpPr>
          <p:spPr bwMode="auto">
            <a:xfrm>
              <a:off x="4731" y="2577"/>
              <a:ext cx="370" cy="504"/>
            </a:xfrm>
            <a:custGeom>
              <a:avLst/>
              <a:gdLst/>
              <a:ahLst/>
              <a:cxnLst>
                <a:cxn ang="0">
                  <a:pos x="569" y="247"/>
                </a:cxn>
                <a:cxn ang="0">
                  <a:pos x="988" y="130"/>
                </a:cxn>
                <a:cxn ang="0">
                  <a:pos x="1454" y="39"/>
                </a:cxn>
                <a:cxn ang="0">
                  <a:pos x="1466" y="116"/>
                </a:cxn>
                <a:cxn ang="0">
                  <a:pos x="1474" y="192"/>
                </a:cxn>
                <a:cxn ang="0">
                  <a:pos x="1478" y="267"/>
                </a:cxn>
                <a:cxn ang="0">
                  <a:pos x="1479" y="339"/>
                </a:cxn>
                <a:cxn ang="0">
                  <a:pos x="1478" y="407"/>
                </a:cxn>
                <a:cxn ang="0">
                  <a:pos x="1474" y="471"/>
                </a:cxn>
                <a:cxn ang="0">
                  <a:pos x="1465" y="561"/>
                </a:cxn>
                <a:cxn ang="0">
                  <a:pos x="1457" y="615"/>
                </a:cxn>
                <a:cxn ang="0">
                  <a:pos x="1441" y="705"/>
                </a:cxn>
                <a:cxn ang="0">
                  <a:pos x="1420" y="790"/>
                </a:cxn>
                <a:cxn ang="0">
                  <a:pos x="1413" y="821"/>
                </a:cxn>
                <a:cxn ang="0">
                  <a:pos x="1395" y="880"/>
                </a:cxn>
                <a:cxn ang="0">
                  <a:pos x="1370" y="951"/>
                </a:cxn>
                <a:cxn ang="0">
                  <a:pos x="1347" y="1006"/>
                </a:cxn>
                <a:cxn ang="0">
                  <a:pos x="1320" y="1069"/>
                </a:cxn>
                <a:cxn ang="0">
                  <a:pos x="1288" y="1137"/>
                </a:cxn>
                <a:cxn ang="0">
                  <a:pos x="1250" y="1207"/>
                </a:cxn>
                <a:cxn ang="0">
                  <a:pos x="1205" y="1282"/>
                </a:cxn>
                <a:cxn ang="0">
                  <a:pos x="1168" y="1338"/>
                </a:cxn>
                <a:cxn ang="0">
                  <a:pos x="1127" y="1395"/>
                </a:cxn>
                <a:cxn ang="0">
                  <a:pos x="1067" y="1471"/>
                </a:cxn>
                <a:cxn ang="0">
                  <a:pos x="1034" y="1509"/>
                </a:cxn>
                <a:cxn ang="0">
                  <a:pos x="981" y="1564"/>
                </a:cxn>
                <a:cxn ang="0">
                  <a:pos x="943" y="1601"/>
                </a:cxn>
                <a:cxn ang="0">
                  <a:pos x="903" y="1636"/>
                </a:cxn>
                <a:cxn ang="0">
                  <a:pos x="862" y="1670"/>
                </a:cxn>
                <a:cxn ang="0">
                  <a:pos x="819" y="1704"/>
                </a:cxn>
                <a:cxn ang="0">
                  <a:pos x="772" y="1736"/>
                </a:cxn>
                <a:cxn ang="0">
                  <a:pos x="749" y="1753"/>
                </a:cxn>
                <a:cxn ang="0">
                  <a:pos x="756" y="1763"/>
                </a:cxn>
                <a:cxn ang="0">
                  <a:pos x="802" y="1836"/>
                </a:cxn>
                <a:cxn ang="0">
                  <a:pos x="897" y="1975"/>
                </a:cxn>
                <a:cxn ang="0">
                  <a:pos x="0" y="1712"/>
                </a:cxn>
                <a:cxn ang="0">
                  <a:pos x="31" y="663"/>
                </a:cxn>
                <a:cxn ang="0">
                  <a:pos x="229" y="942"/>
                </a:cxn>
                <a:cxn ang="0">
                  <a:pos x="276" y="904"/>
                </a:cxn>
                <a:cxn ang="0">
                  <a:pos x="319" y="865"/>
                </a:cxn>
                <a:cxn ang="0">
                  <a:pos x="367" y="814"/>
                </a:cxn>
                <a:cxn ang="0">
                  <a:pos x="390" y="786"/>
                </a:cxn>
                <a:cxn ang="0">
                  <a:pos x="424" y="739"/>
                </a:cxn>
                <a:cxn ang="0">
                  <a:pos x="445" y="706"/>
                </a:cxn>
                <a:cxn ang="0">
                  <a:pos x="463" y="672"/>
                </a:cxn>
                <a:cxn ang="0">
                  <a:pos x="478" y="636"/>
                </a:cxn>
                <a:cxn ang="0">
                  <a:pos x="488" y="599"/>
                </a:cxn>
                <a:cxn ang="0">
                  <a:pos x="498" y="557"/>
                </a:cxn>
                <a:cxn ang="0">
                  <a:pos x="509" y="513"/>
                </a:cxn>
                <a:cxn ang="0">
                  <a:pos x="516" y="471"/>
                </a:cxn>
                <a:cxn ang="0">
                  <a:pos x="523" y="420"/>
                </a:cxn>
                <a:cxn ang="0">
                  <a:pos x="528" y="361"/>
                </a:cxn>
                <a:cxn ang="0">
                  <a:pos x="529" y="294"/>
                </a:cxn>
              </a:cxnLst>
              <a:rect l="0" t="0" r="r" b="b"/>
              <a:pathLst>
                <a:path w="1479" h="2015">
                  <a:moveTo>
                    <a:pt x="529" y="259"/>
                  </a:moveTo>
                  <a:lnTo>
                    <a:pt x="569" y="247"/>
                  </a:lnTo>
                  <a:lnTo>
                    <a:pt x="673" y="218"/>
                  </a:lnTo>
                  <a:lnTo>
                    <a:pt x="988" y="130"/>
                  </a:lnTo>
                  <a:lnTo>
                    <a:pt x="1446" y="0"/>
                  </a:lnTo>
                  <a:lnTo>
                    <a:pt x="1454" y="39"/>
                  </a:lnTo>
                  <a:lnTo>
                    <a:pt x="1460" y="79"/>
                  </a:lnTo>
                  <a:lnTo>
                    <a:pt x="1466" y="116"/>
                  </a:lnTo>
                  <a:lnTo>
                    <a:pt x="1470" y="156"/>
                  </a:lnTo>
                  <a:lnTo>
                    <a:pt x="1474" y="192"/>
                  </a:lnTo>
                  <a:lnTo>
                    <a:pt x="1477" y="230"/>
                  </a:lnTo>
                  <a:lnTo>
                    <a:pt x="1478" y="267"/>
                  </a:lnTo>
                  <a:lnTo>
                    <a:pt x="1479" y="303"/>
                  </a:lnTo>
                  <a:lnTo>
                    <a:pt x="1479" y="339"/>
                  </a:lnTo>
                  <a:lnTo>
                    <a:pt x="1479" y="373"/>
                  </a:lnTo>
                  <a:lnTo>
                    <a:pt x="1478" y="407"/>
                  </a:lnTo>
                  <a:lnTo>
                    <a:pt x="1477" y="439"/>
                  </a:lnTo>
                  <a:lnTo>
                    <a:pt x="1474" y="471"/>
                  </a:lnTo>
                  <a:lnTo>
                    <a:pt x="1472" y="502"/>
                  </a:lnTo>
                  <a:lnTo>
                    <a:pt x="1465" y="561"/>
                  </a:lnTo>
                  <a:lnTo>
                    <a:pt x="1461" y="589"/>
                  </a:lnTo>
                  <a:lnTo>
                    <a:pt x="1457" y="615"/>
                  </a:lnTo>
                  <a:lnTo>
                    <a:pt x="1450" y="663"/>
                  </a:lnTo>
                  <a:lnTo>
                    <a:pt x="1441" y="705"/>
                  </a:lnTo>
                  <a:lnTo>
                    <a:pt x="1433" y="740"/>
                  </a:lnTo>
                  <a:lnTo>
                    <a:pt x="1420" y="790"/>
                  </a:lnTo>
                  <a:lnTo>
                    <a:pt x="1417" y="808"/>
                  </a:lnTo>
                  <a:lnTo>
                    <a:pt x="1413" y="821"/>
                  </a:lnTo>
                  <a:lnTo>
                    <a:pt x="1405" y="846"/>
                  </a:lnTo>
                  <a:lnTo>
                    <a:pt x="1395" y="880"/>
                  </a:lnTo>
                  <a:lnTo>
                    <a:pt x="1379" y="925"/>
                  </a:lnTo>
                  <a:lnTo>
                    <a:pt x="1370" y="951"/>
                  </a:lnTo>
                  <a:lnTo>
                    <a:pt x="1360" y="977"/>
                  </a:lnTo>
                  <a:lnTo>
                    <a:pt x="1347" y="1006"/>
                  </a:lnTo>
                  <a:lnTo>
                    <a:pt x="1335" y="1037"/>
                  </a:lnTo>
                  <a:lnTo>
                    <a:pt x="1320" y="1069"/>
                  </a:lnTo>
                  <a:lnTo>
                    <a:pt x="1305" y="1101"/>
                  </a:lnTo>
                  <a:lnTo>
                    <a:pt x="1288" y="1137"/>
                  </a:lnTo>
                  <a:lnTo>
                    <a:pt x="1269" y="1172"/>
                  </a:lnTo>
                  <a:lnTo>
                    <a:pt x="1250" y="1207"/>
                  </a:lnTo>
                  <a:lnTo>
                    <a:pt x="1228" y="1244"/>
                  </a:lnTo>
                  <a:lnTo>
                    <a:pt x="1205" y="1282"/>
                  </a:lnTo>
                  <a:lnTo>
                    <a:pt x="1181" y="1320"/>
                  </a:lnTo>
                  <a:lnTo>
                    <a:pt x="1168" y="1338"/>
                  </a:lnTo>
                  <a:lnTo>
                    <a:pt x="1155" y="1358"/>
                  </a:lnTo>
                  <a:lnTo>
                    <a:pt x="1127" y="1395"/>
                  </a:lnTo>
                  <a:lnTo>
                    <a:pt x="1098" y="1433"/>
                  </a:lnTo>
                  <a:lnTo>
                    <a:pt x="1067" y="1471"/>
                  </a:lnTo>
                  <a:lnTo>
                    <a:pt x="1050" y="1491"/>
                  </a:lnTo>
                  <a:lnTo>
                    <a:pt x="1034" y="1509"/>
                  </a:lnTo>
                  <a:lnTo>
                    <a:pt x="999" y="1546"/>
                  </a:lnTo>
                  <a:lnTo>
                    <a:pt x="981" y="1564"/>
                  </a:lnTo>
                  <a:lnTo>
                    <a:pt x="962" y="1582"/>
                  </a:lnTo>
                  <a:lnTo>
                    <a:pt x="943" y="1601"/>
                  </a:lnTo>
                  <a:lnTo>
                    <a:pt x="924" y="1619"/>
                  </a:lnTo>
                  <a:lnTo>
                    <a:pt x="903" y="1636"/>
                  </a:lnTo>
                  <a:lnTo>
                    <a:pt x="883" y="1653"/>
                  </a:lnTo>
                  <a:lnTo>
                    <a:pt x="862" y="1670"/>
                  </a:lnTo>
                  <a:lnTo>
                    <a:pt x="840" y="1687"/>
                  </a:lnTo>
                  <a:lnTo>
                    <a:pt x="819" y="1704"/>
                  </a:lnTo>
                  <a:lnTo>
                    <a:pt x="795" y="1720"/>
                  </a:lnTo>
                  <a:lnTo>
                    <a:pt x="772" y="1736"/>
                  </a:lnTo>
                  <a:lnTo>
                    <a:pt x="749" y="1751"/>
                  </a:lnTo>
                  <a:lnTo>
                    <a:pt x="749" y="1753"/>
                  </a:lnTo>
                  <a:lnTo>
                    <a:pt x="751" y="1755"/>
                  </a:lnTo>
                  <a:lnTo>
                    <a:pt x="756" y="1763"/>
                  </a:lnTo>
                  <a:lnTo>
                    <a:pt x="774" y="1794"/>
                  </a:lnTo>
                  <a:lnTo>
                    <a:pt x="802" y="1836"/>
                  </a:lnTo>
                  <a:lnTo>
                    <a:pt x="834" y="1885"/>
                  </a:lnTo>
                  <a:lnTo>
                    <a:pt x="897" y="1975"/>
                  </a:lnTo>
                  <a:lnTo>
                    <a:pt x="924" y="2015"/>
                  </a:lnTo>
                  <a:lnTo>
                    <a:pt x="0" y="1712"/>
                  </a:lnTo>
                  <a:lnTo>
                    <a:pt x="16" y="1188"/>
                  </a:lnTo>
                  <a:lnTo>
                    <a:pt x="31" y="663"/>
                  </a:lnTo>
                  <a:lnTo>
                    <a:pt x="219" y="948"/>
                  </a:lnTo>
                  <a:lnTo>
                    <a:pt x="229" y="942"/>
                  </a:lnTo>
                  <a:lnTo>
                    <a:pt x="258" y="919"/>
                  </a:lnTo>
                  <a:lnTo>
                    <a:pt x="276" y="904"/>
                  </a:lnTo>
                  <a:lnTo>
                    <a:pt x="296" y="885"/>
                  </a:lnTo>
                  <a:lnTo>
                    <a:pt x="319" y="865"/>
                  </a:lnTo>
                  <a:lnTo>
                    <a:pt x="342" y="840"/>
                  </a:lnTo>
                  <a:lnTo>
                    <a:pt x="367" y="814"/>
                  </a:lnTo>
                  <a:lnTo>
                    <a:pt x="378" y="800"/>
                  </a:lnTo>
                  <a:lnTo>
                    <a:pt x="390" y="786"/>
                  </a:lnTo>
                  <a:lnTo>
                    <a:pt x="413" y="755"/>
                  </a:lnTo>
                  <a:lnTo>
                    <a:pt x="424" y="739"/>
                  </a:lnTo>
                  <a:lnTo>
                    <a:pt x="434" y="723"/>
                  </a:lnTo>
                  <a:lnTo>
                    <a:pt x="445" y="706"/>
                  </a:lnTo>
                  <a:lnTo>
                    <a:pt x="454" y="689"/>
                  </a:lnTo>
                  <a:lnTo>
                    <a:pt x="463" y="672"/>
                  </a:lnTo>
                  <a:lnTo>
                    <a:pt x="470" y="654"/>
                  </a:lnTo>
                  <a:lnTo>
                    <a:pt x="478" y="636"/>
                  </a:lnTo>
                  <a:lnTo>
                    <a:pt x="483" y="617"/>
                  </a:lnTo>
                  <a:lnTo>
                    <a:pt x="488" y="599"/>
                  </a:lnTo>
                  <a:lnTo>
                    <a:pt x="493" y="581"/>
                  </a:lnTo>
                  <a:lnTo>
                    <a:pt x="498" y="557"/>
                  </a:lnTo>
                  <a:lnTo>
                    <a:pt x="505" y="530"/>
                  </a:lnTo>
                  <a:lnTo>
                    <a:pt x="509" y="513"/>
                  </a:lnTo>
                  <a:lnTo>
                    <a:pt x="512" y="492"/>
                  </a:lnTo>
                  <a:lnTo>
                    <a:pt x="516" y="471"/>
                  </a:lnTo>
                  <a:lnTo>
                    <a:pt x="519" y="446"/>
                  </a:lnTo>
                  <a:lnTo>
                    <a:pt x="523" y="420"/>
                  </a:lnTo>
                  <a:lnTo>
                    <a:pt x="525" y="391"/>
                  </a:lnTo>
                  <a:lnTo>
                    <a:pt x="528" y="361"/>
                  </a:lnTo>
                  <a:lnTo>
                    <a:pt x="529" y="328"/>
                  </a:lnTo>
                  <a:lnTo>
                    <a:pt x="529" y="294"/>
                  </a:lnTo>
                  <a:lnTo>
                    <a:pt x="529" y="259"/>
                  </a:lnTo>
                  <a:close/>
                </a:path>
              </a:pathLst>
            </a:custGeom>
            <a:solidFill>
              <a:srgbClr val="646464"/>
            </a:solidFill>
            <a:ln w="28575" cmpd="sng">
              <a:noFill/>
              <a:round/>
              <a:headEnd/>
              <a:tailEnd/>
            </a:ln>
          </p:spPr>
          <p:txBody>
            <a:bodyPr/>
            <a:lstStyle/>
            <a:p>
              <a:pPr algn="ctr" fontAlgn="base">
                <a:spcBef>
                  <a:spcPct val="0"/>
                </a:spcBef>
                <a:spcAft>
                  <a:spcPct val="0"/>
                </a:spcAft>
              </a:pPr>
              <a:endParaRPr lang="en-US" sz="1000" b="1" dirty="0">
                <a:solidFill>
                  <a:srgbClr val="646464"/>
                </a:solidFill>
              </a:endParaRPr>
            </a:p>
            <a:p>
              <a:pPr algn="ctr" fontAlgn="base">
                <a:spcBef>
                  <a:spcPct val="0"/>
                </a:spcBef>
                <a:spcAft>
                  <a:spcPct val="0"/>
                </a:spcAft>
              </a:pPr>
              <a:endParaRPr lang="en-US" sz="1000" b="1" dirty="0">
                <a:solidFill>
                  <a:srgbClr val="646464"/>
                </a:solidFill>
              </a:endParaRPr>
            </a:p>
            <a:p>
              <a:pPr algn="ctr" fontAlgn="base">
                <a:spcBef>
                  <a:spcPct val="0"/>
                </a:spcBef>
                <a:spcAft>
                  <a:spcPct val="0"/>
                </a:spcAft>
              </a:pPr>
              <a:endParaRPr lang="en-US" sz="1000" b="1" dirty="0">
                <a:solidFill>
                  <a:srgbClr val="646464"/>
                </a:solidFill>
              </a:endParaRPr>
            </a:p>
            <a:p>
              <a:pPr algn="ctr" fontAlgn="base">
                <a:spcBef>
                  <a:spcPct val="0"/>
                </a:spcBef>
                <a:spcAft>
                  <a:spcPct val="0"/>
                </a:spcAft>
              </a:pPr>
              <a:endParaRPr lang="en-US" sz="1000" b="1" dirty="0">
                <a:solidFill>
                  <a:schemeClr val="bg1"/>
                </a:solidFill>
              </a:endParaRPr>
            </a:p>
            <a:p>
              <a:pPr algn="ctr" fontAlgn="base">
                <a:spcBef>
                  <a:spcPct val="0"/>
                </a:spcBef>
                <a:spcAft>
                  <a:spcPct val="0"/>
                </a:spcAft>
              </a:pPr>
              <a:r>
                <a:rPr lang="en-US" sz="1000" b="1" dirty="0">
                  <a:solidFill>
                    <a:schemeClr val="bg1"/>
                  </a:solidFill>
                </a:rPr>
                <a:t> </a:t>
              </a:r>
            </a:p>
            <a:p>
              <a:pPr algn="ctr" fontAlgn="base">
                <a:spcBef>
                  <a:spcPct val="0"/>
                </a:spcBef>
                <a:spcAft>
                  <a:spcPct val="0"/>
                </a:spcAft>
              </a:pPr>
              <a:r>
                <a:rPr lang="en-US" sz="1000" b="1" dirty="0">
                  <a:solidFill>
                    <a:schemeClr val="bg1"/>
                  </a:solidFill>
                </a:rPr>
                <a:t>Propose </a:t>
              </a:r>
            </a:p>
            <a:p>
              <a:pPr algn="ctr" fontAlgn="base">
                <a:spcBef>
                  <a:spcPct val="0"/>
                </a:spcBef>
                <a:spcAft>
                  <a:spcPct val="0"/>
                </a:spcAft>
              </a:pPr>
              <a:r>
                <a:rPr lang="en-US" sz="1000" b="1" dirty="0">
                  <a:solidFill>
                    <a:schemeClr val="bg1"/>
                  </a:solidFill>
                </a:rPr>
                <a:t>Objectives</a:t>
              </a:r>
            </a:p>
          </p:txBody>
        </p:sp>
        <p:sp>
          <p:nvSpPr>
            <p:cNvPr id="163" name="Freeform 15"/>
            <p:cNvSpPr>
              <a:spLocks/>
            </p:cNvSpPr>
            <p:nvPr/>
          </p:nvSpPr>
          <p:spPr bwMode="auto">
            <a:xfrm>
              <a:off x="4711" y="2235"/>
              <a:ext cx="440" cy="473"/>
            </a:xfrm>
            <a:custGeom>
              <a:avLst/>
              <a:gdLst/>
              <a:ahLst/>
              <a:cxnLst>
                <a:cxn ang="0">
                  <a:pos x="0" y="928"/>
                </a:cxn>
                <a:cxn ang="0">
                  <a:pos x="4" y="485"/>
                </a:cxn>
                <a:cxn ang="0">
                  <a:pos x="49" y="2"/>
                </a:cxn>
                <a:cxn ang="0">
                  <a:pos x="124" y="11"/>
                </a:cxn>
                <a:cxn ang="0">
                  <a:pos x="199" y="25"/>
                </a:cxn>
                <a:cxn ang="0">
                  <a:pos x="269" y="40"/>
                </a:cxn>
                <a:cxn ang="0">
                  <a:pos x="337" y="59"/>
                </a:cxn>
                <a:cxn ang="0">
                  <a:pos x="401" y="79"/>
                </a:cxn>
                <a:cxn ang="0">
                  <a:pos x="461" y="100"/>
                </a:cxn>
                <a:cxn ang="0">
                  <a:pos x="542" y="134"/>
                </a:cxn>
                <a:cxn ang="0">
                  <a:pos x="634" y="178"/>
                </a:cxn>
                <a:cxn ang="0">
                  <a:pos x="702" y="214"/>
                </a:cxn>
                <a:cxn ang="0">
                  <a:pos x="745" y="240"/>
                </a:cxn>
                <a:cxn ang="0">
                  <a:pos x="772" y="257"/>
                </a:cxn>
                <a:cxn ang="0">
                  <a:pos x="823" y="291"/>
                </a:cxn>
                <a:cxn ang="0">
                  <a:pos x="905" y="353"/>
                </a:cxn>
                <a:cxn ang="0">
                  <a:pos x="954" y="393"/>
                </a:cxn>
                <a:cxn ang="0">
                  <a:pos x="1008" y="440"/>
                </a:cxn>
                <a:cxn ang="0">
                  <a:pos x="1063" y="494"/>
                </a:cxn>
                <a:cxn ang="0">
                  <a:pos x="1120" y="554"/>
                </a:cxn>
                <a:cxn ang="0">
                  <a:pos x="1178" y="622"/>
                </a:cxn>
                <a:cxn ang="0">
                  <a:pos x="1234" y="695"/>
                </a:cxn>
                <a:cxn ang="0">
                  <a:pos x="1275" y="756"/>
                </a:cxn>
                <a:cxn ang="0">
                  <a:pos x="1316" y="820"/>
                </a:cxn>
                <a:cxn ang="0">
                  <a:pos x="1341" y="864"/>
                </a:cxn>
                <a:cxn ang="0">
                  <a:pos x="1377" y="933"/>
                </a:cxn>
                <a:cxn ang="0">
                  <a:pos x="1410" y="1007"/>
                </a:cxn>
                <a:cxn ang="0">
                  <a:pos x="1430" y="1058"/>
                </a:cxn>
                <a:cxn ang="0">
                  <a:pos x="1448" y="1110"/>
                </a:cxn>
                <a:cxn ang="0">
                  <a:pos x="1465" y="1165"/>
                </a:cxn>
                <a:cxn ang="0">
                  <a:pos x="1479" y="1162"/>
                </a:cxn>
                <a:cxn ang="0">
                  <a:pos x="1560" y="1136"/>
                </a:cxn>
                <a:cxn ang="0">
                  <a:pos x="1716" y="1083"/>
                </a:cxn>
                <a:cxn ang="0">
                  <a:pos x="1222" y="1889"/>
                </a:cxn>
                <a:cxn ang="0">
                  <a:pos x="563" y="1464"/>
                </a:cxn>
                <a:cxn ang="0">
                  <a:pos x="547" y="1419"/>
                </a:cxn>
                <a:cxn ang="0">
                  <a:pos x="525" y="1372"/>
                </a:cxn>
                <a:cxn ang="0">
                  <a:pos x="496" y="1313"/>
                </a:cxn>
                <a:cxn ang="0">
                  <a:pos x="467" y="1267"/>
                </a:cxn>
                <a:cxn ang="0">
                  <a:pos x="447" y="1236"/>
                </a:cxn>
                <a:cxn ang="0">
                  <a:pos x="423" y="1206"/>
                </a:cxn>
                <a:cxn ang="0">
                  <a:pos x="398" y="1177"/>
                </a:cxn>
                <a:cxn ang="0">
                  <a:pos x="370" y="1149"/>
                </a:cxn>
                <a:cxn ang="0">
                  <a:pos x="348" y="1131"/>
                </a:cxn>
                <a:cxn ang="0">
                  <a:pos x="325" y="1114"/>
                </a:cxn>
                <a:cxn ang="0">
                  <a:pos x="292" y="1094"/>
                </a:cxn>
                <a:cxn ang="0">
                  <a:pos x="248" y="1068"/>
                </a:cxn>
                <a:cxn ang="0">
                  <a:pos x="173" y="1032"/>
                </a:cxn>
                <a:cxn ang="0">
                  <a:pos x="123" y="1011"/>
                </a:cxn>
                <a:cxn ang="0">
                  <a:pos x="65" y="990"/>
                </a:cxn>
                <a:cxn ang="0">
                  <a:pos x="0" y="970"/>
                </a:cxn>
              </a:cxnLst>
              <a:rect l="0" t="0" r="r" b="b"/>
              <a:pathLst>
                <a:path w="1762" h="1889">
                  <a:moveTo>
                    <a:pt x="0" y="970"/>
                  </a:moveTo>
                  <a:lnTo>
                    <a:pt x="0" y="928"/>
                  </a:lnTo>
                  <a:lnTo>
                    <a:pt x="1" y="818"/>
                  </a:lnTo>
                  <a:lnTo>
                    <a:pt x="4" y="485"/>
                  </a:lnTo>
                  <a:lnTo>
                    <a:pt x="9" y="0"/>
                  </a:lnTo>
                  <a:lnTo>
                    <a:pt x="49" y="2"/>
                  </a:lnTo>
                  <a:lnTo>
                    <a:pt x="87" y="6"/>
                  </a:lnTo>
                  <a:lnTo>
                    <a:pt x="124" y="11"/>
                  </a:lnTo>
                  <a:lnTo>
                    <a:pt x="161" y="17"/>
                  </a:lnTo>
                  <a:lnTo>
                    <a:pt x="199" y="25"/>
                  </a:lnTo>
                  <a:lnTo>
                    <a:pt x="234" y="31"/>
                  </a:lnTo>
                  <a:lnTo>
                    <a:pt x="269" y="40"/>
                  </a:lnTo>
                  <a:lnTo>
                    <a:pt x="304" y="49"/>
                  </a:lnTo>
                  <a:lnTo>
                    <a:pt x="337" y="59"/>
                  </a:lnTo>
                  <a:lnTo>
                    <a:pt x="369" y="69"/>
                  </a:lnTo>
                  <a:lnTo>
                    <a:pt x="401" y="79"/>
                  </a:lnTo>
                  <a:lnTo>
                    <a:pt x="432" y="90"/>
                  </a:lnTo>
                  <a:lnTo>
                    <a:pt x="461" y="100"/>
                  </a:lnTo>
                  <a:lnTo>
                    <a:pt x="489" y="112"/>
                  </a:lnTo>
                  <a:lnTo>
                    <a:pt x="542" y="134"/>
                  </a:lnTo>
                  <a:lnTo>
                    <a:pt x="590" y="157"/>
                  </a:lnTo>
                  <a:lnTo>
                    <a:pt x="634" y="178"/>
                  </a:lnTo>
                  <a:lnTo>
                    <a:pt x="671" y="197"/>
                  </a:lnTo>
                  <a:lnTo>
                    <a:pt x="702" y="214"/>
                  </a:lnTo>
                  <a:lnTo>
                    <a:pt x="727" y="230"/>
                  </a:lnTo>
                  <a:lnTo>
                    <a:pt x="745" y="240"/>
                  </a:lnTo>
                  <a:lnTo>
                    <a:pt x="761" y="251"/>
                  </a:lnTo>
                  <a:lnTo>
                    <a:pt x="772" y="257"/>
                  </a:lnTo>
                  <a:lnTo>
                    <a:pt x="794" y="272"/>
                  </a:lnTo>
                  <a:lnTo>
                    <a:pt x="823" y="291"/>
                  </a:lnTo>
                  <a:lnTo>
                    <a:pt x="862" y="319"/>
                  </a:lnTo>
                  <a:lnTo>
                    <a:pt x="905" y="353"/>
                  </a:lnTo>
                  <a:lnTo>
                    <a:pt x="930" y="372"/>
                  </a:lnTo>
                  <a:lnTo>
                    <a:pt x="954" y="393"/>
                  </a:lnTo>
                  <a:lnTo>
                    <a:pt x="981" y="416"/>
                  </a:lnTo>
                  <a:lnTo>
                    <a:pt x="1008" y="440"/>
                  </a:lnTo>
                  <a:lnTo>
                    <a:pt x="1035" y="467"/>
                  </a:lnTo>
                  <a:lnTo>
                    <a:pt x="1063" y="494"/>
                  </a:lnTo>
                  <a:lnTo>
                    <a:pt x="1091" y="524"/>
                  </a:lnTo>
                  <a:lnTo>
                    <a:pt x="1120" y="554"/>
                  </a:lnTo>
                  <a:lnTo>
                    <a:pt x="1149" y="587"/>
                  </a:lnTo>
                  <a:lnTo>
                    <a:pt x="1178" y="622"/>
                  </a:lnTo>
                  <a:lnTo>
                    <a:pt x="1206" y="658"/>
                  </a:lnTo>
                  <a:lnTo>
                    <a:pt x="1234" y="695"/>
                  </a:lnTo>
                  <a:lnTo>
                    <a:pt x="1263" y="735"/>
                  </a:lnTo>
                  <a:lnTo>
                    <a:pt x="1275" y="756"/>
                  </a:lnTo>
                  <a:lnTo>
                    <a:pt x="1290" y="777"/>
                  </a:lnTo>
                  <a:lnTo>
                    <a:pt x="1316" y="820"/>
                  </a:lnTo>
                  <a:lnTo>
                    <a:pt x="1329" y="841"/>
                  </a:lnTo>
                  <a:lnTo>
                    <a:pt x="1341" y="864"/>
                  </a:lnTo>
                  <a:lnTo>
                    <a:pt x="1365" y="910"/>
                  </a:lnTo>
                  <a:lnTo>
                    <a:pt x="1377" y="933"/>
                  </a:lnTo>
                  <a:lnTo>
                    <a:pt x="1388" y="957"/>
                  </a:lnTo>
                  <a:lnTo>
                    <a:pt x="1410" y="1007"/>
                  </a:lnTo>
                  <a:lnTo>
                    <a:pt x="1420" y="1032"/>
                  </a:lnTo>
                  <a:lnTo>
                    <a:pt x="1430" y="1058"/>
                  </a:lnTo>
                  <a:lnTo>
                    <a:pt x="1439" y="1084"/>
                  </a:lnTo>
                  <a:lnTo>
                    <a:pt x="1448" y="1110"/>
                  </a:lnTo>
                  <a:lnTo>
                    <a:pt x="1457" y="1138"/>
                  </a:lnTo>
                  <a:lnTo>
                    <a:pt x="1465" y="1165"/>
                  </a:lnTo>
                  <a:lnTo>
                    <a:pt x="1469" y="1165"/>
                  </a:lnTo>
                  <a:lnTo>
                    <a:pt x="1479" y="1162"/>
                  </a:lnTo>
                  <a:lnTo>
                    <a:pt x="1512" y="1152"/>
                  </a:lnTo>
                  <a:lnTo>
                    <a:pt x="1560" y="1136"/>
                  </a:lnTo>
                  <a:lnTo>
                    <a:pt x="1615" y="1118"/>
                  </a:lnTo>
                  <a:lnTo>
                    <a:pt x="1716" y="1083"/>
                  </a:lnTo>
                  <a:lnTo>
                    <a:pt x="1762" y="1067"/>
                  </a:lnTo>
                  <a:lnTo>
                    <a:pt x="1222" y="1889"/>
                  </a:lnTo>
                  <a:lnTo>
                    <a:pt x="242" y="1570"/>
                  </a:lnTo>
                  <a:lnTo>
                    <a:pt x="563" y="1464"/>
                  </a:lnTo>
                  <a:lnTo>
                    <a:pt x="560" y="1451"/>
                  </a:lnTo>
                  <a:lnTo>
                    <a:pt x="547" y="1419"/>
                  </a:lnTo>
                  <a:lnTo>
                    <a:pt x="537" y="1396"/>
                  </a:lnTo>
                  <a:lnTo>
                    <a:pt x="525" y="1372"/>
                  </a:lnTo>
                  <a:lnTo>
                    <a:pt x="511" y="1343"/>
                  </a:lnTo>
                  <a:lnTo>
                    <a:pt x="496" y="1313"/>
                  </a:lnTo>
                  <a:lnTo>
                    <a:pt x="478" y="1283"/>
                  </a:lnTo>
                  <a:lnTo>
                    <a:pt x="467" y="1267"/>
                  </a:lnTo>
                  <a:lnTo>
                    <a:pt x="457" y="1251"/>
                  </a:lnTo>
                  <a:lnTo>
                    <a:pt x="447" y="1236"/>
                  </a:lnTo>
                  <a:lnTo>
                    <a:pt x="435" y="1220"/>
                  </a:lnTo>
                  <a:lnTo>
                    <a:pt x="423" y="1206"/>
                  </a:lnTo>
                  <a:lnTo>
                    <a:pt x="411" y="1191"/>
                  </a:lnTo>
                  <a:lnTo>
                    <a:pt x="398" y="1177"/>
                  </a:lnTo>
                  <a:lnTo>
                    <a:pt x="384" y="1162"/>
                  </a:lnTo>
                  <a:lnTo>
                    <a:pt x="370" y="1149"/>
                  </a:lnTo>
                  <a:lnTo>
                    <a:pt x="356" y="1136"/>
                  </a:lnTo>
                  <a:lnTo>
                    <a:pt x="348" y="1131"/>
                  </a:lnTo>
                  <a:lnTo>
                    <a:pt x="341" y="1124"/>
                  </a:lnTo>
                  <a:lnTo>
                    <a:pt x="325" y="1114"/>
                  </a:lnTo>
                  <a:lnTo>
                    <a:pt x="309" y="1104"/>
                  </a:lnTo>
                  <a:lnTo>
                    <a:pt x="292" y="1094"/>
                  </a:lnTo>
                  <a:lnTo>
                    <a:pt x="273" y="1081"/>
                  </a:lnTo>
                  <a:lnTo>
                    <a:pt x="248" y="1068"/>
                  </a:lnTo>
                  <a:lnTo>
                    <a:pt x="215" y="1051"/>
                  </a:lnTo>
                  <a:lnTo>
                    <a:pt x="173" y="1032"/>
                  </a:lnTo>
                  <a:lnTo>
                    <a:pt x="150" y="1021"/>
                  </a:lnTo>
                  <a:lnTo>
                    <a:pt x="123" y="1011"/>
                  </a:lnTo>
                  <a:lnTo>
                    <a:pt x="95" y="1000"/>
                  </a:lnTo>
                  <a:lnTo>
                    <a:pt x="65" y="990"/>
                  </a:lnTo>
                  <a:lnTo>
                    <a:pt x="33" y="979"/>
                  </a:lnTo>
                  <a:lnTo>
                    <a:pt x="0" y="970"/>
                  </a:lnTo>
                  <a:close/>
                </a:path>
              </a:pathLst>
            </a:custGeom>
            <a:solidFill>
              <a:schemeClr val="accent4">
                <a:lumMod val="75000"/>
              </a:schemeClr>
            </a:solidFill>
            <a:ln w="28575" cmpd="sng">
              <a:noFill/>
              <a:round/>
              <a:headEnd/>
              <a:tailEnd/>
            </a:ln>
          </p:spPr>
          <p:txBody>
            <a:bodyPr/>
            <a:lstStyle/>
            <a:p>
              <a:pPr algn="ctr" fontAlgn="base">
                <a:spcBef>
                  <a:spcPct val="0"/>
                </a:spcBef>
                <a:spcAft>
                  <a:spcPct val="0"/>
                </a:spcAft>
              </a:pPr>
              <a:endParaRPr lang="en-US" sz="1000" b="1" dirty="0">
                <a:solidFill>
                  <a:srgbClr val="646464"/>
                </a:solidFill>
              </a:endParaRPr>
            </a:p>
            <a:p>
              <a:pPr algn="ctr" fontAlgn="base">
                <a:spcBef>
                  <a:spcPct val="0"/>
                </a:spcBef>
                <a:spcAft>
                  <a:spcPct val="0"/>
                </a:spcAft>
              </a:pPr>
              <a:endParaRPr lang="en-US" sz="1000" b="1" dirty="0">
                <a:solidFill>
                  <a:srgbClr val="646464"/>
                </a:solidFill>
              </a:endParaRPr>
            </a:p>
            <a:p>
              <a:pPr algn="ctr" fontAlgn="base">
                <a:spcBef>
                  <a:spcPct val="0"/>
                </a:spcBef>
                <a:spcAft>
                  <a:spcPct val="0"/>
                </a:spcAft>
              </a:pPr>
              <a:endParaRPr lang="en-US" sz="1000" b="1" dirty="0">
                <a:solidFill>
                  <a:srgbClr val="646464"/>
                </a:solidFill>
              </a:endParaRPr>
            </a:p>
            <a:p>
              <a:pPr algn="ctr" fontAlgn="base">
                <a:spcBef>
                  <a:spcPct val="0"/>
                </a:spcBef>
                <a:spcAft>
                  <a:spcPct val="0"/>
                </a:spcAft>
              </a:pPr>
              <a:endParaRPr lang="en-US" sz="1000" b="1" dirty="0">
                <a:solidFill>
                  <a:schemeClr val="bg1"/>
                </a:solidFill>
              </a:endParaRPr>
            </a:p>
            <a:p>
              <a:pPr algn="ctr" fontAlgn="base">
                <a:spcBef>
                  <a:spcPct val="0"/>
                </a:spcBef>
                <a:spcAft>
                  <a:spcPct val="0"/>
                </a:spcAft>
              </a:pPr>
              <a:endParaRPr lang="en-US" sz="1000" b="1" dirty="0">
                <a:solidFill>
                  <a:schemeClr val="bg1"/>
                </a:solidFill>
              </a:endParaRPr>
            </a:p>
            <a:p>
              <a:pPr algn="ctr" fontAlgn="base">
                <a:spcBef>
                  <a:spcPct val="0"/>
                </a:spcBef>
                <a:spcAft>
                  <a:spcPct val="0"/>
                </a:spcAft>
              </a:pPr>
              <a:r>
                <a:rPr lang="en-US" sz="1000" b="1" dirty="0">
                  <a:solidFill>
                    <a:schemeClr val="bg1"/>
                  </a:solidFill>
                </a:rPr>
                <a:t>Propose </a:t>
              </a:r>
            </a:p>
            <a:p>
              <a:pPr algn="ctr" fontAlgn="base">
                <a:spcBef>
                  <a:spcPct val="0"/>
                </a:spcBef>
                <a:spcAft>
                  <a:spcPct val="0"/>
                </a:spcAft>
              </a:pPr>
              <a:r>
                <a:rPr lang="en-US" sz="1000" b="1" dirty="0">
                  <a:solidFill>
                    <a:schemeClr val="bg1"/>
                  </a:solidFill>
                </a:rPr>
                <a:t>Vision and </a:t>
              </a:r>
            </a:p>
            <a:p>
              <a:pPr algn="ctr" fontAlgn="base">
                <a:spcBef>
                  <a:spcPct val="0"/>
                </a:spcBef>
                <a:spcAft>
                  <a:spcPct val="0"/>
                </a:spcAft>
              </a:pPr>
              <a:r>
                <a:rPr lang="en-US" sz="1000" b="1" dirty="0">
                  <a:solidFill>
                    <a:schemeClr val="bg1"/>
                  </a:solidFill>
                </a:rPr>
                <a:t>Mission</a:t>
              </a:r>
            </a:p>
          </p:txBody>
        </p:sp>
        <p:sp>
          <p:nvSpPr>
            <p:cNvPr id="164" name="Freeform 16"/>
            <p:cNvSpPr>
              <a:spLocks/>
            </p:cNvSpPr>
            <p:nvPr/>
          </p:nvSpPr>
          <p:spPr bwMode="auto">
            <a:xfrm>
              <a:off x="4291" y="2156"/>
              <a:ext cx="534" cy="420"/>
            </a:xfrm>
            <a:custGeom>
              <a:avLst/>
              <a:gdLst/>
              <a:ahLst/>
              <a:cxnLst>
                <a:cxn ang="0">
                  <a:pos x="892" y="1678"/>
                </a:cxn>
                <a:cxn ang="0">
                  <a:pos x="761" y="1635"/>
                </a:cxn>
                <a:cxn ang="0">
                  <a:pos x="0" y="1373"/>
                </a:cxn>
                <a:cxn ang="0">
                  <a:pos x="31" y="1300"/>
                </a:cxn>
                <a:cxn ang="0">
                  <a:pos x="64" y="1231"/>
                </a:cxn>
                <a:cxn ang="0">
                  <a:pos x="100" y="1164"/>
                </a:cxn>
                <a:cxn ang="0">
                  <a:pos x="139" y="1102"/>
                </a:cxn>
                <a:cxn ang="0">
                  <a:pos x="177" y="1045"/>
                </a:cxn>
                <a:cxn ang="0">
                  <a:pos x="215" y="991"/>
                </a:cxn>
                <a:cxn ang="0">
                  <a:pos x="291" y="897"/>
                </a:cxn>
                <a:cxn ang="0">
                  <a:pos x="360" y="821"/>
                </a:cxn>
                <a:cxn ang="0">
                  <a:pos x="416" y="766"/>
                </a:cxn>
                <a:cxn ang="0">
                  <a:pos x="454" y="732"/>
                </a:cxn>
                <a:cxn ang="0">
                  <a:pos x="497" y="694"/>
                </a:cxn>
                <a:cxn ang="0">
                  <a:pos x="562" y="643"/>
                </a:cxn>
                <a:cxn ang="0">
                  <a:pos x="607" y="612"/>
                </a:cxn>
                <a:cxn ang="0">
                  <a:pos x="689" y="558"/>
                </a:cxn>
                <a:cxn ang="0">
                  <a:pos x="753" y="520"/>
                </a:cxn>
                <a:cxn ang="0">
                  <a:pos x="824" y="484"/>
                </a:cxn>
                <a:cxn ang="0">
                  <a:pos x="901" y="447"/>
                </a:cxn>
                <a:cxn ang="0">
                  <a:pos x="985" y="413"/>
                </a:cxn>
                <a:cxn ang="0">
                  <a:pos x="1029" y="397"/>
                </a:cxn>
                <a:cxn ang="0">
                  <a:pos x="1073" y="383"/>
                </a:cxn>
                <a:cxn ang="0">
                  <a:pos x="1168" y="357"/>
                </a:cxn>
                <a:cxn ang="0">
                  <a:pos x="1218" y="346"/>
                </a:cxn>
                <a:cxn ang="0">
                  <a:pos x="1294" y="332"/>
                </a:cxn>
                <a:cxn ang="0">
                  <a:pos x="1346" y="326"/>
                </a:cxn>
                <a:cxn ang="0">
                  <a:pos x="1399" y="322"/>
                </a:cxn>
                <a:cxn ang="0">
                  <a:pos x="1454" y="319"/>
                </a:cxn>
                <a:cxn ang="0">
                  <a:pos x="1509" y="318"/>
                </a:cxn>
                <a:cxn ang="0">
                  <a:pos x="1537" y="318"/>
                </a:cxn>
                <a:cxn ang="0">
                  <a:pos x="1538" y="305"/>
                </a:cxn>
                <a:cxn ang="0">
                  <a:pos x="1539" y="269"/>
                </a:cxn>
                <a:cxn ang="0">
                  <a:pos x="1539" y="159"/>
                </a:cxn>
                <a:cxn ang="0">
                  <a:pos x="2136" y="779"/>
                </a:cxn>
                <a:cxn ang="0">
                  <a:pos x="1537" y="1287"/>
                </a:cxn>
                <a:cxn ang="0">
                  <a:pos x="1490" y="1289"/>
                </a:cxn>
                <a:cxn ang="0">
                  <a:pos x="1438" y="1296"/>
                </a:cxn>
                <a:cxn ang="0">
                  <a:pos x="1376" y="1306"/>
                </a:cxn>
                <a:cxn ang="0">
                  <a:pos x="1341" y="1314"/>
                </a:cxn>
                <a:cxn ang="0">
                  <a:pos x="1287" y="1330"/>
                </a:cxn>
                <a:cxn ang="0">
                  <a:pos x="1253" y="1343"/>
                </a:cxn>
                <a:cxn ang="0">
                  <a:pos x="1217" y="1359"/>
                </a:cxn>
                <a:cxn ang="0">
                  <a:pos x="1184" y="1377"/>
                </a:cxn>
                <a:cxn ang="0">
                  <a:pos x="1151" y="1398"/>
                </a:cxn>
                <a:cxn ang="0">
                  <a:pos x="1136" y="1410"/>
                </a:cxn>
                <a:cxn ang="0">
                  <a:pos x="1116" y="1429"/>
                </a:cxn>
                <a:cxn ang="0">
                  <a:pos x="1090" y="1452"/>
                </a:cxn>
                <a:cxn ang="0">
                  <a:pos x="1044" y="1497"/>
                </a:cxn>
                <a:cxn ang="0">
                  <a:pos x="995" y="1552"/>
                </a:cxn>
                <a:cxn ang="0">
                  <a:pos x="959" y="1598"/>
                </a:cxn>
                <a:cxn ang="0">
                  <a:pos x="931" y="1637"/>
                </a:cxn>
                <a:cxn ang="0">
                  <a:pos x="902" y="1682"/>
                </a:cxn>
              </a:cxnLst>
              <a:rect l="0" t="0" r="r" b="b"/>
              <a:pathLst>
                <a:path w="2136" h="1682">
                  <a:moveTo>
                    <a:pt x="902" y="1682"/>
                  </a:moveTo>
                  <a:lnTo>
                    <a:pt x="892" y="1678"/>
                  </a:lnTo>
                  <a:lnTo>
                    <a:pt x="863" y="1669"/>
                  </a:lnTo>
                  <a:lnTo>
                    <a:pt x="761" y="1635"/>
                  </a:lnTo>
                  <a:lnTo>
                    <a:pt x="451" y="1527"/>
                  </a:lnTo>
                  <a:lnTo>
                    <a:pt x="0" y="1373"/>
                  </a:lnTo>
                  <a:lnTo>
                    <a:pt x="16" y="1335"/>
                  </a:lnTo>
                  <a:lnTo>
                    <a:pt x="31" y="1300"/>
                  </a:lnTo>
                  <a:lnTo>
                    <a:pt x="48" y="1265"/>
                  </a:lnTo>
                  <a:lnTo>
                    <a:pt x="64" y="1231"/>
                  </a:lnTo>
                  <a:lnTo>
                    <a:pt x="82" y="1197"/>
                  </a:lnTo>
                  <a:lnTo>
                    <a:pt x="100" y="1164"/>
                  </a:lnTo>
                  <a:lnTo>
                    <a:pt x="119" y="1132"/>
                  </a:lnTo>
                  <a:lnTo>
                    <a:pt x="139" y="1102"/>
                  </a:lnTo>
                  <a:lnTo>
                    <a:pt x="158" y="1074"/>
                  </a:lnTo>
                  <a:lnTo>
                    <a:pt x="177" y="1045"/>
                  </a:lnTo>
                  <a:lnTo>
                    <a:pt x="196" y="1017"/>
                  </a:lnTo>
                  <a:lnTo>
                    <a:pt x="215" y="991"/>
                  </a:lnTo>
                  <a:lnTo>
                    <a:pt x="254" y="942"/>
                  </a:lnTo>
                  <a:lnTo>
                    <a:pt x="291" y="897"/>
                  </a:lnTo>
                  <a:lnTo>
                    <a:pt x="327" y="857"/>
                  </a:lnTo>
                  <a:lnTo>
                    <a:pt x="360" y="821"/>
                  </a:lnTo>
                  <a:lnTo>
                    <a:pt x="390" y="791"/>
                  </a:lnTo>
                  <a:lnTo>
                    <a:pt x="416" y="766"/>
                  </a:lnTo>
                  <a:lnTo>
                    <a:pt x="437" y="747"/>
                  </a:lnTo>
                  <a:lnTo>
                    <a:pt x="454" y="732"/>
                  </a:lnTo>
                  <a:lnTo>
                    <a:pt x="468" y="721"/>
                  </a:lnTo>
                  <a:lnTo>
                    <a:pt x="497" y="694"/>
                  </a:lnTo>
                  <a:lnTo>
                    <a:pt x="525" y="672"/>
                  </a:lnTo>
                  <a:lnTo>
                    <a:pt x="562" y="643"/>
                  </a:lnTo>
                  <a:lnTo>
                    <a:pt x="583" y="628"/>
                  </a:lnTo>
                  <a:lnTo>
                    <a:pt x="607" y="612"/>
                  </a:lnTo>
                  <a:lnTo>
                    <a:pt x="660" y="577"/>
                  </a:lnTo>
                  <a:lnTo>
                    <a:pt x="689" y="558"/>
                  </a:lnTo>
                  <a:lnTo>
                    <a:pt x="720" y="540"/>
                  </a:lnTo>
                  <a:lnTo>
                    <a:pt x="753" y="520"/>
                  </a:lnTo>
                  <a:lnTo>
                    <a:pt x="788" y="502"/>
                  </a:lnTo>
                  <a:lnTo>
                    <a:pt x="824" y="484"/>
                  </a:lnTo>
                  <a:lnTo>
                    <a:pt x="862" y="466"/>
                  </a:lnTo>
                  <a:lnTo>
                    <a:pt x="901" y="447"/>
                  </a:lnTo>
                  <a:lnTo>
                    <a:pt x="941" y="430"/>
                  </a:lnTo>
                  <a:lnTo>
                    <a:pt x="985" y="413"/>
                  </a:lnTo>
                  <a:lnTo>
                    <a:pt x="1007" y="405"/>
                  </a:lnTo>
                  <a:lnTo>
                    <a:pt x="1029" y="397"/>
                  </a:lnTo>
                  <a:lnTo>
                    <a:pt x="1050" y="390"/>
                  </a:lnTo>
                  <a:lnTo>
                    <a:pt x="1073" y="383"/>
                  </a:lnTo>
                  <a:lnTo>
                    <a:pt x="1121" y="369"/>
                  </a:lnTo>
                  <a:lnTo>
                    <a:pt x="1168" y="357"/>
                  </a:lnTo>
                  <a:lnTo>
                    <a:pt x="1192" y="352"/>
                  </a:lnTo>
                  <a:lnTo>
                    <a:pt x="1218" y="346"/>
                  </a:lnTo>
                  <a:lnTo>
                    <a:pt x="1268" y="337"/>
                  </a:lnTo>
                  <a:lnTo>
                    <a:pt x="1294" y="332"/>
                  </a:lnTo>
                  <a:lnTo>
                    <a:pt x="1319" y="329"/>
                  </a:lnTo>
                  <a:lnTo>
                    <a:pt x="1346" y="326"/>
                  </a:lnTo>
                  <a:lnTo>
                    <a:pt x="1372" y="323"/>
                  </a:lnTo>
                  <a:lnTo>
                    <a:pt x="1399" y="322"/>
                  </a:lnTo>
                  <a:lnTo>
                    <a:pt x="1426" y="319"/>
                  </a:lnTo>
                  <a:lnTo>
                    <a:pt x="1454" y="319"/>
                  </a:lnTo>
                  <a:lnTo>
                    <a:pt x="1481" y="318"/>
                  </a:lnTo>
                  <a:lnTo>
                    <a:pt x="1509" y="318"/>
                  </a:lnTo>
                  <a:lnTo>
                    <a:pt x="1537" y="319"/>
                  </a:lnTo>
                  <a:lnTo>
                    <a:pt x="1537" y="318"/>
                  </a:lnTo>
                  <a:lnTo>
                    <a:pt x="1538" y="315"/>
                  </a:lnTo>
                  <a:lnTo>
                    <a:pt x="1538" y="305"/>
                  </a:lnTo>
                  <a:lnTo>
                    <a:pt x="1539" y="289"/>
                  </a:lnTo>
                  <a:lnTo>
                    <a:pt x="1539" y="269"/>
                  </a:lnTo>
                  <a:lnTo>
                    <a:pt x="1539" y="218"/>
                  </a:lnTo>
                  <a:lnTo>
                    <a:pt x="1539" y="159"/>
                  </a:lnTo>
                  <a:lnTo>
                    <a:pt x="1537" y="0"/>
                  </a:lnTo>
                  <a:lnTo>
                    <a:pt x="2136" y="779"/>
                  </a:lnTo>
                  <a:lnTo>
                    <a:pt x="1537" y="1632"/>
                  </a:lnTo>
                  <a:lnTo>
                    <a:pt x="1537" y="1287"/>
                  </a:lnTo>
                  <a:lnTo>
                    <a:pt x="1524" y="1287"/>
                  </a:lnTo>
                  <a:lnTo>
                    <a:pt x="1490" y="1289"/>
                  </a:lnTo>
                  <a:lnTo>
                    <a:pt x="1465" y="1292"/>
                  </a:lnTo>
                  <a:lnTo>
                    <a:pt x="1438" y="1296"/>
                  </a:lnTo>
                  <a:lnTo>
                    <a:pt x="1408" y="1300"/>
                  </a:lnTo>
                  <a:lnTo>
                    <a:pt x="1376" y="1306"/>
                  </a:lnTo>
                  <a:lnTo>
                    <a:pt x="1358" y="1310"/>
                  </a:lnTo>
                  <a:lnTo>
                    <a:pt x="1341" y="1314"/>
                  </a:lnTo>
                  <a:lnTo>
                    <a:pt x="1305" y="1325"/>
                  </a:lnTo>
                  <a:lnTo>
                    <a:pt x="1287" y="1330"/>
                  </a:lnTo>
                  <a:lnTo>
                    <a:pt x="1269" y="1336"/>
                  </a:lnTo>
                  <a:lnTo>
                    <a:pt x="1253" y="1343"/>
                  </a:lnTo>
                  <a:lnTo>
                    <a:pt x="1235" y="1351"/>
                  </a:lnTo>
                  <a:lnTo>
                    <a:pt x="1217" y="1359"/>
                  </a:lnTo>
                  <a:lnTo>
                    <a:pt x="1200" y="1368"/>
                  </a:lnTo>
                  <a:lnTo>
                    <a:pt x="1184" y="1377"/>
                  </a:lnTo>
                  <a:lnTo>
                    <a:pt x="1167" y="1387"/>
                  </a:lnTo>
                  <a:lnTo>
                    <a:pt x="1151" y="1398"/>
                  </a:lnTo>
                  <a:lnTo>
                    <a:pt x="1144" y="1405"/>
                  </a:lnTo>
                  <a:lnTo>
                    <a:pt x="1136" y="1410"/>
                  </a:lnTo>
                  <a:lnTo>
                    <a:pt x="1122" y="1423"/>
                  </a:lnTo>
                  <a:lnTo>
                    <a:pt x="1116" y="1429"/>
                  </a:lnTo>
                  <a:lnTo>
                    <a:pt x="1108" y="1436"/>
                  </a:lnTo>
                  <a:lnTo>
                    <a:pt x="1090" y="1452"/>
                  </a:lnTo>
                  <a:lnTo>
                    <a:pt x="1070" y="1471"/>
                  </a:lnTo>
                  <a:lnTo>
                    <a:pt x="1044" y="1497"/>
                  </a:lnTo>
                  <a:lnTo>
                    <a:pt x="1012" y="1533"/>
                  </a:lnTo>
                  <a:lnTo>
                    <a:pt x="995" y="1552"/>
                  </a:lnTo>
                  <a:lnTo>
                    <a:pt x="977" y="1575"/>
                  </a:lnTo>
                  <a:lnTo>
                    <a:pt x="959" y="1598"/>
                  </a:lnTo>
                  <a:lnTo>
                    <a:pt x="940" y="1624"/>
                  </a:lnTo>
                  <a:lnTo>
                    <a:pt x="931" y="1637"/>
                  </a:lnTo>
                  <a:lnTo>
                    <a:pt x="921" y="1652"/>
                  </a:lnTo>
                  <a:lnTo>
                    <a:pt x="902" y="1682"/>
                  </a:lnTo>
                  <a:close/>
                </a:path>
              </a:pathLst>
            </a:custGeom>
            <a:solidFill>
              <a:schemeClr val="tx2">
                <a:lumMod val="90000"/>
                <a:lumOff val="10000"/>
              </a:schemeClr>
            </a:solidFill>
            <a:ln w="28575" cmpd="sng">
              <a:noFill/>
              <a:round/>
              <a:headEnd/>
              <a:tailEnd/>
            </a:ln>
          </p:spPr>
          <p:txBody>
            <a:bodyPr/>
            <a:lstStyle/>
            <a:p>
              <a:pPr algn="ctr" fontAlgn="base">
                <a:spcBef>
                  <a:spcPct val="0"/>
                </a:spcBef>
                <a:spcAft>
                  <a:spcPct val="0"/>
                </a:spcAft>
              </a:pPr>
              <a:endParaRPr lang="en-US" sz="1000" b="1" dirty="0">
                <a:solidFill>
                  <a:srgbClr val="646464"/>
                </a:solidFill>
              </a:endParaRPr>
            </a:p>
            <a:p>
              <a:pPr algn="ctr" fontAlgn="base">
                <a:spcBef>
                  <a:spcPct val="0"/>
                </a:spcBef>
                <a:spcAft>
                  <a:spcPct val="0"/>
                </a:spcAft>
              </a:pPr>
              <a:endParaRPr lang="en-US" sz="1000" b="1" dirty="0">
                <a:solidFill>
                  <a:srgbClr val="646464"/>
                </a:solidFill>
              </a:endParaRPr>
            </a:p>
            <a:p>
              <a:pPr algn="ctr" fontAlgn="base">
                <a:spcBef>
                  <a:spcPct val="0"/>
                </a:spcBef>
                <a:spcAft>
                  <a:spcPct val="0"/>
                </a:spcAft>
              </a:pPr>
              <a:endParaRPr lang="en-US" sz="1000" b="1" dirty="0">
                <a:solidFill>
                  <a:srgbClr val="646464"/>
                </a:solidFill>
              </a:endParaRPr>
            </a:p>
            <a:p>
              <a:pPr algn="ctr" fontAlgn="base">
                <a:spcBef>
                  <a:spcPct val="0"/>
                </a:spcBef>
                <a:spcAft>
                  <a:spcPct val="0"/>
                </a:spcAft>
              </a:pPr>
              <a:endParaRPr lang="en-US" sz="1000" b="1" dirty="0">
                <a:solidFill>
                  <a:schemeClr val="bg1"/>
                </a:solidFill>
              </a:endParaRPr>
            </a:p>
            <a:p>
              <a:pPr algn="ctr" fontAlgn="base">
                <a:spcBef>
                  <a:spcPct val="0"/>
                </a:spcBef>
                <a:spcAft>
                  <a:spcPct val="0"/>
                </a:spcAft>
              </a:pPr>
              <a:r>
                <a:rPr lang="en-US" sz="1000" b="1" dirty="0">
                  <a:solidFill>
                    <a:schemeClr val="bg1"/>
                  </a:solidFill>
                </a:rPr>
                <a:t>Formulate </a:t>
              </a:r>
            </a:p>
            <a:p>
              <a:pPr algn="ctr" fontAlgn="base">
                <a:spcBef>
                  <a:spcPct val="0"/>
                </a:spcBef>
                <a:spcAft>
                  <a:spcPct val="0"/>
                </a:spcAft>
              </a:pPr>
              <a:r>
                <a:rPr lang="en-US" sz="1000" b="1" dirty="0">
                  <a:solidFill>
                    <a:schemeClr val="bg1"/>
                  </a:solidFill>
                </a:rPr>
                <a:t>Strategy</a:t>
              </a:r>
            </a:p>
          </p:txBody>
        </p:sp>
        <p:sp>
          <p:nvSpPr>
            <p:cNvPr id="165" name="Freeform 17"/>
            <p:cNvSpPr>
              <a:spLocks/>
            </p:cNvSpPr>
            <p:nvPr/>
          </p:nvSpPr>
          <p:spPr bwMode="auto">
            <a:xfrm>
              <a:off x="4206" y="2422"/>
              <a:ext cx="378" cy="542"/>
            </a:xfrm>
            <a:custGeom>
              <a:avLst/>
              <a:gdLst/>
              <a:ahLst/>
              <a:cxnLst>
                <a:cxn ang="0">
                  <a:pos x="1292" y="1418"/>
                </a:cxn>
                <a:cxn ang="0">
                  <a:pos x="1202" y="1447"/>
                </a:cxn>
                <a:cxn ang="0">
                  <a:pos x="677" y="1614"/>
                </a:cxn>
                <a:cxn ang="0">
                  <a:pos x="684" y="1892"/>
                </a:cxn>
                <a:cxn ang="0">
                  <a:pos x="686" y="2082"/>
                </a:cxn>
                <a:cxn ang="0">
                  <a:pos x="686" y="2161"/>
                </a:cxn>
                <a:cxn ang="0">
                  <a:pos x="686" y="2166"/>
                </a:cxn>
                <a:cxn ang="0">
                  <a:pos x="640" y="2119"/>
                </a:cxn>
                <a:cxn ang="0">
                  <a:pos x="599" y="2071"/>
                </a:cxn>
                <a:cxn ang="0">
                  <a:pos x="561" y="2022"/>
                </a:cxn>
                <a:cxn ang="0">
                  <a:pos x="508" y="1949"/>
                </a:cxn>
                <a:cxn ang="0">
                  <a:pos x="478" y="1902"/>
                </a:cxn>
                <a:cxn ang="0">
                  <a:pos x="438" y="1834"/>
                </a:cxn>
                <a:cxn ang="0">
                  <a:pos x="393" y="1752"/>
                </a:cxn>
                <a:cxn ang="0">
                  <a:pos x="361" y="1684"/>
                </a:cxn>
                <a:cxn ang="0">
                  <a:pos x="334" y="1617"/>
                </a:cxn>
                <a:cxn ang="0">
                  <a:pos x="325" y="1593"/>
                </a:cxn>
                <a:cxn ang="0">
                  <a:pos x="305" y="1540"/>
                </a:cxn>
                <a:cxn ang="0">
                  <a:pos x="274" y="1443"/>
                </a:cxn>
                <a:cxn ang="0">
                  <a:pos x="259" y="1382"/>
                </a:cxn>
                <a:cxn ang="0">
                  <a:pos x="242" y="1310"/>
                </a:cxn>
                <a:cxn ang="0">
                  <a:pos x="232" y="1252"/>
                </a:cxn>
                <a:cxn ang="0">
                  <a:pos x="222" y="1189"/>
                </a:cxn>
                <a:cxn ang="0">
                  <a:pos x="213" y="1102"/>
                </a:cxn>
                <a:cxn ang="0">
                  <a:pos x="206" y="1007"/>
                </a:cxn>
                <a:cxn ang="0">
                  <a:pos x="205" y="959"/>
                </a:cxn>
                <a:cxn ang="0">
                  <a:pos x="207" y="858"/>
                </a:cxn>
                <a:cxn ang="0">
                  <a:pos x="216" y="755"/>
                </a:cxn>
                <a:cxn ang="0">
                  <a:pos x="234" y="648"/>
                </a:cxn>
                <a:cxn ang="0">
                  <a:pos x="246" y="594"/>
                </a:cxn>
                <a:cxn ang="0">
                  <a:pos x="260" y="539"/>
                </a:cxn>
                <a:cxn ang="0">
                  <a:pos x="277" y="484"/>
                </a:cxn>
                <a:cxn ang="0">
                  <a:pos x="295" y="429"/>
                </a:cxn>
                <a:cxn ang="0">
                  <a:pos x="283" y="423"/>
                </a:cxn>
                <a:cxn ang="0">
                  <a:pos x="204" y="394"/>
                </a:cxn>
                <a:cxn ang="0">
                  <a:pos x="46" y="341"/>
                </a:cxn>
                <a:cxn ang="0">
                  <a:pos x="917" y="0"/>
                </a:cxn>
                <a:cxn ang="0">
                  <a:pos x="1192" y="745"/>
                </a:cxn>
                <a:cxn ang="0">
                  <a:pos x="1179" y="796"/>
                </a:cxn>
                <a:cxn ang="0">
                  <a:pos x="1169" y="852"/>
                </a:cxn>
                <a:cxn ang="0">
                  <a:pos x="1160" y="921"/>
                </a:cxn>
                <a:cxn ang="0">
                  <a:pos x="1158" y="959"/>
                </a:cxn>
                <a:cxn ang="0">
                  <a:pos x="1156" y="1000"/>
                </a:cxn>
                <a:cxn ang="0">
                  <a:pos x="1156" y="1040"/>
                </a:cxn>
                <a:cxn ang="0">
                  <a:pos x="1161" y="1102"/>
                </a:cxn>
                <a:cxn ang="0">
                  <a:pos x="1169" y="1142"/>
                </a:cxn>
                <a:cxn ang="0">
                  <a:pos x="1177" y="1171"/>
                </a:cxn>
                <a:cxn ang="0">
                  <a:pos x="1186" y="1200"/>
                </a:cxn>
                <a:cxn ang="0">
                  <a:pos x="1193" y="1218"/>
                </a:cxn>
                <a:cxn ang="0">
                  <a:pos x="1209" y="1252"/>
                </a:cxn>
                <a:cxn ang="0">
                  <a:pos x="1242" y="1323"/>
                </a:cxn>
                <a:cxn ang="0">
                  <a:pos x="1259" y="1353"/>
                </a:cxn>
                <a:cxn ang="0">
                  <a:pos x="1278" y="1384"/>
                </a:cxn>
                <a:cxn ang="0">
                  <a:pos x="1300" y="1416"/>
                </a:cxn>
              </a:cxnLst>
              <a:rect l="0" t="0" r="r" b="b"/>
              <a:pathLst>
                <a:path w="1511" h="2166">
                  <a:moveTo>
                    <a:pt x="1300" y="1416"/>
                  </a:moveTo>
                  <a:lnTo>
                    <a:pt x="1292" y="1418"/>
                  </a:lnTo>
                  <a:lnTo>
                    <a:pt x="1273" y="1425"/>
                  </a:lnTo>
                  <a:lnTo>
                    <a:pt x="1202" y="1447"/>
                  </a:lnTo>
                  <a:lnTo>
                    <a:pt x="989" y="1515"/>
                  </a:lnTo>
                  <a:lnTo>
                    <a:pt x="677" y="1614"/>
                  </a:lnTo>
                  <a:lnTo>
                    <a:pt x="679" y="1701"/>
                  </a:lnTo>
                  <a:lnTo>
                    <a:pt x="684" y="1892"/>
                  </a:lnTo>
                  <a:lnTo>
                    <a:pt x="685" y="1994"/>
                  </a:lnTo>
                  <a:lnTo>
                    <a:pt x="686" y="2082"/>
                  </a:lnTo>
                  <a:lnTo>
                    <a:pt x="688" y="2144"/>
                  </a:lnTo>
                  <a:lnTo>
                    <a:pt x="686" y="2161"/>
                  </a:lnTo>
                  <a:lnTo>
                    <a:pt x="686" y="2165"/>
                  </a:lnTo>
                  <a:lnTo>
                    <a:pt x="686" y="2166"/>
                  </a:lnTo>
                  <a:lnTo>
                    <a:pt x="663" y="2143"/>
                  </a:lnTo>
                  <a:lnTo>
                    <a:pt x="640" y="2119"/>
                  </a:lnTo>
                  <a:lnTo>
                    <a:pt x="620" y="2096"/>
                  </a:lnTo>
                  <a:lnTo>
                    <a:pt x="599" y="2071"/>
                  </a:lnTo>
                  <a:lnTo>
                    <a:pt x="580" y="2046"/>
                  </a:lnTo>
                  <a:lnTo>
                    <a:pt x="561" y="2022"/>
                  </a:lnTo>
                  <a:lnTo>
                    <a:pt x="525" y="1974"/>
                  </a:lnTo>
                  <a:lnTo>
                    <a:pt x="508" y="1949"/>
                  </a:lnTo>
                  <a:lnTo>
                    <a:pt x="493" y="1926"/>
                  </a:lnTo>
                  <a:lnTo>
                    <a:pt x="478" y="1902"/>
                  </a:lnTo>
                  <a:lnTo>
                    <a:pt x="464" y="1878"/>
                  </a:lnTo>
                  <a:lnTo>
                    <a:pt x="438" y="1834"/>
                  </a:lnTo>
                  <a:lnTo>
                    <a:pt x="414" y="1791"/>
                  </a:lnTo>
                  <a:lnTo>
                    <a:pt x="393" y="1752"/>
                  </a:lnTo>
                  <a:lnTo>
                    <a:pt x="376" y="1715"/>
                  </a:lnTo>
                  <a:lnTo>
                    <a:pt x="361" y="1684"/>
                  </a:lnTo>
                  <a:lnTo>
                    <a:pt x="350" y="1656"/>
                  </a:lnTo>
                  <a:lnTo>
                    <a:pt x="334" y="1617"/>
                  </a:lnTo>
                  <a:lnTo>
                    <a:pt x="329" y="1603"/>
                  </a:lnTo>
                  <a:lnTo>
                    <a:pt x="325" y="1593"/>
                  </a:lnTo>
                  <a:lnTo>
                    <a:pt x="316" y="1572"/>
                  </a:lnTo>
                  <a:lnTo>
                    <a:pt x="305" y="1540"/>
                  </a:lnTo>
                  <a:lnTo>
                    <a:pt x="291" y="1497"/>
                  </a:lnTo>
                  <a:lnTo>
                    <a:pt x="274" y="1443"/>
                  </a:lnTo>
                  <a:lnTo>
                    <a:pt x="266" y="1413"/>
                  </a:lnTo>
                  <a:lnTo>
                    <a:pt x="259" y="1382"/>
                  </a:lnTo>
                  <a:lnTo>
                    <a:pt x="250" y="1346"/>
                  </a:lnTo>
                  <a:lnTo>
                    <a:pt x="242" y="1310"/>
                  </a:lnTo>
                  <a:lnTo>
                    <a:pt x="236" y="1272"/>
                  </a:lnTo>
                  <a:lnTo>
                    <a:pt x="232" y="1252"/>
                  </a:lnTo>
                  <a:lnTo>
                    <a:pt x="228" y="1231"/>
                  </a:lnTo>
                  <a:lnTo>
                    <a:pt x="222" y="1189"/>
                  </a:lnTo>
                  <a:lnTo>
                    <a:pt x="216" y="1146"/>
                  </a:lnTo>
                  <a:lnTo>
                    <a:pt x="213" y="1102"/>
                  </a:lnTo>
                  <a:lnTo>
                    <a:pt x="209" y="1056"/>
                  </a:lnTo>
                  <a:lnTo>
                    <a:pt x="206" y="1007"/>
                  </a:lnTo>
                  <a:lnTo>
                    <a:pt x="206" y="984"/>
                  </a:lnTo>
                  <a:lnTo>
                    <a:pt x="205" y="959"/>
                  </a:lnTo>
                  <a:lnTo>
                    <a:pt x="206" y="909"/>
                  </a:lnTo>
                  <a:lnTo>
                    <a:pt x="207" y="858"/>
                  </a:lnTo>
                  <a:lnTo>
                    <a:pt x="211" y="807"/>
                  </a:lnTo>
                  <a:lnTo>
                    <a:pt x="216" y="755"/>
                  </a:lnTo>
                  <a:lnTo>
                    <a:pt x="224" y="701"/>
                  </a:lnTo>
                  <a:lnTo>
                    <a:pt x="234" y="648"/>
                  </a:lnTo>
                  <a:lnTo>
                    <a:pt x="239" y="620"/>
                  </a:lnTo>
                  <a:lnTo>
                    <a:pt x="246" y="594"/>
                  </a:lnTo>
                  <a:lnTo>
                    <a:pt x="252" y="567"/>
                  </a:lnTo>
                  <a:lnTo>
                    <a:pt x="260" y="539"/>
                  </a:lnTo>
                  <a:lnTo>
                    <a:pt x="268" y="512"/>
                  </a:lnTo>
                  <a:lnTo>
                    <a:pt x="277" y="484"/>
                  </a:lnTo>
                  <a:lnTo>
                    <a:pt x="296" y="429"/>
                  </a:lnTo>
                  <a:lnTo>
                    <a:pt x="295" y="429"/>
                  </a:lnTo>
                  <a:lnTo>
                    <a:pt x="293" y="427"/>
                  </a:lnTo>
                  <a:lnTo>
                    <a:pt x="283" y="423"/>
                  </a:lnTo>
                  <a:lnTo>
                    <a:pt x="251" y="411"/>
                  </a:lnTo>
                  <a:lnTo>
                    <a:pt x="204" y="394"/>
                  </a:lnTo>
                  <a:lnTo>
                    <a:pt x="149" y="376"/>
                  </a:lnTo>
                  <a:lnTo>
                    <a:pt x="46" y="341"/>
                  </a:lnTo>
                  <a:lnTo>
                    <a:pt x="0" y="326"/>
                  </a:lnTo>
                  <a:lnTo>
                    <a:pt x="917" y="0"/>
                  </a:lnTo>
                  <a:lnTo>
                    <a:pt x="1511" y="857"/>
                  </a:lnTo>
                  <a:lnTo>
                    <a:pt x="1192" y="745"/>
                  </a:lnTo>
                  <a:lnTo>
                    <a:pt x="1188" y="758"/>
                  </a:lnTo>
                  <a:lnTo>
                    <a:pt x="1179" y="796"/>
                  </a:lnTo>
                  <a:lnTo>
                    <a:pt x="1174" y="822"/>
                  </a:lnTo>
                  <a:lnTo>
                    <a:pt x="1169" y="852"/>
                  </a:lnTo>
                  <a:lnTo>
                    <a:pt x="1164" y="885"/>
                  </a:lnTo>
                  <a:lnTo>
                    <a:pt x="1160" y="921"/>
                  </a:lnTo>
                  <a:lnTo>
                    <a:pt x="1159" y="939"/>
                  </a:lnTo>
                  <a:lnTo>
                    <a:pt x="1158" y="959"/>
                  </a:lnTo>
                  <a:lnTo>
                    <a:pt x="1156" y="979"/>
                  </a:lnTo>
                  <a:lnTo>
                    <a:pt x="1156" y="1000"/>
                  </a:lnTo>
                  <a:lnTo>
                    <a:pt x="1156" y="1019"/>
                  </a:lnTo>
                  <a:lnTo>
                    <a:pt x="1156" y="1040"/>
                  </a:lnTo>
                  <a:lnTo>
                    <a:pt x="1159" y="1081"/>
                  </a:lnTo>
                  <a:lnTo>
                    <a:pt x="1161" y="1102"/>
                  </a:lnTo>
                  <a:lnTo>
                    <a:pt x="1165" y="1123"/>
                  </a:lnTo>
                  <a:lnTo>
                    <a:pt x="1169" y="1142"/>
                  </a:lnTo>
                  <a:lnTo>
                    <a:pt x="1174" y="1162"/>
                  </a:lnTo>
                  <a:lnTo>
                    <a:pt x="1177" y="1171"/>
                  </a:lnTo>
                  <a:lnTo>
                    <a:pt x="1179" y="1181"/>
                  </a:lnTo>
                  <a:lnTo>
                    <a:pt x="1186" y="1200"/>
                  </a:lnTo>
                  <a:lnTo>
                    <a:pt x="1190" y="1209"/>
                  </a:lnTo>
                  <a:lnTo>
                    <a:pt x="1193" y="1218"/>
                  </a:lnTo>
                  <a:lnTo>
                    <a:pt x="1202" y="1236"/>
                  </a:lnTo>
                  <a:lnTo>
                    <a:pt x="1209" y="1252"/>
                  </a:lnTo>
                  <a:lnTo>
                    <a:pt x="1229" y="1295"/>
                  </a:lnTo>
                  <a:lnTo>
                    <a:pt x="1242" y="1323"/>
                  </a:lnTo>
                  <a:lnTo>
                    <a:pt x="1251" y="1338"/>
                  </a:lnTo>
                  <a:lnTo>
                    <a:pt x="1259" y="1353"/>
                  </a:lnTo>
                  <a:lnTo>
                    <a:pt x="1269" y="1368"/>
                  </a:lnTo>
                  <a:lnTo>
                    <a:pt x="1278" y="1384"/>
                  </a:lnTo>
                  <a:lnTo>
                    <a:pt x="1288" y="1400"/>
                  </a:lnTo>
                  <a:lnTo>
                    <a:pt x="1300" y="1416"/>
                  </a:lnTo>
                  <a:close/>
                </a:path>
              </a:pathLst>
            </a:custGeom>
            <a:solidFill>
              <a:srgbClr val="C0C0C0"/>
            </a:solidFill>
            <a:ln w="28575" cmpd="sng">
              <a:noFill/>
              <a:round/>
              <a:headEnd/>
              <a:tailEnd/>
            </a:ln>
          </p:spPr>
          <p:txBody>
            <a:bodyPr/>
            <a:lstStyle/>
            <a:p>
              <a:pPr algn="ctr" fontAlgn="base">
                <a:spcBef>
                  <a:spcPct val="0"/>
                </a:spcBef>
                <a:spcAft>
                  <a:spcPct val="0"/>
                </a:spcAft>
              </a:pPr>
              <a:endParaRPr lang="en-US" sz="1000" b="1" dirty="0">
                <a:solidFill>
                  <a:srgbClr val="646464"/>
                </a:solidFill>
              </a:endParaRPr>
            </a:p>
            <a:p>
              <a:pPr algn="ctr" fontAlgn="base">
                <a:spcBef>
                  <a:spcPct val="0"/>
                </a:spcBef>
                <a:spcAft>
                  <a:spcPct val="0"/>
                </a:spcAft>
              </a:pPr>
              <a:endParaRPr lang="en-US" sz="1000" b="1" dirty="0">
                <a:solidFill>
                  <a:srgbClr val="646464"/>
                </a:solidFill>
              </a:endParaRPr>
            </a:p>
            <a:p>
              <a:pPr algn="ctr" fontAlgn="base">
                <a:spcBef>
                  <a:spcPct val="0"/>
                </a:spcBef>
                <a:spcAft>
                  <a:spcPct val="0"/>
                </a:spcAft>
              </a:pPr>
              <a:endParaRPr lang="en-US" sz="1000" b="1" dirty="0">
                <a:solidFill>
                  <a:srgbClr val="646464"/>
                </a:solidFill>
              </a:endParaRPr>
            </a:p>
            <a:p>
              <a:pPr algn="ctr" fontAlgn="base">
                <a:spcBef>
                  <a:spcPct val="0"/>
                </a:spcBef>
                <a:spcAft>
                  <a:spcPct val="0"/>
                </a:spcAft>
              </a:pPr>
              <a:r>
                <a:rPr lang="en-US" sz="1000" b="1" dirty="0">
                  <a:solidFill>
                    <a:schemeClr val="bg1"/>
                  </a:solidFill>
                </a:rPr>
                <a:t> Examine </a:t>
              </a:r>
            </a:p>
            <a:p>
              <a:pPr algn="ctr" fontAlgn="base">
                <a:spcBef>
                  <a:spcPct val="0"/>
                </a:spcBef>
                <a:spcAft>
                  <a:spcPct val="0"/>
                </a:spcAft>
              </a:pPr>
              <a:r>
                <a:rPr lang="en-US" sz="1000" b="1" dirty="0">
                  <a:solidFill>
                    <a:schemeClr val="bg1"/>
                  </a:solidFill>
                </a:rPr>
                <a:t>Internal </a:t>
              </a:r>
            </a:p>
            <a:p>
              <a:pPr algn="ctr" fontAlgn="base">
                <a:spcBef>
                  <a:spcPct val="0"/>
                </a:spcBef>
                <a:spcAft>
                  <a:spcPct val="0"/>
                </a:spcAft>
              </a:pPr>
              <a:r>
                <a:rPr lang="en-US" sz="1000" b="1" dirty="0">
                  <a:solidFill>
                    <a:schemeClr val="bg1"/>
                  </a:solidFill>
                </a:rPr>
                <a:t>Factors</a:t>
              </a:r>
            </a:p>
          </p:txBody>
        </p:sp>
      </p:grpSp>
      <p:cxnSp>
        <p:nvCxnSpPr>
          <p:cNvPr id="17" name="Straight Connector 16"/>
          <p:cNvCxnSpPr/>
          <p:nvPr/>
        </p:nvCxnSpPr>
        <p:spPr bwMode="auto">
          <a:xfrm flipV="1">
            <a:off x="5753446" y="2010520"/>
            <a:ext cx="617798" cy="532611"/>
          </a:xfrm>
          <a:prstGeom prst="line">
            <a:avLst/>
          </a:prstGeom>
          <a:solidFill>
            <a:srgbClr val="FFE600"/>
          </a:solidFill>
          <a:ln w="28575" cap="flat" cmpd="sng" algn="ctr">
            <a:solidFill>
              <a:schemeClr val="accent2"/>
            </a:solidFill>
            <a:prstDash val="sysDot"/>
            <a:round/>
            <a:headEnd type="none" w="med" len="med"/>
            <a:tailEnd type="none" w="med" len="med"/>
          </a:ln>
          <a:effectLst/>
        </p:spPr>
      </p:cxnSp>
      <p:cxnSp>
        <p:nvCxnSpPr>
          <p:cNvPr id="18" name="Straight Connector 17"/>
          <p:cNvCxnSpPr/>
          <p:nvPr/>
        </p:nvCxnSpPr>
        <p:spPr bwMode="auto">
          <a:xfrm>
            <a:off x="6368044" y="1995169"/>
            <a:ext cx="3166337" cy="1"/>
          </a:xfrm>
          <a:prstGeom prst="line">
            <a:avLst/>
          </a:prstGeom>
          <a:solidFill>
            <a:srgbClr val="FFE600"/>
          </a:solidFill>
          <a:ln w="28575" cap="flat" cmpd="sng" algn="ctr">
            <a:solidFill>
              <a:schemeClr val="accent2"/>
            </a:solidFill>
            <a:prstDash val="sysDot"/>
            <a:round/>
            <a:headEnd type="none" w="med" len="med"/>
            <a:tailEnd type="none" w="med" len="med"/>
          </a:ln>
          <a:effectLst/>
        </p:spPr>
      </p:cxnSp>
      <p:cxnSp>
        <p:nvCxnSpPr>
          <p:cNvPr id="19" name="Straight Connector 18"/>
          <p:cNvCxnSpPr/>
          <p:nvPr/>
        </p:nvCxnSpPr>
        <p:spPr bwMode="auto">
          <a:xfrm flipV="1">
            <a:off x="6368044" y="4272280"/>
            <a:ext cx="3186484" cy="16028"/>
          </a:xfrm>
          <a:prstGeom prst="line">
            <a:avLst/>
          </a:prstGeom>
          <a:solidFill>
            <a:srgbClr val="FFE600"/>
          </a:solidFill>
          <a:ln w="28575" cap="flat" cmpd="sng" algn="ctr">
            <a:solidFill>
              <a:schemeClr val="accent2"/>
            </a:solidFill>
            <a:prstDash val="sysDot"/>
            <a:round/>
            <a:headEnd type="none" w="med" len="med"/>
            <a:tailEnd type="none" w="med" len="med"/>
          </a:ln>
          <a:effectLst/>
        </p:spPr>
      </p:cxnSp>
      <p:cxnSp>
        <p:nvCxnSpPr>
          <p:cNvPr id="20" name="Straight Connector 19"/>
          <p:cNvCxnSpPr/>
          <p:nvPr/>
        </p:nvCxnSpPr>
        <p:spPr bwMode="auto">
          <a:xfrm flipH="1">
            <a:off x="351473" y="5217533"/>
            <a:ext cx="3191826" cy="0"/>
          </a:xfrm>
          <a:prstGeom prst="line">
            <a:avLst/>
          </a:prstGeom>
          <a:solidFill>
            <a:srgbClr val="FFE600"/>
          </a:solidFill>
          <a:ln w="28575" cap="flat" cmpd="sng" algn="ctr">
            <a:solidFill>
              <a:schemeClr val="accent2"/>
            </a:solidFill>
            <a:prstDash val="sysDot"/>
            <a:round/>
            <a:headEnd type="none" w="med" len="med"/>
            <a:tailEnd type="none" w="med" len="med"/>
          </a:ln>
          <a:effectLst/>
        </p:spPr>
      </p:cxnSp>
      <p:cxnSp>
        <p:nvCxnSpPr>
          <p:cNvPr id="21" name="Straight Connector 20"/>
          <p:cNvCxnSpPr/>
          <p:nvPr/>
        </p:nvCxnSpPr>
        <p:spPr bwMode="auto">
          <a:xfrm flipV="1">
            <a:off x="342197" y="3534560"/>
            <a:ext cx="2524611" cy="1"/>
          </a:xfrm>
          <a:prstGeom prst="line">
            <a:avLst/>
          </a:prstGeom>
          <a:solidFill>
            <a:srgbClr val="FFE600"/>
          </a:solidFill>
          <a:ln w="28575" cap="flat" cmpd="sng" algn="ctr">
            <a:solidFill>
              <a:schemeClr val="accent2"/>
            </a:solidFill>
            <a:prstDash val="sysDot"/>
            <a:round/>
            <a:headEnd type="none" w="med" len="med"/>
            <a:tailEnd type="none" w="med" len="med"/>
          </a:ln>
          <a:effectLst/>
        </p:spPr>
      </p:cxnSp>
      <p:cxnSp>
        <p:nvCxnSpPr>
          <p:cNvPr id="22" name="Straight Connector 21"/>
          <p:cNvCxnSpPr/>
          <p:nvPr/>
        </p:nvCxnSpPr>
        <p:spPr bwMode="auto">
          <a:xfrm flipV="1">
            <a:off x="2862992" y="3405755"/>
            <a:ext cx="552211" cy="128805"/>
          </a:xfrm>
          <a:prstGeom prst="line">
            <a:avLst/>
          </a:prstGeom>
          <a:solidFill>
            <a:srgbClr val="FFE600"/>
          </a:solidFill>
          <a:ln w="28575" cap="flat" cmpd="sng" algn="ctr">
            <a:solidFill>
              <a:schemeClr val="accent2"/>
            </a:solidFill>
            <a:prstDash val="sysDot"/>
            <a:round/>
            <a:headEnd type="none" w="med" len="med"/>
            <a:tailEnd type="none" w="med" len="med"/>
          </a:ln>
          <a:effectLst/>
        </p:spPr>
      </p:cxnSp>
      <p:sp>
        <p:nvSpPr>
          <p:cNvPr id="27" name="Oval 26">
            <a:hlinkClick r:id="" action="ppaction://noaction"/>
          </p:cNvPr>
          <p:cNvSpPr>
            <a:spLocks/>
          </p:cNvSpPr>
          <p:nvPr/>
        </p:nvSpPr>
        <p:spPr bwMode="auto">
          <a:xfrm>
            <a:off x="5616974" y="2446534"/>
            <a:ext cx="216000" cy="216000"/>
          </a:xfrm>
          <a:prstGeom prst="ellipse">
            <a:avLst/>
          </a:prstGeom>
          <a:solidFill>
            <a:srgbClr val="00B0F0"/>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mn-lt"/>
              </a:rPr>
              <a:t>1</a:t>
            </a:r>
          </a:p>
        </p:txBody>
      </p:sp>
      <p:sp>
        <p:nvSpPr>
          <p:cNvPr id="28" name="Oval 27">
            <a:hlinkClick r:id="" action="ppaction://noaction"/>
          </p:cNvPr>
          <p:cNvSpPr>
            <a:spLocks/>
          </p:cNvSpPr>
          <p:nvPr/>
        </p:nvSpPr>
        <p:spPr bwMode="auto">
          <a:xfrm>
            <a:off x="6165972" y="4198441"/>
            <a:ext cx="216000" cy="216000"/>
          </a:xfrm>
          <a:prstGeom prst="ellipse">
            <a:avLst/>
          </a:prstGeom>
          <a:solidFill>
            <a:srgbClr val="00B0F0"/>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mn-lt"/>
              </a:rPr>
              <a:t>2</a:t>
            </a:r>
          </a:p>
        </p:txBody>
      </p:sp>
      <p:sp>
        <p:nvSpPr>
          <p:cNvPr id="29" name="Oval 28">
            <a:hlinkClick r:id="" action="ppaction://noaction"/>
          </p:cNvPr>
          <p:cNvSpPr>
            <a:spLocks/>
          </p:cNvSpPr>
          <p:nvPr/>
        </p:nvSpPr>
        <p:spPr bwMode="auto">
          <a:xfrm>
            <a:off x="3828221" y="4824738"/>
            <a:ext cx="216000" cy="216000"/>
          </a:xfrm>
          <a:prstGeom prst="ellipse">
            <a:avLst/>
          </a:prstGeom>
          <a:solidFill>
            <a:srgbClr val="00B0F0"/>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mn-lt"/>
              </a:rPr>
              <a:t>3</a:t>
            </a:r>
          </a:p>
        </p:txBody>
      </p:sp>
      <p:sp>
        <p:nvSpPr>
          <p:cNvPr id="30" name="Oval 29">
            <a:hlinkClick r:id="" action="ppaction://noaction"/>
          </p:cNvPr>
          <p:cNvSpPr>
            <a:spLocks/>
          </p:cNvSpPr>
          <p:nvPr/>
        </p:nvSpPr>
        <p:spPr bwMode="auto">
          <a:xfrm>
            <a:off x="3394992" y="3297755"/>
            <a:ext cx="216000" cy="216000"/>
          </a:xfrm>
          <a:prstGeom prst="ellipse">
            <a:avLst/>
          </a:prstGeom>
          <a:solidFill>
            <a:srgbClr val="00B0F0"/>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mn-lt"/>
              </a:rPr>
              <a:t>4</a:t>
            </a:r>
          </a:p>
        </p:txBody>
      </p:sp>
      <p:cxnSp>
        <p:nvCxnSpPr>
          <p:cNvPr id="31" name="Straight Connector 30"/>
          <p:cNvCxnSpPr/>
          <p:nvPr/>
        </p:nvCxnSpPr>
        <p:spPr bwMode="auto">
          <a:xfrm flipH="1" flipV="1">
            <a:off x="3550619" y="2010520"/>
            <a:ext cx="487214" cy="399877"/>
          </a:xfrm>
          <a:prstGeom prst="line">
            <a:avLst/>
          </a:prstGeom>
          <a:solidFill>
            <a:srgbClr val="FFE600"/>
          </a:solidFill>
          <a:ln w="28575" cap="flat" cmpd="sng" algn="ctr">
            <a:solidFill>
              <a:schemeClr val="accent2"/>
            </a:solidFill>
            <a:prstDash val="sysDot"/>
            <a:round/>
            <a:headEnd type="none" w="med" len="med"/>
            <a:tailEnd type="none" w="med" len="med"/>
          </a:ln>
          <a:effectLst/>
        </p:spPr>
      </p:cxnSp>
      <p:cxnSp>
        <p:nvCxnSpPr>
          <p:cNvPr id="33" name="Straight Connector 32"/>
          <p:cNvCxnSpPr/>
          <p:nvPr/>
        </p:nvCxnSpPr>
        <p:spPr bwMode="auto">
          <a:xfrm flipV="1">
            <a:off x="364055" y="1988427"/>
            <a:ext cx="3186564" cy="1"/>
          </a:xfrm>
          <a:prstGeom prst="line">
            <a:avLst/>
          </a:prstGeom>
          <a:solidFill>
            <a:srgbClr val="FFE600"/>
          </a:solidFill>
          <a:ln w="28575" cap="flat" cmpd="sng" algn="ctr">
            <a:solidFill>
              <a:schemeClr val="accent2"/>
            </a:solidFill>
            <a:prstDash val="sysDot"/>
            <a:round/>
            <a:headEnd type="none" w="med" len="med"/>
            <a:tailEnd type="none" w="med" len="med"/>
          </a:ln>
          <a:effectLst/>
        </p:spPr>
      </p:cxnSp>
      <p:sp>
        <p:nvSpPr>
          <p:cNvPr id="34" name="Oval 33">
            <a:hlinkClick r:id="" action="ppaction://noaction"/>
          </p:cNvPr>
          <p:cNvSpPr>
            <a:spLocks/>
          </p:cNvSpPr>
          <p:nvPr/>
        </p:nvSpPr>
        <p:spPr bwMode="auto">
          <a:xfrm>
            <a:off x="3959658" y="2391101"/>
            <a:ext cx="216000" cy="216000"/>
          </a:xfrm>
          <a:prstGeom prst="ellipse">
            <a:avLst/>
          </a:prstGeom>
          <a:solidFill>
            <a:srgbClr val="00B0F0"/>
          </a:solid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50" b="1" i="0" u="none" strike="noStrike" kern="0" cap="none" spc="0" normalizeH="0" baseline="0" noProof="0" dirty="0">
                <a:ln>
                  <a:noFill/>
                </a:ln>
                <a:solidFill>
                  <a:sysClr val="windowText" lastClr="000000"/>
                </a:solidFill>
                <a:effectLst/>
                <a:uLnTx/>
                <a:uFillTx/>
                <a:latin typeface="+mn-lt"/>
              </a:rPr>
              <a:t>5</a:t>
            </a:r>
          </a:p>
        </p:txBody>
      </p:sp>
      <p:cxnSp>
        <p:nvCxnSpPr>
          <p:cNvPr id="37" name="Straight Connector 36"/>
          <p:cNvCxnSpPr/>
          <p:nvPr/>
        </p:nvCxnSpPr>
        <p:spPr bwMode="auto">
          <a:xfrm flipV="1">
            <a:off x="3552090" y="5002325"/>
            <a:ext cx="313462" cy="202718"/>
          </a:xfrm>
          <a:prstGeom prst="line">
            <a:avLst/>
          </a:prstGeom>
          <a:solidFill>
            <a:srgbClr val="FFE600"/>
          </a:solidFill>
          <a:ln w="28575" cap="flat" cmpd="sng" algn="ctr">
            <a:solidFill>
              <a:schemeClr val="accent2"/>
            </a:solidFill>
            <a:prstDash val="sysDot"/>
            <a:round/>
            <a:headEnd type="none" w="med" len="med"/>
            <a:tailEnd type="none" w="med" len="med"/>
          </a:ln>
          <a:effectLst/>
        </p:spPr>
      </p:cxnSp>
      <p:sp>
        <p:nvSpPr>
          <p:cNvPr id="11" name="TextBox 10"/>
          <p:cNvSpPr txBox="1"/>
          <p:nvPr/>
        </p:nvSpPr>
        <p:spPr>
          <a:xfrm>
            <a:off x="6771570" y="1988427"/>
            <a:ext cx="2792229" cy="1631216"/>
          </a:xfrm>
          <a:prstGeom prst="rect">
            <a:avLst/>
          </a:prstGeom>
          <a:noFill/>
        </p:spPr>
        <p:txBody>
          <a:bodyPr wrap="square" rtlCol="0">
            <a:spAutoFit/>
          </a:bodyPr>
          <a:lstStyle/>
          <a:p>
            <a:r>
              <a:rPr lang="en-ZA" sz="1000" b="1" dirty="0"/>
              <a:t>Our vision:</a:t>
            </a:r>
          </a:p>
          <a:p>
            <a:endParaRPr lang="en-ZA" sz="1000" dirty="0"/>
          </a:p>
          <a:p>
            <a:pPr marL="171450" indent="-171450">
              <a:buFont typeface="Wingdings" panose="05000000000000000000" pitchFamily="2" charset="2"/>
              <a:buChar char="§"/>
            </a:pPr>
            <a:r>
              <a:rPr lang="en-ZA" sz="1000" b="1" dirty="0"/>
              <a:t>Distinguished empowerment </a:t>
            </a:r>
            <a:r>
              <a:rPr lang="en-ZA" sz="1000" dirty="0"/>
              <a:t>corporate finance &amp; strategy business</a:t>
            </a:r>
          </a:p>
          <a:p>
            <a:pPr marL="171450" indent="-171450">
              <a:buFont typeface="Wingdings" panose="05000000000000000000" pitchFamily="2" charset="2"/>
              <a:buChar char="§"/>
            </a:pPr>
            <a:r>
              <a:rPr lang="en-ZA" sz="1000" b="1" dirty="0"/>
              <a:t>Chosen performance </a:t>
            </a:r>
            <a:r>
              <a:rPr lang="en-ZA" sz="1000" dirty="0"/>
              <a:t>partner due to </a:t>
            </a:r>
            <a:r>
              <a:rPr lang="en-ZA" sz="1000" b="1" dirty="0"/>
              <a:t>execution excellence.</a:t>
            </a:r>
          </a:p>
          <a:p>
            <a:endParaRPr lang="en-ZA" sz="1000" dirty="0"/>
          </a:p>
          <a:p>
            <a:r>
              <a:rPr lang="en-ZA" sz="1000" b="1" dirty="0"/>
              <a:t>Our mission: </a:t>
            </a:r>
          </a:p>
          <a:p>
            <a:endParaRPr lang="en-ZA" sz="1000" dirty="0"/>
          </a:p>
          <a:p>
            <a:pPr marL="171450" indent="-171450">
              <a:buFont typeface="Wingdings" panose="05000000000000000000" pitchFamily="2" charset="2"/>
              <a:buChar char="§"/>
            </a:pPr>
            <a:r>
              <a:rPr lang="en-ZA" sz="1000" b="1" dirty="0"/>
              <a:t>Profit</a:t>
            </a:r>
            <a:r>
              <a:rPr lang="en-ZA" sz="1000" dirty="0"/>
              <a:t> while making an </a:t>
            </a:r>
            <a:r>
              <a:rPr lang="en-ZA" sz="1000" b="1" dirty="0"/>
              <a:t>impact.</a:t>
            </a:r>
          </a:p>
        </p:txBody>
      </p:sp>
      <p:sp>
        <p:nvSpPr>
          <p:cNvPr id="46" name="TextBox 45"/>
          <p:cNvSpPr txBox="1"/>
          <p:nvPr/>
        </p:nvSpPr>
        <p:spPr>
          <a:xfrm>
            <a:off x="6662999" y="4513981"/>
            <a:ext cx="2887421" cy="1631216"/>
          </a:xfrm>
          <a:prstGeom prst="rect">
            <a:avLst/>
          </a:prstGeom>
          <a:noFill/>
        </p:spPr>
        <p:txBody>
          <a:bodyPr wrap="square" rtlCol="0">
            <a:spAutoFit/>
          </a:bodyPr>
          <a:lstStyle/>
          <a:p>
            <a:r>
              <a:rPr lang="en-ZA" sz="1000" b="1" dirty="0"/>
              <a:t>Our objectives:</a:t>
            </a:r>
          </a:p>
          <a:p>
            <a:endParaRPr lang="en-ZA" sz="1000" b="1" dirty="0"/>
          </a:p>
          <a:p>
            <a:pPr marL="171450" indent="-171450">
              <a:buFont typeface="Wingdings" panose="05000000000000000000" pitchFamily="2" charset="2"/>
              <a:buChar char="§"/>
            </a:pPr>
            <a:r>
              <a:rPr lang="en-ZA" sz="1000" b="1" dirty="0"/>
              <a:t>Our values are the bedrock of our business </a:t>
            </a:r>
          </a:p>
          <a:p>
            <a:endParaRPr lang="en-ZA" sz="1000" b="1" dirty="0"/>
          </a:p>
          <a:p>
            <a:pPr marL="171450" indent="-171450">
              <a:buFont typeface="Wingdings" panose="05000000000000000000" pitchFamily="2" charset="2"/>
              <a:buChar char="§"/>
            </a:pPr>
            <a:r>
              <a:rPr lang="en-ZA" sz="1000" dirty="0"/>
              <a:t>We must instill them to </a:t>
            </a:r>
            <a:r>
              <a:rPr lang="en-ZA" sz="1000" b="1" dirty="0"/>
              <a:t>drive competitive advantage through our people </a:t>
            </a:r>
            <a:r>
              <a:rPr lang="en-ZA" sz="1000" dirty="0"/>
              <a:t>to ensure we can execute our </a:t>
            </a:r>
            <a:r>
              <a:rPr lang="en-ZA" sz="1000" b="1" dirty="0"/>
              <a:t>strategic actions</a:t>
            </a:r>
            <a:r>
              <a:rPr lang="en-ZA" sz="1000" dirty="0"/>
              <a:t> which drives </a:t>
            </a:r>
            <a:r>
              <a:rPr lang="en-ZA" sz="1000" b="1" dirty="0"/>
              <a:t>client satisfaction </a:t>
            </a:r>
            <a:r>
              <a:rPr lang="en-ZA" sz="1000" dirty="0"/>
              <a:t>to ensure we meet our </a:t>
            </a:r>
            <a:r>
              <a:rPr lang="en-ZA" sz="1000" b="1" dirty="0"/>
              <a:t>financial goals</a:t>
            </a:r>
            <a:endParaRPr lang="en-ZA" sz="1000" dirty="0"/>
          </a:p>
        </p:txBody>
      </p:sp>
      <p:sp>
        <p:nvSpPr>
          <p:cNvPr id="47" name="TextBox 46"/>
          <p:cNvSpPr txBox="1"/>
          <p:nvPr/>
        </p:nvSpPr>
        <p:spPr>
          <a:xfrm>
            <a:off x="342197" y="5235116"/>
            <a:ext cx="3991077" cy="1015663"/>
          </a:xfrm>
          <a:prstGeom prst="rect">
            <a:avLst/>
          </a:prstGeom>
          <a:noFill/>
        </p:spPr>
        <p:txBody>
          <a:bodyPr wrap="square" rtlCol="0">
            <a:spAutoFit/>
          </a:bodyPr>
          <a:lstStyle/>
          <a:p>
            <a:r>
              <a:rPr lang="en-ZA" sz="1000" b="1" dirty="0"/>
              <a:t>Examined external factors which included:</a:t>
            </a:r>
          </a:p>
          <a:p>
            <a:endParaRPr lang="en-ZA" sz="1000" b="1" dirty="0"/>
          </a:p>
          <a:p>
            <a:pPr marL="171450" indent="-171450">
              <a:buFont typeface="Wingdings" panose="05000000000000000000" pitchFamily="2" charset="2"/>
              <a:buChar char="§"/>
            </a:pPr>
            <a:r>
              <a:rPr lang="en-ZA" sz="1000" b="1" dirty="0"/>
              <a:t>Company analysis, service offering, current positioning, competitors and clients</a:t>
            </a:r>
            <a:r>
              <a:rPr lang="en-ZA" sz="1000" dirty="0"/>
              <a:t>. </a:t>
            </a:r>
          </a:p>
          <a:p>
            <a:pPr marL="171450" indent="-171450">
              <a:buFont typeface="Wingdings" panose="05000000000000000000" pitchFamily="2" charset="2"/>
              <a:buChar char="§"/>
            </a:pPr>
            <a:r>
              <a:rPr lang="en-ZA" sz="1000" dirty="0"/>
              <a:t>Synthesised external information to devise an approach to develop into the chosen partner to our clients.</a:t>
            </a:r>
          </a:p>
        </p:txBody>
      </p:sp>
      <p:sp>
        <p:nvSpPr>
          <p:cNvPr id="48" name="TextBox 47"/>
          <p:cNvSpPr txBox="1"/>
          <p:nvPr/>
        </p:nvSpPr>
        <p:spPr>
          <a:xfrm>
            <a:off x="355579" y="3813151"/>
            <a:ext cx="3049252" cy="861774"/>
          </a:xfrm>
          <a:prstGeom prst="rect">
            <a:avLst/>
          </a:prstGeom>
          <a:noFill/>
        </p:spPr>
        <p:txBody>
          <a:bodyPr wrap="square" rtlCol="0">
            <a:spAutoFit/>
          </a:bodyPr>
          <a:lstStyle/>
          <a:p>
            <a:r>
              <a:rPr lang="en-ZA" sz="1000" b="1" dirty="0"/>
              <a:t>Assessed our business from the inside out:</a:t>
            </a:r>
          </a:p>
          <a:p>
            <a:endParaRPr lang="en-ZA" sz="1000" dirty="0"/>
          </a:p>
          <a:p>
            <a:pPr marL="171450" indent="-171450">
              <a:buFont typeface="Wingdings" panose="05000000000000000000" pitchFamily="2" charset="2"/>
              <a:buChar char="§"/>
            </a:pPr>
            <a:r>
              <a:rPr lang="en-ZA" sz="1000" dirty="0"/>
              <a:t>Reviewed the </a:t>
            </a:r>
            <a:r>
              <a:rPr lang="en-ZA" sz="1000" b="1" dirty="0"/>
              <a:t>organisational structure, staffing needs, culture and process </a:t>
            </a:r>
            <a:r>
              <a:rPr lang="en-ZA" sz="1000" dirty="0"/>
              <a:t>requirements </a:t>
            </a:r>
          </a:p>
        </p:txBody>
      </p:sp>
      <p:sp>
        <p:nvSpPr>
          <p:cNvPr id="49" name="TextBox 48"/>
          <p:cNvSpPr txBox="1"/>
          <p:nvPr/>
        </p:nvSpPr>
        <p:spPr>
          <a:xfrm>
            <a:off x="342197" y="2232510"/>
            <a:ext cx="2948341" cy="707886"/>
          </a:xfrm>
          <a:prstGeom prst="rect">
            <a:avLst/>
          </a:prstGeom>
          <a:noFill/>
        </p:spPr>
        <p:txBody>
          <a:bodyPr wrap="square" rtlCol="0">
            <a:spAutoFit/>
          </a:bodyPr>
          <a:lstStyle/>
          <a:p>
            <a:r>
              <a:rPr lang="en-ZA" sz="1000" b="1" dirty="0"/>
              <a:t>Our holistic strategy encompasses all of the aforementioned strategic pillars:</a:t>
            </a:r>
          </a:p>
          <a:p>
            <a:endParaRPr lang="en-ZA" sz="1000" dirty="0"/>
          </a:p>
          <a:p>
            <a:pPr marL="171450" indent="-171450">
              <a:buFont typeface="Wingdings" panose="05000000000000000000" pitchFamily="2" charset="2"/>
              <a:buChar char="§"/>
            </a:pPr>
            <a:r>
              <a:rPr lang="en-ZA" sz="1000" dirty="0"/>
              <a:t>This is supported by our implementation plan.</a:t>
            </a:r>
          </a:p>
        </p:txBody>
      </p:sp>
      <p:sp>
        <p:nvSpPr>
          <p:cNvPr id="38" name="TextBox 37"/>
          <p:cNvSpPr txBox="1"/>
          <p:nvPr/>
        </p:nvSpPr>
        <p:spPr>
          <a:xfrm>
            <a:off x="342236" y="1283856"/>
            <a:ext cx="9203055" cy="546659"/>
          </a:xfrm>
          <a:prstGeom prst="rect">
            <a:avLst/>
          </a:prstGeom>
          <a:solidFill>
            <a:schemeClr val="bg1">
              <a:lumMod val="50000"/>
            </a:schemeClr>
          </a:solidFill>
          <a:ln>
            <a:solidFill>
              <a:schemeClr val="bg1">
                <a:lumMod val="75000"/>
              </a:schemeClr>
            </a:solidFill>
          </a:ln>
        </p:spPr>
        <p:txBody>
          <a:bodyPr wrap="square" rtlCol="0">
            <a:noAutofit/>
          </a:bodyPr>
          <a:lstStyle/>
          <a:p>
            <a:pPr algn="ctr"/>
            <a:r>
              <a:rPr lang="en-GB" sz="1000" b="1" dirty="0">
                <a:solidFill>
                  <a:schemeClr val="bg1"/>
                </a:solidFill>
              </a:rPr>
              <a:t>Defining the direction of Specialised Finance within FA</a:t>
            </a:r>
          </a:p>
          <a:p>
            <a:pPr algn="ctr"/>
            <a:endParaRPr lang="en-GB" sz="1000" b="1" dirty="0">
              <a:solidFill>
                <a:schemeClr val="bg1"/>
              </a:solidFill>
            </a:endParaRPr>
          </a:p>
          <a:p>
            <a:pPr algn="ctr">
              <a:tabLst>
                <a:tab pos="1706563" algn="l"/>
              </a:tabLst>
            </a:pPr>
            <a:endParaRPr lang="en-GB" sz="1000" b="1" i="1" dirty="0">
              <a:solidFill>
                <a:schemeClr val="bg1"/>
              </a:solidFill>
            </a:endParaRPr>
          </a:p>
        </p:txBody>
      </p:sp>
    </p:spTree>
    <p:extLst>
      <p:ext uri="{BB962C8B-B14F-4D97-AF65-F5344CB8AC3E}">
        <p14:creationId xmlns:p14="http://schemas.microsoft.com/office/powerpoint/2010/main" val="3316873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0947" name="think-cell Slide" r:id="rId4" imgW="216" imgH="216" progId="TCLayout.ActiveDocument.1">
                  <p:embed/>
                </p:oleObj>
              </mc:Choice>
              <mc:Fallback>
                <p:oleObj name="think-cell Slide" r:id="rId4" imgW="216" imgH="216"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normAutofit/>
          </a:bodyPr>
          <a:lstStyle/>
          <a:p>
            <a:r>
              <a:rPr lang="en-ZA" sz="2000" dirty="0"/>
              <a:t>Specialised Finance strategy snapshot : Vision, mission and objectives</a:t>
            </a:r>
          </a:p>
        </p:txBody>
      </p:sp>
      <p:sp>
        <p:nvSpPr>
          <p:cNvPr id="6" name="TextBox 5"/>
          <p:cNvSpPr txBox="1"/>
          <p:nvPr/>
        </p:nvSpPr>
        <p:spPr>
          <a:xfrm>
            <a:off x="342236" y="1283857"/>
            <a:ext cx="9203055" cy="553998"/>
          </a:xfrm>
          <a:prstGeom prst="rect">
            <a:avLst/>
          </a:prstGeom>
          <a:solidFill>
            <a:schemeClr val="bg1">
              <a:lumMod val="50000"/>
            </a:schemeClr>
          </a:solidFill>
          <a:ln>
            <a:solidFill>
              <a:schemeClr val="bg1">
                <a:lumMod val="75000"/>
              </a:schemeClr>
            </a:solidFill>
          </a:ln>
        </p:spPr>
        <p:txBody>
          <a:bodyPr wrap="square" rtlCol="0">
            <a:spAutoFit/>
          </a:bodyPr>
          <a:lstStyle/>
          <a:p>
            <a:pPr algn="ctr" fontAlgn="base"/>
            <a:r>
              <a:rPr lang="en-US" sz="1000" dirty="0">
                <a:solidFill>
                  <a:schemeClr val="bg1"/>
                </a:solidFill>
              </a:rPr>
              <a:t>Our vision is to build </a:t>
            </a:r>
            <a:r>
              <a:rPr lang="en-US" sz="1000" b="1" dirty="0">
                <a:solidFill>
                  <a:schemeClr val="bg1"/>
                </a:solidFill>
              </a:rPr>
              <a:t>the leading black owned and operated corporate finance and strategy business</a:t>
            </a:r>
            <a:r>
              <a:rPr lang="en-US" sz="1000" dirty="0">
                <a:solidFill>
                  <a:schemeClr val="bg1"/>
                </a:solidFill>
              </a:rPr>
              <a:t> with a track record of exceeding our clients expectations through exceptional delivery.</a:t>
            </a:r>
          </a:p>
          <a:p>
            <a:pPr algn="ctr" fontAlgn="base"/>
            <a:r>
              <a:rPr lang="en-US" sz="1000" dirty="0">
                <a:solidFill>
                  <a:schemeClr val="bg1"/>
                </a:solidFill>
              </a:rPr>
              <a:t> Our mission is to make a </a:t>
            </a:r>
            <a:r>
              <a:rPr lang="en-US" sz="1000" b="1" dirty="0">
                <a:solidFill>
                  <a:schemeClr val="bg1"/>
                </a:solidFill>
              </a:rPr>
              <a:t>profit while making an impact!</a:t>
            </a:r>
          </a:p>
        </p:txBody>
      </p:sp>
      <p:sp>
        <p:nvSpPr>
          <p:cNvPr id="8" name="Down Arrow Callout 7"/>
          <p:cNvSpPr/>
          <p:nvPr/>
        </p:nvSpPr>
        <p:spPr>
          <a:xfrm>
            <a:off x="344488" y="2327563"/>
            <a:ext cx="2394000" cy="725136"/>
          </a:xfrm>
          <a:prstGeom prst="downArrowCallout">
            <a:avLst>
              <a:gd name="adj1" fmla="val 185915"/>
              <a:gd name="adj2" fmla="val 78946"/>
              <a:gd name="adj3" fmla="val 14810"/>
              <a:gd name="adj4" fmla="val 5988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46" name="TextBox 45"/>
          <p:cNvSpPr txBox="1"/>
          <p:nvPr/>
        </p:nvSpPr>
        <p:spPr>
          <a:xfrm>
            <a:off x="351472" y="2327563"/>
            <a:ext cx="2387016" cy="400110"/>
          </a:xfrm>
          <a:prstGeom prst="rect">
            <a:avLst/>
          </a:prstGeom>
          <a:noFill/>
        </p:spPr>
        <p:txBody>
          <a:bodyPr wrap="square" rtlCol="0">
            <a:spAutoFit/>
          </a:bodyPr>
          <a:lstStyle/>
          <a:p>
            <a:pPr algn="ctr"/>
            <a:r>
              <a:rPr lang="en-ZA" sz="1000" b="1" dirty="0"/>
              <a:t>Our values are the bedrock of being a high performance business</a:t>
            </a:r>
          </a:p>
        </p:txBody>
      </p:sp>
      <p:sp>
        <p:nvSpPr>
          <p:cNvPr id="47" name="Down Arrow Callout 46"/>
          <p:cNvSpPr/>
          <p:nvPr/>
        </p:nvSpPr>
        <p:spPr>
          <a:xfrm>
            <a:off x="344488" y="3124738"/>
            <a:ext cx="2394000" cy="725136"/>
          </a:xfrm>
          <a:prstGeom prst="downArrowCallout">
            <a:avLst>
              <a:gd name="adj1" fmla="val 185915"/>
              <a:gd name="adj2" fmla="val 78946"/>
              <a:gd name="adj3" fmla="val 14810"/>
              <a:gd name="adj4" fmla="val 5988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48" name="Down Arrow Callout 47"/>
          <p:cNvSpPr/>
          <p:nvPr/>
        </p:nvSpPr>
        <p:spPr>
          <a:xfrm>
            <a:off x="351472" y="3921913"/>
            <a:ext cx="2394000" cy="725136"/>
          </a:xfrm>
          <a:prstGeom prst="downArrowCallout">
            <a:avLst>
              <a:gd name="adj1" fmla="val 185915"/>
              <a:gd name="adj2" fmla="val 78946"/>
              <a:gd name="adj3" fmla="val 14810"/>
              <a:gd name="adj4" fmla="val 5988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49" name="Down Arrow Callout 48"/>
          <p:cNvSpPr/>
          <p:nvPr/>
        </p:nvSpPr>
        <p:spPr>
          <a:xfrm>
            <a:off x="351472" y="4719087"/>
            <a:ext cx="2394000" cy="725136"/>
          </a:xfrm>
          <a:prstGeom prst="downArrowCallout">
            <a:avLst>
              <a:gd name="adj1" fmla="val 185915"/>
              <a:gd name="adj2" fmla="val 78946"/>
              <a:gd name="adj3" fmla="val 14810"/>
              <a:gd name="adj4" fmla="val 59882"/>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50" name="TextBox 49"/>
          <p:cNvSpPr txBox="1"/>
          <p:nvPr/>
        </p:nvSpPr>
        <p:spPr>
          <a:xfrm>
            <a:off x="969818" y="2737784"/>
            <a:ext cx="1145309" cy="338554"/>
          </a:xfrm>
          <a:prstGeom prst="rect">
            <a:avLst/>
          </a:prstGeom>
          <a:noFill/>
        </p:spPr>
        <p:txBody>
          <a:bodyPr wrap="square" rtlCol="0">
            <a:spAutoFit/>
          </a:bodyPr>
          <a:lstStyle/>
          <a:p>
            <a:pPr algn="ctr"/>
            <a:r>
              <a:rPr lang="en-ZA" sz="800" dirty="0"/>
              <a:t>We must instill them to</a:t>
            </a:r>
          </a:p>
        </p:txBody>
      </p:sp>
      <p:sp>
        <p:nvSpPr>
          <p:cNvPr id="51" name="TextBox 50"/>
          <p:cNvSpPr txBox="1"/>
          <p:nvPr/>
        </p:nvSpPr>
        <p:spPr>
          <a:xfrm>
            <a:off x="354214" y="3115387"/>
            <a:ext cx="2384273" cy="400110"/>
          </a:xfrm>
          <a:prstGeom prst="rect">
            <a:avLst/>
          </a:prstGeom>
          <a:noFill/>
        </p:spPr>
        <p:txBody>
          <a:bodyPr wrap="square" rtlCol="0">
            <a:spAutoFit/>
          </a:bodyPr>
          <a:lstStyle/>
          <a:p>
            <a:pPr algn="ctr"/>
            <a:r>
              <a:rPr lang="en-ZA" sz="1000" b="1" dirty="0"/>
              <a:t>Drive competitive advantage through our people</a:t>
            </a:r>
          </a:p>
        </p:txBody>
      </p:sp>
      <p:sp>
        <p:nvSpPr>
          <p:cNvPr id="52" name="TextBox 51"/>
          <p:cNvSpPr txBox="1"/>
          <p:nvPr/>
        </p:nvSpPr>
        <p:spPr>
          <a:xfrm>
            <a:off x="969819" y="3490720"/>
            <a:ext cx="1145308" cy="338554"/>
          </a:xfrm>
          <a:prstGeom prst="rect">
            <a:avLst/>
          </a:prstGeom>
          <a:noFill/>
        </p:spPr>
        <p:txBody>
          <a:bodyPr wrap="square" rtlCol="0">
            <a:spAutoFit/>
          </a:bodyPr>
          <a:lstStyle/>
          <a:p>
            <a:pPr algn="ctr"/>
            <a:r>
              <a:rPr lang="en-ZA" sz="800" dirty="0"/>
              <a:t>To ensure we can execute our</a:t>
            </a:r>
          </a:p>
        </p:txBody>
      </p:sp>
      <p:sp>
        <p:nvSpPr>
          <p:cNvPr id="53" name="TextBox 52"/>
          <p:cNvSpPr txBox="1"/>
          <p:nvPr/>
        </p:nvSpPr>
        <p:spPr>
          <a:xfrm>
            <a:off x="341861" y="3999020"/>
            <a:ext cx="2415097" cy="246221"/>
          </a:xfrm>
          <a:prstGeom prst="rect">
            <a:avLst/>
          </a:prstGeom>
          <a:noFill/>
        </p:spPr>
        <p:txBody>
          <a:bodyPr wrap="square" rtlCol="0">
            <a:spAutoFit/>
          </a:bodyPr>
          <a:lstStyle/>
          <a:p>
            <a:pPr algn="ctr"/>
            <a:r>
              <a:rPr lang="en-ZA" sz="1000" b="1" dirty="0"/>
              <a:t>Strategic actions</a:t>
            </a:r>
          </a:p>
        </p:txBody>
      </p:sp>
      <p:sp>
        <p:nvSpPr>
          <p:cNvPr id="54" name="TextBox 53"/>
          <p:cNvSpPr txBox="1"/>
          <p:nvPr/>
        </p:nvSpPr>
        <p:spPr>
          <a:xfrm>
            <a:off x="988290" y="4310999"/>
            <a:ext cx="1145309" cy="215444"/>
          </a:xfrm>
          <a:prstGeom prst="rect">
            <a:avLst/>
          </a:prstGeom>
          <a:noFill/>
        </p:spPr>
        <p:txBody>
          <a:bodyPr wrap="square" rtlCol="0">
            <a:spAutoFit/>
          </a:bodyPr>
          <a:lstStyle/>
          <a:p>
            <a:pPr algn="ctr"/>
            <a:r>
              <a:rPr lang="en-ZA" sz="800" dirty="0"/>
              <a:t>Which drives</a:t>
            </a:r>
          </a:p>
        </p:txBody>
      </p:sp>
      <p:sp>
        <p:nvSpPr>
          <p:cNvPr id="55" name="TextBox 54"/>
          <p:cNvSpPr txBox="1"/>
          <p:nvPr/>
        </p:nvSpPr>
        <p:spPr>
          <a:xfrm>
            <a:off x="351471" y="4820089"/>
            <a:ext cx="2387015" cy="246221"/>
          </a:xfrm>
          <a:prstGeom prst="rect">
            <a:avLst/>
          </a:prstGeom>
          <a:noFill/>
        </p:spPr>
        <p:txBody>
          <a:bodyPr wrap="square" rtlCol="0">
            <a:spAutoFit/>
          </a:bodyPr>
          <a:lstStyle/>
          <a:p>
            <a:pPr algn="ctr"/>
            <a:r>
              <a:rPr lang="en-ZA" sz="1000" b="1" dirty="0"/>
              <a:t>Client satisfaction</a:t>
            </a:r>
          </a:p>
        </p:txBody>
      </p:sp>
      <p:sp>
        <p:nvSpPr>
          <p:cNvPr id="56" name="TextBox 55"/>
          <p:cNvSpPr txBox="1"/>
          <p:nvPr/>
        </p:nvSpPr>
        <p:spPr>
          <a:xfrm>
            <a:off x="969818" y="5132157"/>
            <a:ext cx="1145309" cy="338554"/>
          </a:xfrm>
          <a:prstGeom prst="rect">
            <a:avLst/>
          </a:prstGeom>
          <a:noFill/>
        </p:spPr>
        <p:txBody>
          <a:bodyPr wrap="square" rtlCol="0">
            <a:spAutoFit/>
          </a:bodyPr>
          <a:lstStyle/>
          <a:p>
            <a:pPr algn="ctr"/>
            <a:r>
              <a:rPr lang="en-ZA" sz="800" dirty="0"/>
              <a:t>To ensure we meet</a:t>
            </a:r>
          </a:p>
          <a:p>
            <a:pPr algn="ctr"/>
            <a:r>
              <a:rPr lang="en-ZA" sz="800" dirty="0"/>
              <a:t>our</a:t>
            </a:r>
          </a:p>
        </p:txBody>
      </p:sp>
      <p:sp>
        <p:nvSpPr>
          <p:cNvPr id="9" name="Rectangle 8"/>
          <p:cNvSpPr/>
          <p:nvPr/>
        </p:nvSpPr>
        <p:spPr>
          <a:xfrm>
            <a:off x="332999" y="5534940"/>
            <a:ext cx="2405487" cy="730541"/>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tx1"/>
                </a:solidFill>
              </a:rPr>
              <a:t>Financial Goals</a:t>
            </a:r>
          </a:p>
        </p:txBody>
      </p:sp>
      <p:sp>
        <p:nvSpPr>
          <p:cNvPr id="57" name="Rectangle 56"/>
          <p:cNvSpPr/>
          <p:nvPr/>
        </p:nvSpPr>
        <p:spPr>
          <a:xfrm>
            <a:off x="2825806" y="2322158"/>
            <a:ext cx="2004815" cy="730541"/>
          </a:xfrm>
          <a:prstGeom prst="rect">
            <a:avLst/>
          </a:prstGeom>
          <a:solidFill>
            <a:schemeClr val="tx2">
              <a:lumMod val="90000"/>
              <a:lumOff val="10000"/>
            </a:schemeClr>
          </a:solidFill>
          <a:ln>
            <a:solidFill>
              <a:schemeClr val="tx2">
                <a:lumMod val="90000"/>
                <a:lumOff val="10000"/>
              </a:schemeClr>
            </a:solid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bg1"/>
                </a:solidFill>
              </a:rPr>
              <a:t>Values</a:t>
            </a:r>
          </a:p>
        </p:txBody>
      </p:sp>
      <p:sp>
        <p:nvSpPr>
          <p:cNvPr id="58" name="Rectangle 57"/>
          <p:cNvSpPr/>
          <p:nvPr/>
        </p:nvSpPr>
        <p:spPr>
          <a:xfrm>
            <a:off x="2825805" y="3125758"/>
            <a:ext cx="2004815" cy="730541"/>
          </a:xfrm>
          <a:prstGeom prst="rect">
            <a:avLst/>
          </a:prstGeom>
          <a:solidFill>
            <a:schemeClr val="tx2">
              <a:lumMod val="90000"/>
              <a:lumOff val="10000"/>
            </a:schemeClr>
          </a:solidFill>
          <a:ln>
            <a:solidFill>
              <a:schemeClr val="tx2">
                <a:lumMod val="90000"/>
                <a:lumOff val="10000"/>
              </a:schemeClr>
            </a:solid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bg1"/>
                </a:solidFill>
              </a:rPr>
              <a:t>Talent</a:t>
            </a:r>
          </a:p>
        </p:txBody>
      </p:sp>
      <p:sp>
        <p:nvSpPr>
          <p:cNvPr id="59" name="Rectangle 58"/>
          <p:cNvSpPr/>
          <p:nvPr/>
        </p:nvSpPr>
        <p:spPr>
          <a:xfrm>
            <a:off x="2825805" y="3929358"/>
            <a:ext cx="2004815" cy="730541"/>
          </a:xfrm>
          <a:prstGeom prst="rect">
            <a:avLst/>
          </a:prstGeom>
          <a:solidFill>
            <a:schemeClr val="tx2">
              <a:lumMod val="90000"/>
              <a:lumOff val="10000"/>
            </a:schemeClr>
          </a:solidFill>
          <a:ln>
            <a:solidFill>
              <a:schemeClr val="tx2">
                <a:lumMod val="90000"/>
                <a:lumOff val="10000"/>
              </a:schemeClr>
            </a:solid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bg1"/>
                </a:solidFill>
              </a:rPr>
              <a:t>Client Focus</a:t>
            </a:r>
          </a:p>
          <a:p>
            <a:pPr algn="ctr"/>
            <a:endParaRPr lang="en-US" sz="1000" b="1" dirty="0">
              <a:solidFill>
                <a:schemeClr val="bg1"/>
              </a:solidFill>
            </a:endParaRPr>
          </a:p>
        </p:txBody>
      </p:sp>
      <p:sp>
        <p:nvSpPr>
          <p:cNvPr id="60" name="Rectangle 59"/>
          <p:cNvSpPr/>
          <p:nvPr/>
        </p:nvSpPr>
        <p:spPr>
          <a:xfrm>
            <a:off x="2825805" y="4732958"/>
            <a:ext cx="2004815" cy="730541"/>
          </a:xfrm>
          <a:prstGeom prst="rect">
            <a:avLst/>
          </a:prstGeom>
          <a:solidFill>
            <a:schemeClr val="tx2">
              <a:lumMod val="90000"/>
              <a:lumOff val="10000"/>
            </a:schemeClr>
          </a:solidFill>
          <a:ln>
            <a:solidFill>
              <a:schemeClr val="tx2">
                <a:lumMod val="90000"/>
                <a:lumOff val="10000"/>
              </a:schemeClr>
            </a:solid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bg1"/>
                </a:solidFill>
              </a:rPr>
              <a:t>Client/ Partner objectives </a:t>
            </a:r>
          </a:p>
        </p:txBody>
      </p:sp>
      <p:sp>
        <p:nvSpPr>
          <p:cNvPr id="61" name="Rectangle 60"/>
          <p:cNvSpPr/>
          <p:nvPr/>
        </p:nvSpPr>
        <p:spPr>
          <a:xfrm>
            <a:off x="2825805" y="5536558"/>
            <a:ext cx="2004815" cy="730541"/>
          </a:xfrm>
          <a:prstGeom prst="rect">
            <a:avLst/>
          </a:prstGeom>
          <a:solidFill>
            <a:schemeClr val="tx2">
              <a:lumMod val="90000"/>
              <a:lumOff val="10000"/>
            </a:schemeClr>
          </a:solidFill>
          <a:ln>
            <a:solidFill>
              <a:schemeClr val="tx2">
                <a:lumMod val="90000"/>
                <a:lumOff val="10000"/>
              </a:schemeClr>
            </a:solid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chemeClr val="bg1"/>
                </a:solidFill>
              </a:rPr>
              <a:t>Financial excellence</a:t>
            </a:r>
          </a:p>
        </p:txBody>
      </p:sp>
      <p:sp>
        <p:nvSpPr>
          <p:cNvPr id="62" name="Rectangle 61"/>
          <p:cNvSpPr/>
          <p:nvPr/>
        </p:nvSpPr>
        <p:spPr>
          <a:xfrm>
            <a:off x="4899722" y="2322157"/>
            <a:ext cx="4645567" cy="730541"/>
          </a:xfrm>
          <a:prstGeom prst="rect">
            <a:avLst/>
          </a:prstGeom>
          <a:solidFill>
            <a:schemeClr val="bg1"/>
          </a:solidFill>
          <a:ln>
            <a:solidFill>
              <a:schemeClr val="tx1"/>
            </a:solid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ZA" sz="1000" b="1" dirty="0">
                <a:solidFill>
                  <a:schemeClr val="tx1"/>
                </a:solidFill>
              </a:rPr>
              <a:t>Live our values </a:t>
            </a:r>
            <a:r>
              <a:rPr lang="en-ZA" sz="1000" dirty="0">
                <a:solidFill>
                  <a:schemeClr val="tx1"/>
                </a:solidFill>
              </a:rPr>
              <a:t>of Transformation, Innovation, Client Centricity, Performance, Inclusiveness and Integrity</a:t>
            </a:r>
          </a:p>
        </p:txBody>
      </p:sp>
      <p:sp>
        <p:nvSpPr>
          <p:cNvPr id="63" name="Rectangle 62"/>
          <p:cNvSpPr/>
          <p:nvPr/>
        </p:nvSpPr>
        <p:spPr>
          <a:xfrm>
            <a:off x="4892738" y="3123100"/>
            <a:ext cx="4645567" cy="730541"/>
          </a:xfrm>
          <a:prstGeom prst="rect">
            <a:avLst/>
          </a:prstGeom>
          <a:solidFill>
            <a:schemeClr val="bg1"/>
          </a:solidFill>
          <a:ln>
            <a:solidFill>
              <a:schemeClr val="tx1"/>
            </a:solid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ZA" sz="1000" b="1" dirty="0">
                <a:solidFill>
                  <a:schemeClr val="tx1"/>
                </a:solidFill>
              </a:rPr>
              <a:t>Develop, attract and retain talent </a:t>
            </a:r>
            <a:r>
              <a:rPr lang="en-ZA" sz="1000" dirty="0">
                <a:solidFill>
                  <a:schemeClr val="tx1"/>
                </a:solidFill>
              </a:rPr>
              <a:t>in a best fit organisational structure that will </a:t>
            </a:r>
            <a:r>
              <a:rPr lang="en-ZA" sz="1000" b="1" dirty="0">
                <a:solidFill>
                  <a:schemeClr val="tx1"/>
                </a:solidFill>
              </a:rPr>
              <a:t>deliver on our mission</a:t>
            </a:r>
          </a:p>
          <a:p>
            <a:endParaRPr lang="en-ZA" sz="1000" dirty="0">
              <a:solidFill>
                <a:schemeClr val="tx1"/>
              </a:solidFill>
            </a:endParaRPr>
          </a:p>
        </p:txBody>
      </p:sp>
      <p:sp>
        <p:nvSpPr>
          <p:cNvPr id="64" name="Rectangle 63"/>
          <p:cNvSpPr/>
          <p:nvPr/>
        </p:nvSpPr>
        <p:spPr>
          <a:xfrm>
            <a:off x="4899722" y="3930975"/>
            <a:ext cx="4645567" cy="730541"/>
          </a:xfrm>
          <a:prstGeom prst="rect">
            <a:avLst/>
          </a:prstGeom>
          <a:solidFill>
            <a:schemeClr val="bg1"/>
          </a:solidFill>
          <a:ln>
            <a:solidFill>
              <a:schemeClr val="tx1"/>
            </a:solid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ZA" sz="1000" dirty="0">
                <a:solidFill>
                  <a:schemeClr val="tx1"/>
                </a:solidFill>
              </a:rPr>
              <a:t>Deliver consistent, </a:t>
            </a:r>
            <a:r>
              <a:rPr lang="en-ZA" sz="1000" b="1" dirty="0">
                <a:solidFill>
                  <a:schemeClr val="tx1"/>
                </a:solidFill>
              </a:rPr>
              <a:t>high quality client experiences</a:t>
            </a:r>
          </a:p>
          <a:p>
            <a:r>
              <a:rPr lang="en-ZA" sz="1000" dirty="0">
                <a:solidFill>
                  <a:schemeClr val="tx1"/>
                </a:solidFill>
              </a:rPr>
              <a:t>Grow a </a:t>
            </a:r>
            <a:r>
              <a:rPr lang="en-ZA" sz="1000" b="1" dirty="0">
                <a:solidFill>
                  <a:schemeClr val="tx1"/>
                </a:solidFill>
              </a:rPr>
              <a:t>loyal, long term client base </a:t>
            </a:r>
            <a:r>
              <a:rPr lang="en-ZA" sz="1000" dirty="0">
                <a:solidFill>
                  <a:schemeClr val="tx1"/>
                </a:solidFill>
              </a:rPr>
              <a:t>– new and existing.</a:t>
            </a:r>
          </a:p>
          <a:p>
            <a:r>
              <a:rPr lang="en-ZA" sz="1000" b="1" dirty="0">
                <a:solidFill>
                  <a:schemeClr val="tx1"/>
                </a:solidFill>
              </a:rPr>
              <a:t>Cultivate mutually beneficial partnerships </a:t>
            </a:r>
          </a:p>
          <a:p>
            <a:r>
              <a:rPr lang="en-ZA" sz="1000" b="1" dirty="0">
                <a:solidFill>
                  <a:schemeClr val="tx1"/>
                </a:solidFill>
              </a:rPr>
              <a:t>Drive productivity and quality </a:t>
            </a:r>
            <a:r>
              <a:rPr lang="en-ZA" sz="1000" dirty="0">
                <a:solidFill>
                  <a:schemeClr val="tx1"/>
                </a:solidFill>
              </a:rPr>
              <a:t>through process improvement and PM</a:t>
            </a:r>
          </a:p>
        </p:txBody>
      </p:sp>
      <p:sp>
        <p:nvSpPr>
          <p:cNvPr id="65" name="Rectangle 64"/>
          <p:cNvSpPr/>
          <p:nvPr/>
        </p:nvSpPr>
        <p:spPr>
          <a:xfrm>
            <a:off x="4892738" y="4732958"/>
            <a:ext cx="4645567" cy="730541"/>
          </a:xfrm>
          <a:prstGeom prst="rect">
            <a:avLst/>
          </a:prstGeom>
          <a:solidFill>
            <a:schemeClr val="bg1"/>
          </a:solidFill>
          <a:ln>
            <a:solidFill>
              <a:schemeClr val="tx1"/>
            </a:solid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ZA" sz="1000" dirty="0">
                <a:solidFill>
                  <a:schemeClr val="tx1"/>
                </a:solidFill>
              </a:rPr>
              <a:t>Provide </a:t>
            </a:r>
            <a:r>
              <a:rPr lang="en-ZA" sz="1000" b="1" dirty="0">
                <a:solidFill>
                  <a:schemeClr val="tx1"/>
                </a:solidFill>
              </a:rPr>
              <a:t>high quality, market competitive professional services</a:t>
            </a:r>
          </a:p>
        </p:txBody>
      </p:sp>
      <p:sp>
        <p:nvSpPr>
          <p:cNvPr id="66" name="Rectangle 65"/>
          <p:cNvSpPr/>
          <p:nvPr/>
        </p:nvSpPr>
        <p:spPr>
          <a:xfrm>
            <a:off x="4892738" y="5534941"/>
            <a:ext cx="4645567" cy="730541"/>
          </a:xfrm>
          <a:prstGeom prst="rect">
            <a:avLst/>
          </a:prstGeom>
          <a:solidFill>
            <a:schemeClr val="bg1"/>
          </a:solidFill>
          <a:ln>
            <a:solidFill>
              <a:schemeClr val="tx1"/>
            </a:solidFill>
          </a:ln>
          <a:effectLst>
            <a:outerShdw blurRad="50800" dist="38100" dir="2700000" algn="tl" rotWithShape="0">
              <a:schemeClr val="bg1">
                <a:alpha val="4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US" sz="1000" dirty="0">
                <a:solidFill>
                  <a:schemeClr val="tx1"/>
                </a:solidFill>
              </a:rPr>
              <a:t>Maximise revenue</a:t>
            </a:r>
          </a:p>
          <a:p>
            <a:r>
              <a:rPr lang="en-US" sz="1000" dirty="0">
                <a:solidFill>
                  <a:schemeClr val="tx1"/>
                </a:solidFill>
              </a:rPr>
              <a:t>Minimise costs</a:t>
            </a:r>
          </a:p>
          <a:p>
            <a:r>
              <a:rPr lang="en-US" sz="1000" dirty="0">
                <a:solidFill>
                  <a:schemeClr val="tx1"/>
                </a:solidFill>
              </a:rPr>
              <a:t>KPI’s are defined in implementation section</a:t>
            </a:r>
          </a:p>
        </p:txBody>
      </p:sp>
      <p:sp>
        <p:nvSpPr>
          <p:cNvPr id="11" name="TextBox 10"/>
          <p:cNvSpPr txBox="1"/>
          <p:nvPr/>
        </p:nvSpPr>
        <p:spPr>
          <a:xfrm>
            <a:off x="350617" y="2056153"/>
            <a:ext cx="2387869" cy="246221"/>
          </a:xfrm>
          <a:prstGeom prst="rect">
            <a:avLst/>
          </a:prstGeom>
          <a:solidFill>
            <a:schemeClr val="accent4">
              <a:lumMod val="75000"/>
            </a:schemeClr>
          </a:solidFill>
        </p:spPr>
        <p:txBody>
          <a:bodyPr wrap="square" rtlCol="0">
            <a:spAutoFit/>
          </a:bodyPr>
          <a:lstStyle/>
          <a:p>
            <a:r>
              <a:rPr lang="en-ZA" sz="1000" b="1" dirty="0">
                <a:solidFill>
                  <a:schemeClr val="bg1"/>
                </a:solidFill>
              </a:rPr>
              <a:t>Description</a:t>
            </a:r>
          </a:p>
        </p:txBody>
      </p:sp>
      <p:sp>
        <p:nvSpPr>
          <p:cNvPr id="67" name="TextBox 66"/>
          <p:cNvSpPr txBox="1"/>
          <p:nvPr/>
        </p:nvSpPr>
        <p:spPr>
          <a:xfrm>
            <a:off x="2825805" y="2050420"/>
            <a:ext cx="6728723" cy="251954"/>
          </a:xfrm>
          <a:prstGeom prst="rect">
            <a:avLst/>
          </a:prstGeom>
          <a:solidFill>
            <a:schemeClr val="accent4">
              <a:lumMod val="75000"/>
            </a:schemeClr>
          </a:solidFill>
        </p:spPr>
        <p:txBody>
          <a:bodyPr wrap="square" rtlCol="0">
            <a:spAutoFit/>
          </a:bodyPr>
          <a:lstStyle/>
          <a:p>
            <a:r>
              <a:rPr lang="en-ZA" sz="1000" b="1" dirty="0">
                <a:solidFill>
                  <a:schemeClr val="bg1"/>
                </a:solidFill>
              </a:rPr>
              <a:t>Objectives</a:t>
            </a:r>
          </a:p>
        </p:txBody>
      </p:sp>
    </p:spTree>
    <p:extLst>
      <p:ext uri="{BB962C8B-B14F-4D97-AF65-F5344CB8AC3E}">
        <p14:creationId xmlns:p14="http://schemas.microsoft.com/office/powerpoint/2010/main" val="892263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1968" name="think-cell Slide" r:id="rId4" imgW="216" imgH="216" progId="TCLayout.ActiveDocument.1">
                  <p:embed/>
                </p:oleObj>
              </mc:Choice>
              <mc:Fallback>
                <p:oleObj name="think-cell Slide" r:id="rId4" imgW="216" imgH="216"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8" name="Rectangle 87"/>
          <p:cNvSpPr/>
          <p:nvPr/>
        </p:nvSpPr>
        <p:spPr>
          <a:xfrm>
            <a:off x="5038206" y="3363805"/>
            <a:ext cx="4500000" cy="2897622"/>
          </a:xfrm>
          <a:prstGeom prst="rect">
            <a:avLst/>
          </a:prstGeom>
          <a:solidFill>
            <a:schemeClr val="bg1"/>
          </a:solidFill>
          <a:ln w="9525" cap="flat" cmpd="sng" algn="ctr">
            <a:solidFill>
              <a:srgbClr val="808080"/>
            </a:solidFill>
            <a:prstDash val="solid"/>
          </a:ln>
          <a:effectLst>
            <a:outerShdw blurRad="50800" dist="38100" dir="2700000" algn="tl" rotWithShape="0">
              <a:schemeClr val="bg1">
                <a:alpha val="40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dirty="0">
              <a:ln>
                <a:noFill/>
              </a:ln>
              <a:solidFill>
                <a:srgbClr val="003896"/>
              </a:solidFill>
              <a:effectLst/>
              <a:uLnTx/>
              <a:uFillTx/>
              <a:ea typeface="ＭＳ Ｐゴシック"/>
              <a:cs typeface="+mn-cs"/>
            </a:endParaRPr>
          </a:p>
        </p:txBody>
      </p:sp>
      <p:sp>
        <p:nvSpPr>
          <p:cNvPr id="90" name="Title 1"/>
          <p:cNvSpPr txBox="1">
            <a:spLocks/>
          </p:cNvSpPr>
          <p:nvPr/>
        </p:nvSpPr>
        <p:spPr bwMode="auto">
          <a:xfrm>
            <a:off x="5038205" y="3091396"/>
            <a:ext cx="4523307" cy="288000"/>
          </a:xfrm>
          <a:prstGeom prst="rect">
            <a:avLst/>
          </a:prstGeom>
          <a:solidFill>
            <a:schemeClr val="bg1">
              <a:lumMod val="50000"/>
            </a:schemeClr>
          </a:solidFill>
          <a:ln>
            <a:noFill/>
          </a:ln>
          <a:effectLst/>
          <a:extLst/>
        </p:spPr>
        <p:txBody>
          <a:bodyPr vert="horz" wrap="square" lIns="72000" tIns="36000" rIns="72000" bIns="36000" numCol="1" anchor="t" anchorCtr="0" compatLnSpc="1">
            <a:prstTxWarp prst="textNoShape">
              <a:avLst/>
            </a:prstTxWarp>
            <a:noAutofit/>
          </a:bodyPr>
          <a:lstStyle>
            <a:lvl1pPr algn="l" defTabSz="892894" rtl="0" eaLnBrk="1" fontAlgn="base" hangingPunct="1">
              <a:spcBef>
                <a:spcPct val="0"/>
              </a:spcBef>
              <a:spcAft>
                <a:spcPct val="0"/>
              </a:spcAft>
              <a:tabLst>
                <a:tab pos="269133" algn="l"/>
              </a:tabLst>
              <a:defRPr sz="2400" b="0" baseline="0">
                <a:solidFill>
                  <a:schemeClr val="bg1"/>
                </a:solidFill>
                <a:latin typeface="+mj-lt"/>
                <a:ea typeface="Arial Unicode MS" pitchFamily="34" charset="-128"/>
                <a:cs typeface="Arial Unicode MS" pitchFamily="34" charset="-128"/>
              </a:defRPr>
            </a:lvl1pPr>
            <a:lvl2pPr algn="l" defTabSz="892894" rtl="0" eaLnBrk="1" fontAlgn="base" hangingPunct="1">
              <a:spcBef>
                <a:spcPct val="0"/>
              </a:spcBef>
              <a:spcAft>
                <a:spcPct val="0"/>
              </a:spcAft>
              <a:defRPr sz="1900" b="1">
                <a:solidFill>
                  <a:schemeClr val="tx2"/>
                </a:solidFill>
                <a:latin typeface="Arial" charset="0"/>
              </a:defRPr>
            </a:lvl2pPr>
            <a:lvl3pPr algn="l" defTabSz="892894" rtl="0" eaLnBrk="1" fontAlgn="base" hangingPunct="1">
              <a:spcBef>
                <a:spcPct val="0"/>
              </a:spcBef>
              <a:spcAft>
                <a:spcPct val="0"/>
              </a:spcAft>
              <a:defRPr sz="1900" b="1">
                <a:solidFill>
                  <a:schemeClr val="tx2"/>
                </a:solidFill>
                <a:latin typeface="Arial" charset="0"/>
              </a:defRPr>
            </a:lvl3pPr>
            <a:lvl4pPr algn="l" defTabSz="892894" rtl="0" eaLnBrk="1" fontAlgn="base" hangingPunct="1">
              <a:spcBef>
                <a:spcPct val="0"/>
              </a:spcBef>
              <a:spcAft>
                <a:spcPct val="0"/>
              </a:spcAft>
              <a:defRPr sz="1900" b="1">
                <a:solidFill>
                  <a:schemeClr val="tx2"/>
                </a:solidFill>
                <a:latin typeface="Arial" charset="0"/>
              </a:defRPr>
            </a:lvl4pPr>
            <a:lvl5pPr algn="l" defTabSz="892894" rtl="0" eaLnBrk="1" fontAlgn="base" hangingPunct="1">
              <a:spcBef>
                <a:spcPct val="0"/>
              </a:spcBef>
              <a:spcAft>
                <a:spcPct val="0"/>
              </a:spcAft>
              <a:defRPr sz="1900" b="1">
                <a:solidFill>
                  <a:schemeClr val="tx2"/>
                </a:solidFill>
                <a:latin typeface="Arial" charset="0"/>
              </a:defRPr>
            </a:lvl5pPr>
            <a:lvl6pPr marL="455943" algn="l" defTabSz="892894" rtl="0" eaLnBrk="1" fontAlgn="base" hangingPunct="1">
              <a:spcBef>
                <a:spcPct val="0"/>
              </a:spcBef>
              <a:spcAft>
                <a:spcPct val="0"/>
              </a:spcAft>
              <a:defRPr sz="1900" b="1">
                <a:solidFill>
                  <a:schemeClr val="tx2"/>
                </a:solidFill>
                <a:latin typeface="Arial" charset="0"/>
              </a:defRPr>
            </a:lvl6pPr>
            <a:lvl7pPr marL="911894" algn="l" defTabSz="892894" rtl="0" eaLnBrk="1" fontAlgn="base" hangingPunct="1">
              <a:spcBef>
                <a:spcPct val="0"/>
              </a:spcBef>
              <a:spcAft>
                <a:spcPct val="0"/>
              </a:spcAft>
              <a:defRPr sz="1900" b="1">
                <a:solidFill>
                  <a:schemeClr val="tx2"/>
                </a:solidFill>
                <a:latin typeface="Arial" charset="0"/>
              </a:defRPr>
            </a:lvl7pPr>
            <a:lvl8pPr marL="1367837" algn="l" defTabSz="892894" rtl="0" eaLnBrk="1" fontAlgn="base" hangingPunct="1">
              <a:spcBef>
                <a:spcPct val="0"/>
              </a:spcBef>
              <a:spcAft>
                <a:spcPct val="0"/>
              </a:spcAft>
              <a:defRPr sz="1900" b="1">
                <a:solidFill>
                  <a:schemeClr val="tx2"/>
                </a:solidFill>
                <a:latin typeface="Arial" charset="0"/>
              </a:defRPr>
            </a:lvl8pPr>
            <a:lvl9pPr marL="1823785" algn="l" defTabSz="892894" rtl="0" eaLnBrk="1" fontAlgn="base" hangingPunct="1">
              <a:spcBef>
                <a:spcPct val="0"/>
              </a:spcBef>
              <a:spcAft>
                <a:spcPct val="0"/>
              </a:spcAft>
              <a:defRPr sz="1900" b="1">
                <a:solidFill>
                  <a:schemeClr val="tx2"/>
                </a:solidFill>
                <a:latin typeface="Arial" charset="0"/>
              </a:defRPr>
            </a:lvl9pPr>
          </a:lstStyle>
          <a:p>
            <a:pPr marL="0" marR="0" lvl="0" indent="0" algn="l" defTabSz="892894" rtl="0" eaLnBrk="1" fontAlgn="base" latinLnBrk="0" hangingPunct="1">
              <a:lnSpc>
                <a:spcPct val="100000"/>
              </a:lnSpc>
              <a:spcBef>
                <a:spcPct val="0"/>
              </a:spcBef>
              <a:spcAft>
                <a:spcPct val="0"/>
              </a:spcAft>
              <a:buClrTx/>
              <a:buSzTx/>
              <a:buFontTx/>
              <a:buNone/>
              <a:tabLst>
                <a:tab pos="269133" algn="l"/>
              </a:tabLst>
              <a:defRPr/>
            </a:pPr>
            <a:r>
              <a:rPr kumimoji="0" lang="en-ZA" sz="1000" b="1" i="0" u="none" strike="noStrike" kern="0" cap="none" spc="0" normalizeH="0" baseline="0" noProof="0" dirty="0">
                <a:ln>
                  <a:noFill/>
                </a:ln>
                <a:solidFill>
                  <a:srgbClr val="FFFFFF"/>
                </a:solidFill>
                <a:effectLst/>
                <a:uLnTx/>
                <a:uFillTx/>
                <a:latin typeface="+mn-lt"/>
                <a:ea typeface="Arial Unicode MS" pitchFamily="34" charset="-128"/>
              </a:rPr>
              <a:t>Enabler for TCP as a whole</a:t>
            </a:r>
          </a:p>
          <a:p>
            <a:pPr marL="0" marR="0" lvl="0" indent="0" algn="l" defTabSz="892894" rtl="0" eaLnBrk="1" fontAlgn="base" latinLnBrk="0" hangingPunct="1">
              <a:lnSpc>
                <a:spcPct val="100000"/>
              </a:lnSpc>
              <a:spcBef>
                <a:spcPct val="0"/>
              </a:spcBef>
              <a:spcAft>
                <a:spcPct val="0"/>
              </a:spcAft>
              <a:buClrTx/>
              <a:buSzTx/>
              <a:buFontTx/>
              <a:buNone/>
              <a:tabLst>
                <a:tab pos="269133" algn="l"/>
              </a:tabLst>
              <a:defRPr/>
            </a:pPr>
            <a:endParaRPr kumimoji="0" lang="en-ZA" sz="1000" b="1" i="0" u="none" strike="noStrike" kern="0" cap="none" spc="0" normalizeH="0" baseline="0" noProof="0" dirty="0">
              <a:ln>
                <a:noFill/>
              </a:ln>
              <a:solidFill>
                <a:srgbClr val="FFFFFF"/>
              </a:solidFill>
              <a:effectLst/>
              <a:uLnTx/>
              <a:uFillTx/>
              <a:latin typeface="+mn-lt"/>
              <a:ea typeface="Arial Unicode MS" pitchFamily="34" charset="-128"/>
            </a:endParaRPr>
          </a:p>
        </p:txBody>
      </p:sp>
      <p:grpSp>
        <p:nvGrpSpPr>
          <p:cNvPr id="79" name="Group 78"/>
          <p:cNvGrpSpPr/>
          <p:nvPr/>
        </p:nvGrpSpPr>
        <p:grpSpPr>
          <a:xfrm>
            <a:off x="2965442" y="1995863"/>
            <a:ext cx="360000" cy="360000"/>
            <a:chOff x="5201234" y="2624347"/>
            <a:chExt cx="360000" cy="360000"/>
          </a:xfrm>
        </p:grpSpPr>
        <p:sp>
          <p:nvSpPr>
            <p:cNvPr id="77" name="Donut 76"/>
            <p:cNvSpPr/>
            <p:nvPr/>
          </p:nvSpPr>
          <p:spPr>
            <a:xfrm>
              <a:off x="5201234" y="2624347"/>
              <a:ext cx="360000" cy="360000"/>
            </a:xfrm>
            <a:prstGeom prst="donu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b="1" dirty="0">
                <a:solidFill>
                  <a:schemeClr val="tx1"/>
                </a:solidFill>
              </a:endParaRPr>
            </a:p>
          </p:txBody>
        </p:sp>
        <p:sp>
          <p:nvSpPr>
            <p:cNvPr id="78" name="TextBox 77"/>
            <p:cNvSpPr txBox="1"/>
            <p:nvPr/>
          </p:nvSpPr>
          <p:spPr>
            <a:xfrm>
              <a:off x="5245599" y="2688931"/>
              <a:ext cx="234327" cy="230832"/>
            </a:xfrm>
            <a:prstGeom prst="rect">
              <a:avLst/>
            </a:prstGeom>
            <a:noFill/>
          </p:spPr>
          <p:txBody>
            <a:bodyPr wrap="square" rtlCol="0" anchor="ctr">
              <a:spAutoFit/>
            </a:bodyPr>
            <a:lstStyle/>
            <a:p>
              <a:pPr algn="ctr"/>
              <a:r>
                <a:rPr lang="en-ZA" sz="900" b="1" dirty="0"/>
                <a:t>A</a:t>
              </a:r>
            </a:p>
          </p:txBody>
        </p:sp>
      </p:grpSp>
      <p:sp>
        <p:nvSpPr>
          <p:cNvPr id="55" name="Rectangle 54"/>
          <p:cNvSpPr/>
          <p:nvPr/>
        </p:nvSpPr>
        <p:spPr>
          <a:xfrm>
            <a:off x="351472" y="3363805"/>
            <a:ext cx="4490764" cy="2897622"/>
          </a:xfrm>
          <a:prstGeom prst="rect">
            <a:avLst/>
          </a:prstGeom>
          <a:solidFill>
            <a:schemeClr val="bg1"/>
          </a:solidFill>
          <a:ln w="9525" cap="flat" cmpd="sng" algn="ctr">
            <a:solidFill>
              <a:srgbClr val="808080"/>
            </a:solidFill>
            <a:prstDash val="solid"/>
          </a:ln>
          <a:effectLst>
            <a:outerShdw blurRad="50800" dist="38100" dir="2700000" algn="tl" rotWithShape="0">
              <a:schemeClr val="bg1">
                <a:alpha val="40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ZA" sz="1800" b="0" i="0" u="none" strike="noStrike" kern="0" cap="none" spc="0" normalizeH="0" baseline="0" noProof="0" dirty="0">
              <a:ln>
                <a:noFill/>
              </a:ln>
              <a:solidFill>
                <a:srgbClr val="003896"/>
              </a:solidFill>
              <a:effectLst/>
              <a:uLnTx/>
              <a:uFillTx/>
              <a:ea typeface="ＭＳ Ｐゴシック"/>
              <a:cs typeface="+mn-cs"/>
            </a:endParaRPr>
          </a:p>
        </p:txBody>
      </p:sp>
      <p:sp>
        <p:nvSpPr>
          <p:cNvPr id="2" name="Title 1"/>
          <p:cNvSpPr>
            <a:spLocks noGrp="1"/>
          </p:cNvSpPr>
          <p:nvPr>
            <p:ph type="title"/>
          </p:nvPr>
        </p:nvSpPr>
        <p:spPr/>
        <p:txBody>
          <a:bodyPr>
            <a:normAutofit/>
          </a:bodyPr>
          <a:lstStyle/>
          <a:p>
            <a:r>
              <a:rPr lang="en-ZA" sz="2000" dirty="0">
                <a:latin typeface="+mn-lt"/>
              </a:rPr>
              <a:t>Specialised Finance </a:t>
            </a:r>
            <a:r>
              <a:rPr lang="en-ZA" sz="2000" dirty="0"/>
              <a:t>strategy snapshot </a:t>
            </a:r>
            <a:r>
              <a:rPr lang="en-ZA" sz="2000" dirty="0">
                <a:latin typeface="+mn-lt"/>
              </a:rPr>
              <a:t>: </a:t>
            </a:r>
            <a:r>
              <a:rPr lang="en-ZA" sz="2000" dirty="0"/>
              <a:t>External analysis (1/4)</a:t>
            </a:r>
            <a:endParaRPr lang="en-ZA" sz="2000" dirty="0">
              <a:latin typeface="+mn-lt"/>
            </a:endParaRPr>
          </a:p>
        </p:txBody>
      </p:sp>
      <p:sp>
        <p:nvSpPr>
          <p:cNvPr id="13" name="Text Placeholder 2"/>
          <p:cNvSpPr>
            <a:spLocks noGrp="1"/>
          </p:cNvSpPr>
          <p:nvPr>
            <p:ph type="body" sz="quarter" idx="10"/>
          </p:nvPr>
        </p:nvSpPr>
        <p:spPr>
          <a:xfrm>
            <a:off x="350205" y="3371606"/>
            <a:ext cx="4492031" cy="2881026"/>
          </a:xfrm>
        </p:spPr>
        <p:txBody>
          <a:bodyPr>
            <a:normAutofit/>
          </a:bodyPr>
          <a:lstStyle/>
          <a:p>
            <a:r>
              <a:rPr lang="en-ZA" sz="900" dirty="0">
                <a:latin typeface="+mn-lt"/>
              </a:rPr>
              <a:t>Specialised finance is a </a:t>
            </a:r>
            <a:r>
              <a:rPr lang="en-ZA" sz="900" b="1" dirty="0">
                <a:latin typeface="+mn-lt"/>
              </a:rPr>
              <a:t>solutions driven business</a:t>
            </a:r>
            <a:r>
              <a:rPr lang="en-ZA" sz="900" dirty="0">
                <a:latin typeface="+mn-lt"/>
              </a:rPr>
              <a:t> positioned as an autonomous division within Financial Advisory </a:t>
            </a:r>
            <a:r>
              <a:rPr lang="en-US" sz="900" dirty="0">
                <a:latin typeface="+mn-lt"/>
              </a:rPr>
              <a:t>in line with leading practice and to </a:t>
            </a:r>
            <a:r>
              <a:rPr lang="en-ZA" sz="900" dirty="0">
                <a:latin typeface="+mn-lt"/>
              </a:rPr>
              <a:t>avoid perceived conflict of interest in the market</a:t>
            </a:r>
          </a:p>
          <a:p>
            <a:r>
              <a:rPr lang="en-ZA" sz="900" dirty="0">
                <a:latin typeface="+mn-lt"/>
              </a:rPr>
              <a:t>Our value proposition lies in:</a:t>
            </a:r>
          </a:p>
          <a:p>
            <a:pPr marL="679450" lvl="1" indent="-171450" fontAlgn="base">
              <a:buFont typeface="Arial" panose="020B0604020202020204" pitchFamily="34" charset="0"/>
              <a:buChar char="•"/>
              <a:defRPr/>
            </a:pPr>
            <a:r>
              <a:rPr lang="en-ZA" sz="900" b="1" dirty="0">
                <a:latin typeface="+mn-lt"/>
              </a:rPr>
              <a:t>Our risk share model = investment in our clients success</a:t>
            </a:r>
          </a:p>
          <a:p>
            <a:pPr marL="679450" lvl="1" indent="-171450" fontAlgn="base">
              <a:buFont typeface="Arial" panose="020B0604020202020204" pitchFamily="34" charset="0"/>
              <a:buChar char="•"/>
              <a:defRPr/>
            </a:pPr>
            <a:r>
              <a:rPr lang="en-ZA" sz="900" dirty="0">
                <a:latin typeface="+mn-lt"/>
              </a:rPr>
              <a:t>Define </a:t>
            </a:r>
            <a:r>
              <a:rPr lang="en-ZA" sz="900" b="1" dirty="0">
                <a:latin typeface="+mn-lt"/>
              </a:rPr>
              <a:t>strategic direction</a:t>
            </a:r>
            <a:r>
              <a:rPr lang="en-ZA" sz="900" dirty="0">
                <a:latin typeface="+mn-lt"/>
              </a:rPr>
              <a:t> </a:t>
            </a:r>
            <a:r>
              <a:rPr lang="en-ZA" sz="900" u="sng" dirty="0">
                <a:latin typeface="+mn-lt"/>
              </a:rPr>
              <a:t>and</a:t>
            </a:r>
            <a:r>
              <a:rPr lang="en-ZA" sz="900" dirty="0">
                <a:latin typeface="+mn-lt"/>
              </a:rPr>
              <a:t> </a:t>
            </a:r>
            <a:r>
              <a:rPr lang="en-ZA" sz="900" b="1" dirty="0">
                <a:latin typeface="+mn-lt"/>
              </a:rPr>
              <a:t>advise on capital market execution</a:t>
            </a:r>
            <a:r>
              <a:rPr lang="en-ZA" sz="900" dirty="0">
                <a:latin typeface="+mn-lt"/>
              </a:rPr>
              <a:t> in a manner that promotes sustainable value creation.</a:t>
            </a:r>
          </a:p>
          <a:p>
            <a:pPr marL="679450" lvl="1" indent="-171450" fontAlgn="base">
              <a:buFont typeface="Arial" panose="020B0604020202020204" pitchFamily="34" charset="0"/>
              <a:buChar char="•"/>
              <a:defRPr/>
            </a:pPr>
            <a:r>
              <a:rPr lang="en-ZA" sz="900" dirty="0">
                <a:latin typeface="+mn-lt"/>
              </a:rPr>
              <a:t>Our clients are an </a:t>
            </a:r>
            <a:r>
              <a:rPr lang="en-ZA" sz="900" b="1" dirty="0">
                <a:latin typeface="+mn-lt"/>
              </a:rPr>
              <a:t>invaluable</a:t>
            </a:r>
            <a:r>
              <a:rPr lang="en-ZA" sz="900" dirty="0">
                <a:latin typeface="+mn-lt"/>
              </a:rPr>
              <a:t> part of our advisory process and as such, we work in a collaborative manner</a:t>
            </a:r>
          </a:p>
          <a:p>
            <a:r>
              <a:rPr lang="en-ZA" sz="900" dirty="0">
                <a:latin typeface="+mn-lt"/>
              </a:rPr>
              <a:t>Our expertise spans both the public and private sectors, whilst our </a:t>
            </a:r>
            <a:r>
              <a:rPr lang="en-ZA" sz="900" b="1" dirty="0">
                <a:latin typeface="+mn-lt"/>
              </a:rPr>
              <a:t>competitive advantage lies in the public sector </a:t>
            </a:r>
            <a:r>
              <a:rPr lang="en-ZA" sz="900" dirty="0">
                <a:latin typeface="+mn-lt"/>
              </a:rPr>
              <a:t>due to our intimate knowledge of this operating environment and our team’s successful execution track record in this space.</a:t>
            </a:r>
          </a:p>
          <a:p>
            <a:r>
              <a:rPr lang="en-ZA" sz="900" dirty="0">
                <a:latin typeface="+mn-lt"/>
              </a:rPr>
              <a:t>Our core services include:</a:t>
            </a:r>
          </a:p>
        </p:txBody>
      </p:sp>
      <p:sp>
        <p:nvSpPr>
          <p:cNvPr id="6" name="Rectangle 5"/>
          <p:cNvSpPr>
            <a:spLocks/>
          </p:cNvSpPr>
          <p:nvPr/>
        </p:nvSpPr>
        <p:spPr>
          <a:xfrm>
            <a:off x="351472" y="1255501"/>
            <a:ext cx="9203055" cy="540000"/>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000" b="1" i="0" u="none" strike="noStrike" kern="0" cap="none" spc="0" normalizeH="0" baseline="0" noProof="0" dirty="0">
                <a:ln>
                  <a:noFill/>
                </a:ln>
                <a:solidFill>
                  <a:prstClr val="white"/>
                </a:solidFill>
                <a:effectLst/>
                <a:uLnTx/>
                <a:uFillTx/>
                <a:ea typeface="+mn-ea"/>
                <a:cs typeface="+mn-cs"/>
              </a:rPr>
              <a:t>Trillian Capital Partners</a:t>
            </a:r>
          </a:p>
        </p:txBody>
      </p:sp>
      <p:cxnSp>
        <p:nvCxnSpPr>
          <p:cNvPr id="11" name="Elbow Connector 10"/>
          <p:cNvCxnSpPr>
            <a:stCxn id="6" idx="2"/>
            <a:endCxn id="16" idx="0"/>
          </p:cNvCxnSpPr>
          <p:nvPr/>
        </p:nvCxnSpPr>
        <p:spPr>
          <a:xfrm rot="5400000">
            <a:off x="3131930" y="103179"/>
            <a:ext cx="128748" cy="3513392"/>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Elbow Connector 11"/>
          <p:cNvCxnSpPr>
            <a:stCxn id="6" idx="2"/>
            <a:endCxn id="8" idx="0"/>
          </p:cNvCxnSpPr>
          <p:nvPr/>
        </p:nvCxnSpPr>
        <p:spPr>
          <a:xfrm rot="16200000" flipH="1">
            <a:off x="6071509" y="676992"/>
            <a:ext cx="128748" cy="2365766"/>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6" idx="2"/>
            <a:endCxn id="10" idx="0"/>
          </p:cNvCxnSpPr>
          <p:nvPr/>
        </p:nvCxnSpPr>
        <p:spPr>
          <a:xfrm rot="16200000" flipH="1">
            <a:off x="6941413" y="-192912"/>
            <a:ext cx="128748" cy="4105574"/>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Elbow Connector 14"/>
          <p:cNvCxnSpPr>
            <a:stCxn id="6" idx="2"/>
            <a:endCxn id="9" idx="0"/>
          </p:cNvCxnSpPr>
          <p:nvPr/>
        </p:nvCxnSpPr>
        <p:spPr>
          <a:xfrm rot="5400000">
            <a:off x="4331702" y="1302951"/>
            <a:ext cx="128748" cy="1113849"/>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6" name="Group 35"/>
          <p:cNvGrpSpPr/>
          <p:nvPr/>
        </p:nvGrpSpPr>
        <p:grpSpPr>
          <a:xfrm>
            <a:off x="351472" y="1924249"/>
            <a:ext cx="9193102" cy="432000"/>
            <a:chOff x="351472" y="1599272"/>
            <a:chExt cx="9193102" cy="432000"/>
          </a:xfrm>
        </p:grpSpPr>
        <p:sp>
          <p:nvSpPr>
            <p:cNvPr id="7" name="Rectangle 6"/>
            <p:cNvSpPr>
              <a:spLocks/>
            </p:cNvSpPr>
            <p:nvPr/>
          </p:nvSpPr>
          <p:spPr>
            <a:xfrm>
              <a:off x="5092958" y="1599272"/>
              <a:ext cx="972000" cy="432000"/>
            </a:xfrm>
            <a:prstGeom prst="rect">
              <a:avLst/>
            </a:prstGeom>
            <a:noFill/>
            <a:ln w="12700" cap="flat" cmpd="sng" algn="ctr">
              <a:solidFill>
                <a:sysClr val="window" lastClr="FFFFFF">
                  <a:lumMod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000" b="1" i="0" u="none" strike="noStrike" kern="0" cap="none" spc="0" normalizeH="0" baseline="0" noProof="0" dirty="0">
                  <a:ln>
                    <a:noFill/>
                  </a:ln>
                  <a:effectLst/>
                  <a:uLnTx/>
                  <a:uFillTx/>
                  <a:ea typeface="+mn-ea"/>
                  <a:cs typeface="+mn-cs"/>
                </a:rPr>
                <a:t>Asset Management</a:t>
              </a:r>
            </a:p>
          </p:txBody>
        </p:sp>
        <p:sp>
          <p:nvSpPr>
            <p:cNvPr id="8" name="Rectangle 7"/>
            <p:cNvSpPr>
              <a:spLocks/>
            </p:cNvSpPr>
            <p:nvPr/>
          </p:nvSpPr>
          <p:spPr>
            <a:xfrm>
              <a:off x="6832766" y="1599272"/>
              <a:ext cx="972000" cy="432000"/>
            </a:xfrm>
            <a:prstGeom prst="rect">
              <a:avLst/>
            </a:prstGeom>
            <a:noFill/>
            <a:ln w="12700" cap="flat" cmpd="sng" algn="ctr">
              <a:solidFill>
                <a:sysClr val="window" lastClr="FFFFFF">
                  <a:lumMod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000" b="1" i="0" u="none" strike="noStrike" kern="0" cap="none" spc="0" normalizeH="0" baseline="0" noProof="0" dirty="0">
                  <a:ln>
                    <a:noFill/>
                  </a:ln>
                  <a:effectLst/>
                  <a:uLnTx/>
                  <a:uFillTx/>
                  <a:ea typeface="+mn-ea"/>
                  <a:cs typeface="+mn-cs"/>
                </a:rPr>
                <a:t>Securities</a:t>
              </a:r>
            </a:p>
          </p:txBody>
        </p:sp>
        <p:sp>
          <p:nvSpPr>
            <p:cNvPr id="9" name="Rectangle 8"/>
            <p:cNvSpPr>
              <a:spLocks/>
            </p:cNvSpPr>
            <p:nvPr/>
          </p:nvSpPr>
          <p:spPr>
            <a:xfrm>
              <a:off x="3353151" y="1599272"/>
              <a:ext cx="972000" cy="432000"/>
            </a:xfrm>
            <a:prstGeom prst="rect">
              <a:avLst/>
            </a:prstGeom>
            <a:noFill/>
            <a:ln w="12700" cap="flat" cmpd="sng" algn="ctr">
              <a:solidFill>
                <a:sysClr val="window" lastClr="FFFFFF">
                  <a:lumMod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000" b="1" i="0" u="none" strike="noStrike" kern="0" cap="none" spc="0" normalizeH="0" baseline="0" noProof="0" dirty="0">
                  <a:ln>
                    <a:noFill/>
                  </a:ln>
                  <a:effectLst/>
                  <a:uLnTx/>
                  <a:uFillTx/>
                  <a:ea typeface="+mn-ea"/>
                  <a:cs typeface="+mn-cs"/>
                </a:rPr>
                <a:t>Management Consulting</a:t>
              </a:r>
            </a:p>
          </p:txBody>
        </p:sp>
        <p:sp>
          <p:nvSpPr>
            <p:cNvPr id="10" name="Rectangle 9"/>
            <p:cNvSpPr>
              <a:spLocks/>
            </p:cNvSpPr>
            <p:nvPr/>
          </p:nvSpPr>
          <p:spPr>
            <a:xfrm>
              <a:off x="8572574" y="1599272"/>
              <a:ext cx="972000" cy="432000"/>
            </a:xfrm>
            <a:prstGeom prst="rect">
              <a:avLst/>
            </a:prstGeom>
            <a:noFill/>
            <a:ln w="12700" cap="flat" cmpd="sng" algn="ctr">
              <a:solidFill>
                <a:sysClr val="window" lastClr="FFFFFF">
                  <a:lumMod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000" b="1" i="0" u="none" strike="noStrike" kern="0" cap="none" spc="0" normalizeH="0" baseline="0" noProof="0" dirty="0">
                  <a:ln>
                    <a:noFill/>
                  </a:ln>
                  <a:effectLst/>
                  <a:uLnTx/>
                  <a:uFillTx/>
                  <a:ea typeface="+mn-ea"/>
                  <a:cs typeface="+mn-cs"/>
                </a:rPr>
                <a:t>Property</a:t>
              </a:r>
            </a:p>
          </p:txBody>
        </p:sp>
        <p:sp>
          <p:nvSpPr>
            <p:cNvPr id="16" name="Rectangle 15"/>
            <p:cNvSpPr>
              <a:spLocks/>
            </p:cNvSpPr>
            <p:nvPr/>
          </p:nvSpPr>
          <p:spPr>
            <a:xfrm>
              <a:off x="351472" y="1599272"/>
              <a:ext cx="2176272" cy="432000"/>
            </a:xfrm>
            <a:prstGeom prst="rect">
              <a:avLst/>
            </a:prstGeom>
            <a:solidFill>
              <a:srgbClr val="002060"/>
            </a:solidFill>
            <a:ln w="9525" cap="flat" cmpd="sng" algn="ctr">
              <a:solidFill>
                <a:sysClr val="window" lastClr="FFFFFF">
                  <a:lumMod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000" b="1" i="0" u="none" strike="noStrike" kern="0" cap="none" spc="0" normalizeH="0" baseline="0" noProof="0" dirty="0">
                  <a:ln>
                    <a:noFill/>
                  </a:ln>
                  <a:solidFill>
                    <a:prstClr val="white"/>
                  </a:solidFill>
                  <a:effectLst/>
                  <a:uLnTx/>
                  <a:uFillTx/>
                  <a:ea typeface="+mn-ea"/>
                  <a:cs typeface="+mn-cs"/>
                </a:rPr>
                <a:t>Financial Advisory</a:t>
              </a:r>
            </a:p>
          </p:txBody>
        </p:sp>
      </p:grpSp>
      <p:cxnSp>
        <p:nvCxnSpPr>
          <p:cNvPr id="18" name="Elbow Connector 17"/>
          <p:cNvCxnSpPr>
            <a:stCxn id="6" idx="2"/>
            <a:endCxn id="7" idx="0"/>
          </p:cNvCxnSpPr>
          <p:nvPr/>
        </p:nvCxnSpPr>
        <p:spPr>
          <a:xfrm rot="16200000" flipH="1">
            <a:off x="5201605" y="1546896"/>
            <a:ext cx="128748" cy="625958"/>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5" name="Group 34"/>
          <p:cNvGrpSpPr/>
          <p:nvPr/>
        </p:nvGrpSpPr>
        <p:grpSpPr>
          <a:xfrm>
            <a:off x="351472" y="2568331"/>
            <a:ext cx="2176272" cy="432000"/>
            <a:chOff x="1338385" y="2260072"/>
            <a:chExt cx="2176272" cy="432000"/>
          </a:xfrm>
        </p:grpSpPr>
        <p:sp>
          <p:nvSpPr>
            <p:cNvPr id="25" name="Rectangle 24"/>
            <p:cNvSpPr>
              <a:spLocks/>
            </p:cNvSpPr>
            <p:nvPr/>
          </p:nvSpPr>
          <p:spPr>
            <a:xfrm>
              <a:off x="1338385" y="2260072"/>
              <a:ext cx="914400" cy="432000"/>
            </a:xfrm>
            <a:prstGeom prst="rect">
              <a:avLst/>
            </a:prstGeom>
            <a:solidFill>
              <a:srgbClr val="002060"/>
            </a:solidFill>
            <a:ln w="9525" cap="flat" cmpd="sng" algn="ctr">
              <a:solidFill>
                <a:sysClr val="window" lastClr="FFFFFF">
                  <a:lumMod val="50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ZA" sz="1000" b="1" i="0" u="none" strike="noStrike" kern="0" cap="none" spc="0" normalizeH="0" baseline="0" noProof="0" dirty="0">
                  <a:ln>
                    <a:noFill/>
                  </a:ln>
                  <a:solidFill>
                    <a:prstClr val="white"/>
                  </a:solidFill>
                  <a:effectLst/>
                  <a:uLnTx/>
                  <a:uFillTx/>
                  <a:ea typeface="+mn-ea"/>
                  <a:cs typeface="+mn-cs"/>
                </a:rPr>
                <a:t>Specialised Finance</a:t>
              </a:r>
            </a:p>
          </p:txBody>
        </p:sp>
        <p:sp>
          <p:nvSpPr>
            <p:cNvPr id="26" name="Rectangle 25"/>
            <p:cNvSpPr>
              <a:spLocks/>
            </p:cNvSpPr>
            <p:nvPr/>
          </p:nvSpPr>
          <p:spPr>
            <a:xfrm>
              <a:off x="2600257" y="2260072"/>
              <a:ext cx="914400" cy="432000"/>
            </a:xfrm>
            <a:prstGeom prst="rect">
              <a:avLst/>
            </a:prstGeom>
            <a:noFill/>
            <a:ln w="12700" cap="flat" cmpd="sng" algn="ctr">
              <a:solidFill>
                <a:sysClr val="window" lastClr="FFFFFF">
                  <a:lumMod val="50000"/>
                </a:sysClr>
              </a:solidFill>
              <a:prstDash val="solid"/>
              <a:miter lim="800000"/>
            </a:ln>
            <a:effectLst/>
          </p:spPr>
          <p:txBody>
            <a:bodyPr rtlCol="0" anchor="ctr"/>
            <a:lstStyle/>
            <a:p>
              <a:pPr algn="ctr"/>
              <a:r>
                <a:rPr lang="en-ZA" sz="1000" kern="0" dirty="0"/>
                <a:t>Debt Capital Markets</a:t>
              </a:r>
            </a:p>
          </p:txBody>
        </p:sp>
      </p:grpSp>
      <p:cxnSp>
        <p:nvCxnSpPr>
          <p:cNvPr id="27" name="Elbow Connector 26"/>
          <p:cNvCxnSpPr/>
          <p:nvPr/>
        </p:nvCxnSpPr>
        <p:spPr>
          <a:xfrm rot="5400000">
            <a:off x="1007310" y="2128572"/>
            <a:ext cx="233661" cy="630936"/>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Elbow Connector 27"/>
          <p:cNvCxnSpPr/>
          <p:nvPr/>
        </p:nvCxnSpPr>
        <p:spPr>
          <a:xfrm rot="16200000" flipH="1">
            <a:off x="1638246" y="2128572"/>
            <a:ext cx="233661" cy="630936"/>
          </a:xfrm>
          <a:prstGeom prst="bentConnector3">
            <a:avLst>
              <a:gd name="adj1" fmla="val 50000"/>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0" name="Title 1"/>
          <p:cNvSpPr txBox="1">
            <a:spLocks/>
          </p:cNvSpPr>
          <p:nvPr/>
        </p:nvSpPr>
        <p:spPr bwMode="auto">
          <a:xfrm>
            <a:off x="351472" y="3091396"/>
            <a:ext cx="4500000" cy="288000"/>
          </a:xfrm>
          <a:prstGeom prst="rect">
            <a:avLst/>
          </a:prstGeom>
          <a:solidFill>
            <a:schemeClr val="bg1">
              <a:lumMod val="50000"/>
            </a:schemeClr>
          </a:solidFill>
          <a:ln>
            <a:noFill/>
          </a:ln>
          <a:effectLst/>
          <a:extLst/>
        </p:spPr>
        <p:txBody>
          <a:bodyPr vert="horz" wrap="square" lIns="72000" tIns="36000" rIns="72000" bIns="36000" numCol="1" anchor="t" anchorCtr="0" compatLnSpc="1">
            <a:prstTxWarp prst="textNoShape">
              <a:avLst/>
            </a:prstTxWarp>
            <a:noAutofit/>
          </a:bodyPr>
          <a:lstStyle>
            <a:lvl1pPr algn="l" defTabSz="892894" rtl="0" eaLnBrk="1" fontAlgn="base" hangingPunct="1">
              <a:spcBef>
                <a:spcPct val="0"/>
              </a:spcBef>
              <a:spcAft>
                <a:spcPct val="0"/>
              </a:spcAft>
              <a:tabLst>
                <a:tab pos="269133" algn="l"/>
              </a:tabLst>
              <a:defRPr sz="2400" b="0" baseline="0">
                <a:solidFill>
                  <a:schemeClr val="bg1"/>
                </a:solidFill>
                <a:latin typeface="+mj-lt"/>
                <a:ea typeface="Arial Unicode MS" pitchFamily="34" charset="-128"/>
                <a:cs typeface="Arial Unicode MS" pitchFamily="34" charset="-128"/>
              </a:defRPr>
            </a:lvl1pPr>
            <a:lvl2pPr algn="l" defTabSz="892894" rtl="0" eaLnBrk="1" fontAlgn="base" hangingPunct="1">
              <a:spcBef>
                <a:spcPct val="0"/>
              </a:spcBef>
              <a:spcAft>
                <a:spcPct val="0"/>
              </a:spcAft>
              <a:defRPr sz="1900" b="1">
                <a:solidFill>
                  <a:schemeClr val="tx2"/>
                </a:solidFill>
                <a:latin typeface="Arial" charset="0"/>
              </a:defRPr>
            </a:lvl2pPr>
            <a:lvl3pPr algn="l" defTabSz="892894" rtl="0" eaLnBrk="1" fontAlgn="base" hangingPunct="1">
              <a:spcBef>
                <a:spcPct val="0"/>
              </a:spcBef>
              <a:spcAft>
                <a:spcPct val="0"/>
              </a:spcAft>
              <a:defRPr sz="1900" b="1">
                <a:solidFill>
                  <a:schemeClr val="tx2"/>
                </a:solidFill>
                <a:latin typeface="Arial" charset="0"/>
              </a:defRPr>
            </a:lvl3pPr>
            <a:lvl4pPr algn="l" defTabSz="892894" rtl="0" eaLnBrk="1" fontAlgn="base" hangingPunct="1">
              <a:spcBef>
                <a:spcPct val="0"/>
              </a:spcBef>
              <a:spcAft>
                <a:spcPct val="0"/>
              </a:spcAft>
              <a:defRPr sz="1900" b="1">
                <a:solidFill>
                  <a:schemeClr val="tx2"/>
                </a:solidFill>
                <a:latin typeface="Arial" charset="0"/>
              </a:defRPr>
            </a:lvl4pPr>
            <a:lvl5pPr algn="l" defTabSz="892894" rtl="0" eaLnBrk="1" fontAlgn="base" hangingPunct="1">
              <a:spcBef>
                <a:spcPct val="0"/>
              </a:spcBef>
              <a:spcAft>
                <a:spcPct val="0"/>
              </a:spcAft>
              <a:defRPr sz="1900" b="1">
                <a:solidFill>
                  <a:schemeClr val="tx2"/>
                </a:solidFill>
                <a:latin typeface="Arial" charset="0"/>
              </a:defRPr>
            </a:lvl5pPr>
            <a:lvl6pPr marL="455943" algn="l" defTabSz="892894" rtl="0" eaLnBrk="1" fontAlgn="base" hangingPunct="1">
              <a:spcBef>
                <a:spcPct val="0"/>
              </a:spcBef>
              <a:spcAft>
                <a:spcPct val="0"/>
              </a:spcAft>
              <a:defRPr sz="1900" b="1">
                <a:solidFill>
                  <a:schemeClr val="tx2"/>
                </a:solidFill>
                <a:latin typeface="Arial" charset="0"/>
              </a:defRPr>
            </a:lvl6pPr>
            <a:lvl7pPr marL="911894" algn="l" defTabSz="892894" rtl="0" eaLnBrk="1" fontAlgn="base" hangingPunct="1">
              <a:spcBef>
                <a:spcPct val="0"/>
              </a:spcBef>
              <a:spcAft>
                <a:spcPct val="0"/>
              </a:spcAft>
              <a:defRPr sz="1900" b="1">
                <a:solidFill>
                  <a:schemeClr val="tx2"/>
                </a:solidFill>
                <a:latin typeface="Arial" charset="0"/>
              </a:defRPr>
            </a:lvl7pPr>
            <a:lvl8pPr marL="1367837" algn="l" defTabSz="892894" rtl="0" eaLnBrk="1" fontAlgn="base" hangingPunct="1">
              <a:spcBef>
                <a:spcPct val="0"/>
              </a:spcBef>
              <a:spcAft>
                <a:spcPct val="0"/>
              </a:spcAft>
              <a:defRPr sz="1900" b="1">
                <a:solidFill>
                  <a:schemeClr val="tx2"/>
                </a:solidFill>
                <a:latin typeface="Arial" charset="0"/>
              </a:defRPr>
            </a:lvl8pPr>
            <a:lvl9pPr marL="1823785" algn="l" defTabSz="892894" rtl="0" eaLnBrk="1" fontAlgn="base" hangingPunct="1">
              <a:spcBef>
                <a:spcPct val="0"/>
              </a:spcBef>
              <a:spcAft>
                <a:spcPct val="0"/>
              </a:spcAft>
              <a:defRPr sz="1900" b="1">
                <a:solidFill>
                  <a:schemeClr val="tx2"/>
                </a:solidFill>
                <a:latin typeface="Arial" charset="0"/>
              </a:defRPr>
            </a:lvl9pPr>
          </a:lstStyle>
          <a:p>
            <a:pPr marL="0" marR="0" lvl="0" indent="0" algn="l" defTabSz="892894" rtl="0" eaLnBrk="1" fontAlgn="base" latinLnBrk="0" hangingPunct="1">
              <a:lnSpc>
                <a:spcPct val="100000"/>
              </a:lnSpc>
              <a:spcBef>
                <a:spcPct val="0"/>
              </a:spcBef>
              <a:spcAft>
                <a:spcPct val="0"/>
              </a:spcAft>
              <a:buClrTx/>
              <a:buSzTx/>
              <a:buFontTx/>
              <a:buNone/>
              <a:tabLst>
                <a:tab pos="269133" algn="l"/>
              </a:tabLst>
              <a:defRPr/>
            </a:pPr>
            <a:r>
              <a:rPr lang="en-ZA" sz="1000" b="1" kern="0" dirty="0">
                <a:solidFill>
                  <a:srgbClr val="FFFFFF"/>
                </a:solidFill>
                <a:latin typeface="+mn-lt"/>
              </a:rPr>
              <a:t>Where we fit in</a:t>
            </a:r>
            <a:endParaRPr kumimoji="0" lang="en-ZA" sz="1000" b="1" i="0" u="none" strike="noStrike" kern="0" cap="none" spc="0" normalizeH="0" baseline="0" noProof="0" dirty="0">
              <a:ln>
                <a:noFill/>
              </a:ln>
              <a:solidFill>
                <a:srgbClr val="FFFFFF"/>
              </a:solidFill>
              <a:effectLst/>
              <a:uLnTx/>
              <a:uFillTx/>
              <a:latin typeface="+mn-lt"/>
              <a:ea typeface="Arial Unicode MS" pitchFamily="34" charset="-128"/>
            </a:endParaRPr>
          </a:p>
        </p:txBody>
      </p:sp>
      <p:cxnSp>
        <p:nvCxnSpPr>
          <p:cNvPr id="85" name="Straight Connector 84"/>
          <p:cNvCxnSpPr/>
          <p:nvPr/>
        </p:nvCxnSpPr>
        <p:spPr>
          <a:xfrm>
            <a:off x="808672" y="3009124"/>
            <a:ext cx="0" cy="82717"/>
          </a:xfrm>
          <a:prstGeom prst="line">
            <a:avLst/>
          </a:prstGeom>
          <a:ln w="9525">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10" name="Group 109"/>
          <p:cNvGrpSpPr/>
          <p:nvPr/>
        </p:nvGrpSpPr>
        <p:grpSpPr>
          <a:xfrm>
            <a:off x="5162235" y="3586719"/>
            <a:ext cx="4309165" cy="367775"/>
            <a:chOff x="5245361" y="3314401"/>
            <a:chExt cx="4309165" cy="367775"/>
          </a:xfrm>
        </p:grpSpPr>
        <p:sp>
          <p:nvSpPr>
            <p:cNvPr id="57" name="Rectangle 56"/>
            <p:cNvSpPr/>
            <p:nvPr/>
          </p:nvSpPr>
          <p:spPr>
            <a:xfrm flipH="1">
              <a:off x="5649726" y="3323559"/>
              <a:ext cx="3904800" cy="358617"/>
            </a:xfrm>
            <a:prstGeom prst="rect">
              <a:avLst/>
            </a:prstGeom>
            <a:noFill/>
            <a:ln w="9525" cap="flat" cmpd="sng" algn="ctr">
              <a:noFill/>
              <a:prstDash val="solid"/>
            </a:ln>
            <a:effectLst/>
          </p:spPr>
          <p:txBody>
            <a:bodyPr lIns="72000" rIns="72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900" b="0" i="0" u="none" strike="noStrike" kern="0" cap="none" spc="0" normalizeH="0" baseline="0" noProof="0" dirty="0">
                  <a:ln>
                    <a:noFill/>
                  </a:ln>
                  <a:effectLst/>
                  <a:uLnTx/>
                  <a:uFillTx/>
                  <a:ea typeface="ＭＳ Ｐゴシック"/>
                  <a:cs typeface="+mn-cs"/>
                </a:rPr>
                <a:t>Provide</a:t>
              </a:r>
              <a:r>
                <a:rPr kumimoji="0" lang="en-ZA" sz="900" b="0" i="0" u="none" strike="noStrike" kern="0" cap="none" spc="0" normalizeH="0" noProof="0" dirty="0">
                  <a:ln>
                    <a:noFill/>
                  </a:ln>
                  <a:effectLst/>
                  <a:uLnTx/>
                  <a:uFillTx/>
                  <a:ea typeface="ＭＳ Ｐゴシック"/>
                  <a:cs typeface="+mn-cs"/>
                </a:rPr>
                <a:t> </a:t>
              </a:r>
              <a:r>
                <a:rPr kumimoji="0" lang="en-ZA" sz="900" b="1" i="0" u="none" strike="noStrike" kern="0" cap="none" spc="0" normalizeH="0" noProof="0" dirty="0">
                  <a:ln>
                    <a:noFill/>
                  </a:ln>
                  <a:effectLst/>
                  <a:uLnTx/>
                  <a:uFillTx/>
                  <a:ea typeface="ＭＳ Ｐゴシック"/>
                  <a:cs typeface="+mn-cs"/>
                </a:rPr>
                <a:t>support</a:t>
              </a:r>
              <a:r>
                <a:rPr kumimoji="0" lang="en-ZA" sz="900" b="1" i="0" u="none" strike="noStrike" kern="0" cap="none" spc="0" normalizeH="0" baseline="0" noProof="0" dirty="0">
                  <a:ln>
                    <a:noFill/>
                  </a:ln>
                  <a:effectLst/>
                  <a:uLnTx/>
                  <a:uFillTx/>
                  <a:ea typeface="ＭＳ Ｐゴシック"/>
                  <a:cs typeface="+mn-cs"/>
                </a:rPr>
                <a:t> on the execution </a:t>
              </a:r>
              <a:r>
                <a:rPr kumimoji="0" lang="en-ZA" sz="900" b="0" i="0" u="none" strike="noStrike" kern="0" cap="none" spc="0" normalizeH="0" baseline="0" noProof="0" dirty="0">
                  <a:ln>
                    <a:noFill/>
                  </a:ln>
                  <a:effectLst/>
                  <a:uLnTx/>
                  <a:uFillTx/>
                  <a:ea typeface="ＭＳ Ｐゴシック"/>
                  <a:cs typeface="+mn-cs"/>
                </a:rPr>
                <a:t>of </a:t>
              </a:r>
              <a:r>
                <a:rPr kumimoji="0" lang="en-ZA" sz="900" b="1" i="0" u="none" strike="noStrike" kern="0" cap="none" spc="0" normalizeH="0" baseline="0" noProof="0" dirty="0">
                  <a:ln>
                    <a:noFill/>
                  </a:ln>
                  <a:effectLst/>
                  <a:uLnTx/>
                  <a:uFillTx/>
                  <a:ea typeface="ＭＳ Ｐゴシック"/>
                  <a:cs typeface="+mn-cs"/>
                </a:rPr>
                <a:t>all finance</a:t>
              </a:r>
              <a:r>
                <a:rPr kumimoji="0" lang="en-ZA" sz="900" b="1" i="0" u="none" strike="noStrike" kern="0" cap="none" spc="0" normalizeH="0" noProof="0" dirty="0">
                  <a:ln>
                    <a:noFill/>
                  </a:ln>
                  <a:effectLst/>
                  <a:uLnTx/>
                  <a:uFillTx/>
                  <a:ea typeface="ＭＳ Ｐゴシック"/>
                  <a:cs typeface="+mn-cs"/>
                </a:rPr>
                <a:t> related deliverables </a:t>
              </a:r>
              <a:r>
                <a:rPr kumimoji="0" lang="en-ZA" sz="900" b="0" i="0" u="none" strike="noStrike" kern="0" cap="none" spc="0" normalizeH="0" noProof="0" dirty="0">
                  <a:ln>
                    <a:noFill/>
                  </a:ln>
                  <a:effectLst/>
                  <a:uLnTx/>
                  <a:uFillTx/>
                  <a:ea typeface="ＭＳ Ｐゴシック"/>
                  <a:cs typeface="+mn-cs"/>
                </a:rPr>
                <a:t>within projects </a:t>
              </a:r>
              <a:r>
                <a:rPr kumimoji="0" lang="en-ZA" sz="900" b="0" i="0" u="none" strike="noStrike" kern="0" cap="none" spc="0" normalizeH="0" baseline="0" noProof="0" dirty="0">
                  <a:ln>
                    <a:noFill/>
                  </a:ln>
                  <a:effectLst/>
                  <a:uLnTx/>
                  <a:uFillTx/>
                  <a:ea typeface="ＭＳ Ｐゴシック"/>
                  <a:cs typeface="+mn-cs"/>
                </a:rPr>
                <a:t> </a:t>
              </a:r>
            </a:p>
          </p:txBody>
        </p:sp>
        <p:grpSp>
          <p:nvGrpSpPr>
            <p:cNvPr id="92" name="Group 91"/>
            <p:cNvGrpSpPr/>
            <p:nvPr/>
          </p:nvGrpSpPr>
          <p:grpSpPr>
            <a:xfrm>
              <a:off x="5245361" y="3314401"/>
              <a:ext cx="360000" cy="360000"/>
              <a:chOff x="5201234" y="2624347"/>
              <a:chExt cx="360000" cy="360000"/>
            </a:xfrm>
          </p:grpSpPr>
          <p:sp>
            <p:nvSpPr>
              <p:cNvPr id="93" name="Donut 92"/>
              <p:cNvSpPr/>
              <p:nvPr/>
            </p:nvSpPr>
            <p:spPr>
              <a:xfrm>
                <a:off x="5201234" y="2624347"/>
                <a:ext cx="360000" cy="360000"/>
              </a:xfrm>
              <a:prstGeom prst="donu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dirty="0">
                  <a:solidFill>
                    <a:schemeClr val="tx1"/>
                  </a:solidFill>
                </a:endParaRPr>
              </a:p>
            </p:txBody>
          </p:sp>
          <p:sp>
            <p:nvSpPr>
              <p:cNvPr id="94" name="TextBox 93"/>
              <p:cNvSpPr txBox="1"/>
              <p:nvPr/>
            </p:nvSpPr>
            <p:spPr>
              <a:xfrm>
                <a:off x="5245599" y="2688931"/>
                <a:ext cx="234327" cy="230832"/>
              </a:xfrm>
              <a:prstGeom prst="rect">
                <a:avLst/>
              </a:prstGeom>
              <a:noFill/>
            </p:spPr>
            <p:txBody>
              <a:bodyPr wrap="square" rtlCol="0" anchor="ctr">
                <a:spAutoFit/>
              </a:bodyPr>
              <a:lstStyle/>
              <a:p>
                <a:r>
                  <a:rPr lang="en-ZA" sz="900" b="1" dirty="0"/>
                  <a:t>A</a:t>
                </a:r>
              </a:p>
            </p:txBody>
          </p:sp>
        </p:grpSp>
      </p:grpSp>
      <p:grpSp>
        <p:nvGrpSpPr>
          <p:cNvPr id="95" name="Group 94"/>
          <p:cNvGrpSpPr/>
          <p:nvPr/>
        </p:nvGrpSpPr>
        <p:grpSpPr>
          <a:xfrm>
            <a:off x="4709252" y="1995863"/>
            <a:ext cx="360000" cy="360000"/>
            <a:chOff x="5201234" y="2624347"/>
            <a:chExt cx="360000" cy="360000"/>
          </a:xfrm>
        </p:grpSpPr>
        <p:sp>
          <p:nvSpPr>
            <p:cNvPr id="96" name="Donut 95"/>
            <p:cNvSpPr/>
            <p:nvPr/>
          </p:nvSpPr>
          <p:spPr>
            <a:xfrm>
              <a:off x="5201234" y="2624347"/>
              <a:ext cx="360000" cy="360000"/>
            </a:xfrm>
            <a:prstGeom prst="donu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b="1" dirty="0">
                <a:solidFill>
                  <a:schemeClr val="tx1"/>
                </a:solidFill>
              </a:endParaRPr>
            </a:p>
          </p:txBody>
        </p:sp>
        <p:sp>
          <p:nvSpPr>
            <p:cNvPr id="97" name="TextBox 96"/>
            <p:cNvSpPr txBox="1"/>
            <p:nvPr/>
          </p:nvSpPr>
          <p:spPr>
            <a:xfrm>
              <a:off x="5254835" y="2688931"/>
              <a:ext cx="234327" cy="230832"/>
            </a:xfrm>
            <a:prstGeom prst="rect">
              <a:avLst/>
            </a:prstGeom>
            <a:noFill/>
          </p:spPr>
          <p:txBody>
            <a:bodyPr wrap="square" rtlCol="0" anchor="ctr">
              <a:spAutoFit/>
            </a:bodyPr>
            <a:lstStyle/>
            <a:p>
              <a:pPr algn="ctr"/>
              <a:r>
                <a:rPr lang="en-ZA" sz="900" b="1" dirty="0"/>
                <a:t>B</a:t>
              </a:r>
            </a:p>
          </p:txBody>
        </p:sp>
      </p:grpSp>
      <p:grpSp>
        <p:nvGrpSpPr>
          <p:cNvPr id="98" name="Group 97"/>
          <p:cNvGrpSpPr/>
          <p:nvPr/>
        </p:nvGrpSpPr>
        <p:grpSpPr>
          <a:xfrm>
            <a:off x="6459425" y="1995863"/>
            <a:ext cx="360000" cy="360000"/>
            <a:chOff x="5201234" y="2624347"/>
            <a:chExt cx="360000" cy="360000"/>
          </a:xfrm>
        </p:grpSpPr>
        <p:sp>
          <p:nvSpPr>
            <p:cNvPr id="99" name="Donut 98"/>
            <p:cNvSpPr/>
            <p:nvPr/>
          </p:nvSpPr>
          <p:spPr>
            <a:xfrm>
              <a:off x="5201234" y="2624347"/>
              <a:ext cx="360000" cy="360000"/>
            </a:xfrm>
            <a:prstGeom prst="donu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b="1" dirty="0">
                <a:solidFill>
                  <a:schemeClr val="tx1"/>
                </a:solidFill>
              </a:endParaRPr>
            </a:p>
          </p:txBody>
        </p:sp>
        <p:sp>
          <p:nvSpPr>
            <p:cNvPr id="100" name="TextBox 99"/>
            <p:cNvSpPr txBox="1"/>
            <p:nvPr/>
          </p:nvSpPr>
          <p:spPr>
            <a:xfrm>
              <a:off x="5245599" y="2688931"/>
              <a:ext cx="234327" cy="230832"/>
            </a:xfrm>
            <a:prstGeom prst="rect">
              <a:avLst/>
            </a:prstGeom>
            <a:noFill/>
          </p:spPr>
          <p:txBody>
            <a:bodyPr wrap="square" rtlCol="0" anchor="ctr">
              <a:spAutoFit/>
            </a:bodyPr>
            <a:lstStyle/>
            <a:p>
              <a:pPr algn="ctr"/>
              <a:r>
                <a:rPr lang="en-ZA" sz="900" b="1" dirty="0"/>
                <a:t>C</a:t>
              </a:r>
            </a:p>
          </p:txBody>
        </p:sp>
      </p:grpSp>
      <p:grpSp>
        <p:nvGrpSpPr>
          <p:cNvPr id="101" name="Group 100"/>
          <p:cNvGrpSpPr/>
          <p:nvPr/>
        </p:nvGrpSpPr>
        <p:grpSpPr>
          <a:xfrm>
            <a:off x="8189997" y="1995863"/>
            <a:ext cx="360000" cy="360000"/>
            <a:chOff x="5201234" y="2624347"/>
            <a:chExt cx="360000" cy="360000"/>
          </a:xfrm>
        </p:grpSpPr>
        <p:sp>
          <p:nvSpPr>
            <p:cNvPr id="102" name="Donut 101"/>
            <p:cNvSpPr/>
            <p:nvPr/>
          </p:nvSpPr>
          <p:spPr>
            <a:xfrm>
              <a:off x="5201234" y="2624347"/>
              <a:ext cx="360000" cy="360000"/>
            </a:xfrm>
            <a:prstGeom prst="donu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b="1" dirty="0">
                <a:solidFill>
                  <a:schemeClr val="tx1"/>
                </a:solidFill>
              </a:endParaRPr>
            </a:p>
          </p:txBody>
        </p:sp>
        <p:sp>
          <p:nvSpPr>
            <p:cNvPr id="103" name="TextBox 102"/>
            <p:cNvSpPr txBox="1"/>
            <p:nvPr/>
          </p:nvSpPr>
          <p:spPr>
            <a:xfrm>
              <a:off x="5245599" y="2688931"/>
              <a:ext cx="234327" cy="230832"/>
            </a:xfrm>
            <a:prstGeom prst="rect">
              <a:avLst/>
            </a:prstGeom>
            <a:noFill/>
          </p:spPr>
          <p:txBody>
            <a:bodyPr wrap="square" rtlCol="0" anchor="ctr">
              <a:spAutoFit/>
            </a:bodyPr>
            <a:lstStyle/>
            <a:p>
              <a:pPr algn="ctr"/>
              <a:r>
                <a:rPr lang="en-ZA" sz="900" b="1" dirty="0"/>
                <a:t>D</a:t>
              </a:r>
            </a:p>
          </p:txBody>
        </p:sp>
      </p:grpSp>
      <p:sp>
        <p:nvSpPr>
          <p:cNvPr id="104" name="Isosceles Triangle 103"/>
          <p:cNvSpPr/>
          <p:nvPr/>
        </p:nvSpPr>
        <p:spPr>
          <a:xfrm rot="5400000">
            <a:off x="3793598" y="4737170"/>
            <a:ext cx="2241398" cy="134415"/>
          </a:xfrm>
          <a:prstGeom prst="triangle">
            <a:avLst>
              <a:gd name="adj" fmla="val 50609"/>
            </a:avLst>
          </a:prstGeom>
          <a:solidFill>
            <a:schemeClr val="bg1">
              <a:lumMod val="5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grpSp>
        <p:nvGrpSpPr>
          <p:cNvPr id="109" name="Group 108"/>
          <p:cNvGrpSpPr/>
          <p:nvPr/>
        </p:nvGrpSpPr>
        <p:grpSpPr>
          <a:xfrm>
            <a:off x="5162235" y="4110170"/>
            <a:ext cx="4299952" cy="360000"/>
            <a:chOff x="5245361" y="4075533"/>
            <a:chExt cx="4299952" cy="360000"/>
          </a:xfrm>
        </p:grpSpPr>
        <p:sp>
          <p:nvSpPr>
            <p:cNvPr id="105" name="Rectangle 104"/>
            <p:cNvSpPr/>
            <p:nvPr/>
          </p:nvSpPr>
          <p:spPr>
            <a:xfrm flipH="1">
              <a:off x="5640513" y="4075533"/>
              <a:ext cx="3904800" cy="358617"/>
            </a:xfrm>
            <a:prstGeom prst="rect">
              <a:avLst/>
            </a:prstGeom>
            <a:noFill/>
            <a:ln w="9525" cap="flat" cmpd="sng" algn="ctr">
              <a:noFill/>
              <a:prstDash val="solid"/>
            </a:ln>
            <a:effectLst/>
          </p:spPr>
          <p:txBody>
            <a:bodyPr lIns="72000" rIns="72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900" b="0" i="0" u="none" strike="noStrike" kern="0" cap="none" spc="0" normalizeH="0" baseline="0" noProof="0" dirty="0">
                  <a:ln>
                    <a:noFill/>
                  </a:ln>
                  <a:effectLst/>
                  <a:uLnTx/>
                  <a:uFillTx/>
                  <a:ea typeface="ＭＳ Ｐゴシック"/>
                </a:rPr>
                <a:t>Act as</a:t>
              </a:r>
              <a:r>
                <a:rPr kumimoji="0" lang="en-ZA" sz="900" b="0" i="0" u="none" strike="noStrike" kern="0" cap="none" spc="0" normalizeH="0" noProof="0" dirty="0">
                  <a:ln>
                    <a:noFill/>
                  </a:ln>
                  <a:effectLst/>
                  <a:uLnTx/>
                  <a:uFillTx/>
                  <a:ea typeface="ＭＳ Ｐゴシック"/>
                </a:rPr>
                <a:t> a conduit for </a:t>
              </a:r>
              <a:r>
                <a:rPr kumimoji="0" lang="en-ZA" sz="900" b="1" i="0" u="none" strike="noStrike" kern="0" cap="none" spc="0" normalizeH="0" noProof="0" dirty="0">
                  <a:ln>
                    <a:noFill/>
                  </a:ln>
                  <a:effectLst/>
                  <a:uLnTx/>
                  <a:uFillTx/>
                  <a:ea typeface="ＭＳ Ｐゴシック"/>
                </a:rPr>
                <a:t>providing access to investment </a:t>
              </a:r>
              <a:r>
                <a:rPr lang="en-ZA" sz="900" b="1" kern="0" dirty="0">
                  <a:ea typeface="ＭＳ Ｐゴシック"/>
                </a:rPr>
                <a:t>opportunities </a:t>
              </a:r>
              <a:r>
                <a:rPr lang="en-ZA" sz="900" kern="0" dirty="0">
                  <a:ea typeface="ＭＳ Ｐゴシック"/>
                </a:rPr>
                <a:t>within the deal market on an arms length basis</a:t>
              </a:r>
              <a:endParaRPr kumimoji="0" lang="en-ZA" sz="900" b="0" i="0" u="none" strike="noStrike" kern="0" cap="none" spc="0" normalizeH="0" baseline="0" noProof="0" dirty="0">
                <a:ln>
                  <a:noFill/>
                </a:ln>
                <a:effectLst/>
                <a:uLnTx/>
                <a:uFillTx/>
                <a:ea typeface="ＭＳ Ｐゴシック"/>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900" kern="0" dirty="0">
                  <a:ea typeface="ＭＳ Ｐゴシック"/>
                </a:rPr>
                <a:t>Provide </a:t>
              </a:r>
              <a:r>
                <a:rPr lang="en-ZA" sz="900" b="1" kern="0" dirty="0">
                  <a:ea typeface="ＭＳ Ｐゴシック"/>
                </a:rPr>
                <a:t>cross-selling opportunities </a:t>
              </a:r>
              <a:r>
                <a:rPr lang="en-ZA" sz="900" kern="0" dirty="0">
                  <a:ea typeface="ＭＳ Ｐゴシック"/>
                </a:rPr>
                <a:t>for asset management and vice versa</a:t>
              </a:r>
              <a:endParaRPr kumimoji="0" lang="en-ZA" sz="900" b="0" i="0" u="none" strike="noStrike" kern="0" cap="none" spc="0" normalizeH="0" baseline="0" noProof="0" dirty="0">
                <a:ln>
                  <a:noFill/>
                </a:ln>
                <a:effectLst/>
                <a:uLnTx/>
                <a:uFillTx/>
                <a:ea typeface="ＭＳ Ｐゴシック"/>
              </a:endParaRPr>
            </a:p>
          </p:txBody>
        </p:sp>
        <p:grpSp>
          <p:nvGrpSpPr>
            <p:cNvPr id="106" name="Group 105"/>
            <p:cNvGrpSpPr/>
            <p:nvPr/>
          </p:nvGrpSpPr>
          <p:grpSpPr>
            <a:xfrm>
              <a:off x="5245361" y="4075533"/>
              <a:ext cx="360000" cy="360000"/>
              <a:chOff x="5201234" y="2624347"/>
              <a:chExt cx="360000" cy="360000"/>
            </a:xfrm>
          </p:grpSpPr>
          <p:sp>
            <p:nvSpPr>
              <p:cNvPr id="107" name="Donut 106"/>
              <p:cNvSpPr/>
              <p:nvPr/>
            </p:nvSpPr>
            <p:spPr>
              <a:xfrm>
                <a:off x="5201234" y="2624347"/>
                <a:ext cx="360000" cy="360000"/>
              </a:xfrm>
              <a:prstGeom prst="donu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dirty="0">
                  <a:solidFill>
                    <a:schemeClr val="tx1"/>
                  </a:solidFill>
                </a:endParaRPr>
              </a:p>
            </p:txBody>
          </p:sp>
          <p:sp>
            <p:nvSpPr>
              <p:cNvPr id="108" name="TextBox 107"/>
              <p:cNvSpPr txBox="1"/>
              <p:nvPr/>
            </p:nvSpPr>
            <p:spPr>
              <a:xfrm>
                <a:off x="5254066" y="2688931"/>
                <a:ext cx="234327" cy="230832"/>
              </a:xfrm>
              <a:prstGeom prst="rect">
                <a:avLst/>
              </a:prstGeom>
              <a:noFill/>
            </p:spPr>
            <p:txBody>
              <a:bodyPr wrap="square" rtlCol="0" anchor="ctr">
                <a:spAutoFit/>
              </a:bodyPr>
              <a:lstStyle/>
              <a:p>
                <a:r>
                  <a:rPr lang="en-ZA" sz="900" b="1" dirty="0"/>
                  <a:t>B</a:t>
                </a:r>
              </a:p>
            </p:txBody>
          </p:sp>
        </p:grpSp>
      </p:grpSp>
      <p:grpSp>
        <p:nvGrpSpPr>
          <p:cNvPr id="111" name="Group 110"/>
          <p:cNvGrpSpPr/>
          <p:nvPr/>
        </p:nvGrpSpPr>
        <p:grpSpPr>
          <a:xfrm>
            <a:off x="5162235" y="4757729"/>
            <a:ext cx="4309165" cy="367775"/>
            <a:chOff x="5245361" y="3314401"/>
            <a:chExt cx="4309165" cy="367775"/>
          </a:xfrm>
        </p:grpSpPr>
        <p:sp>
          <p:nvSpPr>
            <p:cNvPr id="112" name="Rectangle 111"/>
            <p:cNvSpPr/>
            <p:nvPr/>
          </p:nvSpPr>
          <p:spPr>
            <a:xfrm flipH="1">
              <a:off x="5649726" y="3323559"/>
              <a:ext cx="3904800" cy="358617"/>
            </a:xfrm>
            <a:prstGeom prst="rect">
              <a:avLst/>
            </a:prstGeom>
            <a:noFill/>
            <a:ln w="9525" cap="flat" cmpd="sng" algn="ctr">
              <a:noFill/>
              <a:prstDash val="solid"/>
            </a:ln>
            <a:effectLst/>
          </p:spPr>
          <p:txBody>
            <a:bodyPr lIns="72000" rIns="72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900" b="0" i="0" u="none" strike="noStrike" kern="0" cap="none" spc="0" normalizeH="0" baseline="0" noProof="0" dirty="0">
                  <a:ln>
                    <a:noFill/>
                  </a:ln>
                  <a:effectLst/>
                  <a:uLnTx/>
                  <a:uFillTx/>
                  <a:ea typeface="ＭＳ Ｐゴシック"/>
                  <a:cs typeface="+mn-cs"/>
                </a:rPr>
                <a:t>Originate</a:t>
              </a:r>
              <a:r>
                <a:rPr kumimoji="0" lang="en-ZA" sz="900" b="0" i="0" u="none" strike="noStrike" kern="0" cap="none" spc="0" normalizeH="0" noProof="0" dirty="0">
                  <a:ln>
                    <a:noFill/>
                  </a:ln>
                  <a:effectLst/>
                  <a:uLnTx/>
                  <a:uFillTx/>
                  <a:ea typeface="ＭＳ Ｐゴシック"/>
                  <a:cs typeface="+mn-cs"/>
                </a:rPr>
                <a:t> securities execution support initiatives as part of larger solutions presented by Specialised Finance</a:t>
              </a:r>
              <a:endParaRPr kumimoji="0" lang="en-ZA" sz="900" b="0" i="0" u="none" strike="noStrike" kern="0" cap="none" spc="0" normalizeH="0" baseline="0" noProof="0" dirty="0">
                <a:ln>
                  <a:noFill/>
                </a:ln>
                <a:effectLst/>
                <a:uLnTx/>
                <a:uFillTx/>
                <a:ea typeface="ＭＳ Ｐゴシック"/>
                <a:cs typeface="+mn-cs"/>
              </a:endParaRPr>
            </a:p>
          </p:txBody>
        </p:sp>
        <p:grpSp>
          <p:nvGrpSpPr>
            <p:cNvPr id="113" name="Group 112"/>
            <p:cNvGrpSpPr/>
            <p:nvPr/>
          </p:nvGrpSpPr>
          <p:grpSpPr>
            <a:xfrm>
              <a:off x="5245361" y="3314401"/>
              <a:ext cx="360000" cy="360000"/>
              <a:chOff x="5201234" y="2624347"/>
              <a:chExt cx="360000" cy="360000"/>
            </a:xfrm>
          </p:grpSpPr>
          <p:sp>
            <p:nvSpPr>
              <p:cNvPr id="114" name="Donut 113"/>
              <p:cNvSpPr/>
              <p:nvPr/>
            </p:nvSpPr>
            <p:spPr>
              <a:xfrm>
                <a:off x="5201234" y="2624347"/>
                <a:ext cx="360000" cy="360000"/>
              </a:xfrm>
              <a:prstGeom prst="donu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dirty="0">
                  <a:solidFill>
                    <a:schemeClr val="tx1"/>
                  </a:solidFill>
                </a:endParaRPr>
              </a:p>
            </p:txBody>
          </p:sp>
          <p:sp>
            <p:nvSpPr>
              <p:cNvPr id="115" name="TextBox 114"/>
              <p:cNvSpPr txBox="1"/>
              <p:nvPr/>
            </p:nvSpPr>
            <p:spPr>
              <a:xfrm>
                <a:off x="5245599" y="2688931"/>
                <a:ext cx="234327" cy="230832"/>
              </a:xfrm>
              <a:prstGeom prst="rect">
                <a:avLst/>
              </a:prstGeom>
              <a:noFill/>
            </p:spPr>
            <p:txBody>
              <a:bodyPr wrap="square" rtlCol="0" anchor="ctr">
                <a:spAutoFit/>
              </a:bodyPr>
              <a:lstStyle/>
              <a:p>
                <a:r>
                  <a:rPr lang="en-ZA" sz="900" b="1" dirty="0"/>
                  <a:t>C</a:t>
                </a:r>
              </a:p>
            </p:txBody>
          </p:sp>
        </p:grpSp>
      </p:grpSp>
      <p:grpSp>
        <p:nvGrpSpPr>
          <p:cNvPr id="116" name="Group 115"/>
          <p:cNvGrpSpPr/>
          <p:nvPr/>
        </p:nvGrpSpPr>
        <p:grpSpPr>
          <a:xfrm>
            <a:off x="5162235" y="5413062"/>
            <a:ext cx="4309165" cy="367775"/>
            <a:chOff x="5245361" y="3314401"/>
            <a:chExt cx="4309165" cy="367775"/>
          </a:xfrm>
        </p:grpSpPr>
        <p:sp>
          <p:nvSpPr>
            <p:cNvPr id="117" name="Rectangle 116"/>
            <p:cNvSpPr/>
            <p:nvPr/>
          </p:nvSpPr>
          <p:spPr>
            <a:xfrm flipH="1">
              <a:off x="5649726" y="3323559"/>
              <a:ext cx="3904800" cy="358617"/>
            </a:xfrm>
            <a:prstGeom prst="rect">
              <a:avLst/>
            </a:prstGeom>
            <a:noFill/>
            <a:ln w="9525" cap="flat" cmpd="sng" algn="ctr">
              <a:noFill/>
              <a:prstDash val="solid"/>
            </a:ln>
            <a:effectLst/>
          </p:spPr>
          <p:txBody>
            <a:bodyPr lIns="72000" rIns="72000" rtlCol="0" anchor="ct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ZA" sz="900" b="0" i="0" u="none" strike="noStrike" kern="0" cap="none" spc="0" normalizeH="0" baseline="0" noProof="0" dirty="0">
                  <a:ln>
                    <a:noFill/>
                  </a:ln>
                  <a:effectLst/>
                  <a:uLnTx/>
                  <a:uFillTx/>
                  <a:ea typeface="ＭＳ Ｐゴシック"/>
                  <a:cs typeface="+mn-cs"/>
                </a:rPr>
                <a:t>Provide </a:t>
              </a:r>
              <a:r>
                <a:rPr kumimoji="0" lang="en-ZA" sz="900" b="1" i="0" u="none" strike="noStrike" kern="0" cap="none" spc="0" normalizeH="0" baseline="0" noProof="0" dirty="0">
                  <a:ln>
                    <a:noFill/>
                  </a:ln>
                  <a:effectLst/>
                  <a:uLnTx/>
                  <a:uFillTx/>
                  <a:ea typeface="ＭＳ Ｐゴシック"/>
                  <a:cs typeface="+mn-cs"/>
                </a:rPr>
                <a:t>transaction advisory</a:t>
              </a:r>
              <a:r>
                <a:rPr kumimoji="0" lang="en-ZA" sz="900" b="1" i="0" u="none" strike="noStrike" kern="0" cap="none" spc="0" normalizeH="0" noProof="0" dirty="0">
                  <a:ln>
                    <a:noFill/>
                  </a:ln>
                  <a:effectLst/>
                  <a:uLnTx/>
                  <a:uFillTx/>
                  <a:ea typeface="ＭＳ Ｐゴシック"/>
                  <a:cs typeface="+mn-cs"/>
                </a:rPr>
                <a:t> services </a:t>
              </a:r>
              <a:r>
                <a:rPr kumimoji="0" lang="en-ZA" sz="900" b="0" i="0" u="none" strike="noStrike" kern="0" cap="none" spc="0" normalizeH="0" noProof="0" dirty="0">
                  <a:ln>
                    <a:noFill/>
                  </a:ln>
                  <a:effectLst/>
                  <a:uLnTx/>
                  <a:uFillTx/>
                  <a:ea typeface="ＭＳ Ｐゴシック"/>
                  <a:cs typeface="+mn-cs"/>
                </a:rPr>
                <a:t>to property development projects</a:t>
              </a:r>
              <a:endParaRPr kumimoji="0" lang="en-ZA" sz="900" b="0" i="0" u="none" strike="noStrike" kern="0" cap="none" spc="0" normalizeH="0" baseline="0" noProof="0" dirty="0">
                <a:ln>
                  <a:noFill/>
                </a:ln>
                <a:effectLst/>
                <a:uLnTx/>
                <a:uFillTx/>
                <a:ea typeface="ＭＳ Ｐゴシック"/>
                <a:cs typeface="+mn-cs"/>
              </a:endParaRPr>
            </a:p>
          </p:txBody>
        </p:sp>
        <p:grpSp>
          <p:nvGrpSpPr>
            <p:cNvPr id="118" name="Group 117"/>
            <p:cNvGrpSpPr/>
            <p:nvPr/>
          </p:nvGrpSpPr>
          <p:grpSpPr>
            <a:xfrm>
              <a:off x="5245361" y="3314401"/>
              <a:ext cx="360000" cy="360000"/>
              <a:chOff x="5201234" y="2624347"/>
              <a:chExt cx="360000" cy="360000"/>
            </a:xfrm>
          </p:grpSpPr>
          <p:sp>
            <p:nvSpPr>
              <p:cNvPr id="119" name="Donut 118"/>
              <p:cNvSpPr/>
              <p:nvPr/>
            </p:nvSpPr>
            <p:spPr>
              <a:xfrm>
                <a:off x="5201234" y="2624347"/>
                <a:ext cx="360000" cy="360000"/>
              </a:xfrm>
              <a:prstGeom prst="donu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dirty="0">
                  <a:solidFill>
                    <a:schemeClr val="tx1"/>
                  </a:solidFill>
                </a:endParaRPr>
              </a:p>
            </p:txBody>
          </p:sp>
          <p:sp>
            <p:nvSpPr>
              <p:cNvPr id="120" name="TextBox 119"/>
              <p:cNvSpPr txBox="1"/>
              <p:nvPr/>
            </p:nvSpPr>
            <p:spPr>
              <a:xfrm>
                <a:off x="5245599" y="2688931"/>
                <a:ext cx="234327" cy="230832"/>
              </a:xfrm>
              <a:prstGeom prst="rect">
                <a:avLst/>
              </a:prstGeom>
              <a:noFill/>
            </p:spPr>
            <p:txBody>
              <a:bodyPr wrap="square" rtlCol="0" anchor="ctr">
                <a:spAutoFit/>
              </a:bodyPr>
              <a:lstStyle/>
              <a:p>
                <a:r>
                  <a:rPr lang="en-ZA" sz="900" b="1" dirty="0"/>
                  <a:t>D</a:t>
                </a:r>
              </a:p>
            </p:txBody>
          </p:sp>
        </p:grpSp>
      </p:grpSp>
      <p:sp>
        <p:nvSpPr>
          <p:cNvPr id="123" name="Rectangle 122"/>
          <p:cNvSpPr/>
          <p:nvPr/>
        </p:nvSpPr>
        <p:spPr>
          <a:xfrm>
            <a:off x="608958" y="5722217"/>
            <a:ext cx="1008687" cy="511502"/>
          </a:xfrm>
          <a:prstGeom prst="rect">
            <a:avLst/>
          </a:prstGeom>
          <a:solidFill>
            <a:schemeClr val="bg1">
              <a:lumMod val="75000"/>
            </a:schemeClr>
          </a:solidFill>
          <a:ln w="9525"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lang="en-US" sz="900" kern="0" dirty="0">
                <a:solidFill>
                  <a:prstClr val="black"/>
                </a:solidFill>
                <a:ea typeface="ＭＳ Ｐゴシック"/>
              </a:rPr>
              <a:t>Structured Solutions</a:t>
            </a:r>
            <a:endParaRPr kumimoji="0" lang="en-ZA" sz="900" u="none" strike="noStrike" kern="0" cap="none" spc="0" normalizeH="0" baseline="0" noProof="0" dirty="0">
              <a:ln>
                <a:noFill/>
              </a:ln>
              <a:solidFill>
                <a:prstClr val="black"/>
              </a:solidFill>
              <a:effectLst/>
              <a:uLnTx/>
              <a:uFillTx/>
              <a:ea typeface="ＭＳ Ｐゴシック"/>
            </a:endParaRPr>
          </a:p>
        </p:txBody>
      </p:sp>
      <p:sp>
        <p:nvSpPr>
          <p:cNvPr id="124" name="Rectangle 123"/>
          <p:cNvSpPr/>
          <p:nvPr/>
        </p:nvSpPr>
        <p:spPr>
          <a:xfrm>
            <a:off x="1667684" y="5722217"/>
            <a:ext cx="1008687" cy="511502"/>
          </a:xfrm>
          <a:prstGeom prst="rect">
            <a:avLst/>
          </a:prstGeom>
          <a:solidFill>
            <a:schemeClr val="bg1">
              <a:lumMod val="75000"/>
            </a:schemeClr>
          </a:solidFill>
          <a:ln w="9525"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lang="en-US" sz="900" kern="0" dirty="0">
                <a:solidFill>
                  <a:prstClr val="black"/>
                </a:solidFill>
                <a:ea typeface="ＭＳ Ｐゴシック"/>
              </a:rPr>
              <a:t>Mergers &amp; Acquisitions &amp; Divestitures</a:t>
            </a:r>
            <a:endParaRPr kumimoji="0" lang="en-ZA" sz="900" u="none" strike="noStrike" kern="0" cap="none" spc="0" normalizeH="0" baseline="0" noProof="0" dirty="0">
              <a:ln>
                <a:noFill/>
              </a:ln>
              <a:solidFill>
                <a:prstClr val="black"/>
              </a:solidFill>
              <a:effectLst/>
              <a:uLnTx/>
              <a:uFillTx/>
              <a:ea typeface="ＭＳ Ｐゴシック"/>
            </a:endParaRPr>
          </a:p>
        </p:txBody>
      </p:sp>
      <p:sp>
        <p:nvSpPr>
          <p:cNvPr id="125" name="Rectangle 124"/>
          <p:cNvSpPr/>
          <p:nvPr/>
        </p:nvSpPr>
        <p:spPr>
          <a:xfrm>
            <a:off x="2726410" y="5722218"/>
            <a:ext cx="1008687" cy="499860"/>
          </a:xfrm>
          <a:prstGeom prst="rect">
            <a:avLst/>
          </a:prstGeom>
          <a:solidFill>
            <a:schemeClr val="bg1">
              <a:lumMod val="75000"/>
            </a:schemeClr>
          </a:solidFill>
          <a:ln w="9525"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lang="en-US" sz="900" kern="0" dirty="0">
                <a:solidFill>
                  <a:prstClr val="black"/>
                </a:solidFill>
                <a:ea typeface="ＭＳ Ｐゴシック"/>
              </a:rPr>
              <a:t>Valuations &amp; Business Modelling</a:t>
            </a:r>
            <a:endParaRPr kumimoji="0" lang="en-ZA" sz="900" u="none" strike="noStrike" kern="0" cap="none" spc="0" normalizeH="0" baseline="0" noProof="0" dirty="0">
              <a:ln>
                <a:noFill/>
              </a:ln>
              <a:solidFill>
                <a:prstClr val="black"/>
              </a:solidFill>
              <a:effectLst/>
              <a:uLnTx/>
              <a:uFillTx/>
              <a:ea typeface="ＭＳ Ｐゴシック"/>
            </a:endParaRPr>
          </a:p>
        </p:txBody>
      </p:sp>
      <p:sp>
        <p:nvSpPr>
          <p:cNvPr id="126" name="Rectangle 125"/>
          <p:cNvSpPr/>
          <p:nvPr/>
        </p:nvSpPr>
        <p:spPr>
          <a:xfrm>
            <a:off x="3785137" y="5722216"/>
            <a:ext cx="1008687" cy="498317"/>
          </a:xfrm>
          <a:prstGeom prst="rect">
            <a:avLst/>
          </a:prstGeom>
          <a:solidFill>
            <a:schemeClr val="bg1">
              <a:lumMod val="75000"/>
            </a:schemeClr>
          </a:solidFill>
          <a:ln w="9525"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lang="en-US" sz="900" kern="0" noProof="0" dirty="0">
                <a:solidFill>
                  <a:prstClr val="black"/>
                </a:solidFill>
                <a:ea typeface="ＭＳ Ｐゴシック"/>
              </a:rPr>
              <a:t>Corporate Finance Strategy</a:t>
            </a:r>
            <a:endParaRPr kumimoji="0" lang="en-ZA" sz="900" u="none" strike="noStrike" kern="0" cap="none" spc="0" normalizeH="0" baseline="0" noProof="0" dirty="0">
              <a:ln>
                <a:noFill/>
              </a:ln>
              <a:solidFill>
                <a:prstClr val="black"/>
              </a:solidFill>
              <a:effectLst/>
              <a:uLnTx/>
              <a:uFillTx/>
              <a:ea typeface="ＭＳ Ｐゴシック"/>
            </a:endParaRPr>
          </a:p>
        </p:txBody>
      </p:sp>
      <p:sp>
        <p:nvSpPr>
          <p:cNvPr id="64" name="Donut 63"/>
          <p:cNvSpPr/>
          <p:nvPr/>
        </p:nvSpPr>
        <p:spPr>
          <a:xfrm>
            <a:off x="355121" y="1254756"/>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1</a:t>
            </a:r>
          </a:p>
        </p:txBody>
      </p:sp>
    </p:spTree>
    <p:extLst>
      <p:ext uri="{BB962C8B-B14F-4D97-AF65-F5344CB8AC3E}">
        <p14:creationId xmlns:p14="http://schemas.microsoft.com/office/powerpoint/2010/main" val="3341399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 name="Object 49" hidden="1"/>
          <p:cNvGraphicFramePr>
            <a:graphicFrameLocks noChangeAspect="1"/>
          </p:cNvGraphicFramePr>
          <p:nvPr>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6029" name="think-cell Slide" r:id="rId4" imgW="216" imgH="216" progId="TCLayout.ActiveDocument.1">
                  <p:embed/>
                </p:oleObj>
              </mc:Choice>
              <mc:Fallback>
                <p:oleObj name="think-cell Slide" r:id="rId4" imgW="216" imgH="216" progId="TCLayout.ActiveDocument.1">
                  <p:embed/>
                  <p:pic>
                    <p:nvPicPr>
                      <p:cNvPr id="50" name="Object 49" hidden="1"/>
                      <p:cNvPicPr/>
                      <p:nvPr/>
                    </p:nvPicPr>
                    <p:blipFill>
                      <a:blip r:embed="rId5"/>
                      <a:stretch>
                        <a:fillRect/>
                      </a:stretch>
                    </p:blipFill>
                    <p:spPr>
                      <a:xfrm>
                        <a:off x="1588" y="1588"/>
                        <a:ext cx="1587" cy="1587"/>
                      </a:xfrm>
                      <a:prstGeom prst="rect">
                        <a:avLst/>
                      </a:prstGeom>
                    </p:spPr>
                  </p:pic>
                </p:oleObj>
              </mc:Fallback>
            </mc:AlternateContent>
          </a:graphicData>
        </a:graphic>
      </p:graphicFrame>
      <p:grpSp>
        <p:nvGrpSpPr>
          <p:cNvPr id="54" name="Group 53"/>
          <p:cNvGrpSpPr/>
          <p:nvPr/>
        </p:nvGrpSpPr>
        <p:grpSpPr>
          <a:xfrm>
            <a:off x="550331" y="3688959"/>
            <a:ext cx="1368000" cy="1368000"/>
            <a:chOff x="595024" y="4572000"/>
            <a:chExt cx="1440000" cy="1440000"/>
          </a:xfrm>
        </p:grpSpPr>
        <p:sp>
          <p:nvSpPr>
            <p:cNvPr id="55" name="Oval 54"/>
            <p:cNvSpPr/>
            <p:nvPr/>
          </p:nvSpPr>
          <p:spPr>
            <a:xfrm>
              <a:off x="595024" y="4572000"/>
              <a:ext cx="1440000" cy="144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56" name="Oval 55"/>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grpSp>
      <p:grpSp>
        <p:nvGrpSpPr>
          <p:cNvPr id="51" name="Group 50"/>
          <p:cNvGrpSpPr/>
          <p:nvPr/>
        </p:nvGrpSpPr>
        <p:grpSpPr>
          <a:xfrm>
            <a:off x="550331" y="2486848"/>
            <a:ext cx="1368000" cy="1368000"/>
            <a:chOff x="595024" y="4572000"/>
            <a:chExt cx="1440000" cy="1440000"/>
          </a:xfrm>
        </p:grpSpPr>
        <p:sp>
          <p:nvSpPr>
            <p:cNvPr id="52" name="Oval 51"/>
            <p:cNvSpPr/>
            <p:nvPr/>
          </p:nvSpPr>
          <p:spPr>
            <a:xfrm>
              <a:off x="595024" y="4572000"/>
              <a:ext cx="1440000" cy="144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53" name="Oval 52"/>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grpSp>
      <p:grpSp>
        <p:nvGrpSpPr>
          <p:cNvPr id="49" name="Group 48"/>
          <p:cNvGrpSpPr/>
          <p:nvPr/>
        </p:nvGrpSpPr>
        <p:grpSpPr>
          <a:xfrm>
            <a:off x="550331" y="1284737"/>
            <a:ext cx="1368000" cy="1368000"/>
            <a:chOff x="595024" y="4572000"/>
            <a:chExt cx="1440000" cy="1440000"/>
          </a:xfrm>
        </p:grpSpPr>
        <p:sp>
          <p:nvSpPr>
            <p:cNvPr id="47" name="Oval 46"/>
            <p:cNvSpPr/>
            <p:nvPr/>
          </p:nvSpPr>
          <p:spPr>
            <a:xfrm>
              <a:off x="595024" y="4572000"/>
              <a:ext cx="1440000" cy="144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48" name="Oval 47"/>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grpSp>
      <p:sp>
        <p:nvSpPr>
          <p:cNvPr id="2" name="Title 1"/>
          <p:cNvSpPr>
            <a:spLocks noGrp="1"/>
          </p:cNvSpPr>
          <p:nvPr>
            <p:ph type="title"/>
          </p:nvPr>
        </p:nvSpPr>
        <p:spPr/>
        <p:txBody>
          <a:bodyPr>
            <a:normAutofit/>
          </a:bodyPr>
          <a:lstStyle/>
          <a:p>
            <a:r>
              <a:rPr lang="en-ZA" sz="2000" dirty="0"/>
              <a:t>Specialised Finance strategy snapshot : External analysis (2/4)</a:t>
            </a:r>
          </a:p>
        </p:txBody>
      </p:sp>
      <p:sp>
        <p:nvSpPr>
          <p:cNvPr id="8" name="Rectangle 7"/>
          <p:cNvSpPr/>
          <p:nvPr/>
        </p:nvSpPr>
        <p:spPr>
          <a:xfrm>
            <a:off x="695983" y="1800332"/>
            <a:ext cx="1116000" cy="246124"/>
          </a:xfrm>
          <a:prstGeom prst="rect">
            <a:avLst/>
          </a:prstGeom>
        </p:spPr>
        <p:txBody>
          <a:bodyPr wrap="square" lIns="91347" tIns="45672" rIns="91347" bIns="45672">
            <a:spAutoFit/>
          </a:bodyPr>
          <a:lstStyle/>
          <a:p>
            <a:pPr algn="ctr" defTabSz="914126" eaLnBrk="1" fontAlgn="auto" hangingPunct="1">
              <a:spcBef>
                <a:spcPts val="0"/>
              </a:spcBef>
              <a:spcAft>
                <a:spcPts val="0"/>
              </a:spcAft>
            </a:pPr>
            <a:r>
              <a:rPr lang="en-GB" sz="1000" b="1" kern="0" dirty="0">
                <a:cs typeface="Arial" pitchFamily="34" charset="0"/>
              </a:rPr>
              <a:t>What we do</a:t>
            </a:r>
            <a:endParaRPr lang="en-GB" sz="1000" kern="0" dirty="0"/>
          </a:p>
        </p:txBody>
      </p:sp>
      <p:sp>
        <p:nvSpPr>
          <p:cNvPr id="9" name="Rectangle 8"/>
          <p:cNvSpPr/>
          <p:nvPr/>
        </p:nvSpPr>
        <p:spPr>
          <a:xfrm>
            <a:off x="695983" y="2983116"/>
            <a:ext cx="1116000" cy="400013"/>
          </a:xfrm>
          <a:prstGeom prst="rect">
            <a:avLst/>
          </a:prstGeom>
        </p:spPr>
        <p:txBody>
          <a:bodyPr wrap="square" lIns="91347" tIns="45672" rIns="91347" bIns="45672">
            <a:spAutoFit/>
          </a:bodyPr>
          <a:lstStyle/>
          <a:p>
            <a:pPr algn="ctr" defTabSz="914126" eaLnBrk="1" fontAlgn="auto" hangingPunct="1">
              <a:spcBef>
                <a:spcPts val="0"/>
              </a:spcBef>
              <a:spcAft>
                <a:spcPts val="0"/>
              </a:spcAft>
            </a:pPr>
            <a:r>
              <a:rPr lang="en-GB" sz="1000" b="1" kern="0" dirty="0">
                <a:cs typeface="Arial" pitchFamily="34" charset="0"/>
              </a:rPr>
              <a:t>Partnering for success</a:t>
            </a:r>
          </a:p>
        </p:txBody>
      </p:sp>
      <p:sp>
        <p:nvSpPr>
          <p:cNvPr id="10" name="Rectangle 9"/>
          <p:cNvSpPr/>
          <p:nvPr/>
        </p:nvSpPr>
        <p:spPr>
          <a:xfrm>
            <a:off x="695983" y="4003354"/>
            <a:ext cx="1116000" cy="707789"/>
          </a:xfrm>
          <a:prstGeom prst="rect">
            <a:avLst/>
          </a:prstGeom>
        </p:spPr>
        <p:txBody>
          <a:bodyPr wrap="square" lIns="91347" tIns="45672" rIns="91347" bIns="45672">
            <a:spAutoFit/>
          </a:bodyPr>
          <a:lstStyle/>
          <a:p>
            <a:pPr algn="ctr" defTabSz="914126" eaLnBrk="1" fontAlgn="auto" hangingPunct="1">
              <a:spcBef>
                <a:spcPts val="0"/>
              </a:spcBef>
              <a:spcAft>
                <a:spcPts val="0"/>
              </a:spcAft>
            </a:pPr>
            <a:r>
              <a:rPr lang="en-GB" sz="1000" b="1" kern="0" dirty="0">
                <a:cs typeface="Arial" pitchFamily="34" charset="0"/>
              </a:rPr>
              <a:t>Proven capability in executing transactions</a:t>
            </a:r>
          </a:p>
        </p:txBody>
      </p:sp>
      <p:grpSp>
        <p:nvGrpSpPr>
          <p:cNvPr id="66" name="Group 65"/>
          <p:cNvGrpSpPr/>
          <p:nvPr/>
        </p:nvGrpSpPr>
        <p:grpSpPr>
          <a:xfrm>
            <a:off x="4350483" y="1319567"/>
            <a:ext cx="5148001" cy="546706"/>
            <a:chOff x="4350483" y="1393774"/>
            <a:chExt cx="4954667" cy="546706"/>
          </a:xfrm>
        </p:grpSpPr>
        <p:sp>
          <p:nvSpPr>
            <p:cNvPr id="17" name="TextBox 16"/>
            <p:cNvSpPr txBox="1"/>
            <p:nvPr/>
          </p:nvSpPr>
          <p:spPr>
            <a:xfrm>
              <a:off x="5813087" y="1432649"/>
              <a:ext cx="3492063" cy="507831"/>
            </a:xfrm>
            <a:prstGeom prst="rect">
              <a:avLst/>
            </a:prstGeom>
            <a:noFill/>
          </p:spPr>
          <p:txBody>
            <a:bodyPr wrap="square" rtlCol="0">
              <a:spAutoFit/>
            </a:bodyPr>
            <a:lstStyle/>
            <a:p>
              <a:pPr marL="171450" indent="-171450">
                <a:buFont typeface="Wingdings" panose="05000000000000000000" pitchFamily="2" charset="2"/>
                <a:buChar char="§"/>
              </a:pPr>
              <a:r>
                <a:rPr lang="en-ZA" sz="900" b="1" dirty="0"/>
                <a:t>Advise on optimal deal structure </a:t>
              </a:r>
              <a:r>
                <a:rPr lang="en-ZA" sz="900" dirty="0"/>
                <a:t>and </a:t>
              </a:r>
              <a:r>
                <a:rPr lang="en-ZA" sz="900" b="1" dirty="0"/>
                <a:t>how to effect transactions</a:t>
              </a:r>
              <a:r>
                <a:rPr lang="en-ZA" sz="900" dirty="0"/>
                <a:t>. The team provides solutions to support a range of transactions, including refinancing/securitisation.</a:t>
              </a:r>
            </a:p>
          </p:txBody>
        </p:sp>
        <p:sp>
          <p:nvSpPr>
            <p:cNvPr id="33" name="Pentagon 32"/>
            <p:cNvSpPr/>
            <p:nvPr/>
          </p:nvSpPr>
          <p:spPr>
            <a:xfrm>
              <a:off x="4350483" y="1393774"/>
              <a:ext cx="1316625" cy="540000"/>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t>Structured Solutions</a:t>
              </a:r>
            </a:p>
          </p:txBody>
        </p:sp>
      </p:grpSp>
      <p:grpSp>
        <p:nvGrpSpPr>
          <p:cNvPr id="67" name="Group 66"/>
          <p:cNvGrpSpPr/>
          <p:nvPr/>
        </p:nvGrpSpPr>
        <p:grpSpPr>
          <a:xfrm>
            <a:off x="4350484" y="2784645"/>
            <a:ext cx="5148000" cy="562680"/>
            <a:chOff x="4350484" y="2636501"/>
            <a:chExt cx="5043701" cy="562680"/>
          </a:xfrm>
        </p:grpSpPr>
        <p:sp>
          <p:nvSpPr>
            <p:cNvPr id="18" name="TextBox 17"/>
            <p:cNvSpPr txBox="1"/>
            <p:nvPr/>
          </p:nvSpPr>
          <p:spPr>
            <a:xfrm>
              <a:off x="5821600" y="2636501"/>
              <a:ext cx="3572585" cy="507831"/>
            </a:xfrm>
            <a:prstGeom prst="rect">
              <a:avLst/>
            </a:prstGeom>
            <a:noFill/>
          </p:spPr>
          <p:txBody>
            <a:bodyPr wrap="square" rtlCol="0">
              <a:spAutoFit/>
            </a:bodyPr>
            <a:lstStyle/>
            <a:p>
              <a:pPr marL="171450" indent="-171450">
                <a:buFont typeface="Wingdings" panose="05000000000000000000" pitchFamily="2" charset="2"/>
                <a:buChar char="§"/>
              </a:pPr>
              <a:r>
                <a:rPr lang="en-ZA" sz="900" dirty="0"/>
                <a:t>The M&amp;A team excels in devising and executing transactions including </a:t>
              </a:r>
              <a:r>
                <a:rPr lang="en-ZA" sz="900" b="1" dirty="0"/>
                <a:t>mergers, acquisitions, divestitures, and corporate restructurings</a:t>
              </a:r>
              <a:r>
                <a:rPr lang="en-ZA" sz="900" dirty="0"/>
                <a:t>.</a:t>
              </a:r>
            </a:p>
          </p:txBody>
        </p:sp>
        <p:sp>
          <p:nvSpPr>
            <p:cNvPr id="34" name="Pentagon 33"/>
            <p:cNvSpPr/>
            <p:nvPr/>
          </p:nvSpPr>
          <p:spPr>
            <a:xfrm>
              <a:off x="4350484" y="2659181"/>
              <a:ext cx="1340284" cy="540000"/>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t>Mergers &amp; Acquisitions Advisory</a:t>
              </a:r>
            </a:p>
          </p:txBody>
        </p:sp>
      </p:grpSp>
      <p:grpSp>
        <p:nvGrpSpPr>
          <p:cNvPr id="68" name="Group 67"/>
          <p:cNvGrpSpPr/>
          <p:nvPr/>
        </p:nvGrpSpPr>
        <p:grpSpPr>
          <a:xfrm>
            <a:off x="4350484" y="3699953"/>
            <a:ext cx="5148000" cy="1200329"/>
            <a:chOff x="4350484" y="3612768"/>
            <a:chExt cx="5148000" cy="1200329"/>
          </a:xfrm>
        </p:grpSpPr>
        <p:sp>
          <p:nvSpPr>
            <p:cNvPr id="19" name="TextBox 18"/>
            <p:cNvSpPr txBox="1"/>
            <p:nvPr/>
          </p:nvSpPr>
          <p:spPr>
            <a:xfrm>
              <a:off x="5795876" y="3612768"/>
              <a:ext cx="3702608" cy="1200329"/>
            </a:xfrm>
            <a:prstGeom prst="rect">
              <a:avLst/>
            </a:prstGeom>
            <a:noFill/>
          </p:spPr>
          <p:txBody>
            <a:bodyPr wrap="square" rtlCol="0">
              <a:spAutoFit/>
            </a:bodyPr>
            <a:lstStyle/>
            <a:p>
              <a:pPr marL="171450" indent="-171450">
                <a:buFont typeface="Wingdings" panose="05000000000000000000" pitchFamily="2" charset="2"/>
                <a:buChar char="§"/>
              </a:pPr>
              <a:r>
                <a:rPr lang="en-ZA" sz="900" dirty="0"/>
                <a:t>Transparent and robust valuations to support corporate transactions.</a:t>
              </a:r>
            </a:p>
            <a:p>
              <a:pPr marL="171450" indent="-171450">
                <a:buFont typeface="Wingdings" panose="05000000000000000000" pitchFamily="2" charset="2"/>
                <a:buChar char="§"/>
              </a:pPr>
              <a:r>
                <a:rPr lang="en-ZA" sz="900" dirty="0"/>
                <a:t>Building an effective business model, whether it's to evaluate a transaction, a new market opportunity or for other strategic purposes, is a complex task. </a:t>
              </a:r>
            </a:p>
            <a:p>
              <a:pPr marL="171450" indent="-171450">
                <a:buFont typeface="Wingdings" panose="05000000000000000000" pitchFamily="2" charset="2"/>
                <a:buChar char="§"/>
              </a:pPr>
              <a:r>
                <a:rPr lang="en-ZA" sz="900" dirty="0"/>
                <a:t>Our team is well equipped to carry out the </a:t>
              </a:r>
              <a:r>
                <a:rPr lang="en-ZA" sz="900" b="1" dirty="0"/>
                <a:t>model review </a:t>
              </a:r>
              <a:r>
                <a:rPr lang="en-ZA" sz="900" dirty="0"/>
                <a:t>and </a:t>
              </a:r>
              <a:r>
                <a:rPr lang="en-ZA" sz="900" b="1" dirty="0"/>
                <a:t>model-build</a:t>
              </a:r>
              <a:r>
                <a:rPr lang="en-ZA" sz="900" dirty="0"/>
                <a:t> activities to support our clients need to make key decisions and improve their strategic outcomes.</a:t>
              </a:r>
            </a:p>
          </p:txBody>
        </p:sp>
        <p:sp>
          <p:nvSpPr>
            <p:cNvPr id="35" name="Pentagon 34"/>
            <p:cNvSpPr/>
            <p:nvPr/>
          </p:nvSpPr>
          <p:spPr>
            <a:xfrm>
              <a:off x="4350484" y="3758559"/>
              <a:ext cx="1368000" cy="540000"/>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t>Valuations and Business Modelling</a:t>
              </a:r>
            </a:p>
          </p:txBody>
        </p:sp>
      </p:grpSp>
      <p:sp>
        <p:nvSpPr>
          <p:cNvPr id="37" name="Rectangle 36"/>
          <p:cNvSpPr/>
          <p:nvPr/>
        </p:nvSpPr>
        <p:spPr>
          <a:xfrm>
            <a:off x="2063983" y="1319567"/>
            <a:ext cx="2178564" cy="1477328"/>
          </a:xfrm>
          <a:prstGeom prst="rect">
            <a:avLst/>
          </a:prstGeom>
        </p:spPr>
        <p:txBody>
          <a:bodyPr wrap="square">
            <a:spAutoFit/>
          </a:bodyPr>
          <a:lstStyle/>
          <a:p>
            <a:r>
              <a:rPr lang="en-ZA" sz="900" dirty="0"/>
              <a:t>Our team of </a:t>
            </a:r>
            <a:r>
              <a:rPr lang="en-ZA" sz="900" b="1" dirty="0"/>
              <a:t>professionals devise and execute </a:t>
            </a:r>
            <a:r>
              <a:rPr lang="en-ZA" sz="900" dirty="0"/>
              <a:t>innovative and tailored financial solutions to adequately address our clients’ most challenging problems. Combining our clients' insight with our transactional expertise, we work alongside our clients on all aspects of their Capital Agenda </a:t>
            </a:r>
            <a:r>
              <a:rPr lang="en-ZA" sz="900" b="1" dirty="0"/>
              <a:t>(Raise, Invest, Optimise and Preserve)</a:t>
            </a:r>
          </a:p>
          <a:p>
            <a:endParaRPr lang="en-ZA" sz="900" dirty="0"/>
          </a:p>
        </p:txBody>
      </p:sp>
      <p:sp>
        <p:nvSpPr>
          <p:cNvPr id="38" name="Rectangle 37"/>
          <p:cNvSpPr/>
          <p:nvPr/>
        </p:nvSpPr>
        <p:spPr>
          <a:xfrm>
            <a:off x="2063983" y="2673570"/>
            <a:ext cx="2178564" cy="784830"/>
          </a:xfrm>
          <a:prstGeom prst="rect">
            <a:avLst/>
          </a:prstGeom>
        </p:spPr>
        <p:txBody>
          <a:bodyPr wrap="square">
            <a:spAutoFit/>
          </a:bodyPr>
          <a:lstStyle/>
          <a:p>
            <a:endParaRPr lang="en-ZA" sz="900" dirty="0"/>
          </a:p>
          <a:p>
            <a:r>
              <a:rPr lang="en-ZA" sz="900" dirty="0"/>
              <a:t>We </a:t>
            </a:r>
            <a:r>
              <a:rPr lang="en-ZA" sz="900" b="1" dirty="0"/>
              <a:t>measure our success based on our clients’ success</a:t>
            </a:r>
            <a:r>
              <a:rPr lang="en-ZA" sz="900" dirty="0"/>
              <a:t>. So, too, our clients’ risks are our risks. This is true partnership in action.</a:t>
            </a:r>
          </a:p>
        </p:txBody>
      </p:sp>
      <p:sp>
        <p:nvSpPr>
          <p:cNvPr id="39" name="Rectangle 38"/>
          <p:cNvSpPr/>
          <p:nvPr/>
        </p:nvSpPr>
        <p:spPr>
          <a:xfrm>
            <a:off x="2063983" y="3795203"/>
            <a:ext cx="2178564" cy="784830"/>
          </a:xfrm>
          <a:prstGeom prst="rect">
            <a:avLst/>
          </a:prstGeom>
        </p:spPr>
        <p:txBody>
          <a:bodyPr wrap="square">
            <a:spAutoFit/>
          </a:bodyPr>
          <a:lstStyle/>
          <a:p>
            <a:r>
              <a:rPr lang="en-ZA" sz="900" dirty="0"/>
              <a:t>Our team </a:t>
            </a:r>
            <a:r>
              <a:rPr lang="en-ZA" sz="900" b="1" dirty="0"/>
              <a:t>boasts strong credentials</a:t>
            </a:r>
            <a:r>
              <a:rPr lang="en-ZA" sz="900" dirty="0"/>
              <a:t>, </a:t>
            </a:r>
            <a:r>
              <a:rPr lang="en-ZA" sz="900" b="1" dirty="0"/>
              <a:t>intimate knowledge of our clients </a:t>
            </a:r>
            <a:r>
              <a:rPr lang="en-ZA" sz="900" dirty="0"/>
              <a:t>and a proven ability to maximise value for our clients through leading insights and prudent advice.</a:t>
            </a:r>
          </a:p>
        </p:txBody>
      </p:sp>
      <p:sp>
        <p:nvSpPr>
          <p:cNvPr id="40" name="Title 1"/>
          <p:cNvSpPr txBox="1">
            <a:spLocks/>
          </p:cNvSpPr>
          <p:nvPr/>
        </p:nvSpPr>
        <p:spPr bwMode="auto">
          <a:xfrm>
            <a:off x="351473" y="966252"/>
            <a:ext cx="3897254" cy="288000"/>
          </a:xfrm>
          <a:prstGeom prst="rect">
            <a:avLst/>
          </a:prstGeom>
          <a:solidFill>
            <a:schemeClr val="bg1">
              <a:lumMod val="50000"/>
            </a:schemeClr>
          </a:solidFill>
          <a:ln>
            <a:noFill/>
          </a:ln>
          <a:effectLst/>
          <a:extLst/>
        </p:spPr>
        <p:txBody>
          <a:bodyPr vert="horz" wrap="square" lIns="72000" tIns="36000" rIns="72000" bIns="36000" numCol="1" anchor="t" anchorCtr="0" compatLnSpc="1">
            <a:prstTxWarp prst="textNoShape">
              <a:avLst/>
            </a:prstTxWarp>
            <a:noAutofit/>
          </a:bodyPr>
          <a:lstStyle>
            <a:lvl1pPr algn="l" defTabSz="892894" rtl="0" eaLnBrk="1" fontAlgn="base" hangingPunct="1">
              <a:spcBef>
                <a:spcPct val="0"/>
              </a:spcBef>
              <a:spcAft>
                <a:spcPct val="0"/>
              </a:spcAft>
              <a:tabLst>
                <a:tab pos="269133" algn="l"/>
              </a:tabLst>
              <a:defRPr sz="2400" b="0" baseline="0">
                <a:solidFill>
                  <a:schemeClr val="bg1"/>
                </a:solidFill>
                <a:latin typeface="+mj-lt"/>
                <a:ea typeface="Arial Unicode MS" pitchFamily="34" charset="-128"/>
                <a:cs typeface="Arial Unicode MS" pitchFamily="34" charset="-128"/>
              </a:defRPr>
            </a:lvl1pPr>
            <a:lvl2pPr algn="l" defTabSz="892894" rtl="0" eaLnBrk="1" fontAlgn="base" hangingPunct="1">
              <a:spcBef>
                <a:spcPct val="0"/>
              </a:spcBef>
              <a:spcAft>
                <a:spcPct val="0"/>
              </a:spcAft>
              <a:defRPr sz="1900" b="1">
                <a:solidFill>
                  <a:schemeClr val="tx2"/>
                </a:solidFill>
                <a:latin typeface="Arial" charset="0"/>
              </a:defRPr>
            </a:lvl2pPr>
            <a:lvl3pPr algn="l" defTabSz="892894" rtl="0" eaLnBrk="1" fontAlgn="base" hangingPunct="1">
              <a:spcBef>
                <a:spcPct val="0"/>
              </a:spcBef>
              <a:spcAft>
                <a:spcPct val="0"/>
              </a:spcAft>
              <a:defRPr sz="1900" b="1">
                <a:solidFill>
                  <a:schemeClr val="tx2"/>
                </a:solidFill>
                <a:latin typeface="Arial" charset="0"/>
              </a:defRPr>
            </a:lvl3pPr>
            <a:lvl4pPr algn="l" defTabSz="892894" rtl="0" eaLnBrk="1" fontAlgn="base" hangingPunct="1">
              <a:spcBef>
                <a:spcPct val="0"/>
              </a:spcBef>
              <a:spcAft>
                <a:spcPct val="0"/>
              </a:spcAft>
              <a:defRPr sz="1900" b="1">
                <a:solidFill>
                  <a:schemeClr val="tx2"/>
                </a:solidFill>
                <a:latin typeface="Arial" charset="0"/>
              </a:defRPr>
            </a:lvl4pPr>
            <a:lvl5pPr algn="l" defTabSz="892894" rtl="0" eaLnBrk="1" fontAlgn="base" hangingPunct="1">
              <a:spcBef>
                <a:spcPct val="0"/>
              </a:spcBef>
              <a:spcAft>
                <a:spcPct val="0"/>
              </a:spcAft>
              <a:defRPr sz="1900" b="1">
                <a:solidFill>
                  <a:schemeClr val="tx2"/>
                </a:solidFill>
                <a:latin typeface="Arial" charset="0"/>
              </a:defRPr>
            </a:lvl5pPr>
            <a:lvl6pPr marL="455943" algn="l" defTabSz="892894" rtl="0" eaLnBrk="1" fontAlgn="base" hangingPunct="1">
              <a:spcBef>
                <a:spcPct val="0"/>
              </a:spcBef>
              <a:spcAft>
                <a:spcPct val="0"/>
              </a:spcAft>
              <a:defRPr sz="1900" b="1">
                <a:solidFill>
                  <a:schemeClr val="tx2"/>
                </a:solidFill>
                <a:latin typeface="Arial" charset="0"/>
              </a:defRPr>
            </a:lvl6pPr>
            <a:lvl7pPr marL="911894" algn="l" defTabSz="892894" rtl="0" eaLnBrk="1" fontAlgn="base" hangingPunct="1">
              <a:spcBef>
                <a:spcPct val="0"/>
              </a:spcBef>
              <a:spcAft>
                <a:spcPct val="0"/>
              </a:spcAft>
              <a:defRPr sz="1900" b="1">
                <a:solidFill>
                  <a:schemeClr val="tx2"/>
                </a:solidFill>
                <a:latin typeface="Arial" charset="0"/>
              </a:defRPr>
            </a:lvl7pPr>
            <a:lvl8pPr marL="1367837" algn="l" defTabSz="892894" rtl="0" eaLnBrk="1" fontAlgn="base" hangingPunct="1">
              <a:spcBef>
                <a:spcPct val="0"/>
              </a:spcBef>
              <a:spcAft>
                <a:spcPct val="0"/>
              </a:spcAft>
              <a:defRPr sz="1900" b="1">
                <a:solidFill>
                  <a:schemeClr val="tx2"/>
                </a:solidFill>
                <a:latin typeface="Arial" charset="0"/>
              </a:defRPr>
            </a:lvl8pPr>
            <a:lvl9pPr marL="1823785" algn="l" defTabSz="892894" rtl="0" eaLnBrk="1" fontAlgn="base" hangingPunct="1">
              <a:spcBef>
                <a:spcPct val="0"/>
              </a:spcBef>
              <a:spcAft>
                <a:spcPct val="0"/>
              </a:spcAft>
              <a:defRPr sz="1900" b="1">
                <a:solidFill>
                  <a:schemeClr val="tx2"/>
                </a:solidFill>
                <a:latin typeface="Arial" charset="0"/>
              </a:defRPr>
            </a:lvl9pPr>
          </a:lstStyle>
          <a:p>
            <a:pPr marL="0" marR="0" lvl="0" indent="0" algn="ctr" defTabSz="892894" rtl="0" eaLnBrk="1" fontAlgn="base" latinLnBrk="0" hangingPunct="1">
              <a:lnSpc>
                <a:spcPct val="100000"/>
              </a:lnSpc>
              <a:spcBef>
                <a:spcPct val="0"/>
              </a:spcBef>
              <a:spcAft>
                <a:spcPct val="0"/>
              </a:spcAft>
              <a:buClrTx/>
              <a:buSzTx/>
              <a:buFontTx/>
              <a:buNone/>
              <a:tabLst>
                <a:tab pos="269133" algn="l"/>
              </a:tabLst>
              <a:defRPr/>
            </a:pPr>
            <a:r>
              <a:rPr kumimoji="0" lang="en-ZA" sz="1000" b="1" i="0" u="none" strike="noStrike" kern="0" cap="none" spc="0" normalizeH="0" baseline="0" noProof="0" dirty="0">
                <a:ln>
                  <a:noFill/>
                </a:ln>
                <a:solidFill>
                  <a:srgbClr val="FFFFFF"/>
                </a:solidFill>
                <a:effectLst/>
                <a:uLnTx/>
                <a:uFillTx/>
                <a:latin typeface="Arial"/>
                <a:ea typeface="Arial Unicode MS" pitchFamily="34" charset="-128"/>
              </a:rPr>
              <a:t>Specialised Finance overview</a:t>
            </a:r>
          </a:p>
        </p:txBody>
      </p:sp>
      <p:sp>
        <p:nvSpPr>
          <p:cNvPr id="42" name="Title 1"/>
          <p:cNvSpPr txBox="1">
            <a:spLocks/>
          </p:cNvSpPr>
          <p:nvPr/>
        </p:nvSpPr>
        <p:spPr bwMode="auto">
          <a:xfrm>
            <a:off x="4350484" y="966251"/>
            <a:ext cx="5148000" cy="288000"/>
          </a:xfrm>
          <a:prstGeom prst="rect">
            <a:avLst/>
          </a:prstGeom>
          <a:solidFill>
            <a:schemeClr val="bg1">
              <a:lumMod val="50000"/>
            </a:schemeClr>
          </a:solidFill>
          <a:ln>
            <a:noFill/>
          </a:ln>
          <a:effectLst/>
          <a:extLst/>
        </p:spPr>
        <p:txBody>
          <a:bodyPr vert="horz" wrap="square" lIns="72000" tIns="36000" rIns="72000" bIns="36000" numCol="1" anchor="t" anchorCtr="0" compatLnSpc="1">
            <a:prstTxWarp prst="textNoShape">
              <a:avLst/>
            </a:prstTxWarp>
            <a:noAutofit/>
          </a:bodyPr>
          <a:lstStyle>
            <a:lvl1pPr algn="l" defTabSz="892894" rtl="0" eaLnBrk="1" fontAlgn="base" hangingPunct="1">
              <a:spcBef>
                <a:spcPct val="0"/>
              </a:spcBef>
              <a:spcAft>
                <a:spcPct val="0"/>
              </a:spcAft>
              <a:tabLst>
                <a:tab pos="269133" algn="l"/>
              </a:tabLst>
              <a:defRPr sz="2400" b="0" baseline="0">
                <a:solidFill>
                  <a:schemeClr val="bg1"/>
                </a:solidFill>
                <a:latin typeface="+mj-lt"/>
                <a:ea typeface="Arial Unicode MS" pitchFamily="34" charset="-128"/>
                <a:cs typeface="Arial Unicode MS" pitchFamily="34" charset="-128"/>
              </a:defRPr>
            </a:lvl1pPr>
            <a:lvl2pPr algn="l" defTabSz="892894" rtl="0" eaLnBrk="1" fontAlgn="base" hangingPunct="1">
              <a:spcBef>
                <a:spcPct val="0"/>
              </a:spcBef>
              <a:spcAft>
                <a:spcPct val="0"/>
              </a:spcAft>
              <a:defRPr sz="1900" b="1">
                <a:solidFill>
                  <a:schemeClr val="tx2"/>
                </a:solidFill>
                <a:latin typeface="Arial" charset="0"/>
              </a:defRPr>
            </a:lvl2pPr>
            <a:lvl3pPr algn="l" defTabSz="892894" rtl="0" eaLnBrk="1" fontAlgn="base" hangingPunct="1">
              <a:spcBef>
                <a:spcPct val="0"/>
              </a:spcBef>
              <a:spcAft>
                <a:spcPct val="0"/>
              </a:spcAft>
              <a:defRPr sz="1900" b="1">
                <a:solidFill>
                  <a:schemeClr val="tx2"/>
                </a:solidFill>
                <a:latin typeface="Arial" charset="0"/>
              </a:defRPr>
            </a:lvl3pPr>
            <a:lvl4pPr algn="l" defTabSz="892894" rtl="0" eaLnBrk="1" fontAlgn="base" hangingPunct="1">
              <a:spcBef>
                <a:spcPct val="0"/>
              </a:spcBef>
              <a:spcAft>
                <a:spcPct val="0"/>
              </a:spcAft>
              <a:defRPr sz="1900" b="1">
                <a:solidFill>
                  <a:schemeClr val="tx2"/>
                </a:solidFill>
                <a:latin typeface="Arial" charset="0"/>
              </a:defRPr>
            </a:lvl4pPr>
            <a:lvl5pPr algn="l" defTabSz="892894" rtl="0" eaLnBrk="1" fontAlgn="base" hangingPunct="1">
              <a:spcBef>
                <a:spcPct val="0"/>
              </a:spcBef>
              <a:spcAft>
                <a:spcPct val="0"/>
              </a:spcAft>
              <a:defRPr sz="1900" b="1">
                <a:solidFill>
                  <a:schemeClr val="tx2"/>
                </a:solidFill>
                <a:latin typeface="Arial" charset="0"/>
              </a:defRPr>
            </a:lvl5pPr>
            <a:lvl6pPr marL="455943" algn="l" defTabSz="892894" rtl="0" eaLnBrk="1" fontAlgn="base" hangingPunct="1">
              <a:spcBef>
                <a:spcPct val="0"/>
              </a:spcBef>
              <a:spcAft>
                <a:spcPct val="0"/>
              </a:spcAft>
              <a:defRPr sz="1900" b="1">
                <a:solidFill>
                  <a:schemeClr val="tx2"/>
                </a:solidFill>
                <a:latin typeface="Arial" charset="0"/>
              </a:defRPr>
            </a:lvl6pPr>
            <a:lvl7pPr marL="911894" algn="l" defTabSz="892894" rtl="0" eaLnBrk="1" fontAlgn="base" hangingPunct="1">
              <a:spcBef>
                <a:spcPct val="0"/>
              </a:spcBef>
              <a:spcAft>
                <a:spcPct val="0"/>
              </a:spcAft>
              <a:defRPr sz="1900" b="1">
                <a:solidFill>
                  <a:schemeClr val="tx2"/>
                </a:solidFill>
                <a:latin typeface="Arial" charset="0"/>
              </a:defRPr>
            </a:lvl7pPr>
            <a:lvl8pPr marL="1367837" algn="l" defTabSz="892894" rtl="0" eaLnBrk="1" fontAlgn="base" hangingPunct="1">
              <a:spcBef>
                <a:spcPct val="0"/>
              </a:spcBef>
              <a:spcAft>
                <a:spcPct val="0"/>
              </a:spcAft>
              <a:defRPr sz="1900" b="1">
                <a:solidFill>
                  <a:schemeClr val="tx2"/>
                </a:solidFill>
                <a:latin typeface="Arial" charset="0"/>
              </a:defRPr>
            </a:lvl8pPr>
            <a:lvl9pPr marL="1823785" algn="l" defTabSz="892894" rtl="0" eaLnBrk="1" fontAlgn="base" hangingPunct="1">
              <a:spcBef>
                <a:spcPct val="0"/>
              </a:spcBef>
              <a:spcAft>
                <a:spcPct val="0"/>
              </a:spcAft>
              <a:defRPr sz="1900" b="1">
                <a:solidFill>
                  <a:schemeClr val="tx2"/>
                </a:solidFill>
                <a:latin typeface="Arial" charset="0"/>
              </a:defRPr>
            </a:lvl9pPr>
          </a:lstStyle>
          <a:p>
            <a:pPr marL="0" marR="0" lvl="0" indent="0" algn="l" defTabSz="892894" rtl="0" eaLnBrk="1" fontAlgn="base" latinLnBrk="0" hangingPunct="1">
              <a:lnSpc>
                <a:spcPct val="100000"/>
              </a:lnSpc>
              <a:spcBef>
                <a:spcPct val="0"/>
              </a:spcBef>
              <a:spcAft>
                <a:spcPct val="0"/>
              </a:spcAft>
              <a:buClrTx/>
              <a:buSzTx/>
              <a:buFontTx/>
              <a:buNone/>
              <a:tabLst>
                <a:tab pos="269133" algn="l"/>
              </a:tabLst>
              <a:defRPr/>
            </a:pPr>
            <a:r>
              <a:rPr lang="en-ZA" sz="1000" b="1" kern="0" dirty="0">
                <a:solidFill>
                  <a:srgbClr val="FFFFFF"/>
                </a:solidFill>
                <a:latin typeface="Arial"/>
              </a:rPr>
              <a:t>Service offering</a:t>
            </a:r>
            <a:endParaRPr kumimoji="0" lang="en-ZA" sz="1000" b="1" i="0" u="none" strike="noStrike" kern="0" cap="none" spc="0" normalizeH="0" baseline="0" noProof="0" dirty="0">
              <a:ln>
                <a:noFill/>
              </a:ln>
              <a:solidFill>
                <a:srgbClr val="FFFFFF"/>
              </a:solidFill>
              <a:effectLst/>
              <a:uLnTx/>
              <a:uFillTx/>
              <a:latin typeface="Arial"/>
            </a:endParaRPr>
          </a:p>
        </p:txBody>
      </p:sp>
      <p:grpSp>
        <p:nvGrpSpPr>
          <p:cNvPr id="57" name="Group 56"/>
          <p:cNvGrpSpPr/>
          <p:nvPr/>
        </p:nvGrpSpPr>
        <p:grpSpPr>
          <a:xfrm>
            <a:off x="550331" y="4891069"/>
            <a:ext cx="1368000" cy="1368000"/>
            <a:chOff x="595024" y="4572000"/>
            <a:chExt cx="1440000" cy="1440000"/>
          </a:xfrm>
        </p:grpSpPr>
        <p:sp>
          <p:nvSpPr>
            <p:cNvPr id="58" name="Oval 57"/>
            <p:cNvSpPr/>
            <p:nvPr/>
          </p:nvSpPr>
          <p:spPr>
            <a:xfrm>
              <a:off x="595024" y="4572000"/>
              <a:ext cx="1440000" cy="1440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59" name="Oval 58"/>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grpSp>
      <p:sp>
        <p:nvSpPr>
          <p:cNvPr id="63" name="Rectangle 62"/>
          <p:cNvSpPr/>
          <p:nvPr/>
        </p:nvSpPr>
        <p:spPr>
          <a:xfrm>
            <a:off x="2089331" y="5131203"/>
            <a:ext cx="2153216" cy="923330"/>
          </a:xfrm>
          <a:prstGeom prst="rect">
            <a:avLst/>
          </a:prstGeom>
        </p:spPr>
        <p:txBody>
          <a:bodyPr wrap="square">
            <a:spAutoFit/>
          </a:bodyPr>
          <a:lstStyle/>
          <a:p>
            <a:endParaRPr lang="en-ZA" sz="900" dirty="0"/>
          </a:p>
          <a:p>
            <a:r>
              <a:rPr lang="en-ZA" sz="900" b="1" dirty="0"/>
              <a:t>Deep capital market expertise </a:t>
            </a:r>
            <a:r>
              <a:rPr lang="en-ZA" sz="900" dirty="0"/>
              <a:t>and networks with direct access to key decision makers allowing rapid turn around of financial solutions that are practically executable</a:t>
            </a:r>
          </a:p>
        </p:txBody>
      </p:sp>
      <p:sp>
        <p:nvSpPr>
          <p:cNvPr id="64" name="Rectangle 63"/>
          <p:cNvSpPr/>
          <p:nvPr/>
        </p:nvSpPr>
        <p:spPr>
          <a:xfrm>
            <a:off x="695983" y="5452785"/>
            <a:ext cx="1116000" cy="400013"/>
          </a:xfrm>
          <a:prstGeom prst="rect">
            <a:avLst/>
          </a:prstGeom>
        </p:spPr>
        <p:txBody>
          <a:bodyPr wrap="square" lIns="91347" tIns="45672" rIns="91347" bIns="45672">
            <a:spAutoFit/>
          </a:bodyPr>
          <a:lstStyle/>
          <a:p>
            <a:pPr algn="ctr" defTabSz="914126" eaLnBrk="1" fontAlgn="auto" hangingPunct="1">
              <a:spcBef>
                <a:spcPts val="0"/>
              </a:spcBef>
              <a:spcAft>
                <a:spcPts val="0"/>
              </a:spcAft>
            </a:pPr>
            <a:r>
              <a:rPr lang="en-GB" sz="1000" b="1" kern="0" dirty="0">
                <a:cs typeface="Arial" pitchFamily="34" charset="0"/>
              </a:rPr>
              <a:t>In depth sector knowledge</a:t>
            </a:r>
          </a:p>
        </p:txBody>
      </p:sp>
      <p:grpSp>
        <p:nvGrpSpPr>
          <p:cNvPr id="69" name="Group 68"/>
          <p:cNvGrpSpPr/>
          <p:nvPr/>
        </p:nvGrpSpPr>
        <p:grpSpPr>
          <a:xfrm>
            <a:off x="4350484" y="5147060"/>
            <a:ext cx="5099379" cy="784830"/>
            <a:chOff x="4350484" y="5236983"/>
            <a:chExt cx="4907669" cy="784830"/>
          </a:xfrm>
        </p:grpSpPr>
        <p:sp>
          <p:nvSpPr>
            <p:cNvPr id="36" name="Pentagon 35"/>
            <p:cNvSpPr/>
            <p:nvPr/>
          </p:nvSpPr>
          <p:spPr>
            <a:xfrm>
              <a:off x="4350484" y="5410610"/>
              <a:ext cx="1316570" cy="540000"/>
            </a:xfrm>
            <a:prstGeom prst="homePlat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t>Corporate Finance Strategy</a:t>
              </a:r>
            </a:p>
          </p:txBody>
        </p:sp>
        <p:sp>
          <p:nvSpPr>
            <p:cNvPr id="65" name="TextBox 64"/>
            <p:cNvSpPr txBox="1"/>
            <p:nvPr/>
          </p:nvSpPr>
          <p:spPr>
            <a:xfrm>
              <a:off x="5766294" y="5236983"/>
              <a:ext cx="3491859" cy="784830"/>
            </a:xfrm>
            <a:prstGeom prst="rect">
              <a:avLst/>
            </a:prstGeom>
            <a:noFill/>
          </p:spPr>
          <p:txBody>
            <a:bodyPr wrap="square" rtlCol="0">
              <a:spAutoFit/>
            </a:bodyPr>
            <a:lstStyle/>
            <a:p>
              <a:pPr marL="171450" indent="-171450">
                <a:buFont typeface="Wingdings" panose="05000000000000000000" pitchFamily="2" charset="2"/>
                <a:buChar char="§"/>
              </a:pPr>
              <a:r>
                <a:rPr lang="en-ZA" sz="900" dirty="0"/>
                <a:t>We work with CFO’s on </a:t>
              </a:r>
              <a:r>
                <a:rPr lang="en-ZA" sz="900" b="1" dirty="0"/>
                <a:t>major investment decisions</a:t>
              </a:r>
              <a:r>
                <a:rPr lang="en-ZA" sz="900" dirty="0"/>
                <a:t>; linking corporate strategy to capital markets performance; investor communications; and ensuring that M&amp;A, strategic due diligence reviews and other transactions are consistent with overall strategy.</a:t>
              </a:r>
              <a:endParaRPr lang="en-ZA" sz="900" dirty="0">
                <a:solidFill>
                  <a:srgbClr val="FF0000"/>
                </a:solidFill>
              </a:endParaRPr>
            </a:p>
          </p:txBody>
        </p:sp>
      </p:grpSp>
      <p:sp>
        <p:nvSpPr>
          <p:cNvPr id="41" name="Donut 40"/>
          <p:cNvSpPr/>
          <p:nvPr/>
        </p:nvSpPr>
        <p:spPr>
          <a:xfrm>
            <a:off x="327413" y="962567"/>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2</a:t>
            </a:r>
          </a:p>
        </p:txBody>
      </p:sp>
    </p:spTree>
    <p:extLst>
      <p:ext uri="{BB962C8B-B14F-4D97-AF65-F5344CB8AC3E}">
        <p14:creationId xmlns:p14="http://schemas.microsoft.com/office/powerpoint/2010/main" val="2621439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 name="Object 49" hidden="1"/>
          <p:cNvGraphicFramePr>
            <a:graphicFrameLocks noChangeAspect="1"/>
          </p:cNvGraphicFramePr>
          <p:nvPr>
            <p:custDataLst>
              <p:tags r:id="rId2"/>
            </p:custDataLst>
            <p:extLst>
              <p:ext uri="{D42A27DB-BD31-4B8C-83A1-F6EECF244321}">
                <p14:modId xmlns:p14="http://schemas.microsoft.com/office/powerpoint/2010/main" val="38747771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9925" name="think-cell Slide" r:id="rId4" imgW="216" imgH="216" progId="TCLayout.ActiveDocument.1">
                  <p:embed/>
                </p:oleObj>
              </mc:Choice>
              <mc:Fallback>
                <p:oleObj name="think-cell Slide" r:id="rId4" imgW="216" imgH="216" progId="TCLayout.ActiveDocument.1">
                  <p:embed/>
                  <p:pic>
                    <p:nvPicPr>
                      <p:cNvPr id="50" name="Object 49"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normAutofit/>
          </a:bodyPr>
          <a:lstStyle/>
          <a:p>
            <a:r>
              <a:rPr lang="en-ZA" sz="2000" dirty="0"/>
              <a:t>Specialised Finance strategy snapshot : External analysis (3/4)</a:t>
            </a:r>
          </a:p>
        </p:txBody>
      </p:sp>
      <p:sp>
        <p:nvSpPr>
          <p:cNvPr id="40" name="Title 1"/>
          <p:cNvSpPr txBox="1">
            <a:spLocks/>
          </p:cNvSpPr>
          <p:nvPr/>
        </p:nvSpPr>
        <p:spPr bwMode="auto">
          <a:xfrm>
            <a:off x="351472" y="1271048"/>
            <a:ext cx="9211627" cy="540000"/>
          </a:xfrm>
          <a:prstGeom prst="rect">
            <a:avLst/>
          </a:prstGeom>
          <a:solidFill>
            <a:schemeClr val="bg1">
              <a:lumMod val="65000"/>
            </a:schemeClr>
          </a:solidFill>
          <a:ln>
            <a:solidFill>
              <a:schemeClr val="bg1">
                <a:lumMod val="65000"/>
              </a:schemeClr>
            </a:solidFill>
          </a:ln>
          <a:effectLst/>
          <a:extLst/>
        </p:spPr>
        <p:txBody>
          <a:bodyPr vert="horz" wrap="square" lIns="72000" tIns="36000" rIns="72000" bIns="36000" numCol="1" anchor="t" anchorCtr="0" compatLnSpc="1">
            <a:prstTxWarp prst="textNoShape">
              <a:avLst/>
            </a:prstTxWarp>
            <a:noAutofit/>
          </a:bodyPr>
          <a:lstStyle>
            <a:lvl1pPr algn="l" defTabSz="892894" rtl="0" eaLnBrk="1" fontAlgn="base" hangingPunct="1">
              <a:spcBef>
                <a:spcPct val="0"/>
              </a:spcBef>
              <a:spcAft>
                <a:spcPct val="0"/>
              </a:spcAft>
              <a:tabLst>
                <a:tab pos="269133" algn="l"/>
              </a:tabLst>
              <a:defRPr sz="2400" b="0" baseline="0">
                <a:solidFill>
                  <a:schemeClr val="bg1"/>
                </a:solidFill>
                <a:latin typeface="+mj-lt"/>
                <a:ea typeface="Arial Unicode MS" pitchFamily="34" charset="-128"/>
                <a:cs typeface="Arial Unicode MS" pitchFamily="34" charset="-128"/>
              </a:defRPr>
            </a:lvl1pPr>
            <a:lvl2pPr algn="l" defTabSz="892894" rtl="0" eaLnBrk="1" fontAlgn="base" hangingPunct="1">
              <a:spcBef>
                <a:spcPct val="0"/>
              </a:spcBef>
              <a:spcAft>
                <a:spcPct val="0"/>
              </a:spcAft>
              <a:defRPr sz="1900" b="1">
                <a:solidFill>
                  <a:schemeClr val="tx2"/>
                </a:solidFill>
                <a:latin typeface="Arial" charset="0"/>
              </a:defRPr>
            </a:lvl2pPr>
            <a:lvl3pPr algn="l" defTabSz="892894" rtl="0" eaLnBrk="1" fontAlgn="base" hangingPunct="1">
              <a:spcBef>
                <a:spcPct val="0"/>
              </a:spcBef>
              <a:spcAft>
                <a:spcPct val="0"/>
              </a:spcAft>
              <a:defRPr sz="1900" b="1">
                <a:solidFill>
                  <a:schemeClr val="tx2"/>
                </a:solidFill>
                <a:latin typeface="Arial" charset="0"/>
              </a:defRPr>
            </a:lvl3pPr>
            <a:lvl4pPr algn="l" defTabSz="892894" rtl="0" eaLnBrk="1" fontAlgn="base" hangingPunct="1">
              <a:spcBef>
                <a:spcPct val="0"/>
              </a:spcBef>
              <a:spcAft>
                <a:spcPct val="0"/>
              </a:spcAft>
              <a:defRPr sz="1900" b="1">
                <a:solidFill>
                  <a:schemeClr val="tx2"/>
                </a:solidFill>
                <a:latin typeface="Arial" charset="0"/>
              </a:defRPr>
            </a:lvl4pPr>
            <a:lvl5pPr algn="l" defTabSz="892894" rtl="0" eaLnBrk="1" fontAlgn="base" hangingPunct="1">
              <a:spcBef>
                <a:spcPct val="0"/>
              </a:spcBef>
              <a:spcAft>
                <a:spcPct val="0"/>
              </a:spcAft>
              <a:defRPr sz="1900" b="1">
                <a:solidFill>
                  <a:schemeClr val="tx2"/>
                </a:solidFill>
                <a:latin typeface="Arial" charset="0"/>
              </a:defRPr>
            </a:lvl5pPr>
            <a:lvl6pPr marL="455943" algn="l" defTabSz="892894" rtl="0" eaLnBrk="1" fontAlgn="base" hangingPunct="1">
              <a:spcBef>
                <a:spcPct val="0"/>
              </a:spcBef>
              <a:spcAft>
                <a:spcPct val="0"/>
              </a:spcAft>
              <a:defRPr sz="1900" b="1">
                <a:solidFill>
                  <a:schemeClr val="tx2"/>
                </a:solidFill>
                <a:latin typeface="Arial" charset="0"/>
              </a:defRPr>
            </a:lvl6pPr>
            <a:lvl7pPr marL="911894" algn="l" defTabSz="892894" rtl="0" eaLnBrk="1" fontAlgn="base" hangingPunct="1">
              <a:spcBef>
                <a:spcPct val="0"/>
              </a:spcBef>
              <a:spcAft>
                <a:spcPct val="0"/>
              </a:spcAft>
              <a:defRPr sz="1900" b="1">
                <a:solidFill>
                  <a:schemeClr val="tx2"/>
                </a:solidFill>
                <a:latin typeface="Arial" charset="0"/>
              </a:defRPr>
            </a:lvl7pPr>
            <a:lvl8pPr marL="1367837" algn="l" defTabSz="892894" rtl="0" eaLnBrk="1" fontAlgn="base" hangingPunct="1">
              <a:spcBef>
                <a:spcPct val="0"/>
              </a:spcBef>
              <a:spcAft>
                <a:spcPct val="0"/>
              </a:spcAft>
              <a:defRPr sz="1900" b="1">
                <a:solidFill>
                  <a:schemeClr val="tx2"/>
                </a:solidFill>
                <a:latin typeface="Arial" charset="0"/>
              </a:defRPr>
            </a:lvl8pPr>
            <a:lvl9pPr marL="1823785" algn="l" defTabSz="892894" rtl="0" eaLnBrk="1" fontAlgn="base" hangingPunct="1">
              <a:spcBef>
                <a:spcPct val="0"/>
              </a:spcBef>
              <a:spcAft>
                <a:spcPct val="0"/>
              </a:spcAft>
              <a:defRPr sz="1900" b="1">
                <a:solidFill>
                  <a:schemeClr val="tx2"/>
                </a:solidFill>
                <a:latin typeface="Arial" charset="0"/>
              </a:defRPr>
            </a:lvl9pPr>
          </a:lstStyle>
          <a:p>
            <a:pPr marL="0" marR="0" lvl="0" indent="0" algn="ctr" defTabSz="892894" rtl="0" eaLnBrk="1" fontAlgn="base" latinLnBrk="0" hangingPunct="1">
              <a:lnSpc>
                <a:spcPct val="100000"/>
              </a:lnSpc>
              <a:spcBef>
                <a:spcPct val="0"/>
              </a:spcBef>
              <a:spcAft>
                <a:spcPct val="0"/>
              </a:spcAft>
              <a:buClrTx/>
              <a:buSzTx/>
              <a:buFontTx/>
              <a:buNone/>
              <a:tabLst>
                <a:tab pos="269133" algn="l"/>
              </a:tabLst>
              <a:defRPr/>
            </a:pPr>
            <a:r>
              <a:rPr lang="en-ZA" sz="1000" b="1" kern="0" dirty="0">
                <a:solidFill>
                  <a:srgbClr val="FFFFFF"/>
                </a:solidFill>
                <a:latin typeface="Arial"/>
              </a:rPr>
              <a:t>P</a:t>
            </a:r>
            <a:r>
              <a:rPr kumimoji="0" lang="en-ZA" sz="1000" b="1" i="0" u="none" strike="noStrike" kern="0" cap="none" spc="0" normalizeH="0" baseline="0" noProof="0" dirty="0">
                <a:ln>
                  <a:noFill/>
                </a:ln>
                <a:solidFill>
                  <a:srgbClr val="FFFFFF"/>
                </a:solidFill>
                <a:effectLst/>
                <a:uLnTx/>
                <a:uFillTx/>
                <a:latin typeface="Arial"/>
                <a:ea typeface="Arial Unicode MS" pitchFamily="34" charset="-128"/>
              </a:rPr>
              <a:t>ositioning – where</a:t>
            </a:r>
            <a:r>
              <a:rPr kumimoji="0" lang="en-ZA" sz="1000" b="1" i="0" u="none" strike="noStrike" kern="0" cap="none" spc="0" normalizeH="0" noProof="0" dirty="0">
                <a:ln>
                  <a:noFill/>
                </a:ln>
                <a:solidFill>
                  <a:srgbClr val="FFFFFF"/>
                </a:solidFill>
                <a:effectLst/>
                <a:uLnTx/>
                <a:uFillTx/>
                <a:latin typeface="Arial"/>
                <a:ea typeface="Arial Unicode MS" pitchFamily="34" charset="-128"/>
              </a:rPr>
              <a:t> we are and where we want to go</a:t>
            </a:r>
            <a:endParaRPr kumimoji="0" lang="en-ZA" sz="1000" b="1" i="0" u="none" strike="noStrike" kern="0" cap="none" spc="0" normalizeH="0" baseline="0" noProof="0" dirty="0">
              <a:ln>
                <a:noFill/>
              </a:ln>
              <a:solidFill>
                <a:srgbClr val="FFFFFF"/>
              </a:solidFill>
              <a:effectLst/>
              <a:uLnTx/>
              <a:uFillTx/>
              <a:latin typeface="Arial"/>
              <a:ea typeface="Arial Unicode MS" pitchFamily="34" charset="-128"/>
            </a:endParaRPr>
          </a:p>
        </p:txBody>
      </p:sp>
      <p:sp>
        <p:nvSpPr>
          <p:cNvPr id="85" name="TextBox 84"/>
          <p:cNvSpPr txBox="1"/>
          <p:nvPr/>
        </p:nvSpPr>
        <p:spPr>
          <a:xfrm>
            <a:off x="4959927" y="1884709"/>
            <a:ext cx="4594602" cy="216000"/>
          </a:xfrm>
          <a:prstGeom prst="rect">
            <a:avLst/>
          </a:prstGeom>
          <a:solidFill>
            <a:schemeClr val="accent1"/>
          </a:solidFill>
        </p:spPr>
        <p:txBody>
          <a:bodyPr wrap="square" rtlCol="0">
            <a:spAutoFit/>
          </a:bodyPr>
          <a:lstStyle/>
          <a:p>
            <a:r>
              <a:rPr lang="en-ZA" sz="1000" b="1" dirty="0">
                <a:solidFill>
                  <a:schemeClr val="bg1"/>
                </a:solidFill>
              </a:rPr>
              <a:t>Current market position</a:t>
            </a:r>
          </a:p>
        </p:txBody>
      </p:sp>
      <p:sp>
        <p:nvSpPr>
          <p:cNvPr id="88" name="TextBox 87"/>
          <p:cNvSpPr txBox="1"/>
          <p:nvPr/>
        </p:nvSpPr>
        <p:spPr>
          <a:xfrm>
            <a:off x="4959926" y="2077820"/>
            <a:ext cx="4571546" cy="1092952"/>
          </a:xfrm>
          <a:prstGeom prst="rect">
            <a:avLst/>
          </a:prstGeom>
          <a:noFill/>
          <a:ln>
            <a:solidFill>
              <a:srgbClr val="002060"/>
            </a:solidFill>
          </a:ln>
        </p:spPr>
        <p:txBody>
          <a:bodyPr wrap="square" rtlCol="0">
            <a:noAutofit/>
          </a:bodyPr>
          <a:lstStyle/>
          <a:p>
            <a:pPr marL="285750" indent="-285750">
              <a:buFont typeface="Wingdings" panose="05000000000000000000" pitchFamily="2" charset="2"/>
              <a:buChar char="§"/>
            </a:pPr>
            <a:r>
              <a:rPr lang="en-ZA" sz="1000" dirty="0"/>
              <a:t>We currently provide services to SOC’s within South Africa. Our efforts are </a:t>
            </a:r>
            <a:r>
              <a:rPr lang="en-ZA" sz="1000" b="1" dirty="0"/>
              <a:t>focussed on winning more work </a:t>
            </a:r>
            <a:r>
              <a:rPr lang="en-ZA" sz="1000" dirty="0"/>
              <a:t>within these SOC’s. However this does present a client concentration risk.</a:t>
            </a:r>
          </a:p>
          <a:p>
            <a:pPr marL="285750" indent="-285750">
              <a:buFont typeface="Wingdings" panose="05000000000000000000" pitchFamily="2" charset="2"/>
              <a:buChar char="§"/>
            </a:pPr>
            <a:r>
              <a:rPr lang="en-ZA" sz="1000" dirty="0"/>
              <a:t>The </a:t>
            </a:r>
            <a:r>
              <a:rPr lang="en-ZA" sz="1000" b="1" dirty="0"/>
              <a:t>positioning</a:t>
            </a:r>
            <a:r>
              <a:rPr lang="en-ZA" sz="1000" dirty="0"/>
              <a:t> of our business compared to our </a:t>
            </a:r>
            <a:r>
              <a:rPr lang="en-ZA" sz="1000" b="1" dirty="0"/>
              <a:t>competitors</a:t>
            </a:r>
            <a:r>
              <a:rPr lang="en-ZA" sz="1000" dirty="0"/>
              <a:t> is </a:t>
            </a:r>
            <a:r>
              <a:rPr lang="en-ZA" sz="1000" b="1" dirty="0"/>
              <a:t>relatively unknown</a:t>
            </a:r>
            <a:r>
              <a:rPr lang="en-ZA" sz="1000" dirty="0"/>
              <a:t>. </a:t>
            </a:r>
          </a:p>
          <a:p>
            <a:pPr marL="285750" indent="-285750">
              <a:buFont typeface="Wingdings" panose="05000000000000000000" pitchFamily="2" charset="2"/>
              <a:buChar char="§"/>
            </a:pPr>
            <a:r>
              <a:rPr lang="en-ZA" sz="1000" dirty="0"/>
              <a:t>We are concentrating on </a:t>
            </a:r>
            <a:r>
              <a:rPr lang="en-ZA" sz="1000" b="1" dirty="0"/>
              <a:t>enhancing our core services </a:t>
            </a:r>
            <a:r>
              <a:rPr lang="en-ZA" sz="1000" dirty="0"/>
              <a:t>rather than diversification at this stage.</a:t>
            </a:r>
          </a:p>
        </p:txBody>
      </p:sp>
      <p:sp>
        <p:nvSpPr>
          <p:cNvPr id="86" name="TextBox 85"/>
          <p:cNvSpPr txBox="1"/>
          <p:nvPr/>
        </p:nvSpPr>
        <p:spPr>
          <a:xfrm>
            <a:off x="4959926" y="3209560"/>
            <a:ext cx="4571547" cy="216000"/>
          </a:xfrm>
          <a:prstGeom prst="rect">
            <a:avLst/>
          </a:prstGeom>
          <a:solidFill>
            <a:schemeClr val="accent4">
              <a:lumMod val="75000"/>
            </a:schemeClr>
          </a:solidFill>
          <a:ln>
            <a:solidFill>
              <a:schemeClr val="accent4">
                <a:lumMod val="75000"/>
              </a:schemeClr>
            </a:solidFill>
          </a:ln>
        </p:spPr>
        <p:txBody>
          <a:bodyPr wrap="square" rtlCol="0">
            <a:spAutoFit/>
          </a:bodyPr>
          <a:lstStyle/>
          <a:p>
            <a:r>
              <a:rPr lang="en-ZA" sz="1000" b="1" dirty="0">
                <a:solidFill>
                  <a:schemeClr val="bg1"/>
                </a:solidFill>
              </a:rPr>
              <a:t>Target market position</a:t>
            </a:r>
          </a:p>
        </p:txBody>
      </p:sp>
      <p:sp>
        <p:nvSpPr>
          <p:cNvPr id="89" name="TextBox 88"/>
          <p:cNvSpPr txBox="1"/>
          <p:nvPr/>
        </p:nvSpPr>
        <p:spPr>
          <a:xfrm>
            <a:off x="4959926" y="3426307"/>
            <a:ext cx="4571546" cy="1281159"/>
          </a:xfrm>
          <a:prstGeom prst="rect">
            <a:avLst/>
          </a:prstGeom>
          <a:noFill/>
          <a:ln>
            <a:solidFill>
              <a:schemeClr val="accent4">
                <a:lumMod val="75000"/>
              </a:schemeClr>
            </a:solidFill>
          </a:ln>
        </p:spPr>
        <p:txBody>
          <a:bodyPr wrap="square" rtlCol="0">
            <a:noAutofit/>
          </a:bodyPr>
          <a:lstStyle/>
          <a:p>
            <a:pPr marL="285750" indent="-285750">
              <a:buFont typeface="Wingdings" panose="05000000000000000000" pitchFamily="2" charset="2"/>
              <a:buChar char="§"/>
            </a:pPr>
            <a:r>
              <a:rPr lang="en-ZA" sz="1000" dirty="0"/>
              <a:t>In the medium term, </a:t>
            </a:r>
            <a:r>
              <a:rPr lang="en-ZA" sz="1000" b="1" dirty="0"/>
              <a:t>over and above enhancing our service in the public sector</a:t>
            </a:r>
            <a:r>
              <a:rPr lang="en-ZA" sz="1000" dirty="0"/>
              <a:t>, we intend and are already </a:t>
            </a:r>
            <a:r>
              <a:rPr lang="en-ZA" sz="1000" b="1" dirty="0"/>
              <a:t>engaging strategic partners </a:t>
            </a:r>
            <a:r>
              <a:rPr lang="en-ZA" sz="1000" dirty="0"/>
              <a:t>(new channels of distributions) in the private sector to further expand our client reach.</a:t>
            </a:r>
          </a:p>
          <a:p>
            <a:pPr marL="285750" lvl="1" indent="-285750">
              <a:buFont typeface="Wingdings" panose="05000000000000000000" pitchFamily="2" charset="2"/>
              <a:buChar char="§"/>
            </a:pPr>
            <a:r>
              <a:rPr lang="en-ZA" sz="1000" dirty="0"/>
              <a:t>Actively </a:t>
            </a:r>
            <a:r>
              <a:rPr lang="en-ZA" sz="1000" b="1" dirty="0"/>
              <a:t>seeking to bolster our team </a:t>
            </a:r>
            <a:r>
              <a:rPr lang="en-ZA" sz="1000" dirty="0"/>
              <a:t>of professionals in an attempt </a:t>
            </a:r>
            <a:r>
              <a:rPr lang="en-ZA" sz="1000" b="1" dirty="0"/>
              <a:t>to bid and deliver on more projects </a:t>
            </a:r>
            <a:r>
              <a:rPr lang="en-ZA" sz="1000" dirty="0"/>
              <a:t>to increase our market share by winning work from our competitors.</a:t>
            </a:r>
          </a:p>
          <a:p>
            <a:pPr marL="285750" lvl="1" indent="-285750">
              <a:buFont typeface="Wingdings" panose="05000000000000000000" pitchFamily="2" charset="2"/>
              <a:buChar char="§"/>
            </a:pPr>
            <a:r>
              <a:rPr lang="en-ZA" sz="1000" dirty="0"/>
              <a:t>M&amp;A activity is expected to peak between 2018 to 2020. </a:t>
            </a:r>
          </a:p>
        </p:txBody>
      </p:sp>
      <p:sp>
        <p:nvSpPr>
          <p:cNvPr id="87" name="TextBox 86"/>
          <p:cNvSpPr txBox="1"/>
          <p:nvPr/>
        </p:nvSpPr>
        <p:spPr>
          <a:xfrm>
            <a:off x="4959926" y="4772714"/>
            <a:ext cx="4571633" cy="246221"/>
          </a:xfrm>
          <a:prstGeom prst="rect">
            <a:avLst/>
          </a:prstGeom>
          <a:solidFill>
            <a:schemeClr val="accent2"/>
          </a:solidFill>
          <a:ln>
            <a:solidFill>
              <a:schemeClr val="accent2"/>
            </a:solidFill>
          </a:ln>
        </p:spPr>
        <p:txBody>
          <a:bodyPr wrap="square" rtlCol="0">
            <a:spAutoFit/>
          </a:bodyPr>
          <a:lstStyle/>
          <a:p>
            <a:r>
              <a:rPr lang="en-ZA" sz="1000" b="1" dirty="0">
                <a:solidFill>
                  <a:schemeClr val="bg1"/>
                </a:solidFill>
              </a:rPr>
              <a:t>High level objectives over the five year period</a:t>
            </a:r>
          </a:p>
        </p:txBody>
      </p:sp>
      <p:sp>
        <p:nvSpPr>
          <p:cNvPr id="90" name="TextBox 89"/>
          <p:cNvSpPr txBox="1"/>
          <p:nvPr/>
        </p:nvSpPr>
        <p:spPr>
          <a:xfrm>
            <a:off x="4959926" y="4978110"/>
            <a:ext cx="4571547" cy="1267209"/>
          </a:xfrm>
          <a:prstGeom prst="rect">
            <a:avLst/>
          </a:prstGeom>
          <a:noFill/>
          <a:ln>
            <a:solidFill>
              <a:schemeClr val="accent2"/>
            </a:solidFill>
          </a:ln>
        </p:spPr>
        <p:txBody>
          <a:bodyPr wrap="square" rtlCol="0">
            <a:noAutofit/>
          </a:bodyPr>
          <a:lstStyle/>
          <a:p>
            <a:pPr marL="285750" indent="-285750">
              <a:spcBef>
                <a:spcPts val="300"/>
              </a:spcBef>
              <a:buFont typeface="Wingdings" panose="05000000000000000000" pitchFamily="2" charset="2"/>
              <a:buChar char="§"/>
            </a:pPr>
            <a:r>
              <a:rPr lang="en-ZA" sz="1000" b="1" dirty="0"/>
              <a:t>Revenue growth </a:t>
            </a:r>
            <a:r>
              <a:rPr lang="en-ZA" sz="1000" dirty="0"/>
              <a:t>through client and product diversification</a:t>
            </a:r>
          </a:p>
          <a:p>
            <a:pPr marL="285750" indent="-285750">
              <a:spcBef>
                <a:spcPts val="300"/>
              </a:spcBef>
              <a:buFont typeface="Wingdings" panose="05000000000000000000" pitchFamily="2" charset="2"/>
              <a:buChar char="§"/>
            </a:pPr>
            <a:r>
              <a:rPr lang="en-ZA" sz="1000" b="1" dirty="0"/>
              <a:t>Defined value proposition </a:t>
            </a:r>
            <a:r>
              <a:rPr lang="en-ZA" sz="1000" dirty="0"/>
              <a:t>to clients</a:t>
            </a:r>
          </a:p>
          <a:p>
            <a:pPr marL="285750" indent="-285750">
              <a:spcBef>
                <a:spcPts val="300"/>
              </a:spcBef>
              <a:buFont typeface="Wingdings" panose="05000000000000000000" pitchFamily="2" charset="2"/>
              <a:buChar char="§"/>
            </a:pPr>
            <a:r>
              <a:rPr lang="en-ZA" sz="1000" dirty="0"/>
              <a:t>Develop </a:t>
            </a:r>
            <a:r>
              <a:rPr lang="en-ZA" sz="1000" b="1" dirty="0"/>
              <a:t>sustainable relationships </a:t>
            </a:r>
            <a:r>
              <a:rPr lang="en-ZA" sz="1000" dirty="0"/>
              <a:t>with </a:t>
            </a:r>
            <a:r>
              <a:rPr lang="en-ZA" sz="1000" b="1" dirty="0"/>
              <a:t>external clients</a:t>
            </a:r>
            <a:r>
              <a:rPr lang="en-ZA" sz="1000" dirty="0"/>
              <a:t> and </a:t>
            </a:r>
            <a:r>
              <a:rPr lang="en-ZA" sz="1000" b="1" dirty="0"/>
              <a:t>strategic partners</a:t>
            </a:r>
          </a:p>
          <a:p>
            <a:pPr marL="285750" indent="-285750">
              <a:spcBef>
                <a:spcPts val="300"/>
              </a:spcBef>
              <a:buFont typeface="Wingdings" panose="05000000000000000000" pitchFamily="2" charset="2"/>
              <a:buChar char="§"/>
            </a:pPr>
            <a:r>
              <a:rPr lang="en-ZA" sz="1000" b="1" dirty="0"/>
              <a:t>Service excellence</a:t>
            </a:r>
          </a:p>
          <a:p>
            <a:pPr marL="285750" indent="-285750">
              <a:spcBef>
                <a:spcPts val="300"/>
              </a:spcBef>
              <a:buFont typeface="Wingdings" panose="05000000000000000000" pitchFamily="2" charset="2"/>
              <a:buChar char="§"/>
            </a:pPr>
            <a:r>
              <a:rPr lang="en-ZA" sz="1000" b="1" dirty="0"/>
              <a:t>Strong core is essential to our success: </a:t>
            </a:r>
            <a:r>
              <a:rPr lang="en-ZA" sz="1000" dirty="0"/>
              <a:t>People, systems and processes</a:t>
            </a:r>
          </a:p>
        </p:txBody>
      </p:sp>
      <p:grpSp>
        <p:nvGrpSpPr>
          <p:cNvPr id="29" name="Group 27"/>
          <p:cNvGrpSpPr>
            <a:grpSpLocks/>
          </p:cNvGrpSpPr>
          <p:nvPr/>
        </p:nvGrpSpPr>
        <p:grpSpPr bwMode="auto">
          <a:xfrm>
            <a:off x="418376" y="2077820"/>
            <a:ext cx="4499278" cy="3879633"/>
            <a:chOff x="1684" y="1408"/>
            <a:chExt cx="2278" cy="2096"/>
          </a:xfrm>
        </p:grpSpPr>
        <p:sp>
          <p:nvSpPr>
            <p:cNvPr id="30" name="Rectangle 3"/>
            <p:cNvSpPr>
              <a:spLocks noChangeAspect="1" noChangeArrowheads="1"/>
            </p:cNvSpPr>
            <p:nvPr/>
          </p:nvSpPr>
          <p:spPr bwMode="gray">
            <a:xfrm>
              <a:off x="2960" y="2379"/>
              <a:ext cx="955" cy="964"/>
            </a:xfrm>
            <a:prstGeom prst="rect">
              <a:avLst/>
            </a:prstGeom>
            <a:solidFill>
              <a:schemeClr val="bg1">
                <a:lumMod val="85000"/>
              </a:schemeClr>
            </a:solidFill>
            <a:ln w="6350">
              <a:noFill/>
              <a:miter lim="800000"/>
              <a:headEnd/>
              <a:tailEnd/>
            </a:ln>
          </p:spPr>
          <p:txBody>
            <a:bodyPr lIns="45720" rIns="45720"/>
            <a:lstStyle/>
            <a:p>
              <a:pPr algn="ctr" eaLnBrk="0" fontAlgn="base" hangingPunct="0">
                <a:spcBef>
                  <a:spcPct val="0"/>
                </a:spcBef>
                <a:spcAft>
                  <a:spcPct val="0"/>
                </a:spcAft>
              </a:pPr>
              <a:endParaRPr lang="en-US" sz="1000" dirty="0">
                <a:solidFill>
                  <a:srgbClr val="646464"/>
                </a:solidFill>
              </a:endParaRPr>
            </a:p>
          </p:txBody>
        </p:sp>
        <p:sp>
          <p:nvSpPr>
            <p:cNvPr id="31" name="Rectangle 4"/>
            <p:cNvSpPr>
              <a:spLocks noChangeAspect="1" noChangeArrowheads="1"/>
            </p:cNvSpPr>
            <p:nvPr/>
          </p:nvSpPr>
          <p:spPr bwMode="gray">
            <a:xfrm>
              <a:off x="2006" y="2379"/>
              <a:ext cx="954" cy="964"/>
            </a:xfrm>
            <a:prstGeom prst="rect">
              <a:avLst/>
            </a:prstGeom>
            <a:solidFill>
              <a:schemeClr val="bg1">
                <a:lumMod val="85000"/>
              </a:schemeClr>
            </a:solidFill>
            <a:ln w="6350">
              <a:noFill/>
              <a:miter lim="800000"/>
              <a:headEnd/>
              <a:tailEnd/>
            </a:ln>
          </p:spPr>
          <p:txBody>
            <a:bodyPr lIns="45720" rIns="45720"/>
            <a:lstStyle/>
            <a:p>
              <a:pPr algn="ctr" eaLnBrk="0" fontAlgn="base" hangingPunct="0">
                <a:spcBef>
                  <a:spcPct val="0"/>
                </a:spcBef>
                <a:spcAft>
                  <a:spcPct val="0"/>
                </a:spcAft>
              </a:pPr>
              <a:endParaRPr lang="en-US" sz="1000" dirty="0">
                <a:solidFill>
                  <a:srgbClr val="646464"/>
                </a:solidFill>
              </a:endParaRPr>
            </a:p>
          </p:txBody>
        </p:sp>
        <p:sp>
          <p:nvSpPr>
            <p:cNvPr id="32" name="Rectangle 5"/>
            <p:cNvSpPr>
              <a:spLocks noChangeAspect="1" noChangeArrowheads="1"/>
            </p:cNvSpPr>
            <p:nvPr/>
          </p:nvSpPr>
          <p:spPr bwMode="gray">
            <a:xfrm>
              <a:off x="2960" y="1415"/>
              <a:ext cx="955" cy="964"/>
            </a:xfrm>
            <a:prstGeom prst="rect">
              <a:avLst/>
            </a:prstGeom>
            <a:solidFill>
              <a:schemeClr val="bg1">
                <a:lumMod val="85000"/>
              </a:schemeClr>
            </a:solidFill>
            <a:ln w="6350">
              <a:noFill/>
              <a:miter lim="800000"/>
              <a:headEnd/>
              <a:tailEnd/>
            </a:ln>
          </p:spPr>
          <p:txBody>
            <a:bodyPr lIns="45720" rIns="45720"/>
            <a:lstStyle/>
            <a:p>
              <a:pPr algn="ctr" eaLnBrk="0" fontAlgn="base" hangingPunct="0">
                <a:spcBef>
                  <a:spcPct val="0"/>
                </a:spcBef>
                <a:spcAft>
                  <a:spcPct val="0"/>
                </a:spcAft>
              </a:pPr>
              <a:endParaRPr lang="en-US" sz="1000" dirty="0">
                <a:solidFill>
                  <a:srgbClr val="646464"/>
                </a:solidFill>
              </a:endParaRPr>
            </a:p>
          </p:txBody>
        </p:sp>
        <p:sp>
          <p:nvSpPr>
            <p:cNvPr id="33" name="Rectangle 6"/>
            <p:cNvSpPr>
              <a:spLocks noChangeAspect="1" noChangeArrowheads="1"/>
            </p:cNvSpPr>
            <p:nvPr/>
          </p:nvSpPr>
          <p:spPr bwMode="gray">
            <a:xfrm>
              <a:off x="2006" y="1415"/>
              <a:ext cx="954" cy="964"/>
            </a:xfrm>
            <a:prstGeom prst="rect">
              <a:avLst/>
            </a:prstGeom>
            <a:solidFill>
              <a:schemeClr val="bg1">
                <a:lumMod val="85000"/>
              </a:schemeClr>
            </a:solidFill>
            <a:ln w="6350">
              <a:noFill/>
              <a:miter lim="800000"/>
              <a:headEnd/>
              <a:tailEnd/>
            </a:ln>
          </p:spPr>
          <p:txBody>
            <a:bodyPr lIns="45720" rIns="45720"/>
            <a:lstStyle/>
            <a:p>
              <a:pPr algn="ctr" eaLnBrk="0" fontAlgn="base" hangingPunct="0">
                <a:spcBef>
                  <a:spcPct val="0"/>
                </a:spcBef>
                <a:spcAft>
                  <a:spcPct val="0"/>
                </a:spcAft>
              </a:pPr>
              <a:endParaRPr lang="en-US" sz="1000" dirty="0">
                <a:solidFill>
                  <a:srgbClr val="646464"/>
                </a:solidFill>
              </a:endParaRPr>
            </a:p>
          </p:txBody>
        </p:sp>
        <p:sp>
          <p:nvSpPr>
            <p:cNvPr id="34" name="Text Box 7"/>
            <p:cNvSpPr txBox="1">
              <a:spLocks noChangeAspect="1" noChangeArrowheads="1"/>
            </p:cNvSpPr>
            <p:nvPr/>
          </p:nvSpPr>
          <p:spPr bwMode="gray">
            <a:xfrm>
              <a:off x="1719" y="1415"/>
              <a:ext cx="287" cy="161"/>
            </a:xfrm>
            <a:prstGeom prst="rect">
              <a:avLst/>
            </a:prstGeom>
            <a:noFill/>
            <a:ln w="6350">
              <a:noFill/>
              <a:miter lim="800000"/>
              <a:headEnd/>
              <a:tailEnd/>
            </a:ln>
          </p:spPr>
          <p:txBody>
            <a:bodyPr wrap="none" lIns="45720" rIns="45720"/>
            <a:lstStyle/>
            <a:p>
              <a:pPr algn="ctr" eaLnBrk="0" fontAlgn="base" hangingPunct="0">
                <a:spcBef>
                  <a:spcPct val="0"/>
                </a:spcBef>
                <a:spcAft>
                  <a:spcPct val="0"/>
                </a:spcAft>
              </a:pPr>
              <a:r>
                <a:rPr lang="en-US" sz="1000" dirty="0">
                  <a:solidFill>
                    <a:srgbClr val="000000"/>
                  </a:solidFill>
                </a:rPr>
                <a:t>New</a:t>
              </a:r>
              <a:endParaRPr lang="en-US" sz="1000" b="1" dirty="0">
                <a:solidFill>
                  <a:srgbClr val="000000"/>
                </a:solidFill>
              </a:endParaRPr>
            </a:p>
          </p:txBody>
        </p:sp>
        <p:sp>
          <p:nvSpPr>
            <p:cNvPr id="35" name="Text Box 8"/>
            <p:cNvSpPr txBox="1">
              <a:spLocks noChangeAspect="1" noChangeArrowheads="1"/>
            </p:cNvSpPr>
            <p:nvPr/>
          </p:nvSpPr>
          <p:spPr bwMode="gray">
            <a:xfrm>
              <a:off x="1738" y="3182"/>
              <a:ext cx="268" cy="161"/>
            </a:xfrm>
            <a:prstGeom prst="rect">
              <a:avLst/>
            </a:prstGeom>
            <a:noFill/>
            <a:ln w="6350">
              <a:noFill/>
              <a:miter lim="800000"/>
              <a:headEnd/>
              <a:tailEnd/>
            </a:ln>
          </p:spPr>
          <p:txBody>
            <a:bodyPr wrap="none" lIns="45720" rIns="45720"/>
            <a:lstStyle/>
            <a:p>
              <a:pPr algn="ctr" eaLnBrk="0" fontAlgn="base" hangingPunct="0">
                <a:spcBef>
                  <a:spcPct val="0"/>
                </a:spcBef>
                <a:spcAft>
                  <a:spcPct val="0"/>
                </a:spcAft>
              </a:pPr>
              <a:r>
                <a:rPr lang="en-US" sz="1000" dirty="0">
                  <a:solidFill>
                    <a:srgbClr val="000000"/>
                  </a:solidFill>
                </a:rPr>
                <a:t>Existing</a:t>
              </a:r>
              <a:endParaRPr lang="en-US" sz="1000" b="1" dirty="0">
                <a:solidFill>
                  <a:srgbClr val="000000"/>
                </a:solidFill>
              </a:endParaRPr>
            </a:p>
          </p:txBody>
        </p:sp>
        <p:sp>
          <p:nvSpPr>
            <p:cNvPr id="36" name="Text Box 9"/>
            <p:cNvSpPr txBox="1">
              <a:spLocks noChangeAspect="1" noChangeArrowheads="1"/>
            </p:cNvSpPr>
            <p:nvPr/>
          </p:nvSpPr>
          <p:spPr bwMode="gray">
            <a:xfrm>
              <a:off x="2006" y="3343"/>
              <a:ext cx="264" cy="161"/>
            </a:xfrm>
            <a:prstGeom prst="rect">
              <a:avLst/>
            </a:prstGeom>
            <a:noFill/>
            <a:ln w="6350">
              <a:noFill/>
              <a:miter lim="800000"/>
              <a:headEnd/>
              <a:tailEnd/>
            </a:ln>
          </p:spPr>
          <p:txBody>
            <a:bodyPr wrap="none" lIns="45720" rIns="45720"/>
            <a:lstStyle/>
            <a:p>
              <a:pPr algn="ctr" eaLnBrk="0" fontAlgn="base" hangingPunct="0">
                <a:spcBef>
                  <a:spcPct val="0"/>
                </a:spcBef>
                <a:spcAft>
                  <a:spcPct val="0"/>
                </a:spcAft>
              </a:pPr>
              <a:r>
                <a:rPr lang="en-US" sz="1000" dirty="0">
                  <a:solidFill>
                    <a:srgbClr val="000000"/>
                  </a:solidFill>
                </a:rPr>
                <a:t>Existing</a:t>
              </a:r>
              <a:endParaRPr lang="en-US" sz="1000" b="1" dirty="0">
                <a:solidFill>
                  <a:srgbClr val="000000"/>
                </a:solidFill>
              </a:endParaRPr>
            </a:p>
          </p:txBody>
        </p:sp>
        <p:sp>
          <p:nvSpPr>
            <p:cNvPr id="37" name="Text Box 10"/>
            <p:cNvSpPr txBox="1">
              <a:spLocks noChangeAspect="1" noChangeArrowheads="1"/>
            </p:cNvSpPr>
            <p:nvPr/>
          </p:nvSpPr>
          <p:spPr bwMode="gray">
            <a:xfrm>
              <a:off x="3675" y="3343"/>
              <a:ext cx="287" cy="161"/>
            </a:xfrm>
            <a:prstGeom prst="rect">
              <a:avLst/>
            </a:prstGeom>
            <a:noFill/>
            <a:ln w="6350">
              <a:noFill/>
              <a:miter lim="800000"/>
              <a:headEnd/>
              <a:tailEnd/>
            </a:ln>
          </p:spPr>
          <p:txBody>
            <a:bodyPr wrap="none" lIns="45720" rIns="45720"/>
            <a:lstStyle/>
            <a:p>
              <a:pPr algn="ctr" eaLnBrk="0" fontAlgn="base" hangingPunct="0">
                <a:spcBef>
                  <a:spcPct val="0"/>
                </a:spcBef>
                <a:spcAft>
                  <a:spcPct val="0"/>
                </a:spcAft>
              </a:pPr>
              <a:r>
                <a:rPr lang="en-US" sz="1000" dirty="0">
                  <a:solidFill>
                    <a:srgbClr val="000000"/>
                  </a:solidFill>
                </a:rPr>
                <a:t>New</a:t>
              </a:r>
              <a:endParaRPr lang="en-US" sz="1000" b="1" dirty="0">
                <a:solidFill>
                  <a:srgbClr val="000000"/>
                </a:solidFill>
              </a:endParaRPr>
            </a:p>
          </p:txBody>
        </p:sp>
        <p:sp>
          <p:nvSpPr>
            <p:cNvPr id="38" name="Text Box 11"/>
            <p:cNvSpPr txBox="1">
              <a:spLocks noChangeAspect="1" noChangeArrowheads="1"/>
            </p:cNvSpPr>
            <p:nvPr/>
          </p:nvSpPr>
          <p:spPr bwMode="gray">
            <a:xfrm>
              <a:off x="1684" y="2304"/>
              <a:ext cx="322" cy="161"/>
            </a:xfrm>
            <a:prstGeom prst="rect">
              <a:avLst/>
            </a:prstGeom>
            <a:noFill/>
            <a:ln w="6350">
              <a:noFill/>
              <a:miter lim="800000"/>
              <a:headEnd/>
              <a:tailEnd/>
            </a:ln>
          </p:spPr>
          <p:txBody>
            <a:bodyPr wrap="none" lIns="45720" rIns="45720"/>
            <a:lstStyle/>
            <a:p>
              <a:pPr algn="ctr" eaLnBrk="0" fontAlgn="base" hangingPunct="0">
                <a:spcBef>
                  <a:spcPct val="0"/>
                </a:spcBef>
                <a:spcAft>
                  <a:spcPct val="0"/>
                </a:spcAft>
              </a:pPr>
              <a:r>
                <a:rPr lang="en-US" sz="1000" b="1" dirty="0">
                  <a:solidFill>
                    <a:srgbClr val="000000"/>
                  </a:solidFill>
                </a:rPr>
                <a:t>Markets</a:t>
              </a:r>
              <a:endParaRPr lang="en-US" sz="1000" dirty="0">
                <a:solidFill>
                  <a:srgbClr val="000000"/>
                </a:solidFill>
              </a:endParaRPr>
            </a:p>
          </p:txBody>
        </p:sp>
        <p:sp>
          <p:nvSpPr>
            <p:cNvPr id="39" name="Text Box 12"/>
            <p:cNvSpPr txBox="1">
              <a:spLocks noChangeAspect="1" noChangeArrowheads="1"/>
            </p:cNvSpPr>
            <p:nvPr/>
          </p:nvSpPr>
          <p:spPr bwMode="gray">
            <a:xfrm>
              <a:off x="2799" y="3343"/>
              <a:ext cx="323" cy="161"/>
            </a:xfrm>
            <a:prstGeom prst="rect">
              <a:avLst/>
            </a:prstGeom>
            <a:noFill/>
            <a:ln w="6350">
              <a:noFill/>
              <a:miter lim="800000"/>
              <a:headEnd/>
              <a:tailEnd/>
            </a:ln>
          </p:spPr>
          <p:txBody>
            <a:bodyPr wrap="none" lIns="45720" rIns="45720"/>
            <a:lstStyle/>
            <a:p>
              <a:pPr algn="ctr" eaLnBrk="0" fontAlgn="base" hangingPunct="0">
                <a:spcBef>
                  <a:spcPct val="0"/>
                </a:spcBef>
                <a:spcAft>
                  <a:spcPct val="0"/>
                </a:spcAft>
              </a:pPr>
              <a:r>
                <a:rPr lang="en-US" sz="1000" b="1" dirty="0">
                  <a:solidFill>
                    <a:srgbClr val="000000"/>
                  </a:solidFill>
                </a:rPr>
                <a:t>Products</a:t>
              </a:r>
              <a:endParaRPr lang="en-US" sz="1000" dirty="0">
                <a:solidFill>
                  <a:srgbClr val="000000"/>
                </a:solidFill>
              </a:endParaRPr>
            </a:p>
          </p:txBody>
        </p:sp>
        <p:sp>
          <p:nvSpPr>
            <p:cNvPr id="42" name="Text Box 14"/>
            <p:cNvSpPr txBox="1">
              <a:spLocks noChangeArrowheads="1"/>
            </p:cNvSpPr>
            <p:nvPr/>
          </p:nvSpPr>
          <p:spPr bwMode="gray">
            <a:xfrm>
              <a:off x="3429" y="3185"/>
              <a:ext cx="489" cy="154"/>
            </a:xfrm>
            <a:prstGeom prst="rect">
              <a:avLst/>
            </a:prstGeom>
            <a:noFill/>
            <a:ln w="6350">
              <a:noFill/>
              <a:miter lim="800000"/>
              <a:headEnd type="none" w="sm" len="sm"/>
              <a:tailEnd type="none" w="sm" len="sm"/>
            </a:ln>
          </p:spPr>
          <p:txBody>
            <a:bodyPr wrap="none" lIns="45720" rIns="45720"/>
            <a:lstStyle/>
            <a:p>
              <a:pPr algn="r" eaLnBrk="0" fontAlgn="base" hangingPunct="0">
                <a:spcBef>
                  <a:spcPct val="0"/>
                </a:spcBef>
                <a:spcAft>
                  <a:spcPct val="0"/>
                </a:spcAft>
                <a:buClr>
                  <a:srgbClr val="646464"/>
                </a:buClr>
              </a:pPr>
              <a:r>
                <a:rPr lang="en-US" sz="1000" b="1" dirty="0">
                  <a:solidFill>
                    <a:srgbClr val="000000"/>
                  </a:solidFill>
                </a:rPr>
                <a:t>Development</a:t>
              </a:r>
            </a:p>
          </p:txBody>
        </p:sp>
        <p:sp>
          <p:nvSpPr>
            <p:cNvPr id="53" name="Text Box 17"/>
            <p:cNvSpPr txBox="1">
              <a:spLocks noChangeArrowheads="1"/>
            </p:cNvSpPr>
            <p:nvPr/>
          </p:nvSpPr>
          <p:spPr bwMode="gray">
            <a:xfrm>
              <a:off x="3307" y="1419"/>
              <a:ext cx="599" cy="164"/>
            </a:xfrm>
            <a:prstGeom prst="rect">
              <a:avLst/>
            </a:prstGeom>
            <a:noFill/>
            <a:ln w="6350">
              <a:noFill/>
              <a:miter lim="800000"/>
              <a:headEnd type="none" w="sm" len="sm"/>
              <a:tailEnd type="none" w="sm" len="sm"/>
            </a:ln>
          </p:spPr>
          <p:txBody>
            <a:bodyPr wrap="none" lIns="45720" rIns="45720"/>
            <a:lstStyle/>
            <a:p>
              <a:pPr algn="r" eaLnBrk="0" fontAlgn="base" hangingPunct="0">
                <a:spcBef>
                  <a:spcPct val="0"/>
                </a:spcBef>
                <a:spcAft>
                  <a:spcPct val="0"/>
                </a:spcAft>
                <a:buClr>
                  <a:srgbClr val="646464"/>
                </a:buClr>
              </a:pPr>
              <a:r>
                <a:rPr lang="en-US" sz="1000" b="1" dirty="0">
                  <a:solidFill>
                    <a:srgbClr val="000000"/>
                  </a:solidFill>
                </a:rPr>
                <a:t>Diversification</a:t>
              </a:r>
            </a:p>
          </p:txBody>
        </p:sp>
        <p:sp>
          <p:nvSpPr>
            <p:cNvPr id="57" name="Text Box 20"/>
            <p:cNvSpPr txBox="1">
              <a:spLocks noChangeArrowheads="1"/>
            </p:cNvSpPr>
            <p:nvPr/>
          </p:nvSpPr>
          <p:spPr bwMode="gray">
            <a:xfrm>
              <a:off x="2006" y="1416"/>
              <a:ext cx="786" cy="132"/>
            </a:xfrm>
            <a:prstGeom prst="rect">
              <a:avLst/>
            </a:prstGeom>
            <a:noFill/>
            <a:ln w="6350">
              <a:noFill/>
              <a:miter lim="800000"/>
              <a:headEnd type="none" w="sm" len="sm"/>
              <a:tailEnd type="none" w="sm" len="sm"/>
            </a:ln>
          </p:spPr>
          <p:txBody>
            <a:bodyPr wrap="none" lIns="45720" rIns="45720"/>
            <a:lstStyle/>
            <a:p>
              <a:pPr eaLnBrk="0" fontAlgn="base" hangingPunct="0">
                <a:spcBef>
                  <a:spcPct val="0"/>
                </a:spcBef>
                <a:spcAft>
                  <a:spcPct val="0"/>
                </a:spcAft>
                <a:buClr>
                  <a:srgbClr val="646464"/>
                </a:buClr>
              </a:pPr>
              <a:r>
                <a:rPr lang="en-US" sz="1000" b="1" dirty="0">
                  <a:solidFill>
                    <a:srgbClr val="000000"/>
                  </a:solidFill>
                </a:rPr>
                <a:t>Market expansion</a:t>
              </a:r>
            </a:p>
          </p:txBody>
        </p:sp>
        <p:sp>
          <p:nvSpPr>
            <p:cNvPr id="58" name="Text Box 21"/>
            <p:cNvSpPr txBox="1">
              <a:spLocks noChangeArrowheads="1"/>
            </p:cNvSpPr>
            <p:nvPr/>
          </p:nvSpPr>
          <p:spPr bwMode="gray">
            <a:xfrm>
              <a:off x="2004" y="3182"/>
              <a:ext cx="892" cy="160"/>
            </a:xfrm>
            <a:prstGeom prst="rect">
              <a:avLst/>
            </a:prstGeom>
            <a:noFill/>
            <a:ln w="6350">
              <a:noFill/>
              <a:miter lim="800000"/>
              <a:headEnd type="none" w="sm" len="sm"/>
              <a:tailEnd type="none" w="sm" len="sm"/>
            </a:ln>
          </p:spPr>
          <p:txBody>
            <a:bodyPr wrap="none" lIns="45720" rIns="45720"/>
            <a:lstStyle/>
            <a:p>
              <a:pPr eaLnBrk="0" fontAlgn="base" hangingPunct="0">
                <a:spcBef>
                  <a:spcPct val="0"/>
                </a:spcBef>
                <a:spcAft>
                  <a:spcPct val="0"/>
                </a:spcAft>
                <a:buClr>
                  <a:srgbClr val="646464"/>
                </a:buClr>
              </a:pPr>
              <a:r>
                <a:rPr lang="en-US" sz="1000" b="1" dirty="0">
                  <a:solidFill>
                    <a:srgbClr val="000000"/>
                  </a:solidFill>
                </a:rPr>
                <a:t>Market penetration</a:t>
              </a:r>
            </a:p>
          </p:txBody>
        </p:sp>
        <p:cxnSp>
          <p:nvCxnSpPr>
            <p:cNvPr id="63" name="Straight Connector 24"/>
            <p:cNvCxnSpPr>
              <a:cxnSpLocks noChangeShapeType="1"/>
              <a:endCxn id="39" idx="0"/>
            </p:cNvCxnSpPr>
            <p:nvPr/>
          </p:nvCxnSpPr>
          <p:spPr bwMode="auto">
            <a:xfrm rot="16200000" flipH="1">
              <a:off x="1993" y="2375"/>
              <a:ext cx="1935" cy="1"/>
            </a:xfrm>
            <a:prstGeom prst="line">
              <a:avLst/>
            </a:prstGeom>
            <a:noFill/>
            <a:ln w="12700" algn="ctr">
              <a:solidFill>
                <a:srgbClr val="808080"/>
              </a:solidFill>
              <a:round/>
              <a:headEnd/>
              <a:tailEnd/>
            </a:ln>
          </p:spPr>
        </p:cxnSp>
      </p:grpSp>
      <p:cxnSp>
        <p:nvCxnSpPr>
          <p:cNvPr id="4" name="Straight Arrow Connector 3"/>
          <p:cNvCxnSpPr/>
          <p:nvPr/>
        </p:nvCxnSpPr>
        <p:spPr>
          <a:xfrm flipV="1">
            <a:off x="1583916" y="3366515"/>
            <a:ext cx="1750178" cy="192650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1062181" y="3820880"/>
            <a:ext cx="3703782"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1" name="Donut 40"/>
          <p:cNvSpPr/>
          <p:nvPr/>
        </p:nvSpPr>
        <p:spPr>
          <a:xfrm>
            <a:off x="355121" y="1276603"/>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3</a:t>
            </a:r>
          </a:p>
        </p:txBody>
      </p:sp>
      <p:sp>
        <p:nvSpPr>
          <p:cNvPr id="54" name="Oval 7"/>
          <p:cNvSpPr>
            <a:spLocks noChangeArrowheads="1"/>
          </p:cNvSpPr>
          <p:nvPr/>
        </p:nvSpPr>
        <p:spPr bwMode="auto">
          <a:xfrm>
            <a:off x="1314479" y="4744099"/>
            <a:ext cx="743329" cy="667988"/>
          </a:xfrm>
          <a:prstGeom prst="ellipse">
            <a:avLst/>
          </a:prstGeom>
          <a:solidFill>
            <a:schemeClr val="accent4">
              <a:lumMod val="75000"/>
            </a:schemeClr>
          </a:solidFill>
          <a:ln>
            <a:noFill/>
          </a:ln>
          <a:effectLst/>
          <a:extLst/>
        </p:spPr>
        <p:txBody>
          <a:bodyPr wrap="none" anchor="ctr"/>
          <a:lstStyle/>
          <a:p>
            <a:pPr algn="ctr"/>
            <a:r>
              <a:rPr lang="en-ZA" sz="900" dirty="0">
                <a:solidFill>
                  <a:schemeClr val="bg1"/>
                </a:solidFill>
                <a:latin typeface="+mj-lt"/>
                <a:ea typeface="MS PGothic" pitchFamily="34" charset="-128"/>
              </a:rPr>
              <a:t>Actual - TFA</a:t>
            </a:r>
            <a:endParaRPr lang="en-ZA" sz="900" u="none" dirty="0">
              <a:solidFill>
                <a:schemeClr val="bg1"/>
              </a:solidFill>
              <a:latin typeface="+mj-lt"/>
              <a:ea typeface="MS PGothic" pitchFamily="34" charset="-128"/>
            </a:endParaRPr>
          </a:p>
        </p:txBody>
      </p:sp>
      <p:sp>
        <p:nvSpPr>
          <p:cNvPr id="55" name="Oval 7"/>
          <p:cNvSpPr>
            <a:spLocks noChangeArrowheads="1"/>
          </p:cNvSpPr>
          <p:nvPr/>
        </p:nvSpPr>
        <p:spPr bwMode="auto">
          <a:xfrm>
            <a:off x="3184607" y="2786349"/>
            <a:ext cx="743329" cy="667988"/>
          </a:xfrm>
          <a:prstGeom prst="ellipse">
            <a:avLst/>
          </a:prstGeom>
          <a:solidFill>
            <a:schemeClr val="bg1">
              <a:lumMod val="50000"/>
            </a:schemeClr>
          </a:solidFill>
          <a:ln>
            <a:noFill/>
          </a:ln>
          <a:effectLst/>
          <a:extLst/>
        </p:spPr>
        <p:txBody>
          <a:bodyPr wrap="none" anchor="ctr"/>
          <a:lstStyle/>
          <a:p>
            <a:pPr algn="ctr"/>
            <a:r>
              <a:rPr lang="en-ZA" sz="900" dirty="0">
                <a:solidFill>
                  <a:schemeClr val="bg1"/>
                </a:solidFill>
                <a:latin typeface="+mj-lt"/>
                <a:ea typeface="MS PGothic" pitchFamily="34" charset="-128"/>
              </a:rPr>
              <a:t>Target - TFA</a:t>
            </a:r>
            <a:endParaRPr lang="en-ZA" sz="900" u="none" dirty="0">
              <a:solidFill>
                <a:schemeClr val="bg1"/>
              </a:solidFill>
              <a:latin typeface="+mj-lt"/>
              <a:ea typeface="MS PGothic" pitchFamily="34" charset="-128"/>
            </a:endParaRPr>
          </a:p>
        </p:txBody>
      </p:sp>
      <p:sp>
        <p:nvSpPr>
          <p:cNvPr id="7" name="TextBox 6"/>
          <p:cNvSpPr txBox="1"/>
          <p:nvPr/>
        </p:nvSpPr>
        <p:spPr>
          <a:xfrm>
            <a:off x="607121" y="5908452"/>
            <a:ext cx="4217704" cy="350597"/>
          </a:xfrm>
          <a:prstGeom prst="rect">
            <a:avLst/>
          </a:prstGeom>
          <a:noFill/>
          <a:ln>
            <a:solidFill>
              <a:schemeClr val="bg1">
                <a:lumMod val="50000"/>
              </a:schemeClr>
            </a:solidFill>
          </a:ln>
        </p:spPr>
        <p:txBody>
          <a:bodyPr wrap="square" rtlCol="0">
            <a:noAutofit/>
          </a:bodyPr>
          <a:lstStyle/>
          <a:p>
            <a:pPr marL="228600" indent="-228600">
              <a:buAutoNum type="arabicPeriod"/>
            </a:pPr>
            <a:r>
              <a:rPr lang="en-ZA" sz="600" dirty="0"/>
              <a:t>Consulting firms (“CF’s”): Big 4, McK, Bain</a:t>
            </a:r>
          </a:p>
          <a:p>
            <a:pPr marL="228600" indent="-228600">
              <a:buAutoNum type="arabicPeriod"/>
            </a:pPr>
            <a:r>
              <a:rPr lang="en-ZA" sz="600" dirty="0"/>
              <a:t>Investment banks: Investec, RMB, Nedbank, Macquarie advisory</a:t>
            </a:r>
          </a:p>
          <a:p>
            <a:pPr marL="228600" indent="-228600">
              <a:buAutoNum type="arabicPeriod"/>
            </a:pPr>
            <a:r>
              <a:rPr lang="en-ZA" sz="600" dirty="0"/>
              <a:t>Niche firms: Bravura, Transcend, Tamela, PSG Capital </a:t>
            </a:r>
          </a:p>
        </p:txBody>
      </p:sp>
      <p:sp>
        <p:nvSpPr>
          <p:cNvPr id="56" name="Oval 7"/>
          <p:cNvSpPr>
            <a:spLocks noChangeArrowheads="1"/>
          </p:cNvSpPr>
          <p:nvPr/>
        </p:nvSpPr>
        <p:spPr bwMode="auto">
          <a:xfrm>
            <a:off x="3672396" y="3143310"/>
            <a:ext cx="743329" cy="667988"/>
          </a:xfrm>
          <a:prstGeom prst="ellipse">
            <a:avLst/>
          </a:prstGeom>
          <a:solidFill>
            <a:schemeClr val="tx2">
              <a:lumMod val="90000"/>
              <a:lumOff val="10000"/>
            </a:schemeClr>
          </a:solidFill>
          <a:ln>
            <a:noFill/>
          </a:ln>
          <a:effectLst/>
          <a:extLst/>
        </p:spPr>
        <p:txBody>
          <a:bodyPr wrap="none" anchor="ctr"/>
          <a:lstStyle/>
          <a:p>
            <a:pPr algn="ctr"/>
            <a:r>
              <a:rPr lang="en-ZA" sz="900" dirty="0">
                <a:solidFill>
                  <a:schemeClr val="bg1"/>
                </a:solidFill>
                <a:latin typeface="+mj-lt"/>
                <a:ea typeface="MS PGothic" pitchFamily="34" charset="-128"/>
              </a:rPr>
              <a:t>Consulting </a:t>
            </a:r>
          </a:p>
          <a:p>
            <a:pPr algn="ctr"/>
            <a:r>
              <a:rPr lang="en-ZA" sz="900" dirty="0">
                <a:solidFill>
                  <a:schemeClr val="bg1"/>
                </a:solidFill>
                <a:latin typeface="+mj-lt"/>
                <a:ea typeface="MS PGothic" pitchFamily="34" charset="-128"/>
              </a:rPr>
              <a:t>firms</a:t>
            </a:r>
            <a:endParaRPr lang="en-ZA" sz="900" u="none" dirty="0">
              <a:solidFill>
                <a:schemeClr val="bg1"/>
              </a:solidFill>
              <a:latin typeface="+mj-lt"/>
              <a:ea typeface="MS PGothic" pitchFamily="34" charset="-128"/>
            </a:endParaRPr>
          </a:p>
        </p:txBody>
      </p:sp>
      <p:sp>
        <p:nvSpPr>
          <p:cNvPr id="59" name="Oval 7"/>
          <p:cNvSpPr>
            <a:spLocks noChangeArrowheads="1"/>
          </p:cNvSpPr>
          <p:nvPr/>
        </p:nvSpPr>
        <p:spPr bwMode="auto">
          <a:xfrm>
            <a:off x="2711141" y="2438554"/>
            <a:ext cx="743329" cy="667988"/>
          </a:xfrm>
          <a:prstGeom prst="ellipse">
            <a:avLst/>
          </a:prstGeom>
          <a:solidFill>
            <a:schemeClr val="tx2">
              <a:lumMod val="90000"/>
              <a:lumOff val="10000"/>
            </a:schemeClr>
          </a:solidFill>
          <a:ln>
            <a:noFill/>
          </a:ln>
          <a:effectLst/>
          <a:extLst/>
        </p:spPr>
        <p:txBody>
          <a:bodyPr wrap="none" anchor="ctr"/>
          <a:lstStyle/>
          <a:p>
            <a:pPr algn="ctr"/>
            <a:r>
              <a:rPr lang="en-ZA" sz="900" dirty="0">
                <a:solidFill>
                  <a:schemeClr val="bg1"/>
                </a:solidFill>
                <a:latin typeface="+mj-lt"/>
                <a:ea typeface="MS PGothic" pitchFamily="34" charset="-128"/>
              </a:rPr>
              <a:t>IB’s</a:t>
            </a:r>
            <a:endParaRPr lang="en-ZA" sz="900" u="none" dirty="0">
              <a:solidFill>
                <a:schemeClr val="bg1"/>
              </a:solidFill>
              <a:latin typeface="+mj-lt"/>
              <a:ea typeface="MS PGothic" pitchFamily="34" charset="-128"/>
            </a:endParaRPr>
          </a:p>
        </p:txBody>
      </p:sp>
      <p:sp>
        <p:nvSpPr>
          <p:cNvPr id="60" name="Oval 7"/>
          <p:cNvSpPr>
            <a:spLocks noChangeArrowheads="1"/>
          </p:cNvSpPr>
          <p:nvPr/>
        </p:nvSpPr>
        <p:spPr bwMode="auto">
          <a:xfrm>
            <a:off x="2122556" y="3478132"/>
            <a:ext cx="743329" cy="667988"/>
          </a:xfrm>
          <a:prstGeom prst="ellipse">
            <a:avLst/>
          </a:prstGeom>
          <a:solidFill>
            <a:schemeClr val="tx2">
              <a:lumMod val="90000"/>
              <a:lumOff val="10000"/>
            </a:schemeClr>
          </a:solidFill>
          <a:ln>
            <a:noFill/>
          </a:ln>
          <a:effectLst/>
          <a:extLst/>
        </p:spPr>
        <p:txBody>
          <a:bodyPr wrap="none" anchor="ctr"/>
          <a:lstStyle/>
          <a:p>
            <a:pPr algn="ctr"/>
            <a:r>
              <a:rPr lang="en-ZA" sz="900" dirty="0">
                <a:solidFill>
                  <a:schemeClr val="bg1"/>
                </a:solidFill>
                <a:latin typeface="+mj-lt"/>
                <a:ea typeface="MS PGothic" pitchFamily="34" charset="-128"/>
              </a:rPr>
              <a:t>Niche</a:t>
            </a:r>
            <a:endParaRPr lang="en-ZA" sz="900" u="none" dirty="0">
              <a:solidFill>
                <a:schemeClr val="bg1"/>
              </a:solidFill>
              <a:latin typeface="+mj-lt"/>
              <a:ea typeface="MS PGothic" pitchFamily="34" charset="-128"/>
            </a:endParaRPr>
          </a:p>
        </p:txBody>
      </p:sp>
    </p:spTree>
    <p:extLst>
      <p:ext uri="{BB962C8B-B14F-4D97-AF65-F5344CB8AC3E}">
        <p14:creationId xmlns:p14="http://schemas.microsoft.com/office/powerpoint/2010/main" val="3152241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extLst>
              <p:ext uri="{D42A27DB-BD31-4B8C-83A1-F6EECF244321}">
                <p14:modId xmlns:p14="http://schemas.microsoft.com/office/powerpoint/2010/main" val="296481780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1886" name="think-cell Slide" r:id="rId6" imgW="216" imgH="216" progId="TCLayout.ActiveDocument.1">
                  <p:embed/>
                </p:oleObj>
              </mc:Choice>
              <mc:Fallback>
                <p:oleObj name="think-cell Slide" r:id="rId6" imgW="216" imgH="216" progId="TCLayout.ActiveDocument.1">
                  <p:embed/>
                  <p:pic>
                    <p:nvPicPr>
                      <p:cNvPr id="0" name=""/>
                      <p:cNvPicPr/>
                      <p:nvPr/>
                    </p:nvPicPr>
                    <p:blipFill>
                      <a:blip r:embed="rId7"/>
                      <a:stretch>
                        <a:fillRect/>
                      </a:stretch>
                    </p:blipFill>
                    <p:spPr>
                      <a:xfrm>
                        <a:off x="1588" y="1588"/>
                        <a:ext cx="1587" cy="1587"/>
                      </a:xfrm>
                      <a:prstGeom prst="rect">
                        <a:avLst/>
                      </a:prstGeom>
                    </p:spPr>
                  </p:pic>
                </p:oleObj>
              </mc:Fallback>
            </mc:AlternateContent>
          </a:graphicData>
        </a:graphic>
      </p:graphicFrame>
      <p:sp>
        <p:nvSpPr>
          <p:cNvPr id="24" name="TextBox 23"/>
          <p:cNvSpPr txBox="1"/>
          <p:nvPr/>
        </p:nvSpPr>
        <p:spPr>
          <a:xfrm>
            <a:off x="347501" y="3899737"/>
            <a:ext cx="4487076"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pPr lvl="0" defTabSz="914077">
              <a:spcBef>
                <a:spcPts val="675"/>
              </a:spcBef>
            </a:pPr>
            <a:endParaRPr kumimoji="0" lang="en-IN" sz="700" b="0" i="0" u="none" strike="noStrike" kern="0" cap="none" spc="0" normalizeH="0" baseline="0" noProof="0" dirty="0">
              <a:ln>
                <a:noFill/>
              </a:ln>
              <a:solidFill>
                <a:prstClr val="black">
                  <a:lumMod val="65000"/>
                  <a:lumOff val="35000"/>
                </a:prstClr>
              </a:solidFill>
              <a:effectLst/>
              <a:uLnTx/>
              <a:uFillTx/>
              <a:ea typeface="+mn-ea"/>
              <a:cs typeface="+mn-cs"/>
            </a:endParaRPr>
          </a:p>
        </p:txBody>
      </p:sp>
      <p:sp>
        <p:nvSpPr>
          <p:cNvPr id="3" name="Title 2"/>
          <p:cNvSpPr>
            <a:spLocks noGrp="1"/>
          </p:cNvSpPr>
          <p:nvPr>
            <p:ph type="title"/>
          </p:nvPr>
        </p:nvSpPr>
        <p:spPr/>
        <p:txBody>
          <a:bodyPr>
            <a:normAutofit/>
          </a:bodyPr>
          <a:lstStyle/>
          <a:p>
            <a:r>
              <a:rPr lang="en-ZA" sz="2000" dirty="0"/>
              <a:t>Specialised Finance strategy snapshot : External analysis (4/4)</a:t>
            </a:r>
            <a:endParaRPr lang="en-GB" sz="2000" dirty="0"/>
          </a:p>
        </p:txBody>
      </p:sp>
      <p:sp>
        <p:nvSpPr>
          <p:cNvPr id="9" name="TextBox 8"/>
          <p:cNvSpPr txBox="1"/>
          <p:nvPr/>
        </p:nvSpPr>
        <p:spPr>
          <a:xfrm>
            <a:off x="342197" y="965723"/>
            <a:ext cx="4500000" cy="262294"/>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Competitor analysis</a:t>
            </a:r>
          </a:p>
        </p:txBody>
      </p:sp>
      <p:sp>
        <p:nvSpPr>
          <p:cNvPr id="14" name="TextBox 13"/>
          <p:cNvSpPr txBox="1"/>
          <p:nvPr/>
        </p:nvSpPr>
        <p:spPr>
          <a:xfrm>
            <a:off x="340061" y="1228667"/>
            <a:ext cx="4500000"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endParaRPr lang="en-ZA" sz="800" dirty="0"/>
          </a:p>
        </p:txBody>
      </p:sp>
      <p:sp>
        <p:nvSpPr>
          <p:cNvPr id="12" name="TextBox 11"/>
          <p:cNvSpPr txBox="1"/>
          <p:nvPr/>
        </p:nvSpPr>
        <p:spPr>
          <a:xfrm>
            <a:off x="342953" y="3643735"/>
            <a:ext cx="4499244" cy="254597"/>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ZA" dirty="0">
                <a:solidFill>
                  <a:schemeClr val="bg1"/>
                </a:solidFill>
              </a:rPr>
              <a:t>Elevator pitch</a:t>
            </a:r>
            <a:endParaRPr lang="en-GB" dirty="0">
              <a:solidFill>
                <a:schemeClr val="bg1"/>
              </a:solidFill>
            </a:endParaRPr>
          </a:p>
        </p:txBody>
      </p:sp>
      <p:sp>
        <p:nvSpPr>
          <p:cNvPr id="130" name="TextBox 129"/>
          <p:cNvSpPr txBox="1"/>
          <p:nvPr/>
        </p:nvSpPr>
        <p:spPr>
          <a:xfrm>
            <a:off x="5069358" y="3653211"/>
            <a:ext cx="4500000" cy="255200"/>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Priorities: Critical success factors</a:t>
            </a:r>
          </a:p>
        </p:txBody>
      </p:sp>
      <p:sp>
        <p:nvSpPr>
          <p:cNvPr id="131" name="TextBox 130"/>
          <p:cNvSpPr txBox="1"/>
          <p:nvPr/>
        </p:nvSpPr>
        <p:spPr>
          <a:xfrm>
            <a:off x="5069358" y="3908204"/>
            <a:ext cx="4500000"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pPr lvl="0" defTabSz="914077">
              <a:spcBef>
                <a:spcPts val="675"/>
              </a:spcBef>
            </a:pPr>
            <a:endParaRPr kumimoji="0" lang="en-IN" sz="700" b="0" i="0" u="none" strike="noStrike" kern="0" cap="none" spc="0" normalizeH="0" baseline="0" noProof="0" dirty="0">
              <a:ln>
                <a:noFill/>
              </a:ln>
              <a:solidFill>
                <a:prstClr val="black">
                  <a:lumMod val="65000"/>
                  <a:lumOff val="35000"/>
                </a:prstClr>
              </a:solidFill>
              <a:effectLst/>
              <a:uLnTx/>
              <a:uFillTx/>
              <a:ea typeface="+mn-ea"/>
              <a:cs typeface="+mn-cs"/>
            </a:endParaRPr>
          </a:p>
        </p:txBody>
      </p:sp>
      <p:sp>
        <p:nvSpPr>
          <p:cNvPr id="115" name="Donut 114"/>
          <p:cNvSpPr/>
          <p:nvPr/>
        </p:nvSpPr>
        <p:spPr>
          <a:xfrm>
            <a:off x="355121" y="977665"/>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4</a:t>
            </a:r>
          </a:p>
        </p:txBody>
      </p:sp>
      <p:sp>
        <p:nvSpPr>
          <p:cNvPr id="116" name="TextBox 115"/>
          <p:cNvSpPr txBox="1"/>
          <p:nvPr/>
        </p:nvSpPr>
        <p:spPr>
          <a:xfrm>
            <a:off x="5056924" y="961104"/>
            <a:ext cx="4500000" cy="266214"/>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Client analysis</a:t>
            </a:r>
          </a:p>
        </p:txBody>
      </p:sp>
      <p:sp>
        <p:nvSpPr>
          <p:cNvPr id="117" name="TextBox 116"/>
          <p:cNvSpPr txBox="1"/>
          <p:nvPr/>
        </p:nvSpPr>
        <p:spPr>
          <a:xfrm>
            <a:off x="5063761" y="1236555"/>
            <a:ext cx="4500000"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endParaRPr lang="en-ZA" sz="800" dirty="0"/>
          </a:p>
        </p:txBody>
      </p:sp>
      <p:sp>
        <p:nvSpPr>
          <p:cNvPr id="118" name="Donut 117"/>
          <p:cNvSpPr/>
          <p:nvPr/>
        </p:nvSpPr>
        <p:spPr>
          <a:xfrm>
            <a:off x="5066161" y="991607"/>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5</a:t>
            </a:r>
          </a:p>
        </p:txBody>
      </p:sp>
      <p:sp>
        <p:nvSpPr>
          <p:cNvPr id="168" name="Donut 167"/>
          <p:cNvSpPr/>
          <p:nvPr/>
        </p:nvSpPr>
        <p:spPr>
          <a:xfrm>
            <a:off x="355121" y="3643737"/>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6</a:t>
            </a:r>
          </a:p>
        </p:txBody>
      </p:sp>
      <p:sp>
        <p:nvSpPr>
          <p:cNvPr id="169" name="Donut 168"/>
          <p:cNvSpPr/>
          <p:nvPr/>
        </p:nvSpPr>
        <p:spPr>
          <a:xfrm>
            <a:off x="5066161" y="3656204"/>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7</a:t>
            </a:r>
          </a:p>
        </p:txBody>
      </p:sp>
      <p:sp>
        <p:nvSpPr>
          <p:cNvPr id="68" name="Rectangle 67"/>
          <p:cNvSpPr/>
          <p:nvPr/>
        </p:nvSpPr>
        <p:spPr>
          <a:xfrm>
            <a:off x="5724404" y="1243536"/>
            <a:ext cx="996983" cy="230832"/>
          </a:xfrm>
          <a:prstGeom prst="rect">
            <a:avLst/>
          </a:prstGeom>
        </p:spPr>
        <p:txBody>
          <a:bodyPr wrap="square">
            <a:spAutoFit/>
          </a:bodyPr>
          <a:lstStyle/>
          <a:p>
            <a:r>
              <a:rPr lang="en-ZA" sz="900" b="1" dirty="0"/>
              <a:t>No. of projects</a:t>
            </a:r>
          </a:p>
        </p:txBody>
      </p:sp>
      <p:sp>
        <p:nvSpPr>
          <p:cNvPr id="69" name="Rectangle 20"/>
          <p:cNvSpPr>
            <a:spLocks noChangeArrowheads="1"/>
          </p:cNvSpPr>
          <p:nvPr/>
        </p:nvSpPr>
        <p:spPr bwMode="gray">
          <a:xfrm>
            <a:off x="5898259" y="1580511"/>
            <a:ext cx="527717" cy="216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dirty="0">
                <a:latin typeface="Arial" panose="020B0604020202020204" pitchFamily="34" charset="0"/>
                <a:ea typeface="Times New Roman" panose="02020603050405020304" pitchFamily="18" charset="0"/>
              </a:rPr>
              <a:t>4</a:t>
            </a:r>
            <a:endParaRPr lang="en-ZA" sz="1050" b="1" dirty="0">
              <a:effectLst/>
              <a:latin typeface="Times New Roman" panose="02020603050405020304" pitchFamily="18" charset="0"/>
              <a:ea typeface="Times New Roman" panose="02020603050405020304" pitchFamily="18" charset="0"/>
            </a:endParaRPr>
          </a:p>
        </p:txBody>
      </p:sp>
      <p:sp>
        <p:nvSpPr>
          <p:cNvPr id="70" name="Rectangle 20"/>
          <p:cNvSpPr>
            <a:spLocks noChangeArrowheads="1"/>
          </p:cNvSpPr>
          <p:nvPr/>
        </p:nvSpPr>
        <p:spPr bwMode="gray">
          <a:xfrm>
            <a:off x="5898259" y="2297506"/>
            <a:ext cx="527717" cy="211561"/>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dirty="0">
                <a:latin typeface="Arial" panose="020B0604020202020204" pitchFamily="34" charset="0"/>
                <a:ea typeface="Times New Roman" panose="02020603050405020304" pitchFamily="18" charset="0"/>
              </a:rPr>
              <a:t>3</a:t>
            </a:r>
            <a:endParaRPr lang="en-ZA" sz="1050" b="1" dirty="0">
              <a:effectLst/>
              <a:latin typeface="Times New Roman" panose="02020603050405020304" pitchFamily="18" charset="0"/>
              <a:ea typeface="Times New Roman" panose="02020603050405020304" pitchFamily="18" charset="0"/>
            </a:endParaRPr>
          </a:p>
        </p:txBody>
      </p:sp>
      <p:sp>
        <p:nvSpPr>
          <p:cNvPr id="104" name="Rectangle 103"/>
          <p:cNvSpPr/>
          <p:nvPr/>
        </p:nvSpPr>
        <p:spPr>
          <a:xfrm>
            <a:off x="6784283" y="1243536"/>
            <a:ext cx="1190937" cy="369332"/>
          </a:xfrm>
          <a:prstGeom prst="rect">
            <a:avLst/>
          </a:prstGeom>
        </p:spPr>
        <p:txBody>
          <a:bodyPr wrap="square">
            <a:spAutoFit/>
          </a:bodyPr>
          <a:lstStyle/>
          <a:p>
            <a:r>
              <a:rPr lang="en-ZA" sz="900" b="1" dirty="0"/>
              <a:t>Expected revenue – current projects</a:t>
            </a:r>
          </a:p>
        </p:txBody>
      </p:sp>
      <p:sp>
        <p:nvSpPr>
          <p:cNvPr id="105" name="Rectangle 20"/>
          <p:cNvSpPr>
            <a:spLocks noChangeArrowheads="1"/>
          </p:cNvSpPr>
          <p:nvPr/>
        </p:nvSpPr>
        <p:spPr bwMode="gray">
          <a:xfrm>
            <a:off x="7151773" y="1574778"/>
            <a:ext cx="527717" cy="216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dirty="0">
                <a:latin typeface="Arial" panose="020B0604020202020204" pitchFamily="34" charset="0"/>
                <a:ea typeface="Times New Roman" panose="02020603050405020304" pitchFamily="18" charset="0"/>
              </a:rPr>
              <a:t>20</a:t>
            </a:r>
            <a:r>
              <a:rPr lang="en-ZA" sz="800" dirty="0">
                <a:effectLst/>
                <a:latin typeface="Arial" panose="020B0604020202020204" pitchFamily="34" charset="0"/>
                <a:ea typeface="Times New Roman" panose="02020603050405020304" pitchFamily="18" charset="0"/>
              </a:rPr>
              <a:t>m</a:t>
            </a:r>
            <a:endParaRPr lang="en-ZA" sz="1050" dirty="0">
              <a:effectLst/>
              <a:latin typeface="Times New Roman" panose="02020603050405020304" pitchFamily="18" charset="0"/>
              <a:ea typeface="Times New Roman" panose="02020603050405020304" pitchFamily="18" charset="0"/>
            </a:endParaRPr>
          </a:p>
        </p:txBody>
      </p:sp>
      <p:sp>
        <p:nvSpPr>
          <p:cNvPr id="106" name="Rectangle 20"/>
          <p:cNvSpPr>
            <a:spLocks noChangeArrowheads="1"/>
          </p:cNvSpPr>
          <p:nvPr/>
        </p:nvSpPr>
        <p:spPr bwMode="gray">
          <a:xfrm>
            <a:off x="7151773" y="2297506"/>
            <a:ext cx="527717" cy="211561"/>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dirty="0">
                <a:latin typeface="Arial" panose="020B0604020202020204" pitchFamily="34" charset="0"/>
                <a:ea typeface="Times New Roman" panose="02020603050405020304" pitchFamily="18" charset="0"/>
              </a:rPr>
              <a:t>350m</a:t>
            </a:r>
            <a:endParaRPr lang="en-ZA" sz="1050" dirty="0">
              <a:effectLst/>
              <a:latin typeface="Times New Roman" panose="02020603050405020304" pitchFamily="18" charset="0"/>
              <a:ea typeface="Times New Roman" panose="02020603050405020304" pitchFamily="18" charset="0"/>
            </a:endParaRPr>
          </a:p>
        </p:txBody>
      </p:sp>
      <p:sp>
        <p:nvSpPr>
          <p:cNvPr id="109" name="Right Arrow 108"/>
          <p:cNvSpPr/>
          <p:nvPr/>
        </p:nvSpPr>
        <p:spPr>
          <a:xfrm>
            <a:off x="5198681" y="5796102"/>
            <a:ext cx="4263013" cy="272702"/>
          </a:xfrm>
          <a:prstGeom prst="rightArrow">
            <a:avLst>
              <a:gd name="adj1" fmla="val 50000"/>
              <a:gd name="adj2" fmla="val 128288"/>
            </a:avLst>
          </a:prstGeom>
          <a:solidFill>
            <a:schemeClr val="tx2">
              <a:lumMod val="90000"/>
              <a:lumOff val="10000"/>
            </a:schemeClr>
          </a:solidFill>
          <a:ln>
            <a:solidFill>
              <a:schemeClr val="tx2">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dirty="0"/>
          </a:p>
        </p:txBody>
      </p:sp>
      <p:sp>
        <p:nvSpPr>
          <p:cNvPr id="110" name="TextBox 109"/>
          <p:cNvSpPr txBox="1"/>
          <p:nvPr/>
        </p:nvSpPr>
        <p:spPr>
          <a:xfrm>
            <a:off x="8196584" y="6008719"/>
            <a:ext cx="940724" cy="230832"/>
          </a:xfrm>
          <a:prstGeom prst="rect">
            <a:avLst/>
          </a:prstGeom>
          <a:noFill/>
        </p:spPr>
        <p:txBody>
          <a:bodyPr wrap="square" rtlCol="0">
            <a:spAutoFit/>
          </a:bodyPr>
          <a:lstStyle/>
          <a:p>
            <a:pPr algn="ctr"/>
            <a:r>
              <a:rPr lang="en-ZA" sz="900" b="1" dirty="0">
                <a:solidFill>
                  <a:schemeClr val="bg2">
                    <a:lumMod val="50000"/>
                  </a:schemeClr>
                </a:solidFill>
              </a:rPr>
              <a:t>High priority</a:t>
            </a:r>
          </a:p>
        </p:txBody>
      </p:sp>
      <p:sp>
        <p:nvSpPr>
          <p:cNvPr id="111" name="Oval 110"/>
          <p:cNvSpPr/>
          <p:nvPr/>
        </p:nvSpPr>
        <p:spPr>
          <a:xfrm>
            <a:off x="5598705" y="5844495"/>
            <a:ext cx="216000" cy="216000"/>
          </a:xfrm>
          <a:prstGeom prst="ellipse">
            <a:avLst/>
          </a:prstGeom>
          <a:solidFill>
            <a:schemeClr val="accent4">
              <a:lumMod val="75000"/>
            </a:schemeClr>
          </a:solidFill>
          <a:ln>
            <a:solidFill>
              <a:schemeClr val="accent4">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bg2">
                    <a:lumMod val="20000"/>
                    <a:lumOff val="80000"/>
                  </a:schemeClr>
                </a:solidFill>
              </a:rPr>
              <a:t>1</a:t>
            </a:r>
          </a:p>
        </p:txBody>
      </p:sp>
      <p:sp>
        <p:nvSpPr>
          <p:cNvPr id="112" name="Oval 111"/>
          <p:cNvSpPr/>
          <p:nvPr/>
        </p:nvSpPr>
        <p:spPr>
          <a:xfrm>
            <a:off x="6359428" y="5844495"/>
            <a:ext cx="216000" cy="216000"/>
          </a:xfrm>
          <a:prstGeom prst="ellipse">
            <a:avLst/>
          </a:prstGeom>
          <a:solidFill>
            <a:schemeClr val="accent4">
              <a:lumMod val="75000"/>
            </a:schemeClr>
          </a:solidFill>
          <a:ln>
            <a:solidFill>
              <a:schemeClr val="accent4">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bg2">
                    <a:lumMod val="20000"/>
                    <a:lumOff val="80000"/>
                  </a:schemeClr>
                </a:solidFill>
              </a:rPr>
              <a:t>2</a:t>
            </a:r>
          </a:p>
        </p:txBody>
      </p:sp>
      <p:sp>
        <p:nvSpPr>
          <p:cNvPr id="113" name="Oval 112"/>
          <p:cNvSpPr/>
          <p:nvPr/>
        </p:nvSpPr>
        <p:spPr>
          <a:xfrm>
            <a:off x="7120151" y="5844495"/>
            <a:ext cx="216000" cy="216000"/>
          </a:xfrm>
          <a:prstGeom prst="ellipse">
            <a:avLst/>
          </a:prstGeom>
          <a:solidFill>
            <a:schemeClr val="accent4">
              <a:lumMod val="75000"/>
            </a:schemeClr>
          </a:solidFill>
          <a:ln>
            <a:solidFill>
              <a:schemeClr val="accent4">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bg2">
                    <a:lumMod val="20000"/>
                    <a:lumOff val="80000"/>
                  </a:schemeClr>
                </a:solidFill>
              </a:rPr>
              <a:t>3</a:t>
            </a:r>
          </a:p>
        </p:txBody>
      </p:sp>
      <p:sp>
        <p:nvSpPr>
          <p:cNvPr id="114" name="Oval 113"/>
          <p:cNvSpPr/>
          <p:nvPr/>
        </p:nvSpPr>
        <p:spPr>
          <a:xfrm>
            <a:off x="7880874" y="5844495"/>
            <a:ext cx="216000" cy="216000"/>
          </a:xfrm>
          <a:prstGeom prst="ellipse">
            <a:avLst/>
          </a:prstGeom>
          <a:solidFill>
            <a:schemeClr val="accent4">
              <a:lumMod val="75000"/>
            </a:schemeClr>
          </a:solidFill>
          <a:ln>
            <a:solidFill>
              <a:schemeClr val="accent4">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bg2">
                    <a:lumMod val="20000"/>
                    <a:lumOff val="80000"/>
                  </a:schemeClr>
                </a:solidFill>
              </a:rPr>
              <a:t>4</a:t>
            </a:r>
          </a:p>
        </p:txBody>
      </p:sp>
      <p:sp>
        <p:nvSpPr>
          <p:cNvPr id="119" name="Oval 118"/>
          <p:cNvSpPr/>
          <p:nvPr/>
        </p:nvSpPr>
        <p:spPr>
          <a:xfrm>
            <a:off x="8641598" y="5844495"/>
            <a:ext cx="216000" cy="216000"/>
          </a:xfrm>
          <a:prstGeom prst="ellipse">
            <a:avLst/>
          </a:prstGeom>
          <a:solidFill>
            <a:schemeClr val="accent4">
              <a:lumMod val="75000"/>
            </a:schemeClr>
          </a:solidFill>
          <a:ln>
            <a:solidFill>
              <a:schemeClr val="accent4">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bg2">
                    <a:lumMod val="20000"/>
                    <a:lumOff val="80000"/>
                  </a:schemeClr>
                </a:solidFill>
              </a:rPr>
              <a:t>5</a:t>
            </a:r>
          </a:p>
        </p:txBody>
      </p:sp>
      <p:sp>
        <p:nvSpPr>
          <p:cNvPr id="121" name="TextBox 120"/>
          <p:cNvSpPr txBox="1"/>
          <p:nvPr/>
        </p:nvSpPr>
        <p:spPr>
          <a:xfrm>
            <a:off x="5211471" y="6022623"/>
            <a:ext cx="860515" cy="230832"/>
          </a:xfrm>
          <a:prstGeom prst="rect">
            <a:avLst/>
          </a:prstGeom>
          <a:noFill/>
        </p:spPr>
        <p:txBody>
          <a:bodyPr wrap="square" rtlCol="0">
            <a:spAutoFit/>
          </a:bodyPr>
          <a:lstStyle/>
          <a:p>
            <a:pPr algn="ctr"/>
            <a:r>
              <a:rPr lang="en-ZA" sz="900" b="1" dirty="0">
                <a:solidFill>
                  <a:schemeClr val="bg2">
                    <a:lumMod val="50000"/>
                  </a:schemeClr>
                </a:solidFill>
              </a:rPr>
              <a:t>Low priority</a:t>
            </a:r>
          </a:p>
        </p:txBody>
      </p:sp>
      <p:grpSp>
        <p:nvGrpSpPr>
          <p:cNvPr id="122" name="Group 121"/>
          <p:cNvGrpSpPr/>
          <p:nvPr/>
        </p:nvGrpSpPr>
        <p:grpSpPr>
          <a:xfrm>
            <a:off x="5136961" y="1320263"/>
            <a:ext cx="720000" cy="720000"/>
            <a:chOff x="595024" y="4572000"/>
            <a:chExt cx="1440000" cy="1440000"/>
          </a:xfrm>
        </p:grpSpPr>
        <p:sp>
          <p:nvSpPr>
            <p:cNvPr id="123" name="Oval 122"/>
            <p:cNvSpPr/>
            <p:nvPr/>
          </p:nvSpPr>
          <p:spPr>
            <a:xfrm>
              <a:off x="595024" y="4572000"/>
              <a:ext cx="1440000" cy="1440000"/>
            </a:xfrm>
            <a:prstGeom prst="ellipse">
              <a:avLst/>
            </a:prstGeom>
            <a:solidFill>
              <a:srgbClr val="002E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24" name="Oval 123"/>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grpSp>
      <p:pic>
        <p:nvPicPr>
          <p:cNvPr id="64" name="Picture 63"/>
          <p:cNvPicPr>
            <a:picLocks noChangeAspect="1"/>
          </p:cNvPicPr>
          <p:nvPr/>
        </p:nvPicPr>
        <p:blipFill>
          <a:blip r:embed="rId8"/>
          <a:stretch>
            <a:fillRect/>
          </a:stretch>
        </p:blipFill>
        <p:spPr>
          <a:xfrm>
            <a:off x="5302445" y="1543869"/>
            <a:ext cx="391895" cy="294085"/>
          </a:xfrm>
          <a:prstGeom prst="rect">
            <a:avLst/>
          </a:prstGeom>
        </p:spPr>
      </p:pic>
      <p:grpSp>
        <p:nvGrpSpPr>
          <p:cNvPr id="129" name="Group 128"/>
          <p:cNvGrpSpPr/>
          <p:nvPr/>
        </p:nvGrpSpPr>
        <p:grpSpPr>
          <a:xfrm>
            <a:off x="5156097" y="2055791"/>
            <a:ext cx="720000" cy="720000"/>
            <a:chOff x="595024" y="4572000"/>
            <a:chExt cx="1440000" cy="1440000"/>
          </a:xfrm>
        </p:grpSpPr>
        <p:sp>
          <p:nvSpPr>
            <p:cNvPr id="133" name="Oval 132"/>
            <p:cNvSpPr/>
            <p:nvPr/>
          </p:nvSpPr>
          <p:spPr>
            <a:xfrm>
              <a:off x="595024" y="4572000"/>
              <a:ext cx="1440000" cy="1440000"/>
            </a:xfrm>
            <a:prstGeom prst="ellipse">
              <a:avLst/>
            </a:prstGeom>
            <a:solidFill>
              <a:srgbClr val="002E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34" name="Oval 133"/>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grpSp>
      <p:pic>
        <p:nvPicPr>
          <p:cNvPr id="65" name="Picture 64"/>
          <p:cNvPicPr>
            <a:picLocks noChangeAspect="1"/>
          </p:cNvPicPr>
          <p:nvPr/>
        </p:nvPicPr>
        <p:blipFill>
          <a:blip r:embed="rId9"/>
          <a:stretch>
            <a:fillRect/>
          </a:stretch>
        </p:blipFill>
        <p:spPr>
          <a:xfrm>
            <a:off x="5308925" y="2248253"/>
            <a:ext cx="416122" cy="339258"/>
          </a:xfrm>
          <a:prstGeom prst="rect">
            <a:avLst/>
          </a:prstGeom>
        </p:spPr>
      </p:pic>
      <p:grpSp>
        <p:nvGrpSpPr>
          <p:cNvPr id="156" name="Group 155"/>
          <p:cNvGrpSpPr/>
          <p:nvPr/>
        </p:nvGrpSpPr>
        <p:grpSpPr>
          <a:xfrm>
            <a:off x="5156097" y="2805715"/>
            <a:ext cx="720000" cy="720000"/>
            <a:chOff x="595024" y="4572000"/>
            <a:chExt cx="1440000" cy="1440000"/>
          </a:xfrm>
        </p:grpSpPr>
        <p:sp>
          <p:nvSpPr>
            <p:cNvPr id="158" name="Oval 157"/>
            <p:cNvSpPr/>
            <p:nvPr/>
          </p:nvSpPr>
          <p:spPr>
            <a:xfrm>
              <a:off x="595024" y="4572000"/>
              <a:ext cx="1440000" cy="1440000"/>
            </a:xfrm>
            <a:prstGeom prst="ellipse">
              <a:avLst/>
            </a:prstGeom>
            <a:solidFill>
              <a:srgbClr val="002E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59" name="Oval 158"/>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grpSp>
      <p:pic>
        <p:nvPicPr>
          <p:cNvPr id="6" name="Picture 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325217" y="2992786"/>
            <a:ext cx="364542" cy="321253"/>
          </a:xfrm>
          <a:prstGeom prst="rect">
            <a:avLst/>
          </a:prstGeom>
        </p:spPr>
      </p:pic>
      <p:grpSp>
        <p:nvGrpSpPr>
          <p:cNvPr id="160" name="Group 159"/>
          <p:cNvGrpSpPr/>
          <p:nvPr/>
        </p:nvGrpSpPr>
        <p:grpSpPr>
          <a:xfrm>
            <a:off x="7202927" y="2805715"/>
            <a:ext cx="720000" cy="720000"/>
            <a:chOff x="595024" y="4572000"/>
            <a:chExt cx="1440000" cy="1440000"/>
          </a:xfrm>
        </p:grpSpPr>
        <p:sp>
          <p:nvSpPr>
            <p:cNvPr id="166" name="Oval 165"/>
            <p:cNvSpPr/>
            <p:nvPr/>
          </p:nvSpPr>
          <p:spPr>
            <a:xfrm>
              <a:off x="595024" y="4572000"/>
              <a:ext cx="1440000" cy="1440000"/>
            </a:xfrm>
            <a:prstGeom prst="ellipse">
              <a:avLst/>
            </a:prstGeom>
            <a:solidFill>
              <a:srgbClr val="002E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67" name="Oval 166"/>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grpSp>
      <p:pic>
        <p:nvPicPr>
          <p:cNvPr id="7" name="Picture 6"/>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416800" y="2974401"/>
            <a:ext cx="274227" cy="356495"/>
          </a:xfrm>
          <a:prstGeom prst="rect">
            <a:avLst/>
          </a:prstGeom>
        </p:spPr>
      </p:pic>
      <p:sp>
        <p:nvSpPr>
          <p:cNvPr id="170" name="Rectangle 20"/>
          <p:cNvSpPr>
            <a:spLocks noChangeArrowheads="1"/>
          </p:cNvSpPr>
          <p:nvPr/>
        </p:nvSpPr>
        <p:spPr bwMode="gray">
          <a:xfrm>
            <a:off x="5909970" y="2809205"/>
            <a:ext cx="1202957" cy="252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dirty="0">
                <a:latin typeface="Arial" panose="020B0604020202020204" pitchFamily="34" charset="0"/>
                <a:ea typeface="Times New Roman" panose="02020603050405020304" pitchFamily="18" charset="0"/>
              </a:rPr>
              <a:t>Client concentration risk</a:t>
            </a:r>
            <a:endParaRPr lang="en-ZA" sz="1050" b="1" dirty="0">
              <a:effectLst/>
              <a:latin typeface="Times New Roman" panose="02020603050405020304" pitchFamily="18" charset="0"/>
              <a:ea typeface="Times New Roman" panose="02020603050405020304" pitchFamily="18" charset="0"/>
            </a:endParaRPr>
          </a:p>
        </p:txBody>
      </p:sp>
      <p:sp>
        <p:nvSpPr>
          <p:cNvPr id="172" name="Rectangle 20"/>
          <p:cNvSpPr>
            <a:spLocks noChangeArrowheads="1"/>
          </p:cNvSpPr>
          <p:nvPr/>
        </p:nvSpPr>
        <p:spPr bwMode="gray">
          <a:xfrm>
            <a:off x="7978552" y="2856249"/>
            <a:ext cx="1409724" cy="612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dirty="0">
                <a:ea typeface="Times New Roman" panose="02020603050405020304" pitchFamily="18" charset="0"/>
              </a:rPr>
              <a:t>Enjoy:</a:t>
            </a:r>
          </a:p>
          <a:p>
            <a:pPr marL="171450" indent="-171450" algn="ctr" fontAlgn="base">
              <a:spcAft>
                <a:spcPts val="0"/>
              </a:spcAft>
              <a:buFontTx/>
              <a:buChar char="-"/>
            </a:pPr>
            <a:r>
              <a:rPr lang="en-ZA" sz="800" dirty="0">
                <a:effectLst/>
                <a:ea typeface="Times New Roman" panose="02020603050405020304" pitchFamily="18" charset="0"/>
              </a:rPr>
              <a:t>Working with not for them</a:t>
            </a:r>
          </a:p>
          <a:p>
            <a:pPr marL="171450" indent="-171450" algn="ctr" fontAlgn="base">
              <a:spcAft>
                <a:spcPts val="0"/>
              </a:spcAft>
              <a:buFontTx/>
              <a:buChar char="-"/>
            </a:pPr>
            <a:r>
              <a:rPr lang="en-ZA" sz="800" dirty="0">
                <a:ea typeface="Times New Roman" panose="02020603050405020304" pitchFamily="18" charset="0"/>
              </a:rPr>
              <a:t>Regular communication</a:t>
            </a:r>
            <a:endParaRPr lang="en-ZA" sz="800" dirty="0">
              <a:effectLst/>
              <a:ea typeface="Times New Roman" panose="02020603050405020304" pitchFamily="18" charset="0"/>
            </a:endParaRPr>
          </a:p>
        </p:txBody>
      </p:sp>
      <p:pic>
        <p:nvPicPr>
          <p:cNvPr id="11" name="Picture 10"/>
          <p:cNvPicPr>
            <a:picLocks noChangeAspect="1"/>
          </p:cNvPicPr>
          <p:nvPr/>
        </p:nvPicPr>
        <p:blipFill>
          <a:blip r:embed="rId12"/>
          <a:stretch>
            <a:fillRect/>
          </a:stretch>
        </p:blipFill>
        <p:spPr>
          <a:xfrm>
            <a:off x="5460355" y="3968210"/>
            <a:ext cx="3653465" cy="1800000"/>
          </a:xfrm>
          <a:prstGeom prst="rect">
            <a:avLst/>
          </a:prstGeom>
        </p:spPr>
      </p:pic>
      <p:sp>
        <p:nvSpPr>
          <p:cNvPr id="66" name="Rectangle 8"/>
          <p:cNvSpPr>
            <a:spLocks noChangeArrowheads="1"/>
          </p:cNvSpPr>
          <p:nvPr>
            <p:custDataLst>
              <p:tags r:id="rId3"/>
            </p:custDataLst>
          </p:nvPr>
        </p:nvSpPr>
        <p:spPr bwMode="gray">
          <a:xfrm>
            <a:off x="429603" y="1275828"/>
            <a:ext cx="3420000" cy="184918"/>
          </a:xfrm>
          <a:prstGeom prst="rect">
            <a:avLst/>
          </a:prstGeom>
          <a:solidFill>
            <a:schemeClr val="accent4">
              <a:lumMod val="75000"/>
            </a:schemeClr>
          </a:solidFill>
          <a:ln w="19050">
            <a:solidFill>
              <a:schemeClr val="accent4">
                <a:lumMod val="75000"/>
              </a:schemeClr>
            </a:solidFill>
          </a:ln>
          <a:extLst/>
        </p:spPr>
        <p:txBody>
          <a:bodyPr lIns="144000" tIns="32654" rIns="32654" bIns="32654" anchor="ctr"/>
          <a:lstStyle>
            <a:lvl1pPr marL="342900" indent="-342900" defTabSz="639763" eaLnBrk="0" hangingPunct="0">
              <a:buClr>
                <a:schemeClr val="tx2"/>
              </a:buClr>
              <a:defRPr sz="1600">
                <a:solidFill>
                  <a:schemeClr val="tx1"/>
                </a:solidFill>
                <a:latin typeface="Arial" charset="0"/>
              </a:defRPr>
            </a:lvl1pPr>
            <a:lvl2pPr marL="742950" indent="-741363" defTabSz="639763" eaLnBrk="0" hangingPunct="0">
              <a:buClr>
                <a:schemeClr val="tx2"/>
              </a:buClr>
              <a:buSzPct val="125000"/>
              <a:buFont typeface="Arial" charset="0"/>
              <a:buChar char="▪"/>
              <a:defRPr sz="1600">
                <a:solidFill>
                  <a:schemeClr val="tx1"/>
                </a:solidFill>
                <a:latin typeface="Arial" charset="0"/>
              </a:defRPr>
            </a:lvl2pPr>
            <a:lvl3pPr marL="1143000" indent="-947738" defTabSz="639763" eaLnBrk="0" hangingPunct="0">
              <a:buClr>
                <a:schemeClr val="tx2"/>
              </a:buClr>
              <a:buSzPct val="120000"/>
              <a:buFont typeface="Arial" charset="0"/>
              <a:buChar char="–"/>
              <a:defRPr sz="1600">
                <a:solidFill>
                  <a:schemeClr val="tx1"/>
                </a:solidFill>
                <a:latin typeface="Arial" charset="0"/>
              </a:defRPr>
            </a:lvl3pPr>
            <a:lvl4pPr marL="1600200" indent="-1141413" defTabSz="639763" eaLnBrk="0" hangingPunct="0">
              <a:buClr>
                <a:schemeClr val="tx2"/>
              </a:buClr>
              <a:buSzPct val="120000"/>
              <a:buFont typeface="Arial" charset="0"/>
              <a:buChar char="▫"/>
              <a:defRPr sz="1600">
                <a:solidFill>
                  <a:schemeClr val="tx1"/>
                </a:solidFill>
                <a:latin typeface="Arial" charset="0"/>
              </a:defRPr>
            </a:lvl4pPr>
            <a:lvl5pPr marL="2057400" indent="-1441450" defTabSz="639763" eaLnBrk="0" hangingPunct="0">
              <a:buClr>
                <a:schemeClr val="tx2"/>
              </a:buClr>
              <a:buSzPct val="89000"/>
              <a:buFont typeface="Arial" charset="0"/>
              <a:buChar char="-"/>
              <a:defRPr sz="1600">
                <a:solidFill>
                  <a:schemeClr val="tx1"/>
                </a:solidFill>
                <a:latin typeface="Arial" charset="0"/>
              </a:defRPr>
            </a:lvl5pPr>
            <a:lvl6pPr marL="2514600" indent="-1441450" defTabSz="639763" eaLnBrk="0" fontAlgn="base" hangingPunct="0">
              <a:spcBef>
                <a:spcPct val="0"/>
              </a:spcBef>
              <a:spcAft>
                <a:spcPct val="0"/>
              </a:spcAft>
              <a:buClr>
                <a:schemeClr val="tx2"/>
              </a:buClr>
              <a:buSzPct val="89000"/>
              <a:buFont typeface="Arial" charset="0"/>
              <a:buChar char="-"/>
              <a:defRPr sz="1600">
                <a:solidFill>
                  <a:schemeClr val="tx1"/>
                </a:solidFill>
                <a:latin typeface="Arial" charset="0"/>
              </a:defRPr>
            </a:lvl6pPr>
            <a:lvl7pPr marL="2971800" indent="-1441450" defTabSz="639763" eaLnBrk="0" fontAlgn="base" hangingPunct="0">
              <a:spcBef>
                <a:spcPct val="0"/>
              </a:spcBef>
              <a:spcAft>
                <a:spcPct val="0"/>
              </a:spcAft>
              <a:buClr>
                <a:schemeClr val="tx2"/>
              </a:buClr>
              <a:buSzPct val="89000"/>
              <a:buFont typeface="Arial" charset="0"/>
              <a:buChar char="-"/>
              <a:defRPr sz="1600">
                <a:solidFill>
                  <a:schemeClr val="tx1"/>
                </a:solidFill>
                <a:latin typeface="Arial" charset="0"/>
              </a:defRPr>
            </a:lvl7pPr>
            <a:lvl8pPr marL="3429000" indent="-1441450" defTabSz="639763" eaLnBrk="0" fontAlgn="base" hangingPunct="0">
              <a:spcBef>
                <a:spcPct val="0"/>
              </a:spcBef>
              <a:spcAft>
                <a:spcPct val="0"/>
              </a:spcAft>
              <a:buClr>
                <a:schemeClr val="tx2"/>
              </a:buClr>
              <a:buSzPct val="89000"/>
              <a:buFont typeface="Arial" charset="0"/>
              <a:buChar char="-"/>
              <a:defRPr sz="1600">
                <a:solidFill>
                  <a:schemeClr val="tx1"/>
                </a:solidFill>
                <a:latin typeface="Arial" charset="0"/>
              </a:defRPr>
            </a:lvl8pPr>
            <a:lvl9pPr marL="3886200" indent="-1441450" defTabSz="639763" eaLnBrk="0" fontAlgn="base" hangingPunct="0">
              <a:spcBef>
                <a:spcPct val="0"/>
              </a:spcBef>
              <a:spcAft>
                <a:spcPct val="0"/>
              </a:spcAft>
              <a:buClr>
                <a:schemeClr val="tx2"/>
              </a:buClr>
              <a:buSzPct val="89000"/>
              <a:buFont typeface="Arial" charset="0"/>
              <a:buChar char="-"/>
              <a:defRPr sz="1600">
                <a:solidFill>
                  <a:schemeClr val="tx1"/>
                </a:solidFill>
                <a:latin typeface="Arial" charset="0"/>
              </a:defRPr>
            </a:lvl9pPr>
          </a:lstStyle>
          <a:p>
            <a:pPr marL="0" indent="0" algn="ctr" eaLnBrk="1" hangingPunct="1">
              <a:buClrTx/>
            </a:pPr>
            <a:r>
              <a:rPr lang="en-US" sz="900" b="1" dirty="0">
                <a:solidFill>
                  <a:schemeClr val="bg1"/>
                </a:solidFill>
                <a:latin typeface="+mn-lt"/>
                <a:cs typeface="Arial" charset="0"/>
              </a:rPr>
              <a:t>Key levers</a:t>
            </a:r>
            <a:endParaRPr lang="fr-FR" sz="900" b="1" dirty="0">
              <a:solidFill>
                <a:schemeClr val="bg1"/>
              </a:solidFill>
              <a:latin typeface="+mn-lt"/>
              <a:cs typeface="Arial" charset="0"/>
            </a:endParaRPr>
          </a:p>
        </p:txBody>
      </p:sp>
      <p:grpSp>
        <p:nvGrpSpPr>
          <p:cNvPr id="71" name="Group 70"/>
          <p:cNvGrpSpPr/>
          <p:nvPr/>
        </p:nvGrpSpPr>
        <p:grpSpPr>
          <a:xfrm>
            <a:off x="411132" y="3277533"/>
            <a:ext cx="3419999" cy="257519"/>
            <a:chOff x="670560" y="1344720"/>
            <a:chExt cx="3528060" cy="226933"/>
          </a:xfrm>
        </p:grpSpPr>
        <p:grpSp>
          <p:nvGrpSpPr>
            <p:cNvPr id="72" name="Group 71"/>
            <p:cNvGrpSpPr/>
            <p:nvPr/>
          </p:nvGrpSpPr>
          <p:grpSpPr>
            <a:xfrm>
              <a:off x="670560" y="1345844"/>
              <a:ext cx="3528060" cy="225809"/>
              <a:chOff x="266700" y="1345844"/>
              <a:chExt cx="3528060" cy="225809"/>
            </a:xfrm>
          </p:grpSpPr>
          <p:sp>
            <p:nvSpPr>
              <p:cNvPr id="74" name="Rectangle 73"/>
              <p:cNvSpPr/>
              <p:nvPr/>
            </p:nvSpPr>
            <p:spPr>
              <a:xfrm>
                <a:off x="266700" y="1345845"/>
                <a:ext cx="3528060" cy="225808"/>
              </a:xfrm>
              <a:prstGeom prst="rect">
                <a:avLst/>
              </a:prstGeom>
              <a:solidFill>
                <a:schemeClr val="accent2">
                  <a:lumMod val="60000"/>
                  <a:lumOff val="40000"/>
                </a:schemeClr>
              </a:solidFill>
              <a:ln>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dirty="0"/>
              </a:p>
            </p:txBody>
          </p:sp>
          <p:grpSp>
            <p:nvGrpSpPr>
              <p:cNvPr id="75" name="Group 74"/>
              <p:cNvGrpSpPr/>
              <p:nvPr/>
            </p:nvGrpSpPr>
            <p:grpSpPr>
              <a:xfrm>
                <a:off x="723572" y="1345844"/>
                <a:ext cx="1098779" cy="176580"/>
                <a:chOff x="1033045" y="1292492"/>
                <a:chExt cx="1098779" cy="176580"/>
              </a:xfrm>
            </p:grpSpPr>
            <p:sp>
              <p:nvSpPr>
                <p:cNvPr id="82" name="Ellipse 85"/>
                <p:cNvSpPr/>
                <p:nvPr/>
              </p:nvSpPr>
              <p:spPr bwMode="gray">
                <a:xfrm>
                  <a:off x="1033045" y="1373900"/>
                  <a:ext cx="111413" cy="95172"/>
                </a:xfrm>
                <a:prstGeom prst="ellipse">
                  <a:avLst/>
                </a:prstGeom>
                <a:solidFill>
                  <a:srgbClr val="FF000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83" name="TextBox 82"/>
                <p:cNvSpPr txBox="1"/>
                <p:nvPr/>
              </p:nvSpPr>
              <p:spPr>
                <a:xfrm>
                  <a:off x="1147239" y="1292492"/>
                  <a:ext cx="984585" cy="165749"/>
                </a:xfrm>
                <a:prstGeom prst="rect">
                  <a:avLst/>
                </a:prstGeom>
                <a:noFill/>
              </p:spPr>
              <p:txBody>
                <a:bodyPr wrap="square" rtlCol="0">
                  <a:spAutoFit/>
                </a:bodyPr>
                <a:lstStyle/>
                <a:p>
                  <a:r>
                    <a:rPr lang="en-ZA" sz="900" dirty="0"/>
                    <a:t>Below average</a:t>
                  </a:r>
                </a:p>
              </p:txBody>
            </p:sp>
          </p:grpSp>
          <p:grpSp>
            <p:nvGrpSpPr>
              <p:cNvPr id="76" name="Group 75"/>
              <p:cNvGrpSpPr/>
              <p:nvPr/>
            </p:nvGrpSpPr>
            <p:grpSpPr>
              <a:xfrm>
                <a:off x="1782597" y="1345844"/>
                <a:ext cx="1083369" cy="176580"/>
                <a:chOff x="1235281" y="1529835"/>
                <a:chExt cx="1083369" cy="176580"/>
              </a:xfrm>
            </p:grpSpPr>
            <p:sp>
              <p:nvSpPr>
                <p:cNvPr id="80" name="Ellipse 85"/>
                <p:cNvSpPr/>
                <p:nvPr/>
              </p:nvSpPr>
              <p:spPr bwMode="gray">
                <a:xfrm>
                  <a:off x="1235281" y="1611243"/>
                  <a:ext cx="111413" cy="95172"/>
                </a:xfrm>
                <a:prstGeom prst="ellipse">
                  <a:avLst/>
                </a:prstGeom>
                <a:solidFill>
                  <a:srgbClr val="FFFF0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81" name="TextBox 80"/>
                <p:cNvSpPr txBox="1"/>
                <p:nvPr/>
              </p:nvSpPr>
              <p:spPr>
                <a:xfrm>
                  <a:off x="1334065" y="1529835"/>
                  <a:ext cx="984585" cy="165749"/>
                </a:xfrm>
                <a:prstGeom prst="rect">
                  <a:avLst/>
                </a:prstGeom>
                <a:noFill/>
              </p:spPr>
              <p:txBody>
                <a:bodyPr wrap="square" rtlCol="0">
                  <a:spAutoFit/>
                </a:bodyPr>
                <a:lstStyle/>
                <a:p>
                  <a:r>
                    <a:rPr lang="en-ZA" sz="900" dirty="0"/>
                    <a:t>Average</a:t>
                  </a:r>
                </a:p>
              </p:txBody>
            </p:sp>
          </p:grpSp>
          <p:grpSp>
            <p:nvGrpSpPr>
              <p:cNvPr id="77" name="Group 76"/>
              <p:cNvGrpSpPr/>
              <p:nvPr/>
            </p:nvGrpSpPr>
            <p:grpSpPr>
              <a:xfrm>
                <a:off x="2514478" y="1345844"/>
                <a:ext cx="1079026" cy="176580"/>
                <a:chOff x="951609" y="1714107"/>
                <a:chExt cx="1079026" cy="176580"/>
              </a:xfrm>
            </p:grpSpPr>
            <p:sp>
              <p:nvSpPr>
                <p:cNvPr id="78" name="Ellipse 85"/>
                <p:cNvSpPr/>
                <p:nvPr/>
              </p:nvSpPr>
              <p:spPr bwMode="gray">
                <a:xfrm>
                  <a:off x="951609" y="1795515"/>
                  <a:ext cx="111413" cy="95172"/>
                </a:xfrm>
                <a:prstGeom prst="ellipse">
                  <a:avLst/>
                </a:prstGeom>
                <a:solidFill>
                  <a:srgbClr val="00B05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79" name="TextBox 78"/>
                <p:cNvSpPr txBox="1"/>
                <p:nvPr/>
              </p:nvSpPr>
              <p:spPr>
                <a:xfrm>
                  <a:off x="1046050" y="1714107"/>
                  <a:ext cx="984585" cy="165749"/>
                </a:xfrm>
                <a:prstGeom prst="rect">
                  <a:avLst/>
                </a:prstGeom>
                <a:noFill/>
              </p:spPr>
              <p:txBody>
                <a:bodyPr wrap="square" rtlCol="0">
                  <a:spAutoFit/>
                </a:bodyPr>
                <a:lstStyle/>
                <a:p>
                  <a:r>
                    <a:rPr lang="en-ZA" sz="900" dirty="0"/>
                    <a:t>Above average</a:t>
                  </a:r>
                </a:p>
              </p:txBody>
            </p:sp>
          </p:grpSp>
        </p:grpSp>
        <p:sp>
          <p:nvSpPr>
            <p:cNvPr id="73" name="TextBox 72"/>
            <p:cNvSpPr txBox="1"/>
            <p:nvPr/>
          </p:nvSpPr>
          <p:spPr>
            <a:xfrm>
              <a:off x="699999" y="1344720"/>
              <a:ext cx="466705" cy="165749"/>
            </a:xfrm>
            <a:prstGeom prst="rect">
              <a:avLst/>
            </a:prstGeom>
            <a:noFill/>
          </p:spPr>
          <p:txBody>
            <a:bodyPr wrap="square" rtlCol="0">
              <a:spAutoFit/>
            </a:bodyPr>
            <a:lstStyle/>
            <a:p>
              <a:r>
                <a:rPr lang="en-ZA" sz="900" b="1" dirty="0"/>
                <a:t>Key</a:t>
              </a:r>
            </a:p>
          </p:txBody>
        </p:sp>
      </p:grpSp>
      <p:sp>
        <p:nvSpPr>
          <p:cNvPr id="84" name="Rectangle 20"/>
          <p:cNvSpPr>
            <a:spLocks noChangeArrowheads="1"/>
          </p:cNvSpPr>
          <p:nvPr/>
        </p:nvSpPr>
        <p:spPr bwMode="gray">
          <a:xfrm>
            <a:off x="411094" y="2756812"/>
            <a:ext cx="1406885" cy="214284"/>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algn="ctr" fontAlgn="base">
              <a:spcAft>
                <a:spcPts val="0"/>
              </a:spcAft>
            </a:pPr>
            <a:r>
              <a:rPr lang="en-ZA" sz="800" dirty="0">
                <a:effectLst/>
                <a:ea typeface="Times New Roman" panose="02020603050405020304" pitchFamily="18" charset="0"/>
              </a:rPr>
              <a:t>Pricing</a:t>
            </a:r>
          </a:p>
        </p:txBody>
      </p:sp>
      <p:sp>
        <p:nvSpPr>
          <p:cNvPr id="85" name="Rectangle 20"/>
          <p:cNvSpPr>
            <a:spLocks noChangeArrowheads="1"/>
          </p:cNvSpPr>
          <p:nvPr/>
        </p:nvSpPr>
        <p:spPr bwMode="gray">
          <a:xfrm>
            <a:off x="411094" y="2229270"/>
            <a:ext cx="1406885" cy="214284"/>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algn="ctr" fontAlgn="base">
              <a:spcAft>
                <a:spcPts val="0"/>
              </a:spcAft>
            </a:pPr>
            <a:r>
              <a:rPr lang="en-ZA" sz="800" dirty="0">
                <a:effectLst/>
                <a:ea typeface="Times New Roman" panose="02020603050405020304" pitchFamily="18" charset="0"/>
              </a:rPr>
              <a:t>Well qualified workforce</a:t>
            </a:r>
          </a:p>
        </p:txBody>
      </p:sp>
      <p:sp>
        <p:nvSpPr>
          <p:cNvPr id="86" name="Rectangle 20"/>
          <p:cNvSpPr>
            <a:spLocks noChangeArrowheads="1"/>
          </p:cNvSpPr>
          <p:nvPr/>
        </p:nvSpPr>
        <p:spPr bwMode="gray">
          <a:xfrm>
            <a:off x="411094" y="1965499"/>
            <a:ext cx="1406885" cy="214284"/>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algn="ctr" fontAlgn="base">
              <a:spcAft>
                <a:spcPts val="0"/>
              </a:spcAft>
            </a:pPr>
            <a:r>
              <a:rPr lang="en-ZA" sz="800" dirty="0">
                <a:effectLst/>
                <a:ea typeface="Times New Roman" panose="02020603050405020304" pitchFamily="18" charset="0"/>
              </a:rPr>
              <a:t>Credentials</a:t>
            </a:r>
          </a:p>
        </p:txBody>
      </p:sp>
      <p:sp>
        <p:nvSpPr>
          <p:cNvPr id="87" name="Rectangle 20"/>
          <p:cNvSpPr>
            <a:spLocks noChangeArrowheads="1"/>
          </p:cNvSpPr>
          <p:nvPr/>
        </p:nvSpPr>
        <p:spPr bwMode="gray">
          <a:xfrm>
            <a:off x="411094" y="2493041"/>
            <a:ext cx="1406885" cy="214284"/>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algn="ctr" fontAlgn="base">
              <a:spcAft>
                <a:spcPts val="0"/>
              </a:spcAft>
            </a:pPr>
            <a:r>
              <a:rPr lang="en-ZA" sz="800" dirty="0">
                <a:ea typeface="Times New Roman" panose="02020603050405020304" pitchFamily="18" charset="0"/>
              </a:rPr>
              <a:t>Product quality</a:t>
            </a:r>
          </a:p>
        </p:txBody>
      </p:sp>
      <p:sp>
        <p:nvSpPr>
          <p:cNvPr id="88" name="Rectangle 20"/>
          <p:cNvSpPr>
            <a:spLocks noChangeArrowheads="1"/>
          </p:cNvSpPr>
          <p:nvPr/>
        </p:nvSpPr>
        <p:spPr bwMode="gray">
          <a:xfrm>
            <a:off x="411094" y="3020584"/>
            <a:ext cx="1406885" cy="214284"/>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algn="ctr" fontAlgn="base">
              <a:spcAft>
                <a:spcPts val="0"/>
              </a:spcAft>
            </a:pPr>
            <a:r>
              <a:rPr lang="en-ZA" sz="800" dirty="0">
                <a:effectLst/>
                <a:ea typeface="Times New Roman" panose="02020603050405020304" pitchFamily="18" charset="0"/>
              </a:rPr>
              <a:t>Brand</a:t>
            </a:r>
          </a:p>
        </p:txBody>
      </p:sp>
      <p:sp>
        <p:nvSpPr>
          <p:cNvPr id="89" name="Rectangle 20"/>
          <p:cNvSpPr>
            <a:spLocks noChangeArrowheads="1"/>
          </p:cNvSpPr>
          <p:nvPr/>
        </p:nvSpPr>
        <p:spPr bwMode="gray">
          <a:xfrm>
            <a:off x="411094" y="1701728"/>
            <a:ext cx="1406885" cy="214284"/>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algn="ctr" fontAlgn="base">
              <a:spcAft>
                <a:spcPts val="0"/>
              </a:spcAft>
            </a:pPr>
            <a:r>
              <a:rPr lang="en-ZA" sz="800" dirty="0">
                <a:effectLst/>
                <a:ea typeface="Times New Roman" panose="02020603050405020304" pitchFamily="18" charset="0"/>
              </a:rPr>
              <a:t>BEE rating</a:t>
            </a:r>
          </a:p>
        </p:txBody>
      </p:sp>
      <p:sp>
        <p:nvSpPr>
          <p:cNvPr id="92" name="TextBox 91"/>
          <p:cNvSpPr txBox="1"/>
          <p:nvPr/>
        </p:nvSpPr>
        <p:spPr>
          <a:xfrm>
            <a:off x="3321811" y="1504423"/>
            <a:ext cx="540000" cy="230832"/>
          </a:xfrm>
          <a:prstGeom prst="rect">
            <a:avLst/>
          </a:prstGeom>
          <a:solidFill>
            <a:srgbClr val="002E5A"/>
          </a:solidFill>
        </p:spPr>
        <p:txBody>
          <a:bodyPr wrap="square" rtlCol="0">
            <a:spAutoFit/>
          </a:bodyPr>
          <a:lstStyle/>
          <a:p>
            <a:pPr algn="ctr"/>
            <a:r>
              <a:rPr lang="en-ZA" sz="900" b="1" dirty="0">
                <a:solidFill>
                  <a:schemeClr val="bg1"/>
                </a:solidFill>
              </a:rPr>
              <a:t>Niche</a:t>
            </a:r>
          </a:p>
        </p:txBody>
      </p:sp>
      <p:sp>
        <p:nvSpPr>
          <p:cNvPr id="93" name="TextBox 92"/>
          <p:cNvSpPr txBox="1"/>
          <p:nvPr/>
        </p:nvSpPr>
        <p:spPr>
          <a:xfrm>
            <a:off x="2606690" y="1504423"/>
            <a:ext cx="540000" cy="230832"/>
          </a:xfrm>
          <a:prstGeom prst="rect">
            <a:avLst/>
          </a:prstGeom>
          <a:solidFill>
            <a:srgbClr val="002E5A"/>
          </a:solidFill>
        </p:spPr>
        <p:txBody>
          <a:bodyPr wrap="square" rtlCol="0">
            <a:spAutoFit/>
          </a:bodyPr>
          <a:lstStyle/>
          <a:p>
            <a:pPr algn="ctr"/>
            <a:r>
              <a:rPr lang="en-ZA" sz="900" b="1" dirty="0">
                <a:solidFill>
                  <a:schemeClr val="bg1"/>
                </a:solidFill>
              </a:rPr>
              <a:t>IB’s</a:t>
            </a:r>
          </a:p>
        </p:txBody>
      </p:sp>
      <p:sp>
        <p:nvSpPr>
          <p:cNvPr id="94" name="TextBox 93"/>
          <p:cNvSpPr txBox="1"/>
          <p:nvPr/>
        </p:nvSpPr>
        <p:spPr>
          <a:xfrm>
            <a:off x="1891569" y="1504423"/>
            <a:ext cx="540000" cy="230832"/>
          </a:xfrm>
          <a:prstGeom prst="rect">
            <a:avLst/>
          </a:prstGeom>
          <a:solidFill>
            <a:srgbClr val="002E5A"/>
          </a:solidFill>
        </p:spPr>
        <p:txBody>
          <a:bodyPr wrap="square" rtlCol="0">
            <a:spAutoFit/>
          </a:bodyPr>
          <a:lstStyle/>
          <a:p>
            <a:pPr algn="ctr"/>
            <a:r>
              <a:rPr lang="en-ZA" sz="900" b="1" dirty="0">
                <a:solidFill>
                  <a:schemeClr val="bg1"/>
                </a:solidFill>
              </a:rPr>
              <a:t>CF’s</a:t>
            </a:r>
          </a:p>
        </p:txBody>
      </p:sp>
      <p:sp>
        <p:nvSpPr>
          <p:cNvPr id="95" name="Ellipse 85"/>
          <p:cNvSpPr/>
          <p:nvPr/>
        </p:nvSpPr>
        <p:spPr bwMode="gray">
          <a:xfrm>
            <a:off x="2142388" y="1770988"/>
            <a:ext cx="144000" cy="144000"/>
          </a:xfrm>
          <a:prstGeom prst="ellipse">
            <a:avLst/>
          </a:prstGeom>
          <a:solidFill>
            <a:srgbClr val="00B05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96" name="Ellipse 85"/>
          <p:cNvSpPr/>
          <p:nvPr/>
        </p:nvSpPr>
        <p:spPr bwMode="gray">
          <a:xfrm>
            <a:off x="2142388" y="2026258"/>
            <a:ext cx="144000" cy="144000"/>
          </a:xfrm>
          <a:prstGeom prst="ellipse">
            <a:avLst/>
          </a:prstGeom>
          <a:solidFill>
            <a:srgbClr val="00B05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97" name="Ellipse 85"/>
          <p:cNvSpPr/>
          <p:nvPr/>
        </p:nvSpPr>
        <p:spPr bwMode="gray">
          <a:xfrm>
            <a:off x="2142388" y="2281528"/>
            <a:ext cx="144000" cy="144000"/>
          </a:xfrm>
          <a:prstGeom prst="ellipse">
            <a:avLst/>
          </a:prstGeom>
          <a:solidFill>
            <a:srgbClr val="00B05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98" name="Ellipse 85"/>
          <p:cNvSpPr/>
          <p:nvPr/>
        </p:nvSpPr>
        <p:spPr bwMode="gray">
          <a:xfrm>
            <a:off x="2142388" y="2536798"/>
            <a:ext cx="144000" cy="144000"/>
          </a:xfrm>
          <a:prstGeom prst="ellipse">
            <a:avLst/>
          </a:prstGeom>
          <a:solidFill>
            <a:srgbClr val="00B05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99" name="Ellipse 85"/>
          <p:cNvSpPr/>
          <p:nvPr/>
        </p:nvSpPr>
        <p:spPr bwMode="gray">
          <a:xfrm>
            <a:off x="2142388" y="2792068"/>
            <a:ext cx="144000" cy="144000"/>
          </a:xfrm>
          <a:prstGeom prst="ellipse">
            <a:avLst/>
          </a:prstGeom>
          <a:solidFill>
            <a:srgbClr val="FF000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103" name="Ellipse 85"/>
          <p:cNvSpPr/>
          <p:nvPr/>
        </p:nvSpPr>
        <p:spPr bwMode="gray">
          <a:xfrm>
            <a:off x="2142388" y="3047338"/>
            <a:ext cx="144000" cy="144000"/>
          </a:xfrm>
          <a:prstGeom prst="ellipse">
            <a:avLst/>
          </a:prstGeom>
          <a:solidFill>
            <a:srgbClr val="00B05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107" name="Ellipse 85"/>
          <p:cNvSpPr/>
          <p:nvPr/>
        </p:nvSpPr>
        <p:spPr bwMode="gray">
          <a:xfrm>
            <a:off x="2780563" y="1780513"/>
            <a:ext cx="144000" cy="144000"/>
          </a:xfrm>
          <a:prstGeom prst="ellipse">
            <a:avLst/>
          </a:prstGeom>
          <a:solidFill>
            <a:srgbClr val="FFFF0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108" name="Ellipse 85"/>
          <p:cNvSpPr/>
          <p:nvPr/>
        </p:nvSpPr>
        <p:spPr bwMode="gray">
          <a:xfrm>
            <a:off x="2780563" y="2035783"/>
            <a:ext cx="144000" cy="144000"/>
          </a:xfrm>
          <a:prstGeom prst="ellipse">
            <a:avLst/>
          </a:prstGeom>
          <a:solidFill>
            <a:srgbClr val="00B05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120" name="Ellipse 85"/>
          <p:cNvSpPr/>
          <p:nvPr/>
        </p:nvSpPr>
        <p:spPr bwMode="gray">
          <a:xfrm>
            <a:off x="2780563" y="2291053"/>
            <a:ext cx="144000" cy="144000"/>
          </a:xfrm>
          <a:prstGeom prst="ellipse">
            <a:avLst/>
          </a:prstGeom>
          <a:solidFill>
            <a:srgbClr val="00B05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125" name="Ellipse 85"/>
          <p:cNvSpPr/>
          <p:nvPr/>
        </p:nvSpPr>
        <p:spPr bwMode="gray">
          <a:xfrm>
            <a:off x="2780563" y="2546323"/>
            <a:ext cx="144000" cy="144000"/>
          </a:xfrm>
          <a:prstGeom prst="ellipse">
            <a:avLst/>
          </a:prstGeom>
          <a:solidFill>
            <a:srgbClr val="00B05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126" name="Ellipse 85"/>
          <p:cNvSpPr/>
          <p:nvPr/>
        </p:nvSpPr>
        <p:spPr bwMode="gray">
          <a:xfrm>
            <a:off x="2780563" y="2801593"/>
            <a:ext cx="144000" cy="144000"/>
          </a:xfrm>
          <a:prstGeom prst="ellipse">
            <a:avLst/>
          </a:prstGeom>
          <a:solidFill>
            <a:srgbClr val="FF000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127" name="Ellipse 85"/>
          <p:cNvSpPr/>
          <p:nvPr/>
        </p:nvSpPr>
        <p:spPr bwMode="gray">
          <a:xfrm>
            <a:off x="2780563" y="3056863"/>
            <a:ext cx="144000" cy="144000"/>
          </a:xfrm>
          <a:prstGeom prst="ellipse">
            <a:avLst/>
          </a:prstGeom>
          <a:solidFill>
            <a:srgbClr val="00B05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128" name="Ellipse 85"/>
          <p:cNvSpPr/>
          <p:nvPr/>
        </p:nvSpPr>
        <p:spPr bwMode="gray">
          <a:xfrm>
            <a:off x="3466363" y="1780513"/>
            <a:ext cx="144000" cy="144000"/>
          </a:xfrm>
          <a:prstGeom prst="ellipse">
            <a:avLst/>
          </a:prstGeom>
          <a:solidFill>
            <a:srgbClr val="FFFF0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132" name="Ellipse 85"/>
          <p:cNvSpPr/>
          <p:nvPr/>
        </p:nvSpPr>
        <p:spPr bwMode="gray">
          <a:xfrm>
            <a:off x="3466363" y="2035783"/>
            <a:ext cx="144000" cy="144000"/>
          </a:xfrm>
          <a:prstGeom prst="ellipse">
            <a:avLst/>
          </a:prstGeom>
          <a:solidFill>
            <a:srgbClr val="FFFF0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138" name="Ellipse 85"/>
          <p:cNvSpPr/>
          <p:nvPr/>
        </p:nvSpPr>
        <p:spPr bwMode="gray">
          <a:xfrm>
            <a:off x="3466363" y="2291053"/>
            <a:ext cx="144000" cy="144000"/>
          </a:xfrm>
          <a:prstGeom prst="ellipse">
            <a:avLst/>
          </a:prstGeom>
          <a:solidFill>
            <a:srgbClr val="00B05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145" name="Ellipse 85"/>
          <p:cNvSpPr/>
          <p:nvPr/>
        </p:nvSpPr>
        <p:spPr bwMode="gray">
          <a:xfrm>
            <a:off x="3466363" y="2546323"/>
            <a:ext cx="144000" cy="144000"/>
          </a:xfrm>
          <a:prstGeom prst="ellipse">
            <a:avLst/>
          </a:prstGeom>
          <a:solidFill>
            <a:srgbClr val="00B05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146" name="Ellipse 85"/>
          <p:cNvSpPr/>
          <p:nvPr/>
        </p:nvSpPr>
        <p:spPr bwMode="gray">
          <a:xfrm>
            <a:off x="3466363" y="2801593"/>
            <a:ext cx="144000" cy="144000"/>
          </a:xfrm>
          <a:prstGeom prst="ellipse">
            <a:avLst/>
          </a:prstGeom>
          <a:solidFill>
            <a:srgbClr val="FFFF0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147" name="Ellipse 85"/>
          <p:cNvSpPr/>
          <p:nvPr/>
        </p:nvSpPr>
        <p:spPr bwMode="gray">
          <a:xfrm>
            <a:off x="3466363" y="3056863"/>
            <a:ext cx="144000" cy="144000"/>
          </a:xfrm>
          <a:prstGeom prst="ellipse">
            <a:avLst/>
          </a:prstGeom>
          <a:solidFill>
            <a:srgbClr val="FFFF0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grpSp>
        <p:nvGrpSpPr>
          <p:cNvPr id="148" name="Group 147"/>
          <p:cNvGrpSpPr/>
          <p:nvPr/>
        </p:nvGrpSpPr>
        <p:grpSpPr>
          <a:xfrm>
            <a:off x="3964571" y="1315783"/>
            <a:ext cx="720000" cy="720000"/>
            <a:chOff x="595024" y="4572000"/>
            <a:chExt cx="1440000" cy="1440000"/>
          </a:xfrm>
        </p:grpSpPr>
        <p:sp>
          <p:nvSpPr>
            <p:cNvPr id="149" name="Oval 148"/>
            <p:cNvSpPr/>
            <p:nvPr/>
          </p:nvSpPr>
          <p:spPr>
            <a:xfrm>
              <a:off x="595024" y="4572000"/>
              <a:ext cx="1440000" cy="1440000"/>
            </a:xfrm>
            <a:prstGeom prst="ellipse">
              <a:avLst/>
            </a:prstGeom>
            <a:solidFill>
              <a:srgbClr val="002E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50" name="Oval 149"/>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grpSp>
      <p:pic>
        <p:nvPicPr>
          <p:cNvPr id="4" name="Picture 3"/>
          <p:cNvPicPr>
            <a:picLocks noChangeAspect="1"/>
          </p:cNvPicPr>
          <p:nvPr/>
        </p:nvPicPr>
        <p:blipFill>
          <a:blip r:embed="rId13"/>
          <a:stretch>
            <a:fillRect/>
          </a:stretch>
        </p:blipFill>
        <p:spPr>
          <a:xfrm>
            <a:off x="4092475" y="1576235"/>
            <a:ext cx="472032" cy="204278"/>
          </a:xfrm>
          <a:prstGeom prst="rect">
            <a:avLst/>
          </a:prstGeom>
        </p:spPr>
      </p:pic>
      <p:sp>
        <p:nvSpPr>
          <p:cNvPr id="155" name="Rectangle 20"/>
          <p:cNvSpPr>
            <a:spLocks noChangeArrowheads="1"/>
          </p:cNvSpPr>
          <p:nvPr/>
        </p:nvSpPr>
        <p:spPr bwMode="gray">
          <a:xfrm>
            <a:off x="3872163" y="2067222"/>
            <a:ext cx="909355" cy="252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dirty="0">
                <a:effectLst/>
                <a:ea typeface="Times New Roman" panose="02020603050405020304" pitchFamily="18" charset="0"/>
              </a:rPr>
              <a:t>BEE rating</a:t>
            </a:r>
          </a:p>
        </p:txBody>
      </p:sp>
      <p:sp>
        <p:nvSpPr>
          <p:cNvPr id="157" name="Rectangle 20"/>
          <p:cNvSpPr>
            <a:spLocks noChangeArrowheads="1"/>
          </p:cNvSpPr>
          <p:nvPr/>
        </p:nvSpPr>
        <p:spPr bwMode="gray">
          <a:xfrm>
            <a:off x="3872163" y="2367041"/>
            <a:ext cx="909355" cy="252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dirty="0">
                <a:effectLst/>
                <a:ea typeface="Times New Roman" panose="02020603050405020304" pitchFamily="18" charset="0"/>
              </a:rPr>
              <a:t>Pricing</a:t>
            </a:r>
          </a:p>
        </p:txBody>
      </p:sp>
      <p:sp>
        <p:nvSpPr>
          <p:cNvPr id="175" name="Rectangle 20"/>
          <p:cNvSpPr>
            <a:spLocks noChangeArrowheads="1"/>
          </p:cNvSpPr>
          <p:nvPr/>
        </p:nvSpPr>
        <p:spPr bwMode="gray">
          <a:xfrm>
            <a:off x="3865014" y="2664407"/>
            <a:ext cx="909355" cy="252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dirty="0">
                <a:effectLst/>
                <a:ea typeface="Times New Roman" panose="02020603050405020304" pitchFamily="18" charset="0"/>
              </a:rPr>
              <a:t>Own our niche – SF/Strat</a:t>
            </a:r>
          </a:p>
        </p:txBody>
      </p:sp>
      <p:sp>
        <p:nvSpPr>
          <p:cNvPr id="176" name="Rectangle 20"/>
          <p:cNvSpPr>
            <a:spLocks noChangeArrowheads="1"/>
          </p:cNvSpPr>
          <p:nvPr/>
        </p:nvSpPr>
        <p:spPr bwMode="gray">
          <a:xfrm>
            <a:off x="3865013" y="2971096"/>
            <a:ext cx="909355" cy="252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dirty="0">
                <a:ea typeface="Times New Roman" panose="02020603050405020304" pitchFamily="18" charset="0"/>
              </a:rPr>
              <a:t>Tap into skills across org.</a:t>
            </a:r>
            <a:endParaRPr lang="en-ZA" sz="800" dirty="0">
              <a:effectLst/>
              <a:ea typeface="Times New Roman" panose="02020603050405020304" pitchFamily="18" charset="0"/>
            </a:endParaRPr>
          </a:p>
        </p:txBody>
      </p:sp>
      <p:sp>
        <p:nvSpPr>
          <p:cNvPr id="151" name="Rectangle 150"/>
          <p:cNvSpPr/>
          <p:nvPr/>
        </p:nvSpPr>
        <p:spPr>
          <a:xfrm>
            <a:off x="8046980" y="1243536"/>
            <a:ext cx="1100466" cy="369332"/>
          </a:xfrm>
          <a:prstGeom prst="rect">
            <a:avLst/>
          </a:prstGeom>
        </p:spPr>
        <p:txBody>
          <a:bodyPr wrap="square">
            <a:spAutoFit/>
          </a:bodyPr>
          <a:lstStyle/>
          <a:p>
            <a:pPr algn="ctr"/>
            <a:r>
              <a:rPr lang="en-ZA" sz="900" b="1" dirty="0"/>
              <a:t># of projects in pipeline</a:t>
            </a:r>
          </a:p>
        </p:txBody>
      </p:sp>
      <p:sp>
        <p:nvSpPr>
          <p:cNvPr id="152" name="Rectangle 20"/>
          <p:cNvSpPr>
            <a:spLocks noChangeArrowheads="1"/>
          </p:cNvSpPr>
          <p:nvPr/>
        </p:nvSpPr>
        <p:spPr bwMode="gray">
          <a:xfrm>
            <a:off x="8350189" y="1581704"/>
            <a:ext cx="527717" cy="216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dirty="0">
                <a:latin typeface="Arial" panose="020B0604020202020204" pitchFamily="34" charset="0"/>
                <a:ea typeface="Times New Roman" panose="02020603050405020304" pitchFamily="18" charset="0"/>
              </a:rPr>
              <a:t>2</a:t>
            </a:r>
            <a:endParaRPr lang="en-ZA" sz="1050" dirty="0">
              <a:effectLst/>
              <a:latin typeface="Times New Roman" panose="02020603050405020304" pitchFamily="18" charset="0"/>
              <a:ea typeface="Times New Roman" panose="02020603050405020304" pitchFamily="18" charset="0"/>
            </a:endParaRPr>
          </a:p>
        </p:txBody>
      </p:sp>
      <p:sp>
        <p:nvSpPr>
          <p:cNvPr id="153" name="Rectangle 20"/>
          <p:cNvSpPr>
            <a:spLocks noChangeArrowheads="1"/>
          </p:cNvSpPr>
          <p:nvPr/>
        </p:nvSpPr>
        <p:spPr bwMode="gray">
          <a:xfrm>
            <a:off x="8350189" y="2304432"/>
            <a:ext cx="527717" cy="211561"/>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dirty="0">
                <a:latin typeface="Arial" panose="020B0604020202020204" pitchFamily="34" charset="0"/>
                <a:ea typeface="Times New Roman" panose="02020603050405020304" pitchFamily="18" charset="0"/>
              </a:rPr>
              <a:t>3</a:t>
            </a:r>
            <a:endParaRPr lang="en-ZA" sz="1050" dirty="0">
              <a:effectLst/>
              <a:latin typeface="Times New Roman" panose="02020603050405020304" pitchFamily="18" charset="0"/>
              <a:ea typeface="Times New Roman" panose="02020603050405020304" pitchFamily="18" charset="0"/>
            </a:endParaRPr>
          </a:p>
        </p:txBody>
      </p:sp>
      <p:sp>
        <p:nvSpPr>
          <p:cNvPr id="154" name="Rectangle 20"/>
          <p:cNvSpPr>
            <a:spLocks noChangeArrowheads="1"/>
          </p:cNvSpPr>
          <p:nvPr/>
        </p:nvSpPr>
        <p:spPr bwMode="gray">
          <a:xfrm>
            <a:off x="5919357" y="3108868"/>
            <a:ext cx="1202957" cy="260293"/>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dirty="0">
                <a:latin typeface="Arial" panose="020B0604020202020204" pitchFamily="34" charset="0"/>
                <a:ea typeface="Times New Roman" panose="02020603050405020304" pitchFamily="18" charset="0"/>
              </a:rPr>
              <a:t>Action: </a:t>
            </a:r>
            <a:r>
              <a:rPr lang="en-ZA" sz="800" dirty="0">
                <a:latin typeface="Arial" panose="020B0604020202020204" pitchFamily="34" charset="0"/>
                <a:ea typeface="Times New Roman" panose="02020603050405020304" pitchFamily="18" charset="0"/>
              </a:rPr>
              <a:t>BD initiatives</a:t>
            </a:r>
            <a:endParaRPr lang="en-ZA" sz="1050" dirty="0">
              <a:effectLst/>
              <a:latin typeface="Times New Roman" panose="02020603050405020304" pitchFamily="18" charset="0"/>
              <a:ea typeface="Times New Roman" panose="02020603050405020304" pitchFamily="18" charset="0"/>
            </a:endParaRPr>
          </a:p>
        </p:txBody>
      </p:sp>
      <p:sp>
        <p:nvSpPr>
          <p:cNvPr id="161" name="TextBox 160"/>
          <p:cNvSpPr txBox="1"/>
          <p:nvPr/>
        </p:nvSpPr>
        <p:spPr>
          <a:xfrm>
            <a:off x="369346" y="3926164"/>
            <a:ext cx="4397285" cy="2265873"/>
          </a:xfrm>
          <a:prstGeom prst="rect">
            <a:avLst/>
          </a:prstGeom>
          <a:solidFill>
            <a:schemeClr val="bg1"/>
          </a:solidFill>
          <a:ln>
            <a:solidFill>
              <a:schemeClr val="bg1"/>
            </a:solidFill>
          </a:ln>
        </p:spPr>
        <p:txBody>
          <a:bodyPr wrap="square" rtlCol="0">
            <a:noAutofit/>
          </a:bodyPr>
          <a:lstStyle/>
          <a:p>
            <a:pPr>
              <a:spcBef>
                <a:spcPts val="600"/>
              </a:spcBef>
            </a:pPr>
            <a:endParaRPr lang="en-ZA" sz="900" dirty="0"/>
          </a:p>
          <a:p>
            <a:pPr marL="285750" indent="-285750">
              <a:spcBef>
                <a:spcPts val="600"/>
              </a:spcBef>
              <a:spcAft>
                <a:spcPts val="600"/>
              </a:spcAft>
              <a:buFont typeface="Wingdings" panose="05000000000000000000" pitchFamily="2" charset="2"/>
              <a:buChar char="§"/>
            </a:pPr>
            <a:r>
              <a:rPr lang="en-ZA" sz="900" dirty="0"/>
              <a:t>We are a niche </a:t>
            </a:r>
            <a:r>
              <a:rPr lang="en-ZA" sz="900" b="1" dirty="0"/>
              <a:t>level two BB-BEE </a:t>
            </a:r>
            <a:r>
              <a:rPr lang="en-ZA" sz="900" dirty="0"/>
              <a:t>business which provides end to end financial advisory services with extensive experience advising on large public sector projects</a:t>
            </a:r>
          </a:p>
          <a:p>
            <a:pPr marL="285750" indent="-285750">
              <a:spcBef>
                <a:spcPts val="600"/>
              </a:spcBef>
              <a:spcAft>
                <a:spcPts val="600"/>
              </a:spcAft>
              <a:buFont typeface="Wingdings" panose="05000000000000000000" pitchFamily="2" charset="2"/>
              <a:buChar char="§"/>
            </a:pPr>
            <a:r>
              <a:rPr lang="en-ZA" sz="900" dirty="0"/>
              <a:t>The Specialised Finance business within Trillian Financial Advisory provides innovative, </a:t>
            </a:r>
            <a:r>
              <a:rPr lang="en-ZA" sz="900" b="1" dirty="0"/>
              <a:t>client focused corporate finance and strategy solutions</a:t>
            </a:r>
            <a:r>
              <a:rPr lang="en-ZA" sz="900" dirty="0"/>
              <a:t>.</a:t>
            </a:r>
          </a:p>
          <a:p>
            <a:pPr marL="285750" indent="-285750">
              <a:spcBef>
                <a:spcPts val="600"/>
              </a:spcBef>
              <a:spcAft>
                <a:spcPts val="600"/>
              </a:spcAft>
              <a:buFont typeface="Wingdings" panose="05000000000000000000" pitchFamily="2" charset="2"/>
              <a:buChar char="§"/>
            </a:pPr>
            <a:r>
              <a:rPr lang="en-ZA" sz="900" dirty="0"/>
              <a:t>Our clients are an invaluable part of our advisory process and as such, we believe in </a:t>
            </a:r>
            <a:r>
              <a:rPr lang="en-ZA" sz="900" b="1" dirty="0"/>
              <a:t>working in a collaborative </a:t>
            </a:r>
            <a:r>
              <a:rPr lang="en-ZA" sz="900" dirty="0"/>
              <a:t>and interactive manner</a:t>
            </a:r>
          </a:p>
          <a:p>
            <a:pPr marL="285750" indent="-285750">
              <a:spcBef>
                <a:spcPts val="600"/>
              </a:spcBef>
              <a:spcAft>
                <a:spcPts val="600"/>
              </a:spcAft>
              <a:buFont typeface="Wingdings" panose="05000000000000000000" pitchFamily="2" charset="2"/>
              <a:buChar char="§"/>
            </a:pPr>
            <a:r>
              <a:rPr lang="en-ZA" sz="900" dirty="0"/>
              <a:t>Our team members </a:t>
            </a:r>
            <a:r>
              <a:rPr lang="en-ZA" sz="900" b="1" dirty="0"/>
              <a:t>work with integrity </a:t>
            </a:r>
            <a:r>
              <a:rPr lang="en-ZA" sz="900" dirty="0"/>
              <a:t>and efficiency in order to guarantee client satisfaction.</a:t>
            </a:r>
          </a:p>
        </p:txBody>
      </p:sp>
    </p:spTree>
    <p:extLst>
      <p:ext uri="{BB962C8B-B14F-4D97-AF65-F5344CB8AC3E}">
        <p14:creationId xmlns:p14="http://schemas.microsoft.com/office/powerpoint/2010/main" val="1289135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extLst>
              <p:ext uri="{D42A27DB-BD31-4B8C-83A1-F6EECF244321}">
                <p14:modId xmlns:p14="http://schemas.microsoft.com/office/powerpoint/2010/main" val="387439874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6950" name="think-cell Slide" r:id="rId8" imgW="216" imgH="216" progId="TCLayout.ActiveDocument.1">
                  <p:embed/>
                </p:oleObj>
              </mc:Choice>
              <mc:Fallback>
                <p:oleObj name="think-cell Slide" r:id="rId8" imgW="216" imgH="216" progId="TCLayout.ActiveDocument.1">
                  <p:embed/>
                  <p:pic>
                    <p:nvPicPr>
                      <p:cNvPr id="0" name=""/>
                      <p:cNvPicPr/>
                      <p:nvPr/>
                    </p:nvPicPr>
                    <p:blipFill>
                      <a:blip r:embed="rId9"/>
                      <a:stretch>
                        <a:fillRect/>
                      </a:stretch>
                    </p:blipFill>
                    <p:spPr>
                      <a:xfrm>
                        <a:off x="1588" y="1588"/>
                        <a:ext cx="1587" cy="1587"/>
                      </a:xfrm>
                      <a:prstGeom prst="rect">
                        <a:avLst/>
                      </a:prstGeom>
                    </p:spPr>
                  </p:pic>
                </p:oleObj>
              </mc:Fallback>
            </mc:AlternateContent>
          </a:graphicData>
        </a:graphic>
      </p:graphicFrame>
      <p:sp>
        <p:nvSpPr>
          <p:cNvPr id="86" name="TextBox 85"/>
          <p:cNvSpPr txBox="1"/>
          <p:nvPr/>
        </p:nvSpPr>
        <p:spPr>
          <a:xfrm>
            <a:off x="339361" y="1236555"/>
            <a:ext cx="4500000"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endParaRPr lang="en-ZA" sz="900" dirty="0"/>
          </a:p>
        </p:txBody>
      </p:sp>
      <p:sp>
        <p:nvSpPr>
          <p:cNvPr id="3" name="Title 2"/>
          <p:cNvSpPr>
            <a:spLocks noGrp="1"/>
          </p:cNvSpPr>
          <p:nvPr>
            <p:ph type="title"/>
          </p:nvPr>
        </p:nvSpPr>
        <p:spPr/>
        <p:txBody>
          <a:bodyPr>
            <a:normAutofit fontScale="90000"/>
          </a:bodyPr>
          <a:lstStyle/>
          <a:p>
            <a:r>
              <a:rPr lang="en-ZA" sz="2200" dirty="0"/>
              <a:t>Specialised Finance strategy snapshot : Internal analysis</a:t>
            </a:r>
            <a:br>
              <a:rPr lang="en-ZA" sz="2000" dirty="0">
                <a:solidFill>
                  <a:schemeClr val="bg1">
                    <a:lumMod val="65000"/>
                  </a:schemeClr>
                </a:solidFill>
              </a:rPr>
            </a:br>
            <a:r>
              <a:rPr lang="en-ZA" sz="2000" dirty="0">
                <a:solidFill>
                  <a:schemeClr val="bg1">
                    <a:lumMod val="65000"/>
                  </a:schemeClr>
                </a:solidFill>
              </a:rPr>
              <a:t>“</a:t>
            </a:r>
            <a:r>
              <a:rPr lang="en-ZA" sz="1300" dirty="0"/>
              <a:t>The secret to success is to do common things uncommonly well” -  John D. Rockefeller</a:t>
            </a:r>
            <a:endParaRPr lang="en-GB" sz="1300" dirty="0"/>
          </a:p>
        </p:txBody>
      </p:sp>
      <p:sp>
        <p:nvSpPr>
          <p:cNvPr id="9" name="TextBox 8"/>
          <p:cNvSpPr txBox="1"/>
          <p:nvPr/>
        </p:nvSpPr>
        <p:spPr>
          <a:xfrm>
            <a:off x="342197" y="965723"/>
            <a:ext cx="4500000" cy="262294"/>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Analysis: Team, culture and processes </a:t>
            </a:r>
          </a:p>
        </p:txBody>
      </p:sp>
      <p:sp>
        <p:nvSpPr>
          <p:cNvPr id="12" name="TextBox 11"/>
          <p:cNvSpPr txBox="1"/>
          <p:nvPr/>
        </p:nvSpPr>
        <p:spPr>
          <a:xfrm>
            <a:off x="342953" y="3643735"/>
            <a:ext cx="4499244" cy="254597"/>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Development: </a:t>
            </a:r>
            <a:r>
              <a:rPr lang="en-ZA" dirty="0"/>
              <a:t>70-20-10 learning model will be utilised</a:t>
            </a:r>
            <a:endParaRPr lang="en-GB" dirty="0"/>
          </a:p>
        </p:txBody>
      </p:sp>
      <p:sp>
        <p:nvSpPr>
          <p:cNvPr id="24" name="TextBox 23"/>
          <p:cNvSpPr txBox="1"/>
          <p:nvPr/>
        </p:nvSpPr>
        <p:spPr>
          <a:xfrm>
            <a:off x="355121" y="3908204"/>
            <a:ext cx="4487076"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pPr lvl="0" defTabSz="914077">
              <a:spcBef>
                <a:spcPts val="675"/>
              </a:spcBef>
            </a:pPr>
            <a:endParaRPr kumimoji="0" lang="en-IN" sz="900" b="0" i="0" u="none" strike="noStrike" kern="0" cap="none" spc="0" normalizeH="0" baseline="0" noProof="0" dirty="0">
              <a:ln>
                <a:noFill/>
              </a:ln>
              <a:solidFill>
                <a:prstClr val="black">
                  <a:lumMod val="65000"/>
                  <a:lumOff val="35000"/>
                </a:prstClr>
              </a:solidFill>
              <a:effectLst/>
              <a:uLnTx/>
              <a:uFillTx/>
              <a:ea typeface="+mn-ea"/>
              <a:cs typeface="+mn-cs"/>
            </a:endParaRPr>
          </a:p>
        </p:txBody>
      </p:sp>
      <p:sp>
        <p:nvSpPr>
          <p:cNvPr id="130" name="TextBox 129"/>
          <p:cNvSpPr txBox="1"/>
          <p:nvPr/>
        </p:nvSpPr>
        <p:spPr>
          <a:xfrm>
            <a:off x="5069358" y="3653211"/>
            <a:ext cx="4500000" cy="255200"/>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Priorities: Critical success factors</a:t>
            </a:r>
          </a:p>
        </p:txBody>
      </p:sp>
      <p:sp>
        <p:nvSpPr>
          <p:cNvPr id="131" name="TextBox 130"/>
          <p:cNvSpPr txBox="1"/>
          <p:nvPr/>
        </p:nvSpPr>
        <p:spPr>
          <a:xfrm>
            <a:off x="5069358" y="3908204"/>
            <a:ext cx="4500000"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pPr lvl="0" defTabSz="914077">
              <a:spcBef>
                <a:spcPts val="675"/>
              </a:spcBef>
            </a:pPr>
            <a:endParaRPr kumimoji="0" lang="en-IN" sz="900" b="0" i="0" u="none" strike="noStrike" kern="0" cap="none" spc="0" normalizeH="0" baseline="0" noProof="0" dirty="0">
              <a:ln>
                <a:noFill/>
              </a:ln>
              <a:solidFill>
                <a:prstClr val="black">
                  <a:lumMod val="65000"/>
                  <a:lumOff val="35000"/>
                </a:prstClr>
              </a:solidFill>
              <a:effectLst/>
              <a:uLnTx/>
              <a:uFillTx/>
              <a:ea typeface="+mn-ea"/>
              <a:cs typeface="+mn-cs"/>
            </a:endParaRPr>
          </a:p>
        </p:txBody>
      </p:sp>
      <p:sp>
        <p:nvSpPr>
          <p:cNvPr id="115" name="Donut 114"/>
          <p:cNvSpPr/>
          <p:nvPr/>
        </p:nvSpPr>
        <p:spPr>
          <a:xfrm>
            <a:off x="355121" y="977665"/>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1</a:t>
            </a:r>
          </a:p>
        </p:txBody>
      </p:sp>
      <p:sp>
        <p:nvSpPr>
          <p:cNvPr id="116" name="TextBox 115"/>
          <p:cNvSpPr txBox="1"/>
          <p:nvPr/>
        </p:nvSpPr>
        <p:spPr>
          <a:xfrm>
            <a:off x="5056924" y="961104"/>
            <a:ext cx="4500000" cy="266214"/>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Operating framework – cross functional teamwork</a:t>
            </a:r>
          </a:p>
        </p:txBody>
      </p:sp>
      <p:sp>
        <p:nvSpPr>
          <p:cNvPr id="117" name="TextBox 116"/>
          <p:cNvSpPr txBox="1"/>
          <p:nvPr/>
        </p:nvSpPr>
        <p:spPr>
          <a:xfrm>
            <a:off x="5063761" y="1236555"/>
            <a:ext cx="4500000"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endParaRPr lang="en-ZA" sz="900" dirty="0"/>
          </a:p>
        </p:txBody>
      </p:sp>
      <p:sp>
        <p:nvSpPr>
          <p:cNvPr id="118" name="Donut 117"/>
          <p:cNvSpPr/>
          <p:nvPr/>
        </p:nvSpPr>
        <p:spPr>
          <a:xfrm>
            <a:off x="5066161" y="991607"/>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2</a:t>
            </a:r>
          </a:p>
        </p:txBody>
      </p:sp>
      <p:sp>
        <p:nvSpPr>
          <p:cNvPr id="168" name="Donut 167"/>
          <p:cNvSpPr/>
          <p:nvPr/>
        </p:nvSpPr>
        <p:spPr>
          <a:xfrm>
            <a:off x="355121" y="3643737"/>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3</a:t>
            </a:r>
          </a:p>
        </p:txBody>
      </p:sp>
      <p:sp>
        <p:nvSpPr>
          <p:cNvPr id="169" name="Donut 168"/>
          <p:cNvSpPr/>
          <p:nvPr/>
        </p:nvSpPr>
        <p:spPr>
          <a:xfrm>
            <a:off x="5066161" y="3656204"/>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4</a:t>
            </a:r>
          </a:p>
        </p:txBody>
      </p:sp>
      <p:sp>
        <p:nvSpPr>
          <p:cNvPr id="16" name="Right Arrow 15"/>
          <p:cNvSpPr/>
          <p:nvPr/>
        </p:nvSpPr>
        <p:spPr>
          <a:xfrm>
            <a:off x="5198681" y="5833049"/>
            <a:ext cx="4263013" cy="272702"/>
          </a:xfrm>
          <a:prstGeom prst="rightArrow">
            <a:avLst>
              <a:gd name="adj1" fmla="val 50000"/>
              <a:gd name="adj2" fmla="val 128288"/>
            </a:avLst>
          </a:prstGeom>
          <a:solidFill>
            <a:schemeClr val="tx2">
              <a:lumMod val="90000"/>
              <a:lumOff val="10000"/>
            </a:schemeClr>
          </a:solidFill>
          <a:ln>
            <a:solidFill>
              <a:schemeClr val="tx2">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900" dirty="0"/>
          </a:p>
        </p:txBody>
      </p:sp>
      <p:sp>
        <p:nvSpPr>
          <p:cNvPr id="18" name="TextBox 17"/>
          <p:cNvSpPr txBox="1"/>
          <p:nvPr/>
        </p:nvSpPr>
        <p:spPr>
          <a:xfrm>
            <a:off x="8196584" y="6045666"/>
            <a:ext cx="940724" cy="230832"/>
          </a:xfrm>
          <a:prstGeom prst="rect">
            <a:avLst/>
          </a:prstGeom>
          <a:noFill/>
        </p:spPr>
        <p:txBody>
          <a:bodyPr wrap="square" rtlCol="0">
            <a:spAutoFit/>
          </a:bodyPr>
          <a:lstStyle/>
          <a:p>
            <a:pPr algn="ctr"/>
            <a:r>
              <a:rPr lang="en-ZA" sz="900" b="1" dirty="0">
                <a:solidFill>
                  <a:schemeClr val="bg2">
                    <a:lumMod val="50000"/>
                  </a:schemeClr>
                </a:solidFill>
              </a:rPr>
              <a:t>High priority</a:t>
            </a:r>
          </a:p>
        </p:txBody>
      </p:sp>
      <p:sp>
        <p:nvSpPr>
          <p:cNvPr id="19" name="Oval 18"/>
          <p:cNvSpPr/>
          <p:nvPr/>
        </p:nvSpPr>
        <p:spPr>
          <a:xfrm>
            <a:off x="5598705" y="5881442"/>
            <a:ext cx="216000" cy="216000"/>
          </a:xfrm>
          <a:prstGeom prst="ellipse">
            <a:avLst/>
          </a:prstGeom>
          <a:solidFill>
            <a:schemeClr val="accent4">
              <a:lumMod val="75000"/>
            </a:schemeClr>
          </a:solidFill>
          <a:ln>
            <a:solidFill>
              <a:schemeClr val="accent4">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bg2">
                    <a:lumMod val="20000"/>
                    <a:lumOff val="80000"/>
                  </a:schemeClr>
                </a:solidFill>
              </a:rPr>
              <a:t>1</a:t>
            </a:r>
          </a:p>
        </p:txBody>
      </p:sp>
      <p:sp>
        <p:nvSpPr>
          <p:cNvPr id="20" name="Oval 19"/>
          <p:cNvSpPr/>
          <p:nvPr/>
        </p:nvSpPr>
        <p:spPr>
          <a:xfrm>
            <a:off x="6359428" y="5881442"/>
            <a:ext cx="216000" cy="216000"/>
          </a:xfrm>
          <a:prstGeom prst="ellipse">
            <a:avLst/>
          </a:prstGeom>
          <a:solidFill>
            <a:schemeClr val="accent4">
              <a:lumMod val="75000"/>
            </a:schemeClr>
          </a:solidFill>
          <a:ln>
            <a:solidFill>
              <a:schemeClr val="accent4">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bg2">
                    <a:lumMod val="20000"/>
                    <a:lumOff val="80000"/>
                  </a:schemeClr>
                </a:solidFill>
              </a:rPr>
              <a:t>2</a:t>
            </a:r>
          </a:p>
        </p:txBody>
      </p:sp>
      <p:sp>
        <p:nvSpPr>
          <p:cNvPr id="21" name="Oval 20"/>
          <p:cNvSpPr/>
          <p:nvPr/>
        </p:nvSpPr>
        <p:spPr>
          <a:xfrm>
            <a:off x="7120151" y="5881442"/>
            <a:ext cx="216000" cy="216000"/>
          </a:xfrm>
          <a:prstGeom prst="ellipse">
            <a:avLst/>
          </a:prstGeom>
          <a:solidFill>
            <a:schemeClr val="accent4">
              <a:lumMod val="75000"/>
            </a:schemeClr>
          </a:solidFill>
          <a:ln>
            <a:solidFill>
              <a:schemeClr val="accent4">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bg2">
                    <a:lumMod val="20000"/>
                    <a:lumOff val="80000"/>
                  </a:schemeClr>
                </a:solidFill>
              </a:rPr>
              <a:t>3</a:t>
            </a:r>
          </a:p>
        </p:txBody>
      </p:sp>
      <p:sp>
        <p:nvSpPr>
          <p:cNvPr id="22" name="Oval 21"/>
          <p:cNvSpPr/>
          <p:nvPr/>
        </p:nvSpPr>
        <p:spPr>
          <a:xfrm>
            <a:off x="7880874" y="5881442"/>
            <a:ext cx="216000" cy="216000"/>
          </a:xfrm>
          <a:prstGeom prst="ellipse">
            <a:avLst/>
          </a:prstGeom>
          <a:solidFill>
            <a:schemeClr val="accent4">
              <a:lumMod val="75000"/>
            </a:schemeClr>
          </a:solidFill>
          <a:ln>
            <a:solidFill>
              <a:schemeClr val="accent4">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bg2">
                    <a:lumMod val="20000"/>
                    <a:lumOff val="80000"/>
                  </a:schemeClr>
                </a:solidFill>
              </a:rPr>
              <a:t>4</a:t>
            </a:r>
          </a:p>
        </p:txBody>
      </p:sp>
      <p:sp>
        <p:nvSpPr>
          <p:cNvPr id="23" name="Oval 22"/>
          <p:cNvSpPr/>
          <p:nvPr/>
        </p:nvSpPr>
        <p:spPr>
          <a:xfrm>
            <a:off x="8641598" y="5881442"/>
            <a:ext cx="216000" cy="216000"/>
          </a:xfrm>
          <a:prstGeom prst="ellipse">
            <a:avLst/>
          </a:prstGeom>
          <a:solidFill>
            <a:schemeClr val="accent4">
              <a:lumMod val="75000"/>
            </a:schemeClr>
          </a:solidFill>
          <a:ln>
            <a:solidFill>
              <a:schemeClr val="accent4">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bg2">
                    <a:lumMod val="20000"/>
                    <a:lumOff val="80000"/>
                  </a:schemeClr>
                </a:solidFill>
              </a:rPr>
              <a:t>5</a:t>
            </a:r>
          </a:p>
        </p:txBody>
      </p:sp>
      <p:sp>
        <p:nvSpPr>
          <p:cNvPr id="25" name="TextBox 24"/>
          <p:cNvSpPr txBox="1"/>
          <p:nvPr/>
        </p:nvSpPr>
        <p:spPr>
          <a:xfrm>
            <a:off x="5211471" y="6059570"/>
            <a:ext cx="860515" cy="230832"/>
          </a:xfrm>
          <a:prstGeom prst="rect">
            <a:avLst/>
          </a:prstGeom>
          <a:noFill/>
        </p:spPr>
        <p:txBody>
          <a:bodyPr wrap="square" rtlCol="0">
            <a:spAutoFit/>
          </a:bodyPr>
          <a:lstStyle/>
          <a:p>
            <a:pPr algn="ctr"/>
            <a:r>
              <a:rPr lang="en-ZA" sz="900" b="1" dirty="0">
                <a:solidFill>
                  <a:schemeClr val="bg2">
                    <a:lumMod val="50000"/>
                  </a:schemeClr>
                </a:solidFill>
              </a:rPr>
              <a:t>Low priority</a:t>
            </a:r>
          </a:p>
        </p:txBody>
      </p:sp>
      <p:sp>
        <p:nvSpPr>
          <p:cNvPr id="26" name="Freeform 25"/>
          <p:cNvSpPr>
            <a:spLocks/>
          </p:cNvSpPr>
          <p:nvPr/>
        </p:nvSpPr>
        <p:spPr bwMode="gray">
          <a:xfrm>
            <a:off x="716789" y="4098493"/>
            <a:ext cx="2597419" cy="2120147"/>
          </a:xfrm>
          <a:custGeom>
            <a:avLst/>
            <a:gdLst>
              <a:gd name="T0" fmla="*/ 2460 w 2610"/>
              <a:gd name="T1" fmla="*/ 312 h 2928"/>
              <a:gd name="T2" fmla="*/ 2610 w 2610"/>
              <a:gd name="T3" fmla="*/ 312 h 2928"/>
              <a:gd name="T4" fmla="*/ 2364 w 2610"/>
              <a:gd name="T5" fmla="*/ 0 h 2928"/>
              <a:gd name="T6" fmla="*/ 1788 w 2610"/>
              <a:gd name="T7" fmla="*/ 276 h 2928"/>
              <a:gd name="T8" fmla="*/ 1914 w 2610"/>
              <a:gd name="T9" fmla="*/ 276 h 2928"/>
              <a:gd name="T10" fmla="*/ 0 w 2610"/>
              <a:gd name="T11" fmla="*/ 2928 h 2928"/>
              <a:gd name="T12" fmla="*/ 624 w 2610"/>
              <a:gd name="T13" fmla="*/ 2928 h 2928"/>
              <a:gd name="T14" fmla="*/ 2460 w 2610"/>
              <a:gd name="T15" fmla="*/ 312 h 29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10" h="2928">
                <a:moveTo>
                  <a:pt x="2460" y="312"/>
                </a:moveTo>
                <a:lnTo>
                  <a:pt x="2610" y="312"/>
                </a:lnTo>
                <a:lnTo>
                  <a:pt x="2364" y="0"/>
                </a:lnTo>
                <a:lnTo>
                  <a:pt x="1788" y="276"/>
                </a:lnTo>
                <a:lnTo>
                  <a:pt x="1914" y="276"/>
                </a:lnTo>
                <a:lnTo>
                  <a:pt x="0" y="2928"/>
                </a:lnTo>
                <a:lnTo>
                  <a:pt x="624" y="2928"/>
                </a:lnTo>
                <a:lnTo>
                  <a:pt x="2460" y="312"/>
                </a:lnTo>
                <a:close/>
              </a:path>
            </a:pathLst>
          </a:custGeom>
          <a:solidFill>
            <a:schemeClr val="accent4">
              <a:lumMod val="75000"/>
            </a:schemeClr>
          </a:solidFill>
          <a:ln w="9525" cap="flat" cmpd="sng">
            <a:solidFill>
              <a:schemeClr val="accent4">
                <a:lumMod val="75000"/>
              </a:schemeClr>
            </a:solidFill>
            <a:prstDash val="solid"/>
            <a:round/>
            <a:headEnd type="none" w="med" len="med"/>
            <a:tailEnd type="none" w="med" len="med"/>
          </a:ln>
          <a:effectLst/>
          <a:extLst/>
        </p:spPr>
        <p:txBody>
          <a:bodyPr wrap="none" anchor="ctr"/>
          <a:lstStyle>
            <a:defPPr>
              <a:defRPr lang="en-US"/>
            </a:defPPr>
            <a:lvl1pPr algn="l" rtl="0" fontAlgn="base">
              <a:spcBef>
                <a:spcPct val="0"/>
              </a:spcBef>
              <a:spcAft>
                <a:spcPct val="0"/>
              </a:spcAft>
              <a:defRPr sz="1600" kern="1200">
                <a:solidFill>
                  <a:schemeClr val="tx1"/>
                </a:solidFill>
                <a:latin typeface="Arial" charset="0"/>
                <a:ea typeface="+mn-ea"/>
                <a:cs typeface="+mn-cs"/>
              </a:defRPr>
            </a:lvl1pPr>
            <a:lvl2pPr marL="466481" algn="l" rtl="0" fontAlgn="base">
              <a:spcBef>
                <a:spcPct val="0"/>
              </a:spcBef>
              <a:spcAft>
                <a:spcPct val="0"/>
              </a:spcAft>
              <a:defRPr sz="1600" kern="1200">
                <a:solidFill>
                  <a:schemeClr val="tx1"/>
                </a:solidFill>
                <a:latin typeface="Arial" charset="0"/>
                <a:ea typeface="+mn-ea"/>
                <a:cs typeface="+mn-cs"/>
              </a:defRPr>
            </a:lvl2pPr>
            <a:lvl3pPr marL="932962" algn="l" rtl="0" fontAlgn="base">
              <a:spcBef>
                <a:spcPct val="0"/>
              </a:spcBef>
              <a:spcAft>
                <a:spcPct val="0"/>
              </a:spcAft>
              <a:defRPr sz="1600" kern="1200">
                <a:solidFill>
                  <a:schemeClr val="tx1"/>
                </a:solidFill>
                <a:latin typeface="Arial" charset="0"/>
                <a:ea typeface="+mn-ea"/>
                <a:cs typeface="+mn-cs"/>
              </a:defRPr>
            </a:lvl3pPr>
            <a:lvl4pPr marL="1399443" algn="l" rtl="0" fontAlgn="base">
              <a:spcBef>
                <a:spcPct val="0"/>
              </a:spcBef>
              <a:spcAft>
                <a:spcPct val="0"/>
              </a:spcAft>
              <a:defRPr sz="1600" kern="1200">
                <a:solidFill>
                  <a:schemeClr val="tx1"/>
                </a:solidFill>
                <a:latin typeface="Arial" charset="0"/>
                <a:ea typeface="+mn-ea"/>
                <a:cs typeface="+mn-cs"/>
              </a:defRPr>
            </a:lvl4pPr>
            <a:lvl5pPr marL="1865925" algn="l" rtl="0" fontAlgn="base">
              <a:spcBef>
                <a:spcPct val="0"/>
              </a:spcBef>
              <a:spcAft>
                <a:spcPct val="0"/>
              </a:spcAft>
              <a:defRPr sz="1600" kern="1200">
                <a:solidFill>
                  <a:schemeClr val="tx1"/>
                </a:solidFill>
                <a:latin typeface="Arial" charset="0"/>
                <a:ea typeface="+mn-ea"/>
                <a:cs typeface="+mn-cs"/>
              </a:defRPr>
            </a:lvl5pPr>
            <a:lvl6pPr marL="2332406" algn="l" defTabSz="932962" rtl="0" eaLnBrk="1" latinLnBrk="0" hangingPunct="1">
              <a:defRPr sz="1600" kern="1200">
                <a:solidFill>
                  <a:schemeClr val="tx1"/>
                </a:solidFill>
                <a:latin typeface="Arial" charset="0"/>
                <a:ea typeface="+mn-ea"/>
                <a:cs typeface="+mn-cs"/>
              </a:defRPr>
            </a:lvl6pPr>
            <a:lvl7pPr marL="2798887" algn="l" defTabSz="932962" rtl="0" eaLnBrk="1" latinLnBrk="0" hangingPunct="1">
              <a:defRPr sz="1600" kern="1200">
                <a:solidFill>
                  <a:schemeClr val="tx1"/>
                </a:solidFill>
                <a:latin typeface="Arial" charset="0"/>
                <a:ea typeface="+mn-ea"/>
                <a:cs typeface="+mn-cs"/>
              </a:defRPr>
            </a:lvl7pPr>
            <a:lvl8pPr marL="3265368" algn="l" defTabSz="932962" rtl="0" eaLnBrk="1" latinLnBrk="0" hangingPunct="1">
              <a:defRPr sz="1600" kern="1200">
                <a:solidFill>
                  <a:schemeClr val="tx1"/>
                </a:solidFill>
                <a:latin typeface="Arial" charset="0"/>
                <a:ea typeface="+mn-ea"/>
                <a:cs typeface="+mn-cs"/>
              </a:defRPr>
            </a:lvl8pPr>
            <a:lvl9pPr marL="3731849" algn="l" defTabSz="932962" rtl="0" eaLnBrk="1" latinLnBrk="0" hangingPunct="1">
              <a:defRPr sz="1600" kern="1200">
                <a:solidFill>
                  <a:schemeClr val="tx1"/>
                </a:solidFill>
                <a:latin typeface="Arial" charset="0"/>
                <a:ea typeface="+mn-ea"/>
                <a:cs typeface="+mn-cs"/>
              </a:defRPr>
            </a:lvl9pPr>
          </a:lstStyle>
          <a:p>
            <a:endParaRPr lang="en-ZA" sz="1200" dirty="0">
              <a:latin typeface="+mn-lt"/>
            </a:endParaRPr>
          </a:p>
        </p:txBody>
      </p:sp>
      <p:sp>
        <p:nvSpPr>
          <p:cNvPr id="27" name="Oval 26"/>
          <p:cNvSpPr>
            <a:spLocks noChangeAspect="1" noChangeArrowheads="1"/>
          </p:cNvSpPr>
          <p:nvPr/>
        </p:nvSpPr>
        <p:spPr bwMode="gray">
          <a:xfrm>
            <a:off x="2325843" y="4583787"/>
            <a:ext cx="290974" cy="283772"/>
          </a:xfrm>
          <a:prstGeom prst="ellipse">
            <a:avLst/>
          </a:prstGeom>
          <a:solidFill>
            <a:srgbClr val="00234F"/>
          </a:solidFill>
          <a:ln w="19050">
            <a:solidFill>
              <a:schemeClr val="bg1">
                <a:lumMod val="65000"/>
              </a:schemeClr>
            </a:solidFill>
          </a:ln>
          <a:effectLst/>
          <a:extLst/>
        </p:spPr>
        <p:txBody>
          <a:bodyPr wrap="none" anchor="ctr"/>
          <a:lstStyle>
            <a:defPPr>
              <a:defRPr lang="en-US"/>
            </a:defPPr>
            <a:lvl1pPr algn="l" rtl="0" fontAlgn="base">
              <a:spcBef>
                <a:spcPct val="0"/>
              </a:spcBef>
              <a:spcAft>
                <a:spcPct val="0"/>
              </a:spcAft>
              <a:defRPr sz="1600" kern="1200">
                <a:solidFill>
                  <a:schemeClr val="tx1"/>
                </a:solidFill>
                <a:latin typeface="Arial" charset="0"/>
                <a:ea typeface="+mn-ea"/>
                <a:cs typeface="+mn-cs"/>
              </a:defRPr>
            </a:lvl1pPr>
            <a:lvl2pPr marL="466481" algn="l" rtl="0" fontAlgn="base">
              <a:spcBef>
                <a:spcPct val="0"/>
              </a:spcBef>
              <a:spcAft>
                <a:spcPct val="0"/>
              </a:spcAft>
              <a:defRPr sz="1600" kern="1200">
                <a:solidFill>
                  <a:schemeClr val="tx1"/>
                </a:solidFill>
                <a:latin typeface="Arial" charset="0"/>
                <a:ea typeface="+mn-ea"/>
                <a:cs typeface="+mn-cs"/>
              </a:defRPr>
            </a:lvl2pPr>
            <a:lvl3pPr marL="932962" algn="l" rtl="0" fontAlgn="base">
              <a:spcBef>
                <a:spcPct val="0"/>
              </a:spcBef>
              <a:spcAft>
                <a:spcPct val="0"/>
              </a:spcAft>
              <a:defRPr sz="1600" kern="1200">
                <a:solidFill>
                  <a:schemeClr val="tx1"/>
                </a:solidFill>
                <a:latin typeface="Arial" charset="0"/>
                <a:ea typeface="+mn-ea"/>
                <a:cs typeface="+mn-cs"/>
              </a:defRPr>
            </a:lvl3pPr>
            <a:lvl4pPr marL="1399443" algn="l" rtl="0" fontAlgn="base">
              <a:spcBef>
                <a:spcPct val="0"/>
              </a:spcBef>
              <a:spcAft>
                <a:spcPct val="0"/>
              </a:spcAft>
              <a:defRPr sz="1600" kern="1200">
                <a:solidFill>
                  <a:schemeClr val="tx1"/>
                </a:solidFill>
                <a:latin typeface="Arial" charset="0"/>
                <a:ea typeface="+mn-ea"/>
                <a:cs typeface="+mn-cs"/>
              </a:defRPr>
            </a:lvl4pPr>
            <a:lvl5pPr marL="1865925" algn="l" rtl="0" fontAlgn="base">
              <a:spcBef>
                <a:spcPct val="0"/>
              </a:spcBef>
              <a:spcAft>
                <a:spcPct val="0"/>
              </a:spcAft>
              <a:defRPr sz="1600" kern="1200">
                <a:solidFill>
                  <a:schemeClr val="tx1"/>
                </a:solidFill>
                <a:latin typeface="Arial" charset="0"/>
                <a:ea typeface="+mn-ea"/>
                <a:cs typeface="+mn-cs"/>
              </a:defRPr>
            </a:lvl5pPr>
            <a:lvl6pPr marL="2332406" algn="l" defTabSz="932962" rtl="0" eaLnBrk="1" latinLnBrk="0" hangingPunct="1">
              <a:defRPr sz="1600" kern="1200">
                <a:solidFill>
                  <a:schemeClr val="tx1"/>
                </a:solidFill>
                <a:latin typeface="Arial" charset="0"/>
                <a:ea typeface="+mn-ea"/>
                <a:cs typeface="+mn-cs"/>
              </a:defRPr>
            </a:lvl6pPr>
            <a:lvl7pPr marL="2798887" algn="l" defTabSz="932962" rtl="0" eaLnBrk="1" latinLnBrk="0" hangingPunct="1">
              <a:defRPr sz="1600" kern="1200">
                <a:solidFill>
                  <a:schemeClr val="tx1"/>
                </a:solidFill>
                <a:latin typeface="Arial" charset="0"/>
                <a:ea typeface="+mn-ea"/>
                <a:cs typeface="+mn-cs"/>
              </a:defRPr>
            </a:lvl7pPr>
            <a:lvl8pPr marL="3265368" algn="l" defTabSz="932962" rtl="0" eaLnBrk="1" latinLnBrk="0" hangingPunct="1">
              <a:defRPr sz="1600" kern="1200">
                <a:solidFill>
                  <a:schemeClr val="tx1"/>
                </a:solidFill>
                <a:latin typeface="Arial" charset="0"/>
                <a:ea typeface="+mn-ea"/>
                <a:cs typeface="+mn-cs"/>
              </a:defRPr>
            </a:lvl8pPr>
            <a:lvl9pPr marL="3731849" algn="l" defTabSz="932962" rtl="0" eaLnBrk="1" latinLnBrk="0" hangingPunct="1">
              <a:defRPr sz="1600" kern="1200">
                <a:solidFill>
                  <a:schemeClr val="tx1"/>
                </a:solidFill>
                <a:latin typeface="Arial" charset="0"/>
                <a:ea typeface="+mn-ea"/>
                <a:cs typeface="+mn-cs"/>
              </a:defRPr>
            </a:lvl9pPr>
          </a:lstStyle>
          <a:p>
            <a:pPr algn="ctr"/>
            <a:r>
              <a:rPr lang="en-ZA" sz="1000" b="1" dirty="0">
                <a:solidFill>
                  <a:schemeClr val="bg1"/>
                </a:solidFill>
                <a:latin typeface="+mn-lt"/>
              </a:rPr>
              <a:t>10</a:t>
            </a:r>
          </a:p>
        </p:txBody>
      </p:sp>
      <p:sp>
        <p:nvSpPr>
          <p:cNvPr id="28" name="Oval 27"/>
          <p:cNvSpPr>
            <a:spLocks noChangeAspect="1" noChangeArrowheads="1"/>
          </p:cNvSpPr>
          <p:nvPr/>
        </p:nvSpPr>
        <p:spPr bwMode="gray">
          <a:xfrm>
            <a:off x="1738165" y="5169029"/>
            <a:ext cx="290974" cy="283771"/>
          </a:xfrm>
          <a:prstGeom prst="ellipse">
            <a:avLst/>
          </a:prstGeom>
          <a:solidFill>
            <a:srgbClr val="00234F"/>
          </a:solidFill>
          <a:ln w="19050">
            <a:solidFill>
              <a:schemeClr val="bg1">
                <a:lumMod val="65000"/>
              </a:schemeClr>
            </a:solidFill>
          </a:ln>
          <a:effectLst/>
          <a:extLst/>
        </p:spPr>
        <p:txBody>
          <a:bodyPr wrap="none" anchor="ctr"/>
          <a:lstStyle>
            <a:defPPr>
              <a:defRPr lang="en-US"/>
            </a:defPPr>
            <a:lvl1pPr algn="l" rtl="0" fontAlgn="base">
              <a:spcBef>
                <a:spcPct val="0"/>
              </a:spcBef>
              <a:spcAft>
                <a:spcPct val="0"/>
              </a:spcAft>
              <a:defRPr sz="1600" kern="1200">
                <a:solidFill>
                  <a:schemeClr val="tx1"/>
                </a:solidFill>
                <a:latin typeface="Arial" charset="0"/>
                <a:ea typeface="+mn-ea"/>
                <a:cs typeface="+mn-cs"/>
              </a:defRPr>
            </a:lvl1pPr>
            <a:lvl2pPr marL="466481" algn="l" rtl="0" fontAlgn="base">
              <a:spcBef>
                <a:spcPct val="0"/>
              </a:spcBef>
              <a:spcAft>
                <a:spcPct val="0"/>
              </a:spcAft>
              <a:defRPr sz="1600" kern="1200">
                <a:solidFill>
                  <a:schemeClr val="tx1"/>
                </a:solidFill>
                <a:latin typeface="Arial" charset="0"/>
                <a:ea typeface="+mn-ea"/>
                <a:cs typeface="+mn-cs"/>
              </a:defRPr>
            </a:lvl2pPr>
            <a:lvl3pPr marL="932962" algn="l" rtl="0" fontAlgn="base">
              <a:spcBef>
                <a:spcPct val="0"/>
              </a:spcBef>
              <a:spcAft>
                <a:spcPct val="0"/>
              </a:spcAft>
              <a:defRPr sz="1600" kern="1200">
                <a:solidFill>
                  <a:schemeClr val="tx1"/>
                </a:solidFill>
                <a:latin typeface="Arial" charset="0"/>
                <a:ea typeface="+mn-ea"/>
                <a:cs typeface="+mn-cs"/>
              </a:defRPr>
            </a:lvl3pPr>
            <a:lvl4pPr marL="1399443" algn="l" rtl="0" fontAlgn="base">
              <a:spcBef>
                <a:spcPct val="0"/>
              </a:spcBef>
              <a:spcAft>
                <a:spcPct val="0"/>
              </a:spcAft>
              <a:defRPr sz="1600" kern="1200">
                <a:solidFill>
                  <a:schemeClr val="tx1"/>
                </a:solidFill>
                <a:latin typeface="Arial" charset="0"/>
                <a:ea typeface="+mn-ea"/>
                <a:cs typeface="+mn-cs"/>
              </a:defRPr>
            </a:lvl4pPr>
            <a:lvl5pPr marL="1865925" algn="l" rtl="0" fontAlgn="base">
              <a:spcBef>
                <a:spcPct val="0"/>
              </a:spcBef>
              <a:spcAft>
                <a:spcPct val="0"/>
              </a:spcAft>
              <a:defRPr sz="1600" kern="1200">
                <a:solidFill>
                  <a:schemeClr val="tx1"/>
                </a:solidFill>
                <a:latin typeface="Arial" charset="0"/>
                <a:ea typeface="+mn-ea"/>
                <a:cs typeface="+mn-cs"/>
              </a:defRPr>
            </a:lvl5pPr>
            <a:lvl6pPr marL="2332406" algn="l" defTabSz="932962" rtl="0" eaLnBrk="1" latinLnBrk="0" hangingPunct="1">
              <a:defRPr sz="1600" kern="1200">
                <a:solidFill>
                  <a:schemeClr val="tx1"/>
                </a:solidFill>
                <a:latin typeface="Arial" charset="0"/>
                <a:ea typeface="+mn-ea"/>
                <a:cs typeface="+mn-cs"/>
              </a:defRPr>
            </a:lvl6pPr>
            <a:lvl7pPr marL="2798887" algn="l" defTabSz="932962" rtl="0" eaLnBrk="1" latinLnBrk="0" hangingPunct="1">
              <a:defRPr sz="1600" kern="1200">
                <a:solidFill>
                  <a:schemeClr val="tx1"/>
                </a:solidFill>
                <a:latin typeface="Arial" charset="0"/>
                <a:ea typeface="+mn-ea"/>
                <a:cs typeface="+mn-cs"/>
              </a:defRPr>
            </a:lvl7pPr>
            <a:lvl8pPr marL="3265368" algn="l" defTabSz="932962" rtl="0" eaLnBrk="1" latinLnBrk="0" hangingPunct="1">
              <a:defRPr sz="1600" kern="1200">
                <a:solidFill>
                  <a:schemeClr val="tx1"/>
                </a:solidFill>
                <a:latin typeface="Arial" charset="0"/>
                <a:ea typeface="+mn-ea"/>
                <a:cs typeface="+mn-cs"/>
              </a:defRPr>
            </a:lvl8pPr>
            <a:lvl9pPr marL="3731849" algn="l" defTabSz="932962" rtl="0" eaLnBrk="1" latinLnBrk="0" hangingPunct="1">
              <a:defRPr sz="1600" kern="1200">
                <a:solidFill>
                  <a:schemeClr val="tx1"/>
                </a:solidFill>
                <a:latin typeface="Arial" charset="0"/>
                <a:ea typeface="+mn-ea"/>
                <a:cs typeface="+mn-cs"/>
              </a:defRPr>
            </a:lvl9pPr>
          </a:lstStyle>
          <a:p>
            <a:pPr algn="ctr"/>
            <a:r>
              <a:rPr lang="en-ZA" sz="1400" b="1" dirty="0">
                <a:solidFill>
                  <a:schemeClr val="bg1"/>
                </a:solidFill>
                <a:latin typeface="+mn-lt"/>
              </a:rPr>
              <a:t>20</a:t>
            </a:r>
          </a:p>
        </p:txBody>
      </p:sp>
      <p:sp>
        <p:nvSpPr>
          <p:cNvPr id="29" name="Oval 28"/>
          <p:cNvSpPr>
            <a:spLocks noChangeAspect="1" noChangeArrowheads="1"/>
          </p:cNvSpPr>
          <p:nvPr/>
        </p:nvSpPr>
        <p:spPr bwMode="gray">
          <a:xfrm>
            <a:off x="1082830" y="5853028"/>
            <a:ext cx="290974" cy="283772"/>
          </a:xfrm>
          <a:prstGeom prst="ellipse">
            <a:avLst/>
          </a:prstGeom>
          <a:solidFill>
            <a:srgbClr val="00234F"/>
          </a:solidFill>
          <a:ln w="19050">
            <a:solidFill>
              <a:schemeClr val="bg1">
                <a:lumMod val="65000"/>
              </a:schemeClr>
            </a:solidFill>
          </a:ln>
          <a:effectLst/>
          <a:extLst/>
        </p:spPr>
        <p:txBody>
          <a:bodyPr wrap="none" anchor="ctr"/>
          <a:lstStyle>
            <a:defPPr>
              <a:defRPr lang="en-US"/>
            </a:defPPr>
            <a:lvl1pPr algn="l" rtl="0" fontAlgn="base">
              <a:spcBef>
                <a:spcPct val="0"/>
              </a:spcBef>
              <a:spcAft>
                <a:spcPct val="0"/>
              </a:spcAft>
              <a:defRPr sz="1600" kern="1200">
                <a:solidFill>
                  <a:schemeClr val="tx1"/>
                </a:solidFill>
                <a:latin typeface="Arial" charset="0"/>
                <a:ea typeface="+mn-ea"/>
                <a:cs typeface="+mn-cs"/>
              </a:defRPr>
            </a:lvl1pPr>
            <a:lvl2pPr marL="466481" algn="l" rtl="0" fontAlgn="base">
              <a:spcBef>
                <a:spcPct val="0"/>
              </a:spcBef>
              <a:spcAft>
                <a:spcPct val="0"/>
              </a:spcAft>
              <a:defRPr sz="1600" kern="1200">
                <a:solidFill>
                  <a:schemeClr val="tx1"/>
                </a:solidFill>
                <a:latin typeface="Arial" charset="0"/>
                <a:ea typeface="+mn-ea"/>
                <a:cs typeface="+mn-cs"/>
              </a:defRPr>
            </a:lvl2pPr>
            <a:lvl3pPr marL="932962" algn="l" rtl="0" fontAlgn="base">
              <a:spcBef>
                <a:spcPct val="0"/>
              </a:spcBef>
              <a:spcAft>
                <a:spcPct val="0"/>
              </a:spcAft>
              <a:defRPr sz="1600" kern="1200">
                <a:solidFill>
                  <a:schemeClr val="tx1"/>
                </a:solidFill>
                <a:latin typeface="Arial" charset="0"/>
                <a:ea typeface="+mn-ea"/>
                <a:cs typeface="+mn-cs"/>
              </a:defRPr>
            </a:lvl3pPr>
            <a:lvl4pPr marL="1399443" algn="l" rtl="0" fontAlgn="base">
              <a:spcBef>
                <a:spcPct val="0"/>
              </a:spcBef>
              <a:spcAft>
                <a:spcPct val="0"/>
              </a:spcAft>
              <a:defRPr sz="1600" kern="1200">
                <a:solidFill>
                  <a:schemeClr val="tx1"/>
                </a:solidFill>
                <a:latin typeface="Arial" charset="0"/>
                <a:ea typeface="+mn-ea"/>
                <a:cs typeface="+mn-cs"/>
              </a:defRPr>
            </a:lvl4pPr>
            <a:lvl5pPr marL="1865925" algn="l" rtl="0" fontAlgn="base">
              <a:spcBef>
                <a:spcPct val="0"/>
              </a:spcBef>
              <a:spcAft>
                <a:spcPct val="0"/>
              </a:spcAft>
              <a:defRPr sz="1600" kern="1200">
                <a:solidFill>
                  <a:schemeClr val="tx1"/>
                </a:solidFill>
                <a:latin typeface="Arial" charset="0"/>
                <a:ea typeface="+mn-ea"/>
                <a:cs typeface="+mn-cs"/>
              </a:defRPr>
            </a:lvl5pPr>
            <a:lvl6pPr marL="2332406" algn="l" defTabSz="932962" rtl="0" eaLnBrk="1" latinLnBrk="0" hangingPunct="1">
              <a:defRPr sz="1600" kern="1200">
                <a:solidFill>
                  <a:schemeClr val="tx1"/>
                </a:solidFill>
                <a:latin typeface="Arial" charset="0"/>
                <a:ea typeface="+mn-ea"/>
                <a:cs typeface="+mn-cs"/>
              </a:defRPr>
            </a:lvl6pPr>
            <a:lvl7pPr marL="2798887" algn="l" defTabSz="932962" rtl="0" eaLnBrk="1" latinLnBrk="0" hangingPunct="1">
              <a:defRPr sz="1600" kern="1200">
                <a:solidFill>
                  <a:schemeClr val="tx1"/>
                </a:solidFill>
                <a:latin typeface="Arial" charset="0"/>
                <a:ea typeface="+mn-ea"/>
                <a:cs typeface="+mn-cs"/>
              </a:defRPr>
            </a:lvl7pPr>
            <a:lvl8pPr marL="3265368" algn="l" defTabSz="932962" rtl="0" eaLnBrk="1" latinLnBrk="0" hangingPunct="1">
              <a:defRPr sz="1600" kern="1200">
                <a:solidFill>
                  <a:schemeClr val="tx1"/>
                </a:solidFill>
                <a:latin typeface="Arial" charset="0"/>
                <a:ea typeface="+mn-ea"/>
                <a:cs typeface="+mn-cs"/>
              </a:defRPr>
            </a:lvl8pPr>
            <a:lvl9pPr marL="3731849" algn="l" defTabSz="932962" rtl="0" eaLnBrk="1" latinLnBrk="0" hangingPunct="1">
              <a:defRPr sz="1600" kern="1200">
                <a:solidFill>
                  <a:schemeClr val="tx1"/>
                </a:solidFill>
                <a:latin typeface="Arial" charset="0"/>
                <a:ea typeface="+mn-ea"/>
                <a:cs typeface="+mn-cs"/>
              </a:defRPr>
            </a:lvl9pPr>
          </a:lstStyle>
          <a:p>
            <a:pPr algn="ctr"/>
            <a:r>
              <a:rPr lang="en-ZA" sz="1800" b="1" dirty="0">
                <a:solidFill>
                  <a:schemeClr val="bg1"/>
                </a:solidFill>
                <a:latin typeface="+mn-lt"/>
              </a:rPr>
              <a:t>70</a:t>
            </a:r>
          </a:p>
        </p:txBody>
      </p:sp>
      <p:sp>
        <p:nvSpPr>
          <p:cNvPr id="30" name="TextBox 29"/>
          <p:cNvSpPr txBox="1"/>
          <p:nvPr/>
        </p:nvSpPr>
        <p:spPr>
          <a:xfrm>
            <a:off x="3096181" y="4535131"/>
            <a:ext cx="1615756" cy="468000"/>
          </a:xfrm>
          <a:prstGeom prst="rect">
            <a:avLst/>
          </a:prstGeom>
          <a:solidFill>
            <a:srgbClr val="002E5A"/>
          </a:solidFill>
        </p:spPr>
        <p:txBody>
          <a:bodyPr wrap="square" rtlCol="0">
            <a:noAutofit/>
          </a:bodyPr>
          <a:lstStyle/>
          <a:p>
            <a:pPr algn="ctr"/>
            <a:r>
              <a:rPr lang="en-ZA" sz="900" b="1" dirty="0">
                <a:solidFill>
                  <a:schemeClr val="bg1"/>
                </a:solidFill>
              </a:rPr>
              <a:t>Formal learning</a:t>
            </a:r>
          </a:p>
          <a:p>
            <a:pPr algn="ctr"/>
            <a:r>
              <a:rPr lang="en-ZA" sz="900" dirty="0">
                <a:solidFill>
                  <a:schemeClr val="bg1"/>
                </a:solidFill>
              </a:rPr>
              <a:t>Through training and certifications</a:t>
            </a:r>
            <a:r>
              <a:rPr lang="en-ZA" sz="900" b="1" dirty="0">
                <a:solidFill>
                  <a:schemeClr val="bg1"/>
                </a:solidFill>
              </a:rPr>
              <a:t> </a:t>
            </a:r>
          </a:p>
        </p:txBody>
      </p:sp>
      <p:sp>
        <p:nvSpPr>
          <p:cNvPr id="31" name="TextBox 30"/>
          <p:cNvSpPr txBox="1"/>
          <p:nvPr/>
        </p:nvSpPr>
        <p:spPr>
          <a:xfrm>
            <a:off x="3096181" y="5138841"/>
            <a:ext cx="1615756" cy="468000"/>
          </a:xfrm>
          <a:prstGeom prst="rect">
            <a:avLst/>
          </a:prstGeom>
          <a:solidFill>
            <a:srgbClr val="002E5A"/>
          </a:solidFill>
        </p:spPr>
        <p:txBody>
          <a:bodyPr wrap="square" rtlCol="0">
            <a:noAutofit/>
          </a:bodyPr>
          <a:lstStyle/>
          <a:p>
            <a:pPr algn="ctr"/>
            <a:r>
              <a:rPr lang="en-ZA" sz="900" b="1" dirty="0">
                <a:solidFill>
                  <a:schemeClr val="bg1"/>
                </a:solidFill>
              </a:rPr>
              <a:t>Mentorship and learning from others</a:t>
            </a:r>
          </a:p>
        </p:txBody>
      </p:sp>
      <p:sp>
        <p:nvSpPr>
          <p:cNvPr id="32" name="TextBox 31"/>
          <p:cNvSpPr txBox="1"/>
          <p:nvPr/>
        </p:nvSpPr>
        <p:spPr>
          <a:xfrm>
            <a:off x="3099332" y="5737592"/>
            <a:ext cx="1615756" cy="468000"/>
          </a:xfrm>
          <a:prstGeom prst="rect">
            <a:avLst/>
          </a:prstGeom>
          <a:solidFill>
            <a:srgbClr val="002E5A"/>
          </a:solidFill>
        </p:spPr>
        <p:txBody>
          <a:bodyPr wrap="square" rtlCol="0">
            <a:noAutofit/>
          </a:bodyPr>
          <a:lstStyle/>
          <a:p>
            <a:pPr algn="ctr"/>
            <a:r>
              <a:rPr lang="en-ZA" sz="900" b="1" dirty="0">
                <a:solidFill>
                  <a:schemeClr val="bg1"/>
                </a:solidFill>
              </a:rPr>
              <a:t> Workplace learning</a:t>
            </a:r>
          </a:p>
          <a:p>
            <a:pPr algn="ctr"/>
            <a:r>
              <a:rPr lang="en-ZA" sz="900" dirty="0">
                <a:solidFill>
                  <a:schemeClr val="bg1"/>
                </a:solidFill>
              </a:rPr>
              <a:t>Projects, Problem solving</a:t>
            </a:r>
          </a:p>
        </p:txBody>
      </p:sp>
      <p:sp>
        <p:nvSpPr>
          <p:cNvPr id="33" name="Text Box 37"/>
          <p:cNvSpPr txBox="1"/>
          <p:nvPr/>
        </p:nvSpPr>
        <p:spPr>
          <a:xfrm>
            <a:off x="695788" y="1504325"/>
            <a:ext cx="1166581" cy="230832"/>
          </a:xfrm>
          <a:prstGeom prst="rect">
            <a:avLst/>
          </a:prstGeom>
        </p:spPr>
        <p:txBody>
          <a:bodyPr wrap="square">
            <a:spAutoFit/>
          </a:bodyPr>
          <a:lstStyle>
            <a:defPPr>
              <a:defRPr lang="en-US"/>
            </a:defPPr>
            <a:lvl1pPr>
              <a:defRPr sz="800" b="1"/>
            </a:lvl1pPr>
          </a:lstStyle>
          <a:p>
            <a:r>
              <a:rPr lang="en-ZA" sz="900" dirty="0"/>
              <a:t>No. of employees</a:t>
            </a:r>
          </a:p>
        </p:txBody>
      </p:sp>
      <p:pic>
        <p:nvPicPr>
          <p:cNvPr id="34" name="Picture 33" descr="http://www.clker.com/cliparts/e/b/7/0/12362693641685578473ericlemerdy_man.svg.hi.png"/>
          <p:cNvPicPr>
            <a:picLocks noChangeAspect="1" noChangeArrowheads="1"/>
          </p:cNvPicPr>
          <p:nvPr/>
        </p:nvPicPr>
        <p:blipFill>
          <a:blip r:embed="rId10" cstate="print"/>
          <a:srcRect/>
          <a:stretch>
            <a:fillRect/>
          </a:stretch>
        </p:blipFill>
        <p:spPr bwMode="auto">
          <a:xfrm>
            <a:off x="475131" y="1563963"/>
            <a:ext cx="180603" cy="422445"/>
          </a:xfrm>
          <a:prstGeom prst="rect">
            <a:avLst/>
          </a:prstGeom>
          <a:noFill/>
        </p:spPr>
      </p:pic>
      <p:sp>
        <p:nvSpPr>
          <p:cNvPr id="35" name="Rectangle 20"/>
          <p:cNvSpPr>
            <a:spLocks noChangeArrowheads="1"/>
          </p:cNvSpPr>
          <p:nvPr/>
        </p:nvSpPr>
        <p:spPr bwMode="gray">
          <a:xfrm>
            <a:off x="741090" y="1776519"/>
            <a:ext cx="820346" cy="223307"/>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900" b="1" dirty="0">
                <a:effectLst/>
                <a:latin typeface="Arial" panose="020B0604020202020204" pitchFamily="34" charset="0"/>
                <a:ea typeface="Times New Roman" panose="02020603050405020304" pitchFamily="18" charset="0"/>
              </a:rPr>
              <a:t>5</a:t>
            </a:r>
            <a:endParaRPr lang="en-ZA" sz="900" b="1" dirty="0">
              <a:effectLst/>
              <a:latin typeface="Times New Roman" panose="02020603050405020304" pitchFamily="18" charset="0"/>
              <a:ea typeface="Times New Roman" panose="02020603050405020304" pitchFamily="18" charset="0"/>
            </a:endParaRPr>
          </a:p>
        </p:txBody>
      </p:sp>
      <p:sp>
        <p:nvSpPr>
          <p:cNvPr id="36" name="Text Box 37"/>
          <p:cNvSpPr txBox="1"/>
          <p:nvPr/>
        </p:nvSpPr>
        <p:spPr>
          <a:xfrm>
            <a:off x="631133" y="2468377"/>
            <a:ext cx="1288512" cy="369332"/>
          </a:xfrm>
          <a:prstGeom prst="rect">
            <a:avLst/>
          </a:prstGeom>
        </p:spPr>
        <p:txBody>
          <a:bodyPr wrap="square">
            <a:spAutoFit/>
          </a:bodyPr>
          <a:lstStyle>
            <a:defPPr>
              <a:defRPr lang="en-US"/>
            </a:defPPr>
            <a:lvl1pPr>
              <a:defRPr sz="800" b="1"/>
            </a:lvl1pPr>
          </a:lstStyle>
          <a:p>
            <a:r>
              <a:rPr lang="en-ZA" sz="900" dirty="0"/>
              <a:t>Recruitment (next 12 months)</a:t>
            </a:r>
          </a:p>
        </p:txBody>
      </p:sp>
      <p:pic>
        <p:nvPicPr>
          <p:cNvPr id="37" name="Picture 36" descr="http://www.clker.com/cliparts/e/b/7/0/12362693641685578473ericlemerdy_man.svg.hi.png"/>
          <p:cNvPicPr>
            <a:picLocks noChangeAspect="1" noChangeArrowheads="1"/>
          </p:cNvPicPr>
          <p:nvPr/>
        </p:nvPicPr>
        <p:blipFill>
          <a:blip r:embed="rId10" cstate="print">
            <a:duotone>
              <a:schemeClr val="bg2">
                <a:shade val="45000"/>
                <a:satMod val="135000"/>
              </a:schemeClr>
              <a:prstClr val="white"/>
            </a:duotone>
          </a:blip>
          <a:srcRect/>
          <a:stretch>
            <a:fillRect/>
          </a:stretch>
        </p:blipFill>
        <p:spPr bwMode="auto">
          <a:xfrm>
            <a:off x="465115" y="2637654"/>
            <a:ext cx="180603" cy="422445"/>
          </a:xfrm>
          <a:prstGeom prst="rect">
            <a:avLst/>
          </a:prstGeom>
          <a:noFill/>
        </p:spPr>
      </p:pic>
      <p:sp>
        <p:nvSpPr>
          <p:cNvPr id="38" name="Rectangle 20"/>
          <p:cNvSpPr>
            <a:spLocks noChangeArrowheads="1"/>
          </p:cNvSpPr>
          <p:nvPr/>
        </p:nvSpPr>
        <p:spPr bwMode="gray">
          <a:xfrm>
            <a:off x="741090" y="2851493"/>
            <a:ext cx="820346" cy="223307"/>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900" b="1" dirty="0">
                <a:effectLst/>
                <a:latin typeface="Arial" panose="020B0604020202020204" pitchFamily="34" charset="0"/>
                <a:ea typeface="Times New Roman" panose="02020603050405020304" pitchFamily="18" charset="0"/>
              </a:rPr>
              <a:t> Min 3</a:t>
            </a:r>
            <a:endParaRPr lang="en-ZA" sz="900" b="1" dirty="0">
              <a:effectLst/>
              <a:latin typeface="Times New Roman" panose="02020603050405020304" pitchFamily="18" charset="0"/>
              <a:ea typeface="Times New Roman" panose="02020603050405020304" pitchFamily="18" charset="0"/>
            </a:endParaRPr>
          </a:p>
        </p:txBody>
      </p:sp>
      <p:sp>
        <p:nvSpPr>
          <p:cNvPr id="39" name="Text Box 37"/>
          <p:cNvSpPr txBox="1"/>
          <p:nvPr/>
        </p:nvSpPr>
        <p:spPr>
          <a:xfrm>
            <a:off x="603259" y="3037231"/>
            <a:ext cx="1217000" cy="230832"/>
          </a:xfrm>
          <a:prstGeom prst="rect">
            <a:avLst/>
          </a:prstGeom>
        </p:spPr>
        <p:txBody>
          <a:bodyPr wrap="none">
            <a:spAutoFit/>
          </a:bodyPr>
          <a:lstStyle>
            <a:defPPr>
              <a:defRPr lang="en-US"/>
            </a:defPPr>
            <a:lvl1pPr>
              <a:defRPr sz="800" b="1"/>
            </a:lvl1pPr>
          </a:lstStyle>
          <a:p>
            <a:pPr algn="r"/>
            <a:r>
              <a:rPr lang="en-ZA" sz="900" dirty="0"/>
              <a:t>Cost base (annual)</a:t>
            </a:r>
          </a:p>
        </p:txBody>
      </p:sp>
      <p:sp>
        <p:nvSpPr>
          <p:cNvPr id="40" name="Rectangle 20"/>
          <p:cNvSpPr>
            <a:spLocks noChangeArrowheads="1"/>
          </p:cNvSpPr>
          <p:nvPr/>
        </p:nvSpPr>
        <p:spPr bwMode="gray">
          <a:xfrm>
            <a:off x="741861" y="3278915"/>
            <a:ext cx="820346" cy="223307"/>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900" b="1" dirty="0">
                <a:latin typeface="Arial" panose="020B0604020202020204" pitchFamily="34" charset="0"/>
                <a:ea typeface="Times New Roman" panose="02020603050405020304" pitchFamily="18" charset="0"/>
              </a:rPr>
              <a:t>TBD - Ops</a:t>
            </a:r>
            <a:endParaRPr lang="en-ZA" sz="900" b="1" dirty="0">
              <a:effectLst/>
              <a:latin typeface="Times New Roman" panose="02020603050405020304" pitchFamily="18" charset="0"/>
              <a:ea typeface="Times New Roman" panose="02020603050405020304" pitchFamily="18" charset="0"/>
            </a:endParaRPr>
          </a:p>
        </p:txBody>
      </p:sp>
      <p:sp>
        <p:nvSpPr>
          <p:cNvPr id="41" name="Freeform 40"/>
          <p:cNvSpPr>
            <a:spLocks noEditPoints="1"/>
          </p:cNvSpPr>
          <p:nvPr/>
        </p:nvSpPr>
        <p:spPr bwMode="auto">
          <a:xfrm>
            <a:off x="443788" y="3140367"/>
            <a:ext cx="252000" cy="396000"/>
          </a:xfrm>
          <a:custGeom>
            <a:avLst/>
            <a:gdLst>
              <a:gd name="T0" fmla="*/ 142 w 218"/>
              <a:gd name="T1" fmla="*/ 61 h 309"/>
              <a:gd name="T2" fmla="*/ 142 w 218"/>
              <a:gd name="T3" fmla="*/ 62 h 309"/>
              <a:gd name="T4" fmla="*/ 72 w 218"/>
              <a:gd name="T5" fmla="*/ 62 h 309"/>
              <a:gd name="T6" fmla="*/ 74 w 218"/>
              <a:gd name="T7" fmla="*/ 58 h 309"/>
              <a:gd name="T8" fmla="*/ 74 w 218"/>
              <a:gd name="T9" fmla="*/ 58 h 309"/>
              <a:gd name="T10" fmla="*/ 78 w 218"/>
              <a:gd name="T11" fmla="*/ 54 h 309"/>
              <a:gd name="T12" fmla="*/ 134 w 218"/>
              <a:gd name="T13" fmla="*/ 54 h 309"/>
              <a:gd name="T14" fmla="*/ 150 w 218"/>
              <a:gd name="T15" fmla="*/ 0 h 309"/>
              <a:gd name="T16" fmla="*/ 66 w 218"/>
              <a:gd name="T17" fmla="*/ 1 h 309"/>
              <a:gd name="T18" fmla="*/ 78 w 218"/>
              <a:gd name="T19" fmla="*/ 53 h 309"/>
              <a:gd name="T20" fmla="*/ 29 w 218"/>
              <a:gd name="T21" fmla="*/ 29 h 309"/>
              <a:gd name="T22" fmla="*/ 31 w 218"/>
              <a:gd name="T23" fmla="*/ 35 h 309"/>
              <a:gd name="T24" fmla="*/ 74 w 218"/>
              <a:gd name="T25" fmla="*/ 58 h 309"/>
              <a:gd name="T26" fmla="*/ 38 w 218"/>
              <a:gd name="T27" fmla="*/ 57 h 309"/>
              <a:gd name="T28" fmla="*/ 34 w 218"/>
              <a:gd name="T29" fmla="*/ 62 h 309"/>
              <a:gd name="T30" fmla="*/ 54 w 218"/>
              <a:gd name="T31" fmla="*/ 69 h 309"/>
              <a:gd name="T32" fmla="*/ 66 w 218"/>
              <a:gd name="T33" fmla="*/ 67 h 309"/>
              <a:gd name="T34" fmla="*/ 0 w 218"/>
              <a:gd name="T35" fmla="*/ 200 h 309"/>
              <a:gd name="T36" fmla="*/ 109 w 218"/>
              <a:gd name="T37" fmla="*/ 309 h 309"/>
              <a:gd name="T38" fmla="*/ 218 w 218"/>
              <a:gd name="T39" fmla="*/ 199 h 309"/>
              <a:gd name="T40" fmla="*/ 142 w 218"/>
              <a:gd name="T41" fmla="*/ 61 h 309"/>
              <a:gd name="T42" fmla="*/ 140 w 218"/>
              <a:gd name="T43" fmla="*/ 235 h 309"/>
              <a:gd name="T44" fmla="*/ 119 w 218"/>
              <a:gd name="T45" fmla="*/ 245 h 309"/>
              <a:gd name="T46" fmla="*/ 119 w 218"/>
              <a:gd name="T47" fmla="*/ 262 h 309"/>
              <a:gd name="T48" fmla="*/ 100 w 218"/>
              <a:gd name="T49" fmla="*/ 262 h 309"/>
              <a:gd name="T50" fmla="*/ 100 w 218"/>
              <a:gd name="T51" fmla="*/ 245 h 309"/>
              <a:gd name="T52" fmla="*/ 77 w 218"/>
              <a:gd name="T53" fmla="*/ 234 h 309"/>
              <a:gd name="T54" fmla="*/ 65 w 218"/>
              <a:gd name="T55" fmla="*/ 211 h 309"/>
              <a:gd name="T56" fmla="*/ 66 w 218"/>
              <a:gd name="T57" fmla="*/ 206 h 309"/>
              <a:gd name="T58" fmla="*/ 84 w 218"/>
              <a:gd name="T59" fmla="*/ 206 h 309"/>
              <a:gd name="T60" fmla="*/ 84 w 218"/>
              <a:gd name="T61" fmla="*/ 208 h 309"/>
              <a:gd name="T62" fmla="*/ 91 w 218"/>
              <a:gd name="T63" fmla="*/ 225 h 309"/>
              <a:gd name="T64" fmla="*/ 109 w 218"/>
              <a:gd name="T65" fmla="*/ 230 h 309"/>
              <a:gd name="T66" fmla="*/ 128 w 218"/>
              <a:gd name="T67" fmla="*/ 224 h 309"/>
              <a:gd name="T68" fmla="*/ 134 w 218"/>
              <a:gd name="T69" fmla="*/ 208 h 309"/>
              <a:gd name="T70" fmla="*/ 128 w 218"/>
              <a:gd name="T71" fmla="*/ 195 h 309"/>
              <a:gd name="T72" fmla="*/ 105 w 218"/>
              <a:gd name="T73" fmla="*/ 186 h 309"/>
              <a:gd name="T74" fmla="*/ 79 w 218"/>
              <a:gd name="T75" fmla="*/ 173 h 309"/>
              <a:gd name="T76" fmla="*/ 70 w 218"/>
              <a:gd name="T77" fmla="*/ 152 h 309"/>
              <a:gd name="T78" fmla="*/ 81 w 218"/>
              <a:gd name="T79" fmla="*/ 127 h 309"/>
              <a:gd name="T80" fmla="*/ 99 w 218"/>
              <a:gd name="T81" fmla="*/ 119 h 309"/>
              <a:gd name="T82" fmla="*/ 99 w 218"/>
              <a:gd name="T83" fmla="*/ 103 h 309"/>
              <a:gd name="T84" fmla="*/ 118 w 218"/>
              <a:gd name="T85" fmla="*/ 103 h 309"/>
              <a:gd name="T86" fmla="*/ 118 w 218"/>
              <a:gd name="T87" fmla="*/ 118 h 309"/>
              <a:gd name="T88" fmla="*/ 139 w 218"/>
              <a:gd name="T89" fmla="*/ 127 h 309"/>
              <a:gd name="T90" fmla="*/ 151 w 218"/>
              <a:gd name="T91" fmla="*/ 152 h 309"/>
              <a:gd name="T92" fmla="*/ 151 w 218"/>
              <a:gd name="T93" fmla="*/ 154 h 309"/>
              <a:gd name="T94" fmla="*/ 133 w 218"/>
              <a:gd name="T95" fmla="*/ 154 h 309"/>
              <a:gd name="T96" fmla="*/ 132 w 218"/>
              <a:gd name="T97" fmla="*/ 152 h 309"/>
              <a:gd name="T98" fmla="*/ 126 w 218"/>
              <a:gd name="T99" fmla="*/ 138 h 309"/>
              <a:gd name="T100" fmla="*/ 110 w 218"/>
              <a:gd name="T101" fmla="*/ 133 h 309"/>
              <a:gd name="T102" fmla="*/ 94 w 218"/>
              <a:gd name="T103" fmla="*/ 138 h 309"/>
              <a:gd name="T104" fmla="*/ 88 w 218"/>
              <a:gd name="T105" fmla="*/ 151 h 309"/>
              <a:gd name="T106" fmla="*/ 93 w 218"/>
              <a:gd name="T107" fmla="*/ 163 h 309"/>
              <a:gd name="T108" fmla="*/ 112 w 218"/>
              <a:gd name="T109" fmla="*/ 171 h 309"/>
              <a:gd name="T110" fmla="*/ 142 w 218"/>
              <a:gd name="T111" fmla="*/ 185 h 309"/>
              <a:gd name="T112" fmla="*/ 152 w 218"/>
              <a:gd name="T113" fmla="*/ 208 h 309"/>
              <a:gd name="T114" fmla="*/ 140 w 218"/>
              <a:gd name="T115" fmla="*/ 235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8" h="309">
                <a:moveTo>
                  <a:pt x="142" y="61"/>
                </a:moveTo>
                <a:cubicBezTo>
                  <a:pt x="142" y="62"/>
                  <a:pt x="142" y="62"/>
                  <a:pt x="142" y="62"/>
                </a:cubicBezTo>
                <a:cubicBezTo>
                  <a:pt x="72" y="62"/>
                  <a:pt x="72" y="62"/>
                  <a:pt x="72" y="62"/>
                </a:cubicBezTo>
                <a:cubicBezTo>
                  <a:pt x="74" y="58"/>
                  <a:pt x="74" y="58"/>
                  <a:pt x="74" y="58"/>
                </a:cubicBezTo>
                <a:cubicBezTo>
                  <a:pt x="74" y="58"/>
                  <a:pt x="74" y="58"/>
                  <a:pt x="74" y="58"/>
                </a:cubicBezTo>
                <a:cubicBezTo>
                  <a:pt x="78" y="54"/>
                  <a:pt x="78" y="54"/>
                  <a:pt x="78" y="54"/>
                </a:cubicBezTo>
                <a:cubicBezTo>
                  <a:pt x="134" y="54"/>
                  <a:pt x="134" y="54"/>
                  <a:pt x="134" y="54"/>
                </a:cubicBezTo>
                <a:cubicBezTo>
                  <a:pt x="150" y="0"/>
                  <a:pt x="150" y="0"/>
                  <a:pt x="150" y="0"/>
                </a:cubicBezTo>
                <a:cubicBezTo>
                  <a:pt x="66" y="1"/>
                  <a:pt x="66" y="1"/>
                  <a:pt x="66" y="1"/>
                </a:cubicBezTo>
                <a:cubicBezTo>
                  <a:pt x="78" y="53"/>
                  <a:pt x="78" y="53"/>
                  <a:pt x="78" y="53"/>
                </a:cubicBezTo>
                <a:cubicBezTo>
                  <a:pt x="69" y="43"/>
                  <a:pt x="48" y="22"/>
                  <a:pt x="29" y="29"/>
                </a:cubicBezTo>
                <a:cubicBezTo>
                  <a:pt x="31" y="35"/>
                  <a:pt x="31" y="35"/>
                  <a:pt x="31" y="35"/>
                </a:cubicBezTo>
                <a:cubicBezTo>
                  <a:pt x="47" y="29"/>
                  <a:pt x="67" y="50"/>
                  <a:pt x="74" y="58"/>
                </a:cubicBezTo>
                <a:cubicBezTo>
                  <a:pt x="63" y="62"/>
                  <a:pt x="47" y="66"/>
                  <a:pt x="38" y="57"/>
                </a:cubicBezTo>
                <a:cubicBezTo>
                  <a:pt x="34" y="62"/>
                  <a:pt x="34" y="62"/>
                  <a:pt x="34" y="62"/>
                </a:cubicBezTo>
                <a:cubicBezTo>
                  <a:pt x="40" y="67"/>
                  <a:pt x="46" y="69"/>
                  <a:pt x="54" y="69"/>
                </a:cubicBezTo>
                <a:cubicBezTo>
                  <a:pt x="58" y="69"/>
                  <a:pt x="62" y="68"/>
                  <a:pt x="66" y="67"/>
                </a:cubicBezTo>
                <a:cubicBezTo>
                  <a:pt x="27" y="94"/>
                  <a:pt x="0" y="154"/>
                  <a:pt x="0" y="200"/>
                </a:cubicBezTo>
                <a:cubicBezTo>
                  <a:pt x="0" y="260"/>
                  <a:pt x="49" y="309"/>
                  <a:pt x="109" y="309"/>
                </a:cubicBezTo>
                <a:cubicBezTo>
                  <a:pt x="170" y="308"/>
                  <a:pt x="218" y="259"/>
                  <a:pt x="218" y="199"/>
                </a:cubicBezTo>
                <a:cubicBezTo>
                  <a:pt x="218" y="150"/>
                  <a:pt x="186" y="85"/>
                  <a:pt x="142" y="61"/>
                </a:cubicBezTo>
                <a:close/>
                <a:moveTo>
                  <a:pt x="140" y="235"/>
                </a:moveTo>
                <a:cubicBezTo>
                  <a:pt x="134" y="240"/>
                  <a:pt x="127" y="243"/>
                  <a:pt x="119" y="245"/>
                </a:cubicBezTo>
                <a:cubicBezTo>
                  <a:pt x="119" y="262"/>
                  <a:pt x="119" y="262"/>
                  <a:pt x="119" y="262"/>
                </a:cubicBezTo>
                <a:cubicBezTo>
                  <a:pt x="100" y="262"/>
                  <a:pt x="100" y="262"/>
                  <a:pt x="100" y="262"/>
                </a:cubicBezTo>
                <a:cubicBezTo>
                  <a:pt x="100" y="245"/>
                  <a:pt x="100" y="245"/>
                  <a:pt x="100" y="245"/>
                </a:cubicBezTo>
                <a:cubicBezTo>
                  <a:pt x="92" y="243"/>
                  <a:pt x="84" y="240"/>
                  <a:pt x="77" y="234"/>
                </a:cubicBezTo>
                <a:cubicBezTo>
                  <a:pt x="70" y="228"/>
                  <a:pt x="66" y="220"/>
                  <a:pt x="65" y="211"/>
                </a:cubicBezTo>
                <a:cubicBezTo>
                  <a:pt x="66" y="206"/>
                  <a:pt x="66" y="206"/>
                  <a:pt x="66" y="206"/>
                </a:cubicBezTo>
                <a:cubicBezTo>
                  <a:pt x="84" y="206"/>
                  <a:pt x="84" y="206"/>
                  <a:pt x="84" y="206"/>
                </a:cubicBezTo>
                <a:cubicBezTo>
                  <a:pt x="84" y="208"/>
                  <a:pt x="84" y="208"/>
                  <a:pt x="84" y="208"/>
                </a:cubicBezTo>
                <a:cubicBezTo>
                  <a:pt x="84" y="215"/>
                  <a:pt x="86" y="221"/>
                  <a:pt x="91" y="225"/>
                </a:cubicBezTo>
                <a:cubicBezTo>
                  <a:pt x="95" y="228"/>
                  <a:pt x="101" y="230"/>
                  <a:pt x="109" y="230"/>
                </a:cubicBezTo>
                <a:cubicBezTo>
                  <a:pt x="117" y="230"/>
                  <a:pt x="123" y="228"/>
                  <a:pt x="128" y="224"/>
                </a:cubicBezTo>
                <a:cubicBezTo>
                  <a:pt x="132" y="220"/>
                  <a:pt x="134" y="215"/>
                  <a:pt x="134" y="208"/>
                </a:cubicBezTo>
                <a:cubicBezTo>
                  <a:pt x="134" y="203"/>
                  <a:pt x="132" y="198"/>
                  <a:pt x="128" y="195"/>
                </a:cubicBezTo>
                <a:cubicBezTo>
                  <a:pt x="124" y="191"/>
                  <a:pt x="116" y="188"/>
                  <a:pt x="105" y="186"/>
                </a:cubicBezTo>
                <a:cubicBezTo>
                  <a:pt x="94" y="183"/>
                  <a:pt x="85" y="179"/>
                  <a:pt x="79" y="173"/>
                </a:cubicBezTo>
                <a:cubicBezTo>
                  <a:pt x="73" y="168"/>
                  <a:pt x="70" y="160"/>
                  <a:pt x="70" y="152"/>
                </a:cubicBezTo>
                <a:cubicBezTo>
                  <a:pt x="70" y="142"/>
                  <a:pt x="73" y="133"/>
                  <a:pt x="81" y="127"/>
                </a:cubicBezTo>
                <a:cubicBezTo>
                  <a:pt x="86" y="123"/>
                  <a:pt x="92" y="120"/>
                  <a:pt x="99" y="119"/>
                </a:cubicBezTo>
                <a:cubicBezTo>
                  <a:pt x="99" y="103"/>
                  <a:pt x="99" y="103"/>
                  <a:pt x="99" y="103"/>
                </a:cubicBezTo>
                <a:cubicBezTo>
                  <a:pt x="118" y="103"/>
                  <a:pt x="118" y="103"/>
                  <a:pt x="118" y="103"/>
                </a:cubicBezTo>
                <a:cubicBezTo>
                  <a:pt x="118" y="118"/>
                  <a:pt x="118" y="118"/>
                  <a:pt x="118" y="118"/>
                </a:cubicBezTo>
                <a:cubicBezTo>
                  <a:pt x="126" y="119"/>
                  <a:pt x="133" y="122"/>
                  <a:pt x="139" y="127"/>
                </a:cubicBezTo>
                <a:cubicBezTo>
                  <a:pt x="146" y="133"/>
                  <a:pt x="150" y="141"/>
                  <a:pt x="151" y="152"/>
                </a:cubicBezTo>
                <a:cubicBezTo>
                  <a:pt x="151" y="154"/>
                  <a:pt x="151" y="154"/>
                  <a:pt x="151" y="154"/>
                </a:cubicBezTo>
                <a:cubicBezTo>
                  <a:pt x="133" y="154"/>
                  <a:pt x="133" y="154"/>
                  <a:pt x="133" y="154"/>
                </a:cubicBezTo>
                <a:cubicBezTo>
                  <a:pt x="132" y="152"/>
                  <a:pt x="132" y="152"/>
                  <a:pt x="132" y="152"/>
                </a:cubicBezTo>
                <a:cubicBezTo>
                  <a:pt x="132" y="146"/>
                  <a:pt x="129" y="141"/>
                  <a:pt x="126" y="138"/>
                </a:cubicBezTo>
                <a:cubicBezTo>
                  <a:pt x="122" y="134"/>
                  <a:pt x="117" y="133"/>
                  <a:pt x="110" y="133"/>
                </a:cubicBezTo>
                <a:cubicBezTo>
                  <a:pt x="103" y="133"/>
                  <a:pt x="97" y="135"/>
                  <a:pt x="94" y="138"/>
                </a:cubicBezTo>
                <a:cubicBezTo>
                  <a:pt x="90" y="141"/>
                  <a:pt x="88" y="145"/>
                  <a:pt x="88" y="151"/>
                </a:cubicBezTo>
                <a:cubicBezTo>
                  <a:pt x="88" y="156"/>
                  <a:pt x="90" y="160"/>
                  <a:pt x="93" y="163"/>
                </a:cubicBezTo>
                <a:cubicBezTo>
                  <a:pt x="97" y="166"/>
                  <a:pt x="103" y="169"/>
                  <a:pt x="112" y="171"/>
                </a:cubicBezTo>
                <a:cubicBezTo>
                  <a:pt x="126" y="174"/>
                  <a:pt x="136" y="179"/>
                  <a:pt x="142" y="185"/>
                </a:cubicBezTo>
                <a:cubicBezTo>
                  <a:pt x="149" y="191"/>
                  <a:pt x="152" y="199"/>
                  <a:pt x="152" y="208"/>
                </a:cubicBezTo>
                <a:cubicBezTo>
                  <a:pt x="153" y="219"/>
                  <a:pt x="148" y="228"/>
                  <a:pt x="140" y="235"/>
                </a:cubicBezTo>
                <a:close/>
              </a:path>
            </a:pathLst>
          </a:custGeom>
          <a:solidFill>
            <a:srgbClr val="002E5A"/>
          </a:solidFill>
          <a:ln>
            <a:noFill/>
          </a:ln>
          <a:extLst/>
        </p:spPr>
        <p:txBody>
          <a:bodyPr vert="horz" wrap="square" lIns="91440" tIns="45720" rIns="91440" bIns="45720" numCol="1" anchor="t" anchorCtr="0" compatLnSpc="1">
            <a:prstTxWarp prst="textNoShape">
              <a:avLst/>
            </a:prstTxWarp>
          </a:bodyPr>
          <a:lstStyle/>
          <a:p>
            <a:endParaRPr lang="en-ZA" dirty="0"/>
          </a:p>
        </p:txBody>
      </p:sp>
      <p:sp>
        <p:nvSpPr>
          <p:cNvPr id="42" name="TextBox 41"/>
          <p:cNvSpPr txBox="1"/>
          <p:nvPr/>
        </p:nvSpPr>
        <p:spPr>
          <a:xfrm>
            <a:off x="458839" y="1286943"/>
            <a:ext cx="1296000" cy="216000"/>
          </a:xfrm>
          <a:prstGeom prst="rect">
            <a:avLst/>
          </a:prstGeom>
          <a:solidFill>
            <a:srgbClr val="002E5A"/>
          </a:solidFill>
        </p:spPr>
        <p:txBody>
          <a:bodyPr wrap="square" rtlCol="0">
            <a:spAutoFit/>
          </a:bodyPr>
          <a:lstStyle/>
          <a:p>
            <a:pPr algn="ctr"/>
            <a:r>
              <a:rPr lang="en-ZA" sz="900" b="1" dirty="0">
                <a:solidFill>
                  <a:schemeClr val="bg1"/>
                </a:solidFill>
              </a:rPr>
              <a:t>Staff complement </a:t>
            </a:r>
          </a:p>
        </p:txBody>
      </p:sp>
      <p:sp>
        <p:nvSpPr>
          <p:cNvPr id="43" name="TextBox 42"/>
          <p:cNvSpPr txBox="1"/>
          <p:nvPr/>
        </p:nvSpPr>
        <p:spPr>
          <a:xfrm>
            <a:off x="1790570" y="1286943"/>
            <a:ext cx="1584000" cy="216000"/>
          </a:xfrm>
          <a:prstGeom prst="rect">
            <a:avLst/>
          </a:prstGeom>
          <a:solidFill>
            <a:srgbClr val="002E5A"/>
          </a:solidFill>
        </p:spPr>
        <p:txBody>
          <a:bodyPr wrap="square" rtlCol="0">
            <a:spAutoFit/>
          </a:bodyPr>
          <a:lstStyle/>
          <a:p>
            <a:pPr algn="ctr"/>
            <a:r>
              <a:rPr lang="en-ZA" sz="900" b="1" dirty="0">
                <a:solidFill>
                  <a:schemeClr val="bg1"/>
                </a:solidFill>
              </a:rPr>
              <a:t>Culture </a:t>
            </a:r>
          </a:p>
        </p:txBody>
      </p:sp>
      <p:sp>
        <p:nvSpPr>
          <p:cNvPr id="45" name="TextBox 44"/>
          <p:cNvSpPr txBox="1"/>
          <p:nvPr/>
        </p:nvSpPr>
        <p:spPr>
          <a:xfrm>
            <a:off x="3408218" y="1286943"/>
            <a:ext cx="1440000" cy="230832"/>
          </a:xfrm>
          <a:prstGeom prst="rect">
            <a:avLst/>
          </a:prstGeom>
          <a:solidFill>
            <a:srgbClr val="002E5A"/>
          </a:solidFill>
        </p:spPr>
        <p:txBody>
          <a:bodyPr wrap="square" rtlCol="0">
            <a:spAutoFit/>
          </a:bodyPr>
          <a:lstStyle/>
          <a:p>
            <a:pPr algn="ctr"/>
            <a:r>
              <a:rPr lang="en-ZA" sz="900" b="1" dirty="0">
                <a:solidFill>
                  <a:schemeClr val="bg1"/>
                </a:solidFill>
              </a:rPr>
              <a:t>Processes and tools </a:t>
            </a:r>
          </a:p>
        </p:txBody>
      </p:sp>
      <p:sp>
        <p:nvSpPr>
          <p:cNvPr id="46" name="Text Box 37"/>
          <p:cNvSpPr txBox="1"/>
          <p:nvPr/>
        </p:nvSpPr>
        <p:spPr>
          <a:xfrm>
            <a:off x="692098" y="1999827"/>
            <a:ext cx="1166581" cy="230832"/>
          </a:xfrm>
          <a:prstGeom prst="rect">
            <a:avLst/>
          </a:prstGeom>
        </p:spPr>
        <p:txBody>
          <a:bodyPr wrap="square">
            <a:spAutoFit/>
          </a:bodyPr>
          <a:lstStyle>
            <a:defPPr>
              <a:defRPr lang="en-US"/>
            </a:defPPr>
            <a:lvl1pPr>
              <a:defRPr sz="800" b="1"/>
            </a:lvl1pPr>
          </a:lstStyle>
          <a:p>
            <a:r>
              <a:rPr lang="en-ZA" sz="900" dirty="0"/>
              <a:t>Utilisation</a:t>
            </a:r>
          </a:p>
        </p:txBody>
      </p:sp>
      <p:sp>
        <p:nvSpPr>
          <p:cNvPr id="47" name="Rectangle 20"/>
          <p:cNvSpPr>
            <a:spLocks noChangeArrowheads="1"/>
          </p:cNvSpPr>
          <p:nvPr/>
        </p:nvSpPr>
        <p:spPr bwMode="gray">
          <a:xfrm>
            <a:off x="738681" y="2241674"/>
            <a:ext cx="820346" cy="223307"/>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900" b="1" dirty="0">
                <a:latin typeface="Arial" panose="020B0604020202020204" pitchFamily="34" charset="0"/>
                <a:ea typeface="Times New Roman" panose="02020603050405020304" pitchFamily="18" charset="0"/>
              </a:rPr>
              <a:t>&gt;100%</a:t>
            </a:r>
            <a:endParaRPr lang="en-ZA" sz="900" b="1" dirty="0">
              <a:effectLst/>
              <a:latin typeface="Times New Roman" panose="02020603050405020304" pitchFamily="18" charset="0"/>
              <a:ea typeface="Times New Roman" panose="02020603050405020304" pitchFamily="18" charset="0"/>
            </a:endParaRPr>
          </a:p>
        </p:txBody>
      </p:sp>
      <p:grpSp>
        <p:nvGrpSpPr>
          <p:cNvPr id="49" name="Group 12"/>
          <p:cNvGrpSpPr>
            <a:grpSpLocks/>
          </p:cNvGrpSpPr>
          <p:nvPr/>
        </p:nvGrpSpPr>
        <p:grpSpPr bwMode="auto">
          <a:xfrm>
            <a:off x="6217161" y="1371686"/>
            <a:ext cx="2262116" cy="2051056"/>
            <a:chOff x="2244" y="1767"/>
            <a:chExt cx="2029" cy="2029"/>
          </a:xfrm>
          <a:solidFill>
            <a:srgbClr val="00234F"/>
          </a:solidFill>
        </p:grpSpPr>
        <p:sp>
          <p:nvSpPr>
            <p:cNvPr id="50" name="Freeform 13"/>
            <p:cNvSpPr>
              <a:spLocks/>
            </p:cNvSpPr>
            <p:nvPr/>
          </p:nvSpPr>
          <p:spPr bwMode="blackWhite">
            <a:xfrm>
              <a:off x="2366" y="1767"/>
              <a:ext cx="1057" cy="900"/>
            </a:xfrm>
            <a:custGeom>
              <a:avLst/>
              <a:gdLst/>
              <a:ahLst/>
              <a:cxnLst>
                <a:cxn ang="0">
                  <a:pos x="455" y="879"/>
                </a:cxn>
                <a:cxn ang="0">
                  <a:pos x="471" y="838"/>
                </a:cxn>
                <a:cxn ang="0">
                  <a:pos x="490" y="799"/>
                </a:cxn>
                <a:cxn ang="0">
                  <a:pos x="514" y="762"/>
                </a:cxn>
                <a:cxn ang="0">
                  <a:pos x="541" y="728"/>
                </a:cxn>
                <a:cxn ang="0">
                  <a:pos x="570" y="696"/>
                </a:cxn>
                <a:cxn ang="0">
                  <a:pos x="603" y="667"/>
                </a:cxn>
                <a:cxn ang="0">
                  <a:pos x="639" y="642"/>
                </a:cxn>
                <a:cxn ang="0">
                  <a:pos x="676" y="621"/>
                </a:cxn>
                <a:cxn ang="0">
                  <a:pos x="713" y="605"/>
                </a:cxn>
                <a:cxn ang="0">
                  <a:pos x="753" y="591"/>
                </a:cxn>
                <a:cxn ang="0">
                  <a:pos x="793" y="581"/>
                </a:cxn>
                <a:cxn ang="0">
                  <a:pos x="834" y="575"/>
                </a:cxn>
                <a:cxn ang="0">
                  <a:pos x="833" y="711"/>
                </a:cxn>
                <a:cxn ang="0">
                  <a:pos x="1056" y="374"/>
                </a:cxn>
                <a:cxn ang="0">
                  <a:pos x="818" y="0"/>
                </a:cxn>
                <a:cxn ang="0">
                  <a:pos x="819" y="137"/>
                </a:cxn>
                <a:cxn ang="0">
                  <a:pos x="757" y="143"/>
                </a:cxn>
                <a:cxn ang="0">
                  <a:pos x="694" y="154"/>
                </a:cxn>
                <a:cxn ang="0">
                  <a:pos x="634" y="168"/>
                </a:cxn>
                <a:cxn ang="0">
                  <a:pos x="574" y="188"/>
                </a:cxn>
                <a:cxn ang="0">
                  <a:pos x="516" y="211"/>
                </a:cxn>
                <a:cxn ang="0">
                  <a:pos x="460" y="238"/>
                </a:cxn>
                <a:cxn ang="0">
                  <a:pos x="405" y="270"/>
                </a:cxn>
                <a:cxn ang="0">
                  <a:pos x="352" y="306"/>
                </a:cxn>
                <a:cxn ang="0">
                  <a:pos x="302" y="346"/>
                </a:cxn>
                <a:cxn ang="0">
                  <a:pos x="255" y="390"/>
                </a:cxn>
                <a:cxn ang="0">
                  <a:pos x="211" y="437"/>
                </a:cxn>
                <a:cxn ang="0">
                  <a:pos x="170" y="486"/>
                </a:cxn>
                <a:cxn ang="0">
                  <a:pos x="134" y="539"/>
                </a:cxn>
                <a:cxn ang="0">
                  <a:pos x="101" y="595"/>
                </a:cxn>
                <a:cxn ang="0">
                  <a:pos x="72" y="653"/>
                </a:cxn>
                <a:cxn ang="0">
                  <a:pos x="47" y="711"/>
                </a:cxn>
                <a:cxn ang="0">
                  <a:pos x="27" y="773"/>
                </a:cxn>
                <a:cxn ang="0">
                  <a:pos x="11" y="835"/>
                </a:cxn>
                <a:cxn ang="0">
                  <a:pos x="0" y="899"/>
                </a:cxn>
                <a:cxn ang="0">
                  <a:pos x="238" y="741"/>
                </a:cxn>
                <a:cxn ang="0">
                  <a:pos x="455" y="879"/>
                </a:cxn>
              </a:cxnLst>
              <a:rect l="0" t="0" r="r" b="b"/>
              <a:pathLst>
                <a:path w="1057" h="900">
                  <a:moveTo>
                    <a:pt x="455" y="879"/>
                  </a:moveTo>
                  <a:lnTo>
                    <a:pt x="471" y="838"/>
                  </a:lnTo>
                  <a:lnTo>
                    <a:pt x="490" y="799"/>
                  </a:lnTo>
                  <a:lnTo>
                    <a:pt x="514" y="762"/>
                  </a:lnTo>
                  <a:lnTo>
                    <a:pt x="541" y="728"/>
                  </a:lnTo>
                  <a:lnTo>
                    <a:pt x="570" y="696"/>
                  </a:lnTo>
                  <a:lnTo>
                    <a:pt x="603" y="667"/>
                  </a:lnTo>
                  <a:lnTo>
                    <a:pt x="639" y="642"/>
                  </a:lnTo>
                  <a:lnTo>
                    <a:pt x="676" y="621"/>
                  </a:lnTo>
                  <a:lnTo>
                    <a:pt x="713" y="605"/>
                  </a:lnTo>
                  <a:lnTo>
                    <a:pt x="753" y="591"/>
                  </a:lnTo>
                  <a:lnTo>
                    <a:pt x="793" y="581"/>
                  </a:lnTo>
                  <a:lnTo>
                    <a:pt x="834" y="575"/>
                  </a:lnTo>
                  <a:lnTo>
                    <a:pt x="833" y="711"/>
                  </a:lnTo>
                  <a:lnTo>
                    <a:pt x="1056" y="374"/>
                  </a:lnTo>
                  <a:lnTo>
                    <a:pt x="818" y="0"/>
                  </a:lnTo>
                  <a:lnTo>
                    <a:pt x="819" y="137"/>
                  </a:lnTo>
                  <a:lnTo>
                    <a:pt x="757" y="143"/>
                  </a:lnTo>
                  <a:lnTo>
                    <a:pt x="694" y="154"/>
                  </a:lnTo>
                  <a:lnTo>
                    <a:pt x="634" y="168"/>
                  </a:lnTo>
                  <a:lnTo>
                    <a:pt x="574" y="188"/>
                  </a:lnTo>
                  <a:lnTo>
                    <a:pt x="516" y="211"/>
                  </a:lnTo>
                  <a:lnTo>
                    <a:pt x="460" y="238"/>
                  </a:lnTo>
                  <a:lnTo>
                    <a:pt x="405" y="270"/>
                  </a:lnTo>
                  <a:lnTo>
                    <a:pt x="352" y="306"/>
                  </a:lnTo>
                  <a:lnTo>
                    <a:pt x="302" y="346"/>
                  </a:lnTo>
                  <a:lnTo>
                    <a:pt x="255" y="390"/>
                  </a:lnTo>
                  <a:lnTo>
                    <a:pt x="211" y="437"/>
                  </a:lnTo>
                  <a:lnTo>
                    <a:pt x="170" y="486"/>
                  </a:lnTo>
                  <a:lnTo>
                    <a:pt x="134" y="539"/>
                  </a:lnTo>
                  <a:lnTo>
                    <a:pt x="101" y="595"/>
                  </a:lnTo>
                  <a:lnTo>
                    <a:pt x="72" y="653"/>
                  </a:lnTo>
                  <a:lnTo>
                    <a:pt x="47" y="711"/>
                  </a:lnTo>
                  <a:lnTo>
                    <a:pt x="27" y="773"/>
                  </a:lnTo>
                  <a:lnTo>
                    <a:pt x="11" y="835"/>
                  </a:lnTo>
                  <a:lnTo>
                    <a:pt x="0" y="899"/>
                  </a:lnTo>
                  <a:lnTo>
                    <a:pt x="238" y="741"/>
                  </a:lnTo>
                  <a:lnTo>
                    <a:pt x="455" y="879"/>
                  </a:lnTo>
                </a:path>
              </a:pathLst>
            </a:custGeom>
            <a:grpFill/>
            <a:ln w="12700" cap="rnd" cmpd="sng">
              <a:solidFill>
                <a:schemeClr val="bg1">
                  <a:lumMod val="50000"/>
                </a:schemeClr>
              </a:solidFill>
              <a:prstDash val="solid"/>
              <a:round/>
              <a:headEnd/>
              <a:tailEnd/>
            </a:ln>
            <a:effectLst>
              <a:outerShdw dist="35921" dir="2700000" algn="ctr" rotWithShape="0">
                <a:schemeClr val="bg2"/>
              </a:outerShdw>
            </a:effectLst>
          </p:spPr>
          <p:txBody>
            <a:bodyPr/>
            <a:lstStyle/>
            <a:p>
              <a:endParaRPr lang="en-ZA" sz="1632" dirty="0"/>
            </a:p>
          </p:txBody>
        </p:sp>
        <p:sp>
          <p:nvSpPr>
            <p:cNvPr id="51" name="Freeform 14"/>
            <p:cNvSpPr>
              <a:spLocks/>
            </p:cNvSpPr>
            <p:nvPr/>
          </p:nvSpPr>
          <p:spPr bwMode="blackWhite">
            <a:xfrm>
              <a:off x="3073" y="2892"/>
              <a:ext cx="1033" cy="904"/>
            </a:xfrm>
            <a:custGeom>
              <a:avLst/>
              <a:gdLst/>
              <a:ahLst/>
              <a:cxnLst>
                <a:cxn ang="0">
                  <a:pos x="585" y="1"/>
                </a:cxn>
                <a:cxn ang="0">
                  <a:pos x="573" y="41"/>
                </a:cxn>
                <a:cxn ang="0">
                  <a:pos x="556" y="78"/>
                </a:cxn>
                <a:cxn ang="0">
                  <a:pos x="537" y="116"/>
                </a:cxn>
                <a:cxn ang="0">
                  <a:pos x="514" y="150"/>
                </a:cxn>
                <a:cxn ang="0">
                  <a:pos x="488" y="182"/>
                </a:cxn>
                <a:cxn ang="0">
                  <a:pos x="459" y="212"/>
                </a:cxn>
                <a:cxn ang="0">
                  <a:pos x="427" y="239"/>
                </a:cxn>
                <a:cxn ang="0">
                  <a:pos x="393" y="262"/>
                </a:cxn>
                <a:cxn ang="0">
                  <a:pos x="356" y="283"/>
                </a:cxn>
                <a:cxn ang="0">
                  <a:pos x="317" y="301"/>
                </a:cxn>
                <a:cxn ang="0">
                  <a:pos x="277" y="314"/>
                </a:cxn>
                <a:cxn ang="0">
                  <a:pos x="236" y="323"/>
                </a:cxn>
                <a:cxn ang="0">
                  <a:pos x="235" y="187"/>
                </a:cxn>
                <a:cxn ang="0">
                  <a:pos x="159" y="298"/>
                </a:cxn>
                <a:cxn ang="0">
                  <a:pos x="80" y="409"/>
                </a:cxn>
                <a:cxn ang="0">
                  <a:pos x="0" y="517"/>
                </a:cxn>
                <a:cxn ang="0">
                  <a:pos x="236" y="903"/>
                </a:cxn>
                <a:cxn ang="0">
                  <a:pos x="236" y="766"/>
                </a:cxn>
                <a:cxn ang="0">
                  <a:pos x="295" y="759"/>
                </a:cxn>
                <a:cxn ang="0">
                  <a:pos x="353" y="747"/>
                </a:cxn>
                <a:cxn ang="0">
                  <a:pos x="411" y="733"/>
                </a:cxn>
                <a:cxn ang="0">
                  <a:pos x="467" y="713"/>
                </a:cxn>
                <a:cxn ang="0">
                  <a:pos x="522" y="691"/>
                </a:cxn>
                <a:cxn ang="0">
                  <a:pos x="575" y="665"/>
                </a:cxn>
                <a:cxn ang="0">
                  <a:pos x="626" y="635"/>
                </a:cxn>
                <a:cxn ang="0">
                  <a:pos x="676" y="601"/>
                </a:cxn>
                <a:cxn ang="0">
                  <a:pos x="724" y="564"/>
                </a:cxn>
                <a:cxn ang="0">
                  <a:pos x="768" y="525"/>
                </a:cxn>
                <a:cxn ang="0">
                  <a:pos x="811" y="481"/>
                </a:cxn>
                <a:cxn ang="0">
                  <a:pos x="849" y="435"/>
                </a:cxn>
                <a:cxn ang="0">
                  <a:pos x="884" y="387"/>
                </a:cxn>
                <a:cxn ang="0">
                  <a:pos x="916" y="337"/>
                </a:cxn>
                <a:cxn ang="0">
                  <a:pos x="945" y="284"/>
                </a:cxn>
                <a:cxn ang="0">
                  <a:pos x="970" y="231"/>
                </a:cxn>
                <a:cxn ang="0">
                  <a:pos x="991" y="174"/>
                </a:cxn>
                <a:cxn ang="0">
                  <a:pos x="1009" y="117"/>
                </a:cxn>
                <a:cxn ang="0">
                  <a:pos x="1023" y="58"/>
                </a:cxn>
                <a:cxn ang="0">
                  <a:pos x="1032" y="0"/>
                </a:cxn>
                <a:cxn ang="0">
                  <a:pos x="812" y="132"/>
                </a:cxn>
                <a:cxn ang="0">
                  <a:pos x="585" y="1"/>
                </a:cxn>
              </a:cxnLst>
              <a:rect l="0" t="0" r="r" b="b"/>
              <a:pathLst>
                <a:path w="1033" h="904">
                  <a:moveTo>
                    <a:pt x="585" y="1"/>
                  </a:moveTo>
                  <a:lnTo>
                    <a:pt x="573" y="41"/>
                  </a:lnTo>
                  <a:lnTo>
                    <a:pt x="556" y="78"/>
                  </a:lnTo>
                  <a:lnTo>
                    <a:pt x="537" y="116"/>
                  </a:lnTo>
                  <a:lnTo>
                    <a:pt x="514" y="150"/>
                  </a:lnTo>
                  <a:lnTo>
                    <a:pt x="488" y="182"/>
                  </a:lnTo>
                  <a:lnTo>
                    <a:pt x="459" y="212"/>
                  </a:lnTo>
                  <a:lnTo>
                    <a:pt x="427" y="239"/>
                  </a:lnTo>
                  <a:lnTo>
                    <a:pt x="393" y="262"/>
                  </a:lnTo>
                  <a:lnTo>
                    <a:pt x="356" y="283"/>
                  </a:lnTo>
                  <a:lnTo>
                    <a:pt x="317" y="301"/>
                  </a:lnTo>
                  <a:lnTo>
                    <a:pt x="277" y="314"/>
                  </a:lnTo>
                  <a:lnTo>
                    <a:pt x="236" y="323"/>
                  </a:lnTo>
                  <a:lnTo>
                    <a:pt x="235" y="187"/>
                  </a:lnTo>
                  <a:lnTo>
                    <a:pt x="159" y="298"/>
                  </a:lnTo>
                  <a:lnTo>
                    <a:pt x="80" y="409"/>
                  </a:lnTo>
                  <a:lnTo>
                    <a:pt x="0" y="517"/>
                  </a:lnTo>
                  <a:lnTo>
                    <a:pt x="236" y="903"/>
                  </a:lnTo>
                  <a:lnTo>
                    <a:pt x="236" y="766"/>
                  </a:lnTo>
                  <a:lnTo>
                    <a:pt x="295" y="759"/>
                  </a:lnTo>
                  <a:lnTo>
                    <a:pt x="353" y="747"/>
                  </a:lnTo>
                  <a:lnTo>
                    <a:pt x="411" y="733"/>
                  </a:lnTo>
                  <a:lnTo>
                    <a:pt x="467" y="713"/>
                  </a:lnTo>
                  <a:lnTo>
                    <a:pt x="522" y="691"/>
                  </a:lnTo>
                  <a:lnTo>
                    <a:pt x="575" y="665"/>
                  </a:lnTo>
                  <a:lnTo>
                    <a:pt x="626" y="635"/>
                  </a:lnTo>
                  <a:lnTo>
                    <a:pt x="676" y="601"/>
                  </a:lnTo>
                  <a:lnTo>
                    <a:pt x="724" y="564"/>
                  </a:lnTo>
                  <a:lnTo>
                    <a:pt x="768" y="525"/>
                  </a:lnTo>
                  <a:lnTo>
                    <a:pt x="811" y="481"/>
                  </a:lnTo>
                  <a:lnTo>
                    <a:pt x="849" y="435"/>
                  </a:lnTo>
                  <a:lnTo>
                    <a:pt x="884" y="387"/>
                  </a:lnTo>
                  <a:lnTo>
                    <a:pt x="916" y="337"/>
                  </a:lnTo>
                  <a:lnTo>
                    <a:pt x="945" y="284"/>
                  </a:lnTo>
                  <a:lnTo>
                    <a:pt x="970" y="231"/>
                  </a:lnTo>
                  <a:lnTo>
                    <a:pt x="991" y="174"/>
                  </a:lnTo>
                  <a:lnTo>
                    <a:pt x="1009" y="117"/>
                  </a:lnTo>
                  <a:lnTo>
                    <a:pt x="1023" y="58"/>
                  </a:lnTo>
                  <a:lnTo>
                    <a:pt x="1032" y="0"/>
                  </a:lnTo>
                  <a:lnTo>
                    <a:pt x="812" y="132"/>
                  </a:lnTo>
                  <a:lnTo>
                    <a:pt x="585" y="1"/>
                  </a:lnTo>
                </a:path>
              </a:pathLst>
            </a:custGeom>
            <a:grpFill/>
            <a:ln w="12700" cap="rnd" cmpd="sng">
              <a:solidFill>
                <a:schemeClr val="bg1">
                  <a:lumMod val="50000"/>
                </a:schemeClr>
              </a:solidFill>
              <a:prstDash val="solid"/>
              <a:round/>
              <a:headEnd/>
              <a:tailEnd/>
            </a:ln>
            <a:effectLst>
              <a:outerShdw dist="35921" dir="2700000" algn="ctr" rotWithShape="0">
                <a:schemeClr val="bg2"/>
              </a:outerShdw>
            </a:effectLst>
          </p:spPr>
          <p:txBody>
            <a:bodyPr/>
            <a:lstStyle/>
            <a:p>
              <a:endParaRPr lang="en-ZA" sz="1632" dirty="0"/>
            </a:p>
          </p:txBody>
        </p:sp>
        <p:sp>
          <p:nvSpPr>
            <p:cNvPr id="52" name="Freeform 15"/>
            <p:cNvSpPr>
              <a:spLocks/>
            </p:cNvSpPr>
            <p:nvPr/>
          </p:nvSpPr>
          <p:spPr bwMode="blackWhite">
            <a:xfrm>
              <a:off x="2244" y="2563"/>
              <a:ext cx="930" cy="1075"/>
            </a:xfrm>
            <a:custGeom>
              <a:avLst/>
              <a:gdLst/>
              <a:ahLst/>
              <a:cxnLst>
                <a:cxn ang="0">
                  <a:pos x="929" y="645"/>
                </a:cxn>
                <a:cxn ang="0">
                  <a:pos x="887" y="634"/>
                </a:cxn>
                <a:cxn ang="0">
                  <a:pos x="847" y="620"/>
                </a:cxn>
                <a:cxn ang="0">
                  <a:pos x="807" y="603"/>
                </a:cxn>
                <a:cxn ang="0">
                  <a:pos x="771" y="582"/>
                </a:cxn>
                <a:cxn ang="0">
                  <a:pos x="735" y="557"/>
                </a:cxn>
                <a:cxn ang="0">
                  <a:pos x="703" y="529"/>
                </a:cxn>
                <a:cxn ang="0">
                  <a:pos x="673" y="497"/>
                </a:cxn>
                <a:cxn ang="0">
                  <a:pos x="648" y="465"/>
                </a:cxn>
                <a:cxn ang="0">
                  <a:pos x="624" y="428"/>
                </a:cxn>
                <a:cxn ang="0">
                  <a:pos x="607" y="398"/>
                </a:cxn>
                <a:cxn ang="0">
                  <a:pos x="594" y="366"/>
                </a:cxn>
                <a:cxn ang="0">
                  <a:pos x="583" y="332"/>
                </a:cxn>
                <a:cxn ang="0">
                  <a:pos x="577" y="298"/>
                </a:cxn>
                <a:cxn ang="0">
                  <a:pos x="575" y="264"/>
                </a:cxn>
                <a:cxn ang="0">
                  <a:pos x="576" y="229"/>
                </a:cxn>
                <a:cxn ang="0">
                  <a:pos x="748" y="229"/>
                </a:cxn>
                <a:cxn ang="0">
                  <a:pos x="360" y="0"/>
                </a:cxn>
                <a:cxn ang="0">
                  <a:pos x="0" y="236"/>
                </a:cxn>
                <a:cxn ang="0">
                  <a:pos x="136" y="237"/>
                </a:cxn>
                <a:cxn ang="0">
                  <a:pos x="141" y="299"/>
                </a:cxn>
                <a:cxn ang="0">
                  <a:pos x="150" y="362"/>
                </a:cxn>
                <a:cxn ang="0">
                  <a:pos x="165" y="422"/>
                </a:cxn>
                <a:cxn ang="0">
                  <a:pos x="182" y="483"/>
                </a:cxn>
                <a:cxn ang="0">
                  <a:pos x="204" y="541"/>
                </a:cxn>
                <a:cxn ang="0">
                  <a:pos x="231" y="598"/>
                </a:cxn>
                <a:cxn ang="0">
                  <a:pos x="262" y="653"/>
                </a:cxn>
                <a:cxn ang="0">
                  <a:pos x="296" y="704"/>
                </a:cxn>
                <a:cxn ang="0">
                  <a:pos x="333" y="752"/>
                </a:cxn>
                <a:cxn ang="0">
                  <a:pos x="374" y="797"/>
                </a:cxn>
                <a:cxn ang="0">
                  <a:pos x="419" y="841"/>
                </a:cxn>
                <a:cxn ang="0">
                  <a:pos x="465" y="880"/>
                </a:cxn>
                <a:cxn ang="0">
                  <a:pos x="514" y="917"/>
                </a:cxn>
                <a:cxn ang="0">
                  <a:pos x="566" y="951"/>
                </a:cxn>
                <a:cxn ang="0">
                  <a:pos x="620" y="980"/>
                </a:cxn>
                <a:cxn ang="0">
                  <a:pos x="675" y="1007"/>
                </a:cxn>
                <a:cxn ang="0">
                  <a:pos x="732" y="1029"/>
                </a:cxn>
                <a:cxn ang="0">
                  <a:pos x="790" y="1048"/>
                </a:cxn>
                <a:cxn ang="0">
                  <a:pos x="849" y="1062"/>
                </a:cxn>
                <a:cxn ang="0">
                  <a:pos x="910" y="1074"/>
                </a:cxn>
                <a:cxn ang="0">
                  <a:pos x="772" y="845"/>
                </a:cxn>
                <a:cxn ang="0">
                  <a:pos x="929" y="645"/>
                </a:cxn>
              </a:cxnLst>
              <a:rect l="0" t="0" r="r" b="b"/>
              <a:pathLst>
                <a:path w="930" h="1075">
                  <a:moveTo>
                    <a:pt x="929" y="645"/>
                  </a:moveTo>
                  <a:lnTo>
                    <a:pt x="887" y="634"/>
                  </a:lnTo>
                  <a:lnTo>
                    <a:pt x="847" y="620"/>
                  </a:lnTo>
                  <a:lnTo>
                    <a:pt x="807" y="603"/>
                  </a:lnTo>
                  <a:lnTo>
                    <a:pt x="771" y="582"/>
                  </a:lnTo>
                  <a:lnTo>
                    <a:pt x="735" y="557"/>
                  </a:lnTo>
                  <a:lnTo>
                    <a:pt x="703" y="529"/>
                  </a:lnTo>
                  <a:lnTo>
                    <a:pt x="673" y="497"/>
                  </a:lnTo>
                  <a:lnTo>
                    <a:pt x="648" y="465"/>
                  </a:lnTo>
                  <a:lnTo>
                    <a:pt x="624" y="428"/>
                  </a:lnTo>
                  <a:lnTo>
                    <a:pt x="607" y="398"/>
                  </a:lnTo>
                  <a:lnTo>
                    <a:pt x="594" y="366"/>
                  </a:lnTo>
                  <a:lnTo>
                    <a:pt x="583" y="332"/>
                  </a:lnTo>
                  <a:lnTo>
                    <a:pt x="577" y="298"/>
                  </a:lnTo>
                  <a:lnTo>
                    <a:pt x="575" y="264"/>
                  </a:lnTo>
                  <a:lnTo>
                    <a:pt x="576" y="229"/>
                  </a:lnTo>
                  <a:lnTo>
                    <a:pt x="748" y="229"/>
                  </a:lnTo>
                  <a:lnTo>
                    <a:pt x="360" y="0"/>
                  </a:lnTo>
                  <a:lnTo>
                    <a:pt x="0" y="236"/>
                  </a:lnTo>
                  <a:lnTo>
                    <a:pt x="136" y="237"/>
                  </a:lnTo>
                  <a:lnTo>
                    <a:pt x="141" y="299"/>
                  </a:lnTo>
                  <a:lnTo>
                    <a:pt x="150" y="362"/>
                  </a:lnTo>
                  <a:lnTo>
                    <a:pt x="165" y="422"/>
                  </a:lnTo>
                  <a:lnTo>
                    <a:pt x="182" y="483"/>
                  </a:lnTo>
                  <a:lnTo>
                    <a:pt x="204" y="541"/>
                  </a:lnTo>
                  <a:lnTo>
                    <a:pt x="231" y="598"/>
                  </a:lnTo>
                  <a:lnTo>
                    <a:pt x="262" y="653"/>
                  </a:lnTo>
                  <a:lnTo>
                    <a:pt x="296" y="704"/>
                  </a:lnTo>
                  <a:lnTo>
                    <a:pt x="333" y="752"/>
                  </a:lnTo>
                  <a:lnTo>
                    <a:pt x="374" y="797"/>
                  </a:lnTo>
                  <a:lnTo>
                    <a:pt x="419" y="841"/>
                  </a:lnTo>
                  <a:lnTo>
                    <a:pt x="465" y="880"/>
                  </a:lnTo>
                  <a:lnTo>
                    <a:pt x="514" y="917"/>
                  </a:lnTo>
                  <a:lnTo>
                    <a:pt x="566" y="951"/>
                  </a:lnTo>
                  <a:lnTo>
                    <a:pt x="620" y="980"/>
                  </a:lnTo>
                  <a:lnTo>
                    <a:pt x="675" y="1007"/>
                  </a:lnTo>
                  <a:lnTo>
                    <a:pt x="732" y="1029"/>
                  </a:lnTo>
                  <a:lnTo>
                    <a:pt x="790" y="1048"/>
                  </a:lnTo>
                  <a:lnTo>
                    <a:pt x="849" y="1062"/>
                  </a:lnTo>
                  <a:lnTo>
                    <a:pt x="910" y="1074"/>
                  </a:lnTo>
                  <a:lnTo>
                    <a:pt x="772" y="845"/>
                  </a:lnTo>
                  <a:lnTo>
                    <a:pt x="929" y="645"/>
                  </a:lnTo>
                </a:path>
              </a:pathLst>
            </a:custGeom>
            <a:grpFill/>
            <a:ln w="12700" cap="rnd" cmpd="sng">
              <a:solidFill>
                <a:schemeClr val="bg1">
                  <a:lumMod val="50000"/>
                </a:schemeClr>
              </a:solidFill>
              <a:prstDash val="solid"/>
              <a:round/>
              <a:headEnd/>
              <a:tailEnd/>
            </a:ln>
            <a:effectLst>
              <a:outerShdw dist="35921" dir="2700000" algn="ctr" rotWithShape="0">
                <a:schemeClr val="bg2"/>
              </a:outerShdw>
            </a:effectLst>
          </p:spPr>
          <p:txBody>
            <a:bodyPr/>
            <a:lstStyle/>
            <a:p>
              <a:endParaRPr lang="en-ZA" sz="1632" dirty="0"/>
            </a:p>
          </p:txBody>
        </p:sp>
        <p:sp>
          <p:nvSpPr>
            <p:cNvPr id="53" name="Freeform 16"/>
            <p:cNvSpPr>
              <a:spLocks/>
            </p:cNvSpPr>
            <p:nvPr/>
          </p:nvSpPr>
          <p:spPr bwMode="blackWhite">
            <a:xfrm>
              <a:off x="3330" y="1909"/>
              <a:ext cx="943" cy="1065"/>
            </a:xfrm>
            <a:custGeom>
              <a:avLst/>
              <a:gdLst/>
              <a:ahLst/>
              <a:cxnLst>
                <a:cxn ang="0">
                  <a:pos x="554" y="1064"/>
                </a:cxn>
                <a:cxn ang="0">
                  <a:pos x="942" y="840"/>
                </a:cxn>
                <a:cxn ang="0">
                  <a:pos x="781" y="840"/>
                </a:cxn>
                <a:cxn ang="0">
                  <a:pos x="776" y="778"/>
                </a:cxn>
                <a:cxn ang="0">
                  <a:pos x="767" y="716"/>
                </a:cxn>
                <a:cxn ang="0">
                  <a:pos x="754" y="655"/>
                </a:cxn>
                <a:cxn ang="0">
                  <a:pos x="737" y="595"/>
                </a:cxn>
                <a:cxn ang="0">
                  <a:pos x="714" y="536"/>
                </a:cxn>
                <a:cxn ang="0">
                  <a:pos x="688" y="480"/>
                </a:cxn>
                <a:cxn ang="0">
                  <a:pos x="658" y="425"/>
                </a:cxn>
                <a:cxn ang="0">
                  <a:pos x="624" y="372"/>
                </a:cxn>
                <a:cxn ang="0">
                  <a:pos x="586" y="323"/>
                </a:cxn>
                <a:cxn ang="0">
                  <a:pos x="547" y="275"/>
                </a:cxn>
                <a:cxn ang="0">
                  <a:pos x="502" y="232"/>
                </a:cxn>
                <a:cxn ang="0">
                  <a:pos x="455" y="191"/>
                </a:cxn>
                <a:cxn ang="0">
                  <a:pos x="405" y="153"/>
                </a:cxn>
                <a:cxn ang="0">
                  <a:pos x="352" y="120"/>
                </a:cxn>
                <a:cxn ang="0">
                  <a:pos x="298" y="89"/>
                </a:cxn>
                <a:cxn ang="0">
                  <a:pos x="241" y="63"/>
                </a:cxn>
                <a:cxn ang="0">
                  <a:pos x="182" y="41"/>
                </a:cxn>
                <a:cxn ang="0">
                  <a:pos x="122" y="23"/>
                </a:cxn>
                <a:cxn ang="0">
                  <a:pos x="61" y="9"/>
                </a:cxn>
                <a:cxn ang="0">
                  <a:pos x="0" y="0"/>
                </a:cxn>
                <a:cxn ang="0">
                  <a:pos x="137" y="226"/>
                </a:cxn>
                <a:cxn ang="0">
                  <a:pos x="5" y="451"/>
                </a:cxn>
                <a:cxn ang="0">
                  <a:pos x="48" y="465"/>
                </a:cxn>
                <a:cxn ang="0">
                  <a:pos x="90" y="483"/>
                </a:cxn>
                <a:cxn ang="0">
                  <a:pos x="130" y="505"/>
                </a:cxn>
                <a:cxn ang="0">
                  <a:pos x="168" y="531"/>
                </a:cxn>
                <a:cxn ang="0">
                  <a:pos x="202" y="561"/>
                </a:cxn>
                <a:cxn ang="0">
                  <a:pos x="233" y="594"/>
                </a:cxn>
                <a:cxn ang="0">
                  <a:pos x="262" y="629"/>
                </a:cxn>
                <a:cxn ang="0">
                  <a:pos x="285" y="668"/>
                </a:cxn>
                <a:cxn ang="0">
                  <a:pos x="305" y="709"/>
                </a:cxn>
                <a:cxn ang="0">
                  <a:pos x="321" y="751"/>
                </a:cxn>
                <a:cxn ang="0">
                  <a:pos x="333" y="795"/>
                </a:cxn>
                <a:cxn ang="0">
                  <a:pos x="340" y="840"/>
                </a:cxn>
                <a:cxn ang="0">
                  <a:pos x="188" y="841"/>
                </a:cxn>
                <a:cxn ang="0">
                  <a:pos x="554" y="1064"/>
                </a:cxn>
              </a:cxnLst>
              <a:rect l="0" t="0" r="r" b="b"/>
              <a:pathLst>
                <a:path w="943" h="1065">
                  <a:moveTo>
                    <a:pt x="554" y="1064"/>
                  </a:moveTo>
                  <a:lnTo>
                    <a:pt x="942" y="840"/>
                  </a:lnTo>
                  <a:lnTo>
                    <a:pt x="781" y="840"/>
                  </a:lnTo>
                  <a:lnTo>
                    <a:pt x="776" y="778"/>
                  </a:lnTo>
                  <a:lnTo>
                    <a:pt x="767" y="716"/>
                  </a:lnTo>
                  <a:lnTo>
                    <a:pt x="754" y="655"/>
                  </a:lnTo>
                  <a:lnTo>
                    <a:pt x="737" y="595"/>
                  </a:lnTo>
                  <a:lnTo>
                    <a:pt x="714" y="536"/>
                  </a:lnTo>
                  <a:lnTo>
                    <a:pt x="688" y="480"/>
                  </a:lnTo>
                  <a:lnTo>
                    <a:pt x="658" y="425"/>
                  </a:lnTo>
                  <a:lnTo>
                    <a:pt x="624" y="372"/>
                  </a:lnTo>
                  <a:lnTo>
                    <a:pt x="586" y="323"/>
                  </a:lnTo>
                  <a:lnTo>
                    <a:pt x="547" y="275"/>
                  </a:lnTo>
                  <a:lnTo>
                    <a:pt x="502" y="232"/>
                  </a:lnTo>
                  <a:lnTo>
                    <a:pt x="455" y="191"/>
                  </a:lnTo>
                  <a:lnTo>
                    <a:pt x="405" y="153"/>
                  </a:lnTo>
                  <a:lnTo>
                    <a:pt x="352" y="120"/>
                  </a:lnTo>
                  <a:lnTo>
                    <a:pt x="298" y="89"/>
                  </a:lnTo>
                  <a:lnTo>
                    <a:pt x="241" y="63"/>
                  </a:lnTo>
                  <a:lnTo>
                    <a:pt x="182" y="41"/>
                  </a:lnTo>
                  <a:lnTo>
                    <a:pt x="122" y="23"/>
                  </a:lnTo>
                  <a:lnTo>
                    <a:pt x="61" y="9"/>
                  </a:lnTo>
                  <a:lnTo>
                    <a:pt x="0" y="0"/>
                  </a:lnTo>
                  <a:lnTo>
                    <a:pt x="137" y="226"/>
                  </a:lnTo>
                  <a:lnTo>
                    <a:pt x="5" y="451"/>
                  </a:lnTo>
                  <a:lnTo>
                    <a:pt x="48" y="465"/>
                  </a:lnTo>
                  <a:lnTo>
                    <a:pt x="90" y="483"/>
                  </a:lnTo>
                  <a:lnTo>
                    <a:pt x="130" y="505"/>
                  </a:lnTo>
                  <a:lnTo>
                    <a:pt x="168" y="531"/>
                  </a:lnTo>
                  <a:lnTo>
                    <a:pt x="202" y="561"/>
                  </a:lnTo>
                  <a:lnTo>
                    <a:pt x="233" y="594"/>
                  </a:lnTo>
                  <a:lnTo>
                    <a:pt x="262" y="629"/>
                  </a:lnTo>
                  <a:lnTo>
                    <a:pt x="285" y="668"/>
                  </a:lnTo>
                  <a:lnTo>
                    <a:pt x="305" y="709"/>
                  </a:lnTo>
                  <a:lnTo>
                    <a:pt x="321" y="751"/>
                  </a:lnTo>
                  <a:lnTo>
                    <a:pt x="333" y="795"/>
                  </a:lnTo>
                  <a:lnTo>
                    <a:pt x="340" y="840"/>
                  </a:lnTo>
                  <a:lnTo>
                    <a:pt x="188" y="841"/>
                  </a:lnTo>
                  <a:lnTo>
                    <a:pt x="554" y="1064"/>
                  </a:lnTo>
                </a:path>
              </a:pathLst>
            </a:custGeom>
            <a:grpFill/>
            <a:ln w="12700" cap="rnd" cmpd="sng">
              <a:solidFill>
                <a:schemeClr val="bg1">
                  <a:lumMod val="50000"/>
                </a:schemeClr>
              </a:solidFill>
              <a:prstDash val="solid"/>
              <a:round/>
              <a:headEnd/>
              <a:tailEnd/>
            </a:ln>
            <a:effectLst>
              <a:outerShdw dist="35921" dir="2700000" algn="ctr" rotWithShape="0">
                <a:schemeClr val="bg2"/>
              </a:outerShdw>
            </a:effectLst>
          </p:spPr>
          <p:txBody>
            <a:bodyPr/>
            <a:lstStyle/>
            <a:p>
              <a:endParaRPr lang="en-ZA" sz="1632" dirty="0"/>
            </a:p>
          </p:txBody>
        </p:sp>
      </p:grpSp>
      <p:pic>
        <p:nvPicPr>
          <p:cNvPr id="5" name="Picture 4"/>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371390" y="2145749"/>
            <a:ext cx="349580" cy="349580"/>
          </a:xfrm>
          <a:prstGeom prst="rect">
            <a:avLst/>
          </a:prstGeom>
        </p:spPr>
      </p:pic>
      <p:sp>
        <p:nvSpPr>
          <p:cNvPr id="56" name="Rectangle 8"/>
          <p:cNvSpPr>
            <a:spLocks noChangeArrowheads="1"/>
          </p:cNvSpPr>
          <p:nvPr>
            <p:custDataLst>
              <p:tags r:id="rId3"/>
            </p:custDataLst>
          </p:nvPr>
        </p:nvSpPr>
        <p:spPr bwMode="gray">
          <a:xfrm>
            <a:off x="1795981" y="1542469"/>
            <a:ext cx="1563584" cy="201955"/>
          </a:xfrm>
          <a:prstGeom prst="rect">
            <a:avLst/>
          </a:prstGeom>
          <a:solidFill>
            <a:schemeClr val="accent4">
              <a:lumMod val="75000"/>
            </a:schemeClr>
          </a:solidFill>
          <a:ln w="19050">
            <a:solidFill>
              <a:schemeClr val="accent4">
                <a:lumMod val="75000"/>
              </a:schemeClr>
            </a:solidFill>
          </a:ln>
          <a:extLst/>
        </p:spPr>
        <p:txBody>
          <a:bodyPr lIns="144000" tIns="32654" rIns="32654" bIns="32654" anchor="ctr"/>
          <a:lstStyle>
            <a:lvl1pPr marL="342900" indent="-342900" defTabSz="639763" eaLnBrk="0" hangingPunct="0">
              <a:buClr>
                <a:schemeClr val="tx2"/>
              </a:buClr>
              <a:defRPr sz="1600">
                <a:solidFill>
                  <a:schemeClr val="tx1"/>
                </a:solidFill>
                <a:latin typeface="Arial" charset="0"/>
              </a:defRPr>
            </a:lvl1pPr>
            <a:lvl2pPr marL="742950" indent="-741363" defTabSz="639763" eaLnBrk="0" hangingPunct="0">
              <a:buClr>
                <a:schemeClr val="tx2"/>
              </a:buClr>
              <a:buSzPct val="125000"/>
              <a:buFont typeface="Arial" charset="0"/>
              <a:buChar char="▪"/>
              <a:defRPr sz="1600">
                <a:solidFill>
                  <a:schemeClr val="tx1"/>
                </a:solidFill>
                <a:latin typeface="Arial" charset="0"/>
              </a:defRPr>
            </a:lvl2pPr>
            <a:lvl3pPr marL="1143000" indent="-947738" defTabSz="639763" eaLnBrk="0" hangingPunct="0">
              <a:buClr>
                <a:schemeClr val="tx2"/>
              </a:buClr>
              <a:buSzPct val="120000"/>
              <a:buFont typeface="Arial" charset="0"/>
              <a:buChar char="–"/>
              <a:defRPr sz="1600">
                <a:solidFill>
                  <a:schemeClr val="tx1"/>
                </a:solidFill>
                <a:latin typeface="Arial" charset="0"/>
              </a:defRPr>
            </a:lvl3pPr>
            <a:lvl4pPr marL="1600200" indent="-1141413" defTabSz="639763" eaLnBrk="0" hangingPunct="0">
              <a:buClr>
                <a:schemeClr val="tx2"/>
              </a:buClr>
              <a:buSzPct val="120000"/>
              <a:buFont typeface="Arial" charset="0"/>
              <a:buChar char="▫"/>
              <a:defRPr sz="1600">
                <a:solidFill>
                  <a:schemeClr val="tx1"/>
                </a:solidFill>
                <a:latin typeface="Arial" charset="0"/>
              </a:defRPr>
            </a:lvl4pPr>
            <a:lvl5pPr marL="2057400" indent="-1441450" defTabSz="639763" eaLnBrk="0" hangingPunct="0">
              <a:buClr>
                <a:schemeClr val="tx2"/>
              </a:buClr>
              <a:buSzPct val="89000"/>
              <a:buFont typeface="Arial" charset="0"/>
              <a:buChar char="-"/>
              <a:defRPr sz="1600">
                <a:solidFill>
                  <a:schemeClr val="tx1"/>
                </a:solidFill>
                <a:latin typeface="Arial" charset="0"/>
              </a:defRPr>
            </a:lvl5pPr>
            <a:lvl6pPr marL="2514600" indent="-1441450" defTabSz="639763" eaLnBrk="0" fontAlgn="base" hangingPunct="0">
              <a:spcBef>
                <a:spcPct val="0"/>
              </a:spcBef>
              <a:spcAft>
                <a:spcPct val="0"/>
              </a:spcAft>
              <a:buClr>
                <a:schemeClr val="tx2"/>
              </a:buClr>
              <a:buSzPct val="89000"/>
              <a:buFont typeface="Arial" charset="0"/>
              <a:buChar char="-"/>
              <a:defRPr sz="1600">
                <a:solidFill>
                  <a:schemeClr val="tx1"/>
                </a:solidFill>
                <a:latin typeface="Arial" charset="0"/>
              </a:defRPr>
            </a:lvl6pPr>
            <a:lvl7pPr marL="2971800" indent="-1441450" defTabSz="639763" eaLnBrk="0" fontAlgn="base" hangingPunct="0">
              <a:spcBef>
                <a:spcPct val="0"/>
              </a:spcBef>
              <a:spcAft>
                <a:spcPct val="0"/>
              </a:spcAft>
              <a:buClr>
                <a:schemeClr val="tx2"/>
              </a:buClr>
              <a:buSzPct val="89000"/>
              <a:buFont typeface="Arial" charset="0"/>
              <a:buChar char="-"/>
              <a:defRPr sz="1600">
                <a:solidFill>
                  <a:schemeClr val="tx1"/>
                </a:solidFill>
                <a:latin typeface="Arial" charset="0"/>
              </a:defRPr>
            </a:lvl7pPr>
            <a:lvl8pPr marL="3429000" indent="-1441450" defTabSz="639763" eaLnBrk="0" fontAlgn="base" hangingPunct="0">
              <a:spcBef>
                <a:spcPct val="0"/>
              </a:spcBef>
              <a:spcAft>
                <a:spcPct val="0"/>
              </a:spcAft>
              <a:buClr>
                <a:schemeClr val="tx2"/>
              </a:buClr>
              <a:buSzPct val="89000"/>
              <a:buFont typeface="Arial" charset="0"/>
              <a:buChar char="-"/>
              <a:defRPr sz="1600">
                <a:solidFill>
                  <a:schemeClr val="tx1"/>
                </a:solidFill>
                <a:latin typeface="Arial" charset="0"/>
              </a:defRPr>
            </a:lvl8pPr>
            <a:lvl9pPr marL="3886200" indent="-1441450" defTabSz="639763" eaLnBrk="0" fontAlgn="base" hangingPunct="0">
              <a:spcBef>
                <a:spcPct val="0"/>
              </a:spcBef>
              <a:spcAft>
                <a:spcPct val="0"/>
              </a:spcAft>
              <a:buClr>
                <a:schemeClr val="tx2"/>
              </a:buClr>
              <a:buSzPct val="89000"/>
              <a:buFont typeface="Arial" charset="0"/>
              <a:buChar char="-"/>
              <a:defRPr sz="1600">
                <a:solidFill>
                  <a:schemeClr val="tx1"/>
                </a:solidFill>
                <a:latin typeface="Arial" charset="0"/>
              </a:defRPr>
            </a:lvl9pPr>
          </a:lstStyle>
          <a:p>
            <a:pPr marL="0" indent="0" algn="ctr" eaLnBrk="1" hangingPunct="1">
              <a:buClrTx/>
            </a:pPr>
            <a:r>
              <a:rPr lang="en-US" sz="900" b="1" dirty="0">
                <a:solidFill>
                  <a:schemeClr val="bg1"/>
                </a:solidFill>
                <a:latin typeface="+mn-lt"/>
                <a:cs typeface="Arial" charset="0"/>
              </a:rPr>
              <a:t>Inspiring relationships</a:t>
            </a:r>
            <a:endParaRPr lang="fr-FR" sz="900" b="1" dirty="0">
              <a:solidFill>
                <a:schemeClr val="bg1"/>
              </a:solidFill>
              <a:latin typeface="+mn-lt"/>
              <a:cs typeface="Arial" charset="0"/>
            </a:endParaRPr>
          </a:p>
        </p:txBody>
      </p:sp>
      <p:sp>
        <p:nvSpPr>
          <p:cNvPr id="57" name="Rectangle 17"/>
          <p:cNvSpPr>
            <a:spLocks noChangeArrowheads="1"/>
          </p:cNvSpPr>
          <p:nvPr>
            <p:custDataLst>
              <p:tags r:id="rId4"/>
            </p:custDataLst>
          </p:nvPr>
        </p:nvSpPr>
        <p:spPr bwMode="gray">
          <a:xfrm>
            <a:off x="1792599" y="2190960"/>
            <a:ext cx="1563584" cy="195050"/>
          </a:xfrm>
          <a:prstGeom prst="rect">
            <a:avLst/>
          </a:prstGeom>
          <a:solidFill>
            <a:schemeClr val="accent4">
              <a:lumMod val="75000"/>
            </a:schemeClr>
          </a:solidFill>
          <a:ln w="19050">
            <a:solidFill>
              <a:schemeClr val="accent4">
                <a:lumMod val="75000"/>
              </a:schemeClr>
            </a:solidFill>
          </a:ln>
          <a:extLst/>
        </p:spPr>
        <p:txBody>
          <a:bodyPr lIns="144000" tIns="32654" rIns="32654" bIns="32654" anchor="ctr"/>
          <a:lstStyle/>
          <a:p>
            <a:pPr algn="ctr" defTabSz="652750"/>
            <a:r>
              <a:rPr lang="en-US" sz="900" b="1" dirty="0">
                <a:solidFill>
                  <a:schemeClr val="bg1"/>
                </a:solidFill>
                <a:cs typeface="Arial" charset="0"/>
              </a:rPr>
              <a:t>Inspiring day-to-day</a:t>
            </a:r>
            <a:endParaRPr lang="fr-FR" sz="900" b="1" dirty="0">
              <a:solidFill>
                <a:schemeClr val="bg1"/>
              </a:solidFill>
              <a:cs typeface="Arial" charset="0"/>
            </a:endParaRPr>
          </a:p>
        </p:txBody>
      </p:sp>
      <p:sp>
        <p:nvSpPr>
          <p:cNvPr id="58" name="Rectangle 24"/>
          <p:cNvSpPr>
            <a:spLocks noChangeArrowheads="1"/>
          </p:cNvSpPr>
          <p:nvPr>
            <p:custDataLst>
              <p:tags r:id="rId5"/>
            </p:custDataLst>
          </p:nvPr>
        </p:nvSpPr>
        <p:spPr bwMode="gray">
          <a:xfrm>
            <a:off x="1789218" y="2954332"/>
            <a:ext cx="1563584" cy="231173"/>
          </a:xfrm>
          <a:prstGeom prst="rect">
            <a:avLst/>
          </a:prstGeom>
          <a:solidFill>
            <a:schemeClr val="accent4">
              <a:lumMod val="75000"/>
            </a:schemeClr>
          </a:solidFill>
          <a:ln w="19050">
            <a:solidFill>
              <a:schemeClr val="accent4">
                <a:lumMod val="75000"/>
              </a:schemeClr>
            </a:solidFill>
          </a:ln>
          <a:extLst/>
        </p:spPr>
        <p:txBody>
          <a:bodyPr lIns="144000" tIns="32654" rIns="32654" bIns="32654" anchor="ctr"/>
          <a:lstStyle/>
          <a:p>
            <a:pPr algn="ctr" defTabSz="652750"/>
            <a:r>
              <a:rPr lang="en-US" sz="900" b="1" dirty="0">
                <a:solidFill>
                  <a:schemeClr val="bg1"/>
                </a:solidFill>
                <a:cs typeface="Arial" charset="0"/>
              </a:rPr>
              <a:t>Inspiring outcomes</a:t>
            </a:r>
            <a:endParaRPr lang="fr-FR" sz="900" b="1" dirty="0">
              <a:solidFill>
                <a:schemeClr val="bg1"/>
              </a:solidFill>
              <a:cs typeface="Arial" charset="0"/>
            </a:endParaRPr>
          </a:p>
        </p:txBody>
      </p:sp>
      <p:sp>
        <p:nvSpPr>
          <p:cNvPr id="59" name="Rectangle 20"/>
          <p:cNvSpPr>
            <a:spLocks noChangeArrowheads="1"/>
          </p:cNvSpPr>
          <p:nvPr/>
        </p:nvSpPr>
        <p:spPr bwMode="gray">
          <a:xfrm>
            <a:off x="5107687" y="1300520"/>
            <a:ext cx="1188000" cy="972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u="sng" dirty="0">
                <a:latin typeface="Arial" panose="020B0604020202020204" pitchFamily="34" charset="0"/>
                <a:ea typeface="Times New Roman" panose="02020603050405020304" pitchFamily="18" charset="0"/>
              </a:rPr>
              <a:t>Organisational context</a:t>
            </a:r>
          </a:p>
          <a:p>
            <a:pPr marL="171450" indent="-171450" fontAlgn="base">
              <a:spcAft>
                <a:spcPts val="0"/>
              </a:spcAft>
              <a:buFont typeface="Arial" panose="020B0604020202020204" pitchFamily="34" charset="0"/>
              <a:buChar char="•"/>
            </a:pPr>
            <a:r>
              <a:rPr lang="en-ZA" sz="800" dirty="0">
                <a:effectLst/>
                <a:latin typeface="Arial" panose="020B0604020202020204" pitchFamily="34" charset="0"/>
                <a:ea typeface="Times New Roman" panose="02020603050405020304" pitchFamily="18" charset="0"/>
              </a:rPr>
              <a:t>Clear mission from leadership</a:t>
            </a:r>
            <a:endParaRPr lang="en-ZA" sz="1050" dirty="0">
              <a:effectLst/>
              <a:latin typeface="Times New Roman" panose="02020603050405020304" pitchFamily="18" charset="0"/>
              <a:ea typeface="Times New Roman" panose="02020603050405020304" pitchFamily="18" charset="0"/>
            </a:endParaRPr>
          </a:p>
        </p:txBody>
      </p:sp>
      <p:sp>
        <p:nvSpPr>
          <p:cNvPr id="60" name="Rectangle 20"/>
          <p:cNvSpPr>
            <a:spLocks noChangeArrowheads="1"/>
          </p:cNvSpPr>
          <p:nvPr/>
        </p:nvSpPr>
        <p:spPr bwMode="gray">
          <a:xfrm>
            <a:off x="5107687" y="2530672"/>
            <a:ext cx="1188000" cy="972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u="sng" dirty="0">
                <a:effectLst/>
                <a:ea typeface="Times New Roman" panose="02020603050405020304" pitchFamily="18" charset="0"/>
              </a:rPr>
              <a:t>Criteria for success</a:t>
            </a:r>
          </a:p>
          <a:p>
            <a:pPr marL="171450" indent="-171450" fontAlgn="base">
              <a:spcAft>
                <a:spcPts val="0"/>
              </a:spcAft>
              <a:buFont typeface="Arial" panose="020B0604020202020204" pitchFamily="34" charset="0"/>
              <a:buChar char="•"/>
            </a:pPr>
            <a:r>
              <a:rPr lang="en-ZA" sz="800" dirty="0">
                <a:ea typeface="Times New Roman" panose="02020603050405020304" pitchFamily="18" charset="0"/>
              </a:rPr>
              <a:t>Set clear objectives</a:t>
            </a:r>
          </a:p>
          <a:p>
            <a:pPr marL="171450" indent="-171450" fontAlgn="base">
              <a:spcAft>
                <a:spcPts val="0"/>
              </a:spcAft>
              <a:buFont typeface="Arial" panose="020B0604020202020204" pitchFamily="34" charset="0"/>
              <a:buChar char="•"/>
            </a:pPr>
            <a:r>
              <a:rPr lang="en-ZA" sz="800" dirty="0">
                <a:ea typeface="Times New Roman" panose="02020603050405020304" pitchFamily="18" charset="0"/>
              </a:rPr>
              <a:t>Communicate clearly</a:t>
            </a:r>
          </a:p>
          <a:p>
            <a:pPr marL="171450" indent="-171450" fontAlgn="base">
              <a:spcAft>
                <a:spcPts val="0"/>
              </a:spcAft>
              <a:buFont typeface="Arial" panose="020B0604020202020204" pitchFamily="34" charset="0"/>
              <a:buChar char="•"/>
            </a:pPr>
            <a:r>
              <a:rPr lang="en-ZA" sz="800" dirty="0">
                <a:ea typeface="Times New Roman" panose="02020603050405020304" pitchFamily="18" charset="0"/>
              </a:rPr>
              <a:t>Leadership is essential</a:t>
            </a:r>
          </a:p>
        </p:txBody>
      </p:sp>
      <p:sp>
        <p:nvSpPr>
          <p:cNvPr id="61" name="Rectangle 20"/>
          <p:cNvSpPr>
            <a:spLocks noChangeArrowheads="1"/>
          </p:cNvSpPr>
          <p:nvPr/>
        </p:nvSpPr>
        <p:spPr bwMode="gray">
          <a:xfrm>
            <a:off x="8329125" y="2547528"/>
            <a:ext cx="1188000" cy="972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u="sng" dirty="0">
                <a:latin typeface="Arial" panose="020B0604020202020204" pitchFamily="34" charset="0"/>
                <a:ea typeface="Times New Roman" panose="02020603050405020304" pitchFamily="18" charset="0"/>
              </a:rPr>
              <a:t>Team culture</a:t>
            </a:r>
          </a:p>
          <a:p>
            <a:pPr marL="171450" indent="-171450" fontAlgn="base">
              <a:spcAft>
                <a:spcPts val="0"/>
              </a:spcAft>
              <a:buFont typeface="Arial" panose="020B0604020202020204" pitchFamily="34" charset="0"/>
              <a:buChar char="•"/>
            </a:pPr>
            <a:r>
              <a:rPr lang="en-ZA" sz="800" dirty="0">
                <a:effectLst/>
                <a:latin typeface="Arial" panose="020B0604020202020204" pitchFamily="34" charset="0"/>
                <a:ea typeface="Times New Roman" panose="02020603050405020304" pitchFamily="18" charset="0"/>
              </a:rPr>
              <a:t>Trust and mutual respect</a:t>
            </a:r>
          </a:p>
          <a:p>
            <a:pPr marL="171450" indent="-171450" fontAlgn="base">
              <a:spcAft>
                <a:spcPts val="0"/>
              </a:spcAft>
              <a:buFont typeface="Arial" panose="020B0604020202020204" pitchFamily="34" charset="0"/>
              <a:buChar char="•"/>
            </a:pPr>
            <a:r>
              <a:rPr lang="en-ZA" sz="800" dirty="0">
                <a:latin typeface="Arial" panose="020B0604020202020204" pitchFamily="34" charset="0"/>
                <a:ea typeface="Times New Roman" panose="02020603050405020304" pitchFamily="18" charset="0"/>
              </a:rPr>
              <a:t>PS culture – harness the power of collaboration</a:t>
            </a:r>
            <a:endParaRPr lang="en-ZA" sz="1050" dirty="0">
              <a:effectLst/>
              <a:latin typeface="Times New Roman" panose="02020603050405020304" pitchFamily="18" charset="0"/>
              <a:ea typeface="Times New Roman" panose="02020603050405020304" pitchFamily="18" charset="0"/>
            </a:endParaRPr>
          </a:p>
        </p:txBody>
      </p:sp>
      <p:sp>
        <p:nvSpPr>
          <p:cNvPr id="62" name="Rectangle 20"/>
          <p:cNvSpPr>
            <a:spLocks noChangeArrowheads="1"/>
          </p:cNvSpPr>
          <p:nvPr/>
        </p:nvSpPr>
        <p:spPr bwMode="gray">
          <a:xfrm>
            <a:off x="8329125" y="1287350"/>
            <a:ext cx="1188000" cy="972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u="sng" dirty="0">
                <a:latin typeface="Arial" panose="020B0604020202020204" pitchFamily="34" charset="0"/>
                <a:ea typeface="Times New Roman" panose="02020603050405020304" pitchFamily="18" charset="0"/>
              </a:rPr>
              <a:t>Effective teamwork</a:t>
            </a:r>
          </a:p>
          <a:p>
            <a:pPr marL="171450" indent="-171450" fontAlgn="base">
              <a:spcAft>
                <a:spcPts val="0"/>
              </a:spcAft>
              <a:buFont typeface="Arial" panose="020B0604020202020204" pitchFamily="34" charset="0"/>
              <a:buChar char="•"/>
            </a:pPr>
            <a:r>
              <a:rPr lang="en-ZA" sz="800" dirty="0">
                <a:effectLst/>
                <a:latin typeface="Arial" panose="020B0604020202020204" pitchFamily="34" charset="0"/>
                <a:ea typeface="Times New Roman" panose="02020603050405020304" pitchFamily="18" charset="0"/>
              </a:rPr>
              <a:t>Team leader – overall accountability</a:t>
            </a:r>
          </a:p>
          <a:p>
            <a:pPr marL="171450" indent="-171450" fontAlgn="base">
              <a:spcAft>
                <a:spcPts val="0"/>
              </a:spcAft>
              <a:buFont typeface="Arial" panose="020B0604020202020204" pitchFamily="34" charset="0"/>
              <a:buChar char="•"/>
            </a:pPr>
            <a:r>
              <a:rPr lang="en-ZA" sz="800" dirty="0">
                <a:latin typeface="Arial" panose="020B0604020202020204" pitchFamily="34" charset="0"/>
                <a:ea typeface="Times New Roman" panose="02020603050405020304" pitchFamily="18" charset="0"/>
              </a:rPr>
              <a:t>Right mix of skills</a:t>
            </a:r>
          </a:p>
          <a:p>
            <a:pPr marL="171450" indent="-171450" fontAlgn="base">
              <a:spcAft>
                <a:spcPts val="0"/>
              </a:spcAft>
              <a:buFont typeface="Arial" panose="020B0604020202020204" pitchFamily="34" charset="0"/>
              <a:buChar char="•"/>
            </a:pPr>
            <a:r>
              <a:rPr lang="en-ZA" sz="800" dirty="0">
                <a:effectLst/>
                <a:latin typeface="Arial" panose="020B0604020202020204" pitchFamily="34" charset="0"/>
                <a:ea typeface="Times New Roman" panose="02020603050405020304" pitchFamily="18" charset="0"/>
              </a:rPr>
              <a:t>Frequent communication</a:t>
            </a:r>
            <a:endParaRPr lang="en-ZA" sz="1050" dirty="0">
              <a:effectLst/>
              <a:latin typeface="Times New Roman" panose="02020603050405020304" pitchFamily="18" charset="0"/>
              <a:ea typeface="Times New Roman" panose="02020603050405020304" pitchFamily="18" charset="0"/>
            </a:endParaRPr>
          </a:p>
        </p:txBody>
      </p:sp>
      <p:sp>
        <p:nvSpPr>
          <p:cNvPr id="63" name="Rectangle 20"/>
          <p:cNvSpPr>
            <a:spLocks noChangeArrowheads="1"/>
          </p:cNvSpPr>
          <p:nvPr/>
        </p:nvSpPr>
        <p:spPr bwMode="gray">
          <a:xfrm>
            <a:off x="1785836" y="1781296"/>
            <a:ext cx="1571700" cy="372792"/>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171450" indent="-171450" fontAlgn="base">
              <a:spcAft>
                <a:spcPts val="0"/>
              </a:spcAft>
              <a:buFont typeface="Arial" panose="020B0604020202020204" pitchFamily="34" charset="0"/>
              <a:buChar char="•"/>
            </a:pPr>
            <a:r>
              <a:rPr lang="en-ZA" sz="800" dirty="0">
                <a:latin typeface="Arial" panose="020B0604020202020204" pitchFamily="34" charset="0"/>
                <a:ea typeface="Times New Roman" panose="02020603050405020304" pitchFamily="18" charset="0"/>
              </a:rPr>
              <a:t>Trust and autonomy</a:t>
            </a:r>
          </a:p>
          <a:p>
            <a:pPr marL="171450" indent="-171450" fontAlgn="base">
              <a:spcAft>
                <a:spcPts val="0"/>
              </a:spcAft>
              <a:buFont typeface="Arial" panose="020B0604020202020204" pitchFamily="34" charset="0"/>
              <a:buChar char="•"/>
            </a:pPr>
            <a:r>
              <a:rPr lang="en-ZA" sz="800" dirty="0">
                <a:latin typeface="Arial" panose="020B0604020202020204" pitchFamily="34" charset="0"/>
                <a:ea typeface="Times New Roman" panose="02020603050405020304" pitchFamily="18" charset="0"/>
              </a:rPr>
              <a:t>T</a:t>
            </a:r>
            <a:r>
              <a:rPr lang="en-ZA" sz="800" dirty="0">
                <a:effectLst/>
                <a:latin typeface="Arial" panose="020B0604020202020204" pitchFamily="34" charset="0"/>
                <a:ea typeface="Times New Roman" panose="02020603050405020304" pitchFamily="18" charset="0"/>
              </a:rPr>
              <a:t>ransparency </a:t>
            </a:r>
          </a:p>
          <a:p>
            <a:pPr marL="171450" indent="-171450" fontAlgn="base">
              <a:spcAft>
                <a:spcPts val="0"/>
              </a:spcAft>
              <a:buFont typeface="Arial" panose="020B0604020202020204" pitchFamily="34" charset="0"/>
              <a:buChar char="•"/>
            </a:pPr>
            <a:r>
              <a:rPr lang="en-ZA" sz="800" dirty="0">
                <a:latin typeface="Arial" panose="020B0604020202020204" pitchFamily="34" charset="0"/>
                <a:ea typeface="Times New Roman" panose="02020603050405020304" pitchFamily="18" charset="0"/>
              </a:rPr>
              <a:t>C</a:t>
            </a:r>
            <a:r>
              <a:rPr lang="en-ZA" sz="800" dirty="0">
                <a:effectLst/>
                <a:latin typeface="Arial" panose="020B0604020202020204" pitchFamily="34" charset="0"/>
                <a:ea typeface="Times New Roman" panose="02020603050405020304" pitchFamily="18" charset="0"/>
              </a:rPr>
              <a:t>aring</a:t>
            </a:r>
            <a:endParaRPr lang="en-ZA" sz="1050" dirty="0">
              <a:effectLst/>
              <a:latin typeface="Times New Roman" panose="02020603050405020304" pitchFamily="18" charset="0"/>
              <a:ea typeface="Times New Roman" panose="02020603050405020304" pitchFamily="18" charset="0"/>
            </a:endParaRPr>
          </a:p>
        </p:txBody>
      </p:sp>
      <p:sp>
        <p:nvSpPr>
          <p:cNvPr id="64" name="Rectangle 20"/>
          <p:cNvSpPr>
            <a:spLocks noChangeArrowheads="1"/>
          </p:cNvSpPr>
          <p:nvPr/>
        </p:nvSpPr>
        <p:spPr bwMode="gray">
          <a:xfrm>
            <a:off x="1779982" y="2422882"/>
            <a:ext cx="1572820" cy="494578"/>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171450" indent="-171450" fontAlgn="base">
              <a:spcAft>
                <a:spcPts val="0"/>
              </a:spcAft>
              <a:buFont typeface="Arial" panose="020B0604020202020204" pitchFamily="34" charset="0"/>
              <a:buChar char="•"/>
            </a:pPr>
            <a:r>
              <a:rPr lang="en-ZA" sz="800" dirty="0">
                <a:latin typeface="Arial" panose="020B0604020202020204" pitchFamily="34" charset="0"/>
                <a:ea typeface="Times New Roman" panose="02020603050405020304" pitchFamily="18" charset="0"/>
              </a:rPr>
              <a:t>Scoping - clear expectations</a:t>
            </a:r>
          </a:p>
          <a:p>
            <a:pPr marL="171450" indent="-171450" fontAlgn="base">
              <a:spcAft>
                <a:spcPts val="0"/>
              </a:spcAft>
              <a:buFont typeface="Arial" panose="020B0604020202020204" pitchFamily="34" charset="0"/>
              <a:buChar char="•"/>
            </a:pPr>
            <a:r>
              <a:rPr lang="en-ZA" sz="800" dirty="0">
                <a:effectLst/>
                <a:latin typeface="Arial" panose="020B0604020202020204" pitchFamily="34" charset="0"/>
                <a:ea typeface="Times New Roman" panose="02020603050405020304" pitchFamily="18" charset="0"/>
              </a:rPr>
              <a:t>Focus and structure through alignment and PS</a:t>
            </a:r>
            <a:endParaRPr lang="en-ZA" sz="1050" dirty="0">
              <a:effectLst/>
              <a:latin typeface="Times New Roman" panose="02020603050405020304" pitchFamily="18" charset="0"/>
              <a:ea typeface="Times New Roman" panose="02020603050405020304" pitchFamily="18" charset="0"/>
            </a:endParaRPr>
          </a:p>
        </p:txBody>
      </p:sp>
      <p:sp>
        <p:nvSpPr>
          <p:cNvPr id="65" name="Rectangle 20"/>
          <p:cNvSpPr>
            <a:spLocks noChangeArrowheads="1"/>
          </p:cNvSpPr>
          <p:nvPr/>
        </p:nvSpPr>
        <p:spPr bwMode="gray">
          <a:xfrm>
            <a:off x="1795304" y="3222375"/>
            <a:ext cx="1567643" cy="322628"/>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171450" indent="-171450" fontAlgn="base">
              <a:spcAft>
                <a:spcPts val="0"/>
              </a:spcAft>
              <a:buFont typeface="Arial" panose="020B0604020202020204" pitchFamily="34" charset="0"/>
              <a:buChar char="•"/>
            </a:pPr>
            <a:r>
              <a:rPr lang="en-ZA" sz="800" dirty="0">
                <a:latin typeface="Arial" panose="020B0604020202020204" pitchFamily="34" charset="0"/>
                <a:ea typeface="Times New Roman" panose="02020603050405020304" pitchFamily="18" charset="0"/>
              </a:rPr>
              <a:t>Lasting impact</a:t>
            </a:r>
          </a:p>
          <a:p>
            <a:pPr marL="171450" indent="-171450" fontAlgn="base">
              <a:spcAft>
                <a:spcPts val="0"/>
              </a:spcAft>
              <a:buFont typeface="Arial" panose="020B0604020202020204" pitchFamily="34" charset="0"/>
              <a:buChar char="•"/>
            </a:pPr>
            <a:r>
              <a:rPr lang="en-ZA" sz="800" dirty="0">
                <a:effectLst/>
                <a:latin typeface="Arial" panose="020B0604020202020204" pitchFamily="34" charset="0"/>
                <a:ea typeface="Times New Roman" panose="02020603050405020304" pitchFamily="18" charset="0"/>
              </a:rPr>
              <a:t>Personal growth and fun</a:t>
            </a:r>
            <a:endParaRPr lang="en-ZA" sz="1050" dirty="0">
              <a:effectLst/>
              <a:latin typeface="Times New Roman" panose="02020603050405020304" pitchFamily="18" charset="0"/>
              <a:ea typeface="Times New Roman" panose="02020603050405020304" pitchFamily="18" charset="0"/>
            </a:endParaRPr>
          </a:p>
        </p:txBody>
      </p:sp>
      <p:sp>
        <p:nvSpPr>
          <p:cNvPr id="66" name="Donut 65"/>
          <p:cNvSpPr/>
          <p:nvPr/>
        </p:nvSpPr>
        <p:spPr>
          <a:xfrm>
            <a:off x="6746036" y="1730774"/>
            <a:ext cx="252000" cy="252000"/>
          </a:xfrm>
          <a:prstGeom prst="donu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bg1"/>
                </a:solidFill>
              </a:rPr>
              <a:t>1</a:t>
            </a:r>
          </a:p>
        </p:txBody>
      </p:sp>
      <p:sp>
        <p:nvSpPr>
          <p:cNvPr id="67" name="Donut 66"/>
          <p:cNvSpPr/>
          <p:nvPr/>
        </p:nvSpPr>
        <p:spPr>
          <a:xfrm>
            <a:off x="7707001" y="1730774"/>
            <a:ext cx="252000" cy="252000"/>
          </a:xfrm>
          <a:prstGeom prst="donu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bg1"/>
                </a:solidFill>
              </a:rPr>
              <a:t>2</a:t>
            </a:r>
          </a:p>
        </p:txBody>
      </p:sp>
      <p:sp>
        <p:nvSpPr>
          <p:cNvPr id="68" name="Donut 67"/>
          <p:cNvSpPr/>
          <p:nvPr/>
        </p:nvSpPr>
        <p:spPr>
          <a:xfrm>
            <a:off x="7701025" y="2789119"/>
            <a:ext cx="252000" cy="252000"/>
          </a:xfrm>
          <a:prstGeom prst="donu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bg1"/>
                </a:solidFill>
              </a:rPr>
              <a:t>3</a:t>
            </a:r>
          </a:p>
        </p:txBody>
      </p:sp>
      <p:sp>
        <p:nvSpPr>
          <p:cNvPr id="69" name="Donut 68"/>
          <p:cNvSpPr/>
          <p:nvPr/>
        </p:nvSpPr>
        <p:spPr>
          <a:xfrm>
            <a:off x="6745455" y="2788803"/>
            <a:ext cx="252000" cy="252000"/>
          </a:xfrm>
          <a:prstGeom prst="donu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1000" b="1" dirty="0">
                <a:solidFill>
                  <a:schemeClr val="bg1"/>
                </a:solidFill>
              </a:rPr>
              <a:t>4</a:t>
            </a:r>
          </a:p>
        </p:txBody>
      </p:sp>
      <p:sp>
        <p:nvSpPr>
          <p:cNvPr id="70" name="Rectangle 20"/>
          <p:cNvSpPr>
            <a:spLocks noChangeArrowheads="1"/>
          </p:cNvSpPr>
          <p:nvPr/>
        </p:nvSpPr>
        <p:spPr bwMode="gray">
          <a:xfrm>
            <a:off x="3424830" y="2574193"/>
            <a:ext cx="1225645" cy="213936"/>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fontAlgn="base">
              <a:spcAft>
                <a:spcPts val="0"/>
              </a:spcAft>
            </a:pPr>
            <a:r>
              <a:rPr lang="en-ZA" sz="800" dirty="0">
                <a:effectLst/>
                <a:ea typeface="Times New Roman" panose="02020603050405020304" pitchFamily="18" charset="0"/>
              </a:rPr>
              <a:t>Research portal</a:t>
            </a:r>
          </a:p>
        </p:txBody>
      </p:sp>
      <p:sp>
        <p:nvSpPr>
          <p:cNvPr id="71" name="Rectangle 20"/>
          <p:cNvSpPr>
            <a:spLocks noChangeArrowheads="1"/>
          </p:cNvSpPr>
          <p:nvPr/>
        </p:nvSpPr>
        <p:spPr bwMode="gray">
          <a:xfrm>
            <a:off x="3424830" y="1899787"/>
            <a:ext cx="1225645" cy="213936"/>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fontAlgn="base">
              <a:spcAft>
                <a:spcPts val="0"/>
              </a:spcAft>
            </a:pPr>
            <a:r>
              <a:rPr lang="en-ZA" sz="800" dirty="0">
                <a:effectLst/>
                <a:ea typeface="Times New Roman" panose="02020603050405020304" pitchFamily="18" charset="0"/>
              </a:rPr>
              <a:t>Think Cell licences</a:t>
            </a:r>
          </a:p>
        </p:txBody>
      </p:sp>
      <p:sp>
        <p:nvSpPr>
          <p:cNvPr id="72" name="Rectangle 20"/>
          <p:cNvSpPr>
            <a:spLocks noChangeArrowheads="1"/>
          </p:cNvSpPr>
          <p:nvPr/>
        </p:nvSpPr>
        <p:spPr bwMode="gray">
          <a:xfrm>
            <a:off x="3424830" y="1562584"/>
            <a:ext cx="1225645" cy="213936"/>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fontAlgn="base">
              <a:spcAft>
                <a:spcPts val="0"/>
              </a:spcAft>
            </a:pPr>
            <a:r>
              <a:rPr lang="en-ZA" sz="800" dirty="0">
                <a:ea typeface="Times New Roman" panose="02020603050405020304" pitchFamily="18" charset="0"/>
              </a:rPr>
              <a:t>Model audit licences</a:t>
            </a:r>
            <a:endParaRPr lang="en-ZA" sz="800" dirty="0">
              <a:effectLst/>
              <a:ea typeface="Times New Roman" panose="02020603050405020304" pitchFamily="18" charset="0"/>
            </a:endParaRPr>
          </a:p>
        </p:txBody>
      </p:sp>
      <p:sp>
        <p:nvSpPr>
          <p:cNvPr id="73" name="Rectangle 20"/>
          <p:cNvSpPr>
            <a:spLocks noChangeArrowheads="1"/>
          </p:cNvSpPr>
          <p:nvPr/>
        </p:nvSpPr>
        <p:spPr bwMode="gray">
          <a:xfrm>
            <a:off x="3424830" y="2236990"/>
            <a:ext cx="1225645" cy="213936"/>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fontAlgn="base">
              <a:spcAft>
                <a:spcPts val="0"/>
              </a:spcAft>
            </a:pPr>
            <a:r>
              <a:rPr lang="en-ZA" sz="800" dirty="0">
                <a:ea typeface="Times New Roman" panose="02020603050405020304" pitchFamily="18" charset="0"/>
              </a:rPr>
              <a:t>Central repository for RFP documentation</a:t>
            </a:r>
            <a:endParaRPr lang="en-ZA" sz="800" dirty="0">
              <a:effectLst/>
              <a:ea typeface="Times New Roman" panose="02020603050405020304" pitchFamily="18" charset="0"/>
            </a:endParaRPr>
          </a:p>
        </p:txBody>
      </p:sp>
      <p:sp>
        <p:nvSpPr>
          <p:cNvPr id="74" name="Rectangle 20"/>
          <p:cNvSpPr>
            <a:spLocks noChangeArrowheads="1"/>
          </p:cNvSpPr>
          <p:nvPr/>
        </p:nvSpPr>
        <p:spPr bwMode="gray">
          <a:xfrm>
            <a:off x="3424830" y="2911396"/>
            <a:ext cx="1225645" cy="213936"/>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fontAlgn="base">
              <a:spcAft>
                <a:spcPts val="0"/>
              </a:spcAft>
            </a:pPr>
            <a:r>
              <a:rPr lang="en-ZA" sz="800" dirty="0">
                <a:effectLst/>
                <a:ea typeface="Times New Roman" panose="02020603050405020304" pitchFamily="18" charset="0"/>
              </a:rPr>
              <a:t>Quality control processes</a:t>
            </a:r>
          </a:p>
        </p:txBody>
      </p:sp>
      <p:sp>
        <p:nvSpPr>
          <p:cNvPr id="76" name="Rectangle 20"/>
          <p:cNvSpPr>
            <a:spLocks noChangeArrowheads="1"/>
          </p:cNvSpPr>
          <p:nvPr/>
        </p:nvSpPr>
        <p:spPr bwMode="gray">
          <a:xfrm>
            <a:off x="3418114" y="3248601"/>
            <a:ext cx="1225645" cy="213936"/>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fontAlgn="base">
              <a:spcAft>
                <a:spcPts val="0"/>
              </a:spcAft>
            </a:pPr>
            <a:r>
              <a:rPr lang="en-ZA" sz="800" dirty="0">
                <a:ea typeface="Times New Roman" panose="02020603050405020304" pitchFamily="18" charset="0"/>
              </a:rPr>
              <a:t>Document templates</a:t>
            </a:r>
            <a:endParaRPr lang="en-ZA" sz="800" dirty="0">
              <a:effectLst/>
              <a:ea typeface="Times New Roman" panose="02020603050405020304" pitchFamily="18" charset="0"/>
            </a:endParaRPr>
          </a:p>
        </p:txBody>
      </p:sp>
      <p:sp>
        <p:nvSpPr>
          <p:cNvPr id="77" name="Ellipse 85"/>
          <p:cNvSpPr/>
          <p:nvPr/>
        </p:nvSpPr>
        <p:spPr bwMode="gray">
          <a:xfrm>
            <a:off x="4678457" y="3271056"/>
            <a:ext cx="144000" cy="144000"/>
          </a:xfrm>
          <a:prstGeom prst="ellipse">
            <a:avLst/>
          </a:prstGeom>
          <a:solidFill>
            <a:srgbClr val="FF000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78" name="Ellipse 85"/>
          <p:cNvSpPr/>
          <p:nvPr/>
        </p:nvSpPr>
        <p:spPr bwMode="gray">
          <a:xfrm>
            <a:off x="4678457" y="2935921"/>
            <a:ext cx="144000" cy="144000"/>
          </a:xfrm>
          <a:prstGeom prst="ellipse">
            <a:avLst/>
          </a:prstGeom>
          <a:solidFill>
            <a:srgbClr val="FF000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79" name="Ellipse 85"/>
          <p:cNvSpPr/>
          <p:nvPr/>
        </p:nvSpPr>
        <p:spPr bwMode="gray">
          <a:xfrm>
            <a:off x="4678457" y="2600784"/>
            <a:ext cx="144000" cy="144000"/>
          </a:xfrm>
          <a:prstGeom prst="ellipse">
            <a:avLst/>
          </a:prstGeom>
          <a:solidFill>
            <a:srgbClr val="FF000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82" name="Ellipse 85"/>
          <p:cNvSpPr/>
          <p:nvPr/>
        </p:nvSpPr>
        <p:spPr bwMode="gray">
          <a:xfrm>
            <a:off x="4678457" y="1595373"/>
            <a:ext cx="144000" cy="144000"/>
          </a:xfrm>
          <a:prstGeom prst="ellipse">
            <a:avLst/>
          </a:prstGeom>
          <a:solidFill>
            <a:srgbClr val="00B05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84" name="Ellipse 85"/>
          <p:cNvSpPr/>
          <p:nvPr/>
        </p:nvSpPr>
        <p:spPr bwMode="gray">
          <a:xfrm>
            <a:off x="4678457" y="2265647"/>
            <a:ext cx="144000" cy="144000"/>
          </a:xfrm>
          <a:prstGeom prst="ellipse">
            <a:avLst/>
          </a:prstGeom>
          <a:solidFill>
            <a:srgbClr val="FF000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sp>
        <p:nvSpPr>
          <p:cNvPr id="85" name="Ellipse 85"/>
          <p:cNvSpPr/>
          <p:nvPr/>
        </p:nvSpPr>
        <p:spPr bwMode="gray">
          <a:xfrm>
            <a:off x="4678457" y="1930510"/>
            <a:ext cx="144000" cy="144000"/>
          </a:xfrm>
          <a:prstGeom prst="ellipse">
            <a:avLst/>
          </a:prstGeom>
          <a:solidFill>
            <a:srgbClr val="FFFF00"/>
          </a:solidFill>
          <a:ln>
            <a:noFill/>
            <a:headEnd/>
            <a:tailEnd/>
          </a:ln>
        </p:spPr>
        <p:style>
          <a:lnRef idx="2">
            <a:schemeClr val="accent1"/>
          </a:lnRef>
          <a:fillRef idx="1">
            <a:schemeClr val="lt1"/>
          </a:fillRef>
          <a:effectRef idx="0">
            <a:schemeClr val="accent1"/>
          </a:effectRef>
          <a:fontRef idx="minor">
            <a:schemeClr val="dk1"/>
          </a:fontRef>
        </p:style>
        <p:txBody>
          <a:bodyPr wrap="square" lIns="72000" tIns="0" rIns="0" bIns="0" anchor="ctr" anchorCtr="0"/>
          <a:lstStyle/>
          <a:p>
            <a:pPr marL="180975" indent="-180975">
              <a:lnSpc>
                <a:spcPct val="95000"/>
              </a:lnSpc>
              <a:spcBef>
                <a:spcPct val="50000"/>
              </a:spcBef>
              <a:buClr>
                <a:srgbClr val="FFFFFF"/>
              </a:buClr>
              <a:defRPr/>
            </a:pPr>
            <a:endParaRPr lang="de-DE" sz="900" b="1">
              <a:solidFill>
                <a:schemeClr val="tx1">
                  <a:lumMod val="85000"/>
                  <a:lumOff val="15000"/>
                </a:schemeClr>
              </a:solidFill>
            </a:endParaRPr>
          </a:p>
        </p:txBody>
      </p:sp>
      <p:pic>
        <p:nvPicPr>
          <p:cNvPr id="4" name="Picture 3"/>
          <p:cNvPicPr>
            <a:picLocks noChangeAspect="1"/>
          </p:cNvPicPr>
          <p:nvPr/>
        </p:nvPicPr>
        <p:blipFill>
          <a:blip r:embed="rId12"/>
          <a:stretch>
            <a:fillRect/>
          </a:stretch>
        </p:blipFill>
        <p:spPr>
          <a:xfrm>
            <a:off x="5421740" y="3964889"/>
            <a:ext cx="3654000" cy="1912196"/>
          </a:xfrm>
          <a:prstGeom prst="rect">
            <a:avLst/>
          </a:prstGeom>
        </p:spPr>
      </p:pic>
      <p:sp>
        <p:nvSpPr>
          <p:cNvPr id="80" name="Rectangle 20"/>
          <p:cNvSpPr>
            <a:spLocks noChangeArrowheads="1"/>
          </p:cNvSpPr>
          <p:nvPr/>
        </p:nvSpPr>
        <p:spPr bwMode="gray">
          <a:xfrm>
            <a:off x="378673" y="3940855"/>
            <a:ext cx="1316628" cy="1259906"/>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fontAlgn="base">
              <a:spcAft>
                <a:spcPts val="0"/>
              </a:spcAft>
            </a:pPr>
            <a:r>
              <a:rPr lang="en-ZA" sz="800" dirty="0">
                <a:ea typeface="Times New Roman" panose="02020603050405020304" pitchFamily="18" charset="0"/>
              </a:rPr>
              <a:t>Phase 1 – Initial skills assessment and development plan template created.</a:t>
            </a:r>
          </a:p>
          <a:p>
            <a:pPr marL="8890" indent="-8890" fontAlgn="base">
              <a:spcAft>
                <a:spcPts val="0"/>
              </a:spcAft>
            </a:pPr>
            <a:endParaRPr lang="en-ZA" sz="800" dirty="0">
              <a:ea typeface="Times New Roman" panose="02020603050405020304" pitchFamily="18" charset="0"/>
            </a:endParaRPr>
          </a:p>
          <a:p>
            <a:pPr marL="8890" indent="-8890" fontAlgn="base">
              <a:spcAft>
                <a:spcPts val="0"/>
              </a:spcAft>
            </a:pPr>
            <a:r>
              <a:rPr lang="en-ZA" sz="800" dirty="0">
                <a:ea typeface="Times New Roman" panose="02020603050405020304" pitchFamily="18" charset="0"/>
              </a:rPr>
              <a:t>Phase 2 – One on one assessments with HR</a:t>
            </a:r>
          </a:p>
          <a:p>
            <a:pPr marL="8890" indent="-8890" fontAlgn="base">
              <a:spcAft>
                <a:spcPts val="0"/>
              </a:spcAft>
            </a:pPr>
            <a:endParaRPr lang="en-ZA" sz="800" dirty="0">
              <a:ea typeface="Times New Roman" panose="02020603050405020304" pitchFamily="18" charset="0"/>
            </a:endParaRPr>
          </a:p>
          <a:p>
            <a:pPr marL="8890" indent="-8890" fontAlgn="base">
              <a:spcAft>
                <a:spcPts val="0"/>
              </a:spcAft>
            </a:pPr>
            <a:r>
              <a:rPr lang="en-ZA" sz="800" dirty="0">
                <a:ea typeface="Times New Roman" panose="02020603050405020304" pitchFamily="18" charset="0"/>
              </a:rPr>
              <a:t>Phase 3 – Monitoring</a:t>
            </a:r>
          </a:p>
          <a:p>
            <a:pPr marL="8890" indent="-8890" fontAlgn="base">
              <a:spcAft>
                <a:spcPts val="0"/>
              </a:spcAft>
            </a:pPr>
            <a:endParaRPr lang="en-ZA" sz="800" dirty="0">
              <a:ea typeface="Times New Roman" panose="02020603050405020304" pitchFamily="18" charset="0"/>
            </a:endParaRPr>
          </a:p>
        </p:txBody>
      </p:sp>
    </p:spTree>
    <p:extLst>
      <p:ext uri="{BB962C8B-B14F-4D97-AF65-F5344CB8AC3E}">
        <p14:creationId xmlns:p14="http://schemas.microsoft.com/office/powerpoint/2010/main" val="1204586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ZA" sz="2000" dirty="0"/>
              <a:t>Specialised Finance strategy snapshot : SWOT</a:t>
            </a:r>
            <a:endParaRPr lang="en-GB" sz="2000" dirty="0"/>
          </a:p>
        </p:txBody>
      </p:sp>
      <p:sp>
        <p:nvSpPr>
          <p:cNvPr id="9" name="TextBox 8"/>
          <p:cNvSpPr txBox="1"/>
          <p:nvPr/>
        </p:nvSpPr>
        <p:spPr>
          <a:xfrm>
            <a:off x="342197" y="965723"/>
            <a:ext cx="4500000" cy="262294"/>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Strengths</a:t>
            </a:r>
          </a:p>
        </p:txBody>
      </p:sp>
      <p:sp>
        <p:nvSpPr>
          <p:cNvPr id="14" name="TextBox 13"/>
          <p:cNvSpPr txBox="1"/>
          <p:nvPr/>
        </p:nvSpPr>
        <p:spPr>
          <a:xfrm>
            <a:off x="342197" y="1231631"/>
            <a:ext cx="4500000"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pPr marL="177800" lvl="2" indent="-177800">
              <a:spcBef>
                <a:spcPts val="400"/>
              </a:spcBef>
              <a:buClr>
                <a:srgbClr val="002E5A"/>
              </a:buClr>
              <a:buFont typeface="Arial" panose="020B0604020202020204" pitchFamily="34" charset="0"/>
              <a:buChar char="•"/>
              <a:defRPr/>
            </a:pPr>
            <a:r>
              <a:rPr lang="en-GB" sz="1000" dirty="0"/>
              <a:t>Network of individuals with relationships in the private and public sector</a:t>
            </a:r>
          </a:p>
          <a:p>
            <a:pPr marL="177800" lvl="2" indent="-177800">
              <a:spcBef>
                <a:spcPts val="400"/>
              </a:spcBef>
              <a:buClr>
                <a:srgbClr val="002E5A"/>
              </a:buClr>
              <a:buFont typeface="Arial" panose="020B0604020202020204" pitchFamily="34" charset="0"/>
              <a:buChar char="•"/>
              <a:defRPr/>
            </a:pPr>
            <a:r>
              <a:rPr lang="en-GB" sz="1000" dirty="0"/>
              <a:t>Diverse service offering and skills set</a:t>
            </a:r>
          </a:p>
          <a:p>
            <a:pPr marL="177800" lvl="2" indent="-177800">
              <a:spcBef>
                <a:spcPts val="400"/>
              </a:spcBef>
              <a:buClr>
                <a:srgbClr val="002E5A"/>
              </a:buClr>
              <a:buFont typeface="Arial" panose="020B0604020202020204" pitchFamily="34" charset="0"/>
              <a:buChar char="•"/>
              <a:defRPr/>
            </a:pPr>
            <a:r>
              <a:rPr lang="en-GB" sz="1000" dirty="0"/>
              <a:t>Partnering with internationally recognised investment banks and strategy consultancies</a:t>
            </a:r>
          </a:p>
          <a:p>
            <a:pPr marL="177800" lvl="2" indent="-177800">
              <a:spcBef>
                <a:spcPts val="400"/>
              </a:spcBef>
              <a:buClr>
                <a:srgbClr val="002E5A"/>
              </a:buClr>
              <a:buFont typeface="Arial" panose="020B0604020202020204" pitchFamily="34" charset="0"/>
              <a:buChar char="•"/>
              <a:defRPr/>
            </a:pPr>
            <a:r>
              <a:rPr lang="en-GB" sz="1000" dirty="0"/>
              <a:t>Operate in a collaborative manner internally and with clients</a:t>
            </a:r>
          </a:p>
        </p:txBody>
      </p:sp>
      <p:sp>
        <p:nvSpPr>
          <p:cNvPr id="12" name="TextBox 11"/>
          <p:cNvSpPr txBox="1"/>
          <p:nvPr/>
        </p:nvSpPr>
        <p:spPr>
          <a:xfrm>
            <a:off x="342953" y="3643735"/>
            <a:ext cx="4499244" cy="254597"/>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Opportunities</a:t>
            </a:r>
          </a:p>
        </p:txBody>
      </p:sp>
      <p:sp>
        <p:nvSpPr>
          <p:cNvPr id="24" name="TextBox 23"/>
          <p:cNvSpPr txBox="1"/>
          <p:nvPr/>
        </p:nvSpPr>
        <p:spPr>
          <a:xfrm>
            <a:off x="355121" y="3899412"/>
            <a:ext cx="4487076"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pPr marL="177800" lvl="2" indent="-177800">
              <a:spcBef>
                <a:spcPts val="400"/>
              </a:spcBef>
              <a:buClr>
                <a:srgbClr val="002E5A"/>
              </a:buClr>
              <a:buFont typeface="Arial" panose="020B0604020202020204" pitchFamily="34" charset="0"/>
              <a:buChar char="•"/>
              <a:defRPr/>
            </a:pPr>
            <a:r>
              <a:rPr lang="en-GB" sz="1000" dirty="0"/>
              <a:t>Building, maintaining and enhancing long term relationships with clients and even competitors.</a:t>
            </a:r>
          </a:p>
          <a:p>
            <a:pPr marL="177800" lvl="2" indent="-177800">
              <a:spcBef>
                <a:spcPts val="400"/>
              </a:spcBef>
              <a:buClr>
                <a:srgbClr val="002E5A"/>
              </a:buClr>
              <a:buFont typeface="Arial" panose="020B0604020202020204" pitchFamily="34" charset="0"/>
              <a:buChar char="•"/>
              <a:defRPr/>
            </a:pPr>
            <a:r>
              <a:rPr lang="en-GB" sz="1000" dirty="0"/>
              <a:t>Leveraging off of business units within the organisation for business development</a:t>
            </a:r>
          </a:p>
          <a:p>
            <a:pPr marL="177800" lvl="2" indent="-177800">
              <a:spcBef>
                <a:spcPts val="400"/>
              </a:spcBef>
              <a:buClr>
                <a:srgbClr val="002E5A"/>
              </a:buClr>
              <a:buFont typeface="Arial" panose="020B0604020202020204" pitchFamily="34" charset="0"/>
              <a:buChar char="•"/>
              <a:defRPr/>
            </a:pPr>
            <a:r>
              <a:rPr lang="en-GB" sz="1000" dirty="0"/>
              <a:t>Attract talent with Corporate Finance expertise which provides greater potential to engage a wider client base.</a:t>
            </a:r>
          </a:p>
          <a:p>
            <a:pPr marL="177800" lvl="2" indent="-177800">
              <a:spcBef>
                <a:spcPts val="400"/>
              </a:spcBef>
              <a:buClr>
                <a:srgbClr val="002E5A"/>
              </a:buClr>
              <a:buFont typeface="Arial" panose="020B0604020202020204" pitchFamily="34" charset="0"/>
              <a:buChar char="•"/>
              <a:defRPr/>
            </a:pPr>
            <a:r>
              <a:rPr lang="en-GB" sz="1000" dirty="0"/>
              <a:t>Service offering enhancement </a:t>
            </a:r>
          </a:p>
          <a:p>
            <a:pPr marL="177800" lvl="2" indent="-177800">
              <a:spcBef>
                <a:spcPts val="400"/>
              </a:spcBef>
              <a:buClr>
                <a:srgbClr val="002E5A"/>
              </a:buClr>
              <a:buFont typeface="Arial" panose="020B0604020202020204" pitchFamily="34" charset="0"/>
              <a:buChar char="•"/>
              <a:defRPr/>
            </a:pPr>
            <a:r>
              <a:rPr lang="en-GB" sz="1000" dirty="0"/>
              <a:t>Build reputation through superior delivery</a:t>
            </a:r>
          </a:p>
          <a:p>
            <a:pPr marL="177800" lvl="2" indent="-177800">
              <a:spcBef>
                <a:spcPts val="400"/>
              </a:spcBef>
              <a:buClr>
                <a:srgbClr val="002E5A"/>
              </a:buClr>
              <a:buFont typeface="Arial" panose="020B0604020202020204" pitchFamily="34" charset="0"/>
              <a:buChar char="•"/>
              <a:defRPr/>
            </a:pPr>
            <a:r>
              <a:rPr lang="en-GB" sz="1000" dirty="0"/>
              <a:t>Develop existing talent through internal training</a:t>
            </a:r>
          </a:p>
        </p:txBody>
      </p:sp>
      <p:sp>
        <p:nvSpPr>
          <p:cNvPr id="130" name="TextBox 129"/>
          <p:cNvSpPr txBox="1"/>
          <p:nvPr/>
        </p:nvSpPr>
        <p:spPr>
          <a:xfrm>
            <a:off x="5069358" y="3653211"/>
            <a:ext cx="4500000" cy="255200"/>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Threats</a:t>
            </a:r>
          </a:p>
        </p:txBody>
      </p:sp>
      <p:sp>
        <p:nvSpPr>
          <p:cNvPr id="131" name="TextBox 130"/>
          <p:cNvSpPr txBox="1"/>
          <p:nvPr/>
        </p:nvSpPr>
        <p:spPr>
          <a:xfrm>
            <a:off x="5069358" y="3908204"/>
            <a:ext cx="4500000"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pPr marL="177800" lvl="2" indent="-177800">
              <a:spcBef>
                <a:spcPts val="400"/>
              </a:spcBef>
              <a:buClr>
                <a:srgbClr val="002E5A"/>
              </a:buClr>
              <a:buFont typeface="Arial" panose="020B0604020202020204" pitchFamily="34" charset="0"/>
              <a:buChar char="•"/>
              <a:defRPr/>
            </a:pPr>
            <a:r>
              <a:rPr lang="en-GB" sz="1000" dirty="0"/>
              <a:t>A key point of building this business is through delivering on our mandates – reputational risk associated with not meeting expectations</a:t>
            </a:r>
          </a:p>
          <a:p>
            <a:pPr marL="177800" lvl="2" indent="-177800">
              <a:spcBef>
                <a:spcPts val="400"/>
              </a:spcBef>
              <a:buClr>
                <a:srgbClr val="002E5A"/>
              </a:buClr>
              <a:buFont typeface="Arial" panose="020B0604020202020204" pitchFamily="34" charset="0"/>
              <a:buChar char="•"/>
              <a:defRPr/>
            </a:pPr>
            <a:r>
              <a:rPr lang="en-GB" sz="1000" dirty="0"/>
              <a:t>Competition from existing M&amp;A houses and investment banks and strategy consultancies</a:t>
            </a:r>
          </a:p>
          <a:p>
            <a:pPr marL="177800" lvl="2" indent="-177800">
              <a:spcBef>
                <a:spcPts val="400"/>
              </a:spcBef>
              <a:buClr>
                <a:srgbClr val="002E5A"/>
              </a:buClr>
              <a:buFont typeface="Arial" panose="020B0604020202020204" pitchFamily="34" charset="0"/>
              <a:buChar char="•"/>
              <a:defRPr/>
            </a:pPr>
            <a:r>
              <a:rPr lang="en-GB" sz="1000" dirty="0"/>
              <a:t>Inconsistent standard of service delivery across teams </a:t>
            </a:r>
          </a:p>
          <a:p>
            <a:pPr marL="177800" lvl="2" indent="-177800">
              <a:spcBef>
                <a:spcPts val="400"/>
              </a:spcBef>
              <a:buClr>
                <a:srgbClr val="002E5A"/>
              </a:buClr>
              <a:buFont typeface="Arial" panose="020B0604020202020204" pitchFamily="34" charset="0"/>
              <a:buChar char="•"/>
              <a:defRPr/>
            </a:pPr>
            <a:r>
              <a:rPr lang="en-GB" sz="1000" dirty="0"/>
              <a:t>Difficulty to attract talent with Corporate Finance expertise in a new environment</a:t>
            </a:r>
          </a:p>
        </p:txBody>
      </p:sp>
      <p:sp>
        <p:nvSpPr>
          <p:cNvPr id="115" name="Donut 114"/>
          <p:cNvSpPr/>
          <p:nvPr/>
        </p:nvSpPr>
        <p:spPr>
          <a:xfrm>
            <a:off x="355121" y="977665"/>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1</a:t>
            </a:r>
          </a:p>
        </p:txBody>
      </p:sp>
      <p:sp>
        <p:nvSpPr>
          <p:cNvPr id="116" name="TextBox 115"/>
          <p:cNvSpPr txBox="1"/>
          <p:nvPr/>
        </p:nvSpPr>
        <p:spPr>
          <a:xfrm>
            <a:off x="5056924" y="961104"/>
            <a:ext cx="4500000" cy="266214"/>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Weaknesses</a:t>
            </a:r>
          </a:p>
        </p:txBody>
      </p:sp>
      <p:sp>
        <p:nvSpPr>
          <p:cNvPr id="117" name="TextBox 116"/>
          <p:cNvSpPr txBox="1"/>
          <p:nvPr/>
        </p:nvSpPr>
        <p:spPr>
          <a:xfrm>
            <a:off x="5063761" y="1236555"/>
            <a:ext cx="4500000"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pPr marL="177800" lvl="2" indent="-177800">
              <a:spcBef>
                <a:spcPts val="400"/>
              </a:spcBef>
              <a:buClr>
                <a:srgbClr val="002E5A"/>
              </a:buClr>
              <a:buFont typeface="Arial" panose="020B0604020202020204" pitchFamily="34" charset="0"/>
              <a:buChar char="•"/>
              <a:defRPr/>
            </a:pPr>
            <a:r>
              <a:rPr lang="en-GB" sz="1000" dirty="0"/>
              <a:t>Lack of credentials</a:t>
            </a:r>
          </a:p>
          <a:p>
            <a:pPr marL="177800" lvl="2" indent="-177800">
              <a:spcBef>
                <a:spcPts val="400"/>
              </a:spcBef>
              <a:buClr>
                <a:srgbClr val="002E5A"/>
              </a:buClr>
              <a:buFont typeface="Arial" panose="020B0604020202020204" pitchFamily="34" charset="0"/>
              <a:buChar char="•"/>
              <a:defRPr/>
            </a:pPr>
            <a:r>
              <a:rPr lang="en-GB" sz="1000" dirty="0"/>
              <a:t>Lack of brand recognition</a:t>
            </a:r>
          </a:p>
          <a:p>
            <a:pPr marL="177800" lvl="2" indent="-177800">
              <a:spcBef>
                <a:spcPts val="400"/>
              </a:spcBef>
              <a:buClr>
                <a:srgbClr val="002E5A"/>
              </a:buClr>
              <a:buFont typeface="Arial" panose="020B0604020202020204" pitchFamily="34" charset="0"/>
              <a:buChar char="•"/>
              <a:defRPr/>
            </a:pPr>
            <a:r>
              <a:rPr lang="en-GB" sz="1000" dirty="0"/>
              <a:t>Client concentration risk with Transnet and Eskom</a:t>
            </a:r>
          </a:p>
          <a:p>
            <a:pPr marL="177800" lvl="2" indent="-177800">
              <a:spcBef>
                <a:spcPts val="400"/>
              </a:spcBef>
              <a:buClr>
                <a:srgbClr val="002E5A"/>
              </a:buClr>
              <a:buFont typeface="Arial" panose="020B0604020202020204" pitchFamily="34" charset="0"/>
              <a:buChar char="•"/>
              <a:defRPr/>
            </a:pPr>
            <a:r>
              <a:rPr lang="en-GB" sz="1000" dirty="0"/>
              <a:t>Lack of standardised processes – quality control on engagements, communication protocol </a:t>
            </a:r>
          </a:p>
          <a:p>
            <a:pPr marL="177800" lvl="2" indent="-177800">
              <a:spcBef>
                <a:spcPts val="400"/>
              </a:spcBef>
              <a:buClr>
                <a:srgbClr val="002E5A"/>
              </a:buClr>
              <a:buFont typeface="Arial" panose="020B0604020202020204" pitchFamily="34" charset="0"/>
              <a:buChar char="•"/>
              <a:defRPr/>
            </a:pPr>
            <a:r>
              <a:rPr lang="en-GB" sz="1000" dirty="0"/>
              <a:t>Lack of critical mass of skill sets</a:t>
            </a:r>
          </a:p>
          <a:p>
            <a:pPr marL="177800" lvl="2" indent="-177800">
              <a:spcBef>
                <a:spcPts val="400"/>
              </a:spcBef>
              <a:buClr>
                <a:srgbClr val="002E5A"/>
              </a:buClr>
              <a:buFont typeface="Arial" panose="020B0604020202020204" pitchFamily="34" charset="0"/>
              <a:buChar char="•"/>
              <a:defRPr/>
            </a:pPr>
            <a:r>
              <a:rPr lang="en-GB" sz="1000" dirty="0"/>
              <a:t>Risk of incurring losses as a result of risk share model</a:t>
            </a:r>
          </a:p>
        </p:txBody>
      </p:sp>
      <p:sp>
        <p:nvSpPr>
          <p:cNvPr id="118" name="Donut 117"/>
          <p:cNvSpPr/>
          <p:nvPr/>
        </p:nvSpPr>
        <p:spPr>
          <a:xfrm>
            <a:off x="5066161" y="991607"/>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2</a:t>
            </a:r>
          </a:p>
        </p:txBody>
      </p:sp>
      <p:sp>
        <p:nvSpPr>
          <p:cNvPr id="168" name="Donut 167"/>
          <p:cNvSpPr/>
          <p:nvPr/>
        </p:nvSpPr>
        <p:spPr>
          <a:xfrm>
            <a:off x="355121" y="3643737"/>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3</a:t>
            </a:r>
          </a:p>
        </p:txBody>
      </p:sp>
      <p:sp>
        <p:nvSpPr>
          <p:cNvPr id="169" name="Donut 168"/>
          <p:cNvSpPr/>
          <p:nvPr/>
        </p:nvSpPr>
        <p:spPr>
          <a:xfrm>
            <a:off x="5066161" y="3656204"/>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4</a:t>
            </a:r>
          </a:p>
        </p:txBody>
      </p:sp>
      <p:pic>
        <p:nvPicPr>
          <p:cNvPr id="15" name="Picture 14"/>
          <p:cNvPicPr>
            <a:picLocks noChangeAspect="1"/>
          </p:cNvPicPr>
          <p:nvPr/>
        </p:nvPicPr>
        <p:blipFill>
          <a:blip r:embed="rId3"/>
          <a:stretch>
            <a:fillRect/>
          </a:stretch>
        </p:blipFill>
        <p:spPr>
          <a:xfrm>
            <a:off x="4274886" y="3008067"/>
            <a:ext cx="540000" cy="542415"/>
          </a:xfrm>
          <a:prstGeom prst="rect">
            <a:avLst/>
          </a:prstGeom>
        </p:spPr>
      </p:pic>
      <p:pic>
        <p:nvPicPr>
          <p:cNvPr id="16" name="Picture 15"/>
          <p:cNvPicPr>
            <a:picLocks noChangeAspect="1"/>
          </p:cNvPicPr>
          <p:nvPr/>
        </p:nvPicPr>
        <p:blipFill>
          <a:blip r:embed="rId4"/>
          <a:stretch>
            <a:fillRect/>
          </a:stretch>
        </p:blipFill>
        <p:spPr>
          <a:xfrm>
            <a:off x="8987211" y="2988868"/>
            <a:ext cx="540000" cy="544860"/>
          </a:xfrm>
          <a:prstGeom prst="rect">
            <a:avLst/>
          </a:prstGeom>
        </p:spPr>
      </p:pic>
      <p:pic>
        <p:nvPicPr>
          <p:cNvPr id="17" name="Picture 16"/>
          <p:cNvPicPr>
            <a:picLocks noChangeAspect="1"/>
          </p:cNvPicPr>
          <p:nvPr/>
        </p:nvPicPr>
        <p:blipFill>
          <a:blip r:embed="rId5"/>
          <a:stretch>
            <a:fillRect/>
          </a:stretch>
        </p:blipFill>
        <p:spPr>
          <a:xfrm>
            <a:off x="4274886" y="5702834"/>
            <a:ext cx="540000" cy="530685"/>
          </a:xfrm>
          <a:prstGeom prst="rect">
            <a:avLst/>
          </a:prstGeom>
        </p:spPr>
      </p:pic>
      <p:pic>
        <p:nvPicPr>
          <p:cNvPr id="18" name="Picture 17"/>
          <p:cNvPicPr>
            <a:picLocks noChangeAspect="1"/>
          </p:cNvPicPr>
          <p:nvPr/>
        </p:nvPicPr>
        <p:blipFill>
          <a:blip r:embed="rId6"/>
          <a:stretch>
            <a:fillRect/>
          </a:stretch>
        </p:blipFill>
        <p:spPr>
          <a:xfrm>
            <a:off x="8987214" y="5665894"/>
            <a:ext cx="540000" cy="557340"/>
          </a:xfrm>
          <a:prstGeom prst="rect">
            <a:avLst/>
          </a:prstGeom>
        </p:spPr>
      </p:pic>
    </p:spTree>
    <p:extLst>
      <p:ext uri="{BB962C8B-B14F-4D97-AF65-F5344CB8AC3E}">
        <p14:creationId xmlns:p14="http://schemas.microsoft.com/office/powerpoint/2010/main" val="3597010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ZA" sz="2200" dirty="0"/>
              <a:t>Specialised Finance strategy snapshot : Implementation </a:t>
            </a:r>
            <a:br>
              <a:rPr lang="en-ZA" sz="2000" dirty="0"/>
            </a:br>
            <a:r>
              <a:rPr lang="en-ZA" sz="1200" kern="0" dirty="0">
                <a:ea typeface="Arial Unicode MS" pitchFamily="34" charset="-128"/>
                <a:cs typeface="Arial Unicode MS" pitchFamily="34" charset="-128"/>
              </a:rPr>
              <a:t>The formulation of strategy may be a sprint, but the execution of strategy is a marathon. </a:t>
            </a:r>
            <a:endParaRPr lang="en-GB" sz="1200" dirty="0"/>
          </a:p>
        </p:txBody>
      </p:sp>
      <p:sp>
        <p:nvSpPr>
          <p:cNvPr id="9" name="TextBox 8"/>
          <p:cNvSpPr txBox="1"/>
          <p:nvPr/>
        </p:nvSpPr>
        <p:spPr>
          <a:xfrm>
            <a:off x="342197" y="961103"/>
            <a:ext cx="4500000" cy="262294"/>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Distribution approach</a:t>
            </a:r>
          </a:p>
        </p:txBody>
      </p:sp>
      <p:sp>
        <p:nvSpPr>
          <p:cNvPr id="14" name="TextBox 13"/>
          <p:cNvSpPr txBox="1"/>
          <p:nvPr/>
        </p:nvSpPr>
        <p:spPr>
          <a:xfrm>
            <a:off x="342197" y="1236537"/>
            <a:ext cx="4500000"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endParaRPr lang="en-ZA" sz="800" dirty="0"/>
          </a:p>
        </p:txBody>
      </p:sp>
      <p:sp>
        <p:nvSpPr>
          <p:cNvPr id="12" name="TextBox 11"/>
          <p:cNvSpPr txBox="1"/>
          <p:nvPr/>
        </p:nvSpPr>
        <p:spPr>
          <a:xfrm>
            <a:off x="342953" y="3643735"/>
            <a:ext cx="4499244" cy="254597"/>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KPI’s</a:t>
            </a:r>
          </a:p>
        </p:txBody>
      </p:sp>
      <p:sp>
        <p:nvSpPr>
          <p:cNvPr id="24" name="TextBox 23"/>
          <p:cNvSpPr txBox="1"/>
          <p:nvPr/>
        </p:nvSpPr>
        <p:spPr>
          <a:xfrm>
            <a:off x="355121" y="3908204"/>
            <a:ext cx="4487076"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pPr lvl="0" defTabSz="914077">
              <a:spcBef>
                <a:spcPts val="675"/>
              </a:spcBef>
            </a:pPr>
            <a:endParaRPr kumimoji="0" lang="en-IN" sz="700" b="0" i="0" u="none" strike="noStrike" kern="0" cap="none" spc="0" normalizeH="0" baseline="0" noProof="0" dirty="0">
              <a:ln>
                <a:noFill/>
              </a:ln>
              <a:solidFill>
                <a:prstClr val="black">
                  <a:lumMod val="65000"/>
                  <a:lumOff val="35000"/>
                </a:prstClr>
              </a:solidFill>
              <a:effectLst/>
              <a:uLnTx/>
              <a:uFillTx/>
              <a:ea typeface="+mn-ea"/>
              <a:cs typeface="+mn-cs"/>
            </a:endParaRPr>
          </a:p>
        </p:txBody>
      </p:sp>
      <p:sp>
        <p:nvSpPr>
          <p:cNvPr id="130" name="TextBox 129"/>
          <p:cNvSpPr txBox="1"/>
          <p:nvPr/>
        </p:nvSpPr>
        <p:spPr>
          <a:xfrm>
            <a:off x="5069358" y="3653211"/>
            <a:ext cx="4500000" cy="255200"/>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Actions and responsible parties</a:t>
            </a:r>
          </a:p>
        </p:txBody>
      </p:sp>
      <p:sp>
        <p:nvSpPr>
          <p:cNvPr id="131" name="TextBox 130"/>
          <p:cNvSpPr txBox="1"/>
          <p:nvPr/>
        </p:nvSpPr>
        <p:spPr>
          <a:xfrm>
            <a:off x="5069358" y="3908204"/>
            <a:ext cx="4500000"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pPr marL="228600" lvl="0" indent="-228600" defTabSz="914077">
              <a:spcBef>
                <a:spcPts val="675"/>
              </a:spcBef>
              <a:buFont typeface="+mj-lt"/>
              <a:buAutoNum type="arabicPeriod"/>
            </a:pPr>
            <a:endParaRPr lang="en-ZA" sz="900" kern="0" dirty="0">
              <a:solidFill>
                <a:prstClr val="black">
                  <a:lumMod val="65000"/>
                  <a:lumOff val="35000"/>
                </a:prstClr>
              </a:solidFill>
            </a:endParaRPr>
          </a:p>
        </p:txBody>
      </p:sp>
      <p:sp>
        <p:nvSpPr>
          <p:cNvPr id="115" name="Donut 114"/>
          <p:cNvSpPr/>
          <p:nvPr/>
        </p:nvSpPr>
        <p:spPr>
          <a:xfrm>
            <a:off x="355121" y="977665"/>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1</a:t>
            </a:r>
          </a:p>
        </p:txBody>
      </p:sp>
      <p:sp>
        <p:nvSpPr>
          <p:cNvPr id="116" name="TextBox 115"/>
          <p:cNvSpPr txBox="1"/>
          <p:nvPr/>
        </p:nvSpPr>
        <p:spPr>
          <a:xfrm>
            <a:off x="5056141" y="961103"/>
            <a:ext cx="4500000" cy="262800"/>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Key objectives and associated drivers</a:t>
            </a:r>
          </a:p>
        </p:txBody>
      </p:sp>
      <p:sp>
        <p:nvSpPr>
          <p:cNvPr id="117" name="TextBox 116"/>
          <p:cNvSpPr txBox="1"/>
          <p:nvPr/>
        </p:nvSpPr>
        <p:spPr>
          <a:xfrm>
            <a:off x="5056141" y="1236537"/>
            <a:ext cx="4500000" cy="2340000"/>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endParaRPr lang="en-ZA" sz="800" dirty="0"/>
          </a:p>
        </p:txBody>
      </p:sp>
      <p:sp>
        <p:nvSpPr>
          <p:cNvPr id="118" name="Donut 117"/>
          <p:cNvSpPr/>
          <p:nvPr/>
        </p:nvSpPr>
        <p:spPr>
          <a:xfrm>
            <a:off x="5078687" y="977665"/>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2</a:t>
            </a:r>
          </a:p>
        </p:txBody>
      </p:sp>
      <p:sp>
        <p:nvSpPr>
          <p:cNvPr id="168" name="Donut 167"/>
          <p:cNvSpPr/>
          <p:nvPr/>
        </p:nvSpPr>
        <p:spPr>
          <a:xfrm>
            <a:off x="355121" y="3643737"/>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3</a:t>
            </a:r>
          </a:p>
        </p:txBody>
      </p:sp>
      <p:sp>
        <p:nvSpPr>
          <p:cNvPr id="169" name="Donut 168"/>
          <p:cNvSpPr/>
          <p:nvPr/>
        </p:nvSpPr>
        <p:spPr>
          <a:xfrm>
            <a:off x="5078687" y="3656204"/>
            <a:ext cx="252000" cy="252000"/>
          </a:xfrm>
          <a:prstGeom prst="donu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900" b="1" dirty="0">
                <a:solidFill>
                  <a:schemeClr val="bg1"/>
                </a:solidFill>
              </a:rPr>
              <a:t>4</a:t>
            </a:r>
          </a:p>
        </p:txBody>
      </p:sp>
      <p:grpSp>
        <p:nvGrpSpPr>
          <p:cNvPr id="15" name="Group 14"/>
          <p:cNvGrpSpPr/>
          <p:nvPr/>
        </p:nvGrpSpPr>
        <p:grpSpPr>
          <a:xfrm>
            <a:off x="5141286" y="1320263"/>
            <a:ext cx="720000" cy="720000"/>
            <a:chOff x="595024" y="4572000"/>
            <a:chExt cx="1440000" cy="1440000"/>
          </a:xfrm>
        </p:grpSpPr>
        <p:sp>
          <p:nvSpPr>
            <p:cNvPr id="16" name="Oval 15"/>
            <p:cNvSpPr/>
            <p:nvPr/>
          </p:nvSpPr>
          <p:spPr>
            <a:xfrm>
              <a:off x="595024" y="4572000"/>
              <a:ext cx="1440000" cy="1440000"/>
            </a:xfrm>
            <a:prstGeom prst="ellipse">
              <a:avLst/>
            </a:prstGeom>
            <a:solidFill>
              <a:srgbClr val="002E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7" name="Oval 16"/>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600" dirty="0">
                <a:solidFill>
                  <a:schemeClr val="tx1"/>
                </a:solidFill>
              </a:endParaRPr>
            </a:p>
          </p:txBody>
        </p:sp>
      </p:grpSp>
      <p:grpSp>
        <p:nvGrpSpPr>
          <p:cNvPr id="18" name="Group 17"/>
          <p:cNvGrpSpPr/>
          <p:nvPr/>
        </p:nvGrpSpPr>
        <p:grpSpPr>
          <a:xfrm>
            <a:off x="5141286" y="2059075"/>
            <a:ext cx="720000" cy="720000"/>
            <a:chOff x="595024" y="4572000"/>
            <a:chExt cx="1440000" cy="1440000"/>
          </a:xfrm>
        </p:grpSpPr>
        <p:sp>
          <p:nvSpPr>
            <p:cNvPr id="19" name="Oval 18"/>
            <p:cNvSpPr/>
            <p:nvPr/>
          </p:nvSpPr>
          <p:spPr>
            <a:xfrm>
              <a:off x="595024" y="4572000"/>
              <a:ext cx="1440000" cy="1440000"/>
            </a:xfrm>
            <a:prstGeom prst="ellipse">
              <a:avLst/>
            </a:prstGeom>
            <a:solidFill>
              <a:srgbClr val="002E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0" name="Oval 19"/>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600" b="1" dirty="0">
                <a:solidFill>
                  <a:schemeClr val="tx1"/>
                </a:solidFill>
              </a:endParaRPr>
            </a:p>
          </p:txBody>
        </p:sp>
      </p:grpSp>
      <p:grpSp>
        <p:nvGrpSpPr>
          <p:cNvPr id="21" name="Group 20"/>
          <p:cNvGrpSpPr/>
          <p:nvPr/>
        </p:nvGrpSpPr>
        <p:grpSpPr>
          <a:xfrm>
            <a:off x="5141286" y="2797887"/>
            <a:ext cx="720000" cy="720000"/>
            <a:chOff x="595024" y="4572000"/>
            <a:chExt cx="1440000" cy="1440000"/>
          </a:xfrm>
        </p:grpSpPr>
        <p:sp>
          <p:nvSpPr>
            <p:cNvPr id="22" name="Oval 21"/>
            <p:cNvSpPr/>
            <p:nvPr/>
          </p:nvSpPr>
          <p:spPr>
            <a:xfrm>
              <a:off x="595024" y="4572000"/>
              <a:ext cx="1440000" cy="1440000"/>
            </a:xfrm>
            <a:prstGeom prst="ellipse">
              <a:avLst/>
            </a:prstGeom>
            <a:solidFill>
              <a:srgbClr val="002E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3" name="Oval 22"/>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600" dirty="0">
                <a:solidFill>
                  <a:schemeClr val="tx1"/>
                </a:solidFill>
              </a:endParaRPr>
            </a:p>
          </p:txBody>
        </p:sp>
      </p:grpSp>
      <p:grpSp>
        <p:nvGrpSpPr>
          <p:cNvPr id="25" name="Group 24"/>
          <p:cNvGrpSpPr/>
          <p:nvPr/>
        </p:nvGrpSpPr>
        <p:grpSpPr>
          <a:xfrm>
            <a:off x="426110" y="3994195"/>
            <a:ext cx="720000" cy="720000"/>
            <a:chOff x="595024" y="4572000"/>
            <a:chExt cx="1440000" cy="1440000"/>
          </a:xfrm>
        </p:grpSpPr>
        <p:sp>
          <p:nvSpPr>
            <p:cNvPr id="26" name="Oval 25"/>
            <p:cNvSpPr/>
            <p:nvPr/>
          </p:nvSpPr>
          <p:spPr>
            <a:xfrm>
              <a:off x="595024" y="4572000"/>
              <a:ext cx="1440000" cy="1440000"/>
            </a:xfrm>
            <a:prstGeom prst="ellipse">
              <a:avLst/>
            </a:prstGeom>
            <a:solidFill>
              <a:srgbClr val="002E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7" name="Oval 26"/>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600" dirty="0">
                <a:solidFill>
                  <a:schemeClr val="tx1"/>
                </a:solidFill>
              </a:endParaRPr>
            </a:p>
          </p:txBody>
        </p:sp>
      </p:grpSp>
      <p:grpSp>
        <p:nvGrpSpPr>
          <p:cNvPr id="28" name="Group 27"/>
          <p:cNvGrpSpPr/>
          <p:nvPr/>
        </p:nvGrpSpPr>
        <p:grpSpPr>
          <a:xfrm>
            <a:off x="426110" y="4733007"/>
            <a:ext cx="720000" cy="720000"/>
            <a:chOff x="595024" y="4572000"/>
            <a:chExt cx="1440000" cy="1440000"/>
          </a:xfrm>
        </p:grpSpPr>
        <p:sp>
          <p:nvSpPr>
            <p:cNvPr id="29" name="Oval 28"/>
            <p:cNvSpPr/>
            <p:nvPr/>
          </p:nvSpPr>
          <p:spPr>
            <a:xfrm>
              <a:off x="595024" y="4572000"/>
              <a:ext cx="1440000" cy="1440000"/>
            </a:xfrm>
            <a:prstGeom prst="ellipse">
              <a:avLst/>
            </a:prstGeom>
            <a:solidFill>
              <a:srgbClr val="002E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30" name="Oval 29"/>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600" b="1" dirty="0">
                <a:solidFill>
                  <a:schemeClr val="tx1"/>
                </a:solidFill>
              </a:endParaRPr>
            </a:p>
          </p:txBody>
        </p:sp>
      </p:grpSp>
      <p:grpSp>
        <p:nvGrpSpPr>
          <p:cNvPr id="31" name="Group 30"/>
          <p:cNvGrpSpPr/>
          <p:nvPr/>
        </p:nvGrpSpPr>
        <p:grpSpPr>
          <a:xfrm>
            <a:off x="426110" y="5471819"/>
            <a:ext cx="720000" cy="720000"/>
            <a:chOff x="595024" y="4572000"/>
            <a:chExt cx="1440000" cy="1440000"/>
          </a:xfrm>
        </p:grpSpPr>
        <p:sp>
          <p:nvSpPr>
            <p:cNvPr id="32" name="Oval 31"/>
            <p:cNvSpPr/>
            <p:nvPr/>
          </p:nvSpPr>
          <p:spPr>
            <a:xfrm>
              <a:off x="595024" y="4572000"/>
              <a:ext cx="1440000" cy="1440000"/>
            </a:xfrm>
            <a:prstGeom prst="ellipse">
              <a:avLst/>
            </a:prstGeom>
            <a:solidFill>
              <a:srgbClr val="002E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33" name="Oval 32"/>
            <p:cNvSpPr/>
            <p:nvPr/>
          </p:nvSpPr>
          <p:spPr>
            <a:xfrm>
              <a:off x="775024" y="4752000"/>
              <a:ext cx="1080000" cy="108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sz="600" dirty="0">
                <a:solidFill>
                  <a:schemeClr val="tx1"/>
                </a:solidFill>
              </a:endParaRPr>
            </a:p>
          </p:txBody>
        </p:sp>
      </p:grpSp>
      <p:sp>
        <p:nvSpPr>
          <p:cNvPr id="34" name="Freeform 33"/>
          <p:cNvSpPr>
            <a:spLocks noEditPoints="1"/>
          </p:cNvSpPr>
          <p:nvPr/>
        </p:nvSpPr>
        <p:spPr bwMode="auto">
          <a:xfrm>
            <a:off x="660110" y="4134245"/>
            <a:ext cx="252000" cy="396000"/>
          </a:xfrm>
          <a:custGeom>
            <a:avLst/>
            <a:gdLst>
              <a:gd name="T0" fmla="*/ 142 w 218"/>
              <a:gd name="T1" fmla="*/ 61 h 309"/>
              <a:gd name="T2" fmla="*/ 142 w 218"/>
              <a:gd name="T3" fmla="*/ 62 h 309"/>
              <a:gd name="T4" fmla="*/ 72 w 218"/>
              <a:gd name="T5" fmla="*/ 62 h 309"/>
              <a:gd name="T6" fmla="*/ 74 w 218"/>
              <a:gd name="T7" fmla="*/ 58 h 309"/>
              <a:gd name="T8" fmla="*/ 74 w 218"/>
              <a:gd name="T9" fmla="*/ 58 h 309"/>
              <a:gd name="T10" fmla="*/ 78 w 218"/>
              <a:gd name="T11" fmla="*/ 54 h 309"/>
              <a:gd name="T12" fmla="*/ 134 w 218"/>
              <a:gd name="T13" fmla="*/ 54 h 309"/>
              <a:gd name="T14" fmla="*/ 150 w 218"/>
              <a:gd name="T15" fmla="*/ 0 h 309"/>
              <a:gd name="T16" fmla="*/ 66 w 218"/>
              <a:gd name="T17" fmla="*/ 1 h 309"/>
              <a:gd name="T18" fmla="*/ 78 w 218"/>
              <a:gd name="T19" fmla="*/ 53 h 309"/>
              <a:gd name="T20" fmla="*/ 29 w 218"/>
              <a:gd name="T21" fmla="*/ 29 h 309"/>
              <a:gd name="T22" fmla="*/ 31 w 218"/>
              <a:gd name="T23" fmla="*/ 35 h 309"/>
              <a:gd name="T24" fmla="*/ 74 w 218"/>
              <a:gd name="T25" fmla="*/ 58 h 309"/>
              <a:gd name="T26" fmla="*/ 38 w 218"/>
              <a:gd name="T27" fmla="*/ 57 h 309"/>
              <a:gd name="T28" fmla="*/ 34 w 218"/>
              <a:gd name="T29" fmla="*/ 62 h 309"/>
              <a:gd name="T30" fmla="*/ 54 w 218"/>
              <a:gd name="T31" fmla="*/ 69 h 309"/>
              <a:gd name="T32" fmla="*/ 66 w 218"/>
              <a:gd name="T33" fmla="*/ 67 h 309"/>
              <a:gd name="T34" fmla="*/ 0 w 218"/>
              <a:gd name="T35" fmla="*/ 200 h 309"/>
              <a:gd name="T36" fmla="*/ 109 w 218"/>
              <a:gd name="T37" fmla="*/ 309 h 309"/>
              <a:gd name="T38" fmla="*/ 218 w 218"/>
              <a:gd name="T39" fmla="*/ 199 h 309"/>
              <a:gd name="T40" fmla="*/ 142 w 218"/>
              <a:gd name="T41" fmla="*/ 61 h 309"/>
              <a:gd name="T42" fmla="*/ 140 w 218"/>
              <a:gd name="T43" fmla="*/ 235 h 309"/>
              <a:gd name="T44" fmla="*/ 119 w 218"/>
              <a:gd name="T45" fmla="*/ 245 h 309"/>
              <a:gd name="T46" fmla="*/ 119 w 218"/>
              <a:gd name="T47" fmla="*/ 262 h 309"/>
              <a:gd name="T48" fmla="*/ 100 w 218"/>
              <a:gd name="T49" fmla="*/ 262 h 309"/>
              <a:gd name="T50" fmla="*/ 100 w 218"/>
              <a:gd name="T51" fmla="*/ 245 h 309"/>
              <a:gd name="T52" fmla="*/ 77 w 218"/>
              <a:gd name="T53" fmla="*/ 234 h 309"/>
              <a:gd name="T54" fmla="*/ 65 w 218"/>
              <a:gd name="T55" fmla="*/ 211 h 309"/>
              <a:gd name="T56" fmla="*/ 66 w 218"/>
              <a:gd name="T57" fmla="*/ 206 h 309"/>
              <a:gd name="T58" fmla="*/ 84 w 218"/>
              <a:gd name="T59" fmla="*/ 206 h 309"/>
              <a:gd name="T60" fmla="*/ 84 w 218"/>
              <a:gd name="T61" fmla="*/ 208 h 309"/>
              <a:gd name="T62" fmla="*/ 91 w 218"/>
              <a:gd name="T63" fmla="*/ 225 h 309"/>
              <a:gd name="T64" fmla="*/ 109 w 218"/>
              <a:gd name="T65" fmla="*/ 230 h 309"/>
              <a:gd name="T66" fmla="*/ 128 w 218"/>
              <a:gd name="T67" fmla="*/ 224 h 309"/>
              <a:gd name="T68" fmla="*/ 134 w 218"/>
              <a:gd name="T69" fmla="*/ 208 h 309"/>
              <a:gd name="T70" fmla="*/ 128 w 218"/>
              <a:gd name="T71" fmla="*/ 195 h 309"/>
              <a:gd name="T72" fmla="*/ 105 w 218"/>
              <a:gd name="T73" fmla="*/ 186 h 309"/>
              <a:gd name="T74" fmla="*/ 79 w 218"/>
              <a:gd name="T75" fmla="*/ 173 h 309"/>
              <a:gd name="T76" fmla="*/ 70 w 218"/>
              <a:gd name="T77" fmla="*/ 152 h 309"/>
              <a:gd name="T78" fmla="*/ 81 w 218"/>
              <a:gd name="T79" fmla="*/ 127 h 309"/>
              <a:gd name="T80" fmla="*/ 99 w 218"/>
              <a:gd name="T81" fmla="*/ 119 h 309"/>
              <a:gd name="T82" fmla="*/ 99 w 218"/>
              <a:gd name="T83" fmla="*/ 103 h 309"/>
              <a:gd name="T84" fmla="*/ 118 w 218"/>
              <a:gd name="T85" fmla="*/ 103 h 309"/>
              <a:gd name="T86" fmla="*/ 118 w 218"/>
              <a:gd name="T87" fmla="*/ 118 h 309"/>
              <a:gd name="T88" fmla="*/ 139 w 218"/>
              <a:gd name="T89" fmla="*/ 127 h 309"/>
              <a:gd name="T90" fmla="*/ 151 w 218"/>
              <a:gd name="T91" fmla="*/ 152 h 309"/>
              <a:gd name="T92" fmla="*/ 151 w 218"/>
              <a:gd name="T93" fmla="*/ 154 h 309"/>
              <a:gd name="T94" fmla="*/ 133 w 218"/>
              <a:gd name="T95" fmla="*/ 154 h 309"/>
              <a:gd name="T96" fmla="*/ 132 w 218"/>
              <a:gd name="T97" fmla="*/ 152 h 309"/>
              <a:gd name="T98" fmla="*/ 126 w 218"/>
              <a:gd name="T99" fmla="*/ 138 h 309"/>
              <a:gd name="T100" fmla="*/ 110 w 218"/>
              <a:gd name="T101" fmla="*/ 133 h 309"/>
              <a:gd name="T102" fmla="*/ 94 w 218"/>
              <a:gd name="T103" fmla="*/ 138 h 309"/>
              <a:gd name="T104" fmla="*/ 88 w 218"/>
              <a:gd name="T105" fmla="*/ 151 h 309"/>
              <a:gd name="T106" fmla="*/ 93 w 218"/>
              <a:gd name="T107" fmla="*/ 163 h 309"/>
              <a:gd name="T108" fmla="*/ 112 w 218"/>
              <a:gd name="T109" fmla="*/ 171 h 309"/>
              <a:gd name="T110" fmla="*/ 142 w 218"/>
              <a:gd name="T111" fmla="*/ 185 h 309"/>
              <a:gd name="T112" fmla="*/ 152 w 218"/>
              <a:gd name="T113" fmla="*/ 208 h 309"/>
              <a:gd name="T114" fmla="*/ 140 w 218"/>
              <a:gd name="T115" fmla="*/ 235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8" h="309">
                <a:moveTo>
                  <a:pt x="142" y="61"/>
                </a:moveTo>
                <a:cubicBezTo>
                  <a:pt x="142" y="62"/>
                  <a:pt x="142" y="62"/>
                  <a:pt x="142" y="62"/>
                </a:cubicBezTo>
                <a:cubicBezTo>
                  <a:pt x="72" y="62"/>
                  <a:pt x="72" y="62"/>
                  <a:pt x="72" y="62"/>
                </a:cubicBezTo>
                <a:cubicBezTo>
                  <a:pt x="74" y="58"/>
                  <a:pt x="74" y="58"/>
                  <a:pt x="74" y="58"/>
                </a:cubicBezTo>
                <a:cubicBezTo>
                  <a:pt x="74" y="58"/>
                  <a:pt x="74" y="58"/>
                  <a:pt x="74" y="58"/>
                </a:cubicBezTo>
                <a:cubicBezTo>
                  <a:pt x="78" y="54"/>
                  <a:pt x="78" y="54"/>
                  <a:pt x="78" y="54"/>
                </a:cubicBezTo>
                <a:cubicBezTo>
                  <a:pt x="134" y="54"/>
                  <a:pt x="134" y="54"/>
                  <a:pt x="134" y="54"/>
                </a:cubicBezTo>
                <a:cubicBezTo>
                  <a:pt x="150" y="0"/>
                  <a:pt x="150" y="0"/>
                  <a:pt x="150" y="0"/>
                </a:cubicBezTo>
                <a:cubicBezTo>
                  <a:pt x="66" y="1"/>
                  <a:pt x="66" y="1"/>
                  <a:pt x="66" y="1"/>
                </a:cubicBezTo>
                <a:cubicBezTo>
                  <a:pt x="78" y="53"/>
                  <a:pt x="78" y="53"/>
                  <a:pt x="78" y="53"/>
                </a:cubicBezTo>
                <a:cubicBezTo>
                  <a:pt x="69" y="43"/>
                  <a:pt x="48" y="22"/>
                  <a:pt x="29" y="29"/>
                </a:cubicBezTo>
                <a:cubicBezTo>
                  <a:pt x="31" y="35"/>
                  <a:pt x="31" y="35"/>
                  <a:pt x="31" y="35"/>
                </a:cubicBezTo>
                <a:cubicBezTo>
                  <a:pt x="47" y="29"/>
                  <a:pt x="67" y="50"/>
                  <a:pt x="74" y="58"/>
                </a:cubicBezTo>
                <a:cubicBezTo>
                  <a:pt x="63" y="62"/>
                  <a:pt x="47" y="66"/>
                  <a:pt x="38" y="57"/>
                </a:cubicBezTo>
                <a:cubicBezTo>
                  <a:pt x="34" y="62"/>
                  <a:pt x="34" y="62"/>
                  <a:pt x="34" y="62"/>
                </a:cubicBezTo>
                <a:cubicBezTo>
                  <a:pt x="40" y="67"/>
                  <a:pt x="46" y="69"/>
                  <a:pt x="54" y="69"/>
                </a:cubicBezTo>
                <a:cubicBezTo>
                  <a:pt x="58" y="69"/>
                  <a:pt x="62" y="68"/>
                  <a:pt x="66" y="67"/>
                </a:cubicBezTo>
                <a:cubicBezTo>
                  <a:pt x="27" y="94"/>
                  <a:pt x="0" y="154"/>
                  <a:pt x="0" y="200"/>
                </a:cubicBezTo>
                <a:cubicBezTo>
                  <a:pt x="0" y="260"/>
                  <a:pt x="49" y="309"/>
                  <a:pt x="109" y="309"/>
                </a:cubicBezTo>
                <a:cubicBezTo>
                  <a:pt x="170" y="308"/>
                  <a:pt x="218" y="259"/>
                  <a:pt x="218" y="199"/>
                </a:cubicBezTo>
                <a:cubicBezTo>
                  <a:pt x="218" y="150"/>
                  <a:pt x="186" y="85"/>
                  <a:pt x="142" y="61"/>
                </a:cubicBezTo>
                <a:close/>
                <a:moveTo>
                  <a:pt x="140" y="235"/>
                </a:moveTo>
                <a:cubicBezTo>
                  <a:pt x="134" y="240"/>
                  <a:pt x="127" y="243"/>
                  <a:pt x="119" y="245"/>
                </a:cubicBezTo>
                <a:cubicBezTo>
                  <a:pt x="119" y="262"/>
                  <a:pt x="119" y="262"/>
                  <a:pt x="119" y="262"/>
                </a:cubicBezTo>
                <a:cubicBezTo>
                  <a:pt x="100" y="262"/>
                  <a:pt x="100" y="262"/>
                  <a:pt x="100" y="262"/>
                </a:cubicBezTo>
                <a:cubicBezTo>
                  <a:pt x="100" y="245"/>
                  <a:pt x="100" y="245"/>
                  <a:pt x="100" y="245"/>
                </a:cubicBezTo>
                <a:cubicBezTo>
                  <a:pt x="92" y="243"/>
                  <a:pt x="84" y="240"/>
                  <a:pt x="77" y="234"/>
                </a:cubicBezTo>
                <a:cubicBezTo>
                  <a:pt x="70" y="228"/>
                  <a:pt x="66" y="220"/>
                  <a:pt x="65" y="211"/>
                </a:cubicBezTo>
                <a:cubicBezTo>
                  <a:pt x="66" y="206"/>
                  <a:pt x="66" y="206"/>
                  <a:pt x="66" y="206"/>
                </a:cubicBezTo>
                <a:cubicBezTo>
                  <a:pt x="84" y="206"/>
                  <a:pt x="84" y="206"/>
                  <a:pt x="84" y="206"/>
                </a:cubicBezTo>
                <a:cubicBezTo>
                  <a:pt x="84" y="208"/>
                  <a:pt x="84" y="208"/>
                  <a:pt x="84" y="208"/>
                </a:cubicBezTo>
                <a:cubicBezTo>
                  <a:pt x="84" y="215"/>
                  <a:pt x="86" y="221"/>
                  <a:pt x="91" y="225"/>
                </a:cubicBezTo>
                <a:cubicBezTo>
                  <a:pt x="95" y="228"/>
                  <a:pt x="101" y="230"/>
                  <a:pt x="109" y="230"/>
                </a:cubicBezTo>
                <a:cubicBezTo>
                  <a:pt x="117" y="230"/>
                  <a:pt x="123" y="228"/>
                  <a:pt x="128" y="224"/>
                </a:cubicBezTo>
                <a:cubicBezTo>
                  <a:pt x="132" y="220"/>
                  <a:pt x="134" y="215"/>
                  <a:pt x="134" y="208"/>
                </a:cubicBezTo>
                <a:cubicBezTo>
                  <a:pt x="134" y="203"/>
                  <a:pt x="132" y="198"/>
                  <a:pt x="128" y="195"/>
                </a:cubicBezTo>
                <a:cubicBezTo>
                  <a:pt x="124" y="191"/>
                  <a:pt x="116" y="188"/>
                  <a:pt x="105" y="186"/>
                </a:cubicBezTo>
                <a:cubicBezTo>
                  <a:pt x="94" y="183"/>
                  <a:pt x="85" y="179"/>
                  <a:pt x="79" y="173"/>
                </a:cubicBezTo>
                <a:cubicBezTo>
                  <a:pt x="73" y="168"/>
                  <a:pt x="70" y="160"/>
                  <a:pt x="70" y="152"/>
                </a:cubicBezTo>
                <a:cubicBezTo>
                  <a:pt x="70" y="142"/>
                  <a:pt x="73" y="133"/>
                  <a:pt x="81" y="127"/>
                </a:cubicBezTo>
                <a:cubicBezTo>
                  <a:pt x="86" y="123"/>
                  <a:pt x="92" y="120"/>
                  <a:pt x="99" y="119"/>
                </a:cubicBezTo>
                <a:cubicBezTo>
                  <a:pt x="99" y="103"/>
                  <a:pt x="99" y="103"/>
                  <a:pt x="99" y="103"/>
                </a:cubicBezTo>
                <a:cubicBezTo>
                  <a:pt x="118" y="103"/>
                  <a:pt x="118" y="103"/>
                  <a:pt x="118" y="103"/>
                </a:cubicBezTo>
                <a:cubicBezTo>
                  <a:pt x="118" y="118"/>
                  <a:pt x="118" y="118"/>
                  <a:pt x="118" y="118"/>
                </a:cubicBezTo>
                <a:cubicBezTo>
                  <a:pt x="126" y="119"/>
                  <a:pt x="133" y="122"/>
                  <a:pt x="139" y="127"/>
                </a:cubicBezTo>
                <a:cubicBezTo>
                  <a:pt x="146" y="133"/>
                  <a:pt x="150" y="141"/>
                  <a:pt x="151" y="152"/>
                </a:cubicBezTo>
                <a:cubicBezTo>
                  <a:pt x="151" y="154"/>
                  <a:pt x="151" y="154"/>
                  <a:pt x="151" y="154"/>
                </a:cubicBezTo>
                <a:cubicBezTo>
                  <a:pt x="133" y="154"/>
                  <a:pt x="133" y="154"/>
                  <a:pt x="133" y="154"/>
                </a:cubicBezTo>
                <a:cubicBezTo>
                  <a:pt x="132" y="152"/>
                  <a:pt x="132" y="152"/>
                  <a:pt x="132" y="152"/>
                </a:cubicBezTo>
                <a:cubicBezTo>
                  <a:pt x="132" y="146"/>
                  <a:pt x="129" y="141"/>
                  <a:pt x="126" y="138"/>
                </a:cubicBezTo>
                <a:cubicBezTo>
                  <a:pt x="122" y="134"/>
                  <a:pt x="117" y="133"/>
                  <a:pt x="110" y="133"/>
                </a:cubicBezTo>
                <a:cubicBezTo>
                  <a:pt x="103" y="133"/>
                  <a:pt x="97" y="135"/>
                  <a:pt x="94" y="138"/>
                </a:cubicBezTo>
                <a:cubicBezTo>
                  <a:pt x="90" y="141"/>
                  <a:pt x="88" y="145"/>
                  <a:pt x="88" y="151"/>
                </a:cubicBezTo>
                <a:cubicBezTo>
                  <a:pt x="88" y="156"/>
                  <a:pt x="90" y="160"/>
                  <a:pt x="93" y="163"/>
                </a:cubicBezTo>
                <a:cubicBezTo>
                  <a:pt x="97" y="166"/>
                  <a:pt x="103" y="169"/>
                  <a:pt x="112" y="171"/>
                </a:cubicBezTo>
                <a:cubicBezTo>
                  <a:pt x="126" y="174"/>
                  <a:pt x="136" y="179"/>
                  <a:pt x="142" y="185"/>
                </a:cubicBezTo>
                <a:cubicBezTo>
                  <a:pt x="149" y="191"/>
                  <a:pt x="152" y="199"/>
                  <a:pt x="152" y="208"/>
                </a:cubicBezTo>
                <a:cubicBezTo>
                  <a:pt x="153" y="219"/>
                  <a:pt x="148" y="228"/>
                  <a:pt x="140" y="235"/>
                </a:cubicBezTo>
                <a:close/>
              </a:path>
            </a:pathLst>
          </a:custGeom>
          <a:solidFill>
            <a:srgbClr val="002E5A"/>
          </a:solidFill>
          <a:ln>
            <a:noFill/>
          </a:ln>
          <a:extLst/>
        </p:spPr>
        <p:txBody>
          <a:bodyPr vert="horz" wrap="square" lIns="91440" tIns="45720" rIns="91440" bIns="45720" numCol="1" anchor="t" anchorCtr="0" compatLnSpc="1">
            <a:prstTxWarp prst="textNoShape">
              <a:avLst/>
            </a:prstTxWarp>
          </a:bodyPr>
          <a:lstStyle/>
          <a:p>
            <a:endParaRPr lang="en-ZA" dirty="0"/>
          </a:p>
        </p:txBody>
      </p:sp>
      <p:pic>
        <p:nvPicPr>
          <p:cNvPr id="35" name="Picture 34" descr="http://www.clker.com/cliparts/e/b/7/0/12362693641685578473ericlemerdy_man.svg.hi.png"/>
          <p:cNvPicPr>
            <a:picLocks noChangeAspect="1" noChangeArrowheads="1"/>
          </p:cNvPicPr>
          <p:nvPr/>
        </p:nvPicPr>
        <p:blipFill>
          <a:blip r:embed="rId5" cstate="print"/>
          <a:srcRect/>
          <a:stretch>
            <a:fillRect/>
          </a:stretch>
        </p:blipFill>
        <p:spPr bwMode="auto">
          <a:xfrm>
            <a:off x="693435" y="4866981"/>
            <a:ext cx="180603" cy="422445"/>
          </a:xfrm>
          <a:prstGeom prst="rect">
            <a:avLst/>
          </a:prstGeom>
          <a:noFill/>
        </p:spPr>
      </p:pic>
      <p:pic>
        <p:nvPicPr>
          <p:cNvPr id="4" name="Picture 3"/>
          <p:cNvPicPr>
            <a:picLocks noChangeAspect="1"/>
          </p:cNvPicPr>
          <p:nvPr/>
        </p:nvPicPr>
        <p:blipFill>
          <a:blip r:embed="rId6"/>
          <a:stretch>
            <a:fillRect/>
          </a:stretch>
        </p:blipFill>
        <p:spPr>
          <a:xfrm>
            <a:off x="590668" y="5648774"/>
            <a:ext cx="370164" cy="356196"/>
          </a:xfrm>
          <a:prstGeom prst="rect">
            <a:avLst/>
          </a:prstGeom>
        </p:spPr>
      </p:pic>
      <p:sp>
        <p:nvSpPr>
          <p:cNvPr id="37" name="Rectangle 20"/>
          <p:cNvSpPr>
            <a:spLocks noChangeArrowheads="1"/>
          </p:cNvSpPr>
          <p:nvPr/>
        </p:nvSpPr>
        <p:spPr bwMode="gray">
          <a:xfrm>
            <a:off x="1217099" y="4141772"/>
            <a:ext cx="900000" cy="252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dirty="0">
                <a:latin typeface="Arial" panose="020B0604020202020204" pitchFamily="34" charset="0"/>
                <a:ea typeface="Times New Roman" panose="02020603050405020304" pitchFamily="18" charset="0"/>
              </a:rPr>
              <a:t>Operational excellence</a:t>
            </a:r>
            <a:endParaRPr lang="en-ZA" sz="1050" b="1" dirty="0">
              <a:effectLst/>
              <a:latin typeface="Times New Roman" panose="02020603050405020304" pitchFamily="18" charset="0"/>
              <a:ea typeface="Times New Roman" panose="02020603050405020304" pitchFamily="18" charset="0"/>
            </a:endParaRPr>
          </a:p>
        </p:txBody>
      </p:sp>
      <p:sp>
        <p:nvSpPr>
          <p:cNvPr id="38" name="Rectangle 20"/>
          <p:cNvSpPr>
            <a:spLocks noChangeArrowheads="1"/>
          </p:cNvSpPr>
          <p:nvPr/>
        </p:nvSpPr>
        <p:spPr bwMode="gray">
          <a:xfrm>
            <a:off x="1217099" y="4939608"/>
            <a:ext cx="900000" cy="252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dirty="0">
                <a:latin typeface="Arial" panose="020B0604020202020204" pitchFamily="34" charset="0"/>
                <a:ea typeface="Times New Roman" panose="02020603050405020304" pitchFamily="18" charset="0"/>
              </a:rPr>
              <a:t>Human capital alignment</a:t>
            </a:r>
            <a:endParaRPr lang="en-ZA" sz="1050" b="1" dirty="0">
              <a:effectLst/>
              <a:latin typeface="Times New Roman" panose="02020603050405020304" pitchFamily="18" charset="0"/>
              <a:ea typeface="Times New Roman" panose="02020603050405020304" pitchFamily="18" charset="0"/>
            </a:endParaRPr>
          </a:p>
        </p:txBody>
      </p:sp>
      <p:sp>
        <p:nvSpPr>
          <p:cNvPr id="39" name="Rectangle 20"/>
          <p:cNvSpPr>
            <a:spLocks noChangeArrowheads="1"/>
          </p:cNvSpPr>
          <p:nvPr/>
        </p:nvSpPr>
        <p:spPr bwMode="gray">
          <a:xfrm>
            <a:off x="1212753" y="5737444"/>
            <a:ext cx="900000" cy="252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dirty="0">
                <a:latin typeface="Arial" panose="020B0604020202020204" pitchFamily="34" charset="0"/>
                <a:ea typeface="Times New Roman" panose="02020603050405020304" pitchFamily="18" charset="0"/>
              </a:rPr>
              <a:t>Client satisfaction</a:t>
            </a:r>
            <a:endParaRPr lang="en-ZA" sz="1050" b="1" dirty="0">
              <a:effectLst/>
              <a:latin typeface="Times New Roman" panose="02020603050405020304" pitchFamily="18" charset="0"/>
              <a:ea typeface="Times New Roman" panose="02020603050405020304" pitchFamily="18" charset="0"/>
            </a:endParaRPr>
          </a:p>
        </p:txBody>
      </p:sp>
      <p:sp>
        <p:nvSpPr>
          <p:cNvPr id="40" name="Rectangle 20"/>
          <p:cNvSpPr>
            <a:spLocks noChangeArrowheads="1"/>
          </p:cNvSpPr>
          <p:nvPr/>
        </p:nvSpPr>
        <p:spPr bwMode="gray">
          <a:xfrm>
            <a:off x="5899053" y="2186877"/>
            <a:ext cx="900000" cy="396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dirty="0">
                <a:latin typeface="Arial" panose="020B0604020202020204" pitchFamily="34" charset="0"/>
                <a:ea typeface="Times New Roman" panose="02020603050405020304" pitchFamily="18" charset="0"/>
              </a:rPr>
              <a:t>Operational excellence</a:t>
            </a:r>
            <a:endParaRPr lang="en-ZA" sz="1050" b="1" dirty="0">
              <a:effectLst/>
              <a:latin typeface="Times New Roman" panose="02020603050405020304" pitchFamily="18" charset="0"/>
              <a:ea typeface="Times New Roman" panose="02020603050405020304" pitchFamily="18" charset="0"/>
            </a:endParaRPr>
          </a:p>
        </p:txBody>
      </p:sp>
      <p:sp>
        <p:nvSpPr>
          <p:cNvPr id="41" name="Rectangle 20"/>
          <p:cNvSpPr>
            <a:spLocks noChangeArrowheads="1"/>
          </p:cNvSpPr>
          <p:nvPr/>
        </p:nvSpPr>
        <p:spPr bwMode="gray">
          <a:xfrm>
            <a:off x="5899053" y="1473417"/>
            <a:ext cx="900000" cy="396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dirty="0">
                <a:latin typeface="Arial" panose="020B0604020202020204" pitchFamily="34" charset="0"/>
                <a:ea typeface="Times New Roman" panose="02020603050405020304" pitchFamily="18" charset="0"/>
              </a:rPr>
              <a:t>Attract and develop people</a:t>
            </a:r>
            <a:endParaRPr lang="en-ZA" sz="1050" b="1" dirty="0">
              <a:effectLst/>
              <a:latin typeface="Times New Roman" panose="02020603050405020304" pitchFamily="18" charset="0"/>
              <a:ea typeface="Times New Roman" panose="02020603050405020304" pitchFamily="18" charset="0"/>
            </a:endParaRPr>
          </a:p>
        </p:txBody>
      </p:sp>
      <p:sp>
        <p:nvSpPr>
          <p:cNvPr id="42" name="Rectangle 20"/>
          <p:cNvSpPr>
            <a:spLocks noChangeArrowheads="1"/>
          </p:cNvSpPr>
          <p:nvPr/>
        </p:nvSpPr>
        <p:spPr bwMode="gray">
          <a:xfrm>
            <a:off x="5899053" y="2959887"/>
            <a:ext cx="900000" cy="396000"/>
          </a:xfrm>
          <a:prstGeom prst="roundRect">
            <a:avLst/>
          </a:prstGeom>
          <a:solidFill>
            <a:schemeClr val="bg1"/>
          </a:solidFill>
          <a:ln w="9525" algn="ctr">
            <a:solidFill>
              <a:srgbClr val="002E5A"/>
            </a:solidFill>
            <a:miter lim="800000"/>
            <a:headEnd/>
            <a:tailEnd/>
          </a:ln>
          <a:effectLst/>
        </p:spPr>
        <p:txBody>
          <a:bodyPr wrap="square" lIns="71993" tIns="45716" rIns="71993" bIns="45716" anchor="ctr">
            <a:noAutofit/>
          </a:bodyPr>
          <a:lstStyle/>
          <a:p>
            <a:pPr marL="8890" indent="-8890" algn="ctr" fontAlgn="base">
              <a:spcAft>
                <a:spcPts val="0"/>
              </a:spcAft>
            </a:pPr>
            <a:r>
              <a:rPr lang="en-ZA" sz="800" b="1" dirty="0">
                <a:latin typeface="Arial" panose="020B0604020202020204" pitchFamily="34" charset="0"/>
                <a:ea typeface="Times New Roman" panose="02020603050405020304" pitchFamily="18" charset="0"/>
              </a:rPr>
              <a:t>Clients / Partners</a:t>
            </a:r>
            <a:endParaRPr lang="en-ZA" sz="1050" b="1" dirty="0">
              <a:effectLst/>
              <a:latin typeface="Times New Roman" panose="02020603050405020304" pitchFamily="18" charset="0"/>
              <a:ea typeface="Times New Roman" panose="02020603050405020304" pitchFamily="18" charset="0"/>
            </a:endParaRPr>
          </a:p>
        </p:txBody>
      </p:sp>
      <p:sp>
        <p:nvSpPr>
          <p:cNvPr id="43" name="Rectangle 42"/>
          <p:cNvSpPr/>
          <p:nvPr/>
        </p:nvSpPr>
        <p:spPr>
          <a:xfrm flipH="1">
            <a:off x="6842247" y="1330827"/>
            <a:ext cx="2664000" cy="612000"/>
          </a:xfrm>
          <a:prstGeom prst="rect">
            <a:avLst/>
          </a:prstGeom>
          <a:solidFill>
            <a:schemeClr val="bg1"/>
          </a:solidFill>
          <a:ln w="9525" cap="flat" cmpd="sng" algn="ctr">
            <a:solidFill>
              <a:schemeClr val="bg1">
                <a:lumMod val="50000"/>
              </a:schemeClr>
            </a:solidFill>
            <a:prstDash val="solid"/>
          </a:ln>
          <a:effectLst/>
        </p:spPr>
        <p:txBody>
          <a:bodyPr lIns="72000" rIns="72000" rtlCol="0" anchor="ctr"/>
          <a:lstStyle/>
          <a:p>
            <a:pPr marR="0" lvl="0" defTabSz="914400" eaLnBrk="1" fontAlgn="auto" latinLnBrk="0" hangingPunct="1">
              <a:lnSpc>
                <a:spcPct val="100000"/>
              </a:lnSpc>
              <a:spcBef>
                <a:spcPts val="0"/>
              </a:spcBef>
              <a:spcAft>
                <a:spcPts val="0"/>
              </a:spcAft>
              <a:buClrTx/>
              <a:buSzTx/>
              <a:tabLst/>
              <a:defRPr/>
            </a:pPr>
            <a:r>
              <a:rPr lang="en-ZA" sz="900" b="1" kern="0" noProof="0" dirty="0">
                <a:ea typeface="ＭＳ Ｐゴシック"/>
              </a:rPr>
              <a:t>People are our product</a:t>
            </a:r>
            <a:r>
              <a:rPr lang="en-ZA" sz="900" b="1" kern="0" dirty="0">
                <a:ea typeface="ＭＳ Ｐゴシック"/>
              </a:rPr>
              <a:t>!</a:t>
            </a:r>
          </a:p>
          <a:p>
            <a:pPr marR="0" lvl="0" defTabSz="914400" eaLnBrk="1" fontAlgn="auto" latinLnBrk="0" hangingPunct="1">
              <a:lnSpc>
                <a:spcPct val="100000"/>
              </a:lnSpc>
              <a:spcBef>
                <a:spcPts val="0"/>
              </a:spcBef>
              <a:spcAft>
                <a:spcPts val="0"/>
              </a:spcAft>
              <a:buClrTx/>
              <a:buSzTx/>
              <a:tabLst/>
              <a:defRPr/>
            </a:pPr>
            <a:r>
              <a:rPr lang="en-ZA" sz="800" kern="0" dirty="0">
                <a:ea typeface="ＭＳ Ｐゴシック"/>
              </a:rPr>
              <a:t>Need talent to act instinctively to promote strategy</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800" kern="0" dirty="0">
                <a:ea typeface="ＭＳ Ｐゴシック"/>
              </a:rPr>
              <a:t>Quality execution</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800" kern="0" dirty="0">
                <a:ea typeface="ＭＳ Ｐゴシック"/>
              </a:rPr>
              <a:t>Develop sustainable relationships with clients and partners</a:t>
            </a:r>
          </a:p>
        </p:txBody>
      </p:sp>
      <p:pic>
        <p:nvPicPr>
          <p:cNvPr id="44" name="Picture 43" descr="http://www.clker.com/cliparts/e/b/7/0/12362693641685578473ericlemerdy_man.svg.hi.png"/>
          <p:cNvPicPr>
            <a:picLocks noChangeAspect="1" noChangeArrowheads="1"/>
          </p:cNvPicPr>
          <p:nvPr/>
        </p:nvPicPr>
        <p:blipFill>
          <a:blip r:embed="rId5" cstate="print"/>
          <a:srcRect/>
          <a:stretch>
            <a:fillRect/>
          </a:stretch>
        </p:blipFill>
        <p:spPr bwMode="auto">
          <a:xfrm>
            <a:off x="5410984" y="1444924"/>
            <a:ext cx="180603" cy="422445"/>
          </a:xfrm>
          <a:prstGeom prst="rect">
            <a:avLst/>
          </a:prstGeom>
          <a:noFill/>
        </p:spPr>
      </p:pic>
      <p:sp>
        <p:nvSpPr>
          <p:cNvPr id="45" name="Freeform 44"/>
          <p:cNvSpPr>
            <a:spLocks noEditPoints="1"/>
          </p:cNvSpPr>
          <p:nvPr/>
        </p:nvSpPr>
        <p:spPr bwMode="auto">
          <a:xfrm>
            <a:off x="5375285" y="2199214"/>
            <a:ext cx="252000" cy="396000"/>
          </a:xfrm>
          <a:custGeom>
            <a:avLst/>
            <a:gdLst>
              <a:gd name="T0" fmla="*/ 142 w 218"/>
              <a:gd name="T1" fmla="*/ 61 h 309"/>
              <a:gd name="T2" fmla="*/ 142 w 218"/>
              <a:gd name="T3" fmla="*/ 62 h 309"/>
              <a:gd name="T4" fmla="*/ 72 w 218"/>
              <a:gd name="T5" fmla="*/ 62 h 309"/>
              <a:gd name="T6" fmla="*/ 74 w 218"/>
              <a:gd name="T7" fmla="*/ 58 h 309"/>
              <a:gd name="T8" fmla="*/ 74 w 218"/>
              <a:gd name="T9" fmla="*/ 58 h 309"/>
              <a:gd name="T10" fmla="*/ 78 w 218"/>
              <a:gd name="T11" fmla="*/ 54 h 309"/>
              <a:gd name="T12" fmla="*/ 134 w 218"/>
              <a:gd name="T13" fmla="*/ 54 h 309"/>
              <a:gd name="T14" fmla="*/ 150 w 218"/>
              <a:gd name="T15" fmla="*/ 0 h 309"/>
              <a:gd name="T16" fmla="*/ 66 w 218"/>
              <a:gd name="T17" fmla="*/ 1 h 309"/>
              <a:gd name="T18" fmla="*/ 78 w 218"/>
              <a:gd name="T19" fmla="*/ 53 h 309"/>
              <a:gd name="T20" fmla="*/ 29 w 218"/>
              <a:gd name="T21" fmla="*/ 29 h 309"/>
              <a:gd name="T22" fmla="*/ 31 w 218"/>
              <a:gd name="T23" fmla="*/ 35 h 309"/>
              <a:gd name="T24" fmla="*/ 74 w 218"/>
              <a:gd name="T25" fmla="*/ 58 h 309"/>
              <a:gd name="T26" fmla="*/ 38 w 218"/>
              <a:gd name="T27" fmla="*/ 57 h 309"/>
              <a:gd name="T28" fmla="*/ 34 w 218"/>
              <a:gd name="T29" fmla="*/ 62 h 309"/>
              <a:gd name="T30" fmla="*/ 54 w 218"/>
              <a:gd name="T31" fmla="*/ 69 h 309"/>
              <a:gd name="T32" fmla="*/ 66 w 218"/>
              <a:gd name="T33" fmla="*/ 67 h 309"/>
              <a:gd name="T34" fmla="*/ 0 w 218"/>
              <a:gd name="T35" fmla="*/ 200 h 309"/>
              <a:gd name="T36" fmla="*/ 109 w 218"/>
              <a:gd name="T37" fmla="*/ 309 h 309"/>
              <a:gd name="T38" fmla="*/ 218 w 218"/>
              <a:gd name="T39" fmla="*/ 199 h 309"/>
              <a:gd name="T40" fmla="*/ 142 w 218"/>
              <a:gd name="T41" fmla="*/ 61 h 309"/>
              <a:gd name="T42" fmla="*/ 140 w 218"/>
              <a:gd name="T43" fmla="*/ 235 h 309"/>
              <a:gd name="T44" fmla="*/ 119 w 218"/>
              <a:gd name="T45" fmla="*/ 245 h 309"/>
              <a:gd name="T46" fmla="*/ 119 w 218"/>
              <a:gd name="T47" fmla="*/ 262 h 309"/>
              <a:gd name="T48" fmla="*/ 100 w 218"/>
              <a:gd name="T49" fmla="*/ 262 h 309"/>
              <a:gd name="T50" fmla="*/ 100 w 218"/>
              <a:gd name="T51" fmla="*/ 245 h 309"/>
              <a:gd name="T52" fmla="*/ 77 w 218"/>
              <a:gd name="T53" fmla="*/ 234 h 309"/>
              <a:gd name="T54" fmla="*/ 65 w 218"/>
              <a:gd name="T55" fmla="*/ 211 h 309"/>
              <a:gd name="T56" fmla="*/ 66 w 218"/>
              <a:gd name="T57" fmla="*/ 206 h 309"/>
              <a:gd name="T58" fmla="*/ 84 w 218"/>
              <a:gd name="T59" fmla="*/ 206 h 309"/>
              <a:gd name="T60" fmla="*/ 84 w 218"/>
              <a:gd name="T61" fmla="*/ 208 h 309"/>
              <a:gd name="T62" fmla="*/ 91 w 218"/>
              <a:gd name="T63" fmla="*/ 225 h 309"/>
              <a:gd name="T64" fmla="*/ 109 w 218"/>
              <a:gd name="T65" fmla="*/ 230 h 309"/>
              <a:gd name="T66" fmla="*/ 128 w 218"/>
              <a:gd name="T67" fmla="*/ 224 h 309"/>
              <a:gd name="T68" fmla="*/ 134 w 218"/>
              <a:gd name="T69" fmla="*/ 208 h 309"/>
              <a:gd name="T70" fmla="*/ 128 w 218"/>
              <a:gd name="T71" fmla="*/ 195 h 309"/>
              <a:gd name="T72" fmla="*/ 105 w 218"/>
              <a:gd name="T73" fmla="*/ 186 h 309"/>
              <a:gd name="T74" fmla="*/ 79 w 218"/>
              <a:gd name="T75" fmla="*/ 173 h 309"/>
              <a:gd name="T76" fmla="*/ 70 w 218"/>
              <a:gd name="T77" fmla="*/ 152 h 309"/>
              <a:gd name="T78" fmla="*/ 81 w 218"/>
              <a:gd name="T79" fmla="*/ 127 h 309"/>
              <a:gd name="T80" fmla="*/ 99 w 218"/>
              <a:gd name="T81" fmla="*/ 119 h 309"/>
              <a:gd name="T82" fmla="*/ 99 w 218"/>
              <a:gd name="T83" fmla="*/ 103 h 309"/>
              <a:gd name="T84" fmla="*/ 118 w 218"/>
              <a:gd name="T85" fmla="*/ 103 h 309"/>
              <a:gd name="T86" fmla="*/ 118 w 218"/>
              <a:gd name="T87" fmla="*/ 118 h 309"/>
              <a:gd name="T88" fmla="*/ 139 w 218"/>
              <a:gd name="T89" fmla="*/ 127 h 309"/>
              <a:gd name="T90" fmla="*/ 151 w 218"/>
              <a:gd name="T91" fmla="*/ 152 h 309"/>
              <a:gd name="T92" fmla="*/ 151 w 218"/>
              <a:gd name="T93" fmla="*/ 154 h 309"/>
              <a:gd name="T94" fmla="*/ 133 w 218"/>
              <a:gd name="T95" fmla="*/ 154 h 309"/>
              <a:gd name="T96" fmla="*/ 132 w 218"/>
              <a:gd name="T97" fmla="*/ 152 h 309"/>
              <a:gd name="T98" fmla="*/ 126 w 218"/>
              <a:gd name="T99" fmla="*/ 138 h 309"/>
              <a:gd name="T100" fmla="*/ 110 w 218"/>
              <a:gd name="T101" fmla="*/ 133 h 309"/>
              <a:gd name="T102" fmla="*/ 94 w 218"/>
              <a:gd name="T103" fmla="*/ 138 h 309"/>
              <a:gd name="T104" fmla="*/ 88 w 218"/>
              <a:gd name="T105" fmla="*/ 151 h 309"/>
              <a:gd name="T106" fmla="*/ 93 w 218"/>
              <a:gd name="T107" fmla="*/ 163 h 309"/>
              <a:gd name="T108" fmla="*/ 112 w 218"/>
              <a:gd name="T109" fmla="*/ 171 h 309"/>
              <a:gd name="T110" fmla="*/ 142 w 218"/>
              <a:gd name="T111" fmla="*/ 185 h 309"/>
              <a:gd name="T112" fmla="*/ 152 w 218"/>
              <a:gd name="T113" fmla="*/ 208 h 309"/>
              <a:gd name="T114" fmla="*/ 140 w 218"/>
              <a:gd name="T115" fmla="*/ 235 h 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8" h="309">
                <a:moveTo>
                  <a:pt x="142" y="61"/>
                </a:moveTo>
                <a:cubicBezTo>
                  <a:pt x="142" y="62"/>
                  <a:pt x="142" y="62"/>
                  <a:pt x="142" y="62"/>
                </a:cubicBezTo>
                <a:cubicBezTo>
                  <a:pt x="72" y="62"/>
                  <a:pt x="72" y="62"/>
                  <a:pt x="72" y="62"/>
                </a:cubicBezTo>
                <a:cubicBezTo>
                  <a:pt x="74" y="58"/>
                  <a:pt x="74" y="58"/>
                  <a:pt x="74" y="58"/>
                </a:cubicBezTo>
                <a:cubicBezTo>
                  <a:pt x="74" y="58"/>
                  <a:pt x="74" y="58"/>
                  <a:pt x="74" y="58"/>
                </a:cubicBezTo>
                <a:cubicBezTo>
                  <a:pt x="78" y="54"/>
                  <a:pt x="78" y="54"/>
                  <a:pt x="78" y="54"/>
                </a:cubicBezTo>
                <a:cubicBezTo>
                  <a:pt x="134" y="54"/>
                  <a:pt x="134" y="54"/>
                  <a:pt x="134" y="54"/>
                </a:cubicBezTo>
                <a:cubicBezTo>
                  <a:pt x="150" y="0"/>
                  <a:pt x="150" y="0"/>
                  <a:pt x="150" y="0"/>
                </a:cubicBezTo>
                <a:cubicBezTo>
                  <a:pt x="66" y="1"/>
                  <a:pt x="66" y="1"/>
                  <a:pt x="66" y="1"/>
                </a:cubicBezTo>
                <a:cubicBezTo>
                  <a:pt x="78" y="53"/>
                  <a:pt x="78" y="53"/>
                  <a:pt x="78" y="53"/>
                </a:cubicBezTo>
                <a:cubicBezTo>
                  <a:pt x="69" y="43"/>
                  <a:pt x="48" y="22"/>
                  <a:pt x="29" y="29"/>
                </a:cubicBezTo>
                <a:cubicBezTo>
                  <a:pt x="31" y="35"/>
                  <a:pt x="31" y="35"/>
                  <a:pt x="31" y="35"/>
                </a:cubicBezTo>
                <a:cubicBezTo>
                  <a:pt x="47" y="29"/>
                  <a:pt x="67" y="50"/>
                  <a:pt x="74" y="58"/>
                </a:cubicBezTo>
                <a:cubicBezTo>
                  <a:pt x="63" y="62"/>
                  <a:pt x="47" y="66"/>
                  <a:pt x="38" y="57"/>
                </a:cubicBezTo>
                <a:cubicBezTo>
                  <a:pt x="34" y="62"/>
                  <a:pt x="34" y="62"/>
                  <a:pt x="34" y="62"/>
                </a:cubicBezTo>
                <a:cubicBezTo>
                  <a:pt x="40" y="67"/>
                  <a:pt x="46" y="69"/>
                  <a:pt x="54" y="69"/>
                </a:cubicBezTo>
                <a:cubicBezTo>
                  <a:pt x="58" y="69"/>
                  <a:pt x="62" y="68"/>
                  <a:pt x="66" y="67"/>
                </a:cubicBezTo>
                <a:cubicBezTo>
                  <a:pt x="27" y="94"/>
                  <a:pt x="0" y="154"/>
                  <a:pt x="0" y="200"/>
                </a:cubicBezTo>
                <a:cubicBezTo>
                  <a:pt x="0" y="260"/>
                  <a:pt x="49" y="309"/>
                  <a:pt x="109" y="309"/>
                </a:cubicBezTo>
                <a:cubicBezTo>
                  <a:pt x="170" y="308"/>
                  <a:pt x="218" y="259"/>
                  <a:pt x="218" y="199"/>
                </a:cubicBezTo>
                <a:cubicBezTo>
                  <a:pt x="218" y="150"/>
                  <a:pt x="186" y="85"/>
                  <a:pt x="142" y="61"/>
                </a:cubicBezTo>
                <a:close/>
                <a:moveTo>
                  <a:pt x="140" y="235"/>
                </a:moveTo>
                <a:cubicBezTo>
                  <a:pt x="134" y="240"/>
                  <a:pt x="127" y="243"/>
                  <a:pt x="119" y="245"/>
                </a:cubicBezTo>
                <a:cubicBezTo>
                  <a:pt x="119" y="262"/>
                  <a:pt x="119" y="262"/>
                  <a:pt x="119" y="262"/>
                </a:cubicBezTo>
                <a:cubicBezTo>
                  <a:pt x="100" y="262"/>
                  <a:pt x="100" y="262"/>
                  <a:pt x="100" y="262"/>
                </a:cubicBezTo>
                <a:cubicBezTo>
                  <a:pt x="100" y="245"/>
                  <a:pt x="100" y="245"/>
                  <a:pt x="100" y="245"/>
                </a:cubicBezTo>
                <a:cubicBezTo>
                  <a:pt x="92" y="243"/>
                  <a:pt x="84" y="240"/>
                  <a:pt x="77" y="234"/>
                </a:cubicBezTo>
                <a:cubicBezTo>
                  <a:pt x="70" y="228"/>
                  <a:pt x="66" y="220"/>
                  <a:pt x="65" y="211"/>
                </a:cubicBezTo>
                <a:cubicBezTo>
                  <a:pt x="66" y="206"/>
                  <a:pt x="66" y="206"/>
                  <a:pt x="66" y="206"/>
                </a:cubicBezTo>
                <a:cubicBezTo>
                  <a:pt x="84" y="206"/>
                  <a:pt x="84" y="206"/>
                  <a:pt x="84" y="206"/>
                </a:cubicBezTo>
                <a:cubicBezTo>
                  <a:pt x="84" y="208"/>
                  <a:pt x="84" y="208"/>
                  <a:pt x="84" y="208"/>
                </a:cubicBezTo>
                <a:cubicBezTo>
                  <a:pt x="84" y="215"/>
                  <a:pt x="86" y="221"/>
                  <a:pt x="91" y="225"/>
                </a:cubicBezTo>
                <a:cubicBezTo>
                  <a:pt x="95" y="228"/>
                  <a:pt x="101" y="230"/>
                  <a:pt x="109" y="230"/>
                </a:cubicBezTo>
                <a:cubicBezTo>
                  <a:pt x="117" y="230"/>
                  <a:pt x="123" y="228"/>
                  <a:pt x="128" y="224"/>
                </a:cubicBezTo>
                <a:cubicBezTo>
                  <a:pt x="132" y="220"/>
                  <a:pt x="134" y="215"/>
                  <a:pt x="134" y="208"/>
                </a:cubicBezTo>
                <a:cubicBezTo>
                  <a:pt x="134" y="203"/>
                  <a:pt x="132" y="198"/>
                  <a:pt x="128" y="195"/>
                </a:cubicBezTo>
                <a:cubicBezTo>
                  <a:pt x="124" y="191"/>
                  <a:pt x="116" y="188"/>
                  <a:pt x="105" y="186"/>
                </a:cubicBezTo>
                <a:cubicBezTo>
                  <a:pt x="94" y="183"/>
                  <a:pt x="85" y="179"/>
                  <a:pt x="79" y="173"/>
                </a:cubicBezTo>
                <a:cubicBezTo>
                  <a:pt x="73" y="168"/>
                  <a:pt x="70" y="160"/>
                  <a:pt x="70" y="152"/>
                </a:cubicBezTo>
                <a:cubicBezTo>
                  <a:pt x="70" y="142"/>
                  <a:pt x="73" y="133"/>
                  <a:pt x="81" y="127"/>
                </a:cubicBezTo>
                <a:cubicBezTo>
                  <a:pt x="86" y="123"/>
                  <a:pt x="92" y="120"/>
                  <a:pt x="99" y="119"/>
                </a:cubicBezTo>
                <a:cubicBezTo>
                  <a:pt x="99" y="103"/>
                  <a:pt x="99" y="103"/>
                  <a:pt x="99" y="103"/>
                </a:cubicBezTo>
                <a:cubicBezTo>
                  <a:pt x="118" y="103"/>
                  <a:pt x="118" y="103"/>
                  <a:pt x="118" y="103"/>
                </a:cubicBezTo>
                <a:cubicBezTo>
                  <a:pt x="118" y="118"/>
                  <a:pt x="118" y="118"/>
                  <a:pt x="118" y="118"/>
                </a:cubicBezTo>
                <a:cubicBezTo>
                  <a:pt x="126" y="119"/>
                  <a:pt x="133" y="122"/>
                  <a:pt x="139" y="127"/>
                </a:cubicBezTo>
                <a:cubicBezTo>
                  <a:pt x="146" y="133"/>
                  <a:pt x="150" y="141"/>
                  <a:pt x="151" y="152"/>
                </a:cubicBezTo>
                <a:cubicBezTo>
                  <a:pt x="151" y="154"/>
                  <a:pt x="151" y="154"/>
                  <a:pt x="151" y="154"/>
                </a:cubicBezTo>
                <a:cubicBezTo>
                  <a:pt x="133" y="154"/>
                  <a:pt x="133" y="154"/>
                  <a:pt x="133" y="154"/>
                </a:cubicBezTo>
                <a:cubicBezTo>
                  <a:pt x="132" y="152"/>
                  <a:pt x="132" y="152"/>
                  <a:pt x="132" y="152"/>
                </a:cubicBezTo>
                <a:cubicBezTo>
                  <a:pt x="132" y="146"/>
                  <a:pt x="129" y="141"/>
                  <a:pt x="126" y="138"/>
                </a:cubicBezTo>
                <a:cubicBezTo>
                  <a:pt x="122" y="134"/>
                  <a:pt x="117" y="133"/>
                  <a:pt x="110" y="133"/>
                </a:cubicBezTo>
                <a:cubicBezTo>
                  <a:pt x="103" y="133"/>
                  <a:pt x="97" y="135"/>
                  <a:pt x="94" y="138"/>
                </a:cubicBezTo>
                <a:cubicBezTo>
                  <a:pt x="90" y="141"/>
                  <a:pt x="88" y="145"/>
                  <a:pt x="88" y="151"/>
                </a:cubicBezTo>
                <a:cubicBezTo>
                  <a:pt x="88" y="156"/>
                  <a:pt x="90" y="160"/>
                  <a:pt x="93" y="163"/>
                </a:cubicBezTo>
                <a:cubicBezTo>
                  <a:pt x="97" y="166"/>
                  <a:pt x="103" y="169"/>
                  <a:pt x="112" y="171"/>
                </a:cubicBezTo>
                <a:cubicBezTo>
                  <a:pt x="126" y="174"/>
                  <a:pt x="136" y="179"/>
                  <a:pt x="142" y="185"/>
                </a:cubicBezTo>
                <a:cubicBezTo>
                  <a:pt x="149" y="191"/>
                  <a:pt x="152" y="199"/>
                  <a:pt x="152" y="208"/>
                </a:cubicBezTo>
                <a:cubicBezTo>
                  <a:pt x="153" y="219"/>
                  <a:pt x="148" y="228"/>
                  <a:pt x="140" y="235"/>
                </a:cubicBezTo>
                <a:close/>
              </a:path>
            </a:pathLst>
          </a:custGeom>
          <a:solidFill>
            <a:srgbClr val="002E5A"/>
          </a:solidFill>
          <a:ln>
            <a:noFill/>
          </a:ln>
          <a:extLst/>
        </p:spPr>
        <p:txBody>
          <a:bodyPr vert="horz" wrap="square" lIns="91440" tIns="45720" rIns="91440" bIns="45720" numCol="1" anchor="t" anchorCtr="0" compatLnSpc="1">
            <a:prstTxWarp prst="textNoShape">
              <a:avLst/>
            </a:prstTxWarp>
          </a:bodyPr>
          <a:lstStyle/>
          <a:p>
            <a:endParaRPr lang="en-ZA" dirty="0"/>
          </a:p>
        </p:txBody>
      </p:sp>
      <p:pic>
        <p:nvPicPr>
          <p:cNvPr id="46" name="Picture 45"/>
          <p:cNvPicPr>
            <a:picLocks noChangeAspect="1"/>
          </p:cNvPicPr>
          <p:nvPr/>
        </p:nvPicPr>
        <p:blipFill>
          <a:blip r:embed="rId6"/>
          <a:stretch>
            <a:fillRect/>
          </a:stretch>
        </p:blipFill>
        <p:spPr>
          <a:xfrm>
            <a:off x="5319709" y="2979789"/>
            <a:ext cx="370164" cy="356196"/>
          </a:xfrm>
          <a:prstGeom prst="rect">
            <a:avLst/>
          </a:prstGeom>
        </p:spPr>
      </p:pic>
      <p:sp>
        <p:nvSpPr>
          <p:cNvPr id="47" name="Rectangle 46"/>
          <p:cNvSpPr/>
          <p:nvPr/>
        </p:nvSpPr>
        <p:spPr>
          <a:xfrm flipH="1">
            <a:off x="6842245" y="2078877"/>
            <a:ext cx="2664000" cy="612000"/>
          </a:xfrm>
          <a:prstGeom prst="rect">
            <a:avLst/>
          </a:prstGeom>
          <a:solidFill>
            <a:schemeClr val="bg1"/>
          </a:solidFill>
          <a:ln w="9525" cap="flat" cmpd="sng" algn="ctr">
            <a:solidFill>
              <a:schemeClr val="bg1">
                <a:lumMod val="50000"/>
              </a:schemeClr>
            </a:solidFill>
            <a:prstDash val="solid"/>
          </a:ln>
          <a:effectLst/>
        </p:spPr>
        <p:txBody>
          <a:bodyPr lIns="72000" rIns="72000" rtlCol="0" anchor="ctr"/>
          <a:lstStyle/>
          <a:p>
            <a:pPr marR="0" lvl="0" defTabSz="914400" eaLnBrk="1" fontAlgn="auto" latinLnBrk="0" hangingPunct="1">
              <a:lnSpc>
                <a:spcPct val="100000"/>
              </a:lnSpc>
              <a:spcBef>
                <a:spcPts val="0"/>
              </a:spcBef>
              <a:spcAft>
                <a:spcPts val="0"/>
              </a:spcAft>
              <a:buClrTx/>
              <a:buSzTx/>
              <a:tabLst/>
              <a:defRPr/>
            </a:pPr>
            <a:r>
              <a:rPr lang="en-ZA" sz="900" b="1" kern="0" dirty="0">
                <a:ea typeface="ＭＳ Ｐゴシック"/>
              </a:rPr>
              <a:t>Operational excellence = revenue growth !</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800" kern="0" dirty="0">
                <a:ea typeface="ＭＳ Ｐゴシック"/>
              </a:rPr>
              <a:t>Client and product diversification</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800" kern="0" dirty="0">
                <a:ea typeface="ＭＳ Ｐゴシック"/>
              </a:rPr>
              <a:t>Develop systems and processes to execute effectively</a:t>
            </a:r>
          </a:p>
        </p:txBody>
      </p:sp>
      <p:sp>
        <p:nvSpPr>
          <p:cNvPr id="48" name="Rectangle 47"/>
          <p:cNvSpPr/>
          <p:nvPr/>
        </p:nvSpPr>
        <p:spPr>
          <a:xfrm flipH="1">
            <a:off x="6842244" y="2826927"/>
            <a:ext cx="2664000" cy="612000"/>
          </a:xfrm>
          <a:prstGeom prst="rect">
            <a:avLst/>
          </a:prstGeom>
          <a:solidFill>
            <a:schemeClr val="bg1"/>
          </a:solidFill>
          <a:ln w="9525" cap="flat" cmpd="sng" algn="ctr">
            <a:solidFill>
              <a:schemeClr val="bg1">
                <a:lumMod val="50000"/>
              </a:schemeClr>
            </a:solidFill>
            <a:prstDash val="solid"/>
          </a:ln>
          <a:effectLst/>
        </p:spPr>
        <p:txBody>
          <a:bodyPr lIns="72000" rIns="72000" rtlCol="0" anchor="ctr"/>
          <a:lstStyle/>
          <a:p>
            <a:pPr marR="0" lvl="0" defTabSz="914400" eaLnBrk="1" fontAlgn="auto" latinLnBrk="0" hangingPunct="1">
              <a:lnSpc>
                <a:spcPct val="100000"/>
              </a:lnSpc>
              <a:spcBef>
                <a:spcPts val="0"/>
              </a:spcBef>
              <a:spcAft>
                <a:spcPts val="0"/>
              </a:spcAft>
              <a:buClrTx/>
              <a:buSzTx/>
              <a:tabLst/>
              <a:defRPr/>
            </a:pPr>
            <a:r>
              <a:rPr lang="en-ZA" sz="900" b="1" kern="0" dirty="0">
                <a:ea typeface="ＭＳ Ｐゴシック"/>
              </a:rPr>
              <a:t>Partner of choice!</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800" kern="0" dirty="0">
                <a:ea typeface="ＭＳ Ｐゴシック"/>
              </a:rPr>
              <a:t>Quality solutions through execution excellence</a:t>
            </a:r>
          </a:p>
        </p:txBody>
      </p:sp>
      <p:sp>
        <p:nvSpPr>
          <p:cNvPr id="49" name="Rectangle 48"/>
          <p:cNvSpPr/>
          <p:nvPr/>
        </p:nvSpPr>
        <p:spPr>
          <a:xfrm flipH="1">
            <a:off x="2147648" y="3982829"/>
            <a:ext cx="2664000" cy="664226"/>
          </a:xfrm>
          <a:prstGeom prst="rect">
            <a:avLst/>
          </a:prstGeom>
          <a:solidFill>
            <a:schemeClr val="bg1"/>
          </a:solidFill>
          <a:ln w="9525" cap="flat" cmpd="sng" algn="ctr">
            <a:solidFill>
              <a:schemeClr val="bg1">
                <a:lumMod val="50000"/>
              </a:schemeClr>
            </a:solidFill>
            <a:prstDash val="solid"/>
          </a:ln>
          <a:effectLst/>
        </p:spPr>
        <p:txBody>
          <a:bodyPr lIns="72000" rIns="72000" rtlCol="0" anchor="t" anchorCtr="0"/>
          <a:lstStyle/>
          <a:p>
            <a:pPr marL="171450" lvl="0" indent="-171450">
              <a:buFont typeface="Arial" panose="020B0604020202020204" pitchFamily="34" charset="0"/>
              <a:buChar char="•"/>
              <a:defRPr/>
            </a:pPr>
            <a:r>
              <a:rPr lang="en-ZA" sz="800" kern="0" dirty="0">
                <a:ea typeface="ＭＳ Ｐゴシック"/>
              </a:rPr>
              <a:t>Robust revenue pipeline </a:t>
            </a:r>
          </a:p>
          <a:p>
            <a:pPr marL="171450" lvl="0" indent="-171450">
              <a:buFont typeface="Arial" panose="020B0604020202020204" pitchFamily="34" charset="0"/>
              <a:buChar char="•"/>
              <a:defRPr/>
            </a:pPr>
            <a:r>
              <a:rPr lang="en-ZA" sz="800" kern="0" dirty="0">
                <a:ea typeface="ＭＳ Ｐゴシック"/>
              </a:rPr>
              <a:t>Cost to revenue %: minimum two - three times cost base (advisory services norm)</a:t>
            </a:r>
          </a:p>
          <a:p>
            <a:pPr marL="171450" lvl="0" indent="-171450">
              <a:buFont typeface="Arial" panose="020B0604020202020204" pitchFamily="34" charset="0"/>
              <a:buChar char="•"/>
              <a:defRPr/>
            </a:pPr>
            <a:r>
              <a:rPr lang="en-ZA" sz="800" kern="0" dirty="0">
                <a:ea typeface="ＭＳ Ｐゴシック"/>
              </a:rPr>
              <a:t>Reduce time spent on rework – process improvement</a:t>
            </a:r>
          </a:p>
        </p:txBody>
      </p:sp>
      <p:sp>
        <p:nvSpPr>
          <p:cNvPr id="50" name="Rectangle 49"/>
          <p:cNvSpPr/>
          <p:nvPr/>
        </p:nvSpPr>
        <p:spPr>
          <a:xfrm flipH="1">
            <a:off x="2148640" y="4743966"/>
            <a:ext cx="2664000" cy="612000"/>
          </a:xfrm>
          <a:prstGeom prst="rect">
            <a:avLst/>
          </a:prstGeom>
          <a:solidFill>
            <a:schemeClr val="bg1"/>
          </a:solidFill>
          <a:ln w="9525" cap="flat" cmpd="sng" algn="ctr">
            <a:solidFill>
              <a:schemeClr val="bg1">
                <a:lumMod val="50000"/>
              </a:schemeClr>
            </a:solidFill>
            <a:prstDash val="solid"/>
          </a:ln>
          <a:effectLst/>
        </p:spPr>
        <p:txBody>
          <a:bodyPr lIns="72000" rIns="72000" rtlCol="0" anchor="t" anchorCtr="0"/>
          <a:lstStyle/>
          <a:p>
            <a:pPr marL="171450" lvl="0" indent="-171450">
              <a:buFont typeface="Arial" panose="020B0604020202020204" pitchFamily="34" charset="0"/>
              <a:buChar char="•"/>
              <a:defRPr/>
            </a:pPr>
            <a:r>
              <a:rPr lang="en-ZA" sz="800" kern="0" dirty="0">
                <a:ea typeface="ＭＳ Ｐゴシック"/>
              </a:rPr>
              <a:t>% of HR budget spent on training: Linked to SDL</a:t>
            </a:r>
          </a:p>
          <a:p>
            <a:pPr marL="171450" lvl="0" indent="-171450">
              <a:buFont typeface="Arial" panose="020B0604020202020204" pitchFamily="34" charset="0"/>
              <a:buChar char="•"/>
              <a:defRPr/>
            </a:pPr>
            <a:r>
              <a:rPr lang="en-ZA" sz="800" kern="0" dirty="0">
                <a:ea typeface="ＭＳ Ｐゴシック"/>
              </a:rPr>
              <a:t>Time to find skilled hires: Use for planning </a:t>
            </a:r>
          </a:p>
          <a:p>
            <a:pPr marL="171450" lvl="0" indent="-171450">
              <a:buFont typeface="Arial" panose="020B0604020202020204" pitchFamily="34" charset="0"/>
              <a:buChar char="•"/>
              <a:defRPr/>
            </a:pPr>
            <a:r>
              <a:rPr lang="en-ZA" sz="800" kern="0" dirty="0">
                <a:ea typeface="ＭＳ Ｐゴシック"/>
              </a:rPr>
              <a:t>Training and development:</a:t>
            </a:r>
          </a:p>
          <a:p>
            <a:pPr marL="628650" lvl="1" indent="-171450">
              <a:buFont typeface="Arial" panose="020B0604020202020204" pitchFamily="34" charset="0"/>
              <a:buChar char="•"/>
              <a:defRPr/>
            </a:pPr>
            <a:r>
              <a:rPr lang="en-ZA" sz="800" kern="0" dirty="0">
                <a:ea typeface="ＭＳ Ｐゴシック"/>
              </a:rPr>
              <a:t>Performance improvement – TBD</a:t>
            </a:r>
          </a:p>
          <a:p>
            <a:pPr marL="171450" lvl="0" indent="-171450">
              <a:buFont typeface="Arial" panose="020B0604020202020204" pitchFamily="34" charset="0"/>
              <a:buChar char="•"/>
              <a:defRPr/>
            </a:pPr>
            <a:endParaRPr lang="en-ZA" sz="800" kern="0" dirty="0">
              <a:ea typeface="ＭＳ Ｐゴシック"/>
            </a:endParaRPr>
          </a:p>
          <a:p>
            <a:endParaRPr lang="en-ZA" sz="800" kern="0" dirty="0">
              <a:ea typeface="ＭＳ Ｐゴシック"/>
            </a:endParaRPr>
          </a:p>
        </p:txBody>
      </p:sp>
      <p:sp>
        <p:nvSpPr>
          <p:cNvPr id="51" name="Rectangle 50"/>
          <p:cNvSpPr/>
          <p:nvPr/>
        </p:nvSpPr>
        <p:spPr>
          <a:xfrm flipH="1">
            <a:off x="2145475" y="5475737"/>
            <a:ext cx="2664000" cy="612000"/>
          </a:xfrm>
          <a:prstGeom prst="rect">
            <a:avLst/>
          </a:prstGeom>
          <a:solidFill>
            <a:schemeClr val="bg1"/>
          </a:solidFill>
          <a:ln w="9525" cap="flat" cmpd="sng" algn="ctr">
            <a:solidFill>
              <a:schemeClr val="bg1">
                <a:lumMod val="50000"/>
              </a:schemeClr>
            </a:solidFill>
            <a:prstDash val="solid"/>
          </a:ln>
          <a:effectLst/>
        </p:spPr>
        <p:txBody>
          <a:bodyPr lIns="72000" rIns="72000" rtlCol="0" anchor="ctr"/>
          <a:lstStyle/>
          <a:p>
            <a:pPr marL="171450" indent="-171450">
              <a:buFont typeface="Arial" panose="020B0604020202020204" pitchFamily="34" charset="0"/>
              <a:buChar char="•"/>
            </a:pPr>
            <a:r>
              <a:rPr lang="en-ZA" sz="800" kern="0" dirty="0">
                <a:ea typeface="ＭＳ Ｐゴシック"/>
              </a:rPr>
              <a:t>Number of contract renewals/ new mandates won </a:t>
            </a:r>
          </a:p>
          <a:p>
            <a:pPr marL="171450" indent="-171450">
              <a:buFont typeface="Arial" panose="020B0604020202020204" pitchFamily="34" charset="0"/>
              <a:buChar char="•"/>
            </a:pPr>
            <a:r>
              <a:rPr lang="en-ZA" sz="800" kern="0" dirty="0">
                <a:ea typeface="ＭＳ Ｐゴシック"/>
              </a:rPr>
              <a:t>Client Feedback: </a:t>
            </a:r>
          </a:p>
          <a:p>
            <a:pPr marL="628650" lvl="1" indent="-171450">
              <a:buFont typeface="Arial" panose="020B0604020202020204" pitchFamily="34" charset="0"/>
              <a:buChar char="•"/>
            </a:pPr>
            <a:r>
              <a:rPr lang="en-ZA" sz="800" kern="0" dirty="0">
                <a:ea typeface="ＭＳ Ｐゴシック"/>
              </a:rPr>
              <a:t>Client experience vs ideal experience</a:t>
            </a:r>
          </a:p>
          <a:p>
            <a:pPr marL="628650" lvl="1" indent="-171450">
              <a:buFont typeface="Arial" panose="020B0604020202020204" pitchFamily="34" charset="0"/>
              <a:buChar char="•"/>
            </a:pPr>
            <a:r>
              <a:rPr lang="en-ZA" sz="800" kern="0" dirty="0">
                <a:ea typeface="ＭＳ Ｐゴシック"/>
              </a:rPr>
              <a:t>Expectations met</a:t>
            </a:r>
          </a:p>
          <a:p>
            <a:pPr marL="628650" lvl="1" indent="-171450">
              <a:buFont typeface="Arial" panose="020B0604020202020204" pitchFamily="34" charset="0"/>
              <a:buChar char="•"/>
            </a:pPr>
            <a:r>
              <a:rPr lang="en-ZA" sz="800" kern="0" dirty="0">
                <a:ea typeface="ＭＳ Ｐゴシック"/>
              </a:rPr>
              <a:t>Intent to use TFA again</a:t>
            </a:r>
          </a:p>
        </p:txBody>
      </p:sp>
      <p:sp>
        <p:nvSpPr>
          <p:cNvPr id="52" name="TextBox 51"/>
          <p:cNvSpPr txBox="1"/>
          <p:nvPr/>
        </p:nvSpPr>
        <p:spPr>
          <a:xfrm>
            <a:off x="400420" y="1577220"/>
            <a:ext cx="1020321" cy="347057"/>
          </a:xfrm>
          <a:prstGeom prst="rect">
            <a:avLst/>
          </a:prstGeom>
          <a:solidFill>
            <a:schemeClr val="accent4">
              <a:lumMod val="75000"/>
            </a:schemeClr>
          </a:solidFill>
        </p:spPr>
        <p:txBody>
          <a:bodyPr wrap="square" rtlCol="0" anchor="ctr" anchorCtr="0">
            <a:noAutofit/>
          </a:bodyPr>
          <a:lstStyle/>
          <a:p>
            <a:pPr algn="ctr"/>
            <a:r>
              <a:rPr lang="en-ZA" sz="900" b="1" dirty="0">
                <a:solidFill>
                  <a:schemeClr val="bg1"/>
                </a:solidFill>
              </a:rPr>
              <a:t>Strategy</a:t>
            </a:r>
          </a:p>
        </p:txBody>
      </p:sp>
      <p:sp>
        <p:nvSpPr>
          <p:cNvPr id="53" name="TextBox 52"/>
          <p:cNvSpPr txBox="1"/>
          <p:nvPr/>
        </p:nvSpPr>
        <p:spPr>
          <a:xfrm>
            <a:off x="400420" y="1980401"/>
            <a:ext cx="1020321" cy="324000"/>
          </a:xfrm>
          <a:prstGeom prst="rect">
            <a:avLst/>
          </a:prstGeom>
          <a:solidFill>
            <a:schemeClr val="accent4">
              <a:lumMod val="75000"/>
            </a:schemeClr>
          </a:solidFill>
        </p:spPr>
        <p:txBody>
          <a:bodyPr wrap="square" rtlCol="0">
            <a:noAutofit/>
          </a:bodyPr>
          <a:lstStyle/>
          <a:p>
            <a:pPr algn="ctr"/>
            <a:r>
              <a:rPr lang="en-ZA" sz="900" b="1" dirty="0">
                <a:solidFill>
                  <a:schemeClr val="bg1"/>
                </a:solidFill>
              </a:rPr>
              <a:t>Company size</a:t>
            </a:r>
          </a:p>
        </p:txBody>
      </p:sp>
      <p:sp>
        <p:nvSpPr>
          <p:cNvPr id="54" name="TextBox 53"/>
          <p:cNvSpPr txBox="1"/>
          <p:nvPr/>
        </p:nvSpPr>
        <p:spPr>
          <a:xfrm>
            <a:off x="400420" y="2360525"/>
            <a:ext cx="1020321" cy="324000"/>
          </a:xfrm>
          <a:prstGeom prst="rect">
            <a:avLst/>
          </a:prstGeom>
          <a:solidFill>
            <a:schemeClr val="accent4">
              <a:lumMod val="75000"/>
            </a:schemeClr>
          </a:solidFill>
        </p:spPr>
        <p:txBody>
          <a:bodyPr wrap="square" rtlCol="0">
            <a:noAutofit/>
          </a:bodyPr>
          <a:lstStyle/>
          <a:p>
            <a:pPr algn="ctr"/>
            <a:r>
              <a:rPr lang="en-ZA" sz="900" b="1" dirty="0">
                <a:solidFill>
                  <a:schemeClr val="bg1"/>
                </a:solidFill>
              </a:rPr>
              <a:t>Industries</a:t>
            </a:r>
          </a:p>
        </p:txBody>
      </p:sp>
      <p:sp>
        <p:nvSpPr>
          <p:cNvPr id="55" name="TextBox 54"/>
          <p:cNvSpPr txBox="1"/>
          <p:nvPr/>
        </p:nvSpPr>
        <p:spPr>
          <a:xfrm>
            <a:off x="400420" y="2740649"/>
            <a:ext cx="1020321" cy="324000"/>
          </a:xfrm>
          <a:prstGeom prst="rect">
            <a:avLst/>
          </a:prstGeom>
          <a:solidFill>
            <a:schemeClr val="accent4">
              <a:lumMod val="75000"/>
            </a:schemeClr>
          </a:solidFill>
        </p:spPr>
        <p:txBody>
          <a:bodyPr wrap="square" rtlCol="0">
            <a:noAutofit/>
          </a:bodyPr>
          <a:lstStyle/>
          <a:p>
            <a:pPr algn="ctr"/>
            <a:r>
              <a:rPr lang="en-ZA" sz="900" b="1" dirty="0">
                <a:solidFill>
                  <a:schemeClr val="bg1"/>
                </a:solidFill>
              </a:rPr>
              <a:t>Target</a:t>
            </a:r>
          </a:p>
        </p:txBody>
      </p:sp>
      <p:sp>
        <p:nvSpPr>
          <p:cNvPr id="56" name="TextBox 55"/>
          <p:cNvSpPr txBox="1"/>
          <p:nvPr/>
        </p:nvSpPr>
        <p:spPr>
          <a:xfrm>
            <a:off x="400420" y="3120771"/>
            <a:ext cx="1020321" cy="397115"/>
          </a:xfrm>
          <a:prstGeom prst="rect">
            <a:avLst/>
          </a:prstGeom>
          <a:solidFill>
            <a:schemeClr val="accent4">
              <a:lumMod val="75000"/>
            </a:schemeClr>
          </a:solidFill>
        </p:spPr>
        <p:txBody>
          <a:bodyPr wrap="square" rtlCol="0">
            <a:noAutofit/>
          </a:bodyPr>
          <a:lstStyle/>
          <a:p>
            <a:pPr algn="ctr"/>
            <a:r>
              <a:rPr lang="en-ZA" sz="900" b="1" dirty="0">
                <a:solidFill>
                  <a:schemeClr val="bg1"/>
                </a:solidFill>
              </a:rPr>
              <a:t>Deal size</a:t>
            </a:r>
          </a:p>
        </p:txBody>
      </p:sp>
      <p:sp>
        <p:nvSpPr>
          <p:cNvPr id="57" name="Rectangle 12"/>
          <p:cNvSpPr>
            <a:spLocks noChangeArrowheads="1"/>
          </p:cNvSpPr>
          <p:nvPr>
            <p:custDataLst>
              <p:tags r:id="rId1"/>
            </p:custDataLst>
          </p:nvPr>
        </p:nvSpPr>
        <p:spPr bwMode="gray">
          <a:xfrm>
            <a:off x="1499973" y="1285155"/>
            <a:ext cx="2088000" cy="252000"/>
          </a:xfrm>
          <a:prstGeom prst="rect">
            <a:avLst/>
          </a:prstGeom>
          <a:solidFill>
            <a:schemeClr val="accent1"/>
          </a:solidFill>
          <a:ln w="19050">
            <a:solidFill>
              <a:schemeClr val="accent1"/>
            </a:solidFill>
          </a:ln>
          <a:effectLst/>
        </p:spPr>
        <p:txBody>
          <a:bodyPr lIns="32654" tIns="32654" rIns="32654" bIns="32654" anchor="ctr"/>
          <a:lstStyle/>
          <a:p>
            <a:pPr algn="ctr" defTabSz="653074">
              <a:defRPr/>
            </a:pPr>
            <a:r>
              <a:rPr lang="fr-FR" sz="900" b="1" dirty="0">
                <a:solidFill>
                  <a:schemeClr val="bg1"/>
                </a:solidFill>
                <a:cs typeface="Arial" pitchFamily="34" charset="0"/>
              </a:rPr>
              <a:t>Direct</a:t>
            </a:r>
          </a:p>
        </p:txBody>
      </p:sp>
      <p:sp>
        <p:nvSpPr>
          <p:cNvPr id="58" name="Rectangle 12"/>
          <p:cNvSpPr>
            <a:spLocks noChangeArrowheads="1"/>
          </p:cNvSpPr>
          <p:nvPr>
            <p:custDataLst>
              <p:tags r:id="rId2"/>
            </p:custDataLst>
          </p:nvPr>
        </p:nvSpPr>
        <p:spPr bwMode="gray">
          <a:xfrm>
            <a:off x="3630306" y="1285156"/>
            <a:ext cx="1188000" cy="252000"/>
          </a:xfrm>
          <a:prstGeom prst="rect">
            <a:avLst/>
          </a:prstGeom>
          <a:solidFill>
            <a:schemeClr val="accent1"/>
          </a:solidFill>
          <a:ln w="19050">
            <a:solidFill>
              <a:schemeClr val="accent1"/>
            </a:solidFill>
          </a:ln>
          <a:effectLst/>
        </p:spPr>
        <p:txBody>
          <a:bodyPr lIns="32654" tIns="32654" rIns="32654" bIns="32654" anchor="ctr"/>
          <a:lstStyle/>
          <a:p>
            <a:pPr algn="ctr" defTabSz="653074">
              <a:defRPr/>
            </a:pPr>
            <a:r>
              <a:rPr lang="fr-FR" sz="900" b="1" dirty="0">
                <a:solidFill>
                  <a:schemeClr val="bg1"/>
                </a:solidFill>
                <a:cs typeface="Arial" pitchFamily="34" charset="0"/>
              </a:rPr>
              <a:t>Business Partners</a:t>
            </a:r>
          </a:p>
        </p:txBody>
      </p:sp>
      <p:sp>
        <p:nvSpPr>
          <p:cNvPr id="10" name="Rectangle 9"/>
          <p:cNvSpPr/>
          <p:nvPr/>
        </p:nvSpPr>
        <p:spPr>
          <a:xfrm>
            <a:off x="1432758" y="2707800"/>
            <a:ext cx="2126320" cy="338554"/>
          </a:xfrm>
          <a:prstGeom prst="rect">
            <a:avLst/>
          </a:prstGeom>
        </p:spPr>
        <p:txBody>
          <a:bodyPr wrap="square">
            <a:spAutoFit/>
          </a:bodyPr>
          <a:lstStyle/>
          <a:p>
            <a:r>
              <a:rPr lang="en-ZA" sz="800" dirty="0"/>
              <a:t>CEO, CFO, Executive directors, Divisional managers</a:t>
            </a:r>
          </a:p>
        </p:txBody>
      </p:sp>
      <p:sp>
        <p:nvSpPr>
          <p:cNvPr id="11" name="Rectangle 10"/>
          <p:cNvSpPr/>
          <p:nvPr/>
        </p:nvSpPr>
        <p:spPr>
          <a:xfrm>
            <a:off x="1432758" y="2364168"/>
            <a:ext cx="2126320" cy="338554"/>
          </a:xfrm>
          <a:prstGeom prst="rect">
            <a:avLst/>
          </a:prstGeom>
        </p:spPr>
        <p:txBody>
          <a:bodyPr wrap="square">
            <a:spAutoFit/>
          </a:bodyPr>
          <a:lstStyle/>
          <a:p>
            <a:r>
              <a:rPr lang="en-ZA" sz="800" dirty="0"/>
              <a:t>Government, energy, transportation, retail, financial services, real estate, healthcare</a:t>
            </a:r>
          </a:p>
        </p:txBody>
      </p:sp>
      <p:sp>
        <p:nvSpPr>
          <p:cNvPr id="13" name="Rectangle 12"/>
          <p:cNvSpPr/>
          <p:nvPr/>
        </p:nvSpPr>
        <p:spPr>
          <a:xfrm>
            <a:off x="1432758" y="1930771"/>
            <a:ext cx="2126320" cy="461665"/>
          </a:xfrm>
          <a:prstGeom prst="rect">
            <a:avLst/>
          </a:prstGeom>
        </p:spPr>
        <p:txBody>
          <a:bodyPr wrap="square">
            <a:spAutoFit/>
          </a:bodyPr>
          <a:lstStyle/>
          <a:p>
            <a:r>
              <a:rPr lang="en-ZA" sz="800" dirty="0"/>
              <a:t>SOC’s, public companies, private companies with &gt; 100 million rand in turnover</a:t>
            </a:r>
          </a:p>
        </p:txBody>
      </p:sp>
      <p:sp>
        <p:nvSpPr>
          <p:cNvPr id="36" name="Rectangle 35"/>
          <p:cNvSpPr/>
          <p:nvPr/>
        </p:nvSpPr>
        <p:spPr>
          <a:xfrm>
            <a:off x="1432758" y="1594154"/>
            <a:ext cx="2154354" cy="338554"/>
          </a:xfrm>
          <a:prstGeom prst="rect">
            <a:avLst/>
          </a:prstGeom>
        </p:spPr>
        <p:txBody>
          <a:bodyPr wrap="square">
            <a:spAutoFit/>
          </a:bodyPr>
          <a:lstStyle/>
          <a:p>
            <a:r>
              <a:rPr lang="en-ZA" sz="800" dirty="0"/>
              <a:t>Own the sweet spot of our market through targeted BD</a:t>
            </a:r>
          </a:p>
        </p:txBody>
      </p:sp>
      <p:sp>
        <p:nvSpPr>
          <p:cNvPr id="59" name="Rectangle 58"/>
          <p:cNvSpPr/>
          <p:nvPr/>
        </p:nvSpPr>
        <p:spPr>
          <a:xfrm>
            <a:off x="1432758" y="3022548"/>
            <a:ext cx="2444975" cy="461665"/>
          </a:xfrm>
          <a:prstGeom prst="rect">
            <a:avLst/>
          </a:prstGeom>
        </p:spPr>
        <p:txBody>
          <a:bodyPr wrap="square">
            <a:spAutoFit/>
          </a:bodyPr>
          <a:lstStyle/>
          <a:p>
            <a:r>
              <a:rPr lang="en-ZA" sz="800" dirty="0"/>
              <a:t>Commercial rationale needs to be evaluated in line with current delivery workload and delivering on strategic objectives</a:t>
            </a:r>
          </a:p>
        </p:txBody>
      </p:sp>
      <p:sp>
        <p:nvSpPr>
          <p:cNvPr id="60" name="Rectangle 59"/>
          <p:cNvSpPr/>
          <p:nvPr/>
        </p:nvSpPr>
        <p:spPr>
          <a:xfrm>
            <a:off x="3630306" y="1583431"/>
            <a:ext cx="1211891" cy="1446550"/>
          </a:xfrm>
          <a:prstGeom prst="rect">
            <a:avLst/>
          </a:prstGeom>
        </p:spPr>
        <p:txBody>
          <a:bodyPr wrap="square" lIns="36000" rIns="0">
            <a:spAutoFit/>
          </a:bodyPr>
          <a:lstStyle/>
          <a:p>
            <a:r>
              <a:rPr lang="en-ZA" sz="800" dirty="0"/>
              <a:t>Utilise business partner relationships to </a:t>
            </a:r>
            <a:r>
              <a:rPr lang="en-ZA" sz="800" b="1" dirty="0"/>
              <a:t>complement delivery </a:t>
            </a:r>
            <a:r>
              <a:rPr lang="en-ZA" sz="800" dirty="0"/>
              <a:t>on our current clients</a:t>
            </a:r>
          </a:p>
          <a:p>
            <a:endParaRPr lang="en-ZA" sz="800" dirty="0"/>
          </a:p>
          <a:p>
            <a:r>
              <a:rPr lang="en-ZA" sz="800" dirty="0"/>
              <a:t>Leverage strategic partner engagements/</a:t>
            </a:r>
          </a:p>
          <a:p>
            <a:r>
              <a:rPr lang="en-ZA" sz="800" dirty="0"/>
              <a:t>assignments on other clients to build credentials and diversify revenue generation capacity</a:t>
            </a:r>
          </a:p>
        </p:txBody>
      </p:sp>
      <p:sp>
        <p:nvSpPr>
          <p:cNvPr id="61" name="Rectangle 60"/>
          <p:cNvSpPr/>
          <p:nvPr/>
        </p:nvSpPr>
        <p:spPr>
          <a:xfrm>
            <a:off x="5141286" y="4060737"/>
            <a:ext cx="4364958" cy="2015936"/>
          </a:xfrm>
          <a:prstGeom prst="rect">
            <a:avLst/>
          </a:prstGeom>
        </p:spPr>
        <p:txBody>
          <a:bodyPr wrap="square">
            <a:spAutoFit/>
          </a:bodyPr>
          <a:lstStyle/>
          <a:p>
            <a:pPr marL="228600" lvl="0" indent="-228600" defTabSz="914077">
              <a:spcBef>
                <a:spcPts val="600"/>
              </a:spcBef>
              <a:buFont typeface="+mj-lt"/>
              <a:buAutoNum type="arabicPeriod"/>
            </a:pPr>
            <a:r>
              <a:rPr lang="en-ZA" sz="900" kern="0" dirty="0"/>
              <a:t>Develop a training plan – FB/AW</a:t>
            </a:r>
          </a:p>
          <a:p>
            <a:pPr marL="228600" lvl="0" indent="-228600" defTabSz="914077">
              <a:spcBef>
                <a:spcPts val="600"/>
              </a:spcBef>
              <a:buFont typeface="+mj-lt"/>
              <a:buAutoNum type="arabicPeriod"/>
            </a:pPr>
            <a:r>
              <a:rPr lang="en-ZA" sz="900" kern="0" dirty="0"/>
              <a:t>Arrange sessions with each team member to understand their developmental goals and development plan – FB/SN</a:t>
            </a:r>
          </a:p>
          <a:p>
            <a:pPr marL="228600" lvl="0" indent="-228600" defTabSz="914077">
              <a:spcBef>
                <a:spcPts val="600"/>
              </a:spcBef>
              <a:buFont typeface="+mj-lt"/>
              <a:buAutoNum type="arabicPeriod"/>
            </a:pPr>
            <a:r>
              <a:rPr lang="en-ZA" sz="900" kern="0" dirty="0"/>
              <a:t>Develop marketing material – Team/Marketing</a:t>
            </a:r>
          </a:p>
          <a:p>
            <a:pPr marL="228600" lvl="0" indent="-228600" defTabSz="914077">
              <a:spcBef>
                <a:spcPts val="600"/>
              </a:spcBef>
              <a:buFont typeface="+mj-lt"/>
              <a:buAutoNum type="arabicPeriod"/>
            </a:pPr>
            <a:r>
              <a:rPr lang="en-ZA" sz="900" kern="0" dirty="0"/>
              <a:t>Implement processes to enable optimal service delivery - Team</a:t>
            </a:r>
          </a:p>
          <a:p>
            <a:pPr marL="228600" lvl="0" indent="-228600" defTabSz="914077">
              <a:spcBef>
                <a:spcPts val="600"/>
              </a:spcBef>
              <a:buFont typeface="+mj-lt"/>
              <a:buAutoNum type="arabicPeriod"/>
            </a:pPr>
            <a:r>
              <a:rPr lang="en-ZA" sz="900" kern="0" dirty="0"/>
              <a:t>Relationship building with strategic partners to strengthen credentials and enhance our client portfolio – FB supported by team</a:t>
            </a:r>
          </a:p>
          <a:p>
            <a:pPr marL="228600" lvl="0" indent="-228600" defTabSz="914077">
              <a:spcBef>
                <a:spcPts val="600"/>
              </a:spcBef>
              <a:buFont typeface="+mj-lt"/>
              <a:buAutoNum type="arabicPeriod"/>
            </a:pPr>
            <a:r>
              <a:rPr lang="en-ZA" sz="900" kern="0" dirty="0"/>
              <a:t>Build critical mass within the core Specialised finance team – FB/SN</a:t>
            </a:r>
          </a:p>
          <a:p>
            <a:pPr marL="228600" lvl="0" indent="-228600" defTabSz="914077">
              <a:spcBef>
                <a:spcPts val="600"/>
              </a:spcBef>
              <a:buFont typeface="+mj-lt"/>
              <a:buAutoNum type="arabicPeriod"/>
            </a:pPr>
            <a:r>
              <a:rPr lang="en-ZA" sz="900" kern="0" dirty="0"/>
              <a:t> Obtain access to a research portal – FB/Finance</a:t>
            </a:r>
          </a:p>
          <a:p>
            <a:pPr marL="228600" lvl="0" indent="-228600" defTabSz="914077">
              <a:spcBef>
                <a:spcPts val="600"/>
              </a:spcBef>
              <a:buFont typeface="+mj-lt"/>
              <a:buAutoNum type="arabicPeriod"/>
            </a:pPr>
            <a:r>
              <a:rPr lang="en-ZA" sz="900" kern="0" dirty="0"/>
              <a:t>Host team training sessions - Team</a:t>
            </a:r>
          </a:p>
        </p:txBody>
      </p:sp>
    </p:spTree>
    <p:extLst>
      <p:ext uri="{BB962C8B-B14F-4D97-AF65-F5344CB8AC3E}">
        <p14:creationId xmlns:p14="http://schemas.microsoft.com/office/powerpoint/2010/main" val="3297895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2900" y="3005408"/>
            <a:ext cx="6048664" cy="424732"/>
          </a:xfrm>
          <a:prstGeom prst="rect">
            <a:avLst/>
          </a:prstGeom>
        </p:spPr>
        <p:txBody>
          <a:bodyPr vert="horz" lIns="91440" tIns="45720" rIns="91440" bIns="45720" rtlCol="0" anchor="ctr" anchorCtr="0">
            <a:noAutofit/>
          </a:bodyPr>
          <a:lstStyle/>
          <a:p>
            <a:pPr>
              <a:lnSpc>
                <a:spcPct val="90000"/>
              </a:lnSpc>
              <a:spcBef>
                <a:spcPts val="1000"/>
              </a:spcBef>
              <a:buClr>
                <a:srgbClr val="002E5A"/>
              </a:buClr>
              <a:buFont typeface="Arial" panose="020B0604020202020204" pitchFamily="34" charset="0"/>
              <a:buNone/>
            </a:pPr>
            <a:r>
              <a:rPr lang="en-GB" sz="2200" dirty="0">
                <a:solidFill>
                  <a:srgbClr val="012E58"/>
                </a:solidFill>
                <a:latin typeface="Arial" panose="020B0604020202020204" pitchFamily="34" charset="0"/>
                <a:cs typeface="Arial" panose="020B0604020202020204" pitchFamily="34" charset="0"/>
              </a:rPr>
              <a:t>Market analysis</a:t>
            </a:r>
          </a:p>
        </p:txBody>
      </p:sp>
    </p:spTree>
    <p:extLst>
      <p:ext uri="{BB962C8B-B14F-4D97-AF65-F5344CB8AC3E}">
        <p14:creationId xmlns:p14="http://schemas.microsoft.com/office/powerpoint/2010/main" val="577138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8401" name="think-cell Slide" r:id="rId38" imgW="216" imgH="216" progId="TCLayout.ActiveDocument.1">
                  <p:embed/>
                </p:oleObj>
              </mc:Choice>
              <mc:Fallback>
                <p:oleObj name="think-cell Slide" r:id="rId38" imgW="216" imgH="216" progId="TCLayout.ActiveDocument.1">
                  <p:embed/>
                  <p:pic>
                    <p:nvPicPr>
                      <p:cNvPr id="7" name="Object 6" hidden="1"/>
                      <p:cNvPicPr/>
                      <p:nvPr/>
                    </p:nvPicPr>
                    <p:blipFill>
                      <a:blip r:embed="rId39"/>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3"/>
            </p:custDataLst>
          </p:nvPr>
        </p:nvSpPr>
        <p:spPr bwMode="auto">
          <a:xfrm>
            <a:off x="0"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en-ZA" sz="800" b="1" dirty="0">
              <a:latin typeface="Arial" panose="020B0604020202020204" pitchFamily="34" charset="0"/>
              <a:sym typeface="Arial" panose="020B0604020202020204" pitchFamily="34" charset="0"/>
            </a:endParaRPr>
          </a:p>
        </p:txBody>
      </p:sp>
      <p:sp>
        <p:nvSpPr>
          <p:cNvPr id="31" name="TextBox 30"/>
          <p:cNvSpPr txBox="1"/>
          <p:nvPr/>
        </p:nvSpPr>
        <p:spPr>
          <a:xfrm>
            <a:off x="346008" y="1228017"/>
            <a:ext cx="9216000" cy="4882842"/>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endParaRPr lang="en-ZA" sz="800" dirty="0"/>
          </a:p>
        </p:txBody>
      </p:sp>
      <p:sp>
        <p:nvSpPr>
          <p:cNvPr id="3" name="Title 2"/>
          <p:cNvSpPr>
            <a:spLocks noGrp="1"/>
          </p:cNvSpPr>
          <p:nvPr>
            <p:ph type="title"/>
          </p:nvPr>
        </p:nvSpPr>
        <p:spPr>
          <a:xfrm>
            <a:off x="351473" y="-924"/>
            <a:ext cx="9203055" cy="660399"/>
          </a:xfrm>
        </p:spPr>
        <p:txBody>
          <a:bodyPr>
            <a:normAutofit fontScale="90000"/>
          </a:bodyPr>
          <a:lstStyle/>
          <a:p>
            <a:br>
              <a:rPr lang="en-ZA" sz="2200" dirty="0"/>
            </a:br>
            <a:r>
              <a:rPr lang="en-ZA" sz="2200" dirty="0"/>
              <a:t>Market Analysis: Consolidated spending by functional and economic classification – 16/17</a:t>
            </a:r>
            <a:br>
              <a:rPr lang="en-ZA" sz="2000" dirty="0"/>
            </a:br>
            <a:r>
              <a:rPr lang="en-ZA" sz="1200" kern="0" dirty="0">
                <a:ea typeface="Arial Unicode MS" pitchFamily="34" charset="-128"/>
                <a:cs typeface="Arial Unicode MS" pitchFamily="34" charset="-128"/>
              </a:rPr>
              <a:t>Understanding the operating environment of our country and that of our target markets will allow us to isolate opportunities and execute more efficiently</a:t>
            </a:r>
            <a:endParaRPr lang="en-GB" sz="1200" dirty="0"/>
          </a:p>
        </p:txBody>
      </p:sp>
      <p:sp>
        <p:nvSpPr>
          <p:cNvPr id="9" name="TextBox 8"/>
          <p:cNvSpPr txBox="1"/>
          <p:nvPr/>
        </p:nvSpPr>
        <p:spPr>
          <a:xfrm>
            <a:off x="342197" y="965723"/>
            <a:ext cx="9216000" cy="262294"/>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Market analysis</a:t>
            </a:r>
          </a:p>
        </p:txBody>
      </p:sp>
      <p:sp>
        <p:nvSpPr>
          <p:cNvPr id="14" name="TextBox 13"/>
          <p:cNvSpPr txBox="1"/>
          <p:nvPr/>
        </p:nvSpPr>
        <p:spPr>
          <a:xfrm>
            <a:off x="355121" y="1219200"/>
            <a:ext cx="9216000" cy="4882842"/>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endParaRPr lang="en-ZA" sz="800" dirty="0"/>
          </a:p>
        </p:txBody>
      </p:sp>
      <p:graphicFrame>
        <p:nvGraphicFramePr>
          <p:cNvPr id="5" name="Object 4"/>
          <p:cNvGraphicFramePr>
            <a:graphicFrameLocks/>
          </p:cNvGraphicFramePr>
          <p:nvPr>
            <p:custDataLst>
              <p:tags r:id="rId4"/>
            </p:custDataLst>
            <p:extLst/>
          </p:nvPr>
        </p:nvGraphicFramePr>
        <p:xfrm>
          <a:off x="1524000" y="1219200"/>
          <a:ext cx="3085999" cy="1836432"/>
        </p:xfrm>
        <a:graphic>
          <a:graphicData uri="http://schemas.openxmlformats.org/presentationml/2006/ole">
            <mc:AlternateContent xmlns:mc="http://schemas.openxmlformats.org/markup-compatibility/2006">
              <mc:Choice xmlns:v="urn:schemas-microsoft-com:vml" Requires="v">
                <p:oleObj spid="_x0000_s78402" name="Chart" r:id="rId40" imgW="3085999" imgH="1836432" progId="MSGraph.Chart.8">
                  <p:embed followColorScheme="full"/>
                </p:oleObj>
              </mc:Choice>
              <mc:Fallback>
                <p:oleObj name="Chart" r:id="rId40" imgW="3085999" imgH="1836432" progId="MSGraph.Chart.8">
                  <p:embed followColorScheme="full"/>
                  <p:pic>
                    <p:nvPicPr>
                      <p:cNvPr id="5" name="Object 4"/>
                      <p:cNvPicPr/>
                      <p:nvPr/>
                    </p:nvPicPr>
                    <p:blipFill>
                      <a:blip r:embed="rId41"/>
                      <a:stretch>
                        <a:fillRect/>
                      </a:stretch>
                    </p:blipFill>
                    <p:spPr>
                      <a:xfrm>
                        <a:off x="1524000" y="1219200"/>
                        <a:ext cx="3085999" cy="1836432"/>
                      </a:xfrm>
                      <a:prstGeom prst="rect">
                        <a:avLst/>
                      </a:prstGeom>
                    </p:spPr>
                  </p:pic>
                </p:oleObj>
              </mc:Fallback>
            </mc:AlternateContent>
          </a:graphicData>
        </a:graphic>
      </p:graphicFrame>
      <p:cxnSp>
        <p:nvCxnSpPr>
          <p:cNvPr id="54" name="Straight Connector 53"/>
          <p:cNvCxnSpPr/>
          <p:nvPr>
            <p:custDataLst>
              <p:tags r:id="rId5"/>
            </p:custDataLst>
          </p:nvPr>
        </p:nvCxnSpPr>
        <p:spPr bwMode="auto">
          <a:xfrm>
            <a:off x="2779713" y="1746250"/>
            <a:ext cx="0" cy="25400"/>
          </a:xfrm>
          <a:prstGeom prst="line">
            <a:avLst/>
          </a:prstGeom>
          <a:ln w="63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 name="Text Placeholder 2"/>
          <p:cNvSpPr>
            <a:spLocks noGrp="1"/>
          </p:cNvSpPr>
          <p:nvPr>
            <p:custDataLst>
              <p:tags r:id="rId6"/>
            </p:custDataLst>
          </p:nvPr>
        </p:nvSpPr>
        <p:spPr bwMode="gray">
          <a:xfrm>
            <a:off x="2279650" y="2735263"/>
            <a:ext cx="142875"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E18B3361-073C-4124-8C79-1E20BE6659FF}" type="datetime'''''2''''''''''''''''''''''''''''''''''''''''''0'''''''''''''">
              <a:rPr lang="en-ZA" altLang="en-US" sz="800" b="1" smtClean="0">
                <a:cs typeface="+mn-cs"/>
              </a:rPr>
              <a:pPr/>
              <a:t>20</a:t>
            </a:fld>
            <a:endParaRPr lang="en-ZA" sz="800" b="1" dirty="0">
              <a:latin typeface="+mn-lt"/>
              <a:cs typeface="+mn-cs"/>
              <a:sym typeface="+mn-lt"/>
            </a:endParaRPr>
          </a:p>
        </p:txBody>
      </p:sp>
      <p:sp>
        <p:nvSpPr>
          <p:cNvPr id="27" name="Text Placeholder 2"/>
          <p:cNvSpPr>
            <a:spLocks noGrp="1"/>
          </p:cNvSpPr>
          <p:nvPr>
            <p:custDataLst>
              <p:tags r:id="rId7"/>
            </p:custDataLst>
          </p:nvPr>
        </p:nvSpPr>
        <p:spPr bwMode="gray">
          <a:xfrm>
            <a:off x="2470150" y="2406650"/>
            <a:ext cx="142875"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5131E736-85D0-4FBF-9AC4-9C3300A78E38}" type="datetime'''''2''''''''''''''''''''''''''''''''''''''''''''''6'''''">
              <a:rPr lang="en-ZA" altLang="en-US" sz="800" b="1" smtClean="0">
                <a:cs typeface="+mn-cs"/>
              </a:rPr>
              <a:pPr/>
              <a:t>26</a:t>
            </a:fld>
            <a:endParaRPr lang="en-ZA" sz="800" b="1" dirty="0">
              <a:latin typeface="+mn-lt"/>
              <a:cs typeface="+mn-cs"/>
              <a:sym typeface="+mn-lt"/>
            </a:endParaRPr>
          </a:p>
        </p:txBody>
      </p:sp>
      <p:sp>
        <p:nvSpPr>
          <p:cNvPr id="61" name="Text Placeholder 2"/>
          <p:cNvSpPr>
            <a:spLocks noGrp="1"/>
          </p:cNvSpPr>
          <p:nvPr>
            <p:custDataLst>
              <p:tags r:id="rId8"/>
            </p:custDataLst>
          </p:nvPr>
        </p:nvSpPr>
        <p:spPr bwMode="gray">
          <a:xfrm>
            <a:off x="4284663" y="1423988"/>
            <a:ext cx="142875"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D9756A71-CC38-406B-A082-4F5C2B7433C5}" type="datetime'''8''''''''''''''''''''''''''''''7'''''''''''''''''''''''">
              <a:rPr lang="en-ZA" altLang="en-US" sz="800" b="1" smtClean="0">
                <a:cs typeface="+mn-cs"/>
              </a:rPr>
              <a:pPr/>
              <a:t>87</a:t>
            </a:fld>
            <a:endParaRPr lang="en-ZA" sz="800" b="1" dirty="0">
              <a:latin typeface="+mn-lt"/>
              <a:cs typeface="+mn-cs"/>
              <a:sym typeface="+mn-lt"/>
            </a:endParaRPr>
          </a:p>
        </p:txBody>
      </p:sp>
      <p:sp>
        <p:nvSpPr>
          <p:cNvPr id="26" name="Text Placeholder 2"/>
          <p:cNvSpPr>
            <a:spLocks noGrp="1"/>
          </p:cNvSpPr>
          <p:nvPr>
            <p:custDataLst>
              <p:tags r:id="rId9"/>
            </p:custDataLst>
          </p:nvPr>
        </p:nvSpPr>
        <p:spPr bwMode="gray">
          <a:xfrm>
            <a:off x="2638425" y="2079625"/>
            <a:ext cx="142875"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8871223E-F81E-4AE3-8FBF-0D65E5B9F32F}" type="datetime'''''''3''''''''''2'''''''''''''''''''''''''''''''''">
              <a:rPr lang="en-ZA" altLang="en-US" sz="800" b="1" smtClean="0">
                <a:cs typeface="+mn-cs"/>
              </a:rPr>
              <a:pPr/>
              <a:t>32</a:t>
            </a:fld>
            <a:endParaRPr lang="en-ZA" sz="800" b="1" dirty="0">
              <a:latin typeface="+mn-lt"/>
              <a:cs typeface="+mn-cs"/>
              <a:sym typeface="+mn-lt"/>
            </a:endParaRPr>
          </a:p>
        </p:txBody>
      </p:sp>
      <p:sp>
        <p:nvSpPr>
          <p:cNvPr id="62" name="Text Placeholder 2"/>
          <p:cNvSpPr>
            <a:spLocks noGrp="1"/>
          </p:cNvSpPr>
          <p:nvPr>
            <p:custDataLst>
              <p:tags r:id="rId10"/>
            </p:custDataLst>
          </p:nvPr>
        </p:nvSpPr>
        <p:spPr bwMode="gray">
          <a:xfrm>
            <a:off x="4535488" y="1752600"/>
            <a:ext cx="142875"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3030863F-11DC-4991-B6BA-FEFFAF2CF579}" type="datetime'''''''''''''''''''''''9''5'''''''''''''''''''''''''''''">
              <a:rPr lang="en-ZA" altLang="en-US" sz="800" b="1" smtClean="0">
                <a:cs typeface="+mn-cs"/>
              </a:rPr>
              <a:pPr/>
              <a:t>95</a:t>
            </a:fld>
            <a:endParaRPr lang="en-ZA" sz="800" b="1" dirty="0">
              <a:latin typeface="+mn-lt"/>
              <a:cs typeface="+mn-cs"/>
              <a:sym typeface="+mn-lt"/>
            </a:endParaRPr>
          </a:p>
        </p:txBody>
      </p:sp>
      <p:grpSp>
        <p:nvGrpSpPr>
          <p:cNvPr id="10" name="Group 9"/>
          <p:cNvGrpSpPr/>
          <p:nvPr/>
        </p:nvGrpSpPr>
        <p:grpSpPr>
          <a:xfrm>
            <a:off x="481121" y="1319213"/>
            <a:ext cx="4300138" cy="1751273"/>
            <a:chOff x="481121" y="1408046"/>
            <a:chExt cx="4300138" cy="1751273"/>
          </a:xfrm>
        </p:grpSpPr>
        <p:sp>
          <p:nvSpPr>
            <p:cNvPr id="2" name="Oval 1"/>
            <p:cNvSpPr/>
            <p:nvPr/>
          </p:nvSpPr>
          <p:spPr>
            <a:xfrm>
              <a:off x="481121" y="1408046"/>
              <a:ext cx="1008000" cy="10080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800" dirty="0"/>
                <a:t>Economic affairs and agriculture</a:t>
              </a:r>
            </a:p>
          </p:txBody>
        </p:sp>
        <p:sp>
          <p:nvSpPr>
            <p:cNvPr id="4" name="TextBox 3"/>
            <p:cNvSpPr txBox="1"/>
            <p:nvPr/>
          </p:nvSpPr>
          <p:spPr>
            <a:xfrm>
              <a:off x="1603950" y="1575940"/>
              <a:ext cx="3177309" cy="215444"/>
            </a:xfrm>
            <a:prstGeom prst="rect">
              <a:avLst/>
            </a:prstGeom>
            <a:noFill/>
          </p:spPr>
          <p:txBody>
            <a:bodyPr wrap="square" rtlCol="0">
              <a:spAutoFit/>
            </a:bodyPr>
            <a:lstStyle/>
            <a:p>
              <a:r>
                <a:rPr lang="en-ZA" sz="800" b="1" dirty="0"/>
                <a:t>Economic infrastructure and network regulation</a:t>
              </a:r>
            </a:p>
          </p:txBody>
        </p:sp>
        <p:sp>
          <p:nvSpPr>
            <p:cNvPr id="21" name="TextBox 20"/>
            <p:cNvSpPr txBox="1"/>
            <p:nvPr/>
          </p:nvSpPr>
          <p:spPr>
            <a:xfrm>
              <a:off x="1603950" y="1939451"/>
              <a:ext cx="3177309" cy="215444"/>
            </a:xfrm>
            <a:prstGeom prst="rect">
              <a:avLst/>
            </a:prstGeom>
            <a:noFill/>
          </p:spPr>
          <p:txBody>
            <a:bodyPr wrap="square" rtlCol="0">
              <a:spAutoFit/>
            </a:bodyPr>
            <a:lstStyle/>
            <a:p>
              <a:r>
                <a:rPr lang="en-ZA" sz="800" b="1" dirty="0"/>
                <a:t>Employment, labour affairs and social security funds</a:t>
              </a:r>
            </a:p>
          </p:txBody>
        </p:sp>
        <p:sp>
          <p:nvSpPr>
            <p:cNvPr id="22" name="TextBox 21"/>
            <p:cNvSpPr txBox="1"/>
            <p:nvPr/>
          </p:nvSpPr>
          <p:spPr>
            <a:xfrm>
              <a:off x="1603950" y="2276445"/>
              <a:ext cx="3177309" cy="215444"/>
            </a:xfrm>
            <a:prstGeom prst="rect">
              <a:avLst/>
            </a:prstGeom>
            <a:noFill/>
          </p:spPr>
          <p:txBody>
            <a:bodyPr wrap="square" rtlCol="0">
              <a:spAutoFit/>
            </a:bodyPr>
            <a:lstStyle/>
            <a:p>
              <a:r>
                <a:rPr lang="en-ZA" sz="800" b="1" dirty="0"/>
                <a:t>Industrial development and trade</a:t>
              </a:r>
            </a:p>
          </p:txBody>
        </p:sp>
        <p:sp>
          <p:nvSpPr>
            <p:cNvPr id="23" name="TextBox 22"/>
            <p:cNvSpPr txBox="1"/>
            <p:nvPr/>
          </p:nvSpPr>
          <p:spPr>
            <a:xfrm>
              <a:off x="1603950" y="2624392"/>
              <a:ext cx="3177309" cy="215444"/>
            </a:xfrm>
            <a:prstGeom prst="rect">
              <a:avLst/>
            </a:prstGeom>
            <a:noFill/>
          </p:spPr>
          <p:txBody>
            <a:bodyPr wrap="square" rtlCol="0">
              <a:spAutoFit/>
            </a:bodyPr>
            <a:lstStyle/>
            <a:p>
              <a:r>
                <a:rPr lang="en-ZA" sz="800" b="1" dirty="0"/>
                <a:t>Agriculture, rural development and land reform</a:t>
              </a:r>
            </a:p>
          </p:txBody>
        </p:sp>
        <p:sp>
          <p:nvSpPr>
            <p:cNvPr id="24" name="TextBox 23"/>
            <p:cNvSpPr txBox="1"/>
            <p:nvPr/>
          </p:nvSpPr>
          <p:spPr>
            <a:xfrm>
              <a:off x="1594714" y="2943875"/>
              <a:ext cx="3177309" cy="215444"/>
            </a:xfrm>
            <a:prstGeom prst="rect">
              <a:avLst/>
            </a:prstGeom>
            <a:noFill/>
          </p:spPr>
          <p:txBody>
            <a:bodyPr wrap="square" rtlCol="0">
              <a:spAutoFit/>
            </a:bodyPr>
            <a:lstStyle/>
            <a:p>
              <a:r>
                <a:rPr lang="en-ZA" sz="800" b="1" dirty="0"/>
                <a:t>Science, technology, innovation and the environment</a:t>
              </a:r>
            </a:p>
          </p:txBody>
        </p:sp>
      </p:grpSp>
      <p:graphicFrame>
        <p:nvGraphicFramePr>
          <p:cNvPr id="38" name="Object 37"/>
          <p:cNvGraphicFramePr>
            <a:graphicFrameLocks/>
          </p:cNvGraphicFramePr>
          <p:nvPr>
            <p:custDataLst>
              <p:tags r:id="rId11"/>
            </p:custDataLst>
            <p:extLst/>
          </p:nvPr>
        </p:nvGraphicFramePr>
        <p:xfrm>
          <a:off x="1524000" y="3086100"/>
          <a:ext cx="3085994" cy="1844198"/>
        </p:xfrm>
        <a:graphic>
          <a:graphicData uri="http://schemas.openxmlformats.org/presentationml/2006/ole">
            <mc:AlternateContent xmlns:mc="http://schemas.openxmlformats.org/markup-compatibility/2006">
              <mc:Choice xmlns:v="urn:schemas-microsoft-com:vml" Requires="v">
                <p:oleObj spid="_x0000_s78403" name="Chart" r:id="rId42" imgW="3085999" imgH="1843992" progId="MSGraph.Chart.8">
                  <p:embed followColorScheme="full"/>
                </p:oleObj>
              </mc:Choice>
              <mc:Fallback>
                <p:oleObj name="Chart" r:id="rId42" imgW="3085999" imgH="1843992" progId="MSGraph.Chart.8">
                  <p:embed followColorScheme="full"/>
                  <p:pic>
                    <p:nvPicPr>
                      <p:cNvPr id="38" name="Object 37"/>
                      <p:cNvPicPr/>
                      <p:nvPr/>
                    </p:nvPicPr>
                    <p:blipFill>
                      <a:blip r:embed="rId43"/>
                      <a:stretch>
                        <a:fillRect/>
                      </a:stretch>
                    </p:blipFill>
                    <p:spPr>
                      <a:xfrm>
                        <a:off x="1524000" y="3086100"/>
                        <a:ext cx="3085994" cy="1844198"/>
                      </a:xfrm>
                      <a:prstGeom prst="rect">
                        <a:avLst/>
                      </a:prstGeom>
                    </p:spPr>
                  </p:pic>
                </p:oleObj>
              </mc:Fallback>
            </mc:AlternateContent>
          </a:graphicData>
        </a:graphic>
      </p:graphicFrame>
      <p:cxnSp>
        <p:nvCxnSpPr>
          <p:cNvPr id="36" name="Straight Connector 35"/>
          <p:cNvCxnSpPr/>
          <p:nvPr>
            <p:custDataLst>
              <p:tags r:id="rId12"/>
            </p:custDataLst>
          </p:nvPr>
        </p:nvCxnSpPr>
        <p:spPr bwMode="auto">
          <a:xfrm flipV="1">
            <a:off x="3008313" y="4054475"/>
            <a:ext cx="0" cy="26988"/>
          </a:xfrm>
          <a:prstGeom prst="line">
            <a:avLst/>
          </a:prstGeom>
          <a:ln w="63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custDataLst>
              <p:tags r:id="rId13"/>
            </p:custDataLst>
          </p:nvPr>
        </p:nvCxnSpPr>
        <p:spPr bwMode="auto">
          <a:xfrm>
            <a:off x="2989263" y="3621088"/>
            <a:ext cx="0" cy="25400"/>
          </a:xfrm>
          <a:prstGeom prst="line">
            <a:avLst/>
          </a:prstGeom>
          <a:ln w="63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custDataLst>
              <p:tags r:id="rId14"/>
            </p:custDataLst>
          </p:nvPr>
        </p:nvCxnSpPr>
        <p:spPr bwMode="auto">
          <a:xfrm flipV="1">
            <a:off x="4467225" y="3398838"/>
            <a:ext cx="26988" cy="26987"/>
          </a:xfrm>
          <a:prstGeom prst="line">
            <a:avLst/>
          </a:prstGeom>
          <a:ln w="63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3" name="Text Placeholder 2"/>
          <p:cNvSpPr>
            <a:spLocks noGrp="1"/>
          </p:cNvSpPr>
          <p:nvPr>
            <p:custDataLst>
              <p:tags r:id="rId15"/>
            </p:custDataLst>
          </p:nvPr>
        </p:nvSpPr>
        <p:spPr bwMode="gray">
          <a:xfrm>
            <a:off x="4535488" y="3298825"/>
            <a:ext cx="142875"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1F63DD22-3345-45F6-B5F0-CE0C23B292F0}" type="datetime'''''''''''''''''''''8''''''8'''''''''''''''''''''''''''">
              <a:rPr lang="en-ZA" altLang="en-US" sz="800" b="1">
                <a:cs typeface="+mn-cs"/>
              </a:rPr>
              <a:pPr/>
              <a:t>88</a:t>
            </a:fld>
            <a:endParaRPr lang="en-ZA" sz="800" b="1" dirty="0">
              <a:latin typeface="+mn-lt"/>
              <a:cs typeface="+mn-cs"/>
              <a:sym typeface="+mn-lt"/>
            </a:endParaRPr>
          </a:p>
        </p:txBody>
      </p:sp>
      <p:sp>
        <p:nvSpPr>
          <p:cNvPr id="41" name="Text Placeholder 2"/>
          <p:cNvSpPr>
            <a:spLocks noGrp="1"/>
          </p:cNvSpPr>
          <p:nvPr>
            <p:custDataLst>
              <p:tags r:id="rId16"/>
            </p:custDataLst>
          </p:nvPr>
        </p:nvSpPr>
        <p:spPr bwMode="gray">
          <a:xfrm>
            <a:off x="3041650" y="3954463"/>
            <a:ext cx="142875"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5FB82628-942D-40C5-97F6-C50AF801C63C}" type="datetime'''''''''''''''''''4''''''''''''''''2'''''''''''''''''''''''">
              <a:rPr lang="en-ZA" altLang="en-US" sz="800" b="1" smtClean="0">
                <a:cs typeface="+mn-cs"/>
              </a:rPr>
              <a:pPr/>
              <a:t>42</a:t>
            </a:fld>
            <a:endParaRPr lang="en-ZA" sz="800" b="1" dirty="0">
              <a:latin typeface="+mn-lt"/>
              <a:cs typeface="+mn-cs"/>
              <a:sym typeface="+mn-lt"/>
            </a:endParaRPr>
          </a:p>
        </p:txBody>
      </p:sp>
      <p:sp>
        <p:nvSpPr>
          <p:cNvPr id="42" name="Text Placeholder 2"/>
          <p:cNvSpPr>
            <a:spLocks noGrp="1"/>
          </p:cNvSpPr>
          <p:nvPr>
            <p:custDataLst>
              <p:tags r:id="rId17"/>
            </p:custDataLst>
          </p:nvPr>
        </p:nvSpPr>
        <p:spPr bwMode="gray">
          <a:xfrm>
            <a:off x="3384550" y="3625850"/>
            <a:ext cx="142875"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197623F1-F3DA-4FF2-A0B2-87BF82509848}" type="datetime'''''''''''''''''''5''''''''''''''''''2'''''''''">
              <a:rPr lang="en-ZA" altLang="en-US" sz="800" b="1" smtClean="0">
                <a:cs typeface="+mn-cs"/>
              </a:rPr>
              <a:pPr/>
              <a:t>52</a:t>
            </a:fld>
            <a:endParaRPr lang="en-ZA" sz="800" b="1" dirty="0">
              <a:latin typeface="+mn-lt"/>
              <a:cs typeface="+mn-cs"/>
              <a:sym typeface="+mn-lt"/>
            </a:endParaRPr>
          </a:p>
        </p:txBody>
      </p:sp>
      <p:grpSp>
        <p:nvGrpSpPr>
          <p:cNvPr id="45" name="Group 44"/>
          <p:cNvGrpSpPr/>
          <p:nvPr/>
        </p:nvGrpSpPr>
        <p:grpSpPr>
          <a:xfrm>
            <a:off x="481013" y="3198813"/>
            <a:ext cx="4311201" cy="1083843"/>
            <a:chOff x="481121" y="1408046"/>
            <a:chExt cx="4311201" cy="1083843"/>
          </a:xfrm>
        </p:grpSpPr>
        <p:sp>
          <p:nvSpPr>
            <p:cNvPr id="46" name="Oval 45"/>
            <p:cNvSpPr/>
            <p:nvPr/>
          </p:nvSpPr>
          <p:spPr>
            <a:xfrm>
              <a:off x="481121" y="1408046"/>
              <a:ext cx="1008000" cy="100800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800" dirty="0"/>
                <a:t>Defence and public safety</a:t>
              </a:r>
            </a:p>
          </p:txBody>
        </p:sp>
        <p:sp>
          <p:nvSpPr>
            <p:cNvPr id="47" name="TextBox 46"/>
            <p:cNvSpPr txBox="1"/>
            <p:nvPr/>
          </p:nvSpPr>
          <p:spPr>
            <a:xfrm>
              <a:off x="1603950" y="1601340"/>
              <a:ext cx="2931645" cy="215444"/>
            </a:xfrm>
            <a:prstGeom prst="rect">
              <a:avLst/>
            </a:prstGeom>
            <a:noFill/>
          </p:spPr>
          <p:txBody>
            <a:bodyPr wrap="square" rtlCol="0">
              <a:spAutoFit/>
            </a:bodyPr>
            <a:lstStyle/>
            <a:p>
              <a:r>
                <a:rPr lang="en-ZA" sz="800" b="1" dirty="0"/>
                <a:t>Police services</a:t>
              </a:r>
            </a:p>
          </p:txBody>
        </p:sp>
        <p:sp>
          <p:nvSpPr>
            <p:cNvPr id="48" name="TextBox 47"/>
            <p:cNvSpPr txBox="1"/>
            <p:nvPr/>
          </p:nvSpPr>
          <p:spPr>
            <a:xfrm>
              <a:off x="1615013" y="1938002"/>
              <a:ext cx="3177309" cy="215444"/>
            </a:xfrm>
            <a:prstGeom prst="rect">
              <a:avLst/>
            </a:prstGeom>
            <a:noFill/>
          </p:spPr>
          <p:txBody>
            <a:bodyPr wrap="square" rtlCol="0">
              <a:spAutoFit/>
            </a:bodyPr>
            <a:lstStyle/>
            <a:p>
              <a:r>
                <a:rPr lang="en-ZA" sz="800" b="1" dirty="0"/>
                <a:t>Defence and state security</a:t>
              </a:r>
            </a:p>
          </p:txBody>
        </p:sp>
        <p:sp>
          <p:nvSpPr>
            <p:cNvPr id="49" name="TextBox 48"/>
            <p:cNvSpPr txBox="1"/>
            <p:nvPr/>
          </p:nvSpPr>
          <p:spPr>
            <a:xfrm>
              <a:off x="1603950" y="2276445"/>
              <a:ext cx="3177309" cy="215444"/>
            </a:xfrm>
            <a:prstGeom prst="rect">
              <a:avLst/>
            </a:prstGeom>
            <a:noFill/>
          </p:spPr>
          <p:txBody>
            <a:bodyPr wrap="square" rtlCol="0">
              <a:spAutoFit/>
            </a:bodyPr>
            <a:lstStyle/>
            <a:p>
              <a:r>
                <a:rPr lang="en-ZA" sz="800" b="1" dirty="0"/>
                <a:t>Law courts and prisons</a:t>
              </a:r>
            </a:p>
          </p:txBody>
        </p:sp>
      </p:grpSp>
      <p:graphicFrame>
        <p:nvGraphicFramePr>
          <p:cNvPr id="53" name="Object 52"/>
          <p:cNvGraphicFramePr>
            <a:graphicFrameLocks/>
          </p:cNvGraphicFramePr>
          <p:nvPr>
            <p:custDataLst>
              <p:tags r:id="rId18"/>
            </p:custDataLst>
            <p:extLst/>
          </p:nvPr>
        </p:nvGraphicFramePr>
        <p:xfrm>
          <a:off x="6286501" y="1219200"/>
          <a:ext cx="3093649" cy="914210"/>
        </p:xfrm>
        <a:graphic>
          <a:graphicData uri="http://schemas.openxmlformats.org/presentationml/2006/ole">
            <mc:AlternateContent xmlns:mc="http://schemas.openxmlformats.org/markup-compatibility/2006">
              <mc:Choice xmlns:v="urn:schemas-microsoft-com:vml" Requires="v">
                <p:oleObj spid="_x0000_s78404" name="Chart" r:id="rId44" imgW="3093779" imgH="914328" progId="MSGraph.Chart.8">
                  <p:embed followColorScheme="full"/>
                </p:oleObj>
              </mc:Choice>
              <mc:Fallback>
                <p:oleObj name="Chart" r:id="rId44" imgW="3093779" imgH="914328" progId="MSGraph.Chart.8">
                  <p:embed followColorScheme="full"/>
                  <p:pic>
                    <p:nvPicPr>
                      <p:cNvPr id="53" name="Object 52"/>
                      <p:cNvPicPr/>
                      <p:nvPr/>
                    </p:nvPicPr>
                    <p:blipFill>
                      <a:blip r:embed="rId45"/>
                      <a:stretch>
                        <a:fillRect/>
                      </a:stretch>
                    </p:blipFill>
                    <p:spPr>
                      <a:xfrm>
                        <a:off x="6286501" y="1219200"/>
                        <a:ext cx="3093649" cy="914210"/>
                      </a:xfrm>
                      <a:prstGeom prst="rect">
                        <a:avLst/>
                      </a:prstGeom>
                    </p:spPr>
                  </p:pic>
                </p:oleObj>
              </mc:Fallback>
            </mc:AlternateContent>
          </a:graphicData>
        </a:graphic>
      </p:graphicFrame>
      <p:cxnSp>
        <p:nvCxnSpPr>
          <p:cNvPr id="13" name="Straight Connector 12"/>
          <p:cNvCxnSpPr/>
          <p:nvPr>
            <p:custDataLst>
              <p:tags r:id="rId19"/>
            </p:custDataLst>
          </p:nvPr>
        </p:nvCxnSpPr>
        <p:spPr bwMode="auto">
          <a:xfrm flipV="1">
            <a:off x="6538913" y="1858963"/>
            <a:ext cx="25400" cy="26987"/>
          </a:xfrm>
          <a:prstGeom prst="line">
            <a:avLst/>
          </a:prstGeom>
          <a:ln w="63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custDataLst>
              <p:tags r:id="rId20"/>
            </p:custDataLst>
          </p:nvPr>
        </p:nvCxnSpPr>
        <p:spPr bwMode="auto">
          <a:xfrm flipH="1" flipV="1">
            <a:off x="6597650" y="1858963"/>
            <a:ext cx="26988" cy="26987"/>
          </a:xfrm>
          <a:prstGeom prst="line">
            <a:avLst/>
          </a:prstGeom>
          <a:ln w="63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1" name="Text Placeholder 2"/>
          <p:cNvSpPr>
            <a:spLocks noGrp="1"/>
          </p:cNvSpPr>
          <p:nvPr>
            <p:custDataLst>
              <p:tags r:id="rId21"/>
            </p:custDataLst>
          </p:nvPr>
        </p:nvSpPr>
        <p:spPr bwMode="gray">
          <a:xfrm>
            <a:off x="7354888" y="1758950"/>
            <a:ext cx="142875"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769F877C-EA27-47FB-A7ED-0D0FCB1656F1}" type="datetime'''''''''''''''''''''''6''''''''''''''''''9'''''''''''''''">
              <a:rPr lang="en-ZA" altLang="en-US" sz="800" b="1" smtClean="0">
                <a:cs typeface="+mn-cs"/>
              </a:rPr>
              <a:pPr/>
              <a:t>69</a:t>
            </a:fld>
            <a:endParaRPr lang="en-ZA" sz="800" b="1" dirty="0">
              <a:latin typeface="+mn-lt"/>
              <a:cs typeface="+mn-cs"/>
              <a:sym typeface="+mn-lt"/>
            </a:endParaRPr>
          </a:p>
        </p:txBody>
      </p:sp>
      <p:sp>
        <p:nvSpPr>
          <p:cNvPr id="67" name="Text Placeholder 2"/>
          <p:cNvSpPr>
            <a:spLocks noGrp="1"/>
          </p:cNvSpPr>
          <p:nvPr>
            <p:custDataLst>
              <p:tags r:id="rId22"/>
            </p:custDataLst>
          </p:nvPr>
        </p:nvSpPr>
        <p:spPr bwMode="gray">
          <a:xfrm>
            <a:off x="9313863" y="1436688"/>
            <a:ext cx="200025"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CCDCD80E-C5EA-4D42-A8DD-C7CAD652EAA1}" type="datetime'''2''''''''''''''''''''''''''''19'''''''''''''''''''''''''">
              <a:rPr lang="en-ZA" altLang="en-US" sz="800" b="1" smtClean="0">
                <a:cs typeface="+mn-cs"/>
              </a:rPr>
              <a:pPr/>
              <a:t>219</a:t>
            </a:fld>
            <a:endParaRPr lang="en-ZA" sz="800" b="1" dirty="0">
              <a:latin typeface="+mn-lt"/>
              <a:cs typeface="+mn-cs"/>
              <a:sym typeface="+mn-lt"/>
            </a:endParaRPr>
          </a:p>
        </p:txBody>
      </p:sp>
      <p:grpSp>
        <p:nvGrpSpPr>
          <p:cNvPr id="69" name="Group 68"/>
          <p:cNvGrpSpPr/>
          <p:nvPr/>
        </p:nvGrpSpPr>
        <p:grpSpPr>
          <a:xfrm>
            <a:off x="5254625" y="1330325"/>
            <a:ext cx="4300138" cy="1008000"/>
            <a:chOff x="481121" y="1408046"/>
            <a:chExt cx="4300138" cy="1008000"/>
          </a:xfrm>
        </p:grpSpPr>
        <p:sp>
          <p:nvSpPr>
            <p:cNvPr id="70" name="Oval 69"/>
            <p:cNvSpPr/>
            <p:nvPr/>
          </p:nvSpPr>
          <p:spPr>
            <a:xfrm>
              <a:off x="481121" y="1408046"/>
              <a:ext cx="1008000" cy="10080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800" dirty="0"/>
                <a:t>Education</a:t>
              </a:r>
            </a:p>
          </p:txBody>
        </p:sp>
        <p:sp>
          <p:nvSpPr>
            <p:cNvPr id="71" name="TextBox 70"/>
            <p:cNvSpPr txBox="1"/>
            <p:nvPr/>
          </p:nvSpPr>
          <p:spPr>
            <a:xfrm>
              <a:off x="1603950" y="1627716"/>
              <a:ext cx="3177309" cy="215444"/>
            </a:xfrm>
            <a:prstGeom prst="rect">
              <a:avLst/>
            </a:prstGeom>
            <a:noFill/>
          </p:spPr>
          <p:txBody>
            <a:bodyPr wrap="square" rtlCol="0">
              <a:spAutoFit/>
            </a:bodyPr>
            <a:lstStyle/>
            <a:p>
              <a:r>
                <a:rPr lang="en-ZA" sz="800" b="1" dirty="0"/>
                <a:t>Basic education</a:t>
              </a:r>
            </a:p>
          </p:txBody>
        </p:sp>
        <p:sp>
          <p:nvSpPr>
            <p:cNvPr id="72" name="TextBox 71"/>
            <p:cNvSpPr txBox="1"/>
            <p:nvPr/>
          </p:nvSpPr>
          <p:spPr>
            <a:xfrm>
              <a:off x="1603950" y="2028545"/>
              <a:ext cx="3177309" cy="215444"/>
            </a:xfrm>
            <a:prstGeom prst="rect">
              <a:avLst/>
            </a:prstGeom>
            <a:noFill/>
          </p:spPr>
          <p:txBody>
            <a:bodyPr wrap="square" rtlCol="0">
              <a:spAutoFit/>
            </a:bodyPr>
            <a:lstStyle/>
            <a:p>
              <a:r>
                <a:rPr lang="en-ZA" sz="800" b="1" dirty="0"/>
                <a:t>Post-school education and training</a:t>
              </a:r>
            </a:p>
          </p:txBody>
        </p:sp>
      </p:grpSp>
      <p:graphicFrame>
        <p:nvGraphicFramePr>
          <p:cNvPr id="76" name="Object 75"/>
          <p:cNvGraphicFramePr>
            <a:graphicFrameLocks/>
          </p:cNvGraphicFramePr>
          <p:nvPr>
            <p:custDataLst>
              <p:tags r:id="rId23"/>
            </p:custDataLst>
            <p:extLst/>
          </p:nvPr>
        </p:nvGraphicFramePr>
        <p:xfrm>
          <a:off x="6286501" y="3086099"/>
          <a:ext cx="3093649" cy="1859122"/>
        </p:xfrm>
        <a:graphic>
          <a:graphicData uri="http://schemas.openxmlformats.org/presentationml/2006/ole">
            <mc:AlternateContent xmlns:mc="http://schemas.openxmlformats.org/markup-compatibility/2006">
              <mc:Choice xmlns:v="urn:schemas-microsoft-com:vml" Requires="v">
                <p:oleObj spid="_x0000_s78405" name="Chart" r:id="rId46" imgW="3093779" imgH="1859328" progId="MSGraph.Chart.8">
                  <p:embed followColorScheme="full"/>
                </p:oleObj>
              </mc:Choice>
              <mc:Fallback>
                <p:oleObj name="Chart" r:id="rId46" imgW="3093779" imgH="1859328" progId="MSGraph.Chart.8">
                  <p:embed followColorScheme="full"/>
                  <p:pic>
                    <p:nvPicPr>
                      <p:cNvPr id="76" name="Object 75"/>
                      <p:cNvPicPr/>
                      <p:nvPr/>
                    </p:nvPicPr>
                    <p:blipFill>
                      <a:blip r:embed="rId47"/>
                      <a:stretch>
                        <a:fillRect/>
                      </a:stretch>
                    </p:blipFill>
                    <p:spPr>
                      <a:xfrm>
                        <a:off x="6286501" y="3086099"/>
                        <a:ext cx="3093649" cy="1859122"/>
                      </a:xfrm>
                      <a:prstGeom prst="rect">
                        <a:avLst/>
                      </a:prstGeom>
                    </p:spPr>
                  </p:pic>
                </p:oleObj>
              </mc:Fallback>
            </mc:AlternateContent>
          </a:graphicData>
        </a:graphic>
      </p:graphicFrame>
      <p:sp>
        <p:nvSpPr>
          <p:cNvPr id="81" name="Text Placeholder 2"/>
          <p:cNvSpPr>
            <a:spLocks noGrp="1"/>
          </p:cNvSpPr>
          <p:nvPr>
            <p:custDataLst>
              <p:tags r:id="rId24"/>
            </p:custDataLst>
          </p:nvPr>
        </p:nvSpPr>
        <p:spPr bwMode="gray">
          <a:xfrm>
            <a:off x="9313863" y="3317875"/>
            <a:ext cx="200025"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14288" tIns="0" rIns="14288"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F149BE8E-B782-4EAB-ACDA-7739A2374F7D}" type="datetime'''''''''1''''''''''''''''''6''''''''''''''''8'''''">
              <a:rPr lang="en-ZA" altLang="en-US" sz="800" b="1">
                <a:cs typeface="+mn-cs"/>
              </a:rPr>
              <a:pPr/>
              <a:t>168</a:t>
            </a:fld>
            <a:endParaRPr lang="en-ZA" sz="800" b="1" dirty="0">
              <a:latin typeface="+mn-lt"/>
              <a:cs typeface="+mn-cs"/>
              <a:sym typeface="+mn-lt"/>
            </a:endParaRPr>
          </a:p>
        </p:txBody>
      </p:sp>
      <p:grpSp>
        <p:nvGrpSpPr>
          <p:cNvPr id="83" name="Group 82"/>
          <p:cNvGrpSpPr/>
          <p:nvPr/>
        </p:nvGrpSpPr>
        <p:grpSpPr>
          <a:xfrm>
            <a:off x="5254625" y="3209925"/>
            <a:ext cx="4300138" cy="1008000"/>
            <a:chOff x="481121" y="1408046"/>
            <a:chExt cx="4300138" cy="1008000"/>
          </a:xfrm>
        </p:grpSpPr>
        <p:sp>
          <p:nvSpPr>
            <p:cNvPr id="84" name="Oval 83"/>
            <p:cNvSpPr/>
            <p:nvPr/>
          </p:nvSpPr>
          <p:spPr>
            <a:xfrm>
              <a:off x="481121" y="1408046"/>
              <a:ext cx="1008000" cy="1008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ZA" sz="800" dirty="0"/>
                <a:t>Health</a:t>
              </a:r>
            </a:p>
          </p:txBody>
        </p:sp>
        <p:sp>
          <p:nvSpPr>
            <p:cNvPr id="85" name="TextBox 84"/>
            <p:cNvSpPr txBox="1"/>
            <p:nvPr/>
          </p:nvSpPr>
          <p:spPr>
            <a:xfrm>
              <a:off x="1603950" y="1601340"/>
              <a:ext cx="3177309" cy="215444"/>
            </a:xfrm>
            <a:prstGeom prst="rect">
              <a:avLst/>
            </a:prstGeom>
            <a:noFill/>
          </p:spPr>
          <p:txBody>
            <a:bodyPr wrap="square" rtlCol="0">
              <a:spAutoFit/>
            </a:bodyPr>
            <a:lstStyle/>
            <a:p>
              <a:r>
                <a:rPr lang="en-ZA" sz="800" b="1" dirty="0"/>
                <a:t>Health</a:t>
              </a:r>
            </a:p>
          </p:txBody>
        </p:sp>
      </p:grpSp>
      <p:sp>
        <p:nvSpPr>
          <p:cNvPr id="65" name="Rectangle 64"/>
          <p:cNvSpPr/>
          <p:nvPr/>
        </p:nvSpPr>
        <p:spPr>
          <a:xfrm>
            <a:off x="2903815" y="5709650"/>
            <a:ext cx="3065185" cy="29772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66" name="Straight Connector 65"/>
          <p:cNvCxnSpPr/>
          <p:nvPr/>
        </p:nvCxnSpPr>
        <p:spPr>
          <a:xfrm flipV="1">
            <a:off x="4427538" y="5298695"/>
            <a:ext cx="0" cy="344999"/>
          </a:xfrm>
          <a:prstGeom prst="line">
            <a:avLst/>
          </a:prstGeom>
          <a:ln>
            <a:solidFill>
              <a:srgbClr val="FF0000"/>
            </a:solidFill>
            <a:headEnd type="oval"/>
          </a:ln>
        </p:spPr>
        <p:style>
          <a:lnRef idx="1">
            <a:schemeClr val="accent1"/>
          </a:lnRef>
          <a:fillRef idx="0">
            <a:schemeClr val="accent1"/>
          </a:fillRef>
          <a:effectRef idx="0">
            <a:schemeClr val="accent1"/>
          </a:effectRef>
          <a:fontRef idx="minor">
            <a:schemeClr val="tx1"/>
          </a:fontRef>
        </p:style>
      </p:cxnSp>
      <p:sp>
        <p:nvSpPr>
          <p:cNvPr id="68" name="TextBox 15"/>
          <p:cNvSpPr txBox="1"/>
          <p:nvPr>
            <p:custDataLst>
              <p:tags r:id="rId25"/>
            </p:custDataLst>
          </p:nvPr>
        </p:nvSpPr>
        <p:spPr>
          <a:xfrm>
            <a:off x="3860407" y="5035069"/>
            <a:ext cx="1152000" cy="276999"/>
          </a:xfrm>
          <a:prstGeom prst="rect">
            <a:avLst/>
          </a:prstGeom>
          <a:solidFill>
            <a:schemeClr val="bg1"/>
          </a:solidFill>
          <a:ln w="9525">
            <a:solidFill>
              <a:srgbClr val="FF0000"/>
            </a:solidFill>
            <a:miter lim="800000"/>
            <a:headEnd/>
            <a:tailEnd/>
          </a:ln>
          <a:effectLst/>
        </p:spPr>
        <p:txBody>
          <a:bodyPr vert="horz" wrap="square" lIns="76200" tIns="76200" rIns="76200" bIns="76200" numCol="1" anchor="t" anchorCtr="0" compatLnSpc="1">
            <a:prstTxWarp prst="textNoShape">
              <a:avLst/>
            </a:prstTxWarp>
            <a:spAutoFit/>
          </a:bodyPr>
          <a:lstStyle>
            <a:lvl1pPr marL="0" lvl="0" indent="0" defTabSz="892894" eaLnBrk="1" hangingPunct="1">
              <a:buClr>
                <a:schemeClr val="tx2"/>
              </a:buClr>
              <a:defRPr baseline="0">
                <a:latin typeface="+mn-lt"/>
                <a:ea typeface="Arial Unicode MS" pitchFamily="34" charset="-128"/>
                <a:cs typeface="Arial Unicode MS" pitchFamily="34" charset="-128"/>
              </a:defRPr>
            </a:lvl1pPr>
            <a:lvl2pPr marL="193143" lvl="1" indent="-191559" defTabSz="892894" eaLnBrk="1" hangingPunct="1">
              <a:buClr>
                <a:schemeClr val="tx2"/>
              </a:buClr>
              <a:buSzPct val="125000"/>
              <a:buFont typeface="Arial" pitchFamily="34" charset="0"/>
              <a:buChar char="•"/>
              <a:defRPr baseline="0">
                <a:latin typeface="+mn-lt"/>
                <a:ea typeface="Arial Unicode MS" pitchFamily="34" charset="-128"/>
                <a:cs typeface="Arial Unicode MS" pitchFamily="34" charset="-128"/>
              </a:defRPr>
            </a:lvl2pPr>
            <a:lvl3pPr marL="455943" lvl="2" indent="-261224" defTabSz="892894" eaLnBrk="1" hangingPunct="1">
              <a:buClr>
                <a:schemeClr val="tx2"/>
              </a:buClr>
              <a:buSzPct val="120000"/>
              <a:buFont typeface="Arial" charset="0"/>
              <a:buChar char="–"/>
              <a:defRPr baseline="0">
                <a:latin typeface="+mn-lt"/>
                <a:ea typeface="Arial Unicode MS" pitchFamily="34" charset="-128"/>
                <a:cs typeface="Arial Unicode MS" pitchFamily="34" charset="-128"/>
              </a:defRPr>
            </a:lvl3pPr>
            <a:lvl4pPr marL="612682" lvl="3" indent="-155153" defTabSz="892894" eaLnBrk="1" hangingPunct="1">
              <a:buClr>
                <a:schemeClr val="tx2"/>
              </a:buClr>
              <a:buSzPct val="100000"/>
              <a:buFont typeface="Arial" pitchFamily="34" charset="0"/>
              <a:buChar char="•"/>
              <a:defRPr baseline="0">
                <a:latin typeface="+mn-lt"/>
                <a:ea typeface="Arial Unicode MS" pitchFamily="34" charset="-128"/>
                <a:cs typeface="Arial Unicode MS" pitchFamily="34" charset="-128"/>
              </a:defRPr>
            </a:lvl4pPr>
            <a:lvl5pPr marL="747750" lvl="4" indent="-129818" defTabSz="892894" eaLnBrk="1" hangingPunct="1">
              <a:buClr>
                <a:schemeClr val="tx2"/>
              </a:buClr>
              <a:buSzPct val="89000"/>
              <a:buFont typeface="Arial" charset="0"/>
              <a:buChar char="-"/>
              <a:defRPr baseline="0">
                <a:latin typeface="+mn-lt"/>
                <a:ea typeface="Arial Unicode MS" pitchFamily="34" charset="-128"/>
                <a:cs typeface="Arial Unicode MS" pitchFamily="34" charset="-128"/>
              </a:defRPr>
            </a:lvl5pPr>
            <a:lvl6pPr marL="747750" indent="-129818" defTabSz="892894" fontAlgn="base">
              <a:spcBef>
                <a:spcPct val="0"/>
              </a:spcBef>
              <a:spcAft>
                <a:spcPct val="0"/>
              </a:spcAft>
              <a:buClr>
                <a:schemeClr val="tx2"/>
              </a:buClr>
              <a:buSzPct val="89000"/>
              <a:buFont typeface="Arial" charset="0"/>
              <a:buChar char="-"/>
              <a:defRPr baseline="0">
                <a:latin typeface="+mn-lt"/>
              </a:defRPr>
            </a:lvl6pPr>
            <a:lvl7pPr marL="747750" indent="-129818" defTabSz="892894" fontAlgn="base">
              <a:spcBef>
                <a:spcPct val="0"/>
              </a:spcBef>
              <a:spcAft>
                <a:spcPct val="0"/>
              </a:spcAft>
              <a:buClr>
                <a:schemeClr val="tx2"/>
              </a:buClr>
              <a:buSzPct val="89000"/>
              <a:buFont typeface="Arial" charset="0"/>
              <a:buChar char="-"/>
              <a:defRPr baseline="0">
                <a:latin typeface="+mn-lt"/>
              </a:defRPr>
            </a:lvl7pPr>
            <a:lvl8pPr marL="747750" indent="-129818" defTabSz="892894" fontAlgn="base">
              <a:spcBef>
                <a:spcPct val="0"/>
              </a:spcBef>
              <a:spcAft>
                <a:spcPct val="0"/>
              </a:spcAft>
              <a:buClr>
                <a:schemeClr val="tx2"/>
              </a:buClr>
              <a:buSzPct val="89000"/>
              <a:buFont typeface="Arial" charset="0"/>
              <a:buChar char="-"/>
              <a:defRPr baseline="0">
                <a:latin typeface="+mn-lt"/>
              </a:defRPr>
            </a:lvl8pPr>
            <a:lvl9pPr marL="747750" indent="-129818" defTabSz="892894" fontAlgn="base">
              <a:spcBef>
                <a:spcPct val="0"/>
              </a:spcBef>
              <a:spcAft>
                <a:spcPct val="0"/>
              </a:spcAft>
              <a:buClr>
                <a:schemeClr val="tx2"/>
              </a:buClr>
              <a:buSzPct val="89000"/>
              <a:buFont typeface="Arial" charset="0"/>
              <a:buChar char="-"/>
              <a:defRPr baseline="0">
                <a:latin typeface="+mn-lt"/>
              </a:defRPr>
            </a:lvl9pPr>
          </a:lstStyle>
          <a:p>
            <a:pPr algn="ctr"/>
            <a:r>
              <a:rPr lang="en-US" sz="800" b="1" dirty="0"/>
              <a:t>Addressable spend</a:t>
            </a:r>
          </a:p>
        </p:txBody>
      </p:sp>
      <p:sp>
        <p:nvSpPr>
          <p:cNvPr id="18" name="Rectangle 17"/>
          <p:cNvSpPr/>
          <p:nvPr>
            <p:custDataLst>
              <p:tags r:id="rId26"/>
            </p:custDataLst>
          </p:nvPr>
        </p:nvSpPr>
        <p:spPr bwMode="auto">
          <a:xfrm>
            <a:off x="7810500" y="5811838"/>
            <a:ext cx="142875" cy="106363"/>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7" name="Rectangle 16"/>
          <p:cNvSpPr/>
          <p:nvPr>
            <p:custDataLst>
              <p:tags r:id="rId27"/>
            </p:custDataLst>
          </p:nvPr>
        </p:nvSpPr>
        <p:spPr bwMode="auto">
          <a:xfrm>
            <a:off x="6030913" y="5811838"/>
            <a:ext cx="142875" cy="10636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6" name="Rectangle 15"/>
          <p:cNvSpPr/>
          <p:nvPr>
            <p:custDataLst>
              <p:tags r:id="rId28"/>
            </p:custDataLst>
          </p:nvPr>
        </p:nvSpPr>
        <p:spPr bwMode="auto">
          <a:xfrm>
            <a:off x="4229100" y="5811838"/>
            <a:ext cx="142875" cy="10636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2" name="Rectangle 11"/>
          <p:cNvSpPr/>
          <p:nvPr>
            <p:custDataLst>
              <p:tags r:id="rId29"/>
            </p:custDataLst>
          </p:nvPr>
        </p:nvSpPr>
        <p:spPr bwMode="auto">
          <a:xfrm>
            <a:off x="2951163" y="5811838"/>
            <a:ext cx="142875" cy="1063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11" name="Rectangle 10"/>
          <p:cNvSpPr/>
          <p:nvPr>
            <p:custDataLst>
              <p:tags r:id="rId30"/>
            </p:custDataLst>
          </p:nvPr>
        </p:nvSpPr>
        <p:spPr bwMode="auto">
          <a:xfrm>
            <a:off x="1325563" y="5811838"/>
            <a:ext cx="142875" cy="1063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78" name="Text Placeholder 2"/>
          <p:cNvSpPr>
            <a:spLocks noGrp="1"/>
          </p:cNvSpPr>
          <p:nvPr>
            <p:custDataLst>
              <p:tags r:id="rId31"/>
            </p:custDataLst>
          </p:nvPr>
        </p:nvSpPr>
        <p:spPr bwMode="auto">
          <a:xfrm>
            <a:off x="1519238" y="5808663"/>
            <a:ext cx="1330325"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95FDB83E-BAA9-4619-8DA4-E17E958D9639}" type="datetime'''''''''''''Compens''tio''n ''''''o''''f'' ''emplo''y''ee''s'">
              <a:rPr lang="en-ZA" altLang="en-US" sz="800" b="1">
                <a:latin typeface="+mn-lt"/>
                <a:cs typeface="+mn-cs"/>
                <a:sym typeface="+mn-lt"/>
              </a:rPr>
              <a:pPr marL="0" indent="0">
                <a:lnSpc>
                  <a:spcPct val="100000"/>
                </a:lnSpc>
                <a:spcBef>
                  <a:spcPct val="0"/>
                </a:spcBef>
                <a:spcAft>
                  <a:spcPct val="0"/>
                </a:spcAft>
                <a:buNone/>
              </a:pPr>
              <a:t>Compenstion of employees</a:t>
            </a:fld>
            <a:endParaRPr lang="en-ZA" sz="800" b="1" dirty="0">
              <a:latin typeface="+mn-lt"/>
              <a:cs typeface="+mn-cs"/>
              <a:sym typeface="+mn-lt"/>
            </a:endParaRPr>
          </a:p>
        </p:txBody>
      </p:sp>
      <p:sp>
        <p:nvSpPr>
          <p:cNvPr id="77" name="Text Placeholder 2"/>
          <p:cNvSpPr>
            <a:spLocks noGrp="1"/>
          </p:cNvSpPr>
          <p:nvPr>
            <p:custDataLst>
              <p:tags r:id="rId32"/>
            </p:custDataLst>
          </p:nvPr>
        </p:nvSpPr>
        <p:spPr bwMode="auto">
          <a:xfrm>
            <a:off x="3144838" y="5808663"/>
            <a:ext cx="982663"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3B7EB5D2-727C-4C55-AC25-2F6AEEEE9A90}" type="datetime'G''''o''o''''''''d''s ''a''''n''d'' ''S''er''vice''s'''''">
              <a:rPr lang="en-ZA" altLang="en-US" sz="800" b="1">
                <a:latin typeface="+mn-lt"/>
                <a:cs typeface="+mn-cs"/>
                <a:sym typeface="+mn-lt"/>
              </a:rPr>
              <a:pPr marL="0" indent="0">
                <a:lnSpc>
                  <a:spcPct val="100000"/>
                </a:lnSpc>
                <a:spcBef>
                  <a:spcPct val="0"/>
                </a:spcBef>
                <a:spcAft>
                  <a:spcPct val="0"/>
                </a:spcAft>
                <a:buNone/>
              </a:pPr>
              <a:t>Goods and Services</a:t>
            </a:fld>
            <a:endParaRPr lang="en-ZA" sz="800" b="1" dirty="0">
              <a:latin typeface="+mn-lt"/>
              <a:cs typeface="+mn-cs"/>
              <a:sym typeface="+mn-lt"/>
            </a:endParaRPr>
          </a:p>
        </p:txBody>
      </p:sp>
      <p:sp>
        <p:nvSpPr>
          <p:cNvPr id="74" name="Text Placeholder 2"/>
          <p:cNvSpPr>
            <a:spLocks noGrp="1"/>
          </p:cNvSpPr>
          <p:nvPr>
            <p:custDataLst>
              <p:tags r:id="rId33"/>
            </p:custDataLst>
          </p:nvPr>
        </p:nvSpPr>
        <p:spPr bwMode="auto">
          <a:xfrm>
            <a:off x="6224588" y="5808663"/>
            <a:ext cx="1484313"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157C4F8B-F143-4E90-88F7-013286AE02E0}" type="datetime'''''Cu''rr''''e''nt tr''a''n''''fers ''and ''subsid''''''ies'">
              <a:rPr lang="en-ZA" altLang="en-US" sz="800" b="1">
                <a:latin typeface="+mn-lt"/>
                <a:cs typeface="+mn-cs"/>
                <a:sym typeface="+mn-lt"/>
              </a:rPr>
              <a:pPr marL="0" indent="0">
                <a:lnSpc>
                  <a:spcPct val="100000"/>
                </a:lnSpc>
                <a:spcBef>
                  <a:spcPct val="0"/>
                </a:spcBef>
                <a:spcAft>
                  <a:spcPct val="0"/>
                </a:spcAft>
                <a:buNone/>
              </a:pPr>
              <a:t>Current tranfers and subsidies</a:t>
            </a:fld>
            <a:endParaRPr lang="en-ZA" sz="800" b="1" dirty="0">
              <a:latin typeface="+mn-lt"/>
              <a:cs typeface="+mn-cs"/>
              <a:sym typeface="+mn-lt"/>
            </a:endParaRPr>
          </a:p>
        </p:txBody>
      </p:sp>
      <p:sp>
        <p:nvSpPr>
          <p:cNvPr id="73" name="Text Placeholder 2"/>
          <p:cNvSpPr>
            <a:spLocks noGrp="1"/>
          </p:cNvSpPr>
          <p:nvPr>
            <p:custDataLst>
              <p:tags r:id="rId34"/>
            </p:custDataLst>
          </p:nvPr>
        </p:nvSpPr>
        <p:spPr bwMode="auto">
          <a:xfrm>
            <a:off x="8004175" y="5808663"/>
            <a:ext cx="873125"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F135E722-A312-4AC7-8425-12553085FE14}" type="datetime'''inter''est ''pa''''''ym''''''''''e''''''''''nt''''''s'''''">
              <a:rPr lang="en-ZA" altLang="en-US" sz="800" b="1">
                <a:latin typeface="+mn-lt"/>
                <a:cs typeface="+mn-cs"/>
                <a:sym typeface="+mn-lt"/>
              </a:rPr>
              <a:pPr marL="0" indent="0">
                <a:lnSpc>
                  <a:spcPct val="100000"/>
                </a:lnSpc>
                <a:spcBef>
                  <a:spcPct val="0"/>
                </a:spcBef>
                <a:spcAft>
                  <a:spcPct val="0"/>
                </a:spcAft>
                <a:buNone/>
              </a:pPr>
              <a:t>interest payments</a:t>
            </a:fld>
            <a:endParaRPr lang="en-ZA" sz="800" b="1" dirty="0">
              <a:latin typeface="+mn-lt"/>
              <a:cs typeface="+mn-cs"/>
              <a:sym typeface="+mn-lt"/>
            </a:endParaRPr>
          </a:p>
        </p:txBody>
      </p:sp>
      <p:sp>
        <p:nvSpPr>
          <p:cNvPr id="75" name="Text Placeholder 2"/>
          <p:cNvSpPr>
            <a:spLocks noGrp="1"/>
          </p:cNvSpPr>
          <p:nvPr>
            <p:custDataLst>
              <p:tags r:id="rId35"/>
            </p:custDataLst>
          </p:nvPr>
        </p:nvSpPr>
        <p:spPr bwMode="auto">
          <a:xfrm>
            <a:off x="4422775" y="5808663"/>
            <a:ext cx="1506538" cy="122238"/>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numCol="1" spcCol="0" rtlCol="0" anchor="ctr" anchorCtr="0">
            <a:noAutofit/>
          </a:bodyPr>
          <a:lstStyle>
            <a:lvl1pPr marL="292100" indent="-292100" algn="l" defTabSz="914400" rtl="0" eaLnBrk="1" latinLnBrk="0" hangingPunct="1">
              <a:lnSpc>
                <a:spcPct val="90000"/>
              </a:lnSpc>
              <a:spcBef>
                <a:spcPts val="1000"/>
              </a:spcBef>
              <a:buClr>
                <a:srgbClr val="002E5A"/>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1pPr>
            <a:lvl2pPr marL="800100" indent="-342900" algn="l" defTabSz="914400" rtl="0" eaLnBrk="1" latinLnBrk="0" hangingPunct="1">
              <a:lnSpc>
                <a:spcPct val="90000"/>
              </a:lnSpc>
              <a:spcBef>
                <a:spcPts val="500"/>
              </a:spcBef>
              <a:buClr>
                <a:schemeClr val="accent1"/>
              </a:buClr>
              <a:buFont typeface="Calibri" panose="020F050202020403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accent1"/>
              </a:buClr>
              <a:buFont typeface="Calibri" panose="020F0502020204030204" pitchFamily="34" charset="0"/>
              <a:buChar char="˃"/>
              <a:defRPr sz="105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ct val="0"/>
              </a:spcBef>
              <a:spcAft>
                <a:spcPct val="0"/>
              </a:spcAft>
              <a:buNone/>
            </a:pPr>
            <a:fld id="{BCB10B56-736D-46CC-B296-BEDB43F5A6C5}" type="datetime'Capita''''l Spe''ndi''''''ng ''and tr''''an''s''''f''e''r''s'">
              <a:rPr lang="en-ZA" altLang="en-US" sz="800" b="1">
                <a:latin typeface="+mn-lt"/>
                <a:cs typeface="+mn-cs"/>
                <a:sym typeface="+mn-lt"/>
              </a:rPr>
              <a:pPr marL="0" indent="0">
                <a:lnSpc>
                  <a:spcPct val="100000"/>
                </a:lnSpc>
                <a:spcBef>
                  <a:spcPct val="0"/>
                </a:spcBef>
                <a:spcAft>
                  <a:spcPct val="0"/>
                </a:spcAft>
                <a:buNone/>
              </a:pPr>
              <a:t>Capital Spending and transfers</a:t>
            </a:fld>
            <a:endParaRPr lang="en-ZA" sz="800" b="1" dirty="0">
              <a:latin typeface="+mn-lt"/>
              <a:cs typeface="+mn-cs"/>
              <a:sym typeface="+mn-lt"/>
            </a:endParaRPr>
          </a:p>
        </p:txBody>
      </p:sp>
    </p:spTree>
    <p:extLst>
      <p:ext uri="{BB962C8B-B14F-4D97-AF65-F5344CB8AC3E}">
        <p14:creationId xmlns:p14="http://schemas.microsoft.com/office/powerpoint/2010/main" val="2923739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5020" name="think-cell Slide" r:id="rId6" imgW="216" imgH="216" progId="TCLayout.ActiveDocument.1">
                  <p:embed/>
                </p:oleObj>
              </mc:Choice>
              <mc:Fallback>
                <p:oleObj name="think-cell Slide" r:id="rId6" imgW="216" imgH="216" progId="TCLayout.ActiveDocument.1">
                  <p:embed/>
                  <p:pic>
                    <p:nvPicPr>
                      <p:cNvPr id="7" name="Object 6" hidden="1"/>
                      <p:cNvPicPr/>
                      <p:nvPr/>
                    </p:nvPicPr>
                    <p:blipFill>
                      <a:blip r:embed="rId7"/>
                      <a:stretch>
                        <a:fillRect/>
                      </a:stretch>
                    </p:blipFill>
                    <p:spPr>
                      <a:xfrm>
                        <a:off x="1588" y="1588"/>
                        <a:ext cx="1587" cy="1587"/>
                      </a:xfrm>
                      <a:prstGeom prst="rect">
                        <a:avLst/>
                      </a:prstGeom>
                    </p:spPr>
                  </p:pic>
                </p:oleObj>
              </mc:Fallback>
            </mc:AlternateContent>
          </a:graphicData>
        </a:graphic>
      </p:graphicFrame>
      <p:sp>
        <p:nvSpPr>
          <p:cNvPr id="6" name="Rectangle 5" hidden="1"/>
          <p:cNvSpPr/>
          <p:nvPr>
            <p:custDataLst>
              <p:tags r:id="rId3"/>
            </p:custDataLst>
          </p:nvPr>
        </p:nvSpPr>
        <p:spPr bwMode="auto">
          <a:xfrm>
            <a:off x="0" y="0"/>
            <a:ext cx="158750" cy="1587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en-ZA" sz="800" b="1" dirty="0">
              <a:latin typeface="Arial" panose="020B0604020202020204" pitchFamily="34" charset="0"/>
              <a:sym typeface="Arial" panose="020B0604020202020204" pitchFamily="34" charset="0"/>
            </a:endParaRPr>
          </a:p>
        </p:txBody>
      </p:sp>
      <p:sp>
        <p:nvSpPr>
          <p:cNvPr id="31" name="TextBox 30"/>
          <p:cNvSpPr txBox="1"/>
          <p:nvPr/>
        </p:nvSpPr>
        <p:spPr>
          <a:xfrm>
            <a:off x="346008" y="1228017"/>
            <a:ext cx="9216000" cy="4882842"/>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endParaRPr lang="en-ZA" sz="800" dirty="0"/>
          </a:p>
        </p:txBody>
      </p:sp>
      <p:sp>
        <p:nvSpPr>
          <p:cNvPr id="3" name="Title 2"/>
          <p:cNvSpPr>
            <a:spLocks noGrp="1"/>
          </p:cNvSpPr>
          <p:nvPr>
            <p:ph type="title"/>
          </p:nvPr>
        </p:nvSpPr>
        <p:spPr/>
        <p:txBody>
          <a:bodyPr>
            <a:normAutofit fontScale="90000"/>
          </a:bodyPr>
          <a:lstStyle/>
          <a:p>
            <a:br>
              <a:rPr lang="en-ZA" sz="2200" dirty="0"/>
            </a:br>
            <a:r>
              <a:rPr lang="en-ZA" sz="2200" dirty="0"/>
              <a:t>Market Analysis: M&amp;A Activity</a:t>
            </a:r>
            <a:br>
              <a:rPr lang="en-ZA" sz="2000" dirty="0"/>
            </a:br>
            <a:br>
              <a:rPr lang="en-ZA" sz="2000" dirty="0"/>
            </a:br>
            <a:r>
              <a:rPr lang="en-ZA" sz="2000" dirty="0"/>
              <a:t> 	</a:t>
            </a:r>
            <a:endParaRPr lang="en-GB" sz="1200" dirty="0"/>
          </a:p>
        </p:txBody>
      </p:sp>
      <p:sp>
        <p:nvSpPr>
          <p:cNvPr id="9" name="TextBox 8"/>
          <p:cNvSpPr txBox="1"/>
          <p:nvPr/>
        </p:nvSpPr>
        <p:spPr>
          <a:xfrm>
            <a:off x="342197" y="965723"/>
            <a:ext cx="9216000" cy="262294"/>
          </a:xfrm>
          <a:prstGeom prst="rect">
            <a:avLst/>
          </a:prstGeom>
          <a:solidFill>
            <a:schemeClr val="bg1">
              <a:lumMod val="65000"/>
            </a:schemeClr>
          </a:solidFill>
          <a:ln w="9525" cap="flat" cmpd="sng" algn="ctr">
            <a:solidFill>
              <a:sysClr val="window" lastClr="FFFFFF">
                <a:lumMod val="50000"/>
              </a:sysClr>
            </a:solidFill>
            <a:prstDash val="solid"/>
            <a:miter lim="800000"/>
          </a:ln>
          <a:effectLst/>
        </p:spPr>
        <p:txBody>
          <a:bodyPr rtlCol="0" anchor="ctr"/>
          <a:lstStyle>
            <a:defPPr>
              <a:defRPr lang="en-US"/>
            </a:defPPr>
            <a:lvl1pPr marR="0" lvl="0" indent="0" algn="ctr" fontAlgn="auto">
              <a:lnSpc>
                <a:spcPct val="100000"/>
              </a:lnSpc>
              <a:spcBef>
                <a:spcPts val="0"/>
              </a:spcBef>
              <a:spcAft>
                <a:spcPts val="0"/>
              </a:spcAft>
              <a:buClrTx/>
              <a:buSzTx/>
              <a:buFontTx/>
              <a:buNone/>
              <a:tabLst/>
              <a:defRPr kumimoji="0" sz="1000" b="1" i="0" u="none" strike="noStrike" kern="0" cap="none" spc="0" normalizeH="0" baseline="0">
                <a:ln>
                  <a:noFill/>
                </a:ln>
                <a:solidFill>
                  <a:prstClr val="white"/>
                </a:solidFill>
                <a:effectLst/>
                <a:uLnTx/>
                <a:uFillTx/>
              </a:defRPr>
            </a:lvl1pPr>
          </a:lstStyle>
          <a:p>
            <a:r>
              <a:rPr lang="en-GB" dirty="0"/>
              <a:t>Impact of key macro themes by region</a:t>
            </a:r>
          </a:p>
        </p:txBody>
      </p:sp>
      <p:sp>
        <p:nvSpPr>
          <p:cNvPr id="14" name="TextBox 13"/>
          <p:cNvSpPr txBox="1"/>
          <p:nvPr/>
        </p:nvSpPr>
        <p:spPr>
          <a:xfrm>
            <a:off x="342197" y="1231631"/>
            <a:ext cx="9216000" cy="4882842"/>
          </a:xfrm>
          <a:prstGeom prst="rect">
            <a:avLst/>
          </a:prstGeom>
          <a:noFill/>
          <a:ln w="6350" cap="flat" cmpd="sng" algn="ctr">
            <a:solidFill>
              <a:srgbClr val="808080">
                <a:lumMod val="60000"/>
                <a:lumOff val="40000"/>
              </a:srgbClr>
            </a:solidFill>
            <a:prstDash val="solid"/>
          </a:ln>
          <a:effectLst/>
        </p:spPr>
        <p:txBody>
          <a:bodyPr wrap="square" lIns="80133" tIns="40067" rIns="80133" bIns="40067" rtlCol="0">
            <a:noAutofit/>
          </a:bodyPr>
          <a:lstStyle/>
          <a:p>
            <a:endParaRPr lang="en-ZA" sz="800" dirty="0"/>
          </a:p>
        </p:txBody>
      </p:sp>
      <p:pic>
        <p:nvPicPr>
          <p:cNvPr id="2" name="Picture 1"/>
          <p:cNvPicPr>
            <a:picLocks noChangeAspect="1"/>
          </p:cNvPicPr>
          <p:nvPr/>
        </p:nvPicPr>
        <p:blipFill rotWithShape="1">
          <a:blip r:embed="rId8"/>
          <a:srcRect l="17750" t="24801" r="33638" b="10096"/>
          <a:stretch/>
        </p:blipFill>
        <p:spPr>
          <a:xfrm>
            <a:off x="464557" y="1529602"/>
            <a:ext cx="5651763" cy="4279672"/>
          </a:xfrm>
          <a:prstGeom prst="rect">
            <a:avLst/>
          </a:prstGeom>
        </p:spPr>
      </p:pic>
      <p:sp>
        <p:nvSpPr>
          <p:cNvPr id="19" name="Rectangle 7"/>
          <p:cNvSpPr>
            <a:spLocks noChangeArrowheads="1"/>
          </p:cNvSpPr>
          <p:nvPr/>
        </p:nvSpPr>
        <p:spPr bwMode="auto">
          <a:xfrm>
            <a:off x="6234869" y="1272818"/>
            <a:ext cx="3162670" cy="4264382"/>
          </a:xfrm>
          <a:prstGeom prst="rect">
            <a:avLst/>
          </a:prstGeom>
          <a:solidFill>
            <a:srgbClr val="F0F0F0"/>
          </a:solidFill>
          <a:ln w="6350">
            <a:noFill/>
            <a:miter lim="800000"/>
            <a:headEnd/>
            <a:tailEnd/>
          </a:ln>
        </p:spPr>
        <p:txBody>
          <a:bodyPr wrap="square" lIns="45720" rIns="45720" anchor="t" anchorCtr="0"/>
          <a:lstStyle/>
          <a:p>
            <a:pPr>
              <a:spcBef>
                <a:spcPts val="600"/>
              </a:spcBef>
            </a:pPr>
            <a:r>
              <a:rPr lang="en-US" altLang="zh-CN" sz="1000" b="1" dirty="0">
                <a:solidFill>
                  <a:schemeClr val="accent4"/>
                </a:solidFill>
                <a:ea typeface="宋体" charset="-122"/>
              </a:rPr>
              <a:t>Key insights in target markets</a:t>
            </a:r>
          </a:p>
          <a:p>
            <a:endParaRPr lang="en-US" altLang="zh-CN" sz="1000" b="1" dirty="0">
              <a:solidFill>
                <a:schemeClr val="accent4"/>
              </a:solidFill>
              <a:ea typeface="宋体" charset="-122"/>
            </a:endParaRPr>
          </a:p>
          <a:p>
            <a:pPr marL="171450" indent="-171450">
              <a:buFont typeface="Arial" panose="020B0604020202020204" pitchFamily="34" charset="0"/>
              <a:buChar char="•"/>
              <a:defRPr/>
            </a:pPr>
            <a:r>
              <a:rPr lang="en-ZA" altLang="zh-CN" sz="900" b="1" kern="0" dirty="0">
                <a:ea typeface="ＭＳ Ｐゴシック"/>
              </a:rPr>
              <a:t>More deal-making activity in Africa and the Middle East as oil prices rebound over the next few years. </a:t>
            </a:r>
          </a:p>
          <a:p>
            <a:pPr marL="171450" indent="-171450">
              <a:buFont typeface="Arial" panose="020B0604020202020204" pitchFamily="34" charset="0"/>
              <a:buChar char="•"/>
              <a:defRPr/>
            </a:pPr>
            <a:endParaRPr lang="en-ZA" altLang="zh-CN" sz="900" b="1" kern="0" dirty="0">
              <a:ea typeface="ＭＳ Ｐゴシック"/>
            </a:endParaRPr>
          </a:p>
          <a:p>
            <a:pPr marL="709613" indent="-171450">
              <a:buFont typeface="Arial" panose="020B0604020202020204" pitchFamily="34" charset="0"/>
              <a:buChar char="•"/>
              <a:defRPr/>
            </a:pPr>
            <a:r>
              <a:rPr lang="en-ZA" altLang="zh-CN" sz="900" kern="0" dirty="0">
                <a:ea typeface="ＭＳ Ｐゴシック"/>
              </a:rPr>
              <a:t>The decline in oil prices has restricted available funding for M&amp;A, but a recovery in oil prices should increase deal-making activity in the region. </a:t>
            </a:r>
          </a:p>
          <a:p>
            <a:pPr marL="709613" indent="-171450">
              <a:buFont typeface="Arial" panose="020B0604020202020204" pitchFamily="34" charset="0"/>
              <a:buChar char="•"/>
              <a:defRPr/>
            </a:pPr>
            <a:endParaRPr lang="en-ZA" altLang="zh-CN" sz="900" kern="0" dirty="0">
              <a:ea typeface="ＭＳ Ｐゴシック"/>
            </a:endParaRPr>
          </a:p>
          <a:p>
            <a:pPr marL="709613" indent="-171450">
              <a:buFont typeface="Arial" panose="020B0604020202020204" pitchFamily="34" charset="0"/>
              <a:buChar char="•"/>
              <a:defRPr/>
            </a:pPr>
            <a:r>
              <a:rPr lang="en-ZA" altLang="zh-CN" sz="900" b="1" kern="0" dirty="0">
                <a:ea typeface="ＭＳ Ｐゴシック"/>
              </a:rPr>
              <a:t>Key to improving M&amp;A activity in Africa is pushing forward economic reforms </a:t>
            </a:r>
            <a:r>
              <a:rPr lang="en-ZA" altLang="zh-CN" sz="900" kern="0" dirty="0">
                <a:ea typeface="ＭＳ Ｐゴシック"/>
              </a:rPr>
              <a:t>and consolidating progress already made in countries like Egypt, where the government has introduced business-friendly investment policies.</a:t>
            </a:r>
          </a:p>
          <a:p>
            <a:pPr marL="538163">
              <a:defRPr/>
            </a:pPr>
            <a:endParaRPr lang="en-ZA" sz="900" kern="0" dirty="0">
              <a:ea typeface="ＭＳ Ｐゴシック"/>
            </a:endParaRPr>
          </a:p>
          <a:p>
            <a:pPr marL="171450" indent="-171450">
              <a:buFont typeface="Arial" panose="020B0604020202020204" pitchFamily="34" charset="0"/>
              <a:buChar char="•"/>
              <a:defRPr/>
            </a:pPr>
            <a:r>
              <a:rPr lang="en-ZA" sz="900" b="1" kern="0" dirty="0">
                <a:ea typeface="ＭＳ Ｐゴシック"/>
              </a:rPr>
              <a:t>Emerging market M&amp;A activity will capture a larger share of total deals</a:t>
            </a:r>
            <a:endParaRPr lang="en-ZA" sz="900" kern="0" dirty="0">
              <a:ea typeface="ＭＳ Ｐゴシック"/>
            </a:endParaRPr>
          </a:p>
          <a:p>
            <a:pPr marL="171450" indent="-171450">
              <a:buFont typeface="Arial" panose="020B0604020202020204" pitchFamily="34" charset="0"/>
              <a:buChar char="•"/>
              <a:defRPr/>
            </a:pPr>
            <a:endParaRPr lang="en-ZA" sz="900" kern="0" dirty="0">
              <a:ea typeface="ＭＳ Ｐゴシック"/>
            </a:endParaRPr>
          </a:p>
          <a:p>
            <a:pPr marL="709613" indent="-171450">
              <a:buFont typeface="Arial" panose="020B0604020202020204" pitchFamily="34" charset="0"/>
              <a:buChar char="•"/>
              <a:defRPr/>
            </a:pPr>
            <a:r>
              <a:rPr lang="en-ZA" sz="900" kern="0" dirty="0">
                <a:ea typeface="ＭＳ Ｐゴシック"/>
              </a:rPr>
              <a:t>Rising to 21% of total transactions in 2018 through 2020, up from 18% in 2014.</a:t>
            </a:r>
            <a:r>
              <a:rPr lang="en-ZA" sz="900" b="1" kern="0" dirty="0">
                <a:ea typeface="ＭＳ Ｐゴシック"/>
              </a:rPr>
              <a:t> </a:t>
            </a:r>
          </a:p>
          <a:p>
            <a:pPr marL="538163">
              <a:defRPr/>
            </a:pPr>
            <a:endParaRPr lang="en-ZA" sz="900" b="1" kern="0" dirty="0">
              <a:ea typeface="ＭＳ Ｐゴシック"/>
            </a:endParaRPr>
          </a:p>
          <a:p>
            <a:pPr marL="171450" indent="-171450">
              <a:buFont typeface="Arial" panose="020B0604020202020204" pitchFamily="34" charset="0"/>
              <a:buChar char="•"/>
            </a:pPr>
            <a:r>
              <a:rPr lang="en-ZA" sz="900" b="1" kern="0" dirty="0">
                <a:ea typeface="ＭＳ Ｐゴシック"/>
              </a:rPr>
              <a:t>Cross -border M&amp;A activity will outpace domestic activity </a:t>
            </a:r>
          </a:p>
          <a:p>
            <a:endParaRPr lang="en-ZA" sz="900" b="1" dirty="0"/>
          </a:p>
          <a:p>
            <a:pPr marL="709613" indent="-171450">
              <a:buFont typeface="Arial" panose="020B0604020202020204" pitchFamily="34" charset="0"/>
              <a:buChar char="•"/>
            </a:pPr>
            <a:r>
              <a:rPr lang="en-ZA" sz="900" dirty="0"/>
              <a:t>The share of cross-border deals rose to 38% in 2015, up from 36% in 2014. The pace of cross-border activity will slow in 2016 but rise back to a 38% share by the end of 2017.</a:t>
            </a:r>
            <a:endParaRPr lang="en-US" sz="900" kern="0" dirty="0">
              <a:ea typeface="ＭＳ Ｐゴシック"/>
            </a:endParaRPr>
          </a:p>
        </p:txBody>
      </p:sp>
      <p:sp>
        <p:nvSpPr>
          <p:cNvPr id="10" name="TextBox 9"/>
          <p:cNvSpPr txBox="1"/>
          <p:nvPr/>
        </p:nvSpPr>
        <p:spPr>
          <a:xfrm>
            <a:off x="301442" y="5975692"/>
            <a:ext cx="2213633" cy="200055"/>
          </a:xfrm>
          <a:prstGeom prst="rect">
            <a:avLst/>
          </a:prstGeom>
          <a:noFill/>
        </p:spPr>
        <p:txBody>
          <a:bodyPr wrap="square" rtlCol="0">
            <a:spAutoFit/>
          </a:bodyPr>
          <a:lstStyle/>
          <a:p>
            <a:r>
              <a:rPr lang="en-ZA" sz="700" dirty="0"/>
              <a:t>Source: BAKER &amp; MCKENZIE</a:t>
            </a:r>
          </a:p>
        </p:txBody>
      </p:sp>
    </p:spTree>
    <p:extLst>
      <p:ext uri="{BB962C8B-B14F-4D97-AF65-F5344CB8AC3E}">
        <p14:creationId xmlns:p14="http://schemas.microsoft.com/office/powerpoint/2010/main" val="4049047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2900" y="3005408"/>
            <a:ext cx="6048664" cy="424732"/>
          </a:xfrm>
          <a:prstGeom prst="rect">
            <a:avLst/>
          </a:prstGeom>
        </p:spPr>
        <p:txBody>
          <a:bodyPr vert="horz" lIns="91440" tIns="45720" rIns="91440" bIns="45720" rtlCol="0" anchor="ctr" anchorCtr="0">
            <a:noAutofit/>
          </a:bodyPr>
          <a:lstStyle/>
          <a:p>
            <a:pPr>
              <a:lnSpc>
                <a:spcPct val="90000"/>
              </a:lnSpc>
              <a:spcBef>
                <a:spcPts val="1000"/>
              </a:spcBef>
              <a:buClr>
                <a:srgbClr val="002E5A"/>
              </a:buClr>
              <a:buFont typeface="Arial" panose="020B0604020202020204" pitchFamily="34" charset="0"/>
              <a:buNone/>
            </a:pPr>
            <a:r>
              <a:rPr lang="en-GB" sz="2200" dirty="0">
                <a:solidFill>
                  <a:srgbClr val="012E58"/>
                </a:solidFill>
                <a:latin typeface="Arial" panose="020B0604020202020204" pitchFamily="34" charset="0"/>
                <a:cs typeface="Arial" panose="020B0604020202020204" pitchFamily="34" charset="0"/>
              </a:rPr>
              <a:t>Questions?</a:t>
            </a:r>
          </a:p>
        </p:txBody>
      </p:sp>
      <p:sp>
        <p:nvSpPr>
          <p:cNvPr id="3" name="Rectangle 2"/>
          <p:cNvSpPr/>
          <p:nvPr/>
        </p:nvSpPr>
        <p:spPr>
          <a:xfrm>
            <a:off x="356758" y="3444132"/>
            <a:ext cx="5877787" cy="424732"/>
          </a:xfrm>
          <a:prstGeom prst="rect">
            <a:avLst/>
          </a:prstGeom>
        </p:spPr>
        <p:txBody>
          <a:bodyPr vert="horz" lIns="91440" tIns="45720" rIns="91440" bIns="45720" rtlCol="0" anchor="ctr" anchorCtr="0">
            <a:normAutofit/>
          </a:bodyPr>
          <a:lstStyle/>
          <a:p>
            <a:pPr>
              <a:lnSpc>
                <a:spcPct val="90000"/>
              </a:lnSpc>
              <a:spcBef>
                <a:spcPts val="1000"/>
              </a:spcBef>
              <a:buClr>
                <a:srgbClr val="002E5A"/>
              </a:buClr>
              <a:buFont typeface="Arial" panose="020B0604020202020204" pitchFamily="34" charset="0"/>
              <a:buNone/>
            </a:pPr>
            <a:r>
              <a:rPr lang="en-GB" sz="1600" dirty="0">
                <a:solidFill>
                  <a:schemeClr val="bg2">
                    <a:lumMod val="50000"/>
                  </a:schemeClr>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11494424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3045&quot;&gt;&lt;version val=&quot;24173&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yearfmt&gt;&lt;begin val=&quot;0&quot;/&gt;&lt;end val=&quot;4&quot;/&gt;&lt;/m_yearfmt&gt;&lt;/m_precDefaultDate&gt;&lt;m_precDefaultYear&gt;&lt;m_yearfmt&gt;&lt;begin val=&quot;0&quot;/&gt;&lt;end val=&quot;4&quot;/&gt;&lt;/m_yearfmt&gt;&lt;/m_precDefaultYear&gt;&lt;m_precDefaultQuarter&gt;&lt;m_bNumberIsYear val=&quot;0&quot;/&gt;&lt;m_strFormatTime&gt;Q%5&lt;/m_strFormatTime&gt;&lt;m_yearfmt&gt;&lt;begin val=&quot;0&quot;/&gt;&lt;end val=&quot;4&quot;/&gt;&lt;/m_yearfmt&gt;&lt;/m_precDefaultQuarter&gt;&lt;m_precDefaultMonth&gt;&lt;m_yearfmt&gt;&lt;begin val=&quot;0&quot;/&gt;&lt;end val=&quot;4&quot;/&gt;&lt;/m_yearfmt&gt;&lt;/m_precDefaultMonth&gt;&lt;m_precDefaultWeek&gt;&lt;m_bNumberIsYear val=&quot;0&quot;/&gt;&lt;m_strFormatTime&gt;%4&lt;/m_strFormatTime&gt;&lt;m_yearfmt&gt;&lt;begin val=&quot;0&quot;/&gt;&lt;end val=&quot;4&quot;/&gt;&lt;/m_yearfmt&gt;&lt;/m_precDefaultWeek&gt;&lt;m_precDefaultDay&gt;&lt;m_bNumberIsYear val=&quot;0&quot;/&gt;&lt;m_strFormatTime&gt;%#d&lt;/m_strFormatTime&gt;&lt;m_yearfmt&gt;&lt;begin val=&quot;0&quot;/&gt;&lt;end val=&quot;4&quot;/&gt;&lt;/m_yearfmt&gt;&lt;/m_precDefaultDay&gt;&lt;m_mruColor&gt;&lt;m_vecMRU length=&quot;4&quot;&gt;&lt;elem m_fUsage=&quot;3.78559000000000000000E+000&quot;&gt;&lt;m_msothmcolidx val=&quot;0&quot;/&gt;&lt;m_rgb r=&quot;A7&quot; g=&quot;12&quot; b=&quot;01&quot;/&gt;&lt;m_nBrightness val=&quot;0&quot;/&gt;&lt;/elem&gt;&lt;elem m_fUsage=&quot;2.19618459900000000000E+000&quot;&gt;&lt;m_msothmcolidx val=&quot;0&quot;/&gt;&lt;m_rgb r=&quot;00&quot; g=&quot;2E&quot; b=&quot;5A&quot;/&gt;&lt;m_nBrightness val=&quot;0&quot;/&gt;&lt;/elem&gt;&lt;elem m_fUsage=&quot;8.80119440100000320000E-001&quot;&gt;&lt;m_msothmcolidx val=&quot;0&quot;/&gt;&lt;m_rgb r=&quot;EE&quot; g=&quot;00&quot; b=&quot;00&quot;/&gt;&lt;m_nBrightness val=&quot;0&quot;/&gt;&lt;/elem&gt;&lt;elem m_fUsage=&quot;3.13810596090000170000E-001&quot;&gt;&lt;m_msothmcolidx val=&quot;0&quot;/&gt;&lt;m_rgb r=&quot;69&quot; g=&quot;61&quot; b=&quot;5F&quot;/&gt;&lt;m_nBrightness val=&quot;0&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NAME" val="RectangleText"/>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NAME" val="RectangleText"/>
</p:tagLst>
</file>

<file path=ppt/tags/tag13.xml><?xml version="1.0" encoding="utf-8"?>
<p:tagLst xmlns:a="http://schemas.openxmlformats.org/drawingml/2006/main" xmlns:r="http://schemas.openxmlformats.org/officeDocument/2006/relationships" xmlns:p="http://schemas.openxmlformats.org/presentationml/2006/main">
  <p:tag name="NAME" val="RectangleText"/>
</p:tagLst>
</file>

<file path=ppt/tags/tag14.xml><?xml version="1.0" encoding="utf-8"?>
<p:tagLst xmlns:a="http://schemas.openxmlformats.org/drawingml/2006/main" xmlns:r="http://schemas.openxmlformats.org/officeDocument/2006/relationships" xmlns:p="http://schemas.openxmlformats.org/presentationml/2006/main">
  <p:tag name="NAME" val="RectangleText"/>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Ns_gmcNVNU6VDRxcPoaja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Ns_gmcNVNU6VDRxcPoaja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FJ2JHIeORECUgRGkR_R98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nTWBHaEvTUyu3yHPYCTm3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fMYzHrSKS8WdL2xh225Gk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VeQXq.7nTk2x11.7.5A.Y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C7Jfg7unRD682si5uq7sNg"/>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TID6OPh3QJW2beXTMDDB9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EaSssaGUT3mL1KPfZoYDJ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nvONYs6GTVWJeSHO3JXex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tfzZTc0wTWmokgPrn2sYw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8KI7oH2aRyyhglDfttR2LA"/>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Fu1LtSNuQKCPcd7KQB0wr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vs855Yr6ToyvK4WYguy7F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ancLdZu_TNqWue.IcSom0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NXnHvhudR7KujGRdJLyex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dvRAC8MXRq6wJ_E6bh14kQ"/>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yHZCeYZvRfq0YedlMpPpk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RaTeLaxBTcytbJca7sH19g"/>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4c8qR13bQLatsHd9oAWX8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77xmxvoeTr.XmMbCBEcfI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ED90XD7mQjKRy88uQ4Try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KXUQez5iRciezofiUhI9v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NpN1K0ndT0Cc6gKyd3Xuhw"/>
</p:tagLst>
</file>

<file path=ppt/tags/tag40.xml><?xml version="1.0" encoding="utf-8"?>
<p:tagLst xmlns:a="http://schemas.openxmlformats.org/drawingml/2006/main" xmlns:r="http://schemas.openxmlformats.org/officeDocument/2006/relationships" xmlns:p="http://schemas.openxmlformats.org/presentationml/2006/main">
  <p:tag name="NAME" val="Rectangl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y6NMcNVbTeKgZblzGo4bS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5SgnrdWTQkqN0I_Gqr3QmA"/>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K8rSCN7sRy2qGwjVjpEQE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x4Hb3XicQce1LKT2Pu1Dg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jVsojIzcTc.gF5U6KCfHVw"/>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mqxSSpcRSquy6d19PlOg_w"/>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AbwcKcc8TlWFyxHxTVzMf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1Vb1kiGoSmWnRSLs53roi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EfyVYFkeQQORobCW8VpYLA"/>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2EpkGqWZS6aOF2oR2Azrl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FJ2JHIeORECUgRGkR_R98g"/>
</p:tagLst>
</file>

<file path=ppt/theme/theme1.xml><?xml version="1.0" encoding="utf-8"?>
<a:theme xmlns:a="http://schemas.openxmlformats.org/drawingml/2006/main" name="Office Theme">
  <a:themeElements>
    <a:clrScheme name="Trillian">
      <a:dk1>
        <a:sysClr val="windowText" lastClr="000000"/>
      </a:dk1>
      <a:lt1>
        <a:sysClr val="window" lastClr="FFFFFF"/>
      </a:lt1>
      <a:dk2>
        <a:srgbClr val="000F21"/>
      </a:dk2>
      <a:lt2>
        <a:srgbClr val="A8A89E"/>
      </a:lt2>
      <a:accent1>
        <a:srgbClr val="002D5B"/>
      </a:accent1>
      <a:accent2>
        <a:srgbClr val="ABAEAD"/>
      </a:accent2>
      <a:accent3>
        <a:srgbClr val="9CADB7"/>
      </a:accent3>
      <a:accent4>
        <a:srgbClr val="B1181E"/>
      </a:accent4>
      <a:accent5>
        <a:srgbClr val="538D9C"/>
      </a:accent5>
      <a:accent6>
        <a:srgbClr val="A89F88"/>
      </a:accent6>
      <a:hlink>
        <a:srgbClr val="0563C1"/>
      </a:hlink>
      <a:folHlink>
        <a:srgbClr val="954F72"/>
      </a:folHlink>
    </a:clrScheme>
    <a:fontScheme name="Custom 1">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rillian template Financial Advisory" id="{218529D0-E7AD-486C-A02A-8502AD917A30}" vid="{4041BA42-6186-4D0F-9904-C55522BFF5A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Trillian template Financial Advisory</Template>
  <TotalTime>7021</TotalTime>
  <Words>2329</Words>
  <Application>Microsoft Office PowerPoint</Application>
  <PresentationFormat>A4 Paper (210x297 mm)</PresentationFormat>
  <Paragraphs>468</Paragraphs>
  <Slides>14</Slides>
  <Notes>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14</vt:i4>
      </vt:variant>
    </vt:vector>
  </HeadingPairs>
  <TitlesOfParts>
    <vt:vector size="25" baseType="lpstr">
      <vt:lpstr>MS PGothic</vt:lpstr>
      <vt:lpstr>MS PGothic</vt:lpstr>
      <vt:lpstr>宋体</vt:lpstr>
      <vt:lpstr>Arial</vt:lpstr>
      <vt:lpstr>Arial Unicode MS</vt:lpstr>
      <vt:lpstr>Calibri</vt:lpstr>
      <vt:lpstr>Times New Roman</vt:lpstr>
      <vt:lpstr>Wingdings</vt:lpstr>
      <vt:lpstr>Office Theme</vt:lpstr>
      <vt:lpstr>think-cell Slide</vt:lpstr>
      <vt:lpstr>Chart</vt:lpstr>
      <vt:lpstr>Specialised Finance strategy presentation</vt:lpstr>
      <vt:lpstr>Introduction  “We are what we repeatedly do. Excellence then is not an act, but a habit” – Aristotle</vt:lpstr>
      <vt:lpstr>Specialised Finance strategy snapshot : Vision, mission and objectives</vt:lpstr>
      <vt:lpstr>Specialised Finance strategy snapshot : External analysis (1/4)</vt:lpstr>
      <vt:lpstr>Specialised Finance strategy snapshot : External analysis (2/4)</vt:lpstr>
      <vt:lpstr>Specialised Finance strategy snapshot : External analysis (3/4)</vt:lpstr>
      <vt:lpstr>Specialised Finance strategy snapshot : External analysis (4/4)</vt:lpstr>
      <vt:lpstr>Specialised Finance strategy snapshot : Internal analysis “The secret to success is to do common things uncommonly well” -  John D. Rockefeller</vt:lpstr>
      <vt:lpstr>Specialised Finance strategy snapshot : SWOT</vt:lpstr>
      <vt:lpstr>Specialised Finance strategy snapshot : Implementation  The formulation of strategy may be a sprint, but the execution of strategy is a marathon. </vt:lpstr>
      <vt:lpstr>PowerPoint Presentation</vt:lpstr>
      <vt:lpstr> Market Analysis: Consolidated spending by functional and economic classification – 16/17 Understanding the operating environment of our country and that of our target markets will allow us to isolate opportunities and execute more efficiently</vt:lpstr>
      <vt:lpstr> Market Analysis: M&amp;A Activity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Heading</dc:title>
  <dc:creator>Trillian Corporate Finance</dc:creator>
  <cp:lastModifiedBy>MNG03</cp:lastModifiedBy>
  <cp:revision>892</cp:revision>
  <cp:lastPrinted>2016-04-18T08:16:53Z</cp:lastPrinted>
  <dcterms:created xsi:type="dcterms:W3CDTF">2016-04-17T05:36:03Z</dcterms:created>
  <dcterms:modified xsi:type="dcterms:W3CDTF">2016-05-25T07:50:46Z</dcterms:modified>
  <cp:contentStatus/>
</cp:coreProperties>
</file>