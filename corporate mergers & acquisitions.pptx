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275" r:id="rId3"/>
    <p:sldId id="268" r:id="rId4"/>
    <p:sldId id="271" r:id="rId5"/>
    <p:sldId id="272" r:id="rId6"/>
    <p:sldId id="273" r:id="rId7"/>
    <p:sldId id="274" r:id="rId8"/>
    <p:sldId id="270" r:id="rId9"/>
    <p:sldId id="259" r:id="rId10"/>
    <p:sldId id="260" r:id="rId11"/>
    <p:sldId id="267" r:id="rId12"/>
    <p:sldId id="269" r:id="rId13"/>
    <p:sldId id="264" r:id="rId14"/>
    <p:sldId id="265" r:id="rId15"/>
    <p:sldId id="266" r:id="rId16"/>
    <p:sldId id="281" r:id="rId17"/>
    <p:sldId id="282" r:id="rId18"/>
    <p:sldId id="283" r:id="rId19"/>
    <p:sldId id="284" r:id="rId20"/>
    <p:sldId id="276" r:id="rId21"/>
    <p:sldId id="277" r:id="rId22"/>
    <p:sldId id="285" r:id="rId23"/>
    <p:sldId id="279" r:id="rId24"/>
    <p:sldId id="286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33929A6-3051-47DA-941D-0C5F49C6892A}">
          <p14:sldIdLst>
            <p14:sldId id="258"/>
            <p14:sldId id="275"/>
            <p14:sldId id="268"/>
            <p14:sldId id="271"/>
            <p14:sldId id="272"/>
            <p14:sldId id="273"/>
            <p14:sldId id="274"/>
            <p14:sldId id="270"/>
            <p14:sldId id="259"/>
            <p14:sldId id="260"/>
            <p14:sldId id="267"/>
            <p14:sldId id="269"/>
            <p14:sldId id="264"/>
            <p14:sldId id="265"/>
            <p14:sldId id="266"/>
            <p14:sldId id="281"/>
            <p14:sldId id="282"/>
            <p14:sldId id="283"/>
            <p14:sldId id="284"/>
            <p14:sldId id="276"/>
            <p14:sldId id="277"/>
            <p14:sldId id="285"/>
            <p14:sldId id="279"/>
            <p14:sldId id="286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95592" autoAdjust="0"/>
  </p:normalViewPr>
  <p:slideViewPr>
    <p:cSldViewPr>
      <p:cViewPr varScale="1">
        <p:scale>
          <a:sx n="98" d="100"/>
          <a:sy n="98" d="100"/>
        </p:scale>
        <p:origin x="111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6814E-A0F5-4B78-BD12-732113444644}" type="datetimeFigureOut">
              <a:rPr lang="en-US" smtClean="0"/>
              <a:t>10/10/2016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4EF50-057D-4065-8840-9B86F24510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7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93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19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63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94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2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8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81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52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58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41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81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28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7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82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261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871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45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174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76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566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764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010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511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949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4EF50-057D-4065-8840-9B86F24510C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4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843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93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591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0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99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076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25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15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06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63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75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7EC9F-2C7A-4CE8-A78F-9C46E4B3E156}" type="datetimeFigureOut">
              <a:rPr lang="en-US" smtClean="0"/>
              <a:t>10/10/2016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D60C3-9138-4B18-88E1-F6BE81319B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41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Asset Acquisition: </a:t>
            </a:r>
            <a:br>
              <a:rPr lang="en-US" sz="2400" b="1" dirty="0" smtClean="0">
                <a:solidFill>
                  <a:srgbClr val="A50021"/>
                </a:solidFill>
              </a:rPr>
            </a:br>
            <a:r>
              <a:rPr lang="en-US" sz="2400" b="1" dirty="0" smtClean="0">
                <a:solidFill>
                  <a:srgbClr val="A50021"/>
                </a:solidFill>
              </a:rPr>
              <a:t>Acquiring purchases all or substantially all assets of Target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4038598"/>
            <a:ext cx="2614047" cy="43656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6161" name="Line 23"/>
          <p:cNvSpPr>
            <a:spLocks noChangeShapeType="1"/>
          </p:cNvSpPr>
          <p:nvPr/>
        </p:nvSpPr>
        <p:spPr bwMode="auto">
          <a:xfrm flipH="1">
            <a:off x="6123649" y="2667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7756374" y="2667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C</a:t>
            </a:r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0" y="3076546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29" name="Rectangle 28"/>
          <p:cNvSpPr/>
          <p:nvPr/>
        </p:nvSpPr>
        <p:spPr>
          <a:xfrm>
            <a:off x="1717171" y="4800600"/>
            <a:ext cx="51408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Board and shareholder approval of Target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Board (and maybe shareholder) approval of Acquiring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assets of Target sold for $$$</a:t>
            </a:r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562600" y="4038599"/>
            <a:ext cx="2743200" cy="43656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Target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371600" y="309119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 flipV="1">
            <a:off x="3429000" y="4038598"/>
            <a:ext cx="1752600" cy="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H="1" flipV="1">
            <a:off x="3429000" y="4475159"/>
            <a:ext cx="1752600" cy="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012949" y="3614410"/>
            <a:ext cx="685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$$$</a:t>
            </a:r>
            <a:endParaRPr lang="en-US" sz="1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4012949" y="4167382"/>
            <a:ext cx="685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assets</a:t>
            </a:r>
            <a:endParaRPr lang="en-US" sz="1400" b="1" dirty="0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 flipH="1">
            <a:off x="2971800" y="2743200"/>
            <a:ext cx="114300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887535" y="2292918"/>
            <a:ext cx="8001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Lender</a:t>
            </a:r>
            <a:endParaRPr lang="en-US" sz="1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3184253" y="2854523"/>
            <a:ext cx="479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$$$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2643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Asset Acquisition: </a:t>
            </a:r>
            <a:br>
              <a:rPr lang="en-US" sz="2400" b="1" dirty="0" smtClean="0">
                <a:solidFill>
                  <a:srgbClr val="A50021"/>
                </a:solidFill>
              </a:rPr>
            </a:br>
            <a:r>
              <a:rPr lang="en-US" sz="2400" b="1" dirty="0" smtClean="0">
                <a:solidFill>
                  <a:srgbClr val="A50021"/>
                </a:solidFill>
              </a:rPr>
              <a:t>Acquiring purchases all or substantially all assets of Target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3693814"/>
            <a:ext cx="2614047" cy="39067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6161" name="Line 23"/>
          <p:cNvSpPr>
            <a:spLocks noChangeShapeType="1"/>
          </p:cNvSpPr>
          <p:nvPr/>
        </p:nvSpPr>
        <p:spPr bwMode="auto">
          <a:xfrm flipH="1">
            <a:off x="6123649" y="2667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7756374" y="2667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685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685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C</a:t>
            </a:r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0" y="3076546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29" name="Rectangle 28"/>
          <p:cNvSpPr/>
          <p:nvPr/>
        </p:nvSpPr>
        <p:spPr>
          <a:xfrm>
            <a:off x="1783563" y="5486400"/>
            <a:ext cx="5140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Alternate: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use Newco subsidiary to acquire assets of Target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562600" y="4038599"/>
            <a:ext cx="2743200" cy="43656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Target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371600" y="263908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 flipV="1">
            <a:off x="3320748" y="4038597"/>
            <a:ext cx="1860852" cy="6096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H="1">
            <a:off x="3320748" y="4475158"/>
            <a:ext cx="1849535" cy="63024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733800" y="3882174"/>
            <a:ext cx="685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$$$</a:t>
            </a:r>
            <a:endParaRPr lang="en-US" sz="1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4304755" y="4876800"/>
            <a:ext cx="685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assets</a:t>
            </a:r>
            <a:endParaRPr lang="en-US" sz="1400" b="1" dirty="0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 flipH="1">
            <a:off x="1880451" y="4189950"/>
            <a:ext cx="0" cy="425307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570206" y="4648200"/>
            <a:ext cx="2614047" cy="457200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Newco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74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Stock Purchase:  Target becomes subsidiary of Acquiring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4038598"/>
            <a:ext cx="2614047" cy="43656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6161" name="Line 23"/>
          <p:cNvSpPr>
            <a:spLocks noChangeShapeType="1"/>
          </p:cNvSpPr>
          <p:nvPr/>
        </p:nvSpPr>
        <p:spPr bwMode="auto">
          <a:xfrm flipH="1">
            <a:off x="6123649" y="2667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7756374" y="2667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C</a:t>
            </a:r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0" y="3076546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29" name="Rectangle 28"/>
          <p:cNvSpPr/>
          <p:nvPr/>
        </p:nvSpPr>
        <p:spPr>
          <a:xfrm>
            <a:off x="1717171" y="4800600"/>
            <a:ext cx="5140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Step #1: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Acquiring buys stock of Target from shareholders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562600" y="4038599"/>
            <a:ext cx="2743200" cy="43656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Target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371600" y="309119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 flipV="1">
            <a:off x="3809999" y="2743200"/>
            <a:ext cx="1721027" cy="129539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H="1">
            <a:off x="3442906" y="2286000"/>
            <a:ext cx="1708187" cy="1235797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r>
              <a:rPr lang="en-US" dirty="0"/>
              <a:t>	</a:t>
            </a:r>
          </a:p>
        </p:txBody>
      </p:sp>
      <p:sp>
        <p:nvSpPr>
          <p:cNvPr id="2" name="Rectangle 1"/>
          <p:cNvSpPr/>
          <p:nvPr/>
        </p:nvSpPr>
        <p:spPr>
          <a:xfrm>
            <a:off x="4692314" y="3558010"/>
            <a:ext cx="4587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/>
              <a:t>$$$</a:t>
            </a:r>
            <a:endParaRPr lang="en-US" sz="1400" b="1" dirty="0"/>
          </a:p>
        </p:txBody>
      </p:sp>
      <p:sp>
        <p:nvSpPr>
          <p:cNvPr id="21" name="Rectangle 20"/>
          <p:cNvSpPr/>
          <p:nvPr/>
        </p:nvSpPr>
        <p:spPr>
          <a:xfrm>
            <a:off x="3720086" y="2435423"/>
            <a:ext cx="5736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/>
              <a:t>stock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56401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Stock Purchase:  Target becomes Subsidiary of Acquiring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30829" y="3401464"/>
            <a:ext cx="2789919" cy="381000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1047395" y="2743200"/>
            <a:ext cx="2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08701"/>
            <a:ext cx="0" cy="41549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former T</a:t>
            </a:r>
          </a:p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 smtClean="0"/>
              <a:t>C</a:t>
            </a:r>
          </a:p>
          <a:p>
            <a:pPr algn="ctr">
              <a:defRPr/>
            </a:pPr>
            <a:r>
              <a:rPr lang="en-US" sz="1600" b="1" dirty="0" smtClean="0"/>
              <a:t>$$$</a:t>
            </a:r>
            <a:endParaRPr lang="en-US" sz="1600" b="1" dirty="0"/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former T</a:t>
            </a:r>
          </a:p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 smtClean="0"/>
              <a:t>D</a:t>
            </a:r>
          </a:p>
          <a:p>
            <a:pPr algn="ctr">
              <a:defRPr/>
            </a:pPr>
            <a:r>
              <a:rPr lang="en-US" sz="1600" b="1" dirty="0" smtClean="0"/>
              <a:t>$$$</a:t>
            </a:r>
            <a:endParaRPr lang="en-US" sz="1600" b="1" dirty="0"/>
          </a:p>
        </p:txBody>
      </p:sp>
      <p:sp>
        <p:nvSpPr>
          <p:cNvPr id="29" name="Rectangle 28"/>
          <p:cNvSpPr/>
          <p:nvPr/>
        </p:nvSpPr>
        <p:spPr>
          <a:xfrm>
            <a:off x="1734885" y="5334000"/>
            <a:ext cx="5140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Step #2: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Target becomes subsidiary of Acquiring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0653" y="2708701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570206" y="4343399"/>
            <a:ext cx="2750542" cy="457200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Target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1877229" y="3864508"/>
            <a:ext cx="0" cy="41549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34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Share Exchange:  Acquiring buys Target with its stock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4038598"/>
            <a:ext cx="2614047" cy="43656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6161" name="Line 23"/>
          <p:cNvSpPr>
            <a:spLocks noChangeShapeType="1"/>
          </p:cNvSpPr>
          <p:nvPr/>
        </p:nvSpPr>
        <p:spPr bwMode="auto">
          <a:xfrm flipH="1">
            <a:off x="6123649" y="2667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7756374" y="2667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C</a:t>
            </a:r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0" y="3076546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29" name="Rectangle 28"/>
          <p:cNvSpPr/>
          <p:nvPr/>
        </p:nvSpPr>
        <p:spPr>
          <a:xfrm>
            <a:off x="1717171" y="4800600"/>
            <a:ext cx="51408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Step #1: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Board and shareholder approval of Target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Board (and maybe shareholder) approval of Acquiring</a:t>
            </a:r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562600" y="4038599"/>
            <a:ext cx="2743200" cy="43656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Target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371600" y="309119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1907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Share Exchange:  Acquiring buys Target with its stock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4038598"/>
            <a:ext cx="2614047" cy="43656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C</a:t>
            </a:r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81400" y="2583668"/>
            <a:ext cx="9144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shares of Acquiring</a:t>
            </a:r>
            <a:endParaRPr lang="en-US" sz="1400" b="1" dirty="0"/>
          </a:p>
        </p:txBody>
      </p:sp>
      <p:sp>
        <p:nvSpPr>
          <p:cNvPr id="29" name="Rectangle 28"/>
          <p:cNvSpPr/>
          <p:nvPr/>
        </p:nvSpPr>
        <p:spPr>
          <a:xfrm>
            <a:off x="762000" y="4800600"/>
            <a:ext cx="71627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Step #2: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>
                <a:solidFill>
                  <a:prstClr val="black"/>
                </a:solidFill>
              </a:rPr>
              <a:t>Shareholders of Target exchange their shares of Target for shares of </a:t>
            </a:r>
            <a:r>
              <a:rPr lang="en-US" sz="1600" b="1" dirty="0" smtClean="0">
                <a:solidFill>
                  <a:prstClr val="black"/>
                </a:solidFill>
              </a:rPr>
              <a:t>Acquiring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Acquiring owns Target shares</a:t>
            </a:r>
          </a:p>
          <a:p>
            <a:pPr marL="285750" lvl="0" indent="-285750" algn="ctr">
              <a:buFont typeface="Wingdings" pitchFamily="2" charset="2"/>
              <a:buChar char="§"/>
            </a:pPr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562600" y="4038599"/>
            <a:ext cx="2743200" cy="43656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Target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371600" y="309119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V="1">
            <a:off x="3419569" y="2438400"/>
            <a:ext cx="1905000" cy="137160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 flipH="1">
            <a:off x="3505200" y="2583669"/>
            <a:ext cx="1921026" cy="138022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648200" y="3240583"/>
            <a:ext cx="9144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shares of Target</a:t>
            </a:r>
            <a:endParaRPr lang="en-US" sz="1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00800" y="312420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42632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Stock Exchange:  Acquiring buys Target with its stock 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4038598"/>
            <a:ext cx="2614047" cy="43656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C</a:t>
            </a:r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20749" y="4800600"/>
            <a:ext cx="56708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Step #3:</a:t>
            </a:r>
          </a:p>
          <a:p>
            <a:pPr marL="28575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former shareholders </a:t>
            </a:r>
            <a:r>
              <a:rPr lang="en-US" sz="1600" b="1" dirty="0">
                <a:solidFill>
                  <a:prstClr val="black"/>
                </a:solidFill>
              </a:rPr>
              <a:t>of Target </a:t>
            </a:r>
            <a:r>
              <a:rPr lang="en-US" sz="1600" b="1" dirty="0" smtClean="0">
                <a:solidFill>
                  <a:prstClr val="black"/>
                </a:solidFill>
              </a:rPr>
              <a:t>now own </a:t>
            </a:r>
            <a:r>
              <a:rPr lang="en-US" sz="1600" b="1" dirty="0">
                <a:solidFill>
                  <a:prstClr val="black"/>
                </a:solidFill>
              </a:rPr>
              <a:t>shares of Acquiring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Target becomes subsidiary of Acquiring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09119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H="1">
            <a:off x="3581398" y="2743200"/>
            <a:ext cx="1905001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 flipH="1">
            <a:off x="4648199" y="2743200"/>
            <a:ext cx="2895599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570206" y="5216097"/>
            <a:ext cx="2614047" cy="57510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Target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1877229" y="4648200"/>
            <a:ext cx="0" cy="4572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193774" y="4765181"/>
            <a:ext cx="778026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01387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Corporate Merger:  Target into Acquiring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4038598"/>
            <a:ext cx="2614047" cy="43656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6161" name="Line 23"/>
          <p:cNvSpPr>
            <a:spLocks noChangeShapeType="1"/>
          </p:cNvSpPr>
          <p:nvPr/>
        </p:nvSpPr>
        <p:spPr bwMode="auto">
          <a:xfrm flipH="1">
            <a:off x="6123649" y="2667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7756374" y="2667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C</a:t>
            </a:r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0" y="3076546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29" name="Rectangle 28"/>
          <p:cNvSpPr/>
          <p:nvPr/>
        </p:nvSpPr>
        <p:spPr>
          <a:xfrm>
            <a:off x="1717171" y="4800600"/>
            <a:ext cx="51408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Step #1: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Board and shareholder approval of Target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Board (and maybe shareholder) approval of Acquiring</a:t>
            </a:r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562600" y="4038599"/>
            <a:ext cx="2743200" cy="43656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Target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371600" y="309119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2039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Corporate Merger:  Target into Acquiring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4038598"/>
            <a:ext cx="2614047" cy="43656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C</a:t>
            </a:r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81400" y="2816423"/>
            <a:ext cx="9144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$$$</a:t>
            </a:r>
            <a:endParaRPr lang="en-US" sz="1400" b="1" dirty="0"/>
          </a:p>
        </p:txBody>
      </p:sp>
      <p:sp>
        <p:nvSpPr>
          <p:cNvPr id="29" name="Rectangle 28"/>
          <p:cNvSpPr/>
          <p:nvPr/>
        </p:nvSpPr>
        <p:spPr>
          <a:xfrm>
            <a:off x="1717171" y="4800600"/>
            <a:ext cx="51408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Step #2: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Target merges into Acquiring under Corp. statute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Shareholders of Target get cash for shares of Target</a:t>
            </a:r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562600" y="4038599"/>
            <a:ext cx="2743200" cy="43656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Target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371600" y="309119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 flipH="1">
            <a:off x="3429000" y="4256878"/>
            <a:ext cx="1752600" cy="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V="1">
            <a:off x="3419569" y="2438400"/>
            <a:ext cx="1905000" cy="137160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733800" y="3810002"/>
            <a:ext cx="129539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assets &amp; debts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28318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Corporate Merger:  Target into Acquiring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4038598"/>
            <a:ext cx="2614047" cy="106680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corp.: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owns assets &amp; debts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of Target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former T</a:t>
            </a:r>
          </a:p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 smtClean="0"/>
              <a:t>C</a:t>
            </a:r>
          </a:p>
          <a:p>
            <a:pPr algn="ctr">
              <a:defRPr/>
            </a:pPr>
            <a:r>
              <a:rPr lang="en-US" sz="1600" b="1" dirty="0" smtClean="0"/>
              <a:t>$$$</a:t>
            </a:r>
            <a:endParaRPr lang="en-US" sz="1600" b="1" dirty="0"/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former T</a:t>
            </a:r>
          </a:p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D</a:t>
            </a:r>
            <a:endParaRPr lang="en-US" sz="1600" b="1" dirty="0" smtClean="0"/>
          </a:p>
          <a:p>
            <a:pPr algn="ctr">
              <a:defRPr/>
            </a:pPr>
            <a:r>
              <a:rPr lang="en-US" sz="1600" b="1" dirty="0" smtClean="0"/>
              <a:t>$$$</a:t>
            </a:r>
            <a:endParaRPr lang="en-US" sz="1600" b="1" dirty="0"/>
          </a:p>
        </p:txBody>
      </p:sp>
      <p:sp>
        <p:nvSpPr>
          <p:cNvPr id="29" name="Rectangle 28"/>
          <p:cNvSpPr/>
          <p:nvPr/>
        </p:nvSpPr>
        <p:spPr>
          <a:xfrm>
            <a:off x="1699456" y="5105400"/>
            <a:ext cx="56742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Step #3: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shareholders of Target cashed out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Acquiring takes assets &amp; debts (and tax attributes) of Target</a:t>
            </a:r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1600" y="309119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28318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Corporate Merger:  Target into Acquisition Subsidiary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3352800"/>
            <a:ext cx="2614047" cy="511708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1047395" y="2743200"/>
            <a:ext cx="2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08701"/>
            <a:ext cx="0" cy="41549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C</a:t>
            </a:r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81400" y="2816423"/>
            <a:ext cx="9144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$$$</a:t>
            </a:r>
            <a:endParaRPr lang="en-US" sz="1400" b="1" dirty="0"/>
          </a:p>
        </p:txBody>
      </p:sp>
      <p:sp>
        <p:nvSpPr>
          <p:cNvPr id="29" name="Rectangle 28"/>
          <p:cNvSpPr/>
          <p:nvPr/>
        </p:nvSpPr>
        <p:spPr>
          <a:xfrm>
            <a:off x="1734885" y="5334000"/>
            <a:ext cx="51408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Alternate Step #2: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Target merges into Newco acquisition sub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Shareholders of Target get cash for shares of Target</a:t>
            </a:r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562600" y="4343399"/>
            <a:ext cx="2743200" cy="60960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Target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380653" y="2708701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 flipH="1">
            <a:off x="3500483" y="4649949"/>
            <a:ext cx="1752600" cy="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V="1">
            <a:off x="3428999" y="2438399"/>
            <a:ext cx="1895569" cy="160019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729083" y="4280007"/>
            <a:ext cx="129539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assets &amp; debts</a:t>
            </a:r>
            <a:endParaRPr lang="en-US" sz="1400" b="1" dirty="0"/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570206" y="4343399"/>
            <a:ext cx="2614047" cy="60960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Newco:  acquisition sub.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1877229" y="3962400"/>
            <a:ext cx="0" cy="317607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45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Corporate Merger:  Target into Acquisition Subsidiary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30829" y="3401463"/>
            <a:ext cx="2789919" cy="67079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Acquiring corp.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1047395" y="2743200"/>
            <a:ext cx="2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08701"/>
            <a:ext cx="0" cy="41549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5426226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former T</a:t>
            </a:r>
          </a:p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C</a:t>
            </a:r>
            <a:endParaRPr lang="en-US" sz="1600" b="1" dirty="0" smtClean="0"/>
          </a:p>
          <a:p>
            <a:pPr algn="ctr">
              <a:defRPr/>
            </a:pPr>
            <a:r>
              <a:rPr lang="en-US" sz="1600" b="1" dirty="0" smtClean="0"/>
              <a:t>$$$</a:t>
            </a:r>
            <a:endParaRPr lang="en-US" sz="1600" b="1" dirty="0"/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7086600" y="115989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former T</a:t>
            </a:r>
          </a:p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D</a:t>
            </a:r>
            <a:endParaRPr lang="en-US" sz="1600" b="1" dirty="0" smtClean="0"/>
          </a:p>
          <a:p>
            <a:pPr algn="ctr">
              <a:defRPr/>
            </a:pPr>
            <a:r>
              <a:rPr lang="en-US" sz="1600" b="1" dirty="0" smtClean="0"/>
              <a:t>$$$</a:t>
            </a:r>
            <a:endParaRPr lang="en-US" sz="1600" b="1" dirty="0"/>
          </a:p>
        </p:txBody>
      </p:sp>
      <p:sp>
        <p:nvSpPr>
          <p:cNvPr id="29" name="Rectangle 28"/>
          <p:cNvSpPr/>
          <p:nvPr/>
        </p:nvSpPr>
        <p:spPr>
          <a:xfrm>
            <a:off x="1734885" y="5334000"/>
            <a:ext cx="51408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Alternate Step #3: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Newco acquisition Sub owns assets of Target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old shareholders of Target cashed out</a:t>
            </a:r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80653" y="2708701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570206" y="4572000"/>
            <a:ext cx="2750542" cy="685799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Newco:  acquisition sub.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owns assets &amp; debts of Target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1877229" y="4114801"/>
            <a:ext cx="0" cy="4572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Statutory Merger (“short-form” merger)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4038598"/>
            <a:ext cx="2614047" cy="53340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Parent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  <a:endParaRPr lang="en-US" sz="1600" b="1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  <a:endParaRPr lang="en-US" sz="1600" b="1" dirty="0"/>
          </a:p>
        </p:txBody>
      </p:sp>
      <p:sp>
        <p:nvSpPr>
          <p:cNvPr id="29" name="Rectangle 28"/>
          <p:cNvSpPr/>
          <p:nvPr/>
        </p:nvSpPr>
        <p:spPr>
          <a:xfrm>
            <a:off x="3810000" y="2226243"/>
            <a:ext cx="514082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 smtClean="0">
                <a:solidFill>
                  <a:prstClr val="black"/>
                </a:solidFill>
              </a:rPr>
              <a:t>Step #1:</a:t>
            </a:r>
          </a:p>
          <a:p>
            <a:pPr marL="28575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Parent own 90% or more of Subsidiary</a:t>
            </a:r>
            <a:endParaRPr lang="en-US" sz="1600" b="1" dirty="0">
              <a:solidFill>
                <a:prstClr val="black"/>
              </a:solidFill>
            </a:endParaRP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Board of parent approves merger of Sub into Parent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approval of Board &amp; Shareholders of Sub </a:t>
            </a:r>
            <a:r>
              <a:rPr lang="en-US" sz="1600" b="1" u="sng" dirty="0" smtClean="0">
                <a:solidFill>
                  <a:prstClr val="black"/>
                </a:solidFill>
              </a:rPr>
              <a:t>not</a:t>
            </a:r>
            <a:r>
              <a:rPr lang="en-US" sz="1600" b="1" dirty="0" smtClean="0">
                <a:solidFill>
                  <a:prstClr val="black"/>
                </a:solidFill>
              </a:rPr>
              <a:t> required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minority shareholders cashed out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have (dissenters’) appraisal rights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4353" y="4058704"/>
            <a:ext cx="94156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570205" y="5233344"/>
            <a:ext cx="2614047" cy="57510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subsidiary</a:t>
            </a:r>
            <a:endParaRPr lang="en-US" dirty="0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1877229" y="4648200"/>
            <a:ext cx="0" cy="4572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581400" y="5329093"/>
            <a:ext cx="94156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039096" y="477727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90% or &gt;</a:t>
            </a:r>
            <a:endParaRPr lang="en-US" sz="1400" b="1" dirty="0"/>
          </a:p>
        </p:txBody>
      </p:sp>
      <p:sp>
        <p:nvSpPr>
          <p:cNvPr id="14" name="Oval 14"/>
          <p:cNvSpPr>
            <a:spLocks noChangeArrowheads="1"/>
          </p:cNvSpPr>
          <p:nvPr/>
        </p:nvSpPr>
        <p:spPr bwMode="auto">
          <a:xfrm>
            <a:off x="5791200" y="4246914"/>
            <a:ext cx="801733" cy="802572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200" b="1" dirty="0" smtClean="0"/>
              <a:t>minority</a:t>
            </a:r>
          </a:p>
          <a:p>
            <a:pPr algn="ctr">
              <a:defRPr/>
            </a:pPr>
            <a:r>
              <a:rPr lang="en-US" sz="1200" b="1" dirty="0" smtClean="0"/>
              <a:t>shareholders</a:t>
            </a:r>
            <a:endParaRPr lang="en-US" sz="1200" b="1" dirty="0"/>
          </a:p>
        </p:txBody>
      </p:sp>
      <p:sp>
        <p:nvSpPr>
          <p:cNvPr id="15" name="Line 23"/>
          <p:cNvSpPr>
            <a:spLocks noChangeShapeType="1"/>
          </p:cNvSpPr>
          <p:nvPr/>
        </p:nvSpPr>
        <p:spPr bwMode="auto">
          <a:xfrm flipH="1">
            <a:off x="3320748" y="4897085"/>
            <a:ext cx="2175255" cy="30480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105400" y="4929672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10% or less</a:t>
            </a:r>
            <a:endParaRPr lang="en-US" sz="1400" b="1" dirty="0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H="1">
            <a:off x="3236431" y="4292171"/>
            <a:ext cx="244346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9" name="Line 23"/>
          <p:cNvSpPr>
            <a:spLocks noChangeShapeType="1"/>
          </p:cNvSpPr>
          <p:nvPr/>
        </p:nvSpPr>
        <p:spPr bwMode="auto">
          <a:xfrm flipH="1">
            <a:off x="3236431" y="5520893"/>
            <a:ext cx="244346" cy="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" name="Line 23"/>
          <p:cNvSpPr>
            <a:spLocks noChangeShapeType="1"/>
          </p:cNvSpPr>
          <p:nvPr/>
        </p:nvSpPr>
        <p:spPr bwMode="auto">
          <a:xfrm flipV="1">
            <a:off x="3339413" y="4648200"/>
            <a:ext cx="2070785" cy="28296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138589" y="4275089"/>
            <a:ext cx="456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$$$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3258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Statutory Merger (“short-form” merger)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4038598"/>
            <a:ext cx="2614047" cy="53340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Parent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  <a:endParaRPr lang="en-US" sz="1600" b="1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  <a:endParaRPr lang="en-US" sz="1600" b="1" dirty="0"/>
          </a:p>
        </p:txBody>
      </p:sp>
      <p:sp>
        <p:nvSpPr>
          <p:cNvPr id="29" name="Rectangle 28"/>
          <p:cNvSpPr/>
          <p:nvPr/>
        </p:nvSpPr>
        <p:spPr>
          <a:xfrm>
            <a:off x="3810000" y="2226243"/>
            <a:ext cx="51408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 smtClean="0">
                <a:solidFill>
                  <a:prstClr val="black"/>
                </a:solidFill>
              </a:rPr>
              <a:t>Step #2:</a:t>
            </a:r>
          </a:p>
          <a:p>
            <a:pPr marL="28575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Sub merged into Parent</a:t>
            </a:r>
            <a:endParaRPr lang="en-US" sz="1600" b="1" dirty="0">
              <a:solidFill>
                <a:prstClr val="black"/>
              </a:solidFill>
            </a:endParaRP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Parent acquires assets and debts of former Sub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1400" y="4048780"/>
            <a:ext cx="94156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570205" y="5233344"/>
            <a:ext cx="2614047" cy="575103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subsidiary</a:t>
            </a:r>
            <a:endParaRPr lang="en-US" dirty="0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 flipV="1">
            <a:off x="1981200" y="4701766"/>
            <a:ext cx="0" cy="479834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4757017"/>
            <a:ext cx="1925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sub merged into parent</a:t>
            </a:r>
            <a:endParaRPr lang="en-US" sz="1400" b="1" dirty="0"/>
          </a:p>
        </p:txBody>
      </p:sp>
      <p:sp>
        <p:nvSpPr>
          <p:cNvPr id="13" name="Oval 14"/>
          <p:cNvSpPr>
            <a:spLocks noChangeArrowheads="1"/>
          </p:cNvSpPr>
          <p:nvPr/>
        </p:nvSpPr>
        <p:spPr bwMode="auto">
          <a:xfrm>
            <a:off x="5715000" y="4093704"/>
            <a:ext cx="914400" cy="885731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200" b="1" dirty="0" smtClean="0"/>
              <a:t>former</a:t>
            </a:r>
          </a:p>
          <a:p>
            <a:pPr algn="ctr">
              <a:defRPr/>
            </a:pPr>
            <a:r>
              <a:rPr lang="en-US" sz="1200" b="1" dirty="0" smtClean="0"/>
              <a:t>shareholders</a:t>
            </a:r>
          </a:p>
          <a:p>
            <a:pPr algn="ctr">
              <a:defRPr/>
            </a:pPr>
            <a:r>
              <a:rPr lang="en-US" sz="1200" b="1" dirty="0" smtClean="0"/>
              <a:t>$$$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2869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Statutory Merger (“short-form” merger)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70206" y="4038598"/>
            <a:ext cx="2614047" cy="129540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Parent: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with assets &amp; debts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of former Sub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377623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  <a:endParaRPr lang="en-US" sz="1600" b="1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047395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650974" y="2743200"/>
            <a:ext cx="0" cy="106680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19812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  <a:endParaRPr lang="en-US" sz="1600" b="1" dirty="0"/>
          </a:p>
        </p:txBody>
      </p:sp>
      <p:sp>
        <p:nvSpPr>
          <p:cNvPr id="29" name="Rectangle 28"/>
          <p:cNvSpPr/>
          <p:nvPr/>
        </p:nvSpPr>
        <p:spPr>
          <a:xfrm>
            <a:off x="3810000" y="2226243"/>
            <a:ext cx="5140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 smtClean="0">
                <a:solidFill>
                  <a:prstClr val="black"/>
                </a:solidFill>
              </a:rPr>
              <a:t>Step #3: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Parent owns assets and debts of former Sub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1400" y="4048780"/>
            <a:ext cx="94156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68699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Consolidation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381001" y="3390148"/>
            <a:ext cx="2590800" cy="87705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1066800" y="1058175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shareholders</a:t>
            </a:r>
            <a:endParaRPr lang="en-US" sz="1600" b="1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1778673" y="2618010"/>
            <a:ext cx="2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6902714" y="2725950"/>
            <a:ext cx="0" cy="41549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6172200" y="1076480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shareholders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406348" y="2455244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507755" y="3390148"/>
            <a:ext cx="2874245" cy="87705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Corporation 2:</a:t>
            </a: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B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3188" y="3528726"/>
            <a:ext cx="30972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Corporation 1</a:t>
            </a: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A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09193" y="246434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4280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Consolidation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381001" y="3390148"/>
            <a:ext cx="2590800" cy="80085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1066800" y="1058175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shareholders</a:t>
            </a:r>
            <a:endParaRPr lang="en-US" sz="1600" b="1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1778673" y="2618010"/>
            <a:ext cx="2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6902714" y="2725950"/>
            <a:ext cx="0" cy="41549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6172200" y="1076480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shareholders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406348" y="2455244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507755" y="3390148"/>
            <a:ext cx="2645645" cy="80085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Corporation 2:</a:t>
            </a: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B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3188" y="3528726"/>
            <a:ext cx="30972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Corporation 1</a:t>
            </a: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A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09193" y="246434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877925" y="4923142"/>
            <a:ext cx="2789919" cy="118185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New Corporation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6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Consolidation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381001" y="3390148"/>
            <a:ext cx="2667000" cy="871449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1066800" y="1058175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shareholders</a:t>
            </a:r>
            <a:endParaRPr lang="en-US" sz="1600" b="1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1778673" y="2618010"/>
            <a:ext cx="2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6902714" y="2725950"/>
            <a:ext cx="0" cy="41549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6172200" y="1076480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shareholders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406348" y="2455244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507754" y="3390148"/>
            <a:ext cx="2798045" cy="846464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Corporation 2:</a:t>
            </a:r>
          </a:p>
          <a:p>
            <a:pPr algn="ctr">
              <a:defRPr/>
            </a:pPr>
            <a:r>
              <a:rPr lang="en-US" sz="2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businessB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3188" y="3528726"/>
            <a:ext cx="30972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Corporation 1:</a:t>
            </a: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A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09193" y="246434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877925" y="4923142"/>
            <a:ext cx="2789919" cy="118185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New Corporation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13" name="Line 23"/>
          <p:cNvSpPr>
            <a:spLocks noChangeShapeType="1"/>
          </p:cNvSpPr>
          <p:nvPr/>
        </p:nvSpPr>
        <p:spPr bwMode="auto">
          <a:xfrm>
            <a:off x="2514600" y="4261597"/>
            <a:ext cx="363327" cy="40800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 flipH="1">
            <a:off x="5533211" y="4343400"/>
            <a:ext cx="486589" cy="358244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491948" y="4615365"/>
            <a:ext cx="9144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merger</a:t>
            </a:r>
            <a:endParaRPr lang="en-US" sz="1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004790" y="4618628"/>
            <a:ext cx="9144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merger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1727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Consolidation</a:t>
            </a:r>
            <a:endParaRPr lang="en-US" sz="2400" b="1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1066800" y="1058175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shareholders</a:t>
            </a:r>
            <a:endParaRPr lang="en-US" sz="1600" b="1" dirty="0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1937485" y="2725950"/>
            <a:ext cx="940440" cy="18460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 flipH="1">
            <a:off x="5533211" y="2779810"/>
            <a:ext cx="1248589" cy="179219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6172200" y="1076480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shareholders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3733800" y="4020086"/>
            <a:ext cx="990599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877925" y="4923142"/>
            <a:ext cx="2789919" cy="118185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New Corporation:</a:t>
            </a: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A</a:t>
            </a: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B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00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Divisive Reorganization:  Spin-Off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3048000" y="3733800"/>
            <a:ext cx="2789919" cy="118185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Corporation:</a:t>
            </a:r>
          </a:p>
          <a:p>
            <a:pPr algn="ctr">
              <a:defRPr/>
            </a:pPr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X</a:t>
            </a:r>
          </a:p>
          <a:p>
            <a:pPr algn="ctr">
              <a:defRPr/>
            </a:pPr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Y</a:t>
            </a: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2607245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3276600" y="2797060"/>
            <a:ext cx="6665" cy="55574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5486400" y="2797060"/>
            <a:ext cx="0" cy="55574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48006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5253" y="2725950"/>
            <a:ext cx="914400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Board of Directors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2476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Divisive Reorganization:  Spin-Off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3048000" y="3178060"/>
            <a:ext cx="2789919" cy="708140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Corporation:</a:t>
            </a:r>
          </a:p>
          <a:p>
            <a:pPr algn="ctr"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</a:t>
            </a:r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X</a:t>
            </a: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lvl="1">
              <a:defRPr/>
            </a:pPr>
            <a:r>
              <a:rPr lang="en-US" dirty="0" smtClean="0"/>
              <a:t>100%</a:t>
            </a: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2607245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3277019" y="2690167"/>
            <a:ext cx="2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5470374" y="2655668"/>
            <a:ext cx="0" cy="41549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48006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2038" y="5334000"/>
            <a:ext cx="5140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Step #1: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drop business Y into new subsidiary</a:t>
            </a:r>
          </a:p>
        </p:txBody>
      </p:sp>
      <p:sp>
        <p:nvSpPr>
          <p:cNvPr id="10" name="Line 23"/>
          <p:cNvSpPr>
            <a:spLocks noChangeShapeType="1"/>
          </p:cNvSpPr>
          <p:nvPr/>
        </p:nvSpPr>
        <p:spPr bwMode="auto">
          <a:xfrm>
            <a:off x="4495800" y="4038599"/>
            <a:ext cx="0" cy="48789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505200" y="4704669"/>
            <a:ext cx="1905000" cy="555279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Newco:</a:t>
            </a:r>
          </a:p>
          <a:p>
            <a:pPr algn="ctr">
              <a:defRPr/>
            </a:pPr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Y</a:t>
            </a: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Divisive Reorganization:  Spin-Off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3048000" y="3178060"/>
            <a:ext cx="2789919" cy="708140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Corporation:</a:t>
            </a:r>
          </a:p>
          <a:p>
            <a:pPr algn="ctr"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</a:t>
            </a:r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X</a:t>
            </a: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lvl="1">
              <a:defRPr/>
            </a:pPr>
            <a:r>
              <a:rPr lang="en-US" dirty="0" smtClean="0"/>
              <a:t>100%</a:t>
            </a: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2607245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276600" y="2655669"/>
            <a:ext cx="0" cy="36999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 flipH="1" flipV="1">
            <a:off x="5410200" y="2700591"/>
            <a:ext cx="0" cy="32506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48006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2038" y="5334000"/>
            <a:ext cx="51408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Step #2: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distribute </a:t>
            </a:r>
            <a:r>
              <a:rPr lang="en-US" sz="1600" b="1" dirty="0">
                <a:solidFill>
                  <a:prstClr val="black"/>
                </a:solidFill>
              </a:rPr>
              <a:t>shares of Newco to</a:t>
            </a:r>
          </a:p>
          <a:p>
            <a:pPr lvl="0" algn="ctr"/>
            <a:r>
              <a:rPr lang="en-US" sz="1600" b="1" dirty="0">
                <a:solidFill>
                  <a:prstClr val="black"/>
                </a:solidFill>
              </a:rPr>
              <a:t>shareholders of </a:t>
            </a:r>
            <a:r>
              <a:rPr lang="en-US" sz="1600" b="1" dirty="0" smtClean="0">
                <a:solidFill>
                  <a:prstClr val="black"/>
                </a:solidFill>
              </a:rPr>
              <a:t>Corporation</a:t>
            </a:r>
          </a:p>
        </p:txBody>
      </p:sp>
      <p:sp>
        <p:nvSpPr>
          <p:cNvPr id="10" name="Line 23"/>
          <p:cNvSpPr>
            <a:spLocks noChangeShapeType="1"/>
          </p:cNvSpPr>
          <p:nvPr/>
        </p:nvSpPr>
        <p:spPr bwMode="auto">
          <a:xfrm>
            <a:off x="4495800" y="4038599"/>
            <a:ext cx="0" cy="48789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505200" y="4704669"/>
            <a:ext cx="1905000" cy="555279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Newco:</a:t>
            </a:r>
          </a:p>
          <a:p>
            <a:pPr algn="ctr">
              <a:defRPr/>
            </a:pPr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Y</a:t>
            </a: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505200" y="2565752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distribute </a:t>
            </a:r>
          </a:p>
          <a:p>
            <a:pPr algn="ctr"/>
            <a:r>
              <a:rPr lang="en-US" sz="1400" b="1" dirty="0" smtClean="0"/>
              <a:t>shares of Newco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2883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Divisive Reorganization:  Spin-Off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609600" y="3756965"/>
            <a:ext cx="2285999" cy="788517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Corporation:</a:t>
            </a:r>
          </a:p>
          <a:p>
            <a:pPr algn="ctr">
              <a:defRPr/>
            </a:pPr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X</a:t>
            </a: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2607245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809645" y="2663237"/>
            <a:ext cx="991019" cy="769526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 flipH="1">
            <a:off x="3124200" y="2661002"/>
            <a:ext cx="1257508" cy="771761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48006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2038" y="5334000"/>
            <a:ext cx="5140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Step #3: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A and B own shares of both Corporation and Newco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484051" y="3756966"/>
            <a:ext cx="2683026" cy="788517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Newco:</a:t>
            </a:r>
          </a:p>
          <a:p>
            <a:pPr algn="ctr">
              <a:defRPr/>
            </a:pPr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Y</a:t>
            </a:r>
          </a:p>
          <a:p>
            <a:pPr algn="ctr">
              <a:defRPr/>
            </a:pPr>
            <a:endParaRPr lang="en-US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13" name="Line 23"/>
          <p:cNvSpPr>
            <a:spLocks noChangeShapeType="1"/>
          </p:cNvSpPr>
          <p:nvPr/>
        </p:nvSpPr>
        <p:spPr bwMode="auto">
          <a:xfrm>
            <a:off x="3810000" y="2663237"/>
            <a:ext cx="1523999" cy="769526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>
            <a:off x="6019800" y="2661002"/>
            <a:ext cx="903067" cy="76952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54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Divisive Reorganization:  Split Off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609600" y="3756965"/>
            <a:ext cx="2285999" cy="788517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Corporation:</a:t>
            </a:r>
          </a:p>
          <a:p>
            <a:pPr algn="ctr">
              <a:defRPr/>
            </a:pPr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X</a:t>
            </a: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1082825" y="1088438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A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295400" y="2786476"/>
            <a:ext cx="209" cy="592366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 flipH="1">
            <a:off x="2209800" y="2786476"/>
            <a:ext cx="0" cy="592366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6155790" y="1213201"/>
            <a:ext cx="1339548" cy="1318567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  <a:p>
            <a:pPr algn="ctr">
              <a:defRPr/>
            </a:pPr>
            <a:r>
              <a:rPr lang="en-US" sz="1600" b="1" dirty="0"/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0" y="5334000"/>
            <a:ext cx="57617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>
                <a:solidFill>
                  <a:prstClr val="black"/>
                </a:solidFill>
              </a:rPr>
              <a:t>f</a:t>
            </a:r>
            <a:r>
              <a:rPr lang="en-US" sz="1600" b="1" dirty="0" smtClean="0">
                <a:solidFill>
                  <a:prstClr val="black"/>
                </a:solidFill>
              </a:rPr>
              <a:t>inal result: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A </a:t>
            </a:r>
            <a:r>
              <a:rPr lang="en-US" sz="1600" b="1" dirty="0" smtClean="0">
                <a:solidFill>
                  <a:prstClr val="black"/>
                </a:solidFill>
              </a:rPr>
              <a:t>owns Corporation;  </a:t>
            </a:r>
            <a:r>
              <a:rPr lang="en-US" sz="1600" b="1" dirty="0" smtClean="0">
                <a:solidFill>
                  <a:prstClr val="black"/>
                </a:solidFill>
              </a:rPr>
              <a:t>B </a:t>
            </a:r>
            <a:r>
              <a:rPr lang="en-US" sz="1600" b="1" dirty="0" smtClean="0">
                <a:solidFill>
                  <a:prstClr val="black"/>
                </a:solidFill>
              </a:rPr>
              <a:t>owns Newco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484051" y="3756966"/>
            <a:ext cx="2683026" cy="788517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Newco:</a:t>
            </a:r>
          </a:p>
          <a:p>
            <a:pPr algn="ctr">
              <a:defRPr/>
            </a:pPr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Business Y</a:t>
            </a:r>
          </a:p>
          <a:p>
            <a:pPr algn="ctr">
              <a:defRPr/>
            </a:pPr>
            <a:endParaRPr lang="en-US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13" name="Line 23"/>
          <p:cNvSpPr>
            <a:spLocks noChangeShapeType="1"/>
          </p:cNvSpPr>
          <p:nvPr/>
        </p:nvSpPr>
        <p:spPr bwMode="auto">
          <a:xfrm>
            <a:off x="6477000" y="2786476"/>
            <a:ext cx="0" cy="62753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>
            <a:off x="7086600" y="2786476"/>
            <a:ext cx="13677" cy="62753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94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0021"/>
                </a:solidFill>
              </a:rPr>
              <a:t>Foreign Corporation with U.S. Subsidiary</a:t>
            </a:r>
            <a:endParaRPr lang="en-US" sz="2400" b="1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3048000" y="3390148"/>
            <a:ext cx="2789919" cy="572252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</a:p>
          <a:p>
            <a:pPr algn="ctr">
              <a:defRPr/>
            </a:pP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Foreign Corporation</a:t>
            </a:r>
            <a:endParaRPr lang="en-US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r>
              <a:rPr lang="en-US" sz="1400" b="1" dirty="0"/>
              <a:t> </a:t>
            </a:r>
            <a:r>
              <a:rPr lang="en-US" sz="1400" b="1" dirty="0" smtClean="0"/>
              <a:t>                 100%</a:t>
            </a:r>
            <a:endParaRPr lang="en-US" sz="1400" b="1" dirty="0"/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2607245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3283267" y="2761140"/>
            <a:ext cx="0" cy="51545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5477736" y="2761140"/>
            <a:ext cx="0" cy="51545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48006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2038" y="5334000"/>
            <a:ext cx="5140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parent is foreign corporation</a:t>
            </a:r>
          </a:p>
          <a:p>
            <a:pPr marL="285750" lvl="0" indent="-285750" algn="ctr">
              <a:buFont typeface="Wingdings" pitchFamily="2" charset="2"/>
              <a:buChar char="§"/>
            </a:pPr>
            <a:r>
              <a:rPr lang="en-US" sz="1600" b="1" dirty="0" smtClean="0">
                <a:solidFill>
                  <a:prstClr val="black"/>
                </a:solidFill>
              </a:rPr>
              <a:t>subsidiary operates business in U.S.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048000" y="4632633"/>
            <a:ext cx="2789919" cy="431066"/>
          </a:xfrm>
          <a:prstGeom prst="rect">
            <a:avLst/>
          </a:prstGeom>
          <a:solidFill>
            <a:schemeClr val="tx2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      </a:t>
            </a:r>
            <a:endParaRPr 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 algn="ctr">
              <a:defRPr/>
            </a:pPr>
            <a:r>
              <a:rPr 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rPr>
              <a:t>U.S. subsidiary</a:t>
            </a:r>
          </a:p>
          <a:p>
            <a:pPr algn="ctr">
              <a:defRPr/>
            </a:pPr>
            <a:endParaRPr lang="en-US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12" name="Line 23"/>
          <p:cNvSpPr>
            <a:spLocks noChangeShapeType="1"/>
          </p:cNvSpPr>
          <p:nvPr/>
        </p:nvSpPr>
        <p:spPr bwMode="auto">
          <a:xfrm>
            <a:off x="4442959" y="4043883"/>
            <a:ext cx="0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3" name="Oval 14"/>
          <p:cNvSpPr>
            <a:spLocks noChangeArrowheads="1"/>
          </p:cNvSpPr>
          <p:nvPr/>
        </p:nvSpPr>
        <p:spPr bwMode="auto">
          <a:xfrm>
            <a:off x="68580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</p:txBody>
      </p:sp>
      <p:sp>
        <p:nvSpPr>
          <p:cNvPr id="14" name="Oval 14"/>
          <p:cNvSpPr>
            <a:spLocks noChangeArrowheads="1"/>
          </p:cNvSpPr>
          <p:nvPr/>
        </p:nvSpPr>
        <p:spPr bwMode="auto">
          <a:xfrm>
            <a:off x="533400" y="1166167"/>
            <a:ext cx="1339548" cy="1371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hlink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 smtClean="0"/>
              <a:t>shareholder</a:t>
            </a:r>
          </a:p>
        </p:txBody>
      </p:sp>
      <p:sp>
        <p:nvSpPr>
          <p:cNvPr id="15" name="Line 23"/>
          <p:cNvSpPr>
            <a:spLocks noChangeShapeType="1"/>
          </p:cNvSpPr>
          <p:nvPr/>
        </p:nvSpPr>
        <p:spPr bwMode="auto">
          <a:xfrm>
            <a:off x="1524000" y="2762560"/>
            <a:ext cx="1219200" cy="51403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 flipH="1">
            <a:off x="6140148" y="2761140"/>
            <a:ext cx="875152" cy="515459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07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1014</Words>
  <Application>Microsoft Office PowerPoint</Application>
  <PresentationFormat>On-screen Show (4:3)</PresentationFormat>
  <Paragraphs>461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Narrow</vt:lpstr>
      <vt:lpstr>Calibri</vt:lpstr>
      <vt:lpstr>Wingdings</vt:lpstr>
      <vt:lpstr>Office Theme</vt:lpstr>
      <vt:lpstr>Asset Acquisition:  Acquiring purchases all or substantially all assets of Target</vt:lpstr>
      <vt:lpstr>Asset Acquisition:  Acquiring purchases all or substantially all assets of Target</vt:lpstr>
      <vt:lpstr>Stock Purchase:  Target becomes subsidiary of Acquiring</vt:lpstr>
      <vt:lpstr>Stock Purchase:  Target becomes Subsidiary of Acquiring</vt:lpstr>
      <vt:lpstr>Share Exchange:  Acquiring buys Target with its stock</vt:lpstr>
      <vt:lpstr>Share Exchange:  Acquiring buys Target with its stock</vt:lpstr>
      <vt:lpstr>Stock Exchange:  Acquiring buys Target with its stock </vt:lpstr>
      <vt:lpstr>Corporate Merger:  Target into Acquiring</vt:lpstr>
      <vt:lpstr>Corporate Merger:  Target into Acquiring</vt:lpstr>
      <vt:lpstr>Corporate Merger:  Target into Acquiring</vt:lpstr>
      <vt:lpstr>Corporate Merger:  Target into Acquisition Subsidiary</vt:lpstr>
      <vt:lpstr>Corporate Merger:  Target into Acquisition Subsidiary</vt:lpstr>
      <vt:lpstr>Statutory Merger (“short-form” merger)</vt:lpstr>
      <vt:lpstr>Statutory Merger (“short-form” merger)</vt:lpstr>
      <vt:lpstr>Statutory Merger (“short-form” merger)</vt:lpstr>
      <vt:lpstr>Consolidation</vt:lpstr>
      <vt:lpstr>Consolidation</vt:lpstr>
      <vt:lpstr>Consolidation</vt:lpstr>
      <vt:lpstr>Consolidation</vt:lpstr>
      <vt:lpstr>Divisive Reorganization:  Spin-Off</vt:lpstr>
      <vt:lpstr>Divisive Reorganization:  Spin-Off</vt:lpstr>
      <vt:lpstr>Divisive Reorganization:  Spin-Off</vt:lpstr>
      <vt:lpstr>Divisive Reorganization:  Spin-Off</vt:lpstr>
      <vt:lpstr>Divisive Reorganization:  Split Off</vt:lpstr>
      <vt:lpstr>Foreign Corporation with U.S. Subsidiary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Sheldon D. Pollack</dc:creator>
  <cp:lastModifiedBy>Sheldon D. Pollack</cp:lastModifiedBy>
  <cp:revision>66</cp:revision>
  <dcterms:created xsi:type="dcterms:W3CDTF">2012-02-22T15:52:20Z</dcterms:created>
  <dcterms:modified xsi:type="dcterms:W3CDTF">2016-10-10T16:00:29Z</dcterms:modified>
</cp:coreProperties>
</file>