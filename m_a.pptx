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6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E0F5D-2F2C-4155-BEA9-D4C598A3EA1C}" type="datetimeFigureOut">
              <a:rPr lang="en-US" smtClean="0"/>
              <a:t>9/14/2016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ECC44-E17E-445D-8183-AD3EB0C07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43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17E5-E689-484D-AC55-934D9959793C}" type="datetime1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67816-76F3-4C8C-8AC7-F735C532802C}" type="datetime1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5DC9D-DFC5-4108-BB76-EC66A16CFF29}" type="datetime1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AFA69-F30C-42BD-BD7F-05FD94819831}" type="datetime1">
              <a:rPr lang="en-US" smtClean="0"/>
              <a:t>9/14/2016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F08F-0BE6-4CD5-8CB6-99B081752A3C}" type="datetime1">
              <a:rPr lang="en-US" smtClean="0"/>
              <a:t>9/14/2016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F7DB5-EC62-43DE-966F-B8499EC12D55}" type="datetime1">
              <a:rPr lang="en-US" smtClean="0"/>
              <a:t>9/14/2016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9766B-F7FE-49B4-B05E-673B216CDA52}" type="datetime1">
              <a:rPr lang="en-US" smtClean="0"/>
              <a:t>9/14/2016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52B9E-CE12-4571-883D-1AEDF441272B}" type="datetime1">
              <a:rPr lang="en-US" smtClean="0"/>
              <a:t>9/14/2016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5E66-1455-4526-9179-EC766556A2C9}" type="datetime1">
              <a:rPr lang="en-US" smtClean="0"/>
              <a:t>9/14/2016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48E2D-52F7-43B3-BC8C-E9ED2A0123DD}" type="datetime1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DF24-9C07-40F2-A85A-1FE5D445E116}" type="datetime1">
              <a:rPr lang="en-US" smtClean="0"/>
              <a:t>9/14/2016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4352C7A-68CA-4E69-B539-41A995CD785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05A01A57-F65F-4698-84AB-58AFA7ED7E1F}" type="datetime1">
              <a:rPr lang="en-US" smtClean="0"/>
              <a:t>9/14/2016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1945" y="2756173"/>
            <a:ext cx="7543800" cy="1815827"/>
          </a:xfrm>
        </p:spPr>
        <p:txBody>
          <a:bodyPr/>
          <a:lstStyle/>
          <a:p>
            <a:r>
              <a:rPr lang="en-US" dirty="0" smtClean="0"/>
              <a:t>Mergers &amp; Acquisitions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7840" y="5410200"/>
            <a:ext cx="6461760" cy="1066800"/>
          </a:xfrm>
        </p:spPr>
        <p:txBody>
          <a:bodyPr>
            <a:normAutofit/>
          </a:bodyPr>
          <a:lstStyle/>
          <a:p>
            <a:r>
              <a:rPr lang="en-US" dirty="0" smtClean="0"/>
              <a:t>Presenter:	Mindy Mayo</a:t>
            </a:r>
          </a:p>
          <a:p>
            <a:r>
              <a:rPr lang="en-US" dirty="0"/>
              <a:t>	</a:t>
            </a:r>
            <a:r>
              <a:rPr lang="en-US" dirty="0" smtClean="0"/>
              <a:t>	mindy.mayo@ryan.com</a:t>
            </a:r>
            <a:endParaRPr lang="en-US" dirty="0" smtClean="0"/>
          </a:p>
        </p:txBody>
      </p:sp>
      <p:pic>
        <p:nvPicPr>
          <p:cNvPr id="1026" name="Picture 2" descr="C:\Users\RC03908\Documents\CPC2016\CPC Logo Final 201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28600"/>
            <a:ext cx="2514600" cy="252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0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0" y="1752600"/>
            <a:ext cx="8283575" cy="4702175"/>
          </a:xfrm>
        </p:spPr>
        <p:txBody>
          <a:bodyPr/>
          <a:lstStyle/>
          <a:p>
            <a:pPr marL="777240" lvl="2" indent="0">
              <a:buNone/>
              <a:defRPr/>
            </a:pPr>
            <a:r>
              <a:rPr lang="en-US" sz="4000" dirty="0" smtClean="0">
                <a:ea typeface="ＭＳ Ｐゴシック" pitchFamily="34" charset="-128"/>
              </a:rPr>
              <a:t>Agenda</a:t>
            </a:r>
          </a:p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Asset </a:t>
            </a:r>
            <a:r>
              <a:rPr lang="en-US" sz="2800" dirty="0" smtClean="0">
                <a:ea typeface="ＭＳ Ｐゴシック" pitchFamily="34" charset="-128"/>
              </a:rPr>
              <a:t>Deal</a:t>
            </a:r>
          </a:p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Stock Deal</a:t>
            </a:r>
          </a:p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“F” Reorganization</a:t>
            </a:r>
          </a:p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Statutory Merger</a:t>
            </a:r>
          </a:p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338(h)(10)</a:t>
            </a:r>
          </a:p>
          <a:p>
            <a:pPr marL="0" indent="0">
              <a:buNone/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marL="0" indent="0">
              <a:buNone/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434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228600"/>
            <a:ext cx="8283575" cy="14716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848600" cy="468153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Asset Deal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Buyer purchases the assets of a target company (partial or total)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Typically, the acquired employees will be immediately reported on the purchaser’s payroll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In the case of partial acquisitions, the target company continues to survive and report payroll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For both partial and total acquisitions there is generally a movement of employees and related assets</a:t>
            </a:r>
          </a:p>
          <a:p>
            <a:pPr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966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0" y="1773238"/>
            <a:ext cx="8283575" cy="468153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Asset Deal –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Federal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“Successor” qualification 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Carryover of YTD taxable wage bases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Tax deposit compliance/reconciliation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Payroll Systems Integration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Forms W-2 reporting (standard vs alternative)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Forms W-4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Forms 1099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Year-end notifications to IRS </a:t>
            </a:r>
          </a:p>
          <a:p>
            <a:pPr lvl="2"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250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848600" cy="468153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Asset Deal –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State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“Successor” qualification 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Carryover of YTD taxable wage bases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SUI experience transfers (optional or mandatory)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Payroll Systems Integration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State Employee Withholding Allowance Certificate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State correspondence/notification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Account closures</a:t>
            </a:r>
          </a:p>
          <a:p>
            <a:pPr lvl="2"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425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228600"/>
            <a:ext cx="8283575" cy="14716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848600" cy="468153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Stock Deal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Buyer purchases the stock of a target company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Typically, the acquired company remains “alive” and all employees will continue to be reported under the target company’s payroll id numbers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Generally no change in target company’s business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Generally no initial movement of employees from target company payroll to purchaser’s payroll</a:t>
            </a:r>
          </a:p>
          <a:p>
            <a:pPr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630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772400" cy="4681537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 Stock Deal –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Federal and State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There are generally no tax considerations in stock deals as the employees of the acquired company will continue to be reported under the acquired company’s federal/state ID numbers.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No Forms W-2, W-4, and 1099 issues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No SUI transfer of experience issues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Potential Payroll Systems Integration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Subsequent movement of employees</a:t>
            </a:r>
          </a:p>
          <a:p>
            <a:pPr lvl="2"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91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828800"/>
            <a:ext cx="7772400" cy="4625975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“F” Reorganization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Typically involved when a corporation changes its name, the state where it does business, or makes changes to its corporate bylaws/charter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Does not change the federal </a:t>
            </a:r>
            <a:r>
              <a:rPr lang="en-US" sz="2800" dirty="0" smtClean="0">
                <a:ea typeface="ＭＳ Ｐゴシック" pitchFamily="34" charset="-128"/>
              </a:rPr>
              <a:t>identification </a:t>
            </a:r>
            <a:r>
              <a:rPr lang="en-US" sz="2800" dirty="0" smtClean="0">
                <a:ea typeface="ＭＳ Ｐゴシック" pitchFamily="34" charset="-128"/>
              </a:rPr>
              <a:t>numbers of the </a:t>
            </a:r>
            <a:r>
              <a:rPr lang="en-US" sz="2800" dirty="0" smtClean="0">
                <a:ea typeface="ＭＳ Ｐゴシック" pitchFamily="34" charset="-128"/>
              </a:rPr>
              <a:t>entity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Some states require a new SUI number</a:t>
            </a: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No movement of employees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No movement of assets</a:t>
            </a: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275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772400" cy="4681537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 “F” Reorganization –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Federal and State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There are generally no employment tax considerations associated with a Type F reorganization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Forms W-2, W-4, and 1099 should reflect new entity name (if entity name change involved)</a:t>
            </a: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088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696200" cy="468153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Statutory Merger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Also known as a Type A merger.  It is a merger between two entities that is effected under the laws of the U.S., a state or territory or the District of Columbia.  Statutes of foreign jurisdictions will also qualify as long as the statute operates in a similar manner to a domestic merger statute.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Post merger, one company continues to exist while other ceases to exist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Movement of employees and assets</a:t>
            </a: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552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772400" cy="4681537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Statutory Merger –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Federal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“Successor” qualification 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Carryover of YTD taxable wage bases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Tax deposit compliance/reconciliation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Payroll Systems Integration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Successor must file one Forms W-2 for entire year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Forms W-4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Successor must file one Forms 1099 for entire year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Year-end notifications to IRS </a:t>
            </a:r>
          </a:p>
          <a:p>
            <a:pPr lvl="2"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919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772400" cy="468153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Statutory Merger –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State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“Successor” qualification 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Carryover of YTD taxable wage bases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SUI experience transfers (optional or mandatory)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Payroll Systems Integration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State Employee Withholding Allowance Certificate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State correspondence/notification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Account closures</a:t>
            </a:r>
          </a:p>
          <a:p>
            <a:pPr lvl="2"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437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696200" cy="4681537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338(h)(10) election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Jointly made election between purchaser and target company of a stock purchase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The stock purchase is ignored for corporate tax purposes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The target company is generally treated as having made a deemed sale of its assets and then liquidated</a:t>
            </a: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5843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1" y="1773238"/>
            <a:ext cx="7772400" cy="4681537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IRC 338(h)(10) –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 Federal/State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Generally same considerations as that of an asset acquisition.  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SUI regulations/rules should be consulted as some states will consider the transaction a stock transaction.</a:t>
            </a: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522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0" y="1773238"/>
            <a:ext cx="8283575" cy="4681537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General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 Are employees AND assets involved</a:t>
            </a:r>
          </a:p>
          <a:p>
            <a:pPr lvl="1">
              <a:defRPr/>
            </a:pPr>
            <a:r>
              <a:rPr lang="en-US" sz="2800" dirty="0">
                <a:ea typeface="ＭＳ Ｐゴシック" pitchFamily="34" charset="-128"/>
              </a:rPr>
              <a:t> </a:t>
            </a:r>
            <a:r>
              <a:rPr lang="en-US" sz="2800" dirty="0" smtClean="0">
                <a:ea typeface="ＭＳ Ｐゴシック" pitchFamily="34" charset="-128"/>
              </a:rPr>
              <a:t>Related party transactions </a:t>
            </a:r>
          </a:p>
          <a:p>
            <a:pPr lvl="2">
              <a:defRPr/>
            </a:pPr>
            <a:r>
              <a:rPr lang="en-US" sz="2600" dirty="0" smtClean="0">
                <a:ea typeface="ＭＳ Ｐゴシック" pitchFamily="34" charset="-128"/>
              </a:rPr>
              <a:t>In some states, the employees are enough to establish common ownership/management</a:t>
            </a:r>
          </a:p>
          <a:p>
            <a:pPr lvl="1">
              <a:defRPr/>
            </a:pPr>
            <a:r>
              <a:rPr lang="en-US" sz="2800" dirty="0">
                <a:ea typeface="ＭＳ Ｐゴシック" pitchFamily="34" charset="-128"/>
              </a:rPr>
              <a:t> </a:t>
            </a:r>
            <a:r>
              <a:rPr lang="en-US" sz="2800" dirty="0" smtClean="0">
                <a:ea typeface="ＭＳ Ｐゴシック" pitchFamily="34" charset="-128"/>
              </a:rPr>
              <a:t>Working with 3</a:t>
            </a:r>
            <a:r>
              <a:rPr lang="en-US" sz="2800" baseline="30000" dirty="0" smtClean="0">
                <a:ea typeface="ＭＳ Ｐゴシック" pitchFamily="34" charset="-128"/>
              </a:rPr>
              <a:t>rd</a:t>
            </a:r>
            <a:r>
              <a:rPr lang="en-US" sz="2800" dirty="0" smtClean="0">
                <a:ea typeface="ＭＳ Ｐゴシック" pitchFamily="34" charset="-128"/>
              </a:rPr>
              <a:t> party payroll processors</a:t>
            </a:r>
          </a:p>
          <a:p>
            <a:pPr lvl="1">
              <a:defRPr/>
            </a:pPr>
            <a:r>
              <a:rPr lang="en-US" sz="2800" dirty="0">
                <a:ea typeface="ＭＳ Ｐゴシック" pitchFamily="34" charset="-128"/>
              </a:rPr>
              <a:t> </a:t>
            </a:r>
            <a:r>
              <a:rPr lang="en-US" sz="2800" dirty="0" smtClean="0">
                <a:ea typeface="ＭＳ Ｐゴシック" pitchFamily="34" charset="-128"/>
              </a:rPr>
              <a:t>Potential Forms 1099-B requirements</a:t>
            </a:r>
          </a:p>
          <a:p>
            <a:pPr lvl="1">
              <a:defRPr/>
            </a:pPr>
            <a:r>
              <a:rPr lang="en-US" sz="2800" dirty="0">
                <a:ea typeface="ＭＳ Ｐゴシック" pitchFamily="34" charset="-128"/>
              </a:rPr>
              <a:t> </a:t>
            </a:r>
            <a:r>
              <a:rPr lang="en-US" sz="2800" dirty="0" smtClean="0">
                <a:ea typeface="ＭＳ Ｐゴシック" pitchFamily="34" charset="-128"/>
              </a:rPr>
              <a:t>Local Tax compliance</a:t>
            </a:r>
          </a:p>
          <a:p>
            <a:pPr lvl="1">
              <a:defRPr/>
            </a:pPr>
            <a:r>
              <a:rPr lang="en-US" sz="2800" dirty="0">
                <a:ea typeface="ＭＳ Ｐゴシック" pitchFamily="34" charset="-128"/>
              </a:rPr>
              <a:t> </a:t>
            </a:r>
            <a:r>
              <a:rPr lang="en-US" sz="2800" dirty="0" smtClean="0">
                <a:ea typeface="ＭＳ Ｐゴシック" pitchFamily="34" charset="-128"/>
              </a:rPr>
              <a:t>Forms W-4 Compliance</a:t>
            </a: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201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74675" y="152400"/>
            <a:ext cx="8283575" cy="154781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Mergers, Acquisitions, and Reorganizations</a:t>
            </a:r>
            <a:endParaRPr dirty="0" smtClean="0">
              <a:ea typeface="ＭＳ Ｐゴシック" pitchFamily="34" charset="-128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body" idx="1"/>
          </p:nvPr>
        </p:nvSpPr>
        <p:spPr>
          <a:xfrm>
            <a:off x="609600" y="1773238"/>
            <a:ext cx="8283575" cy="4681537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ea typeface="ＭＳ Ｐゴシック" pitchFamily="34" charset="-128"/>
              </a:rPr>
              <a:t>General considerations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 </a:t>
            </a:r>
            <a:r>
              <a:rPr lang="en-US" sz="2800" dirty="0" smtClean="0">
                <a:ea typeface="ＭＳ Ｐゴシック" pitchFamily="34" charset="-128"/>
              </a:rPr>
              <a:t>Tax, Legal, Payroll, HR alignment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Due Diligence</a:t>
            </a: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Team to work through coordination of efforts</a:t>
            </a:r>
          </a:p>
          <a:p>
            <a:pPr lvl="1">
              <a:defRPr/>
            </a:pPr>
            <a:r>
              <a:rPr lang="en-US" sz="2800" dirty="0" err="1" smtClean="0">
                <a:ea typeface="ＭＳ Ｐゴシック" pitchFamily="34" charset="-128"/>
              </a:rPr>
              <a:t>Workplan</a:t>
            </a: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r>
              <a:rPr lang="en-US" sz="2800" dirty="0" smtClean="0">
                <a:ea typeface="ＭＳ Ｐゴシック" pitchFamily="34" charset="-128"/>
              </a:rPr>
              <a:t>Responsibility</a:t>
            </a:r>
            <a:endParaRPr lang="en-US" sz="2600" dirty="0" smtClean="0">
              <a:ea typeface="ＭＳ Ｐゴシック" pitchFamily="34" charset="-128"/>
            </a:endParaRPr>
          </a:p>
          <a:p>
            <a:pPr marL="681037" lvl="2" indent="0">
              <a:buNone/>
              <a:defRPr/>
            </a:pPr>
            <a:endParaRPr lang="en-US" sz="2600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sz="2800" dirty="0" smtClean="0">
              <a:ea typeface="ＭＳ Ｐゴシック" pitchFamily="34" charset="-128"/>
            </a:endParaRPr>
          </a:p>
          <a:p>
            <a:pPr lvl="1">
              <a:defRPr/>
            </a:pPr>
            <a:endParaRPr sz="2800"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 marL="0" indent="0">
              <a:buFontTx/>
              <a:buNone/>
              <a:defRPr/>
            </a:pPr>
            <a:endParaRPr dirty="0" smtClean="0">
              <a:ea typeface="ＭＳ Ｐゴシック" pitchFamily="34" charset="-128"/>
            </a:endParaRPr>
          </a:p>
          <a:p>
            <a:pPr>
              <a:defRPr/>
            </a:pPr>
            <a:endParaRPr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901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 algn="ctr">
              <a:buNone/>
            </a:pPr>
            <a:r>
              <a:rPr lang="en-US" sz="3000" dirty="0" smtClean="0"/>
              <a:t>Please remember to complete your evaluation of this session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2" descr="C:\Users\RC03908\Documents\CPC2016\CPC Logo Final 201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667000"/>
            <a:ext cx="3544824" cy="356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52C7A-68CA-4E69-B539-41A995CD785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40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21</TotalTime>
  <Words>767</Words>
  <Application>Microsoft Office PowerPoint</Application>
  <PresentationFormat>On-screen Show (4:3)</PresentationFormat>
  <Paragraphs>171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Adjacency</vt:lpstr>
      <vt:lpstr>Mergers &amp; Acquisitions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Mergers, Acquisitions, and Reorganizations</vt:lpstr>
      <vt:lpstr>Thank you</vt:lpstr>
    </vt:vector>
  </TitlesOfParts>
  <Company>Ryan,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Ryan, Inc.</dc:creator>
  <cp:lastModifiedBy>Ryan, Inc.</cp:lastModifiedBy>
  <cp:revision>5</cp:revision>
  <dcterms:created xsi:type="dcterms:W3CDTF">2016-03-07T04:18:58Z</dcterms:created>
  <dcterms:modified xsi:type="dcterms:W3CDTF">2016-09-14T20:08:13Z</dcterms:modified>
</cp:coreProperties>
</file>